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Causal Machine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 · Double/debiased ML, and the difference between predicting and intervening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Nine sessions of prediction. Now the other question.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must be true to claim an effect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25–45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naive ML controls make it worse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45–70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Double/debiased ML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Heterogeneous effects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Huber</a:t>
            </a:r>
            <a:r>
              <a:rPr/>
              <a:t>, </a:t>
            </a:r>
            <a:r>
              <a:rPr i="1"/>
              <a:t>Evaluating (weighted) dynamic treatment effects by double machine learning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10.7910/DVN/FS0KBA · CC0 · includes R and Python code</a:t>
            </a:r>
          </a:p>
          <a:p>
            <a:pPr lvl="0" indent="0" marL="0">
              <a:buNone/>
            </a:pPr>
            <a:r>
              <a:rPr/>
              <a:t>You work with the author’s own replication files today. Read the setup section carefully: what he assumes, and where he says the method fails.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Does having a national AI strategy raise enterprise AI adoption?</a:t>
            </a:r>
          </a:p>
          <a:p>
            <a:pPr lvl="0" indent="0" marL="0">
              <a:buNone/>
            </a:pPr>
            <a:r>
              <a:rPr/>
              <a:t>Countries with AI strategies are </a:t>
            </a:r>
            <a:r>
              <a:rPr b="1"/>
              <a:t>not</a:t>
            </a:r>
            <a:r>
              <a:rPr/>
              <a:t> a random sample. They are richer, more digital, with more ICT specialists. Everything that made them adopt a strategy also makes them adopt AI.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estimand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Say what you want before you estimate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average treatment effect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τ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</m:e>
                    </m:d>
                  </m:oMath>
                </a14:m>
                <a:r>
                  <a:rPr/>
                  <a:t> are the outcomes for the </a:t>
                </a:r>
                <a:r>
                  <a:rPr i="1"/>
                  <a:t>same</a:t>
                </a:r>
                <a:r>
                  <a:rPr/>
                  <a:t> country in both states of the world. You observe </a:t>
                </a:r>
                <a:r>
                  <a:rPr b="1"/>
                  <a:t>one</a:t>
                </a:r>
                <a:r>
                  <a:rPr/>
                  <a:t>. This is the fundamental problem of causal inference, and no amount of data fixes it.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makes it recoverable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Unconfoundedness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{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</m:e>
                    </m:d>
                    <m:r>
                      <m:rPr>
                        <m:sty m:val="p"/>
                      </m:rPr>
                      <m:t>}</m:t>
                    </m:r>
                    <m:r>
                      <m:rPr>
                        <m:sty m:val="p"/>
                      </m:rPr>
                      <m:t>⟂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∣</m:t>
                    </m:r>
                    <m:r>
                      <m:t>X</m:t>
                    </m:r>
                  </m:oMath>
                </a14:m>
                <a:r>
                  <a:rPr/>
                  <a:t>. Given the covariates, treatment is as good as random.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Overlap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. Every kind of country could have gone either way.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SUTVA</a:t>
                </a:r>
                <a:r>
                  <a:rPr/>
                  <a:t> — one country’s strategy does not change another’s outcome.</a:t>
                </a:r>
              </a:p>
              <a:p>
                <a:pPr lvl="0" indent="0" marL="0">
                  <a:buNone/>
                </a:pPr>
                <a:r>
                  <a:rPr/>
                  <a:t>Assumption 1 is </a:t>
                </a:r>
                <a:r>
                  <a:rPr b="1"/>
                  <a:t>not testable</a:t>
                </a:r>
                <a:r>
                  <a:rPr/>
                  <a:t>. It is an argument you make from institutional knowledge, and your reader is entitled to reject it.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SUTVA is doing real work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member states coordinate. A national AI strategy in one country plausibly shifts adoption in its neighbours through the single market and through Commission programmes.</a:t>
            </a:r>
          </a:p>
          <a:p>
            <a:pPr lvl="0" indent="0" marL="0">
              <a:buNone/>
            </a:pPr>
            <a:r>
              <a:rPr/>
              <a:t>If that is true, SUTVA fails, and </a:t>
            </a:r>
            <a:r>
              <a:rPr i="1"/>
              <a:t>every</a:t>
            </a:r>
            <a:r>
              <a:rPr/>
              <a:t> method today is biased — including the sophisticated ones. Say so in your limitations. A named, unfixed threat is scholarship; an unmentioned one is not.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naive ML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obvious thing to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Throw the covariates into a flexible model and read off the treatment coefficient: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y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~</a:t>
                </a:r>
                <a:r>
                  <a:rPr>
                    <a:latin typeface="Courier"/>
                  </a:rPr>
                  <a:t> D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+</a:t>
                </a:r>
                <a:r>
                  <a:rPr>
                    <a:latin typeface="Courier"/>
                  </a:rPr>
                  <a:t> RandomForest(X)</a:t>
                </a:r>
              </a:p>
              <a:p>
                <a:pPr lvl="0" indent="0" marL="0">
                  <a:buNone/>
                </a:pPr>
                <a:r>
                  <a:rPr/>
                  <a:t>This is biased, and the bias does </a:t>
                </a:r>
                <a:r>
                  <a:rPr b="1"/>
                  <a:t>not</a:t>
                </a:r>
                <a:r>
                  <a:rPr/>
                  <a:t> vanish as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grows. The problem is structural, not a small-sample issue.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sources of bias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Regularisation bias.</a:t>
                </a:r>
                <a:r>
                  <a:rPr/>
                  <a:t> Every ML estimator shrinks. Shrinkage in the nuisance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leaks directly into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Overfitting bias.</a:t>
                </a:r>
                <a:r>
                  <a:rPr/>
                  <a:t> If the same rows fit the nuisance model and estimate the effect, the nuisance model has partly fitted the noise that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 is then computed from.</a:t>
                </a:r>
              </a:p>
              <a:p>
                <a:pPr lvl="0" indent="0" marL="0">
                  <a:buNone/>
                </a:pPr>
                <a:r>
                  <a:rPr/>
                  <a:t>DML fixes the first with </a:t>
                </a:r>
                <a:r>
                  <a:rPr b="1"/>
                  <a:t>orthogonalisation</a:t>
                </a:r>
                <a:r>
                  <a:rPr/>
                  <a:t> and the second with </a:t>
                </a:r>
                <a:r>
                  <a:rPr b="1"/>
                  <a:t>cross-fitting</a:t>
                </a:r>
                <a:r>
                  <a:rPr/>
                  <a:t>. Two problems, two devices.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Orthogonalisation: FWL returns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Session 02’s theorem, now doing causal work. Residualise both sides: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̃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</m:acc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acc>
                        <m:accPr>
                          <m:chr m:val="̃"/>
                        </m:accPr>
                        <m:e>
                          <m:r>
                            <m:t>D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̂"/>
                        </m:accPr>
                        <m:e>
                          <m:r>
                            <m:t>e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regress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D</m:t>
                        </m:r>
                      </m:e>
                    </m:acc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τ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Y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 </m:t>
                                  </m:r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score is </a:t>
                </a:r>
                <a:r>
                  <a:rPr b="1"/>
                  <a:t>Neyman orthogonal</a:t>
                </a:r>
                <a:r>
                  <a:rPr/>
                  <a:t>: small errors in either nuisance estimate have only second-order effect 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. That is the whole trick.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Cross-fitting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Split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folds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Fit the nuisance models on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folds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Predict the residuals on the </a:t>
                </a:r>
                <a:r>
                  <a:rPr b="1"/>
                  <a:t>held-out</a:t>
                </a:r>
                <a:r>
                  <a:rPr/>
                  <a:t> fold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Rotate, then combine</a:t>
                </a:r>
              </a:p>
              <a:p>
                <a:pPr lvl="0" indent="0" marL="0">
                  <a:buNone/>
                </a:pPr>
                <a:r>
                  <a:rPr/>
                  <a:t>Without this, the nuisance model has seen the rows you estimate the effect from, and the effect inherits its overfitting. With it,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</m:oMath>
                </a14:m>
                <a:r>
                  <a:rPr/>
                  <a:t>-consistent and asymptotically normal — so a confidence interval means something again.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and covariates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"data/spine/angle_c_country.parquet"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c[c.time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2021</a:t>
            </a:r>
            <a:r>
              <a:rPr>
                <a:latin typeface="Courier"/>
              </a:rPr>
              <a:t>].dropna(subset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]).copy()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(d), </a:t>
            </a:r>
            <a:r>
              <a:rPr>
                <a:solidFill>
                  <a:srgbClr val="4070A0"/>
                </a:solidFill>
                <a:latin typeface="Courier"/>
              </a:rPr>
              <a:t>"rows |"</a:t>
            </a:r>
            <a:r>
              <a:rPr>
                <a:latin typeface="Courier"/>
              </a:rPr>
              <a:t>, d.has_ai_strategy.mean().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"treated"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The spine was generated with treatment </a:t>
            </a:r>
            <a:r>
              <a:rPr b="1"/>
              <a:t>assigned on covariates</a:t>
            </a:r>
            <a:r>
              <a:rPr/>
              <a:t> and a known true effect. You are going to try to recover a number I already have.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overlap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RandomForestClassifier</a:t>
            </a:r>
            <a:br/>
            <a:br/>
            <a:r>
              <a:rPr>
                <a:latin typeface="Courier"/>
              </a:rPr>
              <a:t>Xc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d.drop(columns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"has_ai_strategy"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"ai_use_ml"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"ai_use_ge3"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Xc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Xc.fillna(Xc.median(numeric_only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ps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ps.fit(Xc, d.has_ai_strategy)</a:t>
            </a:r>
            <a:br/>
            <a:r>
              <a:rPr>
                <a:latin typeface="Courier"/>
              </a:rPr>
              <a:t>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ps.predict_proba(Xc)[:,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"propensity range:"</a:t>
            </a:r>
            <a:r>
              <a:rPr>
                <a:latin typeface="Courier"/>
              </a:rPr>
              <a:t>, e.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e.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Propensities near 0 or 1 mean </a:t>
            </a:r>
            <a:r>
              <a:rPr b="1"/>
              <a:t>no comparable counterfactual</a:t>
            </a:r>
            <a:r>
              <a:rPr/>
              <a:t>. Those rows carry enormous weight and almost no information. Trim them, and report how many you dropped.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naive estimate, for contrast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statsmodels.formula.api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smf</a:t>
            </a:r>
            <a:br/>
            <a:r>
              <a:rPr>
                <a:latin typeface="Courier"/>
              </a:rPr>
              <a:t>naive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"ai_use_any ~ has_ai_strategy"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d).fit()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(naive.params[</a:t>
            </a:r>
            <a:r>
              <a:rPr>
                <a:solidFill>
                  <a:srgbClr val="4070A0"/>
                </a:solidFill>
                <a:latin typeface="Courier"/>
              </a:rPr>
              <a:t>"has_ai_strategy"</a:t>
            </a:r>
            <a:r>
              <a:rPr>
                <a:latin typeface="Courier"/>
              </a:rPr>
              <a:t>].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Write this number down. It is the number a careless analyst reports, and the gap between it and what follows is the lesson of the session.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DML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hand, so you see the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RandomForestRegressor, RandomForestClassifier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GroupKFold</a:t>
            </a:r>
            <a:br/>
            <a:br/>
            <a:r>
              <a:rPr>
                <a:latin typeface="Courier"/>
              </a:rPr>
              <a:t>Y, D, 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].to_numpy(), d[</a:t>
            </a:r>
            <a:r>
              <a:rPr>
                <a:solidFill>
                  <a:srgbClr val="4070A0"/>
                </a:solidFill>
                <a:latin typeface="Courier"/>
              </a:rPr>
              <a:t>"has_ai_strategy"</a:t>
            </a:r>
            <a:r>
              <a:rPr>
                <a:latin typeface="Courier"/>
              </a:rPr>
              <a:t>].to_numpy(),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yres, dres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np.zeros(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(d)), np.zeros(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(d))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tr, te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).split(Xc, Y, G):</a:t>
            </a:r>
            <a:br/>
            <a:r>
              <a:rPr>
                <a:latin typeface="Courier"/>
              </a:rPr>
              <a:t>    my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).fit(Xc.iloc[tr], Y[tr])</a:t>
            </a:r>
            <a:br/>
            <a:r>
              <a:rPr>
                <a:latin typeface="Courier"/>
              </a:rPr>
              <a:t>    md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).fit(Xc.iloc[tr], D[tr])</a:t>
            </a:r>
            <a:br/>
            <a:r>
              <a:rPr>
                <a:latin typeface="Courier"/>
              </a:rPr>
              <a:t>    yres[te]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Y[te]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my.predict(Xc.iloc[te])</a:t>
            </a:r>
            <a:br/>
            <a:r>
              <a:rPr>
                <a:latin typeface="Courier"/>
              </a:rPr>
              <a:t>    dres[te]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D[te]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md.predict_proba(Xc.iloc[te])[:,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tau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(yres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dres).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(dres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br/>
            <a:r>
              <a:rPr>
                <a:latin typeface="Courier"/>
              </a:rPr>
              <a:t>se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np.sqrt(((yres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tau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dres)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dres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(dres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f"DML ATE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tau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  (se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se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)"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with the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doubleml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DoubleMLData, DoubleMLPLR</a:t>
            </a:r>
            <a:br/>
            <a:br/>
            <a:r>
              <a:rPr>
                <a:latin typeface="Courier"/>
              </a:rPr>
              <a:t>dml_data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DoubleMLData.from_arrays(Xc.to_numpy(), Y, D)</a:t>
            </a:r>
            <a:br/>
            <a:r>
              <a:rPr>
                <a:latin typeface="Courier"/>
              </a:rPr>
              <a:t>dml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DoubleMLPLR(dml_data,</a:t>
            </a:r>
            <a:br/>
            <a:r>
              <a:rPr>
                <a:latin typeface="Courier"/>
              </a:rPr>
              <a:t>                  ml_l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 ml_m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 n_folds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dml.fit()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(dml.summary)</a:t>
            </a:r>
          </a:p>
          <a:p>
            <a:pPr lvl="0" indent="0" marL="0">
              <a:buNone/>
            </a:pPr>
            <a:r>
              <a:rPr/>
              <a:t>The two should agree closely. Writing it by hand once is how you stop treating </a:t>
            </a:r>
            <a:r>
              <a:rPr>
                <a:latin typeface="Courier"/>
              </a:rPr>
              <a:t>DoubleMLPLR</a:t>
            </a:r>
            <a:r>
              <a:rPr/>
              <a:t> as a black box.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Compare the three numbers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assumes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OLS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Strategy adoption is unrelated to everything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ML with controls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Regularisation bias is negligible — it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Unconfoundedness, overlap, and honest cross-fitting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Report all three. The movement between them </a:t>
            </a:r>
            <a:r>
              <a:rPr i="1"/>
              <a:t>is</a:t>
            </a:r>
            <a:r>
              <a:rPr/>
              <a:t> your evidence that confounding mattered.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Heterogeneity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average hides the policy question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τ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“Does a strategy help?” is less useful than “where does it help?” — and only the second tells anyone what to do.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Causal forests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econml.dml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CausalForestDML</a:t>
            </a:r>
            <a:br/>
            <a:br/>
            <a:r>
              <a:rPr>
                <a:latin typeface="Courier"/>
              </a:rPr>
              <a:t>cf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CausalForestDML(</a:t>
            </a:r>
            <a:br/>
            <a:r>
              <a:rPr>
                <a:latin typeface="Courier"/>
              </a:rPr>
              <a:t>    model_y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model_t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discrete_treatment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800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cf.fit(Y, D, 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Xc)</a:t>
            </a:r>
            <a:br/>
            <a:r>
              <a:rPr>
                <a:latin typeface="Courier"/>
              </a:rPr>
              <a:t>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cf.effect(Xc)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"effect range:"</a:t>
            </a:r>
            <a:r>
              <a:rPr>
                <a:latin typeface="Courier"/>
              </a:rPr>
              <a:t>, te.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"to"</a:t>
            </a:r>
            <a:r>
              <a:rPr>
                <a:latin typeface="Courier"/>
              </a:rPr>
              <a:t>, te.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A spread of estimated effects is </a:t>
            </a:r>
            <a:r>
              <a:rPr b="1"/>
              <a:t>not</a:t>
            </a:r>
            <a:r>
              <a:rPr/>
              <a:t> evidence of heterogeneity. Noise produces spread. Test it — </a:t>
            </a:r>
            <a:r>
              <a:rPr>
                <a:latin typeface="Courier"/>
              </a:rPr>
              <a:t>cf.ate_inference()</a:t>
            </a:r>
            <a:r>
              <a:rPr/>
              <a:t>, or compare high- and low-effect groups with proper inference.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estimand</a:t>
            </a:r>
            <a:r>
              <a:rPr/>
              <a:t>, stated before any estimation</a:t>
            </a:r>
          </a:p>
          <a:p>
            <a:pPr lvl="0"/>
            <a:r>
              <a:rPr/>
              <a:t>The three assumptions, each argued or conceded — especially SUTVA here</a:t>
            </a:r>
          </a:p>
          <a:p>
            <a:pPr lvl="0"/>
            <a:r>
              <a:rPr/>
              <a:t>Overlap evidence, and any trimming</a:t>
            </a:r>
          </a:p>
          <a:p>
            <a:pPr lvl="0"/>
            <a:r>
              <a:rPr/>
              <a:t>Naive, controlled and DML estimates side by side</a:t>
            </a:r>
          </a:p>
          <a:p>
            <a:pPr lvl="0"/>
            <a:r>
              <a:rPr/>
              <a:t>Confidence intervals from the cross-fitted score</a:t>
            </a:r>
          </a:p>
          <a:p>
            <a:pPr lvl="0" indent="0" marL="0">
              <a:buNone/>
            </a:pPr>
            <a:r>
              <a:rPr/>
              <a:t>DML does not manufacture identification. It removes regularisation and overfitting bias </a:t>
            </a:r>
            <a:r>
              <a:rPr b="1"/>
              <a:t>given</a:t>
            </a:r>
            <a:r>
              <a:rPr/>
              <a:t> unconfoundedness. If a confounder is missing, DML gives you a precisely estimated wrong answer.</a:t>
            </a:r>
          </a:p>
        </p:txBody>
      </p:sp>
    </p:spTree>
  </p:cSld>
</p:sld>
</file>

<file path=ppt/slides/slide2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ML controls, no orthogonalisation</a:t></a:r></a:p></a:txBody></a:tc><a:tc><a:txBody><a:bodyPr /><a:lstStyle /><a:p><a:pPr lvl="0" indent="0" marL="0"><a:buNone /></a:pPr><a:r><a:rPr /><a:t>Bias that does not vanish with </a:t></a:r><a14:m><m:oMath xmlns:m="http://schemas.openxmlformats.org/officeDocument/2006/math"><m:r><m:t>n</m:t></m:r></m:oMath></a14:m></a:p></a:txBody></a:tc></a:tr><a:tr h="0"><a:tc><a:txBody><a:bodyPr /><a:lstStyle /><a:p><a:pPr lvl="0" indent="0" marL="0"><a:buNone /></a:pPr><a:r><a:rPr /><a:t>No cross-fitting</a:t></a:r></a:p></a:txBody></a:tc><a:tc><a:txBody><a:bodyPr /><a:lstStyle /><a:p><a:pPr lvl="0" indent="0" marL="0"><a:buNone /></a:pPr><a:r><a:rPr /><a:t>Overfitting bias in </a:t></a:r><a14:m><m:oMath xmlns:m="http://schemas.openxmlformats.org/officeDocument/2006/math"><m:acc><m:accPr><m:chr m:val="̂" /></m:accPr><m:e><m:r><m:t>τ</m:t></m:r></m:e></m:acc></m:oMath></a14:m></a:p></a:txBody></a:tc></a:tr><a:tr h="0"><a:tc><a:txBody><a:bodyPr /><a:lstStyle /><a:p><a:pPr lvl="0" indent="0" marL="0"><a:buNone /></a:pPr><a:r><a:rPr /><a:t>Overlap unchecked</a:t></a:r></a:p></a:txBody></a:tc><a:tc><a:txBody><a:bodyPr /><a:lstStyle /><a:p><a:pPr lvl="0" indent="0" marL="0"><a:buNone /></a:pPr><a:r><a:rPr /><a:t>A few rows dominate the estimate</a:t></a:r></a:p></a:txBody></a:tc></a:tr><a:tr h="0"><a:tc><a:txBody><a:bodyPr /><a:lstStyle /><a:p><a:pPr lvl="0" indent="0" marL="0"><a:buNone /></a:pPr><a:r><a:rPr /><a:t>Heterogeneity read off raw spread</a:t></a:r></a:p></a:txBody></a:tc><a:tc><a:txBody><a:bodyPr /><a:lstStyle /><a:p><a:pPr lvl="0" indent="0" marL="0"><a:buNone /></a:pPr><a:r><a:rPr /><a:t>Noise mistaken for structure</a:t></a:r></a:p></a:txBody></a:tc></a:tr><a:tr h="0"><a:tc><a:txBody><a:bodyPr /><a:lstStyle /><a:p><a:pPr lvl="0" indent="0" marL="0"><a:buNone /></a:pPr><a:r><a:rPr /><a:t>Causal words on Session 07 output</a:t></a:r></a:p></a:txBody></a:tc><a:tc><a:txBody><a:bodyPr /><a:lstStyle /><a:p><a:pPr lvl="0" indent="0" marL="0"><a:buNone /></a:pPr><a:r><a:rPr /><a:t>The error this session exists to end</a:t></a:r></a:p></a:txBody></a:tc></a:tr></a:tbl></a:graphicData></a:graphic></p:graphicFrame></p:spTree></p:cSld>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Download Huber’s package and run one of his specifications</a:t>
            </a:r>
          </a:p>
          <a:p>
            <a:pPr lvl="0" indent="-342900" marL="342900">
              <a:buAutoNum type="arabicPeriod"/>
            </a:pPr>
            <a:r>
              <a:rPr/>
              <a:t>On the spine: naive, then controlled, then DML — record all three</a:t>
            </a:r>
          </a:p>
          <a:p>
            <a:pPr lvl="0" indent="-342900" marL="342900">
              <a:buAutoNum type="arabicPeriod"/>
            </a:pPr>
            <a:r>
              <a:rPr/>
              <a:t>Check overlap and report trimming</a:t>
            </a:r>
          </a:p>
          <a:p>
            <a:pPr lvl="0" indent="-342900" marL="342900">
              <a:buAutoNum type="arabicPeriod"/>
            </a:pPr>
            <a:r>
              <a:rPr/>
              <a:t>Fit a causal forest and test whether heterogeneity is real</a:t>
            </a:r>
          </a:p>
          <a:p>
            <a:pPr lvl="0" indent="-342900" marL="342900">
              <a:buAutoNum type="arabicPeriod"/>
            </a:pPr>
            <a:r>
              <a:rPr b="1"/>
              <a:t>Bring me your ATE.</a:t>
            </a:r>
            <a:r>
              <a:rPr/>
              <a:t> I have the true value; we compare in class.</a:t>
            </a:r>
          </a:p>
          <a:p>
            <a:pPr lvl="0" indent="0" marL="0">
              <a:buNone/>
            </a:pPr>
            <a:r>
              <a:rPr/>
              <a:t>That last step is the point of a synthetic replication. You will not get to check your answer against the truth again.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Causal Machine Learning</dc:title>
  <dc:creator>Thierry Warin</dc:creator>
  <cp:keywords/>
  <dcterms:created xsi:type="dcterms:W3CDTF">2026-08-18T20:37:15Z</dcterms:created>
  <dcterms:modified xsi:type="dcterms:W3CDTF">2026-08-18T20:37:15Z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10 · Double/debiased ML, and the difference between predicting and intervening</vt:lpwstr>
  </property>
  <property fmtid="{D5CDD505-2E9C-101B-9397-08002B2CF9AE}" pid="16" name="toc-title">
    <vt:lpwstr>Table of contents</vt:lpwstr>
  </property>
</Properties>
</file>