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2" Type="http://schemas.openxmlformats.org/officeDocument/2006/relationships/viewProps" Target="viewProps.xml" /><Relationship Id="rId3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4" Type="http://schemas.openxmlformats.org/officeDocument/2006/relationships/tableStyles" Target="tableStyles.xml" /><Relationship Id="rId3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235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15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9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1650"/>
            </a:lvl1pPr>
            <a:lvl2pPr>
              <a:defRPr sz="1400"/>
            </a:lvl2pPr>
            <a:lvl3pPr>
              <a:defRPr sz="115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1650"/>
            </a:lvl1pPr>
            <a:lvl2pPr>
              <a:defRPr sz="1400"/>
            </a:lvl2pPr>
            <a:lvl3pPr>
              <a:defRPr sz="115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400" b="1"/>
            </a:lvl1pPr>
            <a:lvl2pPr marL="342900" indent="0">
              <a:buNone/>
              <a:defRPr sz="1150" b="1"/>
            </a:lvl2pPr>
            <a:lvl3pPr marL="685800" indent="0">
              <a:buNone/>
              <a:defRPr sz="1050" b="1"/>
            </a:lvl3pPr>
            <a:lvl4pPr marL="1028700" indent="0">
              <a:buNone/>
              <a:defRPr sz="950" b="1"/>
            </a:lvl4pPr>
            <a:lvl5pPr marL="1371600" indent="0">
              <a:buNone/>
              <a:defRPr sz="950" b="1"/>
            </a:lvl5pPr>
            <a:lvl6pPr marL="1714500" indent="0">
              <a:buNone/>
              <a:defRPr sz="950" b="1"/>
            </a:lvl6pPr>
            <a:lvl7pPr marL="2057400" indent="0">
              <a:buNone/>
              <a:defRPr sz="950" b="1"/>
            </a:lvl7pPr>
            <a:lvl8pPr marL="2400300" indent="0">
              <a:buNone/>
              <a:defRPr sz="950" b="1"/>
            </a:lvl8pPr>
            <a:lvl9pPr marL="2743200" indent="0">
              <a:buNone/>
              <a:defRPr sz="95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400"/>
            </a:lvl1pPr>
            <a:lvl2pPr>
              <a:defRPr sz="1150"/>
            </a:lvl2pPr>
            <a:lvl3pPr>
              <a:defRPr sz="1050"/>
            </a:lvl3pPr>
            <a:lvl4pPr>
              <a:defRPr sz="950"/>
            </a:lvl4pPr>
            <a:lvl5pPr>
              <a:defRPr sz="950"/>
            </a:lvl5pPr>
            <a:lvl6pPr>
              <a:defRPr sz="950"/>
            </a:lvl6pPr>
            <a:lvl7pPr>
              <a:defRPr sz="950"/>
            </a:lvl7pPr>
            <a:lvl8pPr>
              <a:defRPr sz="950"/>
            </a:lvl8pPr>
            <a:lvl9pPr>
              <a:defRPr sz="9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400" b="1"/>
            </a:lvl1pPr>
            <a:lvl2pPr marL="342900" indent="0">
              <a:buNone/>
              <a:defRPr sz="1150" b="1"/>
            </a:lvl2pPr>
            <a:lvl3pPr marL="685800" indent="0">
              <a:buNone/>
              <a:defRPr sz="1050" b="1"/>
            </a:lvl3pPr>
            <a:lvl4pPr marL="1028700" indent="0">
              <a:buNone/>
              <a:defRPr sz="950" b="1"/>
            </a:lvl4pPr>
            <a:lvl5pPr marL="1371600" indent="0">
              <a:buNone/>
              <a:defRPr sz="950" b="1"/>
            </a:lvl5pPr>
            <a:lvl6pPr marL="1714500" indent="0">
              <a:buNone/>
              <a:defRPr sz="950" b="1"/>
            </a:lvl6pPr>
            <a:lvl7pPr marL="2057400" indent="0">
              <a:buNone/>
              <a:defRPr sz="950" b="1"/>
            </a:lvl7pPr>
            <a:lvl8pPr marL="2400300" indent="0">
              <a:buNone/>
              <a:defRPr sz="950" b="1"/>
            </a:lvl8pPr>
            <a:lvl9pPr marL="2743200" indent="0">
              <a:buNone/>
              <a:defRPr sz="95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400"/>
            </a:lvl1pPr>
            <a:lvl2pPr>
              <a:defRPr sz="1150"/>
            </a:lvl2pPr>
            <a:lvl3pPr>
              <a:defRPr sz="1050"/>
            </a:lvl3pPr>
            <a:lvl4pPr>
              <a:defRPr sz="950"/>
            </a:lvl4pPr>
            <a:lvl5pPr>
              <a:defRPr sz="950"/>
            </a:lvl5pPr>
            <a:lvl6pPr>
              <a:defRPr sz="950"/>
            </a:lvl6pPr>
            <a:lvl7pPr>
              <a:defRPr sz="950"/>
            </a:lvl7pPr>
            <a:lvl8pPr>
              <a:defRPr sz="950"/>
            </a:lvl8pPr>
            <a:lvl9pPr>
              <a:defRPr sz="9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15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1850"/>
            </a:lvl1pPr>
            <a:lvl2pPr>
              <a:defRPr sz="1650"/>
            </a:lvl2pPr>
            <a:lvl3pPr>
              <a:defRPr sz="1400"/>
            </a:lvl3pPr>
            <a:lvl4pPr>
              <a:defRPr sz="1150"/>
            </a:lvl4pPr>
            <a:lvl5pPr>
              <a:defRPr sz="1150"/>
            </a:lvl5pPr>
            <a:lvl6pPr>
              <a:defRPr sz="1150"/>
            </a:lvl6pPr>
            <a:lvl7pPr>
              <a:defRPr sz="1150"/>
            </a:lvl7pPr>
            <a:lvl8pPr>
              <a:defRPr sz="1150"/>
            </a:lvl8pPr>
            <a:lvl9pPr>
              <a:defRPr sz="11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800"/>
            </a:lvl1pPr>
            <a:lvl2pPr marL="342900" indent="0">
              <a:buNone/>
              <a:defRPr sz="700"/>
            </a:lvl2pPr>
            <a:lvl3pPr marL="685800" indent="0">
              <a:buNone/>
              <a:defRPr sz="700"/>
            </a:lvl3pPr>
            <a:lvl4pPr marL="1028700" indent="0">
              <a:buNone/>
              <a:defRPr sz="700"/>
            </a:lvl4pPr>
            <a:lvl5pPr marL="1371600" indent="0">
              <a:buNone/>
              <a:defRPr sz="700"/>
            </a:lvl5pPr>
            <a:lvl6pPr marL="1714500" indent="0">
              <a:buNone/>
              <a:defRPr sz="700"/>
            </a:lvl6pPr>
            <a:lvl7pPr marL="2057400" indent="0">
              <a:buNone/>
              <a:defRPr sz="700"/>
            </a:lvl7pPr>
            <a:lvl8pPr marL="2400300" indent="0">
              <a:buNone/>
              <a:defRPr sz="700"/>
            </a:lvl8pPr>
            <a:lvl9pPr marL="2743200" indent="0">
              <a:buNone/>
              <a:defRPr sz="7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15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1850"/>
            </a:lvl1pPr>
            <a:lvl2pPr marL="342900" indent="0">
              <a:buNone/>
              <a:defRPr sz="1650"/>
            </a:lvl2pPr>
            <a:lvl3pPr marL="685800" indent="0">
              <a:buNone/>
              <a:defRPr sz="1400"/>
            </a:lvl3pPr>
            <a:lvl4pPr marL="1028700" indent="0">
              <a:buNone/>
              <a:defRPr sz="1150"/>
            </a:lvl4pPr>
            <a:lvl5pPr marL="1371600" indent="0">
              <a:buNone/>
              <a:defRPr sz="1150"/>
            </a:lvl5pPr>
            <a:lvl6pPr marL="1714500" indent="0">
              <a:buNone/>
              <a:defRPr sz="1150"/>
            </a:lvl6pPr>
            <a:lvl7pPr marL="2057400" indent="0">
              <a:buNone/>
              <a:defRPr sz="1150"/>
            </a:lvl7pPr>
            <a:lvl8pPr marL="2400300" indent="0">
              <a:buNone/>
              <a:defRPr sz="1150"/>
            </a:lvl8pPr>
            <a:lvl9pPr marL="2743200" indent="0">
              <a:buNone/>
              <a:defRPr sz="115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800"/>
            </a:lvl1pPr>
            <a:lvl2pPr marL="342900" indent="0">
              <a:buNone/>
              <a:defRPr sz="700"/>
            </a:lvl2pPr>
            <a:lvl3pPr marL="685800" indent="0">
              <a:buNone/>
              <a:defRPr sz="700"/>
            </a:lvl3pPr>
            <a:lvl4pPr marL="1028700" indent="0">
              <a:buNone/>
              <a:defRPr sz="700"/>
            </a:lvl4pPr>
            <a:lvl5pPr marL="1371600" indent="0">
              <a:buNone/>
              <a:defRPr sz="700"/>
            </a:lvl5pPr>
            <a:lvl6pPr marL="1714500" indent="0">
              <a:buNone/>
              <a:defRPr sz="700"/>
            </a:lvl6pPr>
            <a:lvl7pPr marL="2057400" indent="0">
              <a:buNone/>
              <a:defRPr sz="700"/>
            </a:lvl7pPr>
            <a:lvl8pPr marL="2400300" indent="0">
              <a:buNone/>
              <a:defRPr sz="700"/>
            </a:lvl8pPr>
            <a:lvl9pPr marL="2743200" indent="0">
              <a:buNone/>
              <a:defRPr sz="7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255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18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16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4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1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1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1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1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1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15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0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0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0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0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0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0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0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0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0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Causal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Session 10 · Double/debiased ML, and the difference between predicting and intervening</a:t>
            </a:r>
            <a:br/>
            <a:br/>
            <a:r>
              <a:rPr/>
              <a:t>Thierry Warin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18 August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Where we are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90 minutes ahead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0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0–10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Nine sessions of prediction. Now the other question.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10–25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must be true to claim an effect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25–45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Why naive ML controls make it worse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45–70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Double/debiased ML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70–85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Heterogeneous effects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85–90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Handoff to the lab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Before class you read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Huber</a:t>
            </a:r>
            <a:r>
              <a:rPr/>
              <a:t>, </a:t>
            </a:r>
            <a:r>
              <a:rPr i="1"/>
              <a:t>Evaluating (weighted) dynamic treatment effects by double machine learning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Harvard Dataverse, DOI 10.7910/DVN/FS0KBA · CC0 · includes R and Python code</a:t>
            </a:r>
          </a:p>
          <a:p>
            <a:pPr lvl="0" indent="0" marL="0">
              <a:buNone/>
            </a:pPr>
            <a:r>
              <a:rPr/>
              <a:t>You work with the author’s own replication files today. Read the setup section carefully: what he assumes, and where he says the method fails.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Today’s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i="1"/>
              <a:t>Does having a national AI strategy raise enterprise AI adoption?</a:t>
            </a:r>
          </a:p>
          <a:p>
            <a:pPr lvl="0" indent="0" marL="0">
              <a:buNone/>
            </a:pPr>
            <a:r>
              <a:rPr/>
              <a:t>Countries with AI strategies are </a:t>
            </a:r>
            <a:r>
              <a:rPr b="1"/>
              <a:t>not</a:t>
            </a:r>
            <a:r>
              <a:rPr/>
              <a:t> a random sample. They are richer, more digital, with more ICT specialists. Everything that made them adopt a strategy also makes them adopt AI.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estimand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Say what you want before you estimate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The </a:t>
                </a:r>
                <a:r>
                  <a:rPr b="1"/>
                  <a:t>average treatment effect</a:t>
                </a:r>
                <a:r>
                  <a:rPr/>
                  <a:t>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τ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  <m:scr m:val="double-struck"/>
                        </m:rPr>
                        <m:t>E</m:t>
                      </m:r>
                      <m:d>
                        <m:dPr>
                          <m:begChr m:val="["/>
                          <m:sepChr m:val=""/>
                          <m:endChr m:val="]"/>
                          <m:grow/>
                        </m:dPr>
                        <m:e>
                          <m:r>
                            <m:t>Y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r>
                                <m:t>1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Y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r>
                                <m:t>0</m:t>
                              </m:r>
                            </m:e>
                          </m:d>
                        </m:e>
                      </m:d>
                    </m:oMath>
                  </m:oMathPara>
                </a14:m>
              </a:p>
              <a:p>
                <a:pPr lvl="0" indent="0" marL="0">
                  <a:buNone/>
                </a:pPr>
                <a14:m>
                  <m:oMath xmlns:m="http://schemas.openxmlformats.org/officeDocument/2006/math">
                    <m:r>
                      <m:t>Y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1</m:t>
                        </m:r>
                      </m:e>
                    </m:d>
                  </m:oMath>
                </a14:m>
                <a:r>
                  <a:rPr/>
                  <a:t> and </a:t>
                </a:r>
                <a14:m>
                  <m:oMath xmlns:m="http://schemas.openxmlformats.org/officeDocument/2006/math">
                    <m:r>
                      <m:t>Y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0</m:t>
                        </m:r>
                      </m:e>
                    </m:d>
                  </m:oMath>
                </a14:m>
                <a:r>
                  <a:rPr/>
                  <a:t> are the outcomes for the </a:t>
                </a:r>
                <a:r>
                  <a:rPr i="1"/>
                  <a:t>same</a:t>
                </a:r>
                <a:r>
                  <a:rPr/>
                  <a:t> country in both states of the world. You observe </a:t>
                </a:r>
                <a:r>
                  <a:rPr b="1"/>
                  <a:t>one</a:t>
                </a:r>
                <a:r>
                  <a:rPr/>
                  <a:t>. This is the fundamental problem of causal inference, and no amount of data fixes it.</a:t>
                </a:r>
              </a:p>
            </p:txBody>
          </p:sp>
        </mc:Choice>
      </mc:AlternateContent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makes it recoverable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-342900" marL="342900">
                  <a:buAutoNum type="arabicPeriod"/>
                </a:pPr>
                <a:r>
                  <a:rPr b="1"/>
                  <a:t>Unconfoundedness</a:t>
                </a:r>
                <a:r>
                  <a:rPr/>
                  <a:t> —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{</m:t>
                    </m:r>
                    <m:r>
                      <m:t>Y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0</m:t>
                        </m:r>
                      </m:e>
                    </m:d>
                    <m:r>
                      <m:rPr>
                        <m:sty m:val="p"/>
                      </m:rPr>
                      <m:t>,</m:t>
                    </m:r>
                    <m:r>
                      <m:t>Y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m:t>}</m:t>
                    </m:r>
                    <m:r>
                      <m:rPr>
                        <m:sty m:val="p"/>
                      </m:rPr>
                      <m:t>⟂</m:t>
                    </m:r>
                    <m:r>
                      <m:t>D</m:t>
                    </m:r>
                    <m:r>
                      <m:rPr>
                        <m:sty m:val="p"/>
                      </m:rPr>
                      <m:t>∣</m:t>
                    </m:r>
                    <m:r>
                      <m:t>X</m:t>
                    </m:r>
                  </m:oMath>
                </a14:m>
                <a:r>
                  <a:rPr/>
                  <a:t>. Given the covariates, treatment is as good as random.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Overlap</a:t>
                </a:r>
                <a:r>
                  <a:rPr/>
                  <a:t> — </a:t>
                </a:r>
                <a14:m>
                  <m:oMath xmlns:m="http://schemas.openxmlformats.org/officeDocument/2006/math">
                    <m:r>
                      <m:t>0</m:t>
                    </m:r>
                    <m:r>
                      <m:rPr>
                        <m:sty m:val="p"/>
                      </m:rPr>
                      <m:t>&lt;</m:t>
                    </m:r>
                    <m:r>
                      <m:t>e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X</m:t>
                        </m:r>
                      </m:e>
                    </m:d>
                    <m:r>
                      <m:rPr>
                        <m:sty m:val="p"/>
                      </m:rPr>
                      <m:t>&lt;</m:t>
                    </m:r>
                    <m:r>
                      <m:t>1</m:t>
                    </m:r>
                  </m:oMath>
                </a14:m>
                <a:r>
                  <a:rPr/>
                  <a:t>. Every kind of country could have gone either way.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SUTVA</a:t>
                </a:r>
                <a:r>
                  <a:rPr/>
                  <a:t> — one country’s strategy does not change another’s outcome.</a:t>
                </a:r>
              </a:p>
              <a:p>
                <a:pPr lvl="0" indent="0" marL="0">
                  <a:buNone/>
                </a:pPr>
                <a:r>
                  <a:rPr/>
                  <a:t>Assumption 1 is </a:t>
                </a:r>
                <a:r>
                  <a:rPr b="1"/>
                  <a:t>not testable</a:t>
                </a:r>
                <a:r>
                  <a:rPr/>
                  <a:t>. It is an argument you make from institutional knowledge, and your reader is entitled to reject it.</a:t>
                </a:r>
              </a:p>
            </p:txBody>
          </p:sp>
        </mc:Choice>
      </mc:AlternateContent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SUTVA is doing real work here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EU member states coordinate. A national AI strategy in one country plausibly shifts adoption in its neighbours through the single market and through Commission programmes.</a:t>
            </a:r>
          </a:p>
          <a:p>
            <a:pPr lvl="0" indent="0" marL="0">
              <a:buNone/>
            </a:pPr>
            <a:r>
              <a:rPr/>
              <a:t>If that is true, SUTVA fails, and </a:t>
            </a:r>
            <a:r>
              <a:rPr i="1"/>
              <a:t>every</a:t>
            </a:r>
            <a:r>
              <a:rPr/>
              <a:t> method today is biased — including the sophisticated ones. Say so in your limitations. A named, unfixed threat is scholarship; an unmentioned one is not.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Why naive ML fails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obvious thing to do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Throw the covariates into a flexible model and read off the treatment coefficient:</a:t>
                </a:r>
              </a:p>
              <a:p>
                <a:pPr lvl="0" indent="0">
                  <a:buNone/>
                </a:pPr>
                <a:r>
                  <a:rPr>
                    <a:latin typeface="Courier"/>
                  </a:rPr>
                  <a:t>y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~</a:t>
                </a:r>
                <a:r>
                  <a:rPr>
                    <a:latin typeface="Courier"/>
                  </a:rPr>
                  <a:t> D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+</a:t>
                </a:r>
                <a:r>
                  <a:rPr>
                    <a:latin typeface="Courier"/>
                  </a:rPr>
                  <a:t> RandomForest(X)</a:t>
                </a:r>
              </a:p>
              <a:p>
                <a:pPr lvl="0" indent="0" marL="0">
                  <a:buNone/>
                </a:pPr>
                <a:r>
                  <a:rPr/>
                  <a:t>This is biased, and the bias does </a:t>
                </a:r>
                <a:r>
                  <a:rPr b="1"/>
                  <a:t>not</a:t>
                </a:r>
                <a:r>
                  <a:rPr/>
                  <a:t> vanish as </a:t>
                </a:r>
                <a14:m>
                  <m:oMath xmlns:m="http://schemas.openxmlformats.org/officeDocument/2006/math">
                    <m:r>
                      <m:t>n</m:t>
                    </m:r>
                  </m:oMath>
                </a14:m>
                <a:r>
                  <a:rPr/>
                  <a:t> grows. The problem is structural, not a small-sample issue.</a:t>
                </a:r>
              </a:p>
            </p:txBody>
          </p:sp>
        </mc:Choice>
      </mc:AlternateContent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Two sources of bias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-342900" marL="342900">
                  <a:buAutoNum type="arabicPeriod"/>
                </a:pPr>
                <a:r>
                  <a:rPr b="1"/>
                  <a:t>Regularisation bias.</a:t>
                </a:r>
                <a:r>
                  <a:rPr/>
                  <a:t> Every ML estimator shrinks. Shrinkage in the nuisance function </a:t>
                </a:r>
                <a14:m>
                  <m:oMath xmlns:m="http://schemas.openxmlformats.org/officeDocument/2006/math">
                    <m:r>
                      <m:rPr>
                        <m:sty m:val="p"/>
                        <m:scr m:val="double-struck"/>
                      </m:rPr>
                      <m:t>E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</m:dPr>
                      <m:e>
                        <m:r>
                          <m:t>Y</m:t>
                        </m:r>
                        <m:r>
                          <m:rPr>
                            <m:sty m:val="p"/>
                          </m:rPr>
                          <m:t>|</m:t>
                        </m:r>
                        <m:r>
                          <m:t>X</m:t>
                        </m:r>
                      </m:e>
                    </m:d>
                  </m:oMath>
                </a14:m>
                <a:r>
                  <a:rPr/>
                  <a:t> leaks directly into </a:t>
                </a:r>
                <a14:m>
                  <m:oMath xmlns:m="http://schemas.openxmlformats.org/officeDocument/2006/math">
                    <m:acc>
                      <m:accPr>
                        <m:chr m:val="̂"/>
                      </m:accPr>
                      <m:e>
                        <m:r>
                          <m:t>τ</m:t>
                        </m:r>
                      </m:e>
                    </m:acc>
                  </m:oMath>
                </a14:m>
                <a:r>
                  <a:rPr/>
                  <a:t>.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Overfitting bias.</a:t>
                </a:r>
                <a:r>
                  <a:rPr/>
                  <a:t> If the same rows fit the nuisance model and estimate the effect, the nuisance model has partly fitted the noise that </a:t>
                </a:r>
                <a14:m>
                  <m:oMath xmlns:m="http://schemas.openxmlformats.org/officeDocument/2006/math">
                    <m:acc>
                      <m:accPr>
                        <m:chr m:val="̂"/>
                      </m:accPr>
                      <m:e>
                        <m:r>
                          <m:t>τ</m:t>
                        </m:r>
                      </m:e>
                    </m:acc>
                  </m:oMath>
                </a14:m>
                <a:r>
                  <a:rPr/>
                  <a:t> is then computed from.</a:t>
                </a:r>
              </a:p>
              <a:p>
                <a:pPr lvl="0" indent="0" marL="0">
                  <a:buNone/>
                </a:pPr>
                <a:r>
                  <a:rPr/>
                  <a:t>DML fixes the first with </a:t>
                </a:r>
                <a:r>
                  <a:rPr b="1"/>
                  <a:t>orthogonalisation</a:t>
                </a:r>
                <a:r>
                  <a:rPr/>
                  <a:t> and the second with </a:t>
                </a:r>
                <a:r>
                  <a:rPr b="1"/>
                  <a:t>cross-fitting</a:t>
                </a:r>
                <a:r>
                  <a:rPr/>
                  <a:t>. Two problems, two devices.</a:t>
                </a:r>
              </a:p>
            </p:txBody>
          </p:sp>
        </mc:Choice>
      </mc:AlternateContent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Orthogonalisation: FWL returns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Session 02’s theorem, now doing causal work. Residualise both sides: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̃"/>
                        </m:accPr>
                        <m:e>
                          <m:r>
                            <m:t>Y</m:t>
                          </m:r>
                        </m:e>
                      </m:acc>
                      <m:r>
                        <m:rPr>
                          <m:sty m:val="p"/>
                        </m:rPr>
                        <m:t>=</m:t>
                      </m:r>
                      <m:r>
                        <m:t>Y</m:t>
                      </m:r>
                      <m:r>
                        <m:rPr>
                          <m:sty m:val="p"/>
                        </m:rPr>
                        <m:t>−</m:t>
                      </m:r>
                      <m:acc>
                        <m:accPr>
                          <m:chr m:val="̂"/>
                        </m:accPr>
                        <m:e>
                          <m:r>
                            <m:rPr>
                              <m:sty m:val="p"/>
                              <m:scr m:val="double-struck"/>
                            </m:rPr>
                            <m:t>E</m:t>
                          </m:r>
                        </m:e>
                      </m:acc>
                      <m:d>
                        <m:dPr>
                          <m:begChr m:val="["/>
                          <m:sepChr m:val=""/>
                          <m:endChr m:val="]"/>
                          <m:grow/>
                        </m:dPr>
                        <m:e>
                          <m:r>
                            <m:t>Y</m:t>
                          </m:r>
                          <m:r>
                            <m:rPr>
                              <m:sty m:val="p"/>
                            </m:rPr>
                            <m:t>∣</m:t>
                          </m:r>
                          <m: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m:t>,</m:t>
                      </m:r>
                      <m:r>
                        <m:t>  </m:t>
                      </m:r>
                      <m:acc>
                        <m:accPr>
                          <m:chr m:val="̃"/>
                        </m:accPr>
                        <m:e>
                          <m:r>
                            <m:t>D</m:t>
                          </m:r>
                        </m:e>
                      </m:acc>
                      <m:r>
                        <m:rPr>
                          <m:sty m:val="p"/>
                        </m:rPr>
                        <m:t>=</m:t>
                      </m:r>
                      <m:r>
                        <m:t>D</m:t>
                      </m:r>
                      <m:r>
                        <m:rPr>
                          <m:sty m:val="p"/>
                        </m:rPr>
                        <m:t>−</m:t>
                      </m:r>
                      <m:acc>
                        <m:accPr>
                          <m:chr m:val="̂"/>
                        </m:accPr>
                        <m:e>
                          <m:r>
                            <m:t>e</m:t>
                          </m:r>
                        </m:e>
                      </m:acc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X</m:t>
                          </m:r>
                        </m:e>
                      </m:d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then regress </a:t>
                </a:r>
                <a14:m>
                  <m:oMath xmlns:m="http://schemas.openxmlformats.org/officeDocument/2006/math">
                    <m:acc>
                      <m:accPr>
                        <m:chr m:val="̃"/>
                      </m:accPr>
                      <m:e>
                        <m:r>
                          <m:t>Y</m:t>
                        </m:r>
                      </m:e>
                    </m:acc>
                  </m:oMath>
                </a14:m>
                <a:r>
                  <a:rPr/>
                  <a:t> on </a:t>
                </a:r>
                <a14:m>
                  <m:oMath xmlns:m="http://schemas.openxmlformats.org/officeDocument/2006/math">
                    <m:acc>
                      <m:accPr>
                        <m:chr m:val="̃"/>
                      </m:accPr>
                      <m:e>
                        <m:r>
                          <m:t>D</m:t>
                        </m:r>
                      </m:e>
                    </m:acc>
                  </m:oMath>
                </a14:m>
                <a:r>
                  <a:rPr/>
                  <a:t>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̂"/>
                        </m:accPr>
                        <m:e>
                          <m:r>
                            <m:t>τ</m:t>
                          </m:r>
                        </m:e>
                      </m:acc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nary>
                            <m:naryPr>
                              <m:chr m:val="∑"/>
                              <m:limLoc m:val="undOvr"/>
                              <m:subHide m:val="off"/>
                              <m:supHide m:val="on"/>
                            </m:naryPr>
                            <m:sub>
                              <m:r>
                                <m:t>i</m:t>
                              </m:r>
                            </m:sub>
                            <m:sup>
                              <m:r>
                                <m:t>​</m:t>
                              </m:r>
                            </m:sup>
                            <m:e>
                              <m:sSub>
                                <m:e>
                                  <m:acc>
                                    <m:accPr>
                                      <m:chr m:val="̃"/>
                                    </m:accPr>
                                    <m:e>
                                      <m:r>
                                        <m:t>Y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m:t>i</m:t>
                                  </m:r>
                                </m:sub>
                              </m:sSub>
                            </m:e>
                          </m:nary>
                          <m:sSub>
                            <m:e>
                              <m:acc>
                                <m:accPr>
                                  <m:chr m:val="̃"/>
                                </m:accPr>
                                <m:e>
                                  <m:r>
                                    <m:t>D</m:t>
                                  </m:r>
                                </m:e>
                              </m:acc>
                            </m:e>
                            <m:sub>
                              <m:r>
                                <m:t>i</m:t>
                              </m:r>
                            </m:sub>
                          </m:sSub>
                        </m:num>
                        <m:den>
                          <m:nary>
                            <m:naryPr>
                              <m:chr m:val="∑"/>
                              <m:limLoc m:val="undOvr"/>
                              <m:subHide m:val="off"/>
                              <m:supHide m:val="on"/>
                            </m:naryPr>
                            <m:sub>
                              <m:r>
                                <m:t>i</m:t>
                              </m:r>
                            </m:sub>
                            <m:sup>
                              <m:r>
                                <m:t>​</m:t>
                              </m:r>
                            </m:sup>
                            <m:e>
                              <m:sSubSup>
                                <m:e>
                                  <m:acc>
                                    <m:accPr>
                                      <m:chr m:val="̃"/>
                                    </m:accPr>
                                    <m:e>
                                      <m:r>
                                        <m:t>D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m:t>i</m:t>
                                  </m:r>
                                </m:sub>
                                <m:sup>
                                  <m:r>
                                    <m:t> </m:t>
                                  </m:r>
                                  <m:r>
                                    <m:t>2</m:t>
                                  </m:r>
                                </m:sup>
                              </m:sSubSup>
                            </m:e>
                          </m:nary>
                        </m:den>
                      </m:f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This score is </a:t>
                </a:r>
                <a:r>
                  <a:rPr b="1"/>
                  <a:t>Neyman orthogonal</a:t>
                </a:r>
                <a:r>
                  <a:rPr/>
                  <a:t>: small errors in either nuisance estimate have only second-order effect on </a:t>
                </a:r>
                <a14:m>
                  <m:oMath xmlns:m="http://schemas.openxmlformats.org/officeDocument/2006/math">
                    <m:acc>
                      <m:accPr>
                        <m:chr m:val="̂"/>
                      </m:accPr>
                      <m:e>
                        <m:r>
                          <m:t>τ</m:t>
                        </m:r>
                      </m:e>
                    </m:acc>
                  </m:oMath>
                </a14:m>
                <a:r>
                  <a:rPr/>
                  <a:t>. That is the whole trick.</a:t>
                </a:r>
              </a:p>
            </p:txBody>
          </p:sp>
        </mc:Choice>
      </mc:AlternateContent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Cross-fitting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-342900" marL="342900">
                  <a:buAutoNum type="arabicPeriod"/>
                </a:pPr>
                <a:r>
                  <a:rPr/>
                  <a:t>Split into </a:t>
                </a:r>
                <a14:m>
                  <m:oMath xmlns:m="http://schemas.openxmlformats.org/officeDocument/2006/math">
                    <m:r>
                      <m:t>K</m:t>
                    </m:r>
                  </m:oMath>
                </a14:m>
                <a:r>
                  <a:rPr/>
                  <a:t> folds</a:t>
                </a:r>
              </a:p>
              <a:p>
                <a:pPr lvl="0" indent="-342900" marL="342900">
                  <a:buAutoNum type="arabicPeriod"/>
                </a:pPr>
                <a:r>
                  <a:rPr/>
                  <a:t>Fit the nuisance models on </a:t>
                </a:r>
                <a14:m>
                  <m:oMath xmlns:m="http://schemas.openxmlformats.org/officeDocument/2006/math">
                    <m:r>
                      <m:t>K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1</m:t>
                    </m:r>
                  </m:oMath>
                </a14:m>
                <a:r>
                  <a:rPr/>
                  <a:t> folds</a:t>
                </a:r>
              </a:p>
              <a:p>
                <a:pPr lvl="0" indent="-342900" marL="342900">
                  <a:buAutoNum type="arabicPeriod"/>
                </a:pPr>
                <a:r>
                  <a:rPr/>
                  <a:t>Predict the residuals on the </a:t>
                </a:r>
                <a:r>
                  <a:rPr b="1"/>
                  <a:t>held-out</a:t>
                </a:r>
                <a:r>
                  <a:rPr/>
                  <a:t> fold</a:t>
                </a:r>
              </a:p>
              <a:p>
                <a:pPr lvl="0" indent="-342900" marL="342900">
                  <a:buAutoNum type="arabicPeriod"/>
                </a:pPr>
                <a:r>
                  <a:rPr/>
                  <a:t>Rotate, then combine</a:t>
                </a:r>
              </a:p>
              <a:p>
                <a:pPr lvl="0" indent="0" marL="0">
                  <a:buNone/>
                </a:pPr>
                <a:r>
                  <a:rPr/>
                  <a:t>Without this, the nuisance model has seen the rows you estimate the effect from, and the effect inherits its overfitting. With it, </a:t>
                </a:r>
                <a14:m>
                  <m:oMath xmlns:m="http://schemas.openxmlformats.org/officeDocument/2006/math">
                    <m:acc>
                      <m:accPr>
                        <m:chr m:val="̂"/>
                      </m:accPr>
                      <m:e>
                        <m:r>
                          <m:t>τ</m:t>
                        </m:r>
                      </m:e>
                    </m:acc>
                  </m:oMath>
                </a14:m>
                <a:r>
                  <a:rPr/>
                  <a:t> is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</m:radPr>
                      <m:deg/>
                      <m:e>
                        <m:r>
                          <m:t>n</m:t>
                        </m:r>
                      </m:e>
                    </m:rad>
                  </m:oMath>
                </a14:m>
                <a:r>
                  <a:rPr/>
                  <a:t>-consistent and asymptotically normal — so a confidence interval means something again.</a:t>
                </a:r>
              </a:p>
            </p:txBody>
          </p:sp>
        </mc:Choice>
      </mc:AlternateContent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data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Treatment and covariates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pandas </a:t>
            </a:r>
            <a:r>
              <a:rPr b="1">
                <a:solidFill>
                  <a:srgbClr val="00800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pd</a:t>
            </a:r>
            <a:br/>
            <a:br/>
            <a:r>
              <a:rPr>
                <a:latin typeface="Courier"/>
              </a:rPr>
              <a:t>c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pd.read_parquet(</a:t>
            </a:r>
            <a:r>
              <a:rPr>
                <a:solidFill>
                  <a:srgbClr val="4070A0"/>
                </a:solidFill>
                <a:latin typeface="Courier"/>
              </a:rPr>
              <a:t>"data/spine/angle_c_country.parquet"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c[c.time </a:t>
            </a:r>
            <a:r>
              <a:rPr>
                <a:solidFill>
                  <a:srgbClr val="666666"/>
                </a:solidFill>
                <a:latin typeface="Courier"/>
              </a:rPr>
              <a:t>&gt;=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2021</a:t>
            </a:r>
            <a:r>
              <a:rPr>
                <a:latin typeface="Courier"/>
              </a:rPr>
              <a:t>].dropna(subset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[</a:t>
            </a:r>
            <a:r>
              <a:rPr>
                <a:solidFill>
                  <a:srgbClr val="4070A0"/>
                </a:solidFill>
                <a:latin typeface="Courier"/>
              </a:rPr>
              <a:t>"ai_use_any"</a:t>
            </a:r>
            <a:r>
              <a:rPr>
                <a:latin typeface="Courier"/>
              </a:rPr>
              <a:t>]).copy()</a:t>
            </a:r>
            <a:br/>
            <a:br/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008000"/>
                </a:solidFill>
                <a:latin typeface="Courier"/>
              </a:rPr>
              <a:t>len</a:t>
            </a:r>
            <a:r>
              <a:rPr>
                <a:latin typeface="Courier"/>
              </a:rPr>
              <a:t>(d), </a:t>
            </a:r>
            <a:r>
              <a:rPr>
                <a:solidFill>
                  <a:srgbClr val="4070A0"/>
                </a:solidFill>
                <a:latin typeface="Courier"/>
              </a:rPr>
              <a:t>"rows |"</a:t>
            </a:r>
            <a:r>
              <a:rPr>
                <a:latin typeface="Courier"/>
              </a:rPr>
              <a:t>, d.has_ai_strategy.mean().</a:t>
            </a:r>
            <a:r>
              <a:rPr>
                <a:solidFill>
                  <a:srgbClr val="008000"/>
                </a:solidFill>
                <a:latin typeface="Courier"/>
              </a:rPr>
              <a:t>round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), </a:t>
            </a:r>
            <a:r>
              <a:rPr>
                <a:solidFill>
                  <a:srgbClr val="4070A0"/>
                </a:solidFill>
                <a:latin typeface="Courier"/>
              </a:rPr>
              <a:t>"treated"</a:t>
            </a:r>
            <a:r>
              <a:rPr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The spine was generated with treatment </a:t>
            </a:r>
            <a:r>
              <a:rPr b="1"/>
              <a:t>assigned on covariates</a:t>
            </a:r>
            <a:r>
              <a:rPr/>
              <a:t> and a known true effect. You are going to try to recover a number I already have.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Check overlap first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800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sklearn.ensemble </a:t>
            </a: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RandomForestClassifier</a:t>
            </a:r>
            <a:br/>
            <a:br/>
            <a:r>
              <a:rPr>
                <a:latin typeface="Courier"/>
              </a:rPr>
              <a:t>Xc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d.drop(columns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[</a:t>
            </a:r>
            <a:r>
              <a:rPr>
                <a:solidFill>
                  <a:srgbClr val="4070A0"/>
                </a:solidFill>
                <a:latin typeface="Courier"/>
              </a:rPr>
              <a:t>"geo"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"time"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"flag"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"has_ai_strategy"</a:t>
            </a:r>
            <a:r>
              <a:rPr>
                <a:latin typeface="Courier"/>
              </a:rPr>
              <a:t>,</a:t>
            </a:r>
            <a:br/>
            <a:r>
              <a:rPr>
                <a:latin typeface="Courier"/>
              </a:rPr>
              <a:t>                     </a:t>
            </a:r>
            <a:r>
              <a:rPr>
                <a:solidFill>
                  <a:srgbClr val="4070A0"/>
                </a:solidFill>
                <a:latin typeface="Courier"/>
              </a:rPr>
              <a:t>"ai_use_any"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"ai_use_ml"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"ai_use_ge3"</a:t>
            </a:r>
            <a:r>
              <a:rPr>
                <a:latin typeface="Courier"/>
              </a:rPr>
              <a:t>])</a:t>
            </a:r>
            <a:br/>
            <a:r>
              <a:rPr>
                <a:latin typeface="Courier"/>
              </a:rPr>
              <a:t>Xc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Xc.fillna(Xc.median(numeric_only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19177C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))</a:t>
            </a:r>
            <a:br/>
            <a:r>
              <a:rPr>
                <a:latin typeface="Courier"/>
              </a:rPr>
              <a:t>ps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RandomForestClassifier(</a:t>
            </a:r>
            <a:r>
              <a:rPr>
                <a:solidFill>
                  <a:srgbClr val="40A070"/>
                </a:solidFill>
                <a:latin typeface="Courier"/>
              </a:rPr>
              <a:t>400</a:t>
            </a:r>
            <a:r>
              <a:rPr>
                <a:latin typeface="Courier"/>
              </a:rPr>
              <a:t>, min_samples_leaf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latin typeface="Courier"/>
              </a:rPr>
              <a:t>, random_state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60033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ps.fit(Xc, d.has_ai_strategy)</a:t>
            </a:r>
            <a:br/>
            <a:r>
              <a:rPr>
                <a:latin typeface="Courier"/>
              </a:rPr>
              <a:t>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ps.predict_proba(Xc)[:,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]</a:t>
            </a:r>
            <a:br/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"propensity range:"</a:t>
            </a:r>
            <a:r>
              <a:rPr>
                <a:latin typeface="Courier"/>
              </a:rPr>
              <a:t>, e.</a:t>
            </a:r>
            <a:r>
              <a:rPr>
                <a:solidFill>
                  <a:srgbClr val="008000"/>
                </a:solidFill>
                <a:latin typeface="Courier"/>
              </a:rPr>
              <a:t>min</a:t>
            </a:r>
            <a:r>
              <a:rPr>
                <a:latin typeface="Courier"/>
              </a:rPr>
              <a:t>().</a:t>
            </a:r>
            <a:r>
              <a:rPr>
                <a:solidFill>
                  <a:srgbClr val="008000"/>
                </a:solidFill>
                <a:latin typeface="Courier"/>
              </a:rPr>
              <a:t>round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), e.</a:t>
            </a:r>
            <a:r>
              <a:rPr>
                <a:solidFill>
                  <a:srgbClr val="008000"/>
                </a:solidFill>
                <a:latin typeface="Courier"/>
              </a:rPr>
              <a:t>max</a:t>
            </a:r>
            <a:r>
              <a:rPr>
                <a:latin typeface="Courier"/>
              </a:rPr>
              <a:t>().</a:t>
            </a:r>
            <a:r>
              <a:rPr>
                <a:solidFill>
                  <a:srgbClr val="008000"/>
                </a:solidFill>
                <a:latin typeface="Courier"/>
              </a:rPr>
              <a:t>round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))</a:t>
            </a:r>
          </a:p>
          <a:p>
            <a:pPr lvl="0" indent="0" marL="0">
              <a:buNone/>
            </a:pPr>
            <a:r>
              <a:rPr/>
              <a:t>Propensities near 0 or 1 mean </a:t>
            </a:r>
            <a:r>
              <a:rPr b="1"/>
              <a:t>no comparable counterfactual</a:t>
            </a:r>
            <a:r>
              <a:rPr/>
              <a:t>. Those rows carry enormous weight and almost no information. Trim them, and report how many you dropped.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naive estimate, for contrast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statsmodels.formula.api </a:t>
            </a:r>
            <a:r>
              <a:rPr b="1">
                <a:solidFill>
                  <a:srgbClr val="00800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smf</a:t>
            </a:r>
            <a:br/>
            <a:r>
              <a:rPr>
                <a:latin typeface="Courier"/>
              </a:rPr>
              <a:t>naive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smf.ols(</a:t>
            </a:r>
            <a:r>
              <a:rPr>
                <a:solidFill>
                  <a:srgbClr val="4070A0"/>
                </a:solidFill>
                <a:latin typeface="Courier"/>
              </a:rPr>
              <a:t>"ai_use_any ~ has_ai_strategy"</a:t>
            </a:r>
            <a:r>
              <a:rPr>
                <a:latin typeface="Courier"/>
              </a:rPr>
              <a:t>, data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d).fit()</a:t>
            </a:r>
            <a:br/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(naive.params[</a:t>
            </a:r>
            <a:r>
              <a:rPr>
                <a:solidFill>
                  <a:srgbClr val="4070A0"/>
                </a:solidFill>
                <a:latin typeface="Courier"/>
              </a:rPr>
              <a:t>"has_ai_strategy"</a:t>
            </a:r>
            <a:r>
              <a:rPr>
                <a:latin typeface="Courier"/>
              </a:rPr>
              <a:t>].</a:t>
            </a:r>
            <a:r>
              <a:rPr>
                <a:solidFill>
                  <a:srgbClr val="008000"/>
                </a:solidFill>
                <a:latin typeface="Courier"/>
              </a:rPr>
              <a:t>round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))</a:t>
            </a:r>
          </a:p>
          <a:p>
            <a:pPr lvl="0" indent="0" marL="0">
              <a:buNone/>
            </a:pPr>
            <a:r>
              <a:rPr/>
              <a:t>Write this number down. It is the number a careless analyst reports, and the gap between it and what follows is the lesson of the session.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DML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By hand, so you see the mechanism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numpy </a:t>
            </a:r>
            <a:r>
              <a:rPr b="1">
                <a:solidFill>
                  <a:srgbClr val="00800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np</a:t>
            </a:r>
            <a:br/>
            <a:r>
              <a:rPr b="1">
                <a:solidFill>
                  <a:srgbClr val="00800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sklearn.ensemble </a:t>
            </a: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RandomForestRegressor, RandomForestClassifier</a:t>
            </a:r>
            <a:br/>
            <a:r>
              <a:rPr b="1">
                <a:solidFill>
                  <a:srgbClr val="00800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sklearn.model_selection </a:t>
            </a: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GroupKFold</a:t>
            </a:r>
            <a:br/>
            <a:br/>
            <a:r>
              <a:rPr>
                <a:latin typeface="Courier"/>
              </a:rPr>
              <a:t>Y, D, G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d[</a:t>
            </a:r>
            <a:r>
              <a:rPr>
                <a:solidFill>
                  <a:srgbClr val="4070A0"/>
                </a:solidFill>
                <a:latin typeface="Courier"/>
              </a:rPr>
              <a:t>"ai_use_any"</a:t>
            </a:r>
            <a:r>
              <a:rPr>
                <a:latin typeface="Courier"/>
              </a:rPr>
              <a:t>].to_numpy(), d[</a:t>
            </a:r>
            <a:r>
              <a:rPr>
                <a:solidFill>
                  <a:srgbClr val="4070A0"/>
                </a:solidFill>
                <a:latin typeface="Courier"/>
              </a:rPr>
              <a:t>"has_ai_strategy"</a:t>
            </a:r>
            <a:r>
              <a:rPr>
                <a:latin typeface="Courier"/>
              </a:rPr>
              <a:t>].to_numpy(), d[</a:t>
            </a:r>
            <a:r>
              <a:rPr>
                <a:solidFill>
                  <a:srgbClr val="4070A0"/>
                </a:solidFill>
                <a:latin typeface="Courier"/>
              </a:rPr>
              <a:t>"geo"</a:t>
            </a:r>
            <a:r>
              <a:rPr>
                <a:latin typeface="Courier"/>
              </a:rPr>
              <a:t>]</a:t>
            </a:r>
            <a:br/>
            <a:r>
              <a:rPr>
                <a:latin typeface="Courier"/>
              </a:rPr>
              <a:t>yres, dres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np.zeros(</a:t>
            </a:r>
            <a:r>
              <a:rPr>
                <a:solidFill>
                  <a:srgbClr val="008000"/>
                </a:solidFill>
                <a:latin typeface="Courier"/>
              </a:rPr>
              <a:t>len</a:t>
            </a:r>
            <a:r>
              <a:rPr>
                <a:latin typeface="Courier"/>
              </a:rPr>
              <a:t>(d)), np.zeros(</a:t>
            </a:r>
            <a:r>
              <a:rPr>
                <a:solidFill>
                  <a:srgbClr val="008000"/>
                </a:solidFill>
                <a:latin typeface="Courier"/>
              </a:rPr>
              <a:t>len</a:t>
            </a:r>
            <a:r>
              <a:rPr>
                <a:latin typeface="Courier"/>
              </a:rPr>
              <a:t>(d))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tr, te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GroupKFold(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latin typeface="Courier"/>
              </a:rPr>
              <a:t>).split(Xc, Y, G):</a:t>
            </a:r>
            <a:br/>
            <a:r>
              <a:rPr>
                <a:latin typeface="Courier"/>
              </a:rPr>
              <a:t>    my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RandomForestRegressor(</a:t>
            </a:r>
            <a:r>
              <a:rPr>
                <a:solidFill>
                  <a:srgbClr val="40A070"/>
                </a:solidFill>
                <a:latin typeface="Courier"/>
              </a:rPr>
              <a:t>400</a:t>
            </a:r>
            <a:r>
              <a:rPr>
                <a:latin typeface="Courier"/>
              </a:rPr>
              <a:t>, min_samples_leaf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latin typeface="Courier"/>
              </a:rPr>
              <a:t>, random_state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60033</a:t>
            </a:r>
            <a:r>
              <a:rPr>
                <a:latin typeface="Courier"/>
              </a:rPr>
              <a:t>).fit(Xc.iloc[tr], Y[tr])</a:t>
            </a:r>
            <a:br/>
            <a:r>
              <a:rPr>
                <a:latin typeface="Courier"/>
              </a:rPr>
              <a:t>    md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RandomForestClassifier(</a:t>
            </a:r>
            <a:r>
              <a:rPr>
                <a:solidFill>
                  <a:srgbClr val="40A070"/>
                </a:solidFill>
                <a:latin typeface="Courier"/>
              </a:rPr>
              <a:t>400</a:t>
            </a:r>
            <a:r>
              <a:rPr>
                <a:latin typeface="Courier"/>
              </a:rPr>
              <a:t>, min_samples_leaf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latin typeface="Courier"/>
              </a:rPr>
              <a:t>, random_state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60033</a:t>
            </a:r>
            <a:r>
              <a:rPr>
                <a:latin typeface="Courier"/>
              </a:rPr>
              <a:t>).fit(Xc.iloc[tr], D[tr])</a:t>
            </a:r>
            <a:br/>
            <a:r>
              <a:rPr>
                <a:latin typeface="Courier"/>
              </a:rPr>
              <a:t>    yres[te]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Y[te]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my.predict(Xc.iloc[te])</a:t>
            </a:r>
            <a:br/>
            <a:r>
              <a:rPr>
                <a:latin typeface="Courier"/>
              </a:rPr>
              <a:t>    dres[te]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D[te]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md.predict_proba(Xc.iloc[te])[:,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]</a:t>
            </a:r>
            <a:br/>
            <a:br/>
            <a:r>
              <a:rPr>
                <a:latin typeface="Courier"/>
              </a:rPr>
              <a:t>tau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(yres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dres).</a:t>
            </a:r>
            <a:r>
              <a:rPr>
                <a:solidFill>
                  <a:srgbClr val="008000"/>
                </a:solidFill>
                <a:latin typeface="Courier"/>
              </a:rPr>
              <a:t>sum</a:t>
            </a:r>
            <a:r>
              <a:rPr>
                <a:latin typeface="Courier"/>
              </a:rPr>
              <a:t>() 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latin typeface="Courier"/>
              </a:rPr>
              <a:t> (dres </a:t>
            </a:r>
            <a:r>
              <a:rPr>
                <a:solidFill>
                  <a:srgbClr val="666666"/>
                </a:solidFill>
                <a:latin typeface="Courier"/>
              </a:rPr>
              <a:t>**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).</a:t>
            </a:r>
            <a:r>
              <a:rPr>
                <a:solidFill>
                  <a:srgbClr val="008000"/>
                </a:solidFill>
                <a:latin typeface="Courier"/>
              </a:rPr>
              <a:t>sum</a:t>
            </a:r>
            <a:r>
              <a:rPr>
                <a:latin typeface="Courier"/>
              </a:rPr>
              <a:t>()</a:t>
            </a:r>
            <a:br/>
            <a:r>
              <a:rPr>
                <a:latin typeface="Courier"/>
              </a:rPr>
              <a:t>se 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np.sqrt(((yres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tau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dres) </a:t>
            </a:r>
            <a:r>
              <a:rPr>
                <a:solidFill>
                  <a:srgbClr val="666666"/>
                </a:solidFill>
                <a:latin typeface="Courier"/>
              </a:rPr>
              <a:t>**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dres </a:t>
            </a:r>
            <a:r>
              <a:rPr>
                <a:solidFill>
                  <a:srgbClr val="666666"/>
                </a:solidFill>
                <a:latin typeface="Courier"/>
              </a:rPr>
              <a:t>**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).</a:t>
            </a:r>
            <a:r>
              <a:rPr>
                <a:solidFill>
                  <a:srgbClr val="008000"/>
                </a:solidFill>
                <a:latin typeface="Courier"/>
              </a:rPr>
              <a:t>sum</a:t>
            </a:r>
            <a:r>
              <a:rPr>
                <a:latin typeface="Courier"/>
              </a:rPr>
              <a:t>()) 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latin typeface="Courier"/>
              </a:rPr>
              <a:t> (dres </a:t>
            </a:r>
            <a:r>
              <a:rPr>
                <a:solidFill>
                  <a:srgbClr val="666666"/>
                </a:solidFill>
                <a:latin typeface="Courier"/>
              </a:rPr>
              <a:t>**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).</a:t>
            </a:r>
            <a:r>
              <a:rPr>
                <a:solidFill>
                  <a:srgbClr val="008000"/>
                </a:solidFill>
                <a:latin typeface="Courier"/>
              </a:rPr>
              <a:t>sum</a:t>
            </a:r>
            <a:r>
              <a:rPr>
                <a:latin typeface="Courier"/>
              </a:rPr>
              <a:t>()</a:t>
            </a:r>
            <a:br/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BB6688"/>
                </a:solidFill>
                <a:latin typeface="Courier"/>
              </a:rPr>
              <a:t>f"DML ATE = </a:t>
            </a:r>
            <a:r>
              <a:rPr>
                <a:solidFill>
                  <a:srgbClr val="4070A0"/>
                </a:solidFill>
                <a:latin typeface="Courier"/>
              </a:rPr>
              <a:t>{</a:t>
            </a:r>
            <a:r>
              <a:rPr>
                <a:latin typeface="Courier"/>
              </a:rPr>
              <a:t>tau</a:t>
            </a:r>
            <a:r>
              <a:rPr>
                <a:solidFill>
                  <a:srgbClr val="4070A0"/>
                </a:solidFill>
                <a:latin typeface="Courier"/>
              </a:rPr>
              <a:t>:.3f}</a:t>
            </a:r>
            <a:r>
              <a:rPr>
                <a:solidFill>
                  <a:srgbClr val="BB6688"/>
                </a:solidFill>
                <a:latin typeface="Courier"/>
              </a:rPr>
              <a:t>  (se </a:t>
            </a:r>
            <a:r>
              <a:rPr>
                <a:solidFill>
                  <a:srgbClr val="4070A0"/>
                </a:solidFill>
                <a:latin typeface="Courier"/>
              </a:rPr>
              <a:t>{</a:t>
            </a:r>
            <a:r>
              <a:rPr>
                <a:latin typeface="Courier"/>
              </a:rPr>
              <a:t>se</a:t>
            </a:r>
            <a:r>
              <a:rPr>
                <a:solidFill>
                  <a:srgbClr val="4070A0"/>
                </a:solidFill>
                <a:latin typeface="Courier"/>
              </a:rPr>
              <a:t>:.3f}</a:t>
            </a:r>
            <a:r>
              <a:rPr>
                <a:solidFill>
                  <a:srgbClr val="BB6688"/>
                </a:solidFill>
                <a:latin typeface="Courier"/>
              </a:rPr>
              <a:t>)"</a:t>
            </a:r>
            <a:r>
              <a:rPr>
                <a:latin typeface="Courier"/>
              </a:rPr>
              <a:t>)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Then with the library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800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doubleml </a:t>
            </a: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DoubleMLData, DoubleMLPLR</a:t>
            </a:r>
            <a:br/>
            <a:br/>
            <a:r>
              <a:rPr>
                <a:latin typeface="Courier"/>
              </a:rPr>
              <a:t>dml_data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DoubleMLData.from_arrays(Xc.to_numpy(), Y, D)</a:t>
            </a:r>
            <a:br/>
            <a:r>
              <a:rPr>
                <a:latin typeface="Courier"/>
              </a:rPr>
              <a:t>dml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DoubleMLPLR(dml_data,</a:t>
            </a:r>
            <a:br/>
            <a:r>
              <a:rPr>
                <a:latin typeface="Courier"/>
              </a:rPr>
              <a:t>                  ml_l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RandomForestRegressor(</a:t>
            </a:r>
            <a:r>
              <a:rPr>
                <a:solidFill>
                  <a:srgbClr val="40A070"/>
                </a:solidFill>
                <a:latin typeface="Courier"/>
              </a:rPr>
              <a:t>400</a:t>
            </a:r>
            <a:r>
              <a:rPr>
                <a:latin typeface="Courier"/>
              </a:rPr>
              <a:t>, min_samples_leaf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latin typeface="Courier"/>
              </a:rPr>
              <a:t>, random_state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60033</a:t>
            </a:r>
            <a:r>
              <a:rPr>
                <a:latin typeface="Courier"/>
              </a:rPr>
              <a:t>),</a:t>
            </a:r>
            <a:br/>
            <a:r>
              <a:rPr>
                <a:latin typeface="Courier"/>
              </a:rPr>
              <a:t>                  ml_m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RandomForestClassifier(</a:t>
            </a:r>
            <a:r>
              <a:rPr>
                <a:solidFill>
                  <a:srgbClr val="40A070"/>
                </a:solidFill>
                <a:latin typeface="Courier"/>
              </a:rPr>
              <a:t>400</a:t>
            </a:r>
            <a:r>
              <a:rPr>
                <a:latin typeface="Courier"/>
              </a:rPr>
              <a:t>, min_samples_leaf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latin typeface="Courier"/>
              </a:rPr>
              <a:t>, random_state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60033</a:t>
            </a:r>
            <a:r>
              <a:rPr>
                <a:latin typeface="Courier"/>
              </a:rPr>
              <a:t>),</a:t>
            </a:r>
            <a:br/>
            <a:r>
              <a:rPr>
                <a:latin typeface="Courier"/>
              </a:rPr>
              <a:t>                  n_folds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dml.fit()</a:t>
            </a:r>
            <a:br/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(dml.summary)</a:t>
            </a:r>
          </a:p>
          <a:p>
            <a:pPr lvl="0" indent="0" marL="0">
              <a:buNone/>
            </a:pPr>
            <a:r>
              <a:rPr/>
              <a:t>The two should agree closely. Writing it by hand once is how you stop treating </a:t>
            </a:r>
            <a:r>
              <a:rPr>
                <a:latin typeface="Courier"/>
              </a:rPr>
              <a:t>DoubleMLPLR</a:t>
            </a:r>
            <a:r>
              <a:rPr/>
              <a:t> as a black box.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Compare the three numbers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Estimator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it assumes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Naive OLS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Strategy adoption is unrelated to everything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ML with controls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Regularisation bias is negligible — it is not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DML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Unconfoundedness, overlap, and honest cross-fitting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Report all three. The movement between them </a:t>
            </a:r>
            <a:r>
              <a:rPr i="1"/>
              <a:t>is</a:t>
            </a:r>
            <a:r>
              <a:rPr/>
              <a:t> your evidence that confounding mattered.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Heterogeneity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average hides the policy question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τ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  <m:scr m:val="double-struck"/>
                        </m:rPr>
                        <m:t>E</m:t>
                      </m:r>
                      <m:d>
                        <m:dPr>
                          <m:begChr m:val="["/>
                          <m:sepChr m:val=""/>
                          <m:endChr m:val="]"/>
                          <m:grow/>
                        </m:dPr>
                        <m:e>
                          <m:r>
                            <m:t>Y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r>
                                <m:t>1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Y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r>
                                <m:t>0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m:t>∣</m:t>
                          </m:r>
                          <m:r>
                            <m:t>X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t>x</m:t>
                          </m:r>
                        </m:e>
                      </m:d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“Does a strategy help?” is less useful than “where does it help?” — and only the second tells anyone what to do.</a:t>
                </a:r>
              </a:p>
            </p:txBody>
          </p:sp>
        </mc:Choice>
      </mc:AlternateContent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Causal forests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800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econml.dml </a:t>
            </a: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CausalForestDML</a:t>
            </a:r>
            <a:br/>
            <a:br/>
            <a:r>
              <a:rPr>
                <a:latin typeface="Courier"/>
              </a:rPr>
              <a:t>cf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CausalForestDML(</a:t>
            </a:r>
            <a:br/>
            <a:r>
              <a:rPr>
                <a:latin typeface="Courier"/>
              </a:rPr>
              <a:t>    model_y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RandomForestRegressor(</a:t>
            </a:r>
            <a:r>
              <a:rPr>
                <a:solidFill>
                  <a:srgbClr val="40A070"/>
                </a:solidFill>
                <a:latin typeface="Courier"/>
              </a:rPr>
              <a:t>400</a:t>
            </a:r>
            <a:r>
              <a:rPr>
                <a:latin typeface="Courier"/>
              </a:rPr>
              <a:t>, min_samples_leaf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latin typeface="Courier"/>
              </a:rPr>
              <a:t>, random_state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60033</a:t>
            </a:r>
            <a:r>
              <a:rPr>
                <a:latin typeface="Courier"/>
              </a:rPr>
              <a:t>),</a:t>
            </a:r>
            <a:br/>
            <a:r>
              <a:rPr>
                <a:latin typeface="Courier"/>
              </a:rPr>
              <a:t>    model_t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RandomForestClassifier(</a:t>
            </a:r>
            <a:r>
              <a:rPr>
                <a:solidFill>
                  <a:srgbClr val="40A070"/>
                </a:solidFill>
                <a:latin typeface="Courier"/>
              </a:rPr>
              <a:t>400</a:t>
            </a:r>
            <a:r>
              <a:rPr>
                <a:latin typeface="Courier"/>
              </a:rPr>
              <a:t>, min_samples_leaf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latin typeface="Courier"/>
              </a:rPr>
              <a:t>, random_state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60033</a:t>
            </a:r>
            <a:r>
              <a:rPr>
                <a:latin typeface="Courier"/>
              </a:rPr>
              <a:t>),</a:t>
            </a:r>
            <a:br/>
            <a:r>
              <a:rPr>
                <a:latin typeface="Courier"/>
              </a:rPr>
              <a:t>    discrete_treatment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19177C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, n_estimators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800</a:t>
            </a:r>
            <a:r>
              <a:rPr>
                <a:latin typeface="Courier"/>
              </a:rPr>
              <a:t>, random_state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60033</a:t>
            </a:r>
            <a:r>
              <a:rPr>
                <a:latin typeface="Courier"/>
              </a:rPr>
              <a:t>,</a:t>
            </a:r>
            <a:br/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cf.fit(Y, D, X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Xc)</a:t>
            </a:r>
            <a:br/>
            <a:r>
              <a:rPr>
                <a:latin typeface="Courier"/>
              </a:rPr>
              <a:t>te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cf.effect(Xc)</a:t>
            </a:r>
            <a:br/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"effect range:"</a:t>
            </a:r>
            <a:r>
              <a:rPr>
                <a:latin typeface="Courier"/>
              </a:rPr>
              <a:t>, te.</a:t>
            </a:r>
            <a:r>
              <a:rPr>
                <a:solidFill>
                  <a:srgbClr val="008000"/>
                </a:solidFill>
                <a:latin typeface="Courier"/>
              </a:rPr>
              <a:t>min</a:t>
            </a:r>
            <a:r>
              <a:rPr>
                <a:latin typeface="Courier"/>
              </a:rPr>
              <a:t>().</a:t>
            </a:r>
            <a:r>
              <a:rPr>
                <a:solidFill>
                  <a:srgbClr val="008000"/>
                </a:solidFill>
                <a:latin typeface="Courier"/>
              </a:rPr>
              <a:t>round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), </a:t>
            </a:r>
            <a:r>
              <a:rPr>
                <a:solidFill>
                  <a:srgbClr val="4070A0"/>
                </a:solidFill>
                <a:latin typeface="Courier"/>
              </a:rPr>
              <a:t>"to"</a:t>
            </a:r>
            <a:r>
              <a:rPr>
                <a:latin typeface="Courier"/>
              </a:rPr>
              <a:t>, te.</a:t>
            </a:r>
            <a:r>
              <a:rPr>
                <a:solidFill>
                  <a:srgbClr val="008000"/>
                </a:solidFill>
                <a:latin typeface="Courier"/>
              </a:rPr>
              <a:t>max</a:t>
            </a:r>
            <a:r>
              <a:rPr>
                <a:latin typeface="Courier"/>
              </a:rPr>
              <a:t>().</a:t>
            </a:r>
            <a:r>
              <a:rPr>
                <a:solidFill>
                  <a:srgbClr val="008000"/>
                </a:solidFill>
                <a:latin typeface="Courier"/>
              </a:rPr>
              <a:t>round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))</a:t>
            </a:r>
          </a:p>
          <a:p>
            <a:pPr lvl="0" indent="0" marL="0">
              <a:buNone/>
            </a:pPr>
            <a:r>
              <a:rPr/>
              <a:t>A spread of estimated effects is </a:t>
            </a:r>
            <a:r>
              <a:rPr b="1"/>
              <a:t>not</a:t>
            </a:r>
            <a:r>
              <a:rPr/>
              <a:t> evidence of heterogeneity. Noise produces spread. Test it — </a:t>
            </a:r>
            <a:r>
              <a:rPr>
                <a:latin typeface="Courier"/>
              </a:rPr>
              <a:t>cf.ate_inference()</a:t>
            </a:r>
            <a:r>
              <a:rPr/>
              <a:t>, or compare high- and low-effect groups with proper inference.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to 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The </a:t>
            </a:r>
            <a:r>
              <a:rPr b="1"/>
              <a:t>estimand</a:t>
            </a:r>
            <a:r>
              <a:rPr/>
              <a:t>, stated before any estimation</a:t>
            </a:r>
          </a:p>
          <a:p>
            <a:pPr lvl="0"/>
            <a:r>
              <a:rPr/>
              <a:t>The three assumptions, each argued or conceded — especially SUTVA here</a:t>
            </a:r>
          </a:p>
          <a:p>
            <a:pPr lvl="0"/>
            <a:r>
              <a:rPr/>
              <a:t>Overlap evidence, and any trimming</a:t>
            </a:r>
          </a:p>
          <a:p>
            <a:pPr lvl="0"/>
            <a:r>
              <a:rPr/>
              <a:t>Naive, controlled and DML estimates side by side</a:t>
            </a:r>
          </a:p>
          <a:p>
            <a:pPr lvl="0"/>
            <a:r>
              <a:rPr/>
              <a:t>Confidence intervals from the cross-fitted score</a:t>
            </a:r>
          </a:p>
          <a:p>
            <a:pPr lvl="0" indent="0" marL="0">
              <a:buNone/>
            </a:pPr>
            <a:r>
              <a:rPr/>
              <a:t>DML does not manufacture identification. It removes regularisation and overfitting bias </a:t>
            </a:r>
            <a:r>
              <a:rPr b="1"/>
              <a:t>given</a:t>
            </a:r>
            <a:r>
              <a:rPr/>
              <a:t> unconfoundedness. If a confounder is missing, DML gives you a precisely estimated wrong answer.</a:t>
            </a:r>
          </a:p>
        </p:txBody>
      </p:sp>
    </p:spTree>
  </p:cSld>
</p:sld>
</file>

<file path=ppt/slides/slide28.xml><?xml version="1.0" encoding="UTF-8"?><p:sld xmlns:a="http://schemas.openxmlformats.org/drawingml/2006/main" xmlns:r="http://schemas.openxmlformats.org/officeDocument/2006/relationships" xmlns:p="http://schemas.openxmlformats.org/presentationml/2006/main"><p:cSld><p:spTree><p:nvGrpSpPr><p:cNvPr id="1" name="" /><p:cNvGrpSpPr /><p:nvPr /></p:nvGrpSpPr><p:grpSpPr><a:xfrm><a:off x="0" y="0" /><a:ext cx="0" cy="0" /><a:chOff x="0" y="0" /><a:chExt cx="0" cy="0" /></a:xfrm></p:grpSpPr><p:sp><p:nvSpPr><p:cNvPr id="2" name="Title 1" /><p:cNvSpPr><a:spLocks noGrp="1" /></p:cNvSpPr><p:nvPr><p:ph type="title" /></p:nvPr></p:nvSpPr><p:spPr /><p:txBody><a:bodyPr /><a:lstStyle /><a:p><a:pPr lvl="0" indent="0" marL="0"><a:buNone /></a:pPr><a:r><a:rPr /><a:t>Common mistakes</a:t></a:r></a:p></p:txBody></p:sp><p:graphicFrame><p:nvGraphicFramePr><p:cNvPr id="6" name="Content Placeholder 5" /><p:cNvGraphicFramePr><a:graphicFrameLocks noGrp="1" /></p:cNvGraphicFramePr><p:nvPr><p:ph idx="1" /></p:nvPr></p:nvGraphicFramePr><p:xfrm><a:off x="457200" y="1193800" /><a:ext cx="8229600" cy="3390900" /></p:xfrm><a:graphic><a:graphicData uri="http://schemas.openxmlformats.org/drawingml/2006/table"><a:tbl><a:tblPr firstRow="1" bandRow="1"><a:tableStyleId>{5C22544A-7EE6-4342-B048-85BDC9FD1C3A}</a:tableStyleId></a:tblPr><a:tblGrid><a:gridCol w="4114800" /><a:gridCol w="4114800" /></a:tblGrid><a:tr h="0"><a:tc><a:txBody><a:bodyPr /><a:lstStyle /><a:p><a:pPr lvl="0" indent="0" marL="0"><a:buNone /></a:pPr><a:r><a:rPr /><a:t>Mistake</a:t></a:r></a:p></a:txBody><a:tcPr /></a:tc><a:tc><a:txBody><a:bodyPr /><a:lstStyle /><a:p><a:pPr lvl="0" indent="0" marL="0"><a:buNone /></a:pPr><a:r><a:rPr /><a:t>Consequence</a:t></a:r></a:p></a:txBody><a:tcPr /></a:tc></a:tr><a:tr h="0"><a:tc><a:txBody><a:bodyPr /><a:lstStyle /><a:p><a:pPr lvl="0" indent="0" marL="0"><a:buNone /></a:pPr><a:r><a:rPr /><a:t>ML controls, no orthogonalisation</a:t></a:r></a:p></a:txBody></a:tc><a:tc><a:txBody><a:bodyPr /><a:lstStyle /><a:p><a:pPr lvl="0" indent="0" marL="0"><a:buNone /></a:pPr><a:r><a:rPr /><a:t>Bias that does not vanish with </a:t></a:r><a14:m><m:oMath xmlns:m="http://schemas.openxmlformats.org/officeDocument/2006/math"><m:r><m:t>n</m:t></m:r></m:oMath></a14:m></a:p></a:txBody></a:tc></a:tr><a:tr h="0"><a:tc><a:txBody><a:bodyPr /><a:lstStyle /><a:p><a:pPr lvl="0" indent="0" marL="0"><a:buNone /></a:pPr><a:r><a:rPr /><a:t>No cross-fitting</a:t></a:r></a:p></a:txBody></a:tc><a:tc><a:txBody><a:bodyPr /><a:lstStyle /><a:p><a:pPr lvl="0" indent="0" marL="0"><a:buNone /></a:pPr><a:r><a:rPr /><a:t>Overfitting bias in </a:t></a:r><a14:m><m:oMath xmlns:m="http://schemas.openxmlformats.org/officeDocument/2006/math"><m:acc><m:accPr><m:chr m:val="̂" /></m:accPr><m:e><m:r><m:t>τ</m:t></m:r></m:e></m:acc></m:oMath></a14:m></a:p></a:txBody></a:tc></a:tr><a:tr h="0"><a:tc><a:txBody><a:bodyPr /><a:lstStyle /><a:p><a:pPr lvl="0" indent="0" marL="0"><a:buNone /></a:pPr><a:r><a:rPr /><a:t>Overlap unchecked</a:t></a:r></a:p></a:txBody></a:tc><a:tc><a:txBody><a:bodyPr /><a:lstStyle /><a:p><a:pPr lvl="0" indent="0" marL="0"><a:buNone /></a:pPr><a:r><a:rPr /><a:t>A few rows dominate the estimate</a:t></a:r></a:p></a:txBody></a:tc></a:tr><a:tr h="0"><a:tc><a:txBody><a:bodyPr /><a:lstStyle /><a:p><a:pPr lvl="0" indent="0" marL="0"><a:buNone /></a:pPr><a:r><a:rPr /><a:t>Heterogeneity read off raw spread</a:t></a:r></a:p></a:txBody></a:tc><a:tc><a:txBody><a:bodyPr /><a:lstStyle /><a:p><a:pPr lvl="0" indent="0" marL="0"><a:buNone /></a:pPr><a:r><a:rPr /><a:t>Noise mistaken for structure</a:t></a:r></a:p></a:txBody></a:tc></a:tr><a:tr h="0"><a:tc><a:txBody><a:bodyPr /><a:lstStyle /><a:p><a:pPr lvl="0" indent="0" marL="0"><a:buNone /></a:pPr><a:r><a:rPr /><a:t>Causal words on Session 07 output</a:t></a:r></a:p></a:txBody></a:tc><a:tc><a:txBody><a:bodyPr /><a:lstStyle /><a:p><a:pPr lvl="0" indent="0" marL="0"><a:buNone /></a:pPr><a:r><a:rPr /><a:t>The error this session exists to end</a:t></a:r></a:p></a:txBody></a:tc></a:tr></a:tbl></a:graphicData></a:graphic></p:graphicFrame></p:spTree></p:cSld>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 the lab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Download Huber’s package and run one of his specifications</a:t>
            </a:r>
          </a:p>
          <a:p>
            <a:pPr lvl="0" indent="-342900" marL="342900">
              <a:buAutoNum type="arabicPeriod"/>
            </a:pPr>
            <a:r>
              <a:rPr/>
              <a:t>On the spine: naive, then controlled, then DML — record all three</a:t>
            </a:r>
          </a:p>
          <a:p>
            <a:pPr lvl="0" indent="-342900" marL="342900">
              <a:buAutoNum type="arabicPeriod"/>
            </a:pPr>
            <a:r>
              <a:rPr/>
              <a:t>Check overlap and report trimming</a:t>
            </a:r>
          </a:p>
          <a:p>
            <a:pPr lvl="0" indent="-342900" marL="342900">
              <a:buAutoNum type="arabicPeriod"/>
            </a:pPr>
            <a:r>
              <a:rPr/>
              <a:t>Fit a causal forest and test whether heterogeneity is real</a:t>
            </a:r>
          </a:p>
          <a:p>
            <a:pPr lvl="0" indent="-342900" marL="342900">
              <a:buAutoNum type="arabicPeriod"/>
            </a:pPr>
            <a:r>
              <a:rPr b="1"/>
              <a:t>Bring me your ATE.</a:t>
            </a:r>
            <a:r>
              <a:rPr/>
              <a:t> I have the true value; we compare in class.</a:t>
            </a:r>
          </a:p>
          <a:p>
            <a:pPr lvl="0" indent="0" marL="0">
              <a:buNone/>
            </a:pPr>
            <a:r>
              <a:rPr/>
              <a:t>That last step is the point of a synthetic replication. You will not get to check your answer against the truth again.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Causal Machine Learning</dc:title>
  <dc:creator>Thierry Warin</dc:creator>
  <cp:keywords/>
  <dcterms:created xsi:type="dcterms:W3CDTF">2026-08-19T02:57:42Z</dcterms:created>
  <dcterms:modified xsi:type="dcterms:W3CDTF">2026-08-19T02:57:42Z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y-affiliation">
    <vt:lpwstr/>
  </property>
  <property fmtid="{D5CDD505-2E9C-101B-9397-08002B2CF9AE}" pid="6" name="by-author">
    <vt:lpwstr/>
  </property>
  <property fmtid="{D5CDD505-2E9C-101B-9397-08002B2CF9AE}" pid="7" name="date">
    <vt:lpwstr>18 August 2026</vt:lpwstr>
  </property>
  <property fmtid="{D5CDD505-2E9C-101B-9397-08002B2CF9AE}" pid="8" name="date-format">
    <vt:lpwstr>D MMMM YYYY</vt:lpwstr>
  </property>
  <property fmtid="{D5CDD505-2E9C-101B-9397-08002B2CF9AE}" pid="9" name="header-includes">
    <vt:lpwstr/>
  </property>
  <property fmtid="{D5CDD505-2E9C-101B-9397-08002B2CF9AE}" pid="10" name="include-after">
    <vt:lpwstr/>
  </property>
  <property fmtid="{D5CDD505-2E9C-101B-9397-08002B2CF9AE}" pid="11" name="include-before">
    <vt:lpwstr/>
  </property>
  <property fmtid="{D5CDD505-2E9C-101B-9397-08002B2CF9AE}" pid="12" name="institute">
    <vt:lpwstr>HEC Montréal</vt:lpwstr>
  </property>
  <property fmtid="{D5CDD505-2E9C-101B-9397-08002B2CF9AE}" pid="13" name="institutes">
    <vt:lpwstr/>
  </property>
  <property fmtid="{D5CDD505-2E9C-101B-9397-08002B2CF9AE}" pid="14" name="labels">
    <vt:lpwstr/>
  </property>
  <property fmtid="{D5CDD505-2E9C-101B-9397-08002B2CF9AE}" pid="15" name="subtitle">
    <vt:lpwstr>Session 10 · Double/debiased ML, and the difference between predicting and intervening</vt:lpwstr>
  </property>
  <property fmtid="{D5CDD505-2E9C-101B-9397-08002B2CF9AE}" pid="16" name="toc-title">
    <vt:lpwstr>Table of contents</vt:lpwstr>
  </property>
</Properties>
</file>