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5" Type="http://schemas.openxmlformats.org/officeDocument/2006/relationships/viewProps" Target="viewProps.xml" /><Relationship Id="rId3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7" Type="http://schemas.openxmlformats.org/officeDocument/2006/relationships/tableStyles" Target="tableStyles.xml" /><Relationship Id="rId3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185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95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8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7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1500"/>
            </a:lvl1pPr>
            <a:lvl2pPr>
              <a:defRPr sz="1300"/>
            </a:lvl2pPr>
            <a:lvl3pPr>
              <a:defRPr sz="1100"/>
            </a:lvl3pPr>
            <a:lvl4pPr>
              <a:defRPr sz="950"/>
            </a:lvl4pPr>
            <a:lvl5pPr>
              <a:defRPr sz="950"/>
            </a:lvl5pPr>
            <a:lvl6pPr>
              <a:defRPr sz="950"/>
            </a:lvl6pPr>
            <a:lvl7pPr>
              <a:defRPr sz="950"/>
            </a:lvl7pPr>
            <a:lvl8pPr>
              <a:defRPr sz="950"/>
            </a:lvl8pPr>
            <a:lvl9pPr>
              <a:defRPr sz="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1500"/>
            </a:lvl1pPr>
            <a:lvl2pPr marL="342900" indent="0">
              <a:buNone/>
              <a:defRPr sz="1300"/>
            </a:lvl2pPr>
            <a:lvl3pPr marL="685800" indent="0">
              <a:buNone/>
              <a:defRPr sz="1100"/>
            </a:lvl3pPr>
            <a:lvl4pPr marL="1028700" indent="0">
              <a:buNone/>
              <a:defRPr sz="950"/>
            </a:lvl4pPr>
            <a:lvl5pPr marL="1371600" indent="0">
              <a:buNone/>
              <a:defRPr sz="950"/>
            </a:lvl5pPr>
            <a:lvl6pPr marL="1714500" indent="0">
              <a:buNone/>
              <a:defRPr sz="950"/>
            </a:lvl6pPr>
            <a:lvl7pPr marL="2057400" indent="0">
              <a:buNone/>
              <a:defRPr sz="950"/>
            </a:lvl7pPr>
            <a:lvl8pPr marL="2400300" indent="0">
              <a:buNone/>
              <a:defRPr sz="950"/>
            </a:lvl8pPr>
            <a:lvl9pPr marL="2743200" indent="0">
              <a:buNone/>
              <a:defRPr sz="95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7" name="Author Footer"/>
          <p:cNvSpPr txBox="1"/>
          <p:nvPr/>
        </p:nvSpPr>
        <p:spPr>
          <a:xfrm>
            <a:off x="457200" y="4735000"/>
            <a:ext cx="5000000" cy="260000"/>
          </a:xfrm>
          <a:prstGeom prst="rect">
            <a:avLst/>
          </a:prstGeom>
          <a:noFill/>
        </p:spPr>
        <p:txBody>
          <a:bodyPr anchor="ctr" bIns="0" lIns="0" rIns="0" tIns="0" wrap="square"/>
          <a:lstStyle/>
          <a:p>
            <a:pPr algn="l"/>
            <a:r>
              <a:rPr dirty="0" lang="en-US" sz="900">
                <a:solidFill>
                  <a:srgbClr val="6E7275"/>
                </a:solidFill>
                <a:latin typeface="+mn-lt"/>
              </a:rPr>
              <a:t>Thierry Warin, PhD</a:t>
            </a:r>
          </a:p>
        </p:txBody>
      </p:sp>
      <p:sp>
        <p:nvSpPr>
          <p:cNvPr id="8" name="Slide Number Footer"/>
          <p:cNvSpPr txBox="1"/>
          <p:nvPr/>
        </p:nvSpPr>
        <p:spPr>
          <a:xfrm>
            <a:off x="7200000" y="4735000"/>
            <a:ext cx="1486800" cy="260000"/>
          </a:xfrm>
          <a:prstGeom prst="rect">
            <a:avLst/>
          </a:prstGeom>
          <a:noFill/>
        </p:spPr>
        <p:txBody>
          <a:bodyPr anchor="ctr" bIns="0" lIns="0" rIns="0" tIns="0" wrap="square"/>
          <a:lstStyle/>
          <a:p>
            <a:pPr algn="r"/>
            <a:fld id="{9B1A2C3D-4E5F-6A7B-8C9D-0E1F2A3B4C5D}" type="slidenum">
              <a:rPr dirty="0" lang="en-US" sz="900">
                <a:solidFill>
                  <a:srgbClr val="6E7275"/>
                </a:solidFill>
                <a:latin typeface="+mn-lt"/>
              </a:rPr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5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3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1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9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9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01-lecture/README.md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02-lab/README.md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Causal Machine Learning: Double/Debiased ML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10 · Lecture, first half</a:t>
            </a:r>
            <a:br/>
            <a:br/>
            <a:r>
              <a:rPr/>
              <a:t>Thierry Warin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 August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You have a superb predictive model. Why can’t you choose a policy with it?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slides follow the notes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10.1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setup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10.2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Why the naive plug-in fails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10.3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Fix 1 — Neyman orthogonality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10.4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Fix 2 — cross-fitting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10.5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Heterogeneous treatment effects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10.6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this does not fix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numbering as </a:t>
            </a:r>
            <a:r>
              <a:rPr>
                <a:hlinkClick r:id="rId2"/>
                <a:latin typeface="Courier"/>
              </a:rPr>
              <a:t>01-lecture/README.md</a:t>
            </a:r>
            <a:r>
              <a:rPr/>
              <a:t>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10.1 The setup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partially linear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θ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t>D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g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r>
                        <m:t>U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rPr>
                          <m:sty m:val="p"/>
                          <m:scr m:val="double-struck"/>
                        </m:rP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U</m:t>
                          </m:r>
                          <m:r>
                            <m:rPr>
                              <m:sty m:val="p"/>
                            </m:rPr>
                            <m:t>∣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D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D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m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r>
                        <m:t>V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rPr>
                          <m:sty m:val="p"/>
                          <m:scr m:val="double-struck"/>
                        </m:rP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V</m:t>
                          </m:r>
                          <m:r>
                            <m:rPr>
                              <m:sty m:val="p"/>
                            </m:rPr>
                            <m:t>∣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t>θ</m:t>
                        </m:r>
                      </m:e>
                      <m:sub>
                        <m:r>
                          <m:t>0</m:t>
                        </m:r>
                      </m:sub>
                    </m:sSub>
                  </m:oMath>
                </a14:m>
                <a:r>
                  <a:rPr/>
                  <a:t> is the parameter of interest; </a:t>
                </a:r>
                <a14:m>
                  <m:oMath xmlns:m="http://schemas.openxmlformats.org/officeDocument/2006/math">
                    <m:sSub>
                      <m:e>
                        <m:r>
                          <m:t>g</m:t>
                        </m:r>
                      </m:e>
                      <m:sub>
                        <m:r>
                          <m:t>0</m:t>
                        </m:r>
                      </m:sub>
                    </m:sSub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sSub>
                      <m:e>
                        <m:r>
                          <m:t>m</m:t>
                        </m:r>
                      </m:e>
                      <m:sub>
                        <m:r>
                          <m:t>0</m:t>
                        </m:r>
                      </m:sub>
                    </m:sSub>
                  </m:oMath>
                </a14:m>
                <a:r>
                  <a:rPr/>
                  <a:t> are </a:t>
                </a:r>
                <a:r>
                  <a:rPr b="1"/>
                  <a:t>nuisance functions</a:t>
                </a:r>
                <a:r>
                  <a:rPr/>
                  <a:t> we do not care about but must handle.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Why not just assume </a:t>
                </a:r>
                <a14:m>
                  <m:oMath xmlns:m="http://schemas.openxmlformats.org/officeDocument/2006/math">
                    <m:sSub>
                      <m:e>
                        <m:r>
                          <m:t>g</m:t>
                        </m:r>
                      </m:e>
                      <m:sub>
                        <m:r>
                          <m:t>0</m:t>
                        </m:r>
                      </m:sub>
                    </m:sSub>
                  </m:oMath>
                </a14:m>
                <a:r>
                  <a:rPr/>
                  <a:t> is linear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In classical econometrics we would. The premise of DML is that we would rather estimate </a:t>
                </a:r>
                <a14:m>
                  <m:oMath xmlns:m="http://schemas.openxmlformats.org/officeDocument/2006/math">
                    <m:sSub>
                      <m:e>
                        <m:r>
                          <m:t>g</m:t>
                        </m:r>
                      </m:e>
                      <m:sub>
                        <m:r>
                          <m:t>0</m:t>
                        </m:r>
                      </m:sub>
                    </m:sSub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sSub>
                      <m:e>
                        <m:r>
                          <m:t>m</m:t>
                        </m:r>
                      </m:e>
                      <m:sub>
                        <m:r>
                          <m:t>0</m:t>
                        </m:r>
                      </m:sub>
                    </m:sSub>
                  </m:oMath>
                </a14:m>
                <a:r>
                  <a:rPr/>
                  <a:t> </a:t>
                </a:r>
                <a:r>
                  <a:rPr b="1"/>
                  <a:t>flexibly</a:t>
                </a:r>
                <a:r>
                  <a:rPr/>
                  <a:t>, with the tools of Sessions 05–07 —</a:t>
                </a:r>
              </a:p>
              <a:p>
                <a:pPr lvl="0" indent="0" marL="0">
                  <a:buNone/>
                </a:pPr>
                <a:r>
                  <a:rPr/>
                  <a:t>because functional-form error in </a:t>
                </a:r>
                <a14:m>
                  <m:oMath xmlns:m="http://schemas.openxmlformats.org/officeDocument/2006/math">
                    <m:sSub>
                      <m:e>
                        <m:r>
                          <m:t>g</m:t>
                        </m:r>
                      </m:e>
                      <m:sub>
                        <m:r>
                          <m:t>0</m:t>
                        </m:r>
                      </m:sub>
                    </m:sSub>
                  </m:oMath>
                </a14:m>
                <a:r>
                  <a:rPr/>
                  <a:t> </a:t>
                </a:r>
                <a:r>
                  <a:rPr b="1"/>
                  <a:t>contaminates</a:t>
                </a:r>
                <a:r>
                  <a:rPr/>
                  <a:t> </a:t>
                </a:r>
                <a14:m>
                  <m:oMath xmlns:m="http://schemas.openxmlformats.org/officeDocument/2006/math">
                    <m:sSub>
                      <m:e>
                        <m:r>
                          <m:t>θ</m:t>
                        </m:r>
                      </m:e>
                      <m:sub>
                        <m:r>
                          <m:t>0</m:t>
                        </m:r>
                      </m:sub>
                    </m:sSub>
                  </m:oMath>
                </a14:m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Identification requires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-342900" marL="342900">
                  <a:buAutoNum type="arabicPeriod"/>
                </a:pPr>
                <a:r>
                  <a:rPr b="1"/>
                  <a:t>Conditional ignorability</a:t>
                </a:r>
                <a:r>
                  <a:rPr/>
                  <a:t> —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{</m:t>
                    </m:r>
                    <m:r>
                      <m:t>Y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1</m:t>
                        </m:r>
                      </m:e>
                    </m:d>
                    <m:r>
                      <m:rPr>
                        <m:sty m:val="p"/>
                      </m:rPr>
                      <m:t>,</m:t>
                    </m:r>
                    <m:r>
                      <m:t>Y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0</m:t>
                        </m:r>
                      </m:e>
                    </m:d>
                    <m:r>
                      <m:rPr>
                        <m:sty m:val="p"/>
                      </m:rPr>
                      <m:t>}</m:t>
                    </m:r>
                    <m:r>
                      <m:rPr>
                        <m:sty m:val="p"/>
                      </m:rPr>
                      <m:t>⟂</m:t>
                    </m:r>
                    <m:r>
                      <m:t>D</m:t>
                    </m:r>
                    <m:r>
                      <m:rPr>
                        <m:sty m:val="p"/>
                      </m:rPr>
                      <m:t>∣</m:t>
                    </m:r>
                    <m:r>
                      <m:t>X</m:t>
                    </m:r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 b="1"/>
                  <a:t>Overlap</a:t>
                </a:r>
                <a:r>
                  <a:rPr/>
                  <a:t> — </a:t>
                </a:r>
                <a14:m>
                  <m:oMath xmlns:m="http://schemas.openxmlformats.org/officeDocument/2006/math">
                    <m:r>
                      <m:t>0</m:t>
                    </m:r>
                    <m:r>
                      <m:rPr>
                        <m:sty m:val="p"/>
                      </m:rPr>
                      <m:t>&lt;</m:t>
                    </m:r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D</m:t>
                        </m:r>
                        <m:r>
                          <m:rPr>
                            <m:sty m:val="p"/>
                          </m:rPr>
                          <m:t>=</m:t>
                        </m:r>
                        <m:r>
                          <m:t>1</m:t>
                        </m:r>
                        <m:r>
                          <m:rPr>
                            <m:sty m:val="p"/>
                          </m:rPr>
                          <m:t>∣</m:t>
                        </m:r>
                        <m:r>
                          <m:t>X</m:t>
                        </m:r>
                      </m:e>
                    </m:d>
                    <m:r>
                      <m:rPr>
                        <m:sty m:val="p"/>
                      </m:rPr>
                      <m:t>&lt;</m:t>
                    </m:r>
                    <m:r>
                      <m:t>1</m:t>
                    </m:r>
                  </m:oMath>
                </a14:m>
                <a:r>
                  <a:rPr/>
                  <a:t> almost surely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SUTVA</a:t>
                </a:r>
              </a:p>
              <a:p>
                <a:pPr lvl="0" indent="0" marL="0">
                  <a:buNone/>
                </a:pPr>
                <a:r>
                  <a:rPr/>
                  <a:t>No amount of machine learning substitutes for these. They are assumptions </a:t>
                </a:r>
                <a:r>
                  <a:rPr b="1"/>
                  <a:t>about the world</a:t>
                </a:r>
                <a:r>
                  <a:rPr/>
                  <a:t>, defended with institutional knowledge — not with cross-validation.</a:t>
                </a:r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10.2 Why the naive plug-in fails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decomposition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Estimate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g</m:t>
                            </m:r>
                          </m:e>
                        </m:acc>
                      </m:e>
                      <m:sub>
                        <m:r>
                          <m:t>0</m:t>
                        </m:r>
                      </m:sub>
                    </m:sSub>
                  </m:oMath>
                </a14:m>
                <a:r>
                  <a:rPr/>
                  <a:t> by lasso or a forest on the full sample, then regress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g</m:t>
                            </m:r>
                          </m:e>
                        </m:acc>
                      </m:e>
                      <m:sub>
                        <m:r>
                          <m:t>0</m:t>
                        </m:r>
                      </m:sub>
                    </m:sSub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</m:e>
                    </m:d>
                  </m:oMath>
                </a14:m>
                <a:r>
                  <a:rPr/>
                  <a:t> on </a:t>
                </a:r>
                <a14:m>
                  <m:oMath xmlns:m="http://schemas.openxmlformats.org/officeDocument/2006/math">
                    <m:r>
                      <m:t>D</m:t>
                    </m:r>
                  </m:oMath>
                </a14:m>
                <a:r>
                  <a:rPr/>
                  <a:t>. Schematically: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ad>
                        <m:radPr>
                          <m:degHide m:val="on"/>
                        </m:radPr>
                        <m:deg/>
                        <m:e>
                          <m:r>
                            <m:t>n</m:t>
                          </m:r>
                        </m:e>
                      </m:ra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θ</m:t>
                              </m:r>
                            </m:e>
                          </m:acc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r>
                                <m:t>θ</m:t>
                              </m:r>
                            </m:e>
                            <m:sub>
                              <m:r>
                                <m:t>0</m:t>
                              </m:r>
                            </m:sub>
                          </m:sSub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limLow>
                        <m:e>
                          <m:limLow>
                            <m:e>
                              <m:r>
                                <m:t>a</m:t>
                              </m:r>
                            </m:e>
                            <m:lim>
                              <m:r>
                                <m:rPr>
                                  <m:sty m:val="p"/>
                                </m:rPr>
                                <m:t>⏟</m:t>
                              </m:r>
                            </m:lim>
                          </m:limLow>
                        </m:e>
                        <m:lim>
                          <m:r>
                            <m:rPr>
                              <m:sty m:val="p"/>
                            </m:rPr>
                            <m:t>→</m:t>
                          </m:r>
                          <m:r>
                            <m:t>N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Σ</m:t>
                              </m:r>
                            </m:e>
                          </m:d>
                        </m:lim>
                      </m:limLow>
                      <m:r>
                        <m:rPr>
                          <m:sty m:val="p"/>
                        </m:rPr>
                        <m:t>+</m:t>
                      </m:r>
                      <m:limLow>
                        <m:e>
                          <m:limLow>
                            <m:e>
                              <m:r>
                                <m:t>b</m:t>
                              </m:r>
                            </m:e>
                            <m:lim>
                              <m:r>
                                <m:rPr>
                                  <m:sty m:val="p"/>
                                </m:rPr>
                                <m:t>⏟</m:t>
                              </m:r>
                            </m:lim>
                          </m:limLow>
                        </m:e>
                        <m:lim>
                          <m:r>
                            <m:rPr>
                              <m:nor/>
                              <m:sty m:val="p"/>
                            </m:rPr>
                            <m:t>regularisation bias</m:t>
                          </m:r>
                        </m:lim>
                      </m:limLow>
                      <m:r>
                        <m:rPr>
                          <m:sty m:val="p"/>
                        </m:rPr>
                        <m:t>+</m:t>
                      </m:r>
                      <m:limLow>
                        <m:e>
                          <m:limLow>
                            <m:e>
                              <m:r>
                                <m:t>c</m:t>
                              </m:r>
                            </m:e>
                            <m:lim>
                              <m:r>
                                <m:rPr>
                                  <m:sty m:val="p"/>
                                </m:rPr>
                                <m:t>⏟</m:t>
                              </m:r>
                            </m:lim>
                          </m:limLow>
                        </m:e>
                        <m:lim>
                          <m:r>
                            <m:rPr>
                              <m:nor/>
                              <m:sty m:val="p"/>
                            </m:rPr>
                            <m:t>overfitting bias</m:t>
                          </m:r>
                        </m:lim>
                      </m:limLow>
                    </m:oMath>
                  </m:oMathPara>
                </a14:m>
              </a:p>
            </p:txBody>
          </p:sp>
        </mc:Choice>
      </mc:AlternateContent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Term </a:t>
                </a:r>
                <a14:m>
                  <m:oMath xmlns:m="http://schemas.openxmlformats.org/officeDocument/2006/math">
                    <m:r>
                      <m:t>b</m:t>
                    </m:r>
                  </m:oMath>
                </a14:m>
                <a:r>
                  <a:rPr/>
                  <a:t> diverges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b</m:t>
                    </m:r>
                  </m:oMath>
                </a14:m>
                <a:r>
                  <a:rPr/>
                  <a:t> scales like </a:t>
                </a:r>
                <a14:m>
                  <m:oMath xmlns:m="http://schemas.openxmlformats.org/officeDocument/2006/math">
                    <m:rad>
                      <m:radPr>
                        <m:degHide m:val="on"/>
                      </m:radPr>
                      <m:deg/>
                      <m:e>
                        <m:r>
                          <m:t>n</m:t>
                        </m:r>
                      </m:e>
                    </m:rad>
                    <m:r>
                      <m:rPr>
                        <m:sty m:val="p"/>
                      </m:rPr>
                      <m:t>×</m:t>
                    </m:r>
                    <m:r>
                      <m:rPr>
                        <m:sty m:val="p"/>
                      </m:rPr>
                      <m:t>∥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g</m:t>
                            </m:r>
                          </m:e>
                        </m:acc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r>
                          <m:t>g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∥</m:t>
                    </m:r>
                  </m:oMath>
                </a14:m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ML estimators converge at rates </a:t>
                </a:r>
                <a:r>
                  <a:rPr b="1"/>
                  <a:t>slower</a:t>
                </a:r>
                <a:r>
                  <a:rPr/>
                  <a:t> than </a:t>
                </a:r>
                <a14:m>
                  <m:oMath xmlns:m="http://schemas.openxmlformats.org/officeDocument/2006/math">
                    <m:sSup>
                      <m:e>
                        <m:r>
                          <m:t>n</m:t>
                        </m:r>
                      </m:e>
                      <m:sup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  <m:r>
                          <m:rPr>
                            <m:sty m:val="p"/>
                          </m:rPr>
                          <m:t>/</m:t>
                        </m:r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 — that is the price of flexibility — so </a:t>
                </a:r>
                <a14:m>
                  <m:oMath xmlns:m="http://schemas.openxmlformats.org/officeDocument/2006/math">
                    <m:r>
                      <m:t>b</m:t>
                    </m:r>
                  </m:oMath>
                </a14:m>
                <a:r>
                  <a:rPr/>
                  <a:t> </a:t>
                </a:r>
                <a:r>
                  <a:rPr b="1"/>
                  <a:t>diverges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The estimator is not even consistent at the parametric rate, and confidence intervals are meaningless.</a:t>
                </a:r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Term </a:t>
                </a:r>
                <a14:m>
                  <m:oMath xmlns:m="http://schemas.openxmlformats.org/officeDocument/2006/math">
                    <m:r>
                      <m:t>c</m:t>
                    </m:r>
                  </m:oMath>
                </a14:m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g</m:t>
                            </m:r>
                          </m:e>
                        </m:acc>
                      </m:e>
                      <m:sub>
                        <m:r>
                          <m:t>0</m:t>
                        </m:r>
                      </m:sub>
                    </m:sSub>
                  </m:oMath>
                </a14:m>
                <a:r>
                  <a:rPr/>
                  <a:t> was fitted using the </a:t>
                </a:r>
                <a:r>
                  <a:rPr b="1"/>
                  <a:t>same observations</a:t>
                </a:r>
                <a:r>
                  <a:rPr/>
                  <a:t> at which it is evaluated, inducing correlation between the estimated nuisance and the residual.</a:t>
                </a:r>
              </a:p>
              <a:p>
                <a:pPr lvl="0" indent="0" marL="0">
                  <a:buNone/>
                </a:pPr>
                <a:r>
                  <a:rPr/>
                  <a:t>Two distinct problems requiring two distinct fixes.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10.3 Neyman orthogonality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partialling-out score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ψ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W</m:t>
                          </m:r>
                          <m:r>
                            <m:rPr>
                              <m:sty m:val="p"/>
                            </m:rPr>
                            <m:t>;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η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r>
                                <m:rPr>
                                  <m:sty m:val="p"/>
                                </m:rPr>
                                <m:t>ℓ</m:t>
                              </m:r>
                            </m:e>
                            <m:sub>
                              <m:r>
                                <m:t>0</m:t>
                              </m:r>
                            </m:sub>
                          </m:sSub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θ</m:t>
                          </m:r>
                          <m:r>
                            <m:t> 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sSub>
                                <m:e>
                                  <m:r>
                                    <m:t>m</m:t>
                                  </m:r>
                                </m:e>
                                <m:sub>
                                  <m:r>
                                    <m:t>0</m:t>
                                  </m:r>
                                </m:sub>
                              </m:sSub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</m:e>
                              </m:d>
                            </m:e>
                          </m:d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r>
                                <m:t>m</m:t>
                              </m:r>
                            </m:e>
                            <m:sub>
                              <m:r>
                                <m:t>0</m:t>
                              </m:r>
                            </m:sub>
                          </m:sSub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</m:e>
                          </m:d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with </a:t>
                </a:r>
                <a14:m>
                  <m:oMath xmlns:m="http://schemas.openxmlformats.org/officeDocument/2006/math">
                    <m:r>
                      <m:t>η</m:t>
                    </m:r>
                    <m:r>
                      <m:rPr>
                        <m:sty m:val="p"/>
                      </m:rPr>
                      <m:t>=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>
                          <m:e>
                            <m:r>
                              <m:rPr>
                                <m:sty m:val="p"/>
                              </m:rPr>
                              <m:t>ℓ</m:t>
                            </m:r>
                          </m:e>
                          <m:sub>
                            <m:r>
                              <m:t>0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,</m:t>
                        </m:r>
                        <m:sSub>
                          <m:e>
                            <m:r>
                              <m:t>m</m:t>
                            </m:r>
                          </m:e>
                          <m:sub>
                            <m:r>
                              <m:t>0</m:t>
                            </m:r>
                          </m:sub>
                        </m:sSub>
                      </m:e>
                    </m:d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sSub>
                      <m:e>
                        <m:r>
                          <m:rPr>
                            <m:sty m:val="p"/>
                          </m:rPr>
                          <m:t>ℓ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  <m:scr m:val="double-struck"/>
                      </m:rPr>
                      <m:t>E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Y</m:t>
                        </m:r>
                        <m:r>
                          <m:rPr>
                            <m:sty m:val="p"/>
                          </m:rPr>
                          <m:t>∣</m:t>
                        </m:r>
                        <m:r>
                          <m:t>X</m:t>
                        </m:r>
                      </m:e>
                    </m:d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sSub>
                      <m:e>
                        <m:r>
                          <m:t>m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  <m:scr m:val="double-struck"/>
                      </m:rPr>
                      <m:t>E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D</m:t>
                        </m:r>
                        <m:r>
                          <m:rPr>
                            <m:sty m:val="p"/>
                          </m:rPr>
                          <m:t>∣</m:t>
                        </m:r>
                        <m:r>
                          <m:t>X</m:t>
                        </m:r>
                      </m:e>
                    </m:d>
                  </m:oMath>
                </a14:m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Solving it gives FWL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θ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sty m:val="p"/>
                              <m:scr m:val="double-struck"/>
                            </m:rPr>
                            <m:t>E</m:t>
                          </m:r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Y</m:t>
                                  </m:r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sSub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m:t>ℓ</m:t>
                                      </m:r>
                                    </m:e>
                                    <m:sub>
                                      <m:r>
                                        <m:t>0</m:t>
                                      </m:r>
                                    </m:sub>
                                  </m:sSub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r>
                                        <m:t>X</m:t>
                                      </m:r>
                                    </m:e>
                                  </m:d>
                                </m:e>
                              </m:d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D</m:t>
                                  </m:r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sSub>
                                    <m:e>
                                      <m:r>
                                        <m:t>m</m:t>
                                      </m:r>
                                    </m:e>
                                    <m:sub>
                                      <m:r>
                                        <m:t>0</m:t>
                                      </m:r>
                                    </m:sub>
                                  </m:sSub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r>
                                        <m:t>X</m:t>
                                      </m:r>
                                    </m:e>
                                  </m:d>
                                </m:e>
                              </m:d>
                            </m:e>
                          </m:d>
                        </m:num>
                        <m:den>
                          <m:r>
                            <m:rPr>
                              <m:sty m:val="p"/>
                              <m:scr m:val="double-struck"/>
                            </m:rPr>
                            <m:t>E</m:t>
                          </m:r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r>
                                        <m:t>D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m:t>−</m:t>
                                      </m:r>
                                      <m:sSub>
                                        <m:e>
                                          <m:r>
                                            <m:t>m</m:t>
                                          </m:r>
                                        </m:e>
                                        <m:sub>
                                          <m:r>
                                            <m:t>0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begChr m:val="("/>
                                          <m:sepChr m:val=""/>
                                          <m:endChr m:val=")"/>
                                          <m:grow/>
                                        </m:dPr>
                                        <m:e>
                                          <m:r>
                                            <m:t>X</m:t>
                                          </m:r>
                                        </m:e>
                                      </m:d>
                                    </m:e>
                                  </m:d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</m:d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sty m:val="p"/>
                            </m:rPr>
                            <m:t>Cov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acc>
                                <m:accPr>
                                  <m:chr m:val="̃"/>
                                </m:accPr>
                                <m:e>
                                  <m:r>
                                    <m:t>Y</m:t>
                                  </m:r>
                                </m:e>
                              </m:acc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acc>
                                <m:accPr>
                                  <m:chr m:val="̃"/>
                                </m:accPr>
                                <m:e>
                                  <m:r>
                                    <m:t>D</m:t>
                                  </m:r>
                                </m:e>
                              </m:acc>
                            </m:e>
                          </m:d>
                        </m:num>
                        <m:den>
                          <m:r>
                            <m:rPr>
                              <m:sty m:val="p"/>
                            </m:rPr>
                            <m:t>Var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acc>
                                <m:accPr>
                                  <m:chr m:val="̃"/>
                                </m:accPr>
                                <m:e>
                                  <m:r>
                                    <m:t>D</m:t>
                                  </m:r>
                                </m:e>
                              </m:acc>
                            </m:e>
                          </m: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Precisely Frisch–Waugh–Lovell from Session 02: </a:t>
                </a:r>
                <a:r>
                  <a:rPr b="1"/>
                  <a:t>regress residualised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 b="1"/>
                  <a:t> on residualised </a:t>
                </a:r>
                <a14:m>
                  <m:oMath xmlns:m="http://schemas.openxmlformats.org/officeDocument/2006/math">
                    <m:r>
                      <m:t>D</m:t>
                    </m:r>
                  </m:oMath>
                </a14:m>
                <a:r>
                  <a:rPr b="1"/>
                  <a:t>.</a:t>
                </a:r>
                <a:r>
                  <a:rPr/>
                  <a:t> Eight sessions later, the same theorem.</a:t>
                </a:r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orthogonality property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Gateaux derivative of </a:t>
                </a:r>
                <a14:m>
                  <m:oMath xmlns:m="http://schemas.openxmlformats.org/officeDocument/2006/math">
                    <m:r>
                      <m:rPr>
                        <m:sty m:val="p"/>
                        <m:scr m:val="double-struck"/>
                      </m:rPr>
                      <m:t>E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ψ</m:t>
                        </m:r>
                      </m:e>
                    </m:d>
                  </m:oMath>
                </a14:m>
                <a:r>
                  <a:rPr/>
                  <a:t> with respect to </a:t>
                </a:r>
                <a14:m>
                  <m:oMath xmlns:m="http://schemas.openxmlformats.org/officeDocument/2006/math">
                    <m:r>
                      <m:t>η</m:t>
                    </m:r>
                  </m:oMath>
                </a14:m>
                <a:r>
                  <a:rPr/>
                  <a:t>, at the truth, is zero: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rPr>
                              <m:sty m:val="p"/>
                            </m:rPr>
                            <m:t>∂</m:t>
                          </m:r>
                        </m:e>
                        <m:sub>
                          <m:r>
                            <m:t>η</m:t>
                          </m:r>
                        </m:sub>
                      </m:sSub>
                      <m:r>
                        <m:t> </m:t>
                      </m:r>
                      <m:r>
                        <m:rPr>
                          <m:sty m:val="p"/>
                          <m:scr m:val="double-struck"/>
                        </m:rP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ψ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W</m:t>
                              </m:r>
                              <m:r>
                                <m:rPr>
                                  <m:sty m:val="p"/>
                                </m:rPr>
                                <m:t>;</m:t>
                              </m:r>
                              <m:sSub>
                                <m:e>
                                  <m:r>
                                    <m:t>θ</m:t>
                                  </m:r>
                                </m:e>
                                <m:sub>
                                  <m:r>
                                    <m:t>0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sSub>
                                <m:e>
                                  <m:r>
                                    <m:t>η</m:t>
                                  </m:r>
                                </m:e>
                                <m:sub>
                                  <m:r>
                                    <m:t>0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η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r>
                                <m:t>η</m:t>
                              </m:r>
                            </m:e>
                            <m:sub>
                              <m:r>
                                <m:t>0</m:t>
                              </m:r>
                            </m:sub>
                          </m:sSub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Consequently small errors in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η</m:t>
                        </m:r>
                      </m:e>
                    </m:acc>
                  </m:oMath>
                </a14:m>
                <a:r>
                  <a:rPr/>
                  <a:t> have only a </a:t>
                </a:r>
                <a:r>
                  <a:rPr b="1"/>
                  <a:t>second-order</a:t>
                </a:r>
                <a:r>
                  <a:rPr/>
                  <a:t> effect on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θ</m:t>
                        </m:r>
                      </m:e>
                    </m:acc>
                  </m:oMath>
                </a14:m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slow rates multiply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bias term becomes of order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ad>
                        <m:radPr>
                          <m:degHide m:val="on"/>
                        </m:radPr>
                        <m:deg/>
                        <m:e>
                          <m:r>
                            <m:t>n</m:t>
                          </m:r>
                        </m:e>
                      </m:rad>
                      <m:r>
                        <m:rPr>
                          <m:sty m:val="p"/>
                        </m:rPr>
                        <m:t>×</m:t>
                      </m:r>
                      <m:r>
                        <m:rPr>
                          <m:sty m:val="p"/>
                        </m:rPr>
                        <m:t>∥</m:t>
                      </m:r>
                      <m:acc>
                        <m:accPr>
                          <m:chr m:val="̂"/>
                        </m:accPr>
                        <m:e>
                          <m:r>
                            <m:rPr>
                              <m:sty m:val="p"/>
                            </m:rPr>
                            <m:t>ℓ</m:t>
                          </m:r>
                        </m:e>
                      </m:acc>
                      <m:r>
                        <m:rPr>
                          <m:sty m:val="p"/>
                        </m:rPr>
                        <m:t>−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ℓ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∥</m:t>
                      </m:r>
                      <m:r>
                        <m:rPr>
                          <m:sty m:val="p"/>
                        </m:rPr>
                        <m:t>×</m:t>
                      </m:r>
                      <m:r>
                        <m:rPr>
                          <m:sty m:val="p"/>
                        </m:rPr>
                        <m:t>∥</m:t>
                      </m:r>
                      <m:acc>
                        <m:accPr>
                          <m:chr m:val="̂"/>
                        </m:accPr>
                        <m:e>
                          <m:r>
                            <m:t>m</m:t>
                          </m:r>
                        </m:e>
                      </m:acc>
                      <m:r>
                        <m:rPr>
                          <m:sty m:val="p"/>
                        </m:rPr>
                        <m:t>−</m:t>
                      </m:r>
                      <m:sSub>
                        <m:e>
                          <m:r>
                            <m:t>m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∥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so it vanishes provided each nuisance converges faster than </a:t>
                </a:r>
                <a14:m>
                  <m:oMath xmlns:m="http://schemas.openxmlformats.org/officeDocument/2006/math">
                    <m:sSup>
                      <m:e>
                        <m:r>
                          <m:t>n</m:t>
                        </m:r>
                      </m:e>
                      <m:sup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  <m:r>
                          <m:rPr>
                            <m:sty m:val="p"/>
                          </m:rPr>
                          <m:t>/</m:t>
                        </m:r>
                        <m:r>
                          <m:t>4</m:t>
                        </m:r>
                      </m:sup>
                    </m:sSup>
                  </m:oMath>
                </a14:m>
                <a:r>
                  <a:rPr/>
                  <a:t> — a rate lasso, forests and boosting </a:t>
                </a:r>
                <a:r>
                  <a:rPr b="1"/>
                  <a:t>can</a:t>
                </a:r>
                <a:r>
                  <a:rPr/>
                  <a:t> achieve under reasonable conditions.</a:t>
                </a:r>
              </a:p>
              <a:p>
                <a:pPr lvl="0" indent="0" marL="0">
                  <a:buNone/>
                </a:pPr>
                <a:r>
                  <a:rPr b="1"/>
                  <a:t>Note the structure: two slow rates multiply into one fast enough rate.</a:t>
                </a:r>
                <a:r>
                  <a:rPr/>
                  <a:t> That is the whole trick, and it is why the method is called </a:t>
                </a:r>
                <a:r>
                  <a:rPr i="1"/>
                  <a:t>double</a:t>
                </a:r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10.4 Cross-fitting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procedure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Split into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 folds. For each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: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Estimate </a:t>
                </a:r>
                <a14:m>
                  <m:oMath xmlns:m="http://schemas.openxmlformats.org/officeDocument/2006/math">
                    <m:sSup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rPr>
                                <m:sty m:val="p"/>
                              </m:rPr>
                              <m:t>ℓ</m:t>
                            </m:r>
                          </m:e>
                        </m:acc>
                      </m:e>
                      <m:sup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r>
                              <m:rPr>
                                <m:sty m:val="p"/>
                              </m:rPr>
                              <m:t>−</m:t>
                            </m:r>
                            <m:r>
                              <m:t>k</m:t>
                            </m:r>
                          </m:e>
                        </m:d>
                      </m:sup>
                    </m:sSup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sSup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m</m:t>
                            </m:r>
                          </m:e>
                        </m:acc>
                      </m:e>
                      <m:sup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r>
                              <m:rPr>
                                <m:sty m:val="p"/>
                              </m:rPr>
                              <m:t>−</m:t>
                            </m:r>
                            <m:r>
                              <m:t>k</m:t>
                            </m:r>
                          </m:e>
                        </m:d>
                      </m:sup>
                    </m:sSup>
                  </m:oMath>
                </a14:m>
                <a:r>
                  <a:rPr/>
                  <a:t> on all folds </a:t>
                </a:r>
                <a:r>
                  <a:rPr b="1"/>
                  <a:t>except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/>
                  <a:t>Form residuals </a:t>
                </a:r>
                <a:r>
                  <a:rPr b="1"/>
                  <a:t>on fold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: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̃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p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rPr>
                                <m:sty m:val="p"/>
                              </m:rPr>
                              <m:t>ℓ</m:t>
                            </m:r>
                          </m:e>
                        </m:acc>
                      </m:e>
                      <m:sup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r>
                              <m:rPr>
                                <m:sty m:val="p"/>
                              </m:rPr>
                              <m:t>−</m:t>
                            </m:r>
                            <m:r>
                              <m:t>k</m:t>
                            </m:r>
                          </m:e>
                        </m:d>
                      </m:sup>
                    </m:sSup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>
                          <m:e>
                            <m:r>
                              <m:t>X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</m:e>
                    </m:d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̃"/>
                          </m:accPr>
                          <m:e>
                            <m:r>
                              <m:t>D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D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p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m</m:t>
                            </m:r>
                          </m:e>
                        </m:acc>
                      </m:e>
                      <m:sup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r>
                              <m:rPr>
                                <m:sty m:val="p"/>
                              </m:rPr>
                              <m:t>−</m:t>
                            </m:r>
                            <m:r>
                              <m:t>k</m:t>
                            </m:r>
                          </m:e>
                        </m:d>
                      </m:sup>
                    </m:sSup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>
                          <m:e>
                            <m:r>
                              <m:t>X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</m:e>
                    </m:d>
                  </m:oMath>
                </a14:m>
              </a:p>
            </p:txBody>
          </p:sp>
        </mc:Choice>
      </mc:AlternateContent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Then pool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t>θ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sSub>
                                <m:e>
                                  <m:acc>
                                    <m:accPr>
                                      <m:chr m:val="̃"/>
                                    </m:accPr>
                                    <m:e>
                                      <m:r>
                                        <m:t>Y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</m:e>
                          </m:nary>
                          <m:sSub>
                            <m:e>
                              <m:acc>
                                <m:accPr>
                                  <m:chr m:val="̃"/>
                                </m:accPr>
                                <m:e>
                                  <m:r>
                                    <m:t>D</m:t>
                                  </m:r>
                                </m:e>
                              </m:acc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num>
                        <m:den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sSubSup>
                                <m:e>
                                  <m:acc>
                                    <m:accPr>
                                      <m:chr m:val="̃"/>
                                    </m:accPr>
                                    <m:e>
                                      <m:r>
                                        <m:t>D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  <m:sup>
                                  <m:r>
                                    <m:t>2</m:t>
                                  </m:r>
                                </m:sup>
                              </m:sSubSup>
                            </m:e>
                          </m:nary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σ</m:t>
                              </m:r>
                            </m:e>
                          </m:acc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n</m:t>
                              </m:r>
                            </m:den>
                          </m:f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sSubSup>
                                <m:e>
                                  <m:acc>
                                    <m:accPr>
                                      <m:chr m:val="̃"/>
                                    </m:accPr>
                                    <m:e>
                                      <m:r>
                                        <m:t>D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  <m:sup>
                                  <m:r>
                                    <m:t>2</m:t>
                                  </m:r>
                                </m:sup>
                              </m:sSubSup>
                            </m:e>
                          </m:nary>
                          <m:s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sSub>
                                    <m:e>
                                      <m:acc>
                                        <m:accPr>
                                          <m:chr m:val="̃"/>
                                        </m:accPr>
                                        <m:e>
                                          <m:r>
                                            <m:t>Y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m:t>i</m:t>
                                      </m:r>
                                    </m:sub>
                                  </m:sSub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acc>
                                    <m:accPr>
                                      <m:chr m:val="̂"/>
                                    </m:accPr>
                                    <m:e>
                                      <m:r>
                                        <m:t>θ</m:t>
                                      </m:r>
                                    </m:e>
                                  </m:acc>
                                  <m:sSub>
                                    <m:e>
                                      <m:acc>
                                        <m:accPr>
                                          <m:chr m:val="̃"/>
                                        </m:accPr>
                                        <m:e>
                                          <m:r>
                                            <m:t>D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m:t>i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m:rPr>
                              <m:sty m:val="p"/>
                            </m:rPr>
                            <m:t>(</m:t>
                          </m:r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n</m:t>
                              </m:r>
                            </m:den>
                          </m:f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sSubSup>
                                <m:e>
                                  <m:acc>
                                    <m:accPr>
                                      <m:chr m:val="̃"/>
                                    </m:accPr>
                                    <m:e>
                                      <m:r>
                                        <m:t>D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  <m:sup>
                                  <m:r>
                                    <m:t>2</m:t>
                                  </m:r>
                                </m:sup>
                              </m:sSubSup>
                            </m:e>
                          </m:nary>
                          <m:sSup>
                            <m:e>
                              <m:r>
                                <m:rPr>
                                  <m:sty m:val="p"/>
                                </m:rPr>
                                <m:t>)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Because the nuisance was never fitted on the observation where it is evaluated, </a:t>
                </a:r>
                <a:r>
                  <a:rPr b="1"/>
                  <a:t>term </a:t>
                </a:r>
                <a14:m>
                  <m:oMath xmlns:m="http://schemas.openxmlformats.org/officeDocument/2006/math">
                    <m:r>
                      <m:t>c</m:t>
                    </m:r>
                  </m:oMath>
                </a14:m>
                <a:r>
                  <a:rPr b="1"/>
                  <a:t> vanishes</a:t>
                </a:r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Remove split sensitivity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Repeat the whole procedure over several random splits and take the </a:t>
                </a:r>
                <a:r>
                  <a:rPr b="1"/>
                  <a:t>median</a:t>
                </a:r>
                <a:r>
                  <a:rPr/>
                  <a:t> of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θ</m:t>
                        </m:r>
                      </m:e>
                    </m:acc>
                  </m:oMath>
                </a14:m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result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ad>
                        <m:radPr>
                          <m:degHide m:val="on"/>
                        </m:radPr>
                        <m:deg/>
                        <m:e>
                          <m:r>
                            <m:t>n</m:t>
                          </m:r>
                        </m:e>
                      </m:ra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θ</m:t>
                              </m:r>
                            </m:e>
                          </m:acc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r>
                                <m:t>θ</m:t>
                              </m:r>
                            </m:e>
                            <m:sub>
                              <m:r>
                                <m:t>0</m:t>
                              </m:r>
                            </m:sub>
                          </m:sSub>
                        </m:e>
                      </m:d>
                      <m:r>
                        <m:rPr>
                          <m:sty m:val="p"/>
                        </m:rPr>
                        <m:t>→</m:t>
                      </m:r>
                      <m:r>
                        <m:t>N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0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sSup>
                            <m:e>
                              <m:r>
                                <m:t>σ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so </a:t>
                </a:r>
                <a:r>
                  <a:rPr b="1"/>
                  <a:t>ordinary confidence intervals are valid</a:t>
                </a:r>
                <a:r>
                  <a:rPr/>
                  <a:t> — despite having used black-box learners for the nuisances.</a:t>
                </a:r>
              </a:p>
              <a:p>
                <a:pPr lvl="0" indent="0" marL="0">
                  <a:buNone/>
                </a:pPr>
                <a:r>
                  <a:rPr/>
                  <a:t>This is the reconciliation of Sessions 05–07 with Session 03.</a:t>
                </a:r>
              </a:p>
            </p:txBody>
          </p:sp>
        </mc:Choice>
      </mc:AlternateContent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10.5 Heterogeneous effects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whom, not on average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τ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  <m:scr m:val="double-struck"/>
                        </m:rP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Y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1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Y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∣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x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Often the interesting question. “Does a strategy help?” is less useful than “where does it help?” — and only the second tells anyone what to do.</a:t>
                </a:r>
              </a:p>
            </p:txBody>
          </p:sp>
        </mc:Choice>
      </mc:AlternateContent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Causal forests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Wager &amp; Athey adapt random forests in three ways:</a:t>
            </a:r>
          </a:p>
          <a:p>
            <a:pPr lvl="0" indent="-342900" marL="342900">
              <a:buAutoNum type="arabicPeriod"/>
            </a:pPr>
            <a:r>
              <a:rPr/>
              <a:t>Splits are chosen to maximise </a:t>
            </a:r>
            <a:r>
              <a:rPr b="1"/>
              <a:t>heterogeneity in the treatment effect</a:t>
            </a:r>
            <a:r>
              <a:rPr/>
              <a:t>, not in the outcome</a:t>
            </a:r>
          </a:p>
          <a:p>
            <a:pPr lvl="0" indent="-342900" marL="342900">
              <a:buAutoNum type="arabicPeriod"/>
            </a:pPr>
            <a:r>
              <a:rPr b="1"/>
              <a:t>Honesty</a:t>
            </a:r>
            <a:r>
              <a:rPr/>
              <a:t> — the observations used to choose splits are disjoint from those used to estimate the leaf effects</a:t>
            </a:r>
          </a:p>
          <a:p>
            <a:pPr lvl="0" indent="-342900" marL="342900">
              <a:buAutoNum type="arabicPeriod"/>
            </a:pPr>
            <a:r>
              <a:rPr/>
              <a:t>The estimator is asymptotically normal and pointwise consistent, so </a:t>
            </a:r>
            <a:r>
              <a:rPr b="1"/>
              <a:t>confidence intervals are available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Discipline in reporting heterogeneity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Searching over subgroups for large effects is </a:t>
                </a:r>
                <a:r>
                  <a:rPr b="1"/>
                  <a:t>multiple testing</a:t>
                </a:r>
                <a:r>
                  <a:rPr/>
                  <a:t>, and it will find something.</a:t>
                </a:r>
              </a:p>
              <a:p>
                <a:pPr lvl="0"/>
                <a:r>
                  <a:rPr b="1"/>
                  <a:t>Pre-specify</a:t>
                </a:r>
                <a:r>
                  <a:rPr/>
                  <a:t> subgroups where possible</a:t>
                </a:r>
              </a:p>
              <a:p>
                <a:pPr lvl="0"/>
                <a:r>
                  <a:rPr/>
                  <a:t>Otherwise use the </a:t>
                </a:r>
                <a:r>
                  <a:rPr b="1"/>
                  <a:t>best linear projection</a:t>
                </a:r>
                <a:r>
                  <a:rPr/>
                  <a:t> of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τ</m:t>
                        </m:r>
                      </m:e>
                    </m:acc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</m:e>
                    </m:d>
                  </m:oMath>
                </a14:m>
                <a:r>
                  <a:rPr/>
                  <a:t> on a small set of covariates, or a calibration test — the </a:t>
                </a:r>
                <a:r>
                  <a:rPr b="1"/>
                  <a:t>GATES / CLAN</a:t>
                </a:r>
                <a:r>
                  <a:rPr/>
                  <a:t> procedures of Chernozhukov et al.</a:t>
                </a:r>
              </a:p>
              <a:p>
                <a:pPr lvl="0"/>
                <a:r>
                  <a:rPr/>
                  <a:t>Report them as </a:t>
                </a:r>
                <a:r>
                  <a:rPr b="1"/>
                  <a:t>exploratory</a:t>
                </a:r>
              </a:p>
            </p:txBody>
          </p:sp>
        </mc:Choice>
      </mc:AlternateContent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10.6 What this does not fix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limit of the method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DML delivers valid inference </a:t>
                </a:r>
                <a:r>
                  <a:rPr b="1"/>
                  <a:t>conditional on the identifying assumptions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If treatment is confounded by something not in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, DML estimates a </a:t>
                </a:r>
                <a:r>
                  <a:rPr b="1"/>
                  <a:t>precisely-quantified wrong number</a:t>
                </a:r>
                <a:r>
                  <a:rPr/>
                  <a:t> — and its narrow confidence interval will make the wrong number look authoritative.</a:t>
                </a:r>
              </a:p>
            </p:txBody>
          </p:sp>
        </mc:Choice>
      </mc:AlternateContent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it does and does not remove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Flexible nuisance estimation removes </a:t>
            </a:r>
            <a:r>
              <a:rPr b="1"/>
              <a:t>functional-form error</a:t>
            </a:r>
          </a:p>
          <a:p>
            <a:pPr lvl="0"/>
            <a:r>
              <a:rPr/>
              <a:t>It does </a:t>
            </a:r>
            <a:r>
              <a:rPr b="1"/>
              <a:t>not</a:t>
            </a:r>
            <a:r>
              <a:rPr/>
              <a:t> remove </a:t>
            </a:r>
            <a:r>
              <a:rPr b="1"/>
              <a:t>omitted-variable bias</a:t>
            </a:r>
          </a:p>
          <a:p>
            <a:pPr lvl="0" indent="0" marL="0">
              <a:buNone/>
            </a:pPr>
            <a:r>
              <a:rPr/>
              <a:t>Return to Session 03’s OVB formula. It still governs everything.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lab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you do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State the estimand and the three assumptions, in writing, before estimating</a:t>
            </a:r>
          </a:p>
          <a:p>
            <a:pPr lvl="0" indent="-342900" marL="342900">
              <a:buAutoNum type="arabicPeriod"/>
            </a:pPr>
            <a:r>
              <a:rPr/>
              <a:t>Check </a:t>
            </a:r>
            <a:r>
              <a:rPr b="1"/>
              <a:t>overlap</a:t>
            </a:r>
            <a:r>
              <a:rPr/>
              <a:t>; report any trimming</a:t>
            </a:r>
          </a:p>
          <a:p>
            <a:pPr lvl="0" indent="-342900" marL="342900">
              <a:buAutoNum type="arabicPeriod"/>
            </a:pPr>
            <a:r>
              <a:rPr/>
              <a:t>Naive, then ML-with-controls, then </a:t>
            </a:r>
            <a:r>
              <a:rPr b="1"/>
              <a:t>DML</a:t>
            </a:r>
            <a:r>
              <a:rPr/>
              <a:t> — record all three</a:t>
            </a:r>
          </a:p>
          <a:p>
            <a:pPr lvl="0" indent="-342900" marL="342900">
              <a:buAutoNum type="arabicPeriod"/>
            </a:pPr>
            <a:r>
              <a:rPr/>
              <a:t>Fit a causal forest and test whether the heterogeneity is real</a:t>
            </a:r>
          </a:p>
          <a:p>
            <a:pPr lvl="0" indent="0" marL="0">
              <a:buNone/>
            </a:pPr>
            <a:r>
              <a:rPr/>
              <a:t>The movement between the three estimates </a:t>
            </a:r>
            <a:r>
              <a:rPr b="1"/>
              <a:t>is</a:t>
            </a:r>
            <a:r>
              <a:rPr/>
              <a:t> your evidence that confounding mattered.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two-minute report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-342900" marL="342900">
                  <a:buAutoNum type="arabicPeriod"/>
                </a:pPr>
                <a:r>
                  <a:rPr b="1"/>
                  <a:t>What I did</a:t>
                </a:r>
                <a:r>
                  <a:rPr/>
                  <a:t> — the estimand, and which assumption you are least sure of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The number</a:t>
                </a:r>
                <a:r>
                  <a:rPr/>
                  <a:t> —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θ</m:t>
                        </m:r>
                      </m:e>
                    </m:acc>
                  </m:oMath>
                </a14:m>
                <a:r>
                  <a:rPr/>
                  <a:t> with its cross-fitted interval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The catch</a:t>
                </a:r>
                <a:r>
                  <a:rPr/>
                  <a:t> — the confounder DML cannot save you from</a:t>
                </a:r>
              </a:p>
              <a:p>
                <a:pPr lvl="0" indent="0" marL="0">
                  <a:buNone/>
                </a:pPr>
                <a:r>
                  <a:rPr/>
                  <a:t>Full brief: </a:t>
                </a:r>
                <a:r>
                  <a:rPr>
                    <a:hlinkClick r:id="rId2"/>
                    <a:latin typeface="Courier"/>
                  </a:rPr>
                  <a:t>02-lab/README.md</a:t>
                </a:r>
              </a:p>
            </p:txBody>
          </p:sp>
        </mc:Choice>
      </mc:AlternateContent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Causal Machine Learning: Double/Debiased ML</dc:title>
  <dc:creator>Thierry Warin</dc:creator>
  <cp:keywords/>
  <dcterms:created xsi:type="dcterms:W3CDTF">2026-08-20T19:24:18Z</dcterms:created>
  <dcterms:modified xsi:type="dcterms:W3CDTF">2026-08-20T19:24:18Z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date">
    <vt:lpwstr>20 August 2026</vt:lpwstr>
  </property>
  <property fmtid="{D5CDD505-2E9C-101B-9397-08002B2CF9AE}" pid="8" name="date-format">
    <vt:lpwstr>D MMMM YYYY</vt:lpwstr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institute">
    <vt:lpwstr>HEC Montréal</vt:lpwstr>
  </property>
  <property fmtid="{D5CDD505-2E9C-101B-9397-08002B2CF9AE}" pid="13" name="institutes">
    <vt:lpwstr/>
  </property>
  <property fmtid="{D5CDD505-2E9C-101B-9397-08002B2CF9AE}" pid="14" name="labels">
    <vt:lpwstr/>
  </property>
  <property fmtid="{D5CDD505-2E9C-101B-9397-08002B2CF9AE}" pid="15" name="subtitle">
    <vt:lpwstr>Session 10 · Lecture, first half</vt:lpwstr>
  </property>
  <property fmtid="{D5CDD505-2E9C-101B-9397-08002B2CF9AE}" pid="16" name="toc-title">
    <vt:lpwstr>Table of contents</vt:lpwstr>
  </property>
</Properties>
</file>