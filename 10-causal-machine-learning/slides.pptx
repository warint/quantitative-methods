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Learning: Double/Debiased ML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 have a superb predictive model. Why can’t you choose a policy with it?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the naive plug-in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1 — Neyman orthogonality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2 — cross-fitting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treatment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this does not fix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10.1 The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partially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t>D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g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U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parameter of interest;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nuisance functions</a:t>
                </a:r>
                <a:r>
                  <a:rPr/>
                  <a:t> we do not care about but must handle.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not just assume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linear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classical econometrics we would. The premise of DML is that we would rather estimate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flexibly</a:t>
                </a:r>
                <a:r>
                  <a:rPr/>
                  <a:t>, with the tools of Sessions 05–07 —</a:t>
                </a:r>
              </a:p>
              <a:p>
                <a:pPr lvl="0" indent="0" marL="0">
                  <a:buNone/>
                </a:pPr>
                <a:r>
                  <a:rPr/>
                  <a:t>because functional-form error in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contaminates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Identification requires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Conditional ignorability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almost surely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</a:p>
              <a:p>
                <a:pPr lvl="0" indent="0" marL="0">
                  <a:buNone/>
                </a:pPr>
                <a:r>
                  <a:rPr/>
                  <a:t>No amount of machine learning substitutes for these. They are assumptions </a:t>
                </a:r>
                <a:r>
                  <a:rPr b="1"/>
                  <a:t>about the world</a:t>
                </a:r>
                <a:r>
                  <a:rPr/>
                  <a:t>, defended with institutional knowledge — not with cross-validation.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10.2 Why the naive plug-in fails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by lasso or a forest on the full sample, then regress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. Schematically: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t>a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Σ</m:t>
                              </m:r>
                            </m:e>
                          </m:d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b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regularisation bias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c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overfitting bias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diverges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scales 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  <m:r>
                      <m:rPr>
                        <m:sty m:val="p"/>
                      </m:rPr>
                      <m:t>×</m:t>
                    </m:r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ML estimators converge at rates </a:t>
                </a:r>
                <a:r>
                  <a:rPr b="1"/>
                  <a:t>slower</a:t>
                </a:r>
                <a:r>
                  <a:rPr/>
                  <a:t>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that is the price of flexibility — so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</a:t>
                </a:r>
                <a:r>
                  <a:rPr b="1"/>
                  <a:t>diverges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estimator is not even consistent at the parametric rate, and confidence intervals are meaningless.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was fitted using the </a:t>
                </a:r>
                <a:r>
                  <a:rPr b="1"/>
                  <a:t>same observations</a:t>
                </a:r>
                <a:r>
                  <a:rPr/>
                  <a:t> at which it is evaluated, inducing correlation between the estimated nuisance and the residual.</a:t>
                </a:r>
              </a:p>
              <a:p>
                <a:pPr lvl="0" indent="0" marL="0">
                  <a:buNone/>
                </a:pPr>
                <a:r>
                  <a:rPr/>
                  <a:t>Two distinct problems requiring two distinct fixes.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10.3 Neyman orthogonality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partialling-out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ψ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η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θ</m:t>
                          </m:r>
                          <m:r>
                            <m:t> 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m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Solving it gives FWL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D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m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D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m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Cov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Precisely Frisch–Waugh–Lovell from Session 02: </a:t>
                </a:r>
                <a:r>
                  <a:rPr b="1"/>
                  <a:t>regress residualised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 on residualised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 b="1"/>
                  <a:t>.</a:t>
                </a:r>
                <a:r>
                  <a:rPr/>
                  <a:t> Eight sessions later, the same theorem.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orthogonality property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Gateaux derivative of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ψ</m:t>
                        </m:r>
                      </m:e>
                    </m:d>
                  </m:oMath>
                </a14:m>
                <a:r>
                  <a:rPr/>
                  <a:t> with respect to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, at the truth, is zero: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∂</m:t>
                          </m:r>
                        </m:e>
                        <m:sub>
                          <m:r>
                            <m:t>η</m:t>
                          </m:r>
                        </m:sub>
                      </m:sSub>
                      <m:r>
                        <m:t> 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ψ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W</m:t>
                              </m:r>
                              <m:r>
                                <m:rPr>
                                  <m:sty m:val="p"/>
                                </m:rPr>
                                <m:t>;</m:t>
                              </m:r>
                              <m:sSub>
                                <m:e>
                                  <m:r>
                                    <m:t>θ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η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η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η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Consequently small errors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η</m:t>
                        </m:r>
                      </m:e>
                    </m:acc>
                  </m:oMath>
                </a14:m>
                <a:r>
                  <a:rPr/>
                  <a:t> have only a </a:t>
                </a:r>
                <a:r>
                  <a:rPr b="1"/>
                  <a:t>second-order</a:t>
                </a:r>
                <a:r>
                  <a:rPr/>
                  <a:t>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slow rates multiply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bias term becomes of order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m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it vanishes provided each nuisance converges faster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 — a rate lasso, forests and boosting </a:t>
                </a:r>
                <a:r>
                  <a:rPr b="1"/>
                  <a:t>can</a:t>
                </a:r>
                <a:r>
                  <a:rPr/>
                  <a:t> achieve under reasonable conditions.</a:t>
                </a:r>
              </a:p>
              <a:p>
                <a:pPr lvl="0" indent="0" marL="0">
                  <a:buNone/>
                </a:pPr>
                <a:r>
                  <a:rPr b="1"/>
                  <a:t>Note the structure: two slow rates multiply into one fast enough rate.</a:t>
                </a:r>
                <a:r>
                  <a:rPr/>
                  <a:t> That is the whole trick, and it is why the method is called </a:t>
                </a:r>
                <a:r>
                  <a:rPr i="1"/>
                  <a:t>double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10.4 Cross-fitting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folds.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on all folds </a:t>
                </a:r>
                <a:r>
                  <a:rPr b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Form residuals </a:t>
                </a:r>
                <a:r>
                  <a:rPr b="1"/>
                  <a:t>on fold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pool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Because the nuisance was never fitted on the observation where it is evaluated, </a:t>
                </a:r>
                <a:r>
                  <a:rPr b="1"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 b="1"/>
                  <a:t> vanishes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Remove split sensitivity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whole procedure over several random splits and take the </a:t>
                </a:r>
                <a:r>
                  <a:rPr b="1"/>
                  <a:t>median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→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:r>
                  <a:rPr b="1"/>
                  <a:t>ordinary confidence intervals are valid</a:t>
                </a:r>
                <a:r>
                  <a:rPr/>
                  <a:t> — despite having used black-box learners for the nuisances.</a:t>
                </a:r>
              </a:p>
              <a:p>
                <a:pPr lvl="0" indent="0" marL="0">
                  <a:buNone/>
                </a:pPr>
                <a:r>
                  <a:rPr/>
                  <a:t>This is the reconciliation of Sessions 05–07 with Session 03.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10.5 Heterogeneous effects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whom, not on average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Often the interesting question. 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Wager &amp; Athey adapt random forests in three ways:</a:t>
            </a:r>
          </a:p>
          <a:p>
            <a:pPr lvl="0" indent="-342900" marL="342900">
              <a:buAutoNum type="arabicPeriod"/>
            </a:pPr>
            <a:r>
              <a:rPr/>
              <a:t>Splits are chosen to maximise </a:t>
            </a:r>
            <a:r>
              <a:rPr b="1"/>
              <a:t>heterogeneity in the treatment effect</a:t>
            </a:r>
            <a:r>
              <a:rPr/>
              <a:t>, not in the outcome</a:t>
            </a:r>
          </a:p>
          <a:p>
            <a:pPr lvl="0" indent="-342900" marL="342900">
              <a:buAutoNum type="arabicPeriod"/>
            </a:pPr>
            <a:r>
              <a:rPr b="1"/>
              <a:t>Honesty</a:t>
            </a:r>
            <a:r>
              <a:rPr/>
              <a:t> — the observations used to choose splits are disjoint from those used to estimate the leaf effects</a:t>
            </a:r>
          </a:p>
          <a:p>
            <a:pPr lvl="0" indent="-342900" marL="342900">
              <a:buAutoNum type="arabicPeriod"/>
            </a:pPr>
            <a:r>
              <a:rPr/>
              <a:t>The estimator is asymptotically normal and pointwise consistent, so </a:t>
            </a:r>
            <a:r>
              <a:rPr b="1"/>
              <a:t>confidence intervals are available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Discipline in reporting heterogeneity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Searching over subgroups for large effects is </a:t>
                </a:r>
                <a:r>
                  <a:rPr b="1"/>
                  <a:t>multiple testing</a:t>
                </a:r>
                <a:r>
                  <a:rPr/>
                  <a:t>, and it will find something.</a:t>
                </a:r>
              </a:p>
              <a:p>
                <a:pPr lvl="0"/>
                <a:r>
                  <a:rPr b="1"/>
                  <a:t>Pre-specify</a:t>
                </a:r>
                <a:r>
                  <a:rPr/>
                  <a:t> subgroups where possible</a:t>
                </a:r>
              </a:p>
              <a:p>
                <a:pPr lvl="0"/>
                <a:r>
                  <a:rPr/>
                  <a:t>Otherwise use the </a:t>
                </a:r>
                <a:r>
                  <a:rPr b="1"/>
                  <a:t>best linear projection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a small set of covariates, or a calibration test — the </a:t>
                </a:r>
                <a:r>
                  <a:rPr b="1"/>
                  <a:t>GATES / CLAN</a:t>
                </a:r>
                <a:r>
                  <a:rPr/>
                  <a:t> procedures of Chernozhukov et al.</a:t>
                </a:r>
              </a:p>
              <a:p>
                <a:pPr lvl="0"/>
                <a:r>
                  <a:rPr/>
                  <a:t>Report them as </a:t>
                </a:r>
                <a:r>
                  <a:rPr b="1"/>
                  <a:t>exploratory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10.6 What this does not fix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limit of the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DML delivers valid inference </a:t>
                </a:r>
                <a:r>
                  <a:rPr b="1"/>
                  <a:t>conditional on the identifying assumptions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If treatment is confounded by something not in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DML estimates a </a:t>
                </a:r>
                <a:r>
                  <a:rPr b="1"/>
                  <a:t>precisely-quantified wrong number</a:t>
                </a:r>
                <a:r>
                  <a:rPr/>
                  <a:t> — and its narrow confidence interval will make the wrong number look authoritative.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does and does not remove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Flexible nuisance estimation removes </a:t>
            </a:r>
            <a:r>
              <a:rPr b="1"/>
              <a:t>functional-form error</a:t>
            </a:r>
          </a:p>
          <a:p>
            <a:pPr lvl="0"/>
            <a:r>
              <a:rPr/>
              <a:t>It does </a:t>
            </a:r>
            <a:r>
              <a:rPr b="1"/>
              <a:t>not</a:t>
            </a:r>
            <a:r>
              <a:rPr/>
              <a:t> remove </a:t>
            </a:r>
            <a:r>
              <a:rPr b="1"/>
              <a:t>omitted-variable bias</a:t>
            </a:r>
          </a:p>
          <a:p>
            <a:pPr lvl="0" indent="0" marL="0">
              <a:buNone/>
            </a:pPr>
            <a:r>
              <a:rPr/>
              <a:t>Return to Session 03’s OVB formula. It still governs everything.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State the estimand and the three assumptions, in writing, before estimating</a:t>
            </a:r>
          </a:p>
          <a:p>
            <a:pPr lvl="0" indent="-342900" marL="342900">
              <a:buAutoNum type="arabicPeriod"/>
            </a:pPr>
            <a:r>
              <a:rPr/>
              <a:t>Check </a:t>
            </a:r>
            <a:r>
              <a:rPr b="1"/>
              <a:t>overlap</a:t>
            </a:r>
            <a:r>
              <a:rPr/>
              <a:t>; report any trimming</a:t>
            </a:r>
          </a:p>
          <a:p>
            <a:pPr lvl="0" indent="-342900" marL="342900">
              <a:buAutoNum type="arabicPeriod"/>
            </a:pPr>
            <a:r>
              <a:rPr/>
              <a:t>Naive, then ML-with-controls, then </a:t>
            </a:r>
            <a:r>
              <a:rPr b="1"/>
              <a:t>DML</a:t>
            </a:r>
            <a:r>
              <a:rPr/>
              <a:t> — record all three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the heterogeneity is real</a:t>
            </a:r>
          </a:p>
          <a:p>
            <a:pPr lvl="0" indent="0" marL="0">
              <a:buNone/>
            </a:pPr>
            <a:r>
              <a:rPr/>
              <a:t>The movement between the three estimates </a:t>
            </a:r>
            <a:r>
              <a:rPr b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estimand, and which assumption you are least sure of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with its cross-fitted interval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the confounder DML cannot save you from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Learning: Double/Debiased ML</dc:title>
  <dc:creator>Thierry Warin</dc:creator>
  <cp:keywords/>
  <dcterms:created xsi:type="dcterms:W3CDTF">2026-08-20T19:48:22Z</dcterms:created>
  <dcterms:modified xsi:type="dcterms:W3CDTF">2026-08-20T19:48:22Z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Lecture, first half</vt:lpwstr>
  </property>
  <property fmtid="{D5CDD505-2E9C-101B-9397-08002B2CF9AE}" pid="16" name="toc-title">
    <vt:lpwstr>Table of contents</vt:lpwstr>
  </property>
</Properties>
</file>