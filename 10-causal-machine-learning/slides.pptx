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 you still not use it to choose a policy?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setup, and what identification requires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</a:t>
                      </a:r>
                      <a:r>
                        <a:rPr i="1"/>
                        <a:t>not</a:t>
                      </a:r>
                      <a:r>
                        <a:rPr/>
                        <a:t>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State the partially linear model and name the </a:t>
            </a:r>
            <a:r>
              <a:rPr b="1"/>
              <a:t>nuisance functions</a:t>
            </a:r>
          </a:p>
          <a:p>
            <a:pPr lvl="0"/>
            <a:r>
              <a:rPr/>
              <a:t>Decompose the naive estimator’s error into </a:t>
            </a:r>
            <a:r>
              <a:rPr b="1"/>
              <a:t>regularisation</a:t>
            </a:r>
            <a:r>
              <a:rPr/>
              <a:t> and </a:t>
            </a:r>
            <a:r>
              <a:rPr b="1"/>
              <a:t>overfitting</a:t>
            </a:r>
            <a:r>
              <a:rPr/>
              <a:t> bias</a:t>
            </a:r>
          </a:p>
          <a:p>
            <a:pPr lvl="0"/>
            <a:r>
              <a:rPr/>
              <a:t>Explain why an orthogonal score turns two slow rates into one fast enough one</a:t>
            </a:r>
          </a:p>
          <a:p>
            <a:pPr lvl="0"/>
            <a:r>
              <a:rPr/>
              <a:t>Implement cross-fitting, and say precisely which bias it removes</a:t>
            </a:r>
          </a:p>
          <a:p>
            <a:pPr lvl="0"/>
            <a:r>
              <a:rPr/>
              <a:t>Report a heterogeneous effect </a:t>
            </a:r>
            <a:r>
              <a:rPr b="1"/>
              <a:t>without</a:t>
            </a:r>
            <a:r>
              <a:rPr/>
              <a:t> doing undisclosed multiple testing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Sessions 05–09 gave you prediction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now do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 well with more predictors than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06–07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classify, and fit arbitrary non-linear surfaces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08–09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compress and cluster without an outcome at all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none of it answers the only question a minister ever asks: </a:t>
            </a:r>
            <a:r>
              <a:rPr b="1"/>
              <a:t>if we do this, what happens?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gap, made concrete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Countries that adopt AI strategies are </a:t>
            </a:r>
            <a:r>
              <a:rPr b="1"/>
              <a:t>richer</a:t>
            </a:r>
            <a:r>
              <a:rPr/>
              <a:t>, and they adopt </a:t>
            </a:r>
            <a:r>
              <a:rPr b="1"/>
              <a:t>later</a:t>
            </a:r>
            <a:r>
              <a:rPr/>
              <a:t>. Treatment is not random, and no amount of predictive accuracy repairs that.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 this produces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f"mean digital intensity, has strategy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Yr[Dr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:6.2f}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f"mean digital intensity, no strategy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Yr[Dr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:6.2f}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f"naive difference in means          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NAIVE</a:t>
            </a:r>
            <a:r>
              <a:rPr>
                <a:solidFill>
                  <a:srgbClr val="4070A0"/>
                </a:solidFill>
                <a:latin typeface="Courier"/>
              </a:rPr>
              <a:t>:+6.2f}</a:t>
            </a:r>
            <a:r>
              <a:rPr>
                <a:solidFill>
                  <a:srgbClr val="BB6688"/>
                </a:solidFill>
                <a:latin typeface="Courier"/>
              </a:rPr>
              <a:t> points"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digital intensity, has strategy :  56.07
mean digital intensity, no strategy  :  45.62
naive difference in means            : +10.45 points</a:t>
            </a:r>
          </a:p>
          <a:p>
            <a:pPr lvl="0" indent="0" marL="0">
              <a:buNone/>
            </a:pPr>
            <a:r>
              <a:rPr/>
              <a:t>Ten points. If you publish that as the effect of adopting a national AI strategy, you have published the difference between rich and poor countries wearing a policy label.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adds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way to use the flexible learners of Sessions 05–07 for the </a:t>
            </a:r>
            <a:r>
              <a:rPr sz="2000" b="1"/>
              <a:t>nuisance</a:t>
            </a:r>
            <a:r>
              <a:rPr sz="2000"/>
              <a:t> parts of a causal question, while keeping the </a:t>
            </a:r>
            <a:r>
              <a:rPr sz="2000" b="1"/>
              <a:t>valid confidence interval</a:t>
            </a:r>
            <a:r>
              <a:rPr sz="2000"/>
              <a:t> of Session 03.</a:t>
            </a:r>
          </a:p>
          <a:p>
            <a:pPr lvl="0" indent="0" marL="0">
              <a:buNone/>
            </a:pPr>
            <a:r>
              <a:rPr/>
              <a:t>This is the reconciliation of the two halves of the course. Everything before Session 05 had honest inference and rigid functional form; everything after had flexible fit and no inference. Today they meet.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setup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what you want.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— you do not care about them, but you cannot avoid them.</a:t>
                </a:r>
              </a:p>
              <a:p>
                <a:pPr lvl="0" indent="0" marL="0">
                  <a:buNone/>
                </a:pPr>
                <a:r>
                  <a:rPr/>
                  <a:t>Classical econometrics assumes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linear. DML’s premise is that you would rather estimate it flexibly — because </a:t>
                </a:r>
                <a:r>
                  <a:rPr b="1"/>
                  <a:t>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 b="1"/>
                  <a:t> contaminates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 three things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no interference between units, one version of treatment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before anything else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193800"/>
            <a:ext cx="759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in five observations have almost no counterpart in the other arm. For those countries the data contain </a:t>
            </a:r>
            <a:r>
              <a:rPr b="1"/>
              <a:t>no comparison</a:t>
            </a:r>
            <a:r>
              <a:rPr/>
              <a:t>, and any estimate is extrapolation.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Why the naive plug-in fails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do, and why it breaks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with a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Decomposing the error: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 ML estimators converge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arises because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on the same observations where it is evaluated</a:t>
                </a:r>
              </a:p>
              <a:p>
                <a:pPr lvl="0" indent="0" marL="0">
                  <a:buNone/>
                </a:pPr>
                <a:r>
                  <a:rPr/>
                  <a:t>Two distinct problems. Two distinct fixes.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Watch it happen, with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known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THETA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simulate(n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p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"""Partially linear model with a genuinely non-linear g0 and m0."""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rng.normal(size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(n, p))</a:t>
            </a:r>
            <a:br/>
            <a:r>
              <a:rPr>
                <a:latin typeface="Courier"/>
              </a:rPr>
              <a:t>   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np.exp(X[:,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np.exp(X[:,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np.cos(X[:,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X[:,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0.8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X[:,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np.sin(X[:,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rng.normal(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n)</a:t>
            </a:r>
            <a:br/>
            <a:r>
              <a:rPr>
                <a:latin typeface="Courier"/>
              </a:rPr>
              <a:t>   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THETA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g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rng.normal(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X, D, Y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forest():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estimate(X, D, Y, mode):</a:t>
            </a:r>
            <a:br/>
            <a:r>
              <a:rPr>
                <a:latin typeface="Courier"/>
              </a:rPr>
              <a:t>    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(Y)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mode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"naive"</a:t>
            </a:r>
            <a:r>
              <a:rPr>
                <a:latin typeface="Courier"/>
              </a:rPr>
              <a:t>: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regress Y - ghat(X) on D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(D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forest().fit(X, Y).predict(X)))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D)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mode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"orthogonal"</a:t>
            </a:r>
            <a:r>
              <a:rPr>
                <a:latin typeface="Courier"/>
              </a:rPr>
              <a:t>: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residualise BOTH, same sample</a:t>
            </a:r>
            <a:br/>
            <a:r>
              <a:rPr>
                <a:latin typeface="Courier"/>
              </a:rPr>
              <a:t>        ty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forest().fit(X, Y).predict(X)</a:t>
            </a:r>
            <a:br/>
            <a:r>
              <a:rPr>
                <a:latin typeface="Courier"/>
              </a:rPr>
              <a:t>        td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forest().fit(X, D).predict(X)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           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residualise BOTH, cross-fitted</a:t>
            </a:r>
            <a:br/>
            <a:r>
              <a:rPr>
                <a:latin typeface="Courier"/>
              </a:rPr>
              <a:t>        ty, td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np.zeros(n), np.zeros(n)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).split(X):</a:t>
            </a:r>
            <a:br/>
            <a:r>
              <a:rPr>
                <a:latin typeface="Courier"/>
              </a:rPr>
              <a:t>            ty[te]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forest().fit(X[tr], Y[tr]).predict(X[te])</a:t>
            </a:r>
            <a:br/>
            <a:r>
              <a:rPr>
                <a:latin typeface="Courier"/>
              </a:rPr>
              <a:t>            td[te]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forest().fit(X[tr], D[tr]).predict(X[te])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(td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ty)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(td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td)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Fifty replications, three estimators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802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estimator misses by </a:t>
            </a:r>
            <a:r>
              <a:rPr b="1"/>
              <a:t>more than half the true effect</a:t>
            </a:r>
            <a:r>
              <a:rPr/>
              <a:t>, and its spread is </a:t>
            </a:r>
            <a:r>
              <a:rPr i="1"/>
              <a:t>narrow</a:t>
            </a:r>
            <a:r>
              <a:rPr/>
              <a:t> — it is confidently wrong. A tight confidence interval around it would be worse than no estimate.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Fix 1 — orthogonality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 different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 Solving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b="1"/>
                  <a:t>exactly Frisch–Waugh–Lovell</a:t>
                </a:r>
                <a:r>
                  <a:rPr/>
                  <a:t> from Session 02: 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The only change is that the residualising is done by a forest instead of a projection matrix.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“orthogonal” means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directional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the nuisance, at the truth, is </a:t>
                </a:r>
                <a:r>
                  <a:rPr b="1"/>
                  <a:t>zero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a small error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has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 The bias term becomes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 into a fast one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6600" y="1193800"/>
            <a:ext cx="768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Neither nuisance need converge at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Each need only beat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achieve under reasonable conditions. </a:t>
                </a:r>
                <a:r>
                  <a:rPr b="1"/>
                  <a:t>Two slow rates multiply into one fast enough rate.</a:t>
                </a:r>
                <a:r>
                  <a:rPr/>
                  <a:t> That is why it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Fix 2 — cross-fitting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remaining bias, and the split that removes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exists because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</m:acc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m</m:t>
                        </m:r>
                      </m:e>
                    </m:acc>
                  </m:oMath>
                </a14:m>
                <a:r>
                  <a:rPr/>
                  <a:t> were fitted using the very observations at which they are then evaluated. That correlates the estimated nuisance with the residual.</a:t>
                </a:r>
              </a:p>
              <a:p>
                <a:pPr lvl="0" indent="0" marL="0">
                  <a:buNone/>
                </a:pPr>
                <a:r>
                  <a:rPr/>
                  <a:t>The fix is the one you already know from Session 04: </a:t>
                </a:r>
                <a:r>
                  <a:rPr b="1"/>
                  <a:t>never evaluate a fit on data it was fitted on</a:t>
                </a:r>
                <a:r>
                  <a:rPr/>
                  <a:t>. Here it is applied to the nuisance step.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procedure, drawn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observation gets a residual, and no observation’s residual used a nuisance fitted on itself.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pool, and get a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θ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→</m:t>
                    </m:r>
                    <m: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r>
                              <m:t>σ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. Ordinary confidence intervals are valid — despite black-box learners in the nuisance step. That is the whole point of the session.</a:t>
                </a:r>
              </a:p>
              <a:p>
                <a:pPr lvl="0" indent="0" marL="0">
                  <a:buNone/>
                </a:pPr>
                <a:r>
                  <a:rPr/>
                  <a:t>Repeat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, to remove split sensitivity.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do it on the real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dml_real(seed, K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(Yr)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ty, td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np.zeros(n), np.zeros(n)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KFold(K,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seed).split(Xr):</a:t>
            </a:r>
            <a:br/>
            <a:r>
              <a:rPr>
                <a:latin typeface="Courier"/>
              </a:rPr>
              <a:t>        ty[te]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Yr[te]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           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).fit(Xr[tr], Yr[tr]).predict(Xr[te])</a:t>
            </a:r>
            <a:br/>
            <a:r>
              <a:rPr>
                <a:latin typeface="Courier"/>
              </a:rPr>
              <a:t>        td[te]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Dr[te]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            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).fit(Xr[tr], Dr[tr]).predict_proba(Xr[te])[:,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th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(td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ty)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(td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td)</a:t>
            </a:r>
            <a:br/>
            <a:r>
              <a:rPr>
                <a:latin typeface="Courier"/>
              </a:rPr>
              <a:t>    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np.sqrt(np.mean(td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(ty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th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td)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(np.mean(td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np.sqrt(n))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th, se, ty, td</a:t>
            </a:r>
            <a:br/>
            <a:br/>
            <a:r>
              <a:rPr>
                <a:latin typeface="Courier"/>
              </a:rPr>
              <a:t>runs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[dml_real(s)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TH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(np.median([r[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runs]))</a:t>
            </a:r>
            <a:br/>
            <a:r>
              <a:rPr>
                <a:latin typeface="Courier"/>
              </a:rPr>
              <a:t>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(np.median([r[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runs]))</a:t>
            </a:r>
            <a:br/>
            <a:r>
              <a:rPr>
                <a:latin typeface="Courier"/>
              </a:rPr>
              <a:t>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sm.OLS(Yr, sm.add_constant(np.c_[Dr, Xr])).fit()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f"naive difference in means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NAIVE</a:t>
            </a:r>
            <a:r>
              <a:rPr>
                <a:solidFill>
                  <a:srgbClr val="4070A0"/>
                </a:solidFill>
                <a:latin typeface="Courier"/>
              </a:rPr>
              <a:t>:+6.2f}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f"OLS, linear controls    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ols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params[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:+6.2f}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ols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bse[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f"DML, cross-fitted forests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TH</a:t>
            </a:r>
            <a:r>
              <a:rPr>
                <a:solidFill>
                  <a:srgbClr val="4070A0"/>
                </a:solidFill>
                <a:latin typeface="Courier"/>
              </a:rPr>
              <a:t>:+6.2f}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95% CI [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TH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1.96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:+.2f}</a:t>
            </a:r>
            <a:r>
              <a:rPr>
                <a:solidFill>
                  <a:srgbClr val="BB6688"/>
                </a:solidFill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TH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40A070"/>
                </a:solidFill>
                <a:latin typeface="Courier"/>
              </a:rPr>
              <a:t>1.96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:+.2f}</a:t>
            </a:r>
            <a:r>
              <a:rPr>
                <a:solidFill>
                  <a:srgbClr val="BB6688"/>
                </a:solidFill>
                <a:latin typeface="Courier"/>
              </a:rPr>
              <a:t>]"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naive difference in means : +10.45
OLS, linear controls      :  -0.10  (se 1.27)
DML, cross-fitted forests :  -0.61  (se 1.49)   95% CI [-3.54, +2.31]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answers, side by side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8229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 points becomes </a:t>
            </a:r>
            <a:r>
              <a:rPr b="1"/>
              <a:t>indistinguishable from zero</a:t>
            </a:r>
            <a:r>
              <a:rPr/>
              <a:t>. The right-hand panel is the whole estimate: one slope, through residualised data — Session 02’s FWL picture, with forests doing the residualising.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median over splits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data, the same code, five different random fold assignments — and estimates that differ by more than a point. </a:t>
            </a:r>
            <a:r>
              <a:rPr b="1"/>
              <a:t>Report the median across splits, and report the spread.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Heterogeneous effects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is often </a:t>
            </a:r>
            <a:r>
              <a:rPr i="1"/>
              <a:t>for whom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Causal forests</a:t>
                </a:r>
                <a:r>
                  <a:rPr/>
                  <a:t> (Wager &amp; Athey) adapt random forests in three ways: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Splits maximise heterogeneity in the </a:t>
                </a:r>
                <a:r>
                  <a:rPr b="1"/>
                  <a:t>treatment effect</a:t>
                </a:r>
                <a:r>
                  <a:rPr/>
                  <a:t>, not in the outcome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Honesty</a:t>
                </a:r>
                <a:r>
                  <a:rPr/>
                  <a:t> — the observations that choose the splits are disjoint from those that estimate the leaf effects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The estimator is asymptotically normal and pointwise consistent, so </a:t>
                </a:r>
                <a:r>
                  <a:rPr b="1"/>
                  <a:t>confidence intervals exist</a:t>
                </a:r>
              </a:p>
              <a:p>
                <a:pPr lvl="0" indent="0" marL="0">
                  <a:buNone/>
                </a:pPr>
                <a:r>
                  <a:rPr/>
                  <a:t>Point 2 is Session 04’s discipline again, moved inside the tree.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that must come with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 With twenty subgroups and a 5% test, one significant result is the </a:t>
                </a:r>
                <a:r>
                  <a:rPr i="1"/>
                  <a:t>expected</a:t>
                </a:r>
                <a:r>
                  <a:rPr/>
                  <a:t> outcome under no effect at all.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wherever possible</a:t>
                </a:r>
              </a:p>
              <a:p>
                <a:pPr lvl="0"/>
                <a:r>
                  <a:rPr/>
                  <a:t>Otherwise report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covariate set</a:t>
                </a:r>
              </a:p>
              <a:p>
                <a:pPr lvl="0"/>
                <a:r>
                  <a:rPr/>
                  <a:t>Or use a calibration test — the GATES / CLAN procedures of Chernozhukov et al.</a:t>
                </a:r>
              </a:p>
              <a:p>
                <a:pPr lvl="0"/>
                <a:r>
                  <a:rPr/>
                  <a:t>And label the whole section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What this does not fix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slide twice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 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precisely-quantified </a:t>
                </a:r>
                <a:r>
                  <a:rPr b="1"/>
                  <a:t>wrong number</a:t>
                </a:r>
                <a:r>
                  <a:rPr/>
                  <a:t> — and its narrow confidence interval will make the wrong number look authoritative.</a:t>
                </a:r>
              </a:p>
              <a:p>
                <a:pPr lvl="0" indent="0" marL="0">
                  <a:buNone/>
                </a:pPr>
                <a:r>
                  <a:rPr/>
                  <a:t>Flexible nuisance estimation removes </a:t>
                </a:r>
                <a:r>
                  <a:rPr b="1"/>
                  <a:t>functional-form error</a:t>
                </a:r>
                <a:r>
                  <a:rPr/>
                  <a:t>. It does not remove </a:t>
                </a:r>
                <a:r>
                  <a:rPr b="1"/>
                  <a:t>omitted-variable bias</a:t>
                </a:r>
                <a:r>
                  <a:rPr/>
                  <a:t>. Session 03’s OVB formula still governs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short</m:t>
                          </m:r>
                        </m:sub>
                      </m:sSub>
                      <m:r>
                        <m:rPr>
                          <m:sty m:val="p"/>
                        </m:rPr>
                        <m:t>→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long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r>
                        <m:t> </m:t>
                      </m:r>
                      <m:r>
                        <m:t>δ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means the hard part is not the code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code is thirty lines and you have just read all of them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argument</a:t>
                </a:r>
                <a:r>
                  <a:rPr/>
                  <a:t> — why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contains everything that drives both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— is the paper</a:t>
                </a:r>
              </a:p>
              <a:p>
                <a:pPr lvl="0"/>
                <a:r>
                  <a:rPr/>
                  <a:t>That argument is made with institutional knowledge, not with cross-validation</a:t>
                </a:r>
              </a:p>
              <a:p>
                <a:pPr lvl="0" indent="0" marL="0">
                  <a:buNone/>
                </a:pPr>
                <a:r>
                  <a:rPr/>
                  <a:t>On our own example, 41% of observations failed the overlap check. That fact belongs in the abstract, not in a footnote.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Prediction accuracy and causal validity are </a:t>
                </a:r>
                <a:r>
                  <a:rPr b="1"/>
                  <a:t>different properties</a:t>
                </a:r>
                <a:r>
                  <a:rPr/>
                  <a:t>. One does not imply the other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The naive plug-in has two biases: regularisation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 and overfitting (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orthogonal score</a:t>
                </a:r>
                <a:r>
                  <a:rPr/>
                  <a:t> kills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— errors in the nuisance become second-order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Cross-fitting</a:t>
                </a:r>
                <a:r>
                  <a:rPr/>
                  <a:t> kills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— never evaluate a fit on its own training rows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Two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rates multiply into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Hence </a:t>
                </a:r>
                <a:r>
                  <a:rPr i="1"/>
                  <a:t>double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Heterogeneity searching is multiple testing. Pre-specify or label it exploratory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None of this identifies anything. </a:t>
                </a:r>
                <a:r>
                  <a:rPr b="1"/>
                  <a:t>The assumptions do that</a:t>
                </a:r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Reporting a DML estimate with </a:t>
                </a:r>
                <a:r>
                  <a:rPr b="1"/>
                  <a:t>no overlap diagnostic</a:t>
                </a:r>
              </a:p>
              <a:p>
                <a:pPr lvl="0"/>
                <a:r>
                  <a:rPr/>
                  <a:t>Fitting nuisances on the full sample (that is the naive plug-in, with extra steps)</a:t>
                </a:r>
              </a:p>
              <a:p>
                <a:pPr lvl="0"/>
                <a:r>
                  <a:rPr/>
                  <a:t>Reporting one fold assignment instead of the median over several</a:t>
                </a:r>
              </a:p>
              <a:p>
                <a:pPr lvl="0"/>
                <a:r>
                  <a:rPr/>
                  <a:t>Presenting a subgroup effect found by searching, without saying you searched</a:t>
                </a:r>
              </a:p>
              <a:p>
                <a:pPr lvl="0"/>
                <a:r>
                  <a:rPr/>
                  <a:t>Any sentence of the form “the model shows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causes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”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Ninety minutes, in your groups. You will estimate one treatment effect three ways — naive, linear controls, and cross-fitted DML — check overlap first, and write the paragraph defending conditional ignorability. That paragraph carries the marks.</a:t>
            </a:r>
          </a:p>
          <a:p>
            <a:pPr lvl="0" indent="0" marL="0">
              <a:buNone/>
            </a:pPr>
            <a:r>
              <a:rPr/>
              <a:t>Notes: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 · practice brief: </a:t>
            </a:r>
            <a:r>
              <a:rPr>
                <a:hlinkClick r:id="rId3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2026-08-22T21:50:41Z</dcterms:created>
  <dcterms:modified xsi:type="dcterms:W3CDTF">2026-08-22T21:50:41Z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10 · Lecture, first half</vt:lpwstr>
  </property>
  <property fmtid="{D5CDD505-2E9C-101B-9397-08002B2CF9AE}" pid="18" name="toc-title">
    <vt:lpwstr>Table of contents</vt:lpwstr>
  </property>
</Properties>
</file>