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fd0c1c6a0147f1" /><Relationship Type="http://schemas.openxmlformats.org/officeDocument/2006/relationships/extended-properties" Target="/docProps/app.xml" Id="Rd70c4e5140a74674" /><Relationship Type="http://schemas.openxmlformats.org/officeDocument/2006/relationships/officeDocument" Target="/ppt/presentation.xml" Id="R2c6362e8c08040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c1f997d1244f67"/>
  </p:sldMasterIdLst>
  <p:notesMasterIdLst>
    <p:notesMasterId xmlns:r="http://schemas.openxmlformats.org/officeDocument/2006/relationships" r:id="Rf48fc3ef1cb1455c"/>
  </p:notesMasterIdLst>
  <p:sldIdLst>
    <p:sldId xmlns:r="http://schemas.openxmlformats.org/officeDocument/2006/relationships" id="256" r:id="R05c36eb0b6b8447e"/>
    <p:sldId xmlns:r="http://schemas.openxmlformats.org/officeDocument/2006/relationships" id="257" r:id="Rd65272230e904eeb"/>
    <p:sldId xmlns:r="http://schemas.openxmlformats.org/officeDocument/2006/relationships" id="258" r:id="R31b3a3c78b014b0c"/>
    <p:sldId xmlns:r="http://schemas.openxmlformats.org/officeDocument/2006/relationships" id="259" r:id="R3f0cac7a9de8462a"/>
    <p:sldId xmlns:r="http://schemas.openxmlformats.org/officeDocument/2006/relationships" id="260" r:id="R65dcc634db864d97"/>
    <p:sldId xmlns:r="http://schemas.openxmlformats.org/officeDocument/2006/relationships" id="261" r:id="R44c1387ae8db45af"/>
    <p:sldId xmlns:r="http://schemas.openxmlformats.org/officeDocument/2006/relationships" id="262" r:id="R30247a493faf4a1d"/>
    <p:sldId xmlns:r="http://schemas.openxmlformats.org/officeDocument/2006/relationships" id="263" r:id="R9886645bc9174d2f"/>
    <p:sldId xmlns:r="http://schemas.openxmlformats.org/officeDocument/2006/relationships" id="264" r:id="Ra210d75ebea44eb1"/>
    <p:sldId xmlns:r="http://schemas.openxmlformats.org/officeDocument/2006/relationships" id="265" r:id="Rff971a864ccf4ea1"/>
    <p:sldId xmlns:r="http://schemas.openxmlformats.org/officeDocument/2006/relationships" id="266" r:id="R8707b770084b474c"/>
    <p:sldId xmlns:r="http://schemas.openxmlformats.org/officeDocument/2006/relationships" id="267" r:id="R28ced491c8634847"/>
    <p:sldId xmlns:r="http://schemas.openxmlformats.org/officeDocument/2006/relationships" id="268" r:id="R0fda420e2df646b2"/>
    <p:sldId xmlns:r="http://schemas.openxmlformats.org/officeDocument/2006/relationships" id="269" r:id="R8b9b726abd774502"/>
    <p:sldId xmlns:r="http://schemas.openxmlformats.org/officeDocument/2006/relationships" id="270" r:id="R58153f361f5d4073"/>
    <p:sldId xmlns:r="http://schemas.openxmlformats.org/officeDocument/2006/relationships" id="271" r:id="R164c66949add499b"/>
    <p:sldId xmlns:r="http://schemas.openxmlformats.org/officeDocument/2006/relationships" id="272" r:id="R0e078379624b4ed9"/>
    <p:sldId xmlns:r="http://schemas.openxmlformats.org/officeDocument/2006/relationships" id="273" r:id="Rd38d4dd1f9694f50"/>
    <p:sldId xmlns:r="http://schemas.openxmlformats.org/officeDocument/2006/relationships" id="274" r:id="Raa61f3f41c1d4dfa"/>
    <p:sldId xmlns:r="http://schemas.openxmlformats.org/officeDocument/2006/relationships" id="275" r:id="R7b6276ea1ec847ec"/>
    <p:sldId xmlns:r="http://schemas.openxmlformats.org/officeDocument/2006/relationships" id="276" r:id="R317f1d7305a0479f"/>
    <p:sldId xmlns:r="http://schemas.openxmlformats.org/officeDocument/2006/relationships" id="277" r:id="Rc5ed34412ee44076"/>
    <p:sldId xmlns:r="http://schemas.openxmlformats.org/officeDocument/2006/relationships" id="278" r:id="R71508ff3e50b4c49"/>
    <p:sldId xmlns:r="http://schemas.openxmlformats.org/officeDocument/2006/relationships" id="279" r:id="Rfea1d5e614cc419e"/>
    <p:sldId xmlns:r="http://schemas.openxmlformats.org/officeDocument/2006/relationships" id="280" r:id="Rff2c2035f1174199"/>
    <p:sldId xmlns:r="http://schemas.openxmlformats.org/officeDocument/2006/relationships" id="281" r:id="R175d569d03264ab8"/>
    <p:sldId xmlns:r="http://schemas.openxmlformats.org/officeDocument/2006/relationships" id="282" r:id="R4514c89b3ca04a7c"/>
    <p:sldId xmlns:r="http://schemas.openxmlformats.org/officeDocument/2006/relationships" id="283" r:id="R6df39dc4f2294139"/>
    <p:sldId xmlns:r="http://schemas.openxmlformats.org/officeDocument/2006/relationships" id="284" r:id="R01a28da64cf84dbf"/>
    <p:sldId xmlns:r="http://schemas.openxmlformats.org/officeDocument/2006/relationships" id="285" r:id="R709430859e1b4849"/>
    <p:sldId xmlns:r="http://schemas.openxmlformats.org/officeDocument/2006/relationships" id="286" r:id="Rf6b9eb992c694f73"/>
    <p:sldId xmlns:r="http://schemas.openxmlformats.org/officeDocument/2006/relationships" id="287" r:id="R465ebb10cce0469d"/>
    <p:sldId xmlns:r="http://schemas.openxmlformats.org/officeDocument/2006/relationships" id="288" r:id="R95a8cba4b4304816"/>
    <p:sldId xmlns:r="http://schemas.openxmlformats.org/officeDocument/2006/relationships" id="289" r:id="R141c673d387d4f52"/>
    <p:sldId xmlns:r="http://schemas.openxmlformats.org/officeDocument/2006/relationships" id="290" r:id="R13d5703c662243ef"/>
    <p:sldId xmlns:r="http://schemas.openxmlformats.org/officeDocument/2006/relationships" id="291" r:id="R784dd5d2ae6b4f80"/>
    <p:sldId xmlns:r="http://schemas.openxmlformats.org/officeDocument/2006/relationships" id="292" r:id="R63273cf1f62d4806"/>
    <p:sldId xmlns:r="http://schemas.openxmlformats.org/officeDocument/2006/relationships" id="293" r:id="R9747012ecb0d4b2b"/>
    <p:sldId xmlns:r="http://schemas.openxmlformats.org/officeDocument/2006/relationships" id="294" r:id="R51c439883cd44335"/>
    <p:sldId xmlns:r="http://schemas.openxmlformats.org/officeDocument/2006/relationships" id="295" r:id="Rb67329a122c64b87"/>
    <p:sldId xmlns:r="http://schemas.openxmlformats.org/officeDocument/2006/relationships" id="296" r:id="Rf525068389c34988"/>
    <p:sldId xmlns:r="http://schemas.openxmlformats.org/officeDocument/2006/relationships" id="297" r:id="R0acf43ad80d74796"/>
    <p:sldId xmlns:r="http://schemas.openxmlformats.org/officeDocument/2006/relationships" id="298" r:id="Rad22a2e345fd40d6"/>
    <p:sldId xmlns:r="http://schemas.openxmlformats.org/officeDocument/2006/relationships" id="299" r:id="Raa2d3e5fb1454706"/>
    <p:sldId xmlns:r="http://schemas.openxmlformats.org/officeDocument/2006/relationships" id="300" r:id="R02caf12b989848d0"/>
    <p:sldId xmlns:r="http://schemas.openxmlformats.org/officeDocument/2006/relationships" id="301" r:id="R32291940fa834479"/>
    <p:sldId xmlns:r="http://schemas.openxmlformats.org/officeDocument/2006/relationships" id="302" r:id="Reec24aaa215e4dfa"/>
    <p:sldId xmlns:r="http://schemas.openxmlformats.org/officeDocument/2006/relationships" id="303" r:id="Rdde0839f57154624"/>
    <p:sldId xmlns:r="http://schemas.openxmlformats.org/officeDocument/2006/relationships" id="304" r:id="Rd32fff31636d4b2f"/>
    <p:sldId xmlns:r="http://schemas.openxmlformats.org/officeDocument/2006/relationships" id="305" r:id="R133bb04314eb4d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dec29ea8244dbe" /><Relationship Type="http://schemas.openxmlformats.org/officeDocument/2006/relationships/slideMaster" Target="/ppt/slideMasters/slideMaster1.xml" Id="R0dc1f997d1244f67" /><Relationship Type="http://schemas.openxmlformats.org/officeDocument/2006/relationships/notesMaster" Target="/ppt/notesMasters/notesMaster1.xml" Id="Rf48fc3ef1cb1455c" /><Relationship Type="http://schemas.openxmlformats.org/officeDocument/2006/relationships/presProps" Target="/ppt/presProps.xml" Id="R60ce5f8a7ae94fa6" /><Relationship Type="http://schemas.openxmlformats.org/officeDocument/2006/relationships/tableStyles" Target="/ppt/tableStyles.xml" Id="Rc83304834fff4e3c" /><Relationship Type="http://schemas.openxmlformats.org/officeDocument/2006/relationships/slide" Target="/ppt/slides/slide1.xml" Id="R05c36eb0b6b8447e" /><Relationship Type="http://schemas.openxmlformats.org/officeDocument/2006/relationships/slide" Target="/ppt/slides/slide2.xml" Id="Rd65272230e904eeb" /><Relationship Type="http://schemas.openxmlformats.org/officeDocument/2006/relationships/slide" Target="/ppt/slides/slide3.xml" Id="R31b3a3c78b014b0c" /><Relationship Type="http://schemas.openxmlformats.org/officeDocument/2006/relationships/slide" Target="/ppt/slides/slide4.xml" Id="R3f0cac7a9de8462a" /><Relationship Type="http://schemas.openxmlformats.org/officeDocument/2006/relationships/slide" Target="/ppt/slides/slide5.xml" Id="R65dcc634db864d97" /><Relationship Type="http://schemas.openxmlformats.org/officeDocument/2006/relationships/slide" Target="/ppt/slides/slide6.xml" Id="R44c1387ae8db45af" /><Relationship Type="http://schemas.openxmlformats.org/officeDocument/2006/relationships/slide" Target="/ppt/slides/slide7.xml" Id="R30247a493faf4a1d" /><Relationship Type="http://schemas.openxmlformats.org/officeDocument/2006/relationships/slide" Target="/ppt/slides/slide8.xml" Id="R9886645bc9174d2f" /><Relationship Type="http://schemas.openxmlformats.org/officeDocument/2006/relationships/slide" Target="/ppt/slides/slide9.xml" Id="Ra210d75ebea44eb1" /><Relationship Type="http://schemas.openxmlformats.org/officeDocument/2006/relationships/slide" Target="/ppt/slides/slide10.xml" Id="Rff971a864ccf4ea1" /><Relationship Type="http://schemas.openxmlformats.org/officeDocument/2006/relationships/slide" Target="/ppt/slides/slide11.xml" Id="R8707b770084b474c" /><Relationship Type="http://schemas.openxmlformats.org/officeDocument/2006/relationships/slide" Target="/ppt/slides/slide12.xml" Id="R28ced491c8634847" /><Relationship Type="http://schemas.openxmlformats.org/officeDocument/2006/relationships/slide" Target="/ppt/slides/slide13.xml" Id="R0fda420e2df646b2" /><Relationship Type="http://schemas.openxmlformats.org/officeDocument/2006/relationships/slide" Target="/ppt/slides/slide14.xml" Id="R8b9b726abd774502" /><Relationship Type="http://schemas.openxmlformats.org/officeDocument/2006/relationships/slide" Target="/ppt/slides/slide15.xml" Id="R58153f361f5d4073" /><Relationship Type="http://schemas.openxmlformats.org/officeDocument/2006/relationships/slide" Target="/ppt/slides/slide16.xml" Id="R164c66949add499b" /><Relationship Type="http://schemas.openxmlformats.org/officeDocument/2006/relationships/slide" Target="/ppt/slides/slide17.xml" Id="R0e078379624b4ed9" /><Relationship Type="http://schemas.openxmlformats.org/officeDocument/2006/relationships/slide" Target="/ppt/slides/slide18.xml" Id="Rd38d4dd1f9694f50" /><Relationship Type="http://schemas.openxmlformats.org/officeDocument/2006/relationships/slide" Target="/ppt/slides/slide19.xml" Id="Raa61f3f41c1d4dfa" /><Relationship Type="http://schemas.openxmlformats.org/officeDocument/2006/relationships/slide" Target="/ppt/slides/slide20.xml" Id="R7b6276ea1ec847ec" /><Relationship Type="http://schemas.openxmlformats.org/officeDocument/2006/relationships/slide" Target="/ppt/slides/slide21.xml" Id="R317f1d7305a0479f" /><Relationship Type="http://schemas.openxmlformats.org/officeDocument/2006/relationships/slide" Target="/ppt/slides/slide22.xml" Id="Rc5ed34412ee44076" /><Relationship Type="http://schemas.openxmlformats.org/officeDocument/2006/relationships/slide" Target="/ppt/slides/slide23.xml" Id="R71508ff3e50b4c49" /><Relationship Type="http://schemas.openxmlformats.org/officeDocument/2006/relationships/slide" Target="/ppt/slides/slide24.xml" Id="Rfea1d5e614cc419e" /><Relationship Type="http://schemas.openxmlformats.org/officeDocument/2006/relationships/slide" Target="/ppt/slides/slide25.xml" Id="Rff2c2035f1174199" /><Relationship Type="http://schemas.openxmlformats.org/officeDocument/2006/relationships/slide" Target="/ppt/slides/slide26.xml" Id="R175d569d03264ab8" /><Relationship Type="http://schemas.openxmlformats.org/officeDocument/2006/relationships/slide" Target="/ppt/slides/slide27.xml" Id="R4514c89b3ca04a7c" /><Relationship Type="http://schemas.openxmlformats.org/officeDocument/2006/relationships/slide" Target="/ppt/slides/slide28.xml" Id="R6df39dc4f2294139" /><Relationship Type="http://schemas.openxmlformats.org/officeDocument/2006/relationships/slide" Target="/ppt/slides/slide29.xml" Id="R01a28da64cf84dbf" /><Relationship Type="http://schemas.openxmlformats.org/officeDocument/2006/relationships/slide" Target="/ppt/slides/slide30.xml" Id="R709430859e1b4849" /><Relationship Type="http://schemas.openxmlformats.org/officeDocument/2006/relationships/slide" Target="/ppt/slides/slide31.xml" Id="Rf6b9eb992c694f73" /><Relationship Type="http://schemas.openxmlformats.org/officeDocument/2006/relationships/slide" Target="/ppt/slides/slide32.xml" Id="R465ebb10cce0469d" /><Relationship Type="http://schemas.openxmlformats.org/officeDocument/2006/relationships/slide" Target="/ppt/slides/slide33.xml" Id="R95a8cba4b4304816" /><Relationship Type="http://schemas.openxmlformats.org/officeDocument/2006/relationships/slide" Target="/ppt/slides/slide34.xml" Id="R141c673d387d4f52" /><Relationship Type="http://schemas.openxmlformats.org/officeDocument/2006/relationships/slide" Target="/ppt/slides/slide35.xml" Id="R13d5703c662243ef" /><Relationship Type="http://schemas.openxmlformats.org/officeDocument/2006/relationships/slide" Target="/ppt/slides/slide36.xml" Id="R784dd5d2ae6b4f80" /><Relationship Type="http://schemas.openxmlformats.org/officeDocument/2006/relationships/slide" Target="/ppt/slides/slide37.xml" Id="R63273cf1f62d4806" /><Relationship Type="http://schemas.openxmlformats.org/officeDocument/2006/relationships/slide" Target="/ppt/slides/slide38.xml" Id="R9747012ecb0d4b2b" /><Relationship Type="http://schemas.openxmlformats.org/officeDocument/2006/relationships/slide" Target="/ppt/slides/slide39.xml" Id="R51c439883cd44335" /><Relationship Type="http://schemas.openxmlformats.org/officeDocument/2006/relationships/slide" Target="/ppt/slides/slide40.xml" Id="Rb67329a122c64b87" /><Relationship Type="http://schemas.openxmlformats.org/officeDocument/2006/relationships/slide" Target="/ppt/slides/slide41.xml" Id="Rf525068389c34988" /><Relationship Type="http://schemas.openxmlformats.org/officeDocument/2006/relationships/slide" Target="/ppt/slides/slide42.xml" Id="R0acf43ad80d74796" /><Relationship Type="http://schemas.openxmlformats.org/officeDocument/2006/relationships/slide" Target="/ppt/slides/slide43.xml" Id="Rad22a2e345fd40d6" /><Relationship Type="http://schemas.openxmlformats.org/officeDocument/2006/relationships/slide" Target="/ppt/slides/slide44.xml" Id="Raa2d3e5fb1454706" /><Relationship Type="http://schemas.openxmlformats.org/officeDocument/2006/relationships/slide" Target="/ppt/slides/slide45.xml" Id="R02caf12b989848d0" /><Relationship Type="http://schemas.openxmlformats.org/officeDocument/2006/relationships/slide" Target="/ppt/slides/slide46.xml" Id="R32291940fa834479" /><Relationship Type="http://schemas.openxmlformats.org/officeDocument/2006/relationships/slide" Target="/ppt/slides/slide47.xml" Id="Reec24aaa215e4dfa" /><Relationship Type="http://schemas.openxmlformats.org/officeDocument/2006/relationships/slide" Target="/ppt/slides/slide48.xml" Id="Rdde0839f57154624" /><Relationship Type="http://schemas.openxmlformats.org/officeDocument/2006/relationships/slide" Target="/ppt/slides/slide49.xml" Id="Rd32fff31636d4b2f" /><Relationship Type="http://schemas.openxmlformats.org/officeDocument/2006/relationships/slide" Target="/ppt/slides/slide50.xml" Id="R133bb04314eb4d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319c0a111740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6c3540f4dd4104" /><Relationship Type="http://schemas.openxmlformats.org/officeDocument/2006/relationships/notesMaster" Target="/ppt/notesMasters/notesMaster1.xml" Id="Ra878abfbb68546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7d1335a2374f3e" /><Relationship Type="http://schemas.openxmlformats.org/officeDocument/2006/relationships/notesMaster" Target="/ppt/notesMasters/notesMaster1.xml" Id="R873947c53dee48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1feb34188446f8" /><Relationship Type="http://schemas.openxmlformats.org/officeDocument/2006/relationships/notesMaster" Target="/ppt/notesMasters/notesMaster1.xml" Id="Ra47d7b26e76f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17079ff27b4369" /><Relationship Type="http://schemas.openxmlformats.org/officeDocument/2006/relationships/notesMaster" Target="/ppt/notesMasters/notesMaster1.xml" Id="Rb0e7be88712e4c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12ea6c20e84e51" /><Relationship Type="http://schemas.openxmlformats.org/officeDocument/2006/relationships/notesMaster" Target="/ppt/notesMasters/notesMaster1.xml" Id="Rf1b8e67166e2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b17695c824178" /><Relationship Type="http://schemas.openxmlformats.org/officeDocument/2006/relationships/notesMaster" Target="/ppt/notesMasters/notesMaster1.xml" Id="R03b6301c02e447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c29bbb90b4386" /><Relationship Type="http://schemas.openxmlformats.org/officeDocument/2006/relationships/notesMaster" Target="/ppt/notesMasters/notesMaster1.xml" Id="R147bebc746174d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4c9ad76ba64300" /><Relationship Type="http://schemas.openxmlformats.org/officeDocument/2006/relationships/notesMaster" Target="/ppt/notesMasters/notesMaster1.xml" Id="Rd2ccfb30273446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42697d9529438a" /><Relationship Type="http://schemas.openxmlformats.org/officeDocument/2006/relationships/notesMaster" Target="/ppt/notesMasters/notesMaster1.xml" Id="Re3e5f39e1ff747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3e35507f2c40d2" /><Relationship Type="http://schemas.openxmlformats.org/officeDocument/2006/relationships/notesMaster" Target="/ppt/notesMasters/notesMaster1.xml" Id="R870c3c3b23b44e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4782c315df4c6c" /><Relationship Type="http://schemas.openxmlformats.org/officeDocument/2006/relationships/notesMaster" Target="/ppt/notesMasters/notesMaster1.xml" Id="R3cd0e9943bca48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c188e71d134c8c" /><Relationship Type="http://schemas.openxmlformats.org/officeDocument/2006/relationships/notesMaster" Target="/ppt/notesMasters/notesMaster1.xml" Id="R4cbb6fda008849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192085bb84475e" /><Relationship Type="http://schemas.openxmlformats.org/officeDocument/2006/relationships/notesMaster" Target="/ppt/notesMasters/notesMaster1.xml" Id="R2a8f1615fd1b41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4a2a4d585e487c" /><Relationship Type="http://schemas.openxmlformats.org/officeDocument/2006/relationships/notesMaster" Target="/ppt/notesMasters/notesMaster1.xml" Id="Rab1155404cc443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d80f6e3ca74743" /><Relationship Type="http://schemas.openxmlformats.org/officeDocument/2006/relationships/notesMaster" Target="/ppt/notesMasters/notesMaster1.xml" Id="R5237a992191b42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b2d6a972a0465a" /><Relationship Type="http://schemas.openxmlformats.org/officeDocument/2006/relationships/notesMaster" Target="/ppt/notesMasters/notesMaster1.xml" Id="R51dbcc3baa5647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592df1ead74d2a" /><Relationship Type="http://schemas.openxmlformats.org/officeDocument/2006/relationships/notesMaster" Target="/ppt/notesMasters/notesMaster1.xml" Id="R920ee82bbd8f47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6062868986498d" /><Relationship Type="http://schemas.openxmlformats.org/officeDocument/2006/relationships/notesMaster" Target="/ppt/notesMasters/notesMaster1.xml" Id="R30c8273656ef4f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db45056706496c" /><Relationship Type="http://schemas.openxmlformats.org/officeDocument/2006/relationships/notesMaster" Target="/ppt/notesMasters/notesMaster1.xml" Id="R73a8f7db5b0145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686c0d8eda405d" /><Relationship Type="http://schemas.openxmlformats.org/officeDocument/2006/relationships/notesMaster" Target="/ppt/notesMasters/notesMaster1.xml" Id="R3e52beb4453949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199e7932f14e1a" /><Relationship Type="http://schemas.openxmlformats.org/officeDocument/2006/relationships/notesMaster" Target="/ppt/notesMasters/notesMaster1.xml" Id="R04a6212ed4e840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3fa5b4a5f04444" /><Relationship Type="http://schemas.openxmlformats.org/officeDocument/2006/relationships/notesMaster" Target="/ppt/notesMasters/notesMaster1.xml" Id="Ra795f74dbc8648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ff58d62aa74fab" /><Relationship Type="http://schemas.openxmlformats.org/officeDocument/2006/relationships/notesMaster" Target="/ppt/notesMasters/notesMaster1.xml" Id="R6ff484e838454f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e6d5c399d24c9b" /><Relationship Type="http://schemas.openxmlformats.org/officeDocument/2006/relationships/notesMaster" Target="/ppt/notesMasters/notesMaster1.xml" Id="R2a77172a667844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3eb3f25f6648e0" /><Relationship Type="http://schemas.openxmlformats.org/officeDocument/2006/relationships/notesMaster" Target="/ppt/notesMasters/notesMaster1.xml" Id="Ree16e1be2aa747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8350c1639d4722" /><Relationship Type="http://schemas.openxmlformats.org/officeDocument/2006/relationships/notesMaster" Target="/ppt/notesMasters/notesMaster1.xml" Id="R16af4beeeb7a4e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3e8747d16f409c" /><Relationship Type="http://schemas.openxmlformats.org/officeDocument/2006/relationships/notesMaster" Target="/ppt/notesMasters/notesMaster1.xml" Id="R2edd1e2cb60546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8579ff5775245f6" /><Relationship Type="http://schemas.openxmlformats.org/officeDocument/2006/relationships/notesMaster" Target="/ppt/notesMasters/notesMaster1.xml" Id="R487db3617fad455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1a078fc58c4460" /><Relationship Type="http://schemas.openxmlformats.org/officeDocument/2006/relationships/notesMaster" Target="/ppt/notesMasters/notesMaster1.xml" Id="R0f392d24171b479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44cef775cad4c08" /><Relationship Type="http://schemas.openxmlformats.org/officeDocument/2006/relationships/notesMaster" Target="/ppt/notesMasters/notesMaster1.xml" Id="Rb17af4dda75c4ce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a5a821aa174076" /><Relationship Type="http://schemas.openxmlformats.org/officeDocument/2006/relationships/notesMaster" Target="/ppt/notesMasters/notesMaster1.xml" Id="Rf40815e004f642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76d273bae04511" /><Relationship Type="http://schemas.openxmlformats.org/officeDocument/2006/relationships/notesMaster" Target="/ppt/notesMasters/notesMaster1.xml" Id="R28b57d64244a439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066bc3b8ac41a9" /><Relationship Type="http://schemas.openxmlformats.org/officeDocument/2006/relationships/notesMaster" Target="/ppt/notesMasters/notesMaster1.xml" Id="R8b51a6728330440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5194b1b0ea94b69" /><Relationship Type="http://schemas.openxmlformats.org/officeDocument/2006/relationships/notesMaster" Target="/ppt/notesMasters/notesMaster1.xml" Id="R03e0652296ed4f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872ece7f5614f4d" /><Relationship Type="http://schemas.openxmlformats.org/officeDocument/2006/relationships/notesMaster" Target="/ppt/notesMasters/notesMaster1.xml" Id="R7a8af8ad2d2b45a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e88442aa083477d" /><Relationship Type="http://schemas.openxmlformats.org/officeDocument/2006/relationships/notesMaster" Target="/ppt/notesMasters/notesMaster1.xml" Id="R2d34d1dcb64140a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ffbb8b606254afb" /><Relationship Type="http://schemas.openxmlformats.org/officeDocument/2006/relationships/notesMaster" Target="/ppt/notesMasters/notesMaster1.xml" Id="R7b5ef4b9e1d84b1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f7453f6ccf4722" /><Relationship Type="http://schemas.openxmlformats.org/officeDocument/2006/relationships/notesMaster" Target="/ppt/notesMasters/notesMaster1.xml" Id="R899a9ee651ef438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dab72b86d764032" /><Relationship Type="http://schemas.openxmlformats.org/officeDocument/2006/relationships/notesMaster" Target="/ppt/notesMasters/notesMaster1.xml" Id="Reea602b87623458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0f90f9e1c554df0" /><Relationship Type="http://schemas.openxmlformats.org/officeDocument/2006/relationships/notesMaster" Target="/ppt/notesMasters/notesMaster1.xml" Id="R24ebb0030de5479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6405f99c3db4859" /><Relationship Type="http://schemas.openxmlformats.org/officeDocument/2006/relationships/notesMaster" Target="/ppt/notesMasters/notesMaster1.xml" Id="Rb656cb6c78b84e0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09e65e56a4840f6" /><Relationship Type="http://schemas.openxmlformats.org/officeDocument/2006/relationships/notesMaster" Target="/ppt/notesMasters/notesMaster1.xml" Id="R1c03123b485f4b8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2dbad41725547bb" /><Relationship Type="http://schemas.openxmlformats.org/officeDocument/2006/relationships/notesMaster" Target="/ppt/notesMasters/notesMaster1.xml" Id="R905e567be0694fa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6f0a19e6bf54c15" /><Relationship Type="http://schemas.openxmlformats.org/officeDocument/2006/relationships/notesMaster" Target="/ppt/notesMasters/notesMaster1.xml" Id="R6e661d374ad04ff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5c94c34c63d4e61" /><Relationship Type="http://schemas.openxmlformats.org/officeDocument/2006/relationships/notesMaster" Target="/ppt/notesMasters/notesMaster1.xml" Id="R5a0d100cae1741c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89c588a0c2a4587" /><Relationship Type="http://schemas.openxmlformats.org/officeDocument/2006/relationships/notesMaster" Target="/ppt/notesMasters/notesMaster1.xml" Id="R34d60f9b528b442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63009a092614976" /><Relationship Type="http://schemas.openxmlformats.org/officeDocument/2006/relationships/notesMaster" Target="/ppt/notesMasters/notesMaster1.xml" Id="Rd885c5162ca64c4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5cbd7e92dd945f7" /><Relationship Type="http://schemas.openxmlformats.org/officeDocument/2006/relationships/notesMaster" Target="/ppt/notesMasters/notesMaster1.xml" Id="Red1b02cb7b5540c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7cb6c189f044f91" /><Relationship Type="http://schemas.openxmlformats.org/officeDocument/2006/relationships/notesMaster" Target="/ppt/notesMasters/notesMaster1.xml" Id="R8be033f74f1b432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90e0c4ac55f48e5" /><Relationship Type="http://schemas.openxmlformats.org/officeDocument/2006/relationships/notesMaster" Target="/ppt/notesMasters/notesMaster1.xml" Id="Rfdf298d091d0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Donald B. Rubin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Asset: slides/course-assets/historical-portraits/rubin.png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Sessions 05–09 gave you prediction.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gap, made concrete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number this produces.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number this produces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Asset: 10-causal-machine-learning/demo/outputs/dml_residuals.png — generated by 10-causal-machine-learning/demo/session10_dml_demo.py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partially linear model.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partially linear model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Identification requires three things.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Check overlap before anything else.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Why the naive plug-in fails.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obvious thing to do, and why it breaks.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obvious thing to do, and why it breaks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Asset: 10-causal-machine-learning/demo/outputs/dml_residuals.png — generated by 10-causal-machine-learning/demo/session10_dml_demo.py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Fifty replications, three estimators.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Fifty replications, three estimators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Fix 1 — orthogonality.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a different score.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"orthogonal" means.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"orthogonal" means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Two slow rates multiply into a fast one.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Asset: 10-causal-machine-learning/demo/outputs/dml_residuals.png — generated by 10-causal-machine-learning/demo/session10_dml_demo.py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remaining bias, and the split that removes it.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procedure, drawn.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procedure, drawn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Then pool, and get a standard error.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 do it on the real question.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 do it on the real question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three answers, side by side.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Asset: 10-causal-machine-learning/demo/outputs/dml_residuals.png — generated by 10-causal-machine-learning/demo/session10_dml_demo.py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Why the median over splits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Heterogeneous effects.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question is often for whom.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question is often for whom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What this does not fix.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this slide twice.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this slide twice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Asset: 10-causal-machine-learning/demo/outputs/dml_residuals.png — generated by 10-causal-machine-learning/demo/session10_dml_demo.py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Key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Now, the practice.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https://warin.ca/quant/en/session10_cours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05477e9e949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5d14bdf594c74" /><Relationship Type="http://schemas.openxmlformats.org/officeDocument/2006/relationships/slideLayout" Target="/ppt/slideLayouts/slideLayout1.xml" Id="R48b4ae8d56c343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4ae8d56c343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ef844415448b2" /><Relationship Type="http://schemas.openxmlformats.org/officeDocument/2006/relationships/notesSlide" Target="/ppt/notesSlides/notesSlide1.xml" Id="R6a88c864c507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3587948574cb0" /><Relationship Type="http://schemas.openxmlformats.org/officeDocument/2006/relationships/notesSlide" Target="/ppt/notesSlides/notesSlide2.xml" Id="Rd02389822141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1f4283b3c4f74" /><Relationship Type="http://schemas.openxmlformats.org/officeDocument/2006/relationships/notesSlide" Target="/ppt/notesSlides/notesSlide3.xml" Id="R74766ce61904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fbabf22574dad" /><Relationship Type="http://schemas.openxmlformats.org/officeDocument/2006/relationships/notesSlide" Target="/ppt/notesSlides/notesSlide4.xml" Id="Rcad14f5fd3774f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5ee91e1aa4791" /><Relationship Type="http://schemas.openxmlformats.org/officeDocument/2006/relationships/image" Target="/ppt/media/image.png" Id="R71560789d6ac4209" /><Relationship Type="http://schemas.openxmlformats.org/officeDocument/2006/relationships/notesSlide" Target="/ppt/notesSlides/notesSlide5.xml" Id="R00f01a91756040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58b55720943ec" /><Relationship Type="http://schemas.openxmlformats.org/officeDocument/2006/relationships/notesSlide" Target="/ppt/notesSlides/notesSlide6.xml" Id="R3d035b0ce5ab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9c7b961b8443f" /><Relationship Type="http://schemas.openxmlformats.org/officeDocument/2006/relationships/notesSlide" Target="/ppt/notesSlides/notesSlide7.xml" Id="R76d11feb501d49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b9f111b514935" /><Relationship Type="http://schemas.openxmlformats.org/officeDocument/2006/relationships/notesSlide" Target="/ppt/notesSlides/notesSlide8.xml" Id="Rb786f4ceb6ac48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b0c0c4abe49ce" /><Relationship Type="http://schemas.openxmlformats.org/officeDocument/2006/relationships/notesSlide" Target="/ppt/notesSlides/notesSlide9.xml" Id="R6e9bbc14d2e74a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5d1a437624830" /><Relationship Type="http://schemas.openxmlformats.org/officeDocument/2006/relationships/notesSlide" Target="/ppt/notesSlides/notesSlide10.xml" Id="R800dc225ab224d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66be9d1454e3f" /><Relationship Type="http://schemas.openxmlformats.org/officeDocument/2006/relationships/image" Target="/ppt/media/image2.png" Id="R86ad99eb130940d7" /><Relationship Type="http://schemas.openxmlformats.org/officeDocument/2006/relationships/notesSlide" Target="/ppt/notesSlides/notesSlide11.xml" Id="R2836384b80464b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b13c76bb142a3" /><Relationship Type="http://schemas.openxmlformats.org/officeDocument/2006/relationships/notesSlide" Target="/ppt/notesSlides/notesSlide12.xml" Id="R70aa2f7a996f43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aaa3b23d472b" /><Relationship Type="http://schemas.openxmlformats.org/officeDocument/2006/relationships/notesSlide" Target="/ppt/notesSlides/notesSlide13.xml" Id="R956d7c3b3e054e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c69fda2dd4feb" /><Relationship Type="http://schemas.openxmlformats.org/officeDocument/2006/relationships/notesSlide" Target="/ppt/notesSlides/notesSlide14.xml" Id="R160b5b986bd14d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a8e614cce4aa2" /><Relationship Type="http://schemas.openxmlformats.org/officeDocument/2006/relationships/notesSlide" Target="/ppt/notesSlides/notesSlide15.xml" Id="Re936e5fbfcaf4f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8b0bbb3934cd2" /><Relationship Type="http://schemas.openxmlformats.org/officeDocument/2006/relationships/notesSlide" Target="/ppt/notesSlides/notesSlide16.xml" Id="Rd9e8cf8dd17841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cec86c16e4b9a" /><Relationship Type="http://schemas.openxmlformats.org/officeDocument/2006/relationships/notesSlide" Target="/ppt/notesSlides/notesSlide17.xml" Id="R9249b7164c9046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78ed6f4c1413c" /><Relationship Type="http://schemas.openxmlformats.org/officeDocument/2006/relationships/notesSlide" Target="/ppt/notesSlides/notesSlide18.xml" Id="R21a3b3a960594d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6976cebc24b4c" /><Relationship Type="http://schemas.openxmlformats.org/officeDocument/2006/relationships/image" Target="/ppt/media/image3.png" Id="R9542cf909cf54c14" /><Relationship Type="http://schemas.openxmlformats.org/officeDocument/2006/relationships/notesSlide" Target="/ppt/notesSlides/notesSlide19.xml" Id="R358eb25fc7e94b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e656e9bad4194" /><Relationship Type="http://schemas.openxmlformats.org/officeDocument/2006/relationships/notesSlide" Target="/ppt/notesSlides/notesSlide20.xml" Id="R628d7264b6a742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7813051544ca5" /><Relationship Type="http://schemas.openxmlformats.org/officeDocument/2006/relationships/notesSlide" Target="/ppt/notesSlides/notesSlide21.xml" Id="R652f1b6e385644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373e6e40246ce" /><Relationship Type="http://schemas.openxmlformats.org/officeDocument/2006/relationships/notesSlide" Target="/ppt/notesSlides/notesSlide22.xml" Id="R3f919af868754f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4a308ab084892" /><Relationship Type="http://schemas.openxmlformats.org/officeDocument/2006/relationships/notesSlide" Target="/ppt/notesSlides/notesSlide23.xml" Id="Rdfa610655c3a4ec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17a2a969d4ae7" /><Relationship Type="http://schemas.openxmlformats.org/officeDocument/2006/relationships/notesSlide" Target="/ppt/notesSlides/notesSlide24.xml" Id="Rf5f6e1c5cb3a47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e1910e8804f87" /><Relationship Type="http://schemas.openxmlformats.org/officeDocument/2006/relationships/notesSlide" Target="/ppt/notesSlides/notesSlide25.xml" Id="R3d3e8e98d7c144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b39f51f26496f" /><Relationship Type="http://schemas.openxmlformats.org/officeDocument/2006/relationships/notesSlide" Target="/ppt/notesSlides/notesSlide26.xml" Id="R1d455278a32a4d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d254f032b4b1a" /><Relationship Type="http://schemas.openxmlformats.org/officeDocument/2006/relationships/image" Target="/ppt/media/image4.png" Id="R0a9f70d053024c6c" /><Relationship Type="http://schemas.openxmlformats.org/officeDocument/2006/relationships/notesSlide" Target="/ppt/notesSlides/notesSlide27.xml" Id="R1dac49cbcd2c4a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39820bd0e48d5" /><Relationship Type="http://schemas.openxmlformats.org/officeDocument/2006/relationships/notesSlide" Target="/ppt/notesSlides/notesSlide28.xml" Id="Rfde99d7543ca49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a782de5a34fc5" /><Relationship Type="http://schemas.openxmlformats.org/officeDocument/2006/relationships/notesSlide" Target="/ppt/notesSlides/notesSlide29.xml" Id="R77f5c57b489b4e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2a72559a64832" /><Relationship Type="http://schemas.openxmlformats.org/officeDocument/2006/relationships/notesSlide" Target="/ppt/notesSlides/notesSlide30.xml" Id="Rc7a27552a2b948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12ee92bd94595" /><Relationship Type="http://schemas.openxmlformats.org/officeDocument/2006/relationships/notesSlide" Target="/ppt/notesSlides/notesSlide31.xml" Id="R8ba57a3c63444f2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d94e198c84066" /><Relationship Type="http://schemas.openxmlformats.org/officeDocument/2006/relationships/notesSlide" Target="/ppt/notesSlides/notesSlide32.xml" Id="Rf54831653b2948a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2aa9a6f31497d" /><Relationship Type="http://schemas.openxmlformats.org/officeDocument/2006/relationships/notesSlide" Target="/ppt/notesSlides/notesSlide33.xml" Id="R258ab6cf28a4403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b1f04f8aa445d" /><Relationship Type="http://schemas.openxmlformats.org/officeDocument/2006/relationships/notesSlide" Target="/ppt/notesSlides/notesSlide34.xml" Id="R1f2c0d66470040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8057bd4ae473a" /><Relationship Type="http://schemas.openxmlformats.org/officeDocument/2006/relationships/image" Target="/ppt/media/image5.png" Id="R0be164cf6e794d21" /><Relationship Type="http://schemas.openxmlformats.org/officeDocument/2006/relationships/notesSlide" Target="/ppt/notesSlides/notesSlide35.xml" Id="R1690916a765540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7ca01d9b74955" /><Relationship Type="http://schemas.openxmlformats.org/officeDocument/2006/relationships/notesSlide" Target="/ppt/notesSlides/notesSlide36.xml" Id="Rb95f7d25729046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9f29e90f4446f" /><Relationship Type="http://schemas.openxmlformats.org/officeDocument/2006/relationships/notesSlide" Target="/ppt/notesSlides/notesSlide37.xml" Id="Rcd2f119140e944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41e3930e644b5" /><Relationship Type="http://schemas.openxmlformats.org/officeDocument/2006/relationships/notesSlide" Target="/ppt/notesSlides/notesSlide38.xml" Id="R872b64973d2543f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f92aac4a14625" /><Relationship Type="http://schemas.openxmlformats.org/officeDocument/2006/relationships/notesSlide" Target="/ppt/notesSlides/notesSlide39.xml" Id="R1d1460665f2a453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a9c34aa8349ca" /><Relationship Type="http://schemas.openxmlformats.org/officeDocument/2006/relationships/notesSlide" Target="/ppt/notesSlides/notesSlide40.xml" Id="Rcc9d4da910554d0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3875164464430" /><Relationship Type="http://schemas.openxmlformats.org/officeDocument/2006/relationships/notesSlide" Target="/ppt/notesSlides/notesSlide41.xml" Id="R785f628ed0244a1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a9f5d4ef341e1" /><Relationship Type="http://schemas.openxmlformats.org/officeDocument/2006/relationships/notesSlide" Target="/ppt/notesSlides/notesSlide42.xml" Id="R0d81bd15052a472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a91e390014031" /><Relationship Type="http://schemas.openxmlformats.org/officeDocument/2006/relationships/image" Target="/ppt/media/image6.png" Id="R92a0b175b9304129" /><Relationship Type="http://schemas.openxmlformats.org/officeDocument/2006/relationships/notesSlide" Target="/ppt/notesSlides/notesSlide43.xml" Id="Re1308deb49ce4b4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2129d83f14125" /><Relationship Type="http://schemas.openxmlformats.org/officeDocument/2006/relationships/notesSlide" Target="/ppt/notesSlides/notesSlide44.xml" Id="R5405705b9bbb499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1d37f97b4dde" /><Relationship Type="http://schemas.openxmlformats.org/officeDocument/2006/relationships/notesSlide" Target="/ppt/notesSlides/notesSlide45.xml" Id="Re1d9e69d2eeb4bf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2d23044f047f7" /><Relationship Type="http://schemas.openxmlformats.org/officeDocument/2006/relationships/notesSlide" Target="/ppt/notesSlides/notesSlide46.xml" Id="Re941ed02b6444f1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0dfb354d74412" /><Relationship Type="http://schemas.openxmlformats.org/officeDocument/2006/relationships/notesSlide" Target="/ppt/notesSlides/notesSlide47.xml" Id="R6c1c3e991d90499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68946bc9142c6" /><Relationship Type="http://schemas.openxmlformats.org/officeDocument/2006/relationships/notesSlide" Target="/ppt/notesSlides/notesSlide48.xml" Id="R036e108b5f1d43f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9c7d6bc2d4418" /><Relationship Type="http://schemas.openxmlformats.org/officeDocument/2006/relationships/notesSlide" Target="/ppt/notesSlides/notesSlide49.xml" Id="R459191b4cdbc449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3b7892c1c46c3" /><Relationship Type="http://schemas.openxmlformats.org/officeDocument/2006/relationships/notesSlide" Target="/ppt/notesSlides/notesSlide50.xml" Id="Rb9e71cbb756f4c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8CC608B-F505-43B5-8680-A3231BB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10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F324F2E-DEF6-4AAD-87DE-39387D87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machine learning: double/debiased ML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03B9E711-A5FE-4AA6-828B-6A96DC5E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65605238-3894-4D98-8514-199ED3CF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79A4C30B-24BE-459E-8B4B-F9C8908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36" name="workflow-edge-0"/>
          <p:cNvCxnSpPr/>
          <p:nvPr/>
        </p:nvCxnSpPr>
        <p:spPr>
          <a:xfrm xmlns:a="http://schemas.openxmlformats.org/drawingml/2006/main">
            <a:off x="8128000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7" name="workflow-edge-1"/>
          <p:cNvCxnSpPr/>
          <p:nvPr/>
        </p:nvCxnSpPr>
        <p:spPr>
          <a:xfrm xmlns:a="http://schemas.openxmlformats.org/drawingml/2006/main">
            <a:off x="9769475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C220883E-8EFC-4C97-A3D2-372CEF9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D04EC90-37DB-4766-996F-A22831A8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7B1290D-4267-4BF9-850D-CD4CAC7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A9594FBA-698E-4EB1-972E-8B8AE2F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335695D0-94CA-4000-B497-F434096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AB74F5CE-FC78-49DD-8790-482D4B76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B054CAD-F06C-407F-A971-CC044E87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BBFB87-AD39-47A2-BA5B-EF9C7DD3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3A8A48-AF8F-42F8-ACF5-DE87CC13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883674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5D3C6ADF-3095-4DBF-8132-05B931C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15B85-3A5A-4108-9FD0-3FDA5FD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6566B3A-39A8-44A9-B783-BC6E1E1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F88CD6FD-78AC-41A2-A236-E4D33307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Use residualisation, orthogonality, and cross-fitting to estimate a treatment effect with flexible nuisance models.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B45C8EE-6DC2-4B7F-89C0-37051011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D27322C-4EFD-48DA-A269-767FBC06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044AC14-7C45-431F-95F9-905BC03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B7AA16A-628F-429D-825B-65359F65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7FD0C5C-024A-403A-A35A-E87E3717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099DF2E9-F3CF-43A4-BCBE-D54BFA8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2C81626E-270A-448E-B967-4F8C08B4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3A14D24-5D79-4F66-BDF4-242F3D1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078316-CB7B-4FFB-A2DB-B04C3D8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1E9E7D0-D734-4ABD-84C2-B8E45DA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618965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FE47B29-8902-43D9-B0C2-7C635E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CDC3B-E594-40AF-91A8-501283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86E95C-A4AE-48DE-93AF-016C1266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E961A9-63DF-4778-BB51-3DE5314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3E2468-B753-4A66-B039-FD593F1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Flexible prediction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66585CA-8820-4C98-BAC0-6BD3C1D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1CA71B4-E8D8-4884-89DA-3DE8C3C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a causal estimand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8129D51-4487-4E72-BF1B-36D6BC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034B1A3-409E-4C7D-ACFB-25D9A67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Orthogonalise nuisance models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5D0FF601-45EC-49FC-9D33-7AE6445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Use residualisation, orthogonality, and cross-fitting to estimate a treatment effect with flexible nuisance models.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3D3ACC-EF53-420A-86EE-560558F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29C25C-A95F-4ED2-950A-EF07EBF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24C38-7CCF-4E53-8BF6-F05A6A1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255078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017D-CB25-4CE8-8453-960BF9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B3C79-2D25-4245-8683-7A27E15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0BFC04-4814-4527-A086-FEC890B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5E9DCEA-734D-4301-AB2E-2B98EB6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Machine learning can estimate complex nuisance functions; causal identification still comes from design and…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DA433033-4D57-4C17-BAD2-59CFBD4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program evaluation · policy targeting · heterogeneous effects.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19C4A41-02A4-4F21-8A44-2D8816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95ACC30-2CB5-49E4-AC91-27BF0D5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CDC474-0121-491B-A07A-7E5356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4845D8E-FF5C-4556-A161-77BE5BC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 folds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E0FD317-F25E-45C3-9F1B-ABCC189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E7DF598-A8CC-4027-A028-1BBE634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nuisances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A5D4E09-B827-496B-9F63-9C29FAA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00FB1DC-4B0F-48AE-878A-343415E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 score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BB7E00-EE8C-463F-8E04-7997C1C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B129A3-9F19-42DC-A06B-7B3044A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8346E1-5E65-4189-88BA-4E9525A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665597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7AE70D1-6637-426E-A0C6-0D12D44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2AD59-58CB-4623-8AE2-5345F00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F27ADA-CA3F-4791-BCB2-14D903F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workflow-edge-0"/>
          <p:cNvCxnSpPr/>
          <p:nvPr/>
        </p:nvCxnSpPr>
        <p:spPr>
          <a:xfrm xmlns:a="http://schemas.openxmlformats.org/drawingml/2006/main">
            <a:off x="25146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8" name="workflow-edge-1"/>
          <p:cNvCxnSpPr/>
          <p:nvPr/>
        </p:nvCxnSpPr>
        <p:spPr>
          <a:xfrm xmlns:a="http://schemas.openxmlformats.org/drawingml/2006/main">
            <a:off x="49149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0E804C3-4F8E-4761-BAD9-E268D7E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CE1A90C1-B244-4468-ABAC-9452465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6F84EED-ADBF-42A8-8D8F-B63B13A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772E5C4-1A39-449E-A9AE-8DAAE4E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E49AE12-D846-4392-BD6A-B7EE1E0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1609AA1-D584-4462-AC98-53253B5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08FADBA1-F5EF-4E07-82B6-DE1222F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Donald B. Rubin</a:t>
            </a:r>
          </a:p>
        </p:txBody>
      </p:sp>
      <p:sp>
        <p:nvSpPr>
          <p:cNvPr id="1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18A21ED3-7AA0-4E84-A9DB-2237B3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1943–</a:t>
            </a:r>
          </a:p>
        </p:txBody>
      </p:sp>
      <p:sp>
        <p:nvSpPr>
          <p:cNvPr id="1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019916AD-96DA-4055-BA40-26174A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8C0EFB2-A979-4C9F-A2DA-101C361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1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94419E68-2517-4A01-8DD2-B9AFA1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2F50470-AEC9-43F0-9730-B8E6FA5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potential-outcomes framework makes the missing counterfactual explicit and…</a:t>
            </a:r>
          </a:p>
        </p:txBody>
      </p:sp>
      <p:sp>
        <p:nvSpPr>
          <p:cNvPr id="1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99F07BA6-1421-4EE7-AB8B-C07F6F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6BBE81-CBB7-4FD8-ADCC-D81FE75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F67B4A6-9525-483E-937F-81AF877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8BD87C1-70E8-4D02-AB5B-AF8EE1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32" name="media-matte-rubin.png">
            <a:extLst xmlns:a="http://schemas.openxmlformats.org/drawingml/2006/main">
              <a:ext uri="{FF2B5EF4-FFF2-40B4-BE49-F238E27FC236}">
                <a16:creationId xmlns:a16="http://schemas.microsoft.com/office/drawing/2014/main" id="{B5F64926-796E-4D93-81BB-FEA0ADF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60789d6ac4209"/>
          <a:stretch xmlns:a="http://schemas.openxmlformats.org/drawingml/2006/main"/>
        </p:blipFill>
        <p:spPr>
          <a:xfrm xmlns:a="http://schemas.openxmlformats.org/drawingml/2006/main">
            <a:off x="2824480" y="1600200"/>
            <a:ext cx="212344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79342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729E5AE-4B07-490D-AFC4-D72B354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DBDB3-9531-4F9B-9CD8-7E9BCA3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AE1E3E-F1BD-46CD-9F7F-C846E6B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110B7CF6-EF26-4266-933A-5A243CE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15503D17-CFB0-47D1-917D-1A512DB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F695D443-02E5-495D-AC2A-5734B0A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BE9C4572-AB3F-4980-A24F-E596C4A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BD86EE4-11C8-40DF-83EA-348C1C0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B575F8F6-93EA-4221-B3AB-B0DB773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Orthogonality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0F803240-E1FE-43F9-B992-7074A95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DC3778B-CBF0-49DB-973A-B6054F1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5CFC41AF-1ADC-4679-98E4-7958B4F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26554FD3-CE67-474D-8EFC-2ECB38F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Cross-fitting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7427CA2C-2E7B-4CD9-93BB-AD6EB91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DECE5F55-7DFD-4951-BADA-14B2369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A471EA8-5117-4FB4-8076-D3231C0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3F8CBB3-E5CD-42BE-8EFB-F2E2A2A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0056F2-EAD4-44CC-96A5-0AE319A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B304EA4-6309-44B6-97E4-C9CD3484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1101256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24E1034-3998-41D4-8574-994CAA3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77350-0292-401D-A2AE-3D69230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05–09 gave you prediction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398653-E521-4F9B-9BBD-3540DD5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843ABDE-E4AF-44D2-BC44-4026865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ṼY = Y − ℓ̂(X),  ṼD = D − m̂(X)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8C1146AD-9826-4A9D-81EC-21891B5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none of it answers the only question a minister ever asks: if we do this, what happens?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38668E7-6287-469C-9EE6-D2AB748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0D215EE-A1AE-49AA-9F8E-932479DA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none of it answers the only question a minister ever asks: if we do this, what happens?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39FFCCD-E91F-4608-9208-1A48A5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7285A4B-CC89-4907-9BB2-61F4F3A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179102D-2CDE-4DEA-89EE-4060C56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64253EE-1F4C-413F-BCF7-6F4DAB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FCC455C-E62E-42DB-BAB9-063D084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5459DC-AA9A-48F2-9D8D-44FE228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E293C6-26C0-4481-8875-EAAE5BE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69E6F1-E324-4BFD-A0F7-4B82A18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A4218F-134F-487C-89C8-D5BDB1F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334917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FE47B29-8902-43D9-B0C2-7C635E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CDC3B-E594-40AF-91A8-501283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gap, made concrete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86E95C-A4AE-48DE-93AF-016C1266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E961A9-63DF-4778-BB51-3DE5314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3E2468-B753-4A66-B039-FD593F1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lab = ["no AI strategy", "has AI strategy"] for…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66585CA-8820-4C98-BAC0-6BD3C1D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1CA71B4-E8D8-4884-89DA-3DE8C3C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lab = ["no AI strategy", "has AI strategy"] for k, c…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8129D51-4487-4E72-BF1B-36D6BC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034B1A3-409E-4C7D-ACFB-25D9A67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5D0FF601-45EC-49FC-9D33-7AE6445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3D3ACC-EF53-420A-86EE-560558F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29C25C-A95F-4ED2-950A-EF07EBF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24C38-7CCF-4E53-8BF6-F05A6A1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2550786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17BCA6E-306F-4E8A-8F23-DE1EFE0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CFECD-7DEF-476B-92BA-C89CFC8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number this produces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66DFE24-2F6D-4E98-9A93-26BBA4C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02F042CB-B3E2-4025-9EB9-2009D87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Y = θD + g(X) + 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FE13FA7-680B-42CE-880B-EB9B980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print(f"mean digital intensity, has strategy : Yr[Dr==1].mean():6.2f") print(f"mean digital intensity, no strategy : Yr[Dr==0].mean():6.2f") print(f"naive difference in means : NAIVE:+6.2f points")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583A499-6F05-4929-875C-BD2640A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6F23C5B-A893-48D9-88D1-8E39C3C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print(f"mean digital intensity, has strategy : Yr[Dr==1].mean():6.2f") print(f"mean digital…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AFC8D94-8582-4C9E-AA03-5E4078A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6EAD294-32F9-4BB6-AD19-629DCF3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26B36D6-84FC-49A2-92E8-83E5965E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46D1707-329D-4C41-8F49-AA840714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EFE1BB5-3354-442E-A448-39A3DC2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D496FA2-9F02-43FD-A17A-830705D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8F89716-5380-40C8-ADDA-C5D619A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7F7BE9-32BB-4076-BA1E-4BD2DCC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AEBE2F-15AC-43C5-87D6-6F622CB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1591374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017D-CB25-4CE8-8453-960BF9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B3C79-2D25-4245-8683-7A27E15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number this produces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0BFC04-4814-4527-A086-FEC890B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5E9DCEA-734D-4301-AB2E-2B98EB6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ṼY = Y − ℓ̂(X),  ṼD = D − m̂(X)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DA433033-4D57-4C17-BAD2-59CFBD4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print(f"mean digital intensity, has strategy : Yr[Dr==1].mean():6.2f") print(f"mean digital intensity, no strategy : Yr[Dr==0].mean():6.2f") print(f"naive difference in means : NAIVE:+6.2f points")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19C4A41-02A4-4F21-8A44-2D8816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95ACC30-2CB5-49E4-AC91-27BF0D5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print(f"mean digital intensity, has strategy : Yr[Dr==1].mean():6.2f") print(f"mean digital…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CDC474-0121-491B-A07A-7E5356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4845D8E-FF5C-4556-A161-77BE5BC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 folds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E0FD317-F25E-45C3-9F1B-ABCC189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E7DF598-A8CC-4027-A028-1BBE634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nuisances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A5D4E09-B827-496B-9F63-9C29FAA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00FB1DC-4B0F-48AE-878A-343415E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 score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BB7E00-EE8C-463F-8E04-7997C1C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B129A3-9F19-42DC-A06B-7B3044A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8346E1-5E65-4189-88BA-4E9525A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665597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7AE70D1-6637-426E-A0C6-0D12D44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2AD59-58CB-4623-8AE2-5345F00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today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F27ADA-CA3F-4791-BCB2-14D903F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workflow-edge-0"/>
          <p:cNvCxnSpPr/>
          <p:nvPr/>
        </p:nvCxnSpPr>
        <p:spPr>
          <a:xfrm xmlns:a="http://schemas.openxmlformats.org/drawingml/2006/main">
            <a:off x="25146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8" name="workflow-edge-1"/>
          <p:cNvCxnSpPr/>
          <p:nvPr/>
        </p:nvCxnSpPr>
        <p:spPr>
          <a:xfrm xmlns:a="http://schemas.openxmlformats.org/drawingml/2006/main">
            <a:off x="49149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0E804C3-4F8E-4761-BAD9-E268D7E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CE1A90C1-B244-4468-ABAC-9452465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6F84EED-ADBF-42A8-8D8F-B63B13A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772E5C4-1A39-449E-A9AE-8DAAE4E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E49AE12-D846-4392-BD6A-B7EE1E0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1609AA1-D584-4462-AC98-53253B5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08FADBA1-F5EF-4E07-82B6-DE1222F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18A21ED3-7AA0-4E84-A9DB-2237B3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A way to use the flexible learners of Sessions 05–07 for the nuisance parts of a causal &gt;…</a:t>
            </a:r>
          </a:p>
        </p:txBody>
      </p:sp>
      <p:sp>
        <p:nvSpPr>
          <p:cNvPr id="1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019916AD-96DA-4055-BA40-26174A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8C0EFB2-A979-4C9F-A2DA-101C361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the reconciliation of the two halves of the course.</a:t>
            </a:r>
          </a:p>
        </p:txBody>
      </p:sp>
      <p:sp>
        <p:nvSpPr>
          <p:cNvPr id="1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94419E68-2517-4A01-8DD2-B9AFA1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2F50470-AEC9-43F0-9730-B8E6FA5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Everything before Session 05 had honest</a:t>
            </a:r>
          </a:p>
        </p:txBody>
      </p:sp>
      <p:sp>
        <p:nvSpPr>
          <p:cNvPr id="1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99F07BA6-1421-4EE7-AB8B-C07F6F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6BBE81-CBB7-4FD8-ADCC-D81FE75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F67B4A6-9525-483E-937F-81AF877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8BD87C1-70E8-4D02-AB5B-AF8EE1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32" name="media-matte-dml_residuals.png">
            <a:extLst xmlns:a="http://schemas.openxmlformats.org/drawingml/2006/main">
              <a:ext uri="{FF2B5EF4-FFF2-40B4-BE49-F238E27FC236}">
                <a16:creationId xmlns:a16="http://schemas.microsoft.com/office/drawing/2014/main" id="{B089E63F-F6C6-4272-A3C7-0B3D24DD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d99eb130940d7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793426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B28D674-4D8A-43EE-B1F2-CE58DC3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37CE0-7A41-4908-A2C6-41ED47E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partially linear model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79132AC-77F5-41D2-94F6-37BC6B9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2F49AFDF-0966-4C68-9116-44F4FAD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871410C8-688C-4B2F-8BD1-0C314A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82DB71EF-34C3-451B-970F-1D866F1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9299B668-E6F3-4B7D-878B-AACE053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10-causal-machine-learning/demo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session10_dml_demo.py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541CD2E6-9A67-45E1-BAFC-0EF4D20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CC62994-5287-4DB2-B442-2424626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sklearn.model_selection import KFold, cross_val_predict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sklearn.ensemble import RandomForestRegressor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rng=np.random.default_rng(60033); X=rng.normal(size=(80,3))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D=X[:,0]+rng.normal(size=80); Y=2*D+X[:,1]+rng.normal(size=80)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cv=KFold(5,shuffle=True,random_state=60033)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ry=Y-cross_val_predict(RandomForestRegressor(random_state=1),X,Y,cv=cv)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rd=D-cross_val_predict(RandomForestRegressor(random_state=2),X,D,cv=cv)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print(rd@ry/(rd@rd))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AB0B2F4D-7C21-4469-8593-09C8E7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8820B78-B094-4474-B0AA-4AA6A93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E9CC6A-9C95-4D3C-8737-E593382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93F8306-22BC-4281-AF4D-B11636B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20902329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24E1034-3998-41D4-8574-994CAA3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77350-0292-401D-A2AE-3D69230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partially linear model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398653-E521-4F9B-9BBD-3540DD5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843ABDE-E4AF-44D2-BC44-4026865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Y = θ_0 D + g_0(X) + U, E[U mid X, D] = 0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8C1146AD-9826-4A9D-81EC-21891B5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θ0 is what you want. g0 and m0 are nuisance functions — you do not care about them, but you cannot avoid them. Classical econometrics assumes g0 is linear. DML's premise is that you would rather estimate it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38668E7-6287-469C-9EE6-D2AB748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0D215EE-A1AE-49AA-9F8E-932479DA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θ0 is what you want.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39FFCCD-E91F-4608-9208-1A48A5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7285A4B-CC89-4907-9BB2-61F4F3A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179102D-2CDE-4DEA-89EE-4060C56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64253EE-1F4C-413F-BCF7-6F4DAB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FCC455C-E62E-42DB-BAB9-063D084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5459DC-AA9A-48F2-9D8D-44FE228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E293C6-26C0-4481-8875-EAAE5BE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69E6F1-E324-4BFD-A0F7-4B82A18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A4218F-134F-487C-89C8-D5BDB1F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3349178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7050B8E-D961-43B3-A602-417184D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02A60D-59F8-4BAC-8BBF-0976E59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Identification requires three things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9F98797-B869-4D4D-B7E5-67C3758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4C0D8B6F-1420-4606-870E-D3498B6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No amount of machine learning substitutes for these. They are assumptions about the world, defended with institutional knowledge — not with cross-validation.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B7BF7D14-CCB5-431E-9A2B-AE96DB4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0BAFEA96-DA08-47B9-98F4-587CD992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Conditional ignorability — Y(1), Y(0) perp D mid X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D789503C-0CD6-44DD-A33A-F4D39CB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5011FF62-C88D-423A-85A8-4DD7744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72C4973A-25B2-4EB4-8CA2-DCEF613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Overlap — 0 &lt; P(D = 1 mid X) &lt; 1 almost surely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F442A5C-1D5E-4E2D-A20E-5C74078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B7F5618-A17F-436F-BDED-EC7E56A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2F2387-269B-485F-A374-7C919DA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SUTVA — no interference between units, one version of treatment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2901057B-AC59-45AE-919E-0BD403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CFDBFCAF-4831-4A56-B674-9E703085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F2EA70F1-3535-4101-8A5F-E609BFC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amount of machine learning substitutes for these.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7A952A3B-C6DA-40F5-9CCD-2D42233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5FD93A-8C9C-425B-B00A-D9B7D83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2895D-E855-4D85-AA38-983B259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EB8460-6B50-476D-84A6-8CCAF1D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549881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17BCA6E-306F-4E8A-8F23-DE1EFE0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CFECD-7DEF-476B-92BA-C89CFC8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overlap before anything else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66DFE24-2F6D-4E98-9A93-26BBA4C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02F042CB-B3E2-4025-9EB9-2009D87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Y = θD + g(X) + 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FE13FA7-680B-42CE-880B-EB9B980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ps = crossvalpredict( RandomForestClassifier(300, minsamplesleaf=5, randomstate=0, njobs=-1), Xr, Dr, cv=5, method="predictproba")[:, 1]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583A499-6F05-4929-875C-BD2640A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6F23C5B-A893-48D9-88D1-8E39C3C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ps = crossvalpredict( RandomForestClassifier(300, minsamplesleaf=5, randomstate=0, njobs=-1), Xr,…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AFC8D94-8582-4C9E-AA03-5E4078A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6EAD294-32F9-4BB6-AD19-629DCF3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26B36D6-84FC-49A2-92E8-83E5965E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46D1707-329D-4C41-8F49-AA840714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EFE1BB5-3354-442E-A448-39A3DC2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D496FA2-9F02-43FD-A17A-830705D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8F89716-5380-40C8-ADDA-C5D619A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7F7BE9-32BB-4076-BA1E-4BD2DCC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AEBE2F-15AC-43C5-87D6-6F622CB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15913749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729E5AE-4B07-490D-AFC4-D72B354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DBDB3-9531-4F9B-9CD8-7E9BCA3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Why the naive plug-in fails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AE1E3E-F1BD-46CD-9F7F-C846E6B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110B7CF6-EF26-4266-933A-5A243CE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15503D17-CFB0-47D1-917D-1A512DB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Why the naive…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F695D443-02E5-495D-AC2A-5734B0A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BE9C4572-AB3F-4980-A24F-E596C4A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Why the naive plug-in fails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BD86EE4-11C8-40DF-83EA-348C1C0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B575F8F6-93EA-4221-B3AB-B0DB773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Cross-fitting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0F803240-E1FE-43F9-B992-7074A95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DC3778B-CBF0-49DB-973A-B6054F1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5CFC41AF-1ADC-4679-98E4-7958B4F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26554FD3-CE67-474D-8EFC-2ECB38F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Nuisance function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7427CA2C-2E7B-4CD9-93BB-AD6EB91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DECE5F55-7DFD-4951-BADA-14B2369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A471EA8-5117-4FB4-8076-D3231C0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3F8CBB3-E5CD-42BE-8EFB-F2E2A2A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0056F2-EAD4-44CC-96A5-0AE319A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B304EA4-6309-44B6-97E4-C9CD3484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11012565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017D-CB25-4CE8-8453-960BF9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B3C79-2D25-4245-8683-7A27E15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obvious thing to do, and why it breaks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0BFC04-4814-4527-A086-FEC890B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5E9DCEA-734D-4301-AB2E-2B98EB6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sqrt n(hatθ - θ_0) = a + b_regularisation bias + c_overfitting bias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DA433033-4D57-4C17-BAD2-59CFBD4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hat g0 with a lasso or a forest on the full sample, then regress Y - hat g0(X) on D. Decomposing the error: + bregularisation bias + coverfitting bias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19C4A41-02A4-4F21-8A44-2D8816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95ACC30-2CB5-49E4-AC91-27BF0D5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 scales like sqrt n |hat g0 - g0|. ML estimators converge slower than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CDC474-0121-491B-A07A-7E5356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4845D8E-FF5C-4556-A161-77BE5BC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 folds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E0FD317-F25E-45C3-9F1B-ABCC189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E7DF598-A8CC-4027-A028-1BBE634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nuisances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A5D4E09-B827-496B-9F63-9C29FAA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00FB1DC-4B0F-48AE-878A-343415E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 score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BB7E00-EE8C-463F-8E04-7997C1C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B129A3-9F19-42DC-A06B-7B3044A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8346E1-5E65-4189-88BA-4E9525A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6655972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FE47B29-8902-43D9-B0C2-7C635E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CDC3B-E594-40AF-91A8-501283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obvious thing to do, and why it breaks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86E95C-A4AE-48DE-93AF-016C1266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E961A9-63DF-4778-BB51-3DE5314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3E2468-B753-4A66-B039-FD593F1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 scales like sqrt n |hat g0 - g0|. ML estimators converge slower than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66585CA-8820-4C98-BAC0-6BD3C1D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1CA71B4-E8D8-4884-89DA-3DE8C3C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 arises because hat g0 was fitted on the same observations where it is evaluated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8129D51-4487-4E72-BF1B-36D6BC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034B1A3-409E-4C7D-ACFB-25D9A67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hat g0 with a lasso or a forest on the full sample, then regress Y - hat g0(X) on D.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5D0FF601-45EC-49FC-9D33-7AE6445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Decomposing the error: + bregularisation bias + coverfitting bias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3D3ACC-EF53-420A-86EE-560558F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29C25C-A95F-4ED2-950A-EF07EBF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24C38-7CCF-4E53-8BF6-F05A6A1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2550786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7AE70D1-6637-426E-A0C6-0D12D44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2AD59-58CB-4623-8AE2-5345F00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Watch it happen, with θ0 known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F27ADA-CA3F-4791-BCB2-14D903F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workflow-edge-0"/>
          <p:cNvCxnSpPr/>
          <p:nvPr/>
        </p:nvCxnSpPr>
        <p:spPr>
          <a:xfrm xmlns:a="http://schemas.openxmlformats.org/drawingml/2006/main">
            <a:off x="25146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8" name="workflow-edge-1"/>
          <p:cNvCxnSpPr/>
          <p:nvPr/>
        </p:nvCxnSpPr>
        <p:spPr>
          <a:xfrm xmlns:a="http://schemas.openxmlformats.org/drawingml/2006/main">
            <a:off x="49149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0E804C3-4F8E-4761-BAD9-E268D7E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CE1A90C1-B244-4468-ABAC-9452465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6F84EED-ADBF-42A8-8D8F-B63B13A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772E5C4-1A39-449E-A9AE-8DAAE4E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E49AE12-D846-4392-BD6A-B7EE1E0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1609AA1-D584-4462-AC98-53253B5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08FADBA1-F5EF-4E07-82B6-DE1222F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18A21ED3-7AA0-4E84-A9DB-2237B3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7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simulate(n=300, p=20, seed=0): """Partially linear model with a genuinely non-linear g0 and…</a:t>
            </a:r>
          </a:p>
        </p:txBody>
      </p:sp>
      <p:sp>
        <p:nvSpPr>
          <p:cNvPr id="1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019916AD-96DA-4055-BA40-26174A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8C0EFB2-A979-4C9F-A2DA-101C361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simulate(n=300, p=20, seed=0): """Partially linear model with a genuinely non-linear g0 and m0."""…</a:t>
            </a:r>
          </a:p>
        </p:txBody>
      </p:sp>
      <p:sp>
        <p:nvSpPr>
          <p:cNvPr id="1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94419E68-2517-4A01-8DD2-B9AFA1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2F50470-AEC9-43F0-9730-B8E6FA5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99F07BA6-1421-4EE7-AB8B-C07F6F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6BBE81-CBB7-4FD8-ADCC-D81FE75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F67B4A6-9525-483E-937F-81AF877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8BD87C1-70E8-4D02-AB5B-AF8EE1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32" name="media-matte-dml_residuals.png">
            <a:extLst xmlns:a="http://schemas.openxmlformats.org/drawingml/2006/main">
              <a:ext uri="{FF2B5EF4-FFF2-40B4-BE49-F238E27FC236}">
                <a16:creationId xmlns:a16="http://schemas.microsoft.com/office/drawing/2014/main" id="{5B5B8BCC-6F66-4E7F-A88F-C78FC4E1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2cf909cf54c14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793426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B28D674-4D8A-43EE-B1F2-CE58DC3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37CE0-7A41-4908-A2C6-41ED47E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Fifty replications, three estimators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79132AC-77F5-41D2-94F6-37BC6B9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2F49AFDF-0966-4C68-9116-44F4FAD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871410C8-688C-4B2F-8BD1-0C314A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82DB71EF-34C3-451B-970F-1D866F1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9299B668-E6F3-4B7D-878B-AACE053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10-causal-machine-learning/demo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session10_dml_demo.py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541CD2E6-9A67-45E1-BAFC-0EF4D20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CC62994-5287-4DB2-B442-2424626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REPS = 50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 = {m: np.array([estimate(*simulate(seed=s), m) for s in range(REPS)])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for m in ("naive", "orthogonal", "cross-fitted")}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plt.subplots(figsize=(7.0, 3.0))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(nm, v), c in zip(res.items(), [CL.warn, CL.muted, CL.good]):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ax.hist(v, bins=18, alpha=.68, color=c,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label=f"{nm}:  bias {v.mean()-THETA:+.3f}")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ax.axvline(THETA, color=CL.ink, lw=2.2)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ax.text(THETA + .006, ax.get_ylim()[1] * .88, r"true $\theta_0 = 0.5$",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color=CL.ink, fontsize=9, fontweight="600")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ax.set_xlabel(r"$\hat\theta$"); ax.set_ylabel("replications")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AB0B2F4D-7C21-4469-8593-09C8E7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8820B78-B094-4474-B0AA-4AA6A93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E9CC6A-9C95-4D3C-8737-E593382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93F8306-22BC-4281-AF4D-B11636B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20902329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24E1034-3998-41D4-8574-994CAA3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77350-0292-401D-A2AE-3D69230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Fifty replications, three estimators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398653-E521-4F9B-9BBD-3540DD5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843ABDE-E4AF-44D2-BC44-4026865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Y = θD + g(X) + 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8C1146AD-9826-4A9D-81EC-21891B5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 = m: np.array([estimate(simulate(seed=s), m) for s in range(REPS)]) for m in ("naive", "orthogonal", "cross-fitted") fig, ax = plt.subplots(figsize=(7.0, 3.0))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38668E7-6287-469C-9EE6-D2AB748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0D215EE-A1AE-49AA-9F8E-932479DA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 = m: np.array([estimate(simulate(seed=s), m) for s in range(REPS)]) for m in ("naive",…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39FFCCD-E91F-4608-9208-1A48A5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7285A4B-CC89-4907-9BB2-61F4F3A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179102D-2CDE-4DEA-89EE-4060C56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64253EE-1F4C-413F-BCF7-6F4DAB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FCC455C-E62E-42DB-BAB9-063D084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5459DC-AA9A-48F2-9D8D-44FE228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E293C6-26C0-4481-8875-EAAE5BE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69E6F1-E324-4BFD-A0F7-4B82A18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A4218F-134F-487C-89C8-D5BDB1F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334917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17BCA6E-306F-4E8A-8F23-DE1EFE0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CFECD-7DEF-476B-92BA-C89CFC8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Fix 1 — orthogonality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66DFE24-2F6D-4E98-9A93-26BBA4C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02F042CB-B3E2-4025-9EB9-2009D87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ṼY = Y − ℓ̂(X),  ṼD = D − m̂(X)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FE13FA7-680B-42CE-880B-EB9B980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Fix 1 — orthogonality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583A499-6F05-4929-875C-BD2640A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6F23C5B-A893-48D9-88D1-8E39C3C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Fix 1 — orthogonality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AFC8D94-8582-4C9E-AA03-5E4078A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6EAD294-32F9-4BB6-AD19-629DCF3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26B36D6-84FC-49A2-92E8-83E5965E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46D1707-329D-4C41-8F49-AA840714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EFE1BB5-3354-442E-A448-39A3DC2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D496FA2-9F02-43FD-A17A-830705D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8F89716-5380-40C8-ADDA-C5D619A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7F7BE9-32BB-4076-BA1E-4BD2DCC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AEBE2F-15AC-43C5-87D6-6F622CB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15913749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017D-CB25-4CE8-8453-960BF9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B3C79-2D25-4245-8683-7A27E15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a different score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0BFC04-4814-4527-A086-FEC890B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5E9DCEA-734D-4301-AB2E-2B98EB6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psi(W;θ,eta) = big(Y - ell_0(X) - θ(D - m_0(X))big)big(D - m_0(X)big)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DA433033-4D57-4C17-BAD2-59CFBD4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eta = (ell0, m0), ell0(X) = mathbbE[Y mid X], m0(X) = mathbbE[D mid X]. Solving mathbbE[psi] = 0: = fracCov(tilde Y, tilde D)Var(tilde D)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19C4A41-02A4-4F21-8A44-2D8816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95ACC30-2CB5-49E4-AC91-27BF0D5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eta = (ell0, m0), ell0(X) = mathbbE[Y mid X], m0(X) = mathbbE[D mid X].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CDC474-0121-491B-A07A-7E5356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4845D8E-FF5C-4556-A161-77BE5BC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 folds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E0FD317-F25E-45C3-9F1B-ABCC189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E7DF598-A8CC-4027-A028-1BBE634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nuisances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A5D4E09-B827-496B-9F63-9C29FAA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00FB1DC-4B0F-48AE-878A-343415E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 score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BB7E00-EE8C-463F-8E04-7997C1C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B129A3-9F19-42DC-A06B-7B3044A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8346E1-5E65-4189-88BA-4E9525A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6655972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C64FAA85-0962-4DA7-A3FF-62EE9B53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C3C8E652-D8D9-4422-8523-CB872CB1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"orthogonal" means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3FD4C575-F41A-4BA6-9836-08956B8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ECF3D874-01F6-453D-9D86-6A45728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B34878ED-D84B-4823-BD8B-34F382F2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sophisticated learner cannot recover a treatment effect when treated and untreated units never overlap.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20236F39-B835-4353-A88F-141E349D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DBF39138-AB2A-4DDB-B82D-B7C852E2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Conditional ignorability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DCC33DF-FE7E-4597-8B44-8009F0C6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5E358D-C61F-4EB3-8A35-D45B9DC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865B604-011E-4E54-8A2A-A009E5A0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13204775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729E5AE-4B07-490D-AFC4-D72B354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DBDB3-9531-4F9B-9CD8-7E9BCA3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"orthogonal" means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AE1E3E-F1BD-46CD-9F7F-C846E6B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110B7CF6-EF26-4266-933A-5A243CE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15503D17-CFB0-47D1-917D-1A512DB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"orthogonal"…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F695D443-02E5-495D-AC2A-5734B0A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BE9C4572-AB3F-4980-A24F-E596C4A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directional derivative of mathbbE[psi] with respect to the nuisance, at the truth, is So a…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BD86EE4-11C8-40DF-83EA-348C1C0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B575F8F6-93EA-4221-B3AB-B0DB773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Cross-fitting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0F803240-E1FE-43F9-B992-7074A95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DC3778B-CBF0-49DB-973A-B6054F1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directional derivative of mathbbE[psi] with respect to the nuisance, at the truth, is So a small…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5CFC41AF-1ADC-4679-98E4-7958B4F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26554FD3-CE67-474D-8EFC-2ECB38F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Nuisance function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7427CA2C-2E7B-4CD9-93BB-AD6EB91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DECE5F55-7DFD-4951-BADA-14B2369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A471EA8-5117-4FB4-8076-D3231C0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3F8CBB3-E5CD-42BE-8EFB-F2E2A2A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0056F2-EAD4-44CC-96A5-0AE319A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B304EA4-6309-44B6-97E4-C9CD3484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11012565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FE47B29-8902-43D9-B0C2-7C635E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CDC3B-E594-40AF-91A8-501283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slow rates multiply into a fast one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86E95C-A4AE-48DE-93AF-016C1266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E961A9-63DF-4778-BB51-3DE5314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3E2468-B753-4A66-B039-FD593F1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 = np.logspace(2, 5, 200) fig, ax = plt.subplots(figsize=(6.6, 2.95)) slow = n (-0.25)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66585CA-8820-4C98-BAC0-6BD3C1D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1CA71B4-E8D8-4884-89DA-3DE8C3C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8129D51-4487-4E72-BF1B-36D6BC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034B1A3-409E-4C7D-ACFB-25D9A67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5D0FF601-45EC-49FC-9D33-7AE6445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Estimate θ and diagnose overlap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3D3ACC-EF53-420A-86EE-560558F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29C25C-A95F-4ED2-950A-EF07EBF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24C38-7CCF-4E53-8BF6-F05A6A1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2550786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7AE70D1-6637-426E-A0C6-0D12D44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2AD59-58CB-4623-8AE2-5345F00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slow rates multiply into a fast one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F27ADA-CA3F-4791-BCB2-14D903F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workflow-edge-0"/>
          <p:cNvCxnSpPr/>
          <p:nvPr/>
        </p:nvCxnSpPr>
        <p:spPr>
          <a:xfrm xmlns:a="http://schemas.openxmlformats.org/drawingml/2006/main">
            <a:off x="25146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8" name="workflow-edge-1"/>
          <p:cNvCxnSpPr/>
          <p:nvPr/>
        </p:nvCxnSpPr>
        <p:spPr>
          <a:xfrm xmlns:a="http://schemas.openxmlformats.org/drawingml/2006/main">
            <a:off x="49149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0E804C3-4F8E-4761-BAD9-E268D7E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CE1A90C1-B244-4468-ABAC-9452465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6F84EED-ADBF-42A8-8D8F-B63B13A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772E5C4-1A39-449E-A9AE-8DAAE4E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E49AE12-D846-4392-BD6A-B7EE1E0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1609AA1-D584-4462-AC98-53253B5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08FADBA1-F5EF-4E07-82B6-DE1222F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18A21ED3-7AA0-4E84-A9DB-2237B3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 = np.logspace(2, 5, 200) fig, ax = plt.subplots(figsize=(6.6, 2.95)) slow = n (-0.25)</a:t>
            </a:r>
          </a:p>
        </p:txBody>
      </p:sp>
      <p:sp>
        <p:nvSpPr>
          <p:cNvPr id="1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019916AD-96DA-4055-BA40-26174A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8C0EFB2-A979-4C9F-A2DA-101C361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94419E68-2517-4A01-8DD2-B9AFA1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2F50470-AEC9-43F0-9730-B8E6FA5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99F07BA6-1421-4EE7-AB8B-C07F6F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6BBE81-CBB7-4FD8-ADCC-D81FE75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F67B4A6-9525-483E-937F-81AF877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8BD87C1-70E8-4D02-AB5B-AF8EE1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32" name="media-matte-dml_residuals.png">
            <a:extLst xmlns:a="http://schemas.openxmlformats.org/drawingml/2006/main">
              <a:ext uri="{FF2B5EF4-FFF2-40B4-BE49-F238E27FC236}">
                <a16:creationId xmlns:a16="http://schemas.microsoft.com/office/drawing/2014/main" id="{49942E8A-9D8C-4BA7-B8B0-9A21723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f70d053024c6c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793426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B28D674-4D8A-43EE-B1F2-CE58DC3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37CE0-7A41-4908-A2C6-41ED47E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remaining bias, and the split that removes 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79132AC-77F5-41D2-94F6-37BC6B9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2F49AFDF-0966-4C68-9116-44F4FAD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871410C8-688C-4B2F-8BD1-0C314A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82DB71EF-34C3-451B-970F-1D866F1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9299B668-E6F3-4B7D-878B-AACE053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10-causal-machine-learning/demo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session10_dml_demo.py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541CD2E6-9A67-45E1-BAFC-0EF4D20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CC62994-5287-4DB2-B442-2424626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sklearn.model_selection import KFold, cross_val_predict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sklearn.ensemble import RandomForestRegressor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rng=np.random.default_rng(60033); X=rng.normal(size=(80,3))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D=X[:,0]+rng.normal(size=80); Y=2*D+X[:,1]+rng.normal(size=80)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cv=KFold(5,shuffle=True,random_state=60033)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ry=Y-cross_val_predict(RandomForestRegressor(random_state=1),X,Y,cv=cv)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rd=D-cross_val_predict(RandomForestRegressor(random_state=2),X,D,cv=cv)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print(rd@ry/(rd@rd))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AB0B2F4D-7C21-4469-8593-09C8E7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8820B78-B094-4474-B0AA-4AA6A93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E9CC6A-9C95-4D3C-8737-E593382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93F8306-22BC-4281-AF4D-B11636B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20902329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7050B8E-D961-43B3-A602-417184D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02A60D-59F8-4BAC-8BBF-0976E59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procedure, drawn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9F98797-B869-4D4D-B7E5-67C3758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4C0D8B6F-1420-4606-870E-D3498B6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fig, ax = plt.subplots(figsize=(7.2, 2.9)) for k in range(K): for j in range(K):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B7BF7D14-CCB5-431E-9A2B-AE96DB4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0BAFEA96-DA08-47B9-98F4-587CD992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for k in range(K): for j in range(K):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D789503C-0CD6-44DD-A33A-F4D39CB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5011FF62-C88D-423A-85A8-4DD7744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72C4973A-25B2-4EB4-8CA2-DCEF613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F442A5C-1D5E-4E2D-A20E-5C74078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B7F5618-A17F-436F-BDED-EC7E56A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2F2387-269B-485F-A374-7C919DA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2901057B-AC59-45AE-919E-0BD403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CFDBFCAF-4831-4A56-B674-9E703085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F2EA70F1-3535-4101-8A5F-E609BFC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θ and diagnose overlap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7A952A3B-C6DA-40F5-9CCD-2D42233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5FD93A-8C9C-425B-B00A-D9B7D83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2895D-E855-4D85-AA38-983B259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EB8460-6B50-476D-84A6-8CCAF1D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5498810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24E1034-3998-41D4-8574-994CAA3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77350-0292-401D-A2AE-3D69230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procedure, drawn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398653-E521-4F9B-9BBD-3540DD5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843ABDE-E4AF-44D2-BC44-4026865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Y = θD + g(X) + 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8C1146AD-9826-4A9D-81EC-21891B5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for k in range(K): for j in range(K):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38668E7-6287-469C-9EE6-D2AB748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0D215EE-A1AE-49AA-9F8E-932479DA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for k in range(K): for j in range(K):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39FFCCD-E91F-4608-9208-1A48A5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7285A4B-CC89-4907-9BB2-61F4F3A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179102D-2CDE-4DEA-89EE-4060C56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64253EE-1F4C-413F-BCF7-6F4DAB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FCC455C-E62E-42DB-BAB9-063D084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5459DC-AA9A-48F2-9D8D-44FE228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E293C6-26C0-4481-8875-EAAE5BE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69E6F1-E324-4BFD-A0F7-4B82A18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A4218F-134F-487C-89C8-D5BDB1F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3349178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17BCA6E-306F-4E8A-8F23-DE1EFE0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CFECD-7DEF-476B-92BA-C89CFC8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Then pool, and get a standard error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66DFE24-2F6D-4E98-9A93-26BBA4C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02F042CB-B3E2-4025-9EB9-2009D87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5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hatθ = (Σ_i tilde Y_i tilde D_i)/(Σ_i tilde D_i²), hatσ² = fracfrac1nΣ_i tilde D_i²(tilde Y_i - hatθtilde D_i)² big(frac1nΣ_i tilde D_i²big)²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FE13FA7-680B-42CE-880B-EB9B980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σ^2-hat = frac big(frac1nsumi tilde Di^2big)^2 valid — despite black-box learners in the nuisance step. That is the whole point of the session.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583A499-6F05-4929-875C-BD2640A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6F23C5B-A893-48D9-88D1-8E39C3C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σ^2-hat = frac big(frac1nsumi tilde Di^2big)^2 valid — despite black-box learners in the nuisance…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AFC8D94-8582-4C9E-AA03-5E4078A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6EAD294-32F9-4BB6-AD19-629DCF3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26B36D6-84FC-49A2-92E8-83E5965E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46D1707-329D-4C41-8F49-AA840714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EFE1BB5-3354-442E-A448-39A3DC2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D496FA2-9F02-43FD-A17A-830705D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8F89716-5380-40C8-ADDA-C5D619A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7F7BE9-32BB-4076-BA1E-4BD2DCC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AEBE2F-15AC-43C5-87D6-6F622CB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15913749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017D-CB25-4CE8-8453-960BF9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B3C79-2D25-4245-8683-7A27E15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 do it on the real question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0BFC04-4814-4527-A086-FEC890B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5E9DCEA-734D-4301-AB2E-2B98EB6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θ̂ = Σ ṼDᵢṼYᵢ / Σ ṼDᵢ²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DA433033-4D57-4C17-BAD2-59CFBD4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dmlreal(seed, K=5): n = len(Yr); ty, td = np.zeros(n), np.zeros(n) for tr, te in KFold(K, shuffle=True, randomstate=seed).split(Xr):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19C4A41-02A4-4F21-8A44-2D8816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95ACC30-2CB5-49E4-AC91-27BF0D5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dmlreal(seed, K=5): n = len(Yr); ty, td = np.zeros(n), np.zeros(n) for tr, te in KFold(K,…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CDC474-0121-491B-A07A-7E5356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4845D8E-FF5C-4556-A161-77BE5BC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 folds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E0FD317-F25E-45C3-9F1B-ABCC189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E7DF598-A8CC-4027-A028-1BBE634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nuisances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A5D4E09-B827-496B-9F63-9C29FAA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00FB1DC-4B0F-48AE-878A-343415E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 score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BB7E00-EE8C-463F-8E04-7997C1C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B129A3-9F19-42DC-A06B-7B3044A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8346E1-5E65-4189-88BA-4E9525A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6655972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729E5AE-4B07-490D-AFC4-D72B354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DBDB3-9531-4F9B-9CD8-7E9BCA3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 do it on the real question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AE1E3E-F1BD-46CD-9F7F-C846E6B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110B7CF6-EF26-4266-933A-5A243CE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15503D17-CFB0-47D1-917D-1A512DB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 do it on the real…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F695D443-02E5-495D-AC2A-5734B0A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BE9C4572-AB3F-4980-A24F-E596C4A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dmlreal(seed, K=5): n = len(Yr); ty, td = np.zeros(n), np.zeros(n) for tr, te in KFold(K,…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BD86EE4-11C8-40DF-83EA-348C1C0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B575F8F6-93EA-4221-B3AB-B0DB773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Orthogonality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0F803240-E1FE-43F9-B992-7074A95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DC3778B-CBF0-49DB-973A-B6054F1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5CFC41AF-1ADC-4679-98E4-7958B4F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26554FD3-CE67-474D-8EFC-2ECB38F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Cross-fitting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7427CA2C-2E7B-4CD9-93BB-AD6EB91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DECE5F55-7DFD-4951-BADA-14B2369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A471EA8-5117-4FB4-8076-D3231C0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3F8CBB3-E5CD-42BE-8EFB-F2E2A2A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0056F2-EAD4-44CC-96A5-0AE319A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B304EA4-6309-44B6-97E4-C9CD3484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11012565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FE47B29-8902-43D9-B0C2-7C635E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CDC3B-E594-40AF-91A8-501283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answers, side by side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86E95C-A4AE-48DE-93AF-016C1266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E961A9-63DF-4778-BB51-3DE5314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3E2468-B753-4A66-B039-FD593F1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2.95)) est = [NAIVE, ols.params[1], TH] errs = [0,…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66585CA-8820-4C98-BAC0-6BD3C1D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1CA71B4-E8D8-4884-89DA-3DE8C3C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2.95)) est = [NAIVE, ols.params[1], TH] errs = [0, 1.96…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8129D51-4487-4E72-BF1B-36D6BC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034B1A3-409E-4C7D-ACFB-25D9A67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5D0FF601-45EC-49FC-9D33-7AE6445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3D3ACC-EF53-420A-86EE-560558F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29C25C-A95F-4ED2-950A-EF07EBF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24C38-7CCF-4E53-8BF6-F05A6A1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2550786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7AE70D1-6637-426E-A0C6-0D12D44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2AD59-58CB-4623-8AE2-5345F00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answers, side by side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F27ADA-CA3F-4791-BCB2-14D903F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workflow-edge-0"/>
          <p:cNvCxnSpPr/>
          <p:nvPr/>
        </p:nvCxnSpPr>
        <p:spPr>
          <a:xfrm xmlns:a="http://schemas.openxmlformats.org/drawingml/2006/main">
            <a:off x="25146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8" name="workflow-edge-1"/>
          <p:cNvCxnSpPr/>
          <p:nvPr/>
        </p:nvCxnSpPr>
        <p:spPr>
          <a:xfrm xmlns:a="http://schemas.openxmlformats.org/drawingml/2006/main">
            <a:off x="49149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0E804C3-4F8E-4761-BAD9-E268D7E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CE1A90C1-B244-4468-ABAC-9452465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6F84EED-ADBF-42A8-8D8F-B63B13A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772E5C4-1A39-449E-A9AE-8DAAE4E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E49AE12-D846-4392-BD6A-B7EE1E0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1609AA1-D584-4462-AC98-53253B5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08FADBA1-F5EF-4E07-82B6-DE1222F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18A21ED3-7AA0-4E84-A9DB-2237B3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2.95)) est = [NAIVE, ols.params[1], TH] errs = [0,…</a:t>
            </a:r>
          </a:p>
        </p:txBody>
      </p:sp>
      <p:sp>
        <p:nvSpPr>
          <p:cNvPr id="1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019916AD-96DA-4055-BA40-26174A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8C0EFB2-A979-4C9F-A2DA-101C361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2.95)) est = [NAIVE, ols.params[1], TH] errs = [0, 1.96…</a:t>
            </a:r>
          </a:p>
        </p:txBody>
      </p:sp>
      <p:sp>
        <p:nvSpPr>
          <p:cNvPr id="1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94419E68-2517-4A01-8DD2-B9AFA1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2F50470-AEC9-43F0-9730-B8E6FA5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99F07BA6-1421-4EE7-AB8B-C07F6F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6BBE81-CBB7-4FD8-ADCC-D81FE75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F67B4A6-9525-483E-937F-81AF877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8BD87C1-70E8-4D02-AB5B-AF8EE1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32" name="media-matte-dml_residuals.png">
            <a:extLst xmlns:a="http://schemas.openxmlformats.org/drawingml/2006/main">
              <a:ext uri="{FF2B5EF4-FFF2-40B4-BE49-F238E27FC236}">
                <a16:creationId xmlns:a16="http://schemas.microsoft.com/office/drawing/2014/main" id="{259342C0-662E-4FEE-8BCD-761BAA66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164cf6e794d21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793426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B28D674-4D8A-43EE-B1F2-CE58DC3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37CE0-7A41-4908-A2C6-41ED47E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the median over splits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79132AC-77F5-41D2-94F6-37BC6B9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2F49AFDF-0966-4C68-9116-44F4FAD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871410C8-688C-4B2F-8BD1-0C314A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82DB71EF-34C3-451B-970F-1D866F1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9299B668-E6F3-4B7D-878B-AACE053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10-causal-machine-learning/demo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session10_dml_demo.py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541CD2E6-9A67-45E1-BAFC-0EF4D20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CC62994-5287-4DB2-B442-2424626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plt.subplots(figsize=(6.2, 2.5))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vals = [r[0] for r in runs]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ax.scatter(vals, [0] * len(vals), s=80, color=CL.accent, zorder=4)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ax.axvline(TH, color=CL.good, lw=2.2)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ax.text(TH, .18, f"median\n{TH:+.2f}", ha="center", color=CL.good, fontsize=9,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fontweight="600")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ax.axvline(0, color=CL.ink, ls="--", lw=1.3)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ax.set_ylim(-.35, .45); ax.set_yticks([])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ax.set_xlabel("estimate from each of five random fold assignments")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ax.grid(axis="y", visible=False)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plt.show()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AB0B2F4D-7C21-4469-8593-09C8E7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8820B78-B094-4474-B0AA-4AA6A93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E9CC6A-9C95-4D3C-8737-E593382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93F8306-22BC-4281-AF4D-B11636B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20902329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24E1034-3998-41D4-8574-994CAA3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77350-0292-401D-A2AE-3D69230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Heterogeneous effects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398653-E521-4F9B-9BBD-3540DD5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1843ABDE-E4AF-44D2-BC44-4026865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ṼY = Y − ℓ̂(X),  ṼD = D − m̂(X)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8C1146AD-9826-4A9D-81EC-21891B5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Heterogeneous effects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38668E7-6287-469C-9EE6-D2AB748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0D215EE-A1AE-49AA-9F8E-932479DA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Heterogeneous effects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39FFCCD-E91F-4608-9208-1A48A5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7285A4B-CC89-4907-9BB2-61F4F3A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179102D-2CDE-4DEA-89EE-4060C56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64253EE-1F4C-413F-BCF7-6F4DAB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FCC455C-E62E-42DB-BAB9-063D084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B5459DC-AA9A-48F2-9D8D-44FE228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E293C6-26C0-4481-8875-EAAE5BE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69E6F1-E324-4BFD-A0F7-4B82A18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A4218F-134F-487C-89C8-D5BDB1F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3349178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17BCA6E-306F-4E8A-8F23-DE1EFE0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CFECD-7DEF-476B-92BA-C89CFC8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question is often for whom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66DFE24-2F6D-4E98-9A93-26BBA4C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02F042CB-B3E2-4025-9EB9-2009D87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tau(x) = Ebig[Y(1) - Y(0) mid X = xbig]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FE13FA7-680B-42CE-880B-EB9B980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Point 2 is Session 04's discipline again, moved inside the tree.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583A499-6F05-4929-875C-BD2640A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6F23C5B-A893-48D9-88D1-8E39C3C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Splits maximise heterogeneity in the treatment effect, not in the outcome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AFC8D94-8582-4C9E-AA03-5E4078A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6EAD294-32F9-4BB6-AD19-629DCF3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26B36D6-84FC-49A2-92E8-83E5965E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46D1707-329D-4C41-8F49-AA840714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EFE1BB5-3354-442E-A448-39A3DC2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D496FA2-9F02-43FD-A17A-830705D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8F89716-5380-40C8-ADDA-C5D619A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7F7BE9-32BB-4076-BA1E-4BD2DCC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AEBE2F-15AC-43C5-87D6-6F622CB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15913749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017D-CB25-4CE8-8453-960BF9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B3C79-2D25-4245-8683-7A27E15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question is often for whom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0BFC04-4814-4527-A086-FEC890B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5E9DCEA-734D-4301-AB2E-2B98EB6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tau(x) = Ebig[Y(1) - Y(0) mid X = xbig]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DA433033-4D57-4C17-BAD2-59CFBD4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Point 2 is Session 04's discipline again, moved inside the tree.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19C4A41-02A4-4F21-8A44-2D8816F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95ACC30-2CB5-49E4-AC91-27BF0D5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Splits maximise heterogeneity in the treatment effect, not in the outcome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CDC474-0121-491B-A07A-7E5356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4845D8E-FF5C-4556-A161-77BE5BC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 folds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E0FD317-F25E-45C3-9F1B-ABCC189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E7DF598-A8CC-4027-A028-1BBE634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nuisances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A5D4E09-B827-496B-9F63-9C29FAA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00FB1DC-4B0F-48AE-878A-343415E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 score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2BB7E00-EE8C-463F-8E04-7997C1C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B129A3-9F19-42DC-A06B-7B3044A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8346E1-5E65-4189-88BA-4E9525A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6655972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7050B8E-D961-43B3-A602-417184D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02A60D-59F8-4BAC-8BBF-0976E59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this does not fix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9F98797-B869-4D4D-B7E5-67C3758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4C0D8B6F-1420-4606-870E-D3498B6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7 · What this does not fix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B7BF7D14-CCB5-431E-9A2B-AE96DB4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0BAFEA96-DA08-47B9-98F4-587CD992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this does not fix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D789503C-0CD6-44DD-A33A-F4D39CB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5011FF62-C88D-423A-85A8-4DD7744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72C4973A-25B2-4EB4-8CA2-DCEF613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F442A5C-1D5E-4E2D-A20E-5C74078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B7F5618-A17F-436F-BDED-EC7E56A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2F2387-269B-485F-A374-7C919DA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Cross-fit outcome and treatment models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2901057B-AC59-45AE-919E-0BD403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CFDBFCAF-4831-4A56-B674-9E703085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F2EA70F1-3535-4101-8A5F-E609BFC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θ and diagnose overlap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7A952A3B-C6DA-40F5-9CCD-2D42233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5FD93A-8C9C-425B-B00A-D9B7D83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2895D-E855-4D85-AA38-983B259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EB8460-6B50-476D-84A6-8CCAF1D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5498810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729E5AE-4B07-490D-AFC4-D72B354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DBDB3-9531-4F9B-9CD8-7E9BCA3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this slide twice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AE1E3E-F1BD-46CD-9F7F-C846E6B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110B7CF6-EF26-4266-933A-5A243CE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15503D17-CFB0-47D1-917D-1A512DB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this slide twice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F695D443-02E5-495D-AC2A-5734B0A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BE9C4572-AB3F-4980-A24F-E596C4A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DML delivers valid inference conditional on the identifying assumptions.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BD86EE4-11C8-40DF-83EA-348C1C0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B575F8F6-93EA-4221-B3AB-B0DB773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Nuisance function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0F803240-E1FE-43F9-B992-7074A95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DC3778B-CBF0-49DB-973A-B6054F1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treatment is confounded by something not in X, DML estimates a precisely-quantified wrong…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5CFC41AF-1ADC-4679-98E4-7958B4FB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26554FD3-CE67-474D-8EFC-2ECB38F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Orthogonality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7427CA2C-2E7B-4CD9-93BB-AD6EB91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DECE5F55-7DFD-4951-BADA-14B2369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treatment is confounded by something not in X, DML estimates a precisely-quantified wrong number —…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A471EA8-5117-4FB4-8076-D3231C0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3F8CBB3-E5CD-42BE-8EFB-F2E2A2A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0056F2-EAD4-44CC-96A5-0AE319A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B304EA4-6309-44B6-97E4-C9CD3484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11012565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FE47B29-8902-43D9-B0C2-7C635E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CDC3B-E594-40AF-91A8-5012836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this slide twice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86E95C-A4AE-48DE-93AF-016C1266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2E961A9-63DF-4778-BB51-3DE5314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73E2468-B753-4A66-B039-FD593F1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DML delivers valid inference conditional on the identifying assumptions.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66585CA-8820-4C98-BAC0-6BD3C1D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1CA71B4-E8D8-4884-89DA-3DE8C3C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treatment is confounded by something not in X, DML estimates a precisely-quantified wrong…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8129D51-4487-4E72-BF1B-36D6BC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034B1A3-409E-4C7D-ACFB-25D9A67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treatment is confounded by something not in X, DML estimates a precisely-quantified wrong number —…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5D0FF601-45EC-49FC-9D33-7AE6445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State identification assumptions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73D3ACC-EF53-420A-86EE-560558F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29C25C-A95F-4ED2-950A-EF07EBF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F24C38-7CCF-4E53-8BF6-F05A6A1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2550786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7AE70D1-6637-426E-A0C6-0D12D44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2AD59-58CB-4623-8AE2-5345F00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means the hard part is not the code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F27ADA-CA3F-4791-BCB2-14D903F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workflow-edge-0"/>
          <p:cNvCxnSpPr/>
          <p:nvPr/>
        </p:nvCxnSpPr>
        <p:spPr>
          <a:xfrm xmlns:a="http://schemas.openxmlformats.org/drawingml/2006/main">
            <a:off x="25146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8" name="workflow-edge-1"/>
          <p:cNvCxnSpPr/>
          <p:nvPr/>
        </p:nvCxnSpPr>
        <p:spPr>
          <a:xfrm xmlns:a="http://schemas.openxmlformats.org/drawingml/2006/main">
            <a:off x="4914900" y="37719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80E804C3-4F8E-4761-BAD9-E268D7E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CE1A90C1-B244-4468-ABAC-9452465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from X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6F84EED-ADBF-42A8-8D8F-B63B13A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772E5C4-1A39-449E-A9AE-8DAAE4E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Remove predictions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E49AE12-D846-4392-BD6A-B7EE1E0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2057400" cy="40005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1609AA1-D584-4462-AC98-53253B5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18669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slope</a:t>
            </a:r>
          </a:p>
        </p:txBody>
      </p:sp>
      <p:sp>
        <p:nvSpPr>
          <p:cNvPr id="1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08FADBA1-F5EF-4E07-82B6-DE1222F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18A21ED3-7AA0-4E84-A9DB-2237B3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code is thirty lines and you have just read all of them</a:t>
            </a:r>
          </a:p>
        </p:txBody>
      </p:sp>
      <p:sp>
        <p:nvSpPr>
          <p:cNvPr id="1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019916AD-96DA-4055-BA40-26174A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68C0EFB2-A979-4C9F-A2DA-101C361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argument — why X contains everything that drives both D and Y — is the paper</a:t>
            </a:r>
          </a:p>
        </p:txBody>
      </p:sp>
      <p:sp>
        <p:nvSpPr>
          <p:cNvPr id="1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94419E68-2517-4A01-8DD2-B9AFA1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2F50470-AEC9-43F0-9730-B8E6FA5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That argument is made with institutional knowledge, not with cross-validation</a:t>
            </a:r>
          </a:p>
        </p:txBody>
      </p:sp>
      <p:sp>
        <p:nvSpPr>
          <p:cNvPr id="1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99F07BA6-1421-4EE7-AB8B-C07F6F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06BBE81-CBB7-4FD8-ADCC-D81FE75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F67B4A6-9525-483E-937F-81AF877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8BD87C1-70E8-4D02-AB5B-AF8EE1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32" name="media-matte-dml_residuals.png">
            <a:extLst xmlns:a="http://schemas.openxmlformats.org/drawingml/2006/main">
              <a:ext uri="{FF2B5EF4-FFF2-40B4-BE49-F238E27FC236}">
                <a16:creationId xmlns:a16="http://schemas.microsoft.com/office/drawing/2014/main" id="{D03B73CF-651C-411E-AD3C-E8814043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0b175b9304129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793426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B28D674-4D8A-43EE-B1F2-CE58DC3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37CE0-7A41-4908-A2C6-41ED47E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79132AC-77F5-41D2-94F6-37BC6B9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2F49AFDF-0966-4C68-9116-44F4FAD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871410C8-688C-4B2F-8BD1-0C314A8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82DB71EF-34C3-451B-970F-1D866F1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9299B668-E6F3-4B7D-878B-AACE053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10-causal-machine-learning/demo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session10_dml_demo.py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541CD2E6-9A67-45E1-BAFC-0EF4D20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CC62994-5287-4DB2-B442-2424626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sklearn.model_selection import KFold, cross_val_predict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sklearn.ensemble import RandomForestRegressor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rng=np.random.default_rng(60033); X=rng.normal(size=(80,3))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D=X[:,0]+rng.normal(size=80); Y=2*D+X[:,1]+rng.normal(size=80)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cv=KFold(5,shuffle=True,random_state=60033)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ry=Y-cross_val_predict(RandomForestRegressor(random_state=1),X,Y,cv=cv)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rd=D-cross_val_predict(RandomForestRegressor(random_state=2),X,D,cv=cv)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print(rd@ry/(rd@rd))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AB0B2F4D-7C21-4469-8593-09C8E7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8820B78-B094-4474-B0AA-4AA6A93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E9CC6A-9C95-4D3C-8737-E593382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93F8306-22BC-4281-AF4D-B11636B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20902329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C64FAA85-0962-4DA7-A3FF-62EE9B53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C3C8E652-D8D9-4422-8523-CB872CB1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3FD4C575-F41A-4BA6-9836-08956B8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ECF3D874-01F6-453D-9D86-6A45728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B34878ED-D84B-4823-BD8B-34F382F2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sophisticated learner cannot recover a treatment effect when treated and untreated units never overlap.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20236F39-B835-4353-A88F-141E349D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DBF39138-AB2A-4DDB-B82D-B7C852E2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Overlap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DCC33DF-FE7E-4597-8B44-8009F0C6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5E358D-C61F-4EB3-8A35-D45B9DC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865B604-011E-4E54-8A2A-A009E5A0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132047751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7765FE5-F296-40E5-B12E-4D9B0C2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F672D-90A1-4FDE-BDB1-834F3E05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Now, the practice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A6E696E-BA28-4ECB-8DE5-EE6B896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DCA0E2E5-AF6F-4C68-800A-EB783C1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E23022E0-7466-48A6-90DA-33D91F1C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Ninety minutes, in your groups. You will estimate one treatment effect three ways — naive, linear controls, and cross-fitted DML — check overlap first, and write the paragraph defending conditional ignorability. That paragraph carries the marks.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CA89D65D-21F3-4D75-AB2A-350FBF3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11867700-9618-4146-AEFB-FE2A3F2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354C0BF9-7BAB-4820-991C-C95CB52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sophisticated learner cannot recover a treatment effect when treated and untreated units never overlap.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48573504-095B-48C4-B8D9-CB81529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2FB7F7B-DA3C-4886-BB7B-246C8B1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24AA042-C4BC-4981-B79F-4268EB4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301E1FA-A0DF-4CBE-AEA2-A8D96B1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94979394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7BFC4CC4-353E-45FC-8AAE-5B93142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53E056-C9EB-47C3-99C4-E3362D7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7B494A3-ACAD-4FBD-B531-0C666021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1C0FAFD7-D7B8-4A5B-9881-0A37233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C9D77A14-D141-4532-8790-D21683C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Bodory, Huber &amp; Lafférs (2022) — Dynamic Treatment Effects by DML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00A4E4DA-2A67-41DE-AB48-80F871B2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orthogonal scores and cross-fitting in the Job Corps study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ACBB15B5-916B-4FA0-A87A-03E5DB0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https://doi.org/10.1093/ectj/utac018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81FEBBF5-21B6-4706-9C7A-0769356F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B5AE8187-FC2F-4AB8-855D-960D54D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D54949B0-1D21-48B0-8ED6-A51BF40C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10.7910/DVN/FS0KBA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F73B68BC-504E-4E06-86C9-F4FFD237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Job Corps application data and files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504FB5B6-B0FE-4D2E-B64F-ABE0E15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https://doi.org/10.7910/DVN/FS0KBA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C71FE20C-38BD-4B85-B667-732BA66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75F2D85B-758E-44A2-8EFB-BFA03830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2F40CD06-F3E5-46BF-98C5-4FDFBD6B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 sections on flexible prediction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769FBC8A-9526-4E13-BFC6-49803ADE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background for nuisance learners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3D87AFA5-8330-4499-BA45-EBD57419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2F7247-9435-45B8-8293-CCB36CE3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FF8AEB2-28F2-400A-B1AD-A28D4CF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70C7198-1C49-4E0A-8E5A-49E8059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24013280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7765FE5-F296-40E5-B12E-4D9B0C2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F672D-90A1-4FDE-BDB1-834F3E05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A6E696E-BA28-4ECB-8DE5-EE6B896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DCA0E2E5-AF6F-4C68-800A-EB783C1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E23022E0-7466-48A6-90DA-33D91F1C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Lead with the identification argument and overlap; the algorithm comes second.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CA89D65D-21F3-4D75-AB2A-350FBF3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11867700-9618-4146-AEFB-FE2A3F2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354C0BF9-7BAB-4820-991C-C95CB52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sophisticated learner cannot recover a treatment effect when treated and untreated units never overlap.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48573504-095B-48C4-B8D9-CB81529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2FB7F7B-DA3C-4886-BB7B-246C8B1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24AA042-C4BC-4981-B79F-4268EB4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301E1FA-A0DF-4CBE-AEA2-A8D96B1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94979394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7050B8E-D961-43B3-A602-417184D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02A60D-59F8-4BAC-8BBF-0976E59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9F98797-B869-4D4D-B7E5-67C3758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4C0D8B6F-1420-4606-870E-D3498B6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sophisticated learner cannot recover a treatment effect when treated and untreated units never overlap.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B7BF7D14-CCB5-431E-9A2B-AE96DB4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0BAFEA96-DA08-47B9-98F4-587CD992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Consistency and no interference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D789503C-0CD6-44DD-A33A-F4D39CB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5011FF62-C88D-423A-85A8-4DD7744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72C4973A-25B2-4EB4-8CA2-DCEF613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Conditional ignorability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F442A5C-1D5E-4E2D-A20E-5C74078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CB7F5618-A17F-436F-BDED-EC7E56A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2F2387-269B-485F-A374-7C919DA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Overlap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2901057B-AC59-45AE-919E-0BD403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CFDBFCAF-4831-4A56-B674-9E703085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F2EA70F1-3535-4101-8A5F-E609BFC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Nuisance learners generalise out of fold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7A952A3B-C6DA-40F5-9CCD-2D42233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F5FD93A-8C9C-425B-B00A-D9B7D83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2895D-E855-4D85-AA38-983B259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EB8460-6B50-476D-84A6-8CCAF1D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54988104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C9E02A7F-8344-41FE-A830-7D28289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E1CA07-CFC9-44BC-8800-1CD9FCEB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dynamic treatment effect with DML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07AC4B-5909-45ED-8246-4B97648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05403382-86ED-47E6-9CB5-164BD8EA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estimate, compare it with simpler estimates, and explain disagreement productively.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B4E865D6-825C-47A1-AEC7-FEB327F4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2E275C1E-2B16-4535-BECC-BB56D3B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treatment sequence and estimand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AB3FFC72-2CE1-4833-A4B4-B32F5F0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D3826FFC-D200-4F61-B7FB-A3507618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article estimate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3480DB88-6D58-42C4-9C54-F05E3DD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D0D5AEE3-8F56-4106-B63D-23D38AD4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raw, adjusted, and cross-fitted DML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B39654F9-8452-43E6-85AA-B8096A3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E86D250B-ECDF-4FFA-BD89-927FFD7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Change nuisance learners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5FF15D98-BECD-4FF6-9EA4-5CF3174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38AB6008-9B11-4876-BEFD-1701E52E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an unmeasured confounder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B52A3A6A-2561-46EF-AB0C-88CDB22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69441136-D4E1-44EF-B22D-A7A0BB1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1FED9FE8-0B13-4DDF-8A7E-134E035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DECDD8F-F565-44B2-822E-EA04A34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747D94-5E6F-42A4-B46D-1D867ED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97F3FB7-3281-44E4-BD2D-124099B7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2063743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10 Lecture</dc:title>
  <dcterms:created xsi:type="dcterms:W3CDTF">2026-08-23T23:39:31.4620000Z</dcterms:created>
  <dcterms:modified xsi:type="dcterms:W3CDTF">2026-08-23T23:39:31.4620000Z</dcterms:modified>
</coreProperties>
</file>