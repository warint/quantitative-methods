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 anchor="t"/>
          <a:lstStyle>
            <a:lvl1pPr algn="l">
              <a:defRPr sz="2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50000"/>
            <a:ext cx="7772400" cy="70000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2-practice/README.md" TargetMode="External" /><Relationship Id="rId3" Type="http://schemas.openxmlformats.org/officeDocument/2006/relationships/hyperlink" Target="01-lecture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Linear Regression: Inference, Diagnostics, Interpretation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03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Your coefficient has a standard error. When does it mean anything?</a:t>
            </a:r>
          </a:p>
        </p:txBody>
      </p:sp>
    </p:spTree>
  </p:cSld>
</p:sld>
</file>

<file path=ppt/slides/slide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Outline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0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b="1" /><a:t>1</a:t></a:r></a:p></a:txBody></a:tc><a:tc><a:txBody><a:bodyPr /><a:lstStyle /><a:p><a:pPr lvl="0" indent="0" marL="0"><a:buNone /></a:pPr><a:r><a:rPr /><a:t>Where we are, and what this adds</a:t></a:r></a:p></a:txBody></a:tc></a:tr><a:tr h="0"><a:tc><a:txBody><a:bodyPr /><a:lstStyle /><a:p><a:pPr lvl="0" indent="0" marL="0"><a:buNone /></a:pPr><a:r><a:rPr b="1" /><a:t>2</a:t></a:r></a:p></a:txBody></a:tc><a:tc><a:txBody><a:bodyPr /><a:lstStyle /><a:p><a:pPr lvl="0" indent="0" marL="0"><a:buNone /></a:pPr><a:r><a:rPr /><a:t>The sampling distribution of </a:t></a:r><a14:m><m:oMath xmlns:m="http://schemas.openxmlformats.org/officeDocument/2006/math"><m:acc><m:accPr><m:chr m:val="̂" /></m:accPr><m:e><m:r><m:t>β</m:t></m:r></m:e></m:acc></m:oMath></a14:m></a:p></a:txBody></a:tc></a:tr><a:tr h="0"><a:tc><a:txBody><a:bodyPr /><a:lstStyle /><a:p><a:pPr lvl="0" indent="0" marL="0"><a:buNone /></a:pPr><a:r><a:rPr b="1" /><a:t>3</a:t></a:r></a:p></a:txBody></a:tc><a:tc><a:txBody><a:bodyPr /><a:lstStyle /><a:p><a:pPr lvl="0" indent="0" marL="0"><a:buNone /></a:pPr><a:r><a:rPr /><a:t>Gauss–Markov, and its caveat</a:t></a:r></a:p></a:txBody></a:tc></a:tr><a:tr h="0"><a:tc><a:txBody><a:bodyPr /><a:lstStyle /><a:p><a:pPr lvl="0" indent="0" marL="0"><a:buNone /></a:pPr><a:r><a:rPr b="1" /><a:t>4</a:t></a:r></a:p></a:txBody></a:tc><a:tc><a:txBody><a:bodyPr /><a:lstStyle /><a:p><a:pPr lvl="0" indent="0" marL="0"><a:buNone /></a:pPr><a:r><a:rPr /><a:t>When homoskedasticity fails</a:t></a:r></a:p></a:txBody></a:tc></a:tr><a:tr h="0"><a:tc><a:txBody><a:bodyPr /><a:lstStyle /><a:p><a:pPr lvl="0" indent="0" marL="0"><a:buNone /></a:pPr><a:r><a:rPr b="1" /><a:t>5</a:t></a:r></a:p></a:txBody></a:tc><a:tc><a:txBody><a:bodyPr /><a:lstStyle /><a:p><a:pPr lvl="0" indent="0" marL="0"><a:buNone /></a:pPr><a:r><a:rPr /><a:t>Three standard errors, one coefficient</a:t></a:r></a:p></a:txBody></a:tc></a:tr><a:tr h="0"><a:tc><a:txBody><a:bodyPr /><a:lstStyle /><a:p><a:pPr lvl="0" indent="0" marL="0"><a:buNone /></a:pPr><a:r><a:rPr b="1" /><a:t>6</a:t></a:r></a:p></a:txBody></a:tc><a:tc><a:txBody><a:bodyPr /><a:lstStyle /><a:p><a:pPr lvl="0" indent="0" marL="0"><a:buNone /></a:pPr><a:r><a:rPr /><a:t>Omitted variable bias — signed in advance</a:t></a:r></a:p></a:txBody></a:tc></a:tr><a:tr h="0"><a:tc><a:txBody><a:bodyPr /><a:lstStyle /><a:p><a:pPr lvl="0" indent="0" marL="0"><a:buNone /></a:pPr><a:r><a:rPr b="1" /><a:t>7</a:t></a:r></a:p></a:txBody></a:tc><a:tc><a:txBody><a:bodyPr /><a:lstStyle /><a:p><a:pPr lvl="0" indent="0" marL="0"><a:buNone /></a:pPr><a:r><a:rPr /><a:t>What a coefficient identifies</a:t></a:r></a:p></a:txBody></a:tc></a:tr><a:tr h="0"><a:tc><a:txBody><a:bodyPr /><a:lstStyle /><a:p><a:pPr lvl="0" indent="0" marL="0"><a:buNone /></a:pPr><a:r><a:rPr b="1" /><a:t>8</a:t></a:r></a:p></a:txBody></a:tc><a:tc><a:txBody><a:bodyPr /><a:lstStyle /><a:p><a:pPr lvl="0" indent="0" marL="0"><a:buNone /></a:pPr><a:r><a:rPr /><a:t>Key takeaways</a:t></a:r></a:p></a:txBody></a:tc></a:tr></a:tbl></a:graphicData></a:graphic></p:graphicFrame></p:spTree></p:cSld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Decompose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β</m:t>
                        </m:r>
                      </m:e>
                    </m:acc>
                  </m:oMath>
                </a14:m>
                <a:r>
                  <a:rPr/>
                  <a:t> into truth plus noise, and see what each assumption buys</a:t>
                </a:r>
              </a:p>
              <a:p>
                <a:pPr lvl="0"/>
                <a:r>
                  <a:rPr/>
                  <a:t>Read the </a:t>
                </a:r>
                <a:r>
                  <a:rPr b="1"/>
                  <a:t>four levers</a:t>
                </a:r>
                <a:r>
                  <a:rPr/>
                  <a:t> in the variance of a single coefficient</a:t>
                </a:r>
              </a:p>
              <a:p>
                <a:pPr lvl="0"/>
                <a:r>
                  <a:rPr/>
                  <a:t>State </a:t>
                </a:r>
                <a:r>
                  <a:rPr b="1"/>
                  <a:t>Gauss–Markov</a:t>
                </a:r>
                <a:r>
                  <a:rPr/>
                  <a:t> and say precisely where it stops applying</a:t>
                </a:r>
              </a:p>
              <a:p>
                <a:pPr lvl="0"/>
                <a:r>
                  <a:rPr/>
                  <a:t>Compute classical, </a:t>
                </a:r>
                <a:r>
                  <a:rPr b="1"/>
                  <a:t>HC1</a:t>
                </a:r>
                <a:r>
                  <a:rPr/>
                  <a:t> and </a:t>
                </a:r>
                <a:r>
                  <a:rPr b="1"/>
                  <a:t>cluster-robust</a:t>
                </a:r>
                <a:r>
                  <a:rPr/>
                  <a:t> standard errors, and choose between them</a:t>
                </a:r>
              </a:p>
              <a:p>
                <a:pPr lvl="0"/>
                <a:r>
                  <a:rPr b="1"/>
                  <a:t>Sign an omitted-variable bias before estimating</a:t>
                </a:r>
                <a:r>
                  <a:rPr/>
                  <a:t>, then check the prediction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What this adds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02 gave you a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now fit a line and say exactly what it optimises.</a:t>
            </a:r>
          </a:p>
          <a:p>
            <a:pPr lvl="0" indent="0" marL="0">
              <a:buNone/>
            </a:pPr>
            <a:r>
              <a:rPr/>
              <a:t>What you cannot yet say is whether that number would survive a different sample — and therefore whether it means anything at all.</a:t>
            </a:r>
          </a:p>
        </p:txBody>
      </p:sp>
    </p:spTree>
  </p:cSld>
</p:sld>
</file>

<file path=ppt/slides/slide7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What today adds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Session 02</a:t></a:r></a:p></a:txBody><a:tcPr /></a:tc><a:tc><a:txBody><a:bodyPr /><a:lstStyle /><a:p><a:pPr lvl="0" indent="0" marL="0"><a:buNone /></a:pPr><a:r><a:rPr /><a:t>Session 03</a:t></a:r></a:p></a:txBody><a:tcPr /></a:tc></a:tr><a:tr h="0"><a:tc><a:txBody><a:bodyPr /><a:lstStyle /><a:p><a:pPr lvl="0" indent="0" marL="0"><a:buNone /></a:pPr><a14:m><m:oMath xmlns:m="http://schemas.openxmlformats.org/officeDocument/2006/math"><m:acc><m:accPr><m:chr m:val="̂" /></m:accPr><m:e><m:r><m:t>β</m:t></m:r></m:e></m:acc></m:oMath></a14:m></a:p></a:txBody></a:tc><a:tc><a:txBody><a:bodyPr /><a:lstStyle /><a:p><a:pPr lvl="0" indent="0" marL="0"><a:buNone /></a:pPr><a:r><a:rPr /><a:t>a standard error that is actually correct</a:t></a:r></a:p></a:txBody></a:tc></a:tr><a:tr h="0"><a:tc><a:txBody><a:bodyPr /><a:lstStyle /><a:p><a:pPr lvl="0" indent="0" marL="0"><a:buNone /></a:pPr><a:r><a:rPr /><a:t>The projection</a:t></a:r></a:p></a:txBody></a:tc><a:tc><a:txBody><a:bodyPr /><a:lstStyle /><a:p><a:pPr lvl="0" indent="0" marL="0"><a:buNone /></a:pPr><a:r><a:rPr /><a:t>the </a:t></a:r><a:r><a:rPr i="1" /><a:t>sampling distribution</a:t></a:r><a:r><a:rPr /><a:t> of the projection</a:t></a:r></a:p></a:txBody></a:tc></a:tr><a:tr h="0"><a:tc><a:txBody><a:bodyPr /><a:lstStyle /><a:p><a:pPr lvl="0" indent="0" marL="0"><a:buNone /></a:pPr><a:r><a:rPr /><a:t>“Controlling for” as geometry</a:t></a:r></a:p></a:txBody></a:tc><a:tc><a:txBody><a:bodyPr /><a:lstStyle /><a:p><a:pPr lvl="0" indent="0" marL="0"><a:buNone /></a:pPr><a:r><a:rPr /><a:t>what happens when you control for the </a:t></a:r><a:r><a:rPr b="1" /><a:t>wrong</a:t></a:r><a:r><a:rPr /><a:t> things</a:t></a:r></a:p></a:txBody></a:tc></a:tr><a:tr h="0"><a:tc><a:txBody><a:bodyPr /><a:lstStyle /><a:p><a:pPr lvl="0" indent="0" marL="0"><a:buNone /></a:pPr><a:r><a:rPr /><a:t>One dataset</a:t></a:r></a:p></a:txBody></a:tc><a:tc><a:txBody><a:bodyPr /><a:lstStyle /><a:p><a:pPr lvl="0" indent="0" marL="0"><a:buNone /></a:pPr><a:r><a:rPr /><a:t>the thought experiment of many datasets</a:t></a:r></a:p></a:txBody></a:tc></a:tr></a:tbl></a:graphicData></a:graphic></p:graphicFrame></p:spTree></p:cSld>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02 was deterministic linear algebra. </a:t>
            </a:r>
            <a:r>
              <a:rPr b="1"/>
              <a:t>Session 03 is where randomness enters</a:t>
            </a:r>
            <a:r>
              <a:rPr/>
              <a:t> — and almost everything that goes wrong in applied work goes wrong here.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The sampling distribution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decomposition that is all of inference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Substitute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  <a:r>
                  <a:rPr/>
                  <a:t> into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⊤</m:t>
                                </m:r>
                              </m:sup>
                            </m:sSup>
                            <m:r>
                              <m:t>X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r>
                      <m:t>y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β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β</m:t>
                      </m:r>
                      <m:r>
                        <m:rPr>
                          <m:sty m:val="p"/>
                        </m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p>
                                <m:e>
                                  <m: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p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ε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Truth, plus a term that is pure noise. Everything that follows depends </a:t>
                </a:r>
                <a:r>
                  <a:rPr b="1"/>
                  <a:t>only</a:t>
                </a:r>
                <a:r>
                  <a:rPr/>
                  <a:t> on what you are willing to assume about </a:t>
                </a:r>
                <a14:m>
                  <m:oMath xmlns:m="http://schemas.openxmlformats.org/officeDocument/2006/math">
                    <m:r>
                      <m:t>ε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Unbiasedness is cheap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β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β</m:t>
                      </m:r>
                      <m:r>
                        <m:rPr>
                          <m:sty m:val="p"/>
                        </m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p>
                                <m:e>
                                  <m: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p>
                              <m:r>
                                <m:t>X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ε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β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using only </a:t>
                </a:r>
                <a:r>
                  <a:rPr b="1"/>
                  <a:t>strict exogeneity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Note what is </a:t>
                </a:r>
                <a:r>
                  <a:rPr i="1"/>
                  <a:t>not</a:t>
                </a:r>
                <a:r>
                  <a:rPr/>
                  <a:t> needed: no homoskedasticity, no normality, no independence. Unbiasedness is a weak requirement — which is why it is a weak reassurance.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variance, and its four levers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Under homoskedasticity, for one coefficient: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V</m:t>
                      </m:r>
                      <m:r>
                        <m:rPr>
                          <m:sty m:val="p"/>
                        </m:rPr>
                        <m:t>a</m:t>
                      </m:r>
                      <m:r>
                        <m:rPr>
                          <m:sty m:val="p"/>
                        </m:rP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rPr>
                              <m:sty m:val="p"/>
                            </m:rPr>
                            <m:t>V</m:t>
                          </m:r>
                          <m:r>
                            <m:rPr>
                              <m:sty m:val="p"/>
                            </m:rPr>
                            <m:t>a</m:t>
                          </m:r>
                          <m:r>
                            <m:rPr>
                              <m:sty m:val="p"/>
                            </m:rPr>
                            <m:t>r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m:t>⋅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bSup>
                                <m:e>
                                  <m:r>
                                    <m:t>R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— </a:t>
                </a:r>
                <a:r>
                  <a:rPr b="1"/>
                  <a:t>noise</a:t>
                </a:r>
                <a:r>
                  <a:rPr/>
                  <a:t> you cannot reduce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— </a:t>
                </a:r>
                <a:r>
                  <a:rPr b="1"/>
                  <a:t>sample size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V</m:t>
                    </m:r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— </a:t>
                </a:r>
                <a:r>
                  <a:rPr b="1"/>
                  <a:t>variation in the regressor</a:t>
                </a:r>
                <a:r>
                  <a:rPr/>
                  <a:t>: no variation, no estimate</a:t>
                </a:r>
              </a:p>
              <a:p>
                <a:pPr lvl="0"/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sSubSup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/>
                  <a:t> — </a:t>
                </a:r>
                <a:r>
                  <a:rPr b="1"/>
                  <a:t>redundancy</a:t>
                </a:r>
                <a:r>
                  <a:rPr/>
                  <a:t>, the variance inflation factor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redundancy costs</a:t>
            </a:r>
          </a:p>
        </p:txBody>
      </p:sp>
      <p:pic>
        <p:nvPicPr>
          <p:cNvPr descr="slides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15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price of collinearity — and exactly what regularisation in Session 05 proposes to pay </a:t>
            </a:r>
            <a:r>
              <a:rPr b="1"/>
              <a:t>differently</a:t>
            </a:r>
            <a:r>
              <a:rPr/>
              <a:t>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Gauss–Markov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1270000">
                  <a:buNone/>
                </a:pPr>
                <a:r>
                  <a:rPr sz="2000"/>
                  <a:t>Under assumptions 1–4,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β</m:t>
                            </m:r>
                          </m:e>
                        </m:acc>
                      </m:e>
                      <m:sub>
                        <m:r>
                          <m:t>O</m:t>
                        </m:r>
                        <m:r>
                          <m:t>L</m:t>
                        </m:r>
                        <m:r>
                          <m:t>S</m:t>
                        </m:r>
                      </m:sub>
                    </m:sSub>
                  </m:oMath>
                </a14:m>
                <a:r>
                  <a:rPr sz="2000"/>
                  <a:t> has the </a:t>
                </a:r>
                <a:r>
                  <a:rPr sz="2000" b="1"/>
                  <a:t>smallest variance among linear unbiased estimators</a:t>
                </a:r>
                <a:r>
                  <a:rPr sz="2000"/>
                  <a:t>.</a:t>
                </a:r>
              </a:p>
              <a:p>
                <a:pPr lvl="0" indent="0" marL="0">
                  <a:buNone/>
                </a:pPr>
                <a:r>
                  <a:rPr i="1"/>
                  <a:t>Sketch.</a:t>
                </a:r>
                <a:r>
                  <a:rPr/>
                  <a:t> Any linear unbiased </a:t>
                </a:r>
                <a14:m>
                  <m:oMath xmlns:m="http://schemas.openxmlformats.org/officeDocument/2006/math">
                    <m:acc>
                      <m:accPr>
                        <m:chr m:val="̃"/>
                      </m:accPr>
                      <m:e>
                        <m: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t>y</m:t>
                    </m:r>
                  </m:oMath>
                </a14:m>
                <a:r>
                  <a:rPr/>
                  <a:t> has </a:t>
                </a:r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⊤</m:t>
                                </m:r>
                              </m:sup>
                            </m:sSup>
                            <m:r>
                              <m:t>X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D</m:t>
                    </m:r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V</m:t>
                    </m:r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β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⊤</m:t>
                                    </m:r>
                                  </m:sup>
                                </m:sSup>
                                <m: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t>D</m:t>
                        </m:r>
                        <m:sSup>
                          <m:e>
                            <m: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⊤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m:t>≽</m:t>
                    </m:r>
                    <m:r>
                      <m:rPr>
                        <m:sty m:val="p"/>
                      </m:rPr>
                      <m:t>V</m:t>
                    </m:r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r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β</m:t>
                            </m:r>
                          </m:e>
                        </m:acc>
                      </m:e>
                    </m:d>
                  </m:oMath>
                </a14:m>
                <a:r>
                  <a:rPr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◼</m:t>
                    </m:r>
                  </m:oMath>
                </a14:m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 middle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</a:t>
            </a:r>
            <a:r>
              <a:rPr/>
              <a:t>est </a:t>
            </a:r>
            <a:r>
              <a:rPr b="1"/>
              <a:t>L</a:t>
            </a:r>
            <a:r>
              <a:rPr/>
              <a:t>inear </a:t>
            </a:r>
            <a:r>
              <a:rPr b="1"/>
              <a:t>U</a:t>
            </a:r>
            <a:r>
              <a:rPr/>
              <a:t>nbiased </a:t>
            </a:r>
            <a:r>
              <a:rPr b="1"/>
              <a:t>E</a:t>
            </a:r>
            <a:r>
              <a:rPr/>
              <a:t>stimator.</a:t>
            </a:r>
          </a:p>
          <a:p>
            <a:pPr lvl="0" indent="0" marL="0">
              <a:buNone/>
            </a:pPr>
            <a:r>
              <a:rPr/>
              <a:t>The guarantee holds only </a:t>
            </a:r>
            <a:r>
              <a:rPr b="1"/>
              <a:t>within the class of unbiased estimators</a:t>
            </a:r>
            <a:r>
              <a:rPr/>
              <a:t>. Sessions 04 and 05 show that accepting bias deliberately can lower total error. Gauss–Markov does not forbid that — it simply does not apply.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When assumption 4 fails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the residuals first</a:t>
            </a:r>
          </a:p>
        </p:txBody>
      </p:sp>
      <p:pic>
        <p:nvPicPr>
          <p:cNvPr descr="slides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43000" y="1193800"/>
            <a:ext cx="685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are looking for a </a:t>
            </a:r>
            <a:r>
              <a:rPr b="1"/>
              <a:t>shape</a:t>
            </a:r>
            <a:r>
              <a:rPr/>
              <a:t>, not running a test. In this panel the error variance scales with country size.</a:t>
            </a:r>
          </a:p>
        </p:txBody>
      </p:sp>
    </p:spTree>
  </p:cSld>
</p:sld>
</file>

<file path=ppt/slides/slide21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The sandwich is always correct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14:m><m:oMathPara xmlns:m="http://schemas.openxmlformats.org/officeDocument/2006/math"><m:oMathParaPr><m:jc m:val="center" /></m:oMathParaPr><m:oMath><m:r><m:rPr><m:sty m:val="p" /></m:rPr><m:t>V</m:t></m:r><m:r><m:rPr><m:sty m:val="p" /></m:rPr><m:t>a</m:t></m:r><m:r><m:rPr><m:sty m:val="p" /></m:rPr><m:t>r</m:t></m:r><m:d><m:dPr><m:begChr m:val="(" /><m:sepChr m:val="" /><m:endChr m:val=")" /><m:grow /></m:dPr><m:e><m:acc><m:accPr><m:chr m:val="̂" /></m:accPr><m:e><m:r><m:t>β</m:t></m:r></m:e></m:acc><m:r><m:rPr><m:sty m:val="p" /></m:rPr><m:t>∣</m:t></m:r><m:r><m:t>X</m:t></m:r></m:e></m:d><m:r><m:rPr><m:sty m:val="p" /></m:rPr><m:t>=</m:t></m:r><m:sSup><m:e><m:d><m:dPr><m:begChr m:val="(" /><m:sepChr m:val="" /><m:endChr m:val=")" /><m:grow /></m:dPr><m:e><m:sSup><m:e><m:r><m:t>X</m:t></m:r></m:e><m:sup><m:r><m:rPr><m:sty m:val="p" /></m:rPr><m:t>⊤</m:t></m:r></m:sup></m:sSup><m:r><m:t>X</m:t></m:r></m:e></m:d></m:e><m:sup><m:r><m:rPr><m:sty m:val="p" /></m:rPr><m:t>−</m:t></m:r><m:r><m:t>1</m:t></m:r></m:sup></m:sSup><m:d><m:dPr><m:begChr m:val="(" /><m:sepChr m:val="" /><m:endChr m:val=")" /><m:grow /></m:dPr><m:e><m:sSup><m:e><m:r><m:t>X</m:t></m:r></m:e><m:sup><m:r><m:rPr><m:sty m:val="p" /></m:rPr><m:t>⊤</m:t></m:r></m:sup></m:sSup><m:r><m:t>Ω</m:t></m:r><m:r><m:t>X</m:t></m:r></m:e></m:d><m:sSup><m:e><m:d><m:dPr><m:begChr m:val="(" /><m:sepChr m:val="" /><m:endChr m:val=")" /><m:grow /></m:dPr><m:e><m:sSup><m:e><m:r><m:t>X</m:t></m:r></m:e><m:sup><m:r><m:rPr><m:sty m:val="p" /></m:rPr><m:t>⊤</m:t></m:r></m:sup></m:sSup><m:r><m:t>X</m:t></m:r></m:e></m:d></m:e><m:sup><m:r><m:rPr><m:sty m:val="p" /></m:rPr><m:t>−</m:t></m:r><m:r><m:t>1</m:t></m:r></m:sup></m:sSup><m:r><m:rPr><m:sty m:val="p" /></m:rPr><m:t>,</m:t></m:r><m:r><m:t>  </m:t></m:r><m:r><m:t>Ω</m:t></m:r><m:r><m:rPr><m:sty m:val="p" /></m:rPr><m:t>=</m:t></m:r><m:r><m:rPr><m:sty m:val="p" /></m:rPr><m:t>V</m:t></m:r><m:r><m:rPr><m:sty m:val="p" /></m:rPr><m:t>a</m:t></m:r><m:r><m:rPr><m:sty m:val="p" /></m:rPr><m:t>r</m:t></m:r><m:d><m:dPr><m:begChr m:val="(" /><m:sepChr m:val="" /><m:endChr m:val=")" /><m:grow /></m:dPr><m:e><m:r><m:t>ε</m:t></m:r><m:r><m:rPr><m:sty m:val="p" /></m:rPr><m:t>∣</m:t></m:r><m:r><m:t>X</m:t></m:r></m:e></m:d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2552700" /><a:gridCol w="2552700" /></a:tblGrid><a:tr h="0"><a:tc><a:txBody><a:bodyPr /><a:lstStyle /><a:p><a:pPr lvl="0" indent="0" marL="0"><a:buNone /></a:pPr><a:r><a:rPr /><a:t>Guess at </a:t></a:r><a14:m><m:oMath xmlns:m="http://schemas.openxmlformats.org/officeDocument/2006/math"><m:r><m:t>Ω</m:t></m:r></m:oMath></a14:m></a:p></a:txBody><a:tcPr /></a:tc><a:tc><a:txBody><a:bodyPr /><a:lstStyle /><a:p><a:pPr lvl="0" indent="0" marL="0"><a:buNone /></a:pPr><a:r><a:rPr /><a:t>When</a:t></a:r></a:p></a:txBody><a:tcPr /></a:tc></a:tr><a:tr h="0"><a:tc><a:txBody><a:bodyPr /><a:lstStyle /><a:p><a:pPr lvl="0" indent="0" marL="0"><a:buNone /></a:pPr><a14:m><m:oMath xmlns:m="http://schemas.openxmlformats.org/officeDocument/2006/math"><m:sSup><m:e><m:r><m:t>σ</m:t></m:r></m:e><m:sup><m:r><m:t>2</m:t></m:r></m:sup></m:sSup><m:r><m:t>I</m:t></m:r></m:oMath></a14:m><a:r><a:rPr /><a:t> — classical</a:t></a:r></a:p></a:txBody></a:tc><a:tc><a:txBody><a:bodyPr /><a:lstStyle /><a:p><a:pPr lvl="0" indent="0" marL="0"><a:buNone /></a:pPr><a:r><a:rPr /><a:t>essentially never with a real panel</a:t></a:r></a:p></a:txBody></a:tc></a:tr><a:tr h="0"><a:tc><a:txBody><a:bodyPr /><a:lstStyle /><a:p><a:pPr lvl="0" indent="0" marL="0"><a:buNone /></a:pPr><a14:m><m:oMath xmlns:m="http://schemas.openxmlformats.org/officeDocument/2006/math"><m:r><m:rPr><m:sty m:val="p" /></m:rPr><m:t>d</m:t></m:r><m:r><m:rPr><m:sty m:val="p" /></m:rPr><m:t>i</m:t></m:r><m:r><m:rPr><m:sty m:val="p" /></m:rPr><m:t>a</m:t></m:r><m:r><m:rPr><m:sty m:val="p" /></m:rPr><m:t>g</m:t></m:r><m:d><m:dPr><m:begChr m:val="(" /><m:sepChr m:val="" /><m:endChr m:val=")" /><m:grow /></m:dPr><m:e><m:sSubSup><m:e><m:acc><m:accPr><m:chr m:val="̂" /></m:accPr><m:e><m:r><m:t>ε</m:t></m:r></m:e></m:acc></m:e><m:sub><m:r><m:t>i</m:t></m:r></m:sub><m:sup><m:r><m:t>2</m:t></m:r></m:sup></m:sSubSup></m:e></m:d></m:oMath></a14:m><a:r><a:rPr /><a:t> — </a:t></a:r><a:r><a:rPr b="1" /><a:t>HC1</a:t></a:r></a:p></a:txBody></a:tc><a:tc><a:txBody><a:bodyPr /><a:lstStyle /><a:p><a:pPr lvl="0" indent="0" marL="0"><a:buNone /></a:pPr><a:r><a:rPr /><a:t>variance differs across units</a:t></a:r></a:p></a:txBody></a:tc></a:tr><a:tr h="0"><a:tc><a:txBody><a:bodyPr /><a:lstStyle /><a:p><a:pPr lvl="0" indent="0" marL="0"><a:buNone /></a:pPr><a14:m><m:oMath xmlns:m="http://schemas.openxmlformats.org/officeDocument/2006/math"><m:nary><m:naryPr><m:chr m:val="∑" /><m:limLoc m:val="undOvr" /><m:subHide m:val="off" /><m:supHide m:val="on" /></m:naryPr><m:sub><m:r><m:t>g</m:t></m:r></m:sub><m:sup><m:r><m:t>​</m:t></m:r></m:sup><m:e><m:sSub><m:e><m:acc><m:accPr><m:chr m:val="̂" /></m:accPr><m:e><m:r><m:t>ε</m:t></m:r></m:e></m:acc></m:e><m:sub><m:r><m:t>g</m:t></m:r></m:sub></m:sSub></m:e></m:nary><m:sSubSup><m:e><m:acc><m:accPr><m:chr m:val="̂" /></m:accPr><m:e><m:r><m:t>ε</m:t></m:r></m:e></m:acc></m:e><m:sub><m:r><m:t>g</m:t></m:r></m:sub><m:sup><m:r><m:rPr><m:sty m:val="p" /></m:rPr><m:t>⊤</m:t></m:r></m:sup></m:sSubSup></m:oMath></a14:m><a:r><a:rPr /><a:t> — </a:t></a:r><a:r><a:rPr b="1" /><a:t>cluster</a:t></a:r></a:p></a:txBody></a:tc><a:tc><a:txBody><a:bodyPr /><a:lstStyle /><a:p><a:pPr lvl="0" indent="0" marL="0"><a:buNone /></a:pPr><a:r><a:rPr /><a:t>errors correlated within a unit</a:t></a:r></a:p></a:txBody></a:tc></a:tr></a:tbl></a:graphicData></a:graphic></p:graphicFrame></p:spTree></p:cSld>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β</m:t>
                        </m:r>
                      </m:e>
                    </m:acc>
                  </m:oMath>
                </a14:m>
                <a:r>
                  <a:rPr/>
                  <a:t> never changes. Only your claimed </a:t>
                </a:r>
                <a:r>
                  <a:rPr b="1"/>
                  <a:t>precision</a:t>
                </a:r>
                <a:r>
                  <a:rPr/>
                  <a:t> does.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Three standard errors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coefficient, three intervals</a:t>
            </a:r>
          </a:p>
        </p:txBody>
      </p:sp>
      <p:pic>
        <p:nvPicPr>
          <p:cNvPr descr="slides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82296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  classical 0.0426    HC1 0.0433    cluster 0.1259    →  cluster/classical = 2.95x</a:t>
                </a:r>
              </a:p>
              <a:p>
                <a:pPr lvl="0" indent="0" marL="0">
                  <a:buNone/>
                </a:pPr>
                <a:r>
                  <a:rPr/>
                  <a:t>The clustered interval is about </a:t>
                </a:r>
                <a:r>
                  <a:rPr b="1"/>
                  <a:t>3× wider</a:t>
                </a:r>
                <a:r>
                  <a:rPr/>
                  <a:t>. A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-statistic of 6 was really a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of 2.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Now watch it disappear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Add one country-level control 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</m:oMath>
                </a14:m>
                <a:r>
                  <a:rPr/>
                  <a:t> GDP per capita:</a:t>
                </a:r>
              </a:p>
            </p:txBody>
          </p:sp>
        </mc:Choice>
      </mc:AlternateContent>
      <p:pic>
        <p:nvPicPr>
          <p:cNvPr descr="slides_files/figure-pptx/cell-7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11300"/>
            <a:ext cx="51054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it disappeared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nor/>
                            <m:sty m:val="p"/>
                          </m:rPr>
                          <m:t>GDP per capita</m:t>
                        </m:r>
                      </m:e>
                    </m:d>
                  </m:oMath>
                </a14:m>
                <a:r>
                  <a:rPr/>
                  <a:t> varies at the </a:t>
                </a:r>
                <a:r>
                  <a:rPr b="1"/>
                  <a:t>country-year</a:t>
                </a:r>
                <a:r>
                  <a:rPr/>
                  <a:t> level, so including it </a:t>
                </a:r>
                <a:r>
                  <a:rPr b="1"/>
                  <a:t>absorbs the common shock</a:t>
                </a:r>
                <a:r>
                  <a:rPr/>
                  <a:t> that was making residuals correlate within a country.</a:t>
                </a:r>
              </a:p>
              <a:p>
                <a:pPr lvl="0"/>
                <a:r>
                  <a:rPr/>
                  <a:t>Clustering matters when a </a:t>
                </a:r>
                <a:r>
                  <a:rPr b="1"/>
                  <a:t>shared, unmodelled</a:t>
                </a:r>
                <a:r>
                  <a:rPr/>
                  <a:t> shock sits in the residual</a:t>
                </a:r>
              </a:p>
              <a:p>
                <a:pPr lvl="0"/>
                <a:r>
                  <a:rPr/>
                  <a:t>Model that shock explicitly and the correction shrinks</a:t>
                </a:r>
              </a:p>
              <a:p>
                <a:pPr lvl="0"/>
                <a:r>
                  <a:rPr/>
                  <a:t>Neither route is cheating — the same fact, handled in two places</a:t>
                </a:r>
              </a:p>
              <a:p>
                <a:pPr lvl="0" indent="0" marL="0">
                  <a:buNone/>
                </a:pPr>
                <a:r>
                  <a:rPr/>
                  <a:t>Do </a:t>
                </a:r>
                <a:r>
                  <a:rPr b="1"/>
                  <a:t>not</a:t>
                </a:r>
                <a:r>
                  <a:rPr/>
                  <a:t> conclude “clustering never matters, just add controls”. A control that absorbs the shock may also absorb the variation you wanted to study.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Which one do you report?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Cluster </a:t>
                </a:r>
                <a:r>
                  <a:rPr b="1"/>
                  <a:t>at the level at which treatment varies</a:t>
                </a:r>
                <a:r>
                  <a:rPr/>
                  <a:t> and shocks are shared — here, </a:t>
                </a:r>
                <a:r>
                  <a:rPr>
                    <a:latin typeface="Courier"/>
                  </a:rPr>
                  <a:t>geo</a:t>
                </a:r>
              </a:p>
              <a:p>
                <a:pPr lvl="0"/>
                <a:r>
                  <a:rPr/>
                  <a:t>Report the number of </a:t>
                </a:r>
                <a:r>
                  <a:rPr b="1"/>
                  <a:t>clusters</a:t>
                </a:r>
                <a:r>
                  <a:rPr/>
                  <a:t> alongside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: 3,150 rows, </a:t>
                </a:r>
                <a:r>
                  <a:rPr b="1"/>
                  <a:t>30 countries</a:t>
                </a:r>
              </a:p>
              <a:p>
                <a:pPr lvl="0"/>
                <a:r>
                  <a:rPr/>
                  <a:t>Below roughly </a:t>
                </a:r>
                <a:r>
                  <a:rPr b="1"/>
                  <a:t>40 clusters</a:t>
                </a:r>
                <a:r>
                  <a:rPr/>
                  <a:t>, cluster-robust inference is itself unreliable</a:t>
                </a:r>
              </a:p>
              <a:p>
                <a:pPr lvl="0" indent="0" marL="0">
                  <a:buNone/>
                </a:pPr>
                <a:r>
                  <a:rPr/>
                  <a:t>“Robust standard errors” in a table note, with no cluster level named, tells the reader nothing.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· Omitted variable bias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True model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u</m:t>
                    </m:r>
                  </m:oMath>
                </a14:m>
                <a:r>
                  <a:rPr/>
                  <a:t>, estimated on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alone. With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from regressing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double-struck"/>
                        </m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δ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 it with two questions</a:t>
            </a:r>
          </a:p>
        </p:txBody>
      </p:sp>
      <p:pic>
        <p:nvPicPr>
          <p:cNvPr descr="slides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82296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sign in both → upward bias.</a:t>
            </a:r>
            <a:r>
              <a:rPr/>
              <a:t> Answer both questions in writing </a:t>
            </a:r>
            <a:r>
              <a:rPr i="1"/>
              <a:t>before</a:t>
            </a:r>
            <a:r>
              <a:rPr/>
              <a:t> estimating. It costs nothing, and it is the most useful discipline in applied work.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 test the prediction</a:t>
            </a:r>
          </a:p>
        </p:txBody>
      </p:sp>
      <p:pic>
        <p:nvPicPr>
          <p:cNvPr descr="slides_files/figure-pptx/cell-9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Productive countries have higher earnings (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) </a:t>
                </a:r>
                <a:r>
                  <a:rPr b="1"/>
                  <a:t>and</a:t>
                </a:r>
                <a:r>
                  <a:rPr/>
                  <a:t> higher tertiary shares (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), so the bias should be </a:t>
                </a:r>
                <a:r>
                  <a:rPr b="1"/>
                  <a:t>upward</a:t>
                </a:r>
                <a:r>
                  <a:rPr/>
                  <a:t> — the short coefficient should exceed the long one. It does.</a:t>
                </a:r>
              </a:p>
            </p:txBody>
          </p:sp>
        </mc:Choice>
      </mc:AlternateContent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· What it identifies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Mincer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log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ρ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γ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γ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Sup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ρ</m:t>
                    </m:r>
                  </m:oMath>
                </a14:m>
                <a:r>
                  <a:rPr/>
                  <a:t> is often read as “the return to a year of schooling”. Strictly, it is</a:t>
                </a:r>
              </a:p>
              <a:p>
                <a:pPr lvl="0" indent="0" marL="1270000">
                  <a:buNone/>
                </a:pPr>
                <a:r>
                  <a:rPr sz="2000"/>
                  <a:t>the mean log-wage difference associated with an additional year of schooling </a:t>
                </a:r>
                <a:r>
                  <a:rPr sz="2000" b="1"/>
                  <a:t>among people otherwise identical on the included covariates.</a:t>
                </a:r>
              </a:p>
              <a:p>
                <a:pPr lvl="0" indent="0" marL="0">
                  <a:buNone/>
                </a:pPr>
                <a:r>
                  <a:rPr/>
                  <a:t>Unobserved ability, selection into schooling and measurement error each break the causal reading. Session 10 supplies tools that take this seriously.</a:t>
                </a:r>
              </a:p>
              <a:p>
                <a:pPr lvl="0" indent="0" marL="0">
                  <a:buNone/>
                </a:pPr>
                <a:r>
                  <a:rPr/>
                  <a:t>Today the discipline is simply to </a:t>
                </a:r>
                <a:r>
                  <a:rPr b="1"/>
                  <a:t>say precisely what you have estimated.</a:t>
                </a:r>
              </a:p>
            </p:txBody>
          </p:sp>
        </mc:Choice>
      </mc:AlternateContent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8 · Key takeaways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carry out of this session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p>
                              <m:e>
                                <m: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⊤</m:t>
                                </m:r>
                              </m:sup>
                            </m:sSup>
                            <m:r>
                              <m:t>X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  <m:r>
                      <m:t>ε</m:t>
                    </m:r>
                  </m:oMath>
                </a14:m>
                <a:r>
                  <a:rPr/>
                  <a:t> — </a:t>
                </a:r>
                <a:r>
                  <a:rPr b="1"/>
                  <a:t>everything follows from the second term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Unbiasedness is cheap; </a:t>
                </a:r>
                <a:r>
                  <a:rPr b="1"/>
                  <a:t>precision is where the assumptions bite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The sandwich is always right; classical, HC1 and cluster are three guesses at </a:t>
                </a:r>
                <a14:m>
                  <m:oMath xmlns:m="http://schemas.openxmlformats.org/officeDocument/2006/math">
                    <m:r>
                      <m:t>Ω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Cluster where treatment varies</a:t>
                </a:r>
                <a:r>
                  <a:rPr/>
                  <a:t>, name the level, report the cluster count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Sign the omitted-variable bias before estimating</a:t>
                </a:r>
                <a:r>
                  <a:rPr/>
                  <a:t>, then check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-value answers “how surprising under the null” — not “how large”, not “is the model right”</a:t>
                </a:r>
              </a:p>
            </p:txBody>
          </p:sp>
        </mc:Choice>
      </mc:AlternateContent>
    </p:spTree>
  </p:cSld>
</p:sld>
</file>

<file path=ppt/slides/slide39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What loses marks reliably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0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Default standard errors on panel data</a:t></a:r></a:p></a:txBody></a:tc><a:tc><a:txBody><a:bodyPr /><a:lstStyle /><a:p><a:pPr lvl="0" indent="0" marL="0"><a:buNone /></a:pPr><a:r><a:rPr /><a:t>intervals far too narrow</a:t></a:r></a:p></a:txBody></a:tc></a:tr><a:tr h="0"><a:tc><a:txBody><a:bodyPr /><a:lstStyle /><a:p><a:pPr lvl="0" indent="0" marL="0"><a:buNone /></a:pPr><a:r><a:rPr /><a:t>“Robust SEs” with no cluster level named</a:t></a:r></a:p></a:txBody></a:tc><a:tc><a:txBody><a:bodyPr /><a:lstStyle /><a:p><a:pPr lvl="0" indent="0" marL="0"><a:buNone /></a:pPr><a:r><a:rPr /><a:t>unreproducible</a:t></a:r></a:p></a:txBody></a:tc></a:tr><a:tr h="0"><a:tc><a:txBody><a:bodyPr /><a:lstStyle /><a:p><a:pPr lvl="0" indent="0" marL="0"><a:buNone /></a:pPr><a:r><a:rPr /><a:t>Reading significance off </a:t></a:r><a14:m><m:oMath xmlns:m="http://schemas.openxmlformats.org/officeDocument/2006/math"><m:r><m:t>n</m:t></m:r><m:r><m:rPr><m:sty m:val="p" /></m:rPr><m:t>=</m:t></m:r><m:r><m:t>3</m:t></m:r><m:r><m:rPr><m:sty m:val="p" /></m:rPr><m:t>,</m:t></m:r><m:r><m:t>150</m:t></m:r></m:oMath></a14:m></a:p></a:txBody></a:tc><a:tc><a:txBody><a:bodyPr /><a:lstStyle /><a:p><a:pPr lvl="0" indent="0" marL="0"><a:buNone /></a:pPr><a:r><a:rPr /><a:t>you have 30 independent units</a:t></a:r></a:p></a:txBody></a:tc></a:tr><a:tr h="0"><a:tc><a:txBody><a:bodyPr /><a:lstStyle /><a:p><a:pPr lvl="0" indent="0" marL="0"><a:buNone /></a:pPr><a:r><a:rPr /><a:t>Controlling for everything</a:t></a:r></a:p></a:txBody></a:tc><a:tc><a:txBody><a:bodyPr /><a:lstStyle /><a:p><a:pPr lvl="0" indent="0" marL="0"><a:buNone /></a:pPr><a:r><a:rPr /><a:t>post-treatment bias; uninterpretable coefficients</a:t></a:r></a:p></a:txBody></a:tc></a:tr><a:tr h="0"><a:tc><a:txBody><a:bodyPr /><a:lstStyle /><a:p><a:pPr lvl="0" indent="0" marL="0"><a:buNone /></a:pPr><a:r><a:rPr /><a:t>A </a:t></a:r><a14:m><m:oMath xmlns:m="http://schemas.openxmlformats.org/officeDocument/2006/math"><m:r><m:t>p</m:t></m:r></m:oMath></a14:m><a:r><a:rPr /><a:t>-value reported as an effect size</a:t></a:r></a:p></a:txBody></a:tc><a:tc><a:txBody><a:bodyPr /><a:lstStyle /><a:p><a:pPr lvl="0" indent="0" marL="0"><a:buNone /></a:pPr><a:r><a:rPr /><a:t>give the magnitude, in units</a:t></a:r></a:p></a:txBody></a:tc></a:tr></a:tbl></a:graphicData></a:graphic></p:graphicFrame></p:spTree></p:cSld>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practice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Fit the specification; inspect residuals against fitted values</a:t>
            </a:r>
          </a:p>
          <a:p>
            <a:pPr lvl="0" indent="-342900" marL="342900">
              <a:buAutoNum type="arabicPeriod"/>
            </a:pPr>
            <a:r>
              <a:rPr/>
              <a:t>Compute classical, HC1 and cluster-robust standard errors side by side</a:t>
            </a:r>
          </a:p>
          <a:p>
            <a:pPr lvl="0" indent="-342900" marL="342900">
              <a:buAutoNum type="arabicPeriod"/>
            </a:pPr>
            <a:r>
              <a:rPr/>
              <a:t>Name a confounder, </a:t>
            </a:r>
            <a:r>
              <a:rPr b="1"/>
              <a:t>sign its bias</a:t>
            </a:r>
            <a:r>
              <a:rPr/>
              <a:t>, then test the prediction</a:t>
            </a:r>
          </a:p>
          <a:p>
            <a:pPr lvl="0" indent="-342900" marL="342900">
              <a:buAutoNum type="arabicPeriod"/>
            </a:pPr>
            <a:r>
              <a:rPr/>
              <a:t>Report the coefficient with the cluster level and the cluster count</a:t>
            </a:r>
          </a:p>
          <a:p>
            <a:pPr lvl="0" indent="0" marL="0">
              <a:buNone/>
            </a:pPr>
            <a:r>
              <a:rPr/>
              <a:t>Brief: </a:t>
            </a:r>
            <a:r>
              <a:rPr>
                <a:hlinkClick r:id="rId2"/>
                <a:latin typeface="Courier"/>
              </a:rPr>
              <a:t>02-practice/README.md</a:t>
            </a:r>
            <a:r>
              <a:rPr/>
              <a:t> · derivations: </a:t>
            </a:r>
            <a:r>
              <a:rPr>
                <a:hlinkClick r:id="rId3"/>
                <a:latin typeface="Courier"/>
              </a:rPr>
              <a:t>01-lecture/README.md</a:t>
            </a:r>
            <a:r>
              <a:rPr/>
              <a:t> §3.1–3.5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Regression: Inference, Diagnostics, Interpretation</dc:title>
  <dc:creator>Thierry Warin</dc:creator>
  <cp:keywords/>
  <dcterms:created xsi:type="dcterms:W3CDTF">2026-08-23T15:34:30Z</dcterms:created>
  <dcterms:modified xsi:type="dcterms:W3CDTF">2026-08-23T15:34:30Z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21 August 2026</vt:lpwstr>
  </property>
  <property fmtid="{D5CDD505-2E9C-101B-9397-08002B2CF9AE}" pid="8" name="date-format">
    <vt:lpwstr>D MMMM YYYY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e">
    <vt:lpwstr>HEC Montréal</vt:lpwstr>
  </property>
  <property fmtid="{D5CDD505-2E9C-101B-9397-08002B2CF9AE}" pid="14" name="institutes">
    <vt:lpwstr/>
  </property>
  <property fmtid="{D5CDD505-2E9C-101B-9397-08002B2CF9AE}" pid="15" name="jupyter">
    <vt:lpwstr>python3</vt:lpwstr>
  </property>
  <property fmtid="{D5CDD505-2E9C-101B-9397-08002B2CF9AE}" pid="16" name="labels">
    <vt:lpwstr/>
  </property>
  <property fmtid="{D5CDD505-2E9C-101B-9397-08002B2CF9AE}" pid="17" name="subtitle">
    <vt:lpwstr>Session 03 · Lecture, first half</vt:lpwstr>
  </property>
  <property fmtid="{D5CDD505-2E9C-101B-9397-08002B2CF9AE}" pid="18" name="toc-title">
    <vt:lpwstr>Table of contents</vt:lpwstr>
  </property>
</Properties>
</file>