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aa34864d644a43" /><Relationship Type="http://schemas.openxmlformats.org/officeDocument/2006/relationships/extended-properties" Target="/docProps/app.xml" Id="R1adc026274694643" /><Relationship Type="http://schemas.openxmlformats.org/officeDocument/2006/relationships/officeDocument" Target="/ppt/presentation.xml" Id="R3852228e4fe04a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7379f4fe2c485b"/>
  </p:sldMasterIdLst>
  <p:notesMasterIdLst>
    <p:notesMasterId xmlns:r="http://schemas.openxmlformats.org/officeDocument/2006/relationships" r:id="R04f7cdcf1bb44a7d"/>
  </p:notesMasterIdLst>
  <p:sldIdLst>
    <p:sldId xmlns:r="http://schemas.openxmlformats.org/officeDocument/2006/relationships" id="256" r:id="Raffcae1441474b20"/>
    <p:sldId xmlns:r="http://schemas.openxmlformats.org/officeDocument/2006/relationships" id="257" r:id="R715b0d0eb9de4865"/>
    <p:sldId xmlns:r="http://schemas.openxmlformats.org/officeDocument/2006/relationships" id="258" r:id="R8acd99dc908d4ded"/>
    <p:sldId xmlns:r="http://schemas.openxmlformats.org/officeDocument/2006/relationships" id="259" r:id="R73420287372d42c2"/>
    <p:sldId xmlns:r="http://schemas.openxmlformats.org/officeDocument/2006/relationships" id="260" r:id="R807be6cd32c6463b"/>
    <p:sldId xmlns:r="http://schemas.openxmlformats.org/officeDocument/2006/relationships" id="261" r:id="Rf65295d49b8540a4"/>
    <p:sldId xmlns:r="http://schemas.openxmlformats.org/officeDocument/2006/relationships" id="262" r:id="R5ffee1143674445b"/>
    <p:sldId xmlns:r="http://schemas.openxmlformats.org/officeDocument/2006/relationships" id="263" r:id="Rdfc347319ca841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6ccf7f737a4441" /><Relationship Type="http://schemas.openxmlformats.org/officeDocument/2006/relationships/slideMaster" Target="/ppt/slideMasters/slideMaster1.xml" Id="R8a7379f4fe2c485b" /><Relationship Type="http://schemas.openxmlformats.org/officeDocument/2006/relationships/notesMaster" Target="/ppt/notesMasters/notesMaster1.xml" Id="R04f7cdcf1bb44a7d" /><Relationship Type="http://schemas.openxmlformats.org/officeDocument/2006/relationships/presProps" Target="/ppt/presProps.xml" Id="Rfdfb9bec01b5492f" /><Relationship Type="http://schemas.openxmlformats.org/officeDocument/2006/relationships/tableStyles" Target="/ppt/tableStyles.xml" Id="R079c71a07bfe4182" /><Relationship Type="http://schemas.openxmlformats.org/officeDocument/2006/relationships/slide" Target="/ppt/slides/slide1.xml" Id="Raffcae1441474b20" /><Relationship Type="http://schemas.openxmlformats.org/officeDocument/2006/relationships/slide" Target="/ppt/slides/slide2.xml" Id="R715b0d0eb9de4865" /><Relationship Type="http://schemas.openxmlformats.org/officeDocument/2006/relationships/slide" Target="/ppt/slides/slide3.xml" Id="R8acd99dc908d4ded" /><Relationship Type="http://schemas.openxmlformats.org/officeDocument/2006/relationships/slide" Target="/ppt/slides/slide4.xml" Id="R73420287372d42c2" /><Relationship Type="http://schemas.openxmlformats.org/officeDocument/2006/relationships/slide" Target="/ppt/slides/slide5.xml" Id="R807be6cd32c6463b" /><Relationship Type="http://schemas.openxmlformats.org/officeDocument/2006/relationships/slide" Target="/ppt/slides/slide6.xml" Id="Rf65295d49b8540a4" /><Relationship Type="http://schemas.openxmlformats.org/officeDocument/2006/relationships/slide" Target="/ppt/slides/slide7.xml" Id="R5ffee1143674445b" /><Relationship Type="http://schemas.openxmlformats.org/officeDocument/2006/relationships/slide" Target="/ppt/slides/slide8.xml" Id="Rdfc347319ca841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41d8cc258047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3e9e8f1713495e" /><Relationship Type="http://schemas.openxmlformats.org/officeDocument/2006/relationships/notesMaster" Target="/ppt/notesMasters/notesMaster1.xml" Id="Rb8e43d290dbd4e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cba2f841294793" /><Relationship Type="http://schemas.openxmlformats.org/officeDocument/2006/relationships/notesMaster" Target="/ppt/notesMasters/notesMaster1.xml" Id="R9ca68cf960ba4c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988b0f79b24574" /><Relationship Type="http://schemas.openxmlformats.org/officeDocument/2006/relationships/notesMaster" Target="/ppt/notesMasters/notesMaster1.xml" Id="R6e90c9e9c32a44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43d98e28914b0e" /><Relationship Type="http://schemas.openxmlformats.org/officeDocument/2006/relationships/notesMaster" Target="/ppt/notesMasters/notesMaster1.xml" Id="Rd3fb290e2c884a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9e9a5224274f0d" /><Relationship Type="http://schemas.openxmlformats.org/officeDocument/2006/relationships/notesMaster" Target="/ppt/notesMasters/notesMaster1.xml" Id="R3282552ed8ef41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ad2d19769c46d9" /><Relationship Type="http://schemas.openxmlformats.org/officeDocument/2006/relationships/notesMaster" Target="/ppt/notesMasters/notesMaster1.xml" Id="Rbbd0b17e1da040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3e35f6f17349a4" /><Relationship Type="http://schemas.openxmlformats.org/officeDocument/2006/relationships/notesMaster" Target="/ppt/notesMasters/notesMaster1.xml" Id="Rf268c6f2238b4c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baf8c5c7f44057" /><Relationship Type="http://schemas.openxmlformats.org/officeDocument/2006/relationships/notesMaster" Target="/ppt/notesMasters/notesMaster1.xml" Id="R6eef076150de4c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question: 90 minutes in groups: Reproduce an article result, change the uncertainty estimator, and explain why the conclusion moves.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  <a:p xmlns:a="http://schemas.openxmlformats.org/drawingml/2006/main">
            <a:r>
              <a:t>- ISLR 3.3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Groups work collaboratively. Assign a driver, a checker, and a narrator, then rotate roles halfway through.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03-inference-diagnostics-interpretation/02-practice/README.md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  <a:p xmlns:a="http://schemas.openxmlformats.org/drawingml/2006/main">
            <a:r>
              <a:t>- ISLR 3.3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time at each transition. The one-slide presentation is the in-class product, not homework.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03-inference-diagnostics-interpretation/02-practice/README.md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  <a:p xmlns:a="http://schemas.openxmlformats.org/drawingml/2006/main">
            <a:r>
              <a:t>- ISLR 3.3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the demo fails, fix the environment before starting the research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03-inference-diagnostics-interpretation/02-practice/README.md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  <a:p xmlns:a="http://schemas.openxmlformats.org/drawingml/2006/main">
            <a:r>
              <a:t>- ISLR 3.3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Assign one member to narrate why each transition exists while another types.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03-inference-diagnostics-interpretation/02-practice/README.md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  <a:p xmlns:a="http://schemas.openxmlformats.org/drawingml/2006/main">
            <a:r>
              <a:t>- ISLR 3.3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failure is the learning objective. Do not let groups skip it after obtaining a clean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03-inference-diagnostics-interpretation/02-practice/README.md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  <a:p xmlns:a="http://schemas.openxmlformats.org/drawingml/2006/main">
            <a:r>
              <a:t>- ISLR 3.3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Draw the presenter after the group is called. This makes shared understanding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03-inference-diagnostics-interpretation/02-practice/README.md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  <a:p xmlns:a="http://schemas.openxmlformats.org/drawingml/2006/main">
            <a:r>
              <a:t>- ISLR 3.3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QMIB Lab App is an optional post-class knowledge check. Completion can count toward participation; it is not preparation for the next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QMIB Lab App: /Users/thierrywarin/Desktop/QMIB-lab-app/README.md</a:t>
            </a:r>
          </a:p>
          <a:p xmlns:a="http://schemas.openxmlformats.org/drawingml/2006/main">
            <a:r>
              <a:t>- Course source: 03-inference-diagnostics-interpretation/02-practice/README.md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  <a:p xmlns:a="http://schemas.openxmlformats.org/drawingml/2006/main">
            <a:r>
              <a:t>- ISLR 3.3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d239f9168747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e04e092f2e4a9e" /><Relationship Type="http://schemas.openxmlformats.org/officeDocument/2006/relationships/slideLayout" Target="/ppt/slideLayouts/slideLayout1.xml" Id="Rf166559094554f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66559094554f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ee2f2ae1a49d0" /><Relationship Type="http://schemas.openxmlformats.org/officeDocument/2006/relationships/chart" Target="/ppt/slides/charts/chart1.xml" Id="R6ee9c8e0f7304f87" /><Relationship Type="http://schemas.openxmlformats.org/officeDocument/2006/relationships/notesSlide" Target="/ppt/notesSlides/notesSlide1.xml" Id="R78364acae44640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b6a713fab4738" /><Relationship Type="http://schemas.openxmlformats.org/officeDocument/2006/relationships/notesSlide" Target="/ppt/notesSlides/notesSlide2.xml" Id="R38d7968d66bd4a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c06888dcb4ac8" /><Relationship Type="http://schemas.openxmlformats.org/officeDocument/2006/relationships/notesSlide" Target="/ppt/notesSlides/notesSlide3.xml" Id="R2f684763532844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ebe3d4c7c4403" /><Relationship Type="http://schemas.openxmlformats.org/officeDocument/2006/relationships/notesSlide" Target="/ppt/notesSlides/notesSlide4.xml" Id="Ra2c1e2c773e544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51c1d263546cf" /><Relationship Type="http://schemas.openxmlformats.org/officeDocument/2006/relationships/notesSlide" Target="/ppt/notesSlides/notesSlide5.xml" Id="Rc098927ad49e4f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b46e4dcff42a8" /><Relationship Type="http://schemas.openxmlformats.org/officeDocument/2006/relationships/notesSlide" Target="/ppt/notesSlides/notesSlide6.xml" Id="R3b7e627ef33b49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702f30f35483b" /><Relationship Type="http://schemas.openxmlformats.org/officeDocument/2006/relationships/notesSlide" Target="/ppt/notesSlides/notesSlide7.xml" Id="R2e52366adf9040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76d1779c34824" /><Relationship Type="http://schemas.openxmlformats.org/officeDocument/2006/relationships/notesSlide" Target="/ppt/notesSlides/notesSlide8.xml" Id="Ref0b2c0149564148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5"/>
              <c:pt idx="0">
                <c:v>−2</c:v>
              </c:pt>
              <c:pt idx="1">
                <c:v>−1</c:v>
              </c:pt>
              <c:pt idx="2">
                <c:v>0</c:v>
              </c:pt>
              <c:pt idx="3">
                <c:v>1</c:v>
              </c:pt>
              <c:pt idx="4">
                <c:v>2</c:v>
              </c:pt>
            </c:strLit>
          </c:cat>
          <c:val>
            <c:numLit>
              <c:formatCode>General</c:formatCode>
              <c:ptCount val="5"/>
              <c:pt idx="0">
                <c:v>0.1</c:v>
              </c:pt>
              <c:pt idx="1">
                <c:v>0.45</c:v>
              </c:pt>
              <c:pt idx="2">
                <c:v>1</c:v>
              </c:pt>
              <c:pt idx="3">
                <c:v>0.45</c:v>
              </c:pt>
              <c:pt idx="4">
                <c:v>0.1</c:v>
              </c:pt>
            </c:numLit>
          </c:val>
          <c:smooth val="1"/>
        </c:ser>
        <c:ser>
          <c:idx val="1"/>
          <c:order val="1"/>
          <c:tx>
            <c:v>Observed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strLit>
              <c:ptCount val="5"/>
              <c:pt idx="0">
                <c:v>−2</c:v>
              </c:pt>
              <c:pt idx="1">
                <c:v>−1</c:v>
              </c:pt>
              <c:pt idx="2">
                <c:v>0</c:v>
              </c:pt>
              <c:pt idx="3">
                <c:v>1</c:v>
              </c:pt>
              <c:pt idx="4">
                <c:v>2</c:v>
              </c:pt>
            </c:strLit>
          </c:cat>
          <c:val>
            <c:numLit>
              <c:formatCode>General</c:formatCode>
              <c:ptCount val="5"/>
              <c:pt idx="0">
                <c:v>0.04</c:v>
              </c:pt>
              <c:pt idx="1">
                <c:v>0.28</c:v>
              </c:pt>
              <c:pt idx="2">
                <c:v>1</c:v>
              </c:pt>
              <c:pt idx="3">
                <c:v>0.28</c:v>
              </c:pt>
              <c:pt idx="4">
                <c:v>0.04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CCF18A10-FAEA-4D2C-8BDC-406178C6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03 · IN-CLASS PRACTICE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4785CF8-D274-4ECD-96BA-4AB0D229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Replicate inference with few treated groups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435D1207-91E5-427E-A73C-63558DB6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7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90 minutes in groups: Reproduce an article result, change the uncertainty estimator, and explain why the conclusion moves.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4D52EDEF-E33C-40EC-AB86-9A817A7E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6929B67D-8E40-4967-86D7-232B9987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57975" y="685800"/>
          <a:ext xmlns:a="http://schemas.openxmlformats.org/drawingml/2006/main" cx="4752975" cy="5086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e9c8e0f7304f87"/>
          </a:graphicData>
        </a:graphic>
      </p:graphicFrame>
      <p:sp>
        <p:nvSpPr>
          <p:cNvPr id="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FCD36FF-A009-4831-8964-2EBF6B6F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E79AA22-7205-4B44-85AC-E8F1C7D7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042BC10-36E6-47E5-9C68-83EAF033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1</a:t>
            </a:r>
          </a:p>
        </p:txBody>
      </p:sp>
    </p:spTree>
    <p:extLst>
      <p:ext uri="{BB962C8B-B14F-4D97-AF65-F5344CB8AC3E}">
        <p14:creationId xmlns:p14="http://schemas.microsoft.com/office/powerpoint/2010/main" val="10281378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705D9BBF-8C5B-4737-92A1-6AD39CC8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CHALLENGE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507F8E-4064-4AC7-8805-5EECC73A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Turn the method into a defensible group result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880A7EA-6646-4F48-AD84-E6B16FCA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hallenge-label">
            <a:extLst xmlns:a="http://schemas.openxmlformats.org/drawingml/2006/main">
              <a:ext uri="{FF2B5EF4-FFF2-40B4-BE49-F238E27FC236}">
                <a16:creationId xmlns:a16="http://schemas.microsoft.com/office/drawing/2014/main" id="{B1B5D04C-7837-444D-A52C-641E660F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CHALLENGE</a:t>
            </a:r>
          </a:p>
        </p:txBody>
      </p:sp>
      <p:sp>
        <p:nvSpPr>
          <p:cNvPr id="5" name="challenge-copy">
            <a:extLst xmlns:a="http://schemas.openxmlformats.org/drawingml/2006/main">
              <a:ext uri="{FF2B5EF4-FFF2-40B4-BE49-F238E27FC236}">
                <a16:creationId xmlns:a16="http://schemas.microsoft.com/office/drawing/2014/main" id="{F39C64D6-FF6B-4E6A-9E05-665BC36C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5905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Reproduce an article result, change the uncertainty estimator, and explain why the conclusion moves.</a:t>
            </a:r>
          </a:p>
        </p:txBody>
      </p:sp>
      <p:sp>
        <p:nvSpPr>
          <p:cNvPr id="6" name="challenge-result-label">
            <a:extLst xmlns:a="http://schemas.openxmlformats.org/drawingml/2006/main">
              <a:ext uri="{FF2B5EF4-FFF2-40B4-BE49-F238E27FC236}">
                <a16:creationId xmlns:a16="http://schemas.microsoft.com/office/drawing/2014/main" id="{DD20E8BF-E404-49CE-BCC0-92CB2A6D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RESULT AT MINUTE 70</a:t>
            </a:r>
          </a:p>
        </p:txBody>
      </p:sp>
      <p:sp>
        <p:nvSpPr>
          <p:cNvPr id="7" name="challenge-result">
            <a:extLst xmlns:a="http://schemas.openxmlformats.org/drawingml/2006/main">
              <a:ext uri="{FF2B5EF4-FFF2-40B4-BE49-F238E27FC236}">
                <a16:creationId xmlns:a16="http://schemas.microsoft.com/office/drawing/2014/main" id="{8AA1E693-42E3-426C-939F-48BD954F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590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one inference result, then compare conventional, robust, and design-aware uncertainty.</a:t>
            </a:r>
          </a:p>
        </p:txBody>
      </p:sp>
      <p:sp>
        <p:nvSpPr>
          <p:cNvPr id="8" name="objective-bg">
            <a:extLst xmlns:a="http://schemas.openxmlformats.org/drawingml/2006/main">
              <a:ext uri="{FF2B5EF4-FFF2-40B4-BE49-F238E27FC236}">
                <a16:creationId xmlns:a16="http://schemas.microsoft.com/office/drawing/2014/main" id="{DA9219CD-9C0B-45D2-800B-E0FF600C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76400"/>
            <a:ext cx="4191000" cy="39624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objective-title">
            <a:extLst xmlns:a="http://schemas.openxmlformats.org/drawingml/2006/main">
              <a:ext uri="{FF2B5EF4-FFF2-40B4-BE49-F238E27FC236}">
                <a16:creationId xmlns:a16="http://schemas.microsoft.com/office/drawing/2014/main" id="{8C1DE089-44ED-4A45-9625-1161FEB1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383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0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By the end, your group can…</a:t>
            </a:r>
          </a:p>
        </p:txBody>
      </p:sp>
      <p:sp>
        <p:nvSpPr>
          <p:cNvPr id="10" name="objective-num-0">
            <a:extLst xmlns:a="http://schemas.openxmlformats.org/drawingml/2006/main">
              <a:ext uri="{FF2B5EF4-FFF2-40B4-BE49-F238E27FC236}">
                <a16:creationId xmlns:a16="http://schemas.microsoft.com/office/drawing/2014/main" id="{24DDB12E-4079-4146-923B-8E4C07D6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objective-item-0">
            <a:extLst xmlns:a="http://schemas.openxmlformats.org/drawingml/2006/main">
              <a:ext uri="{FF2B5EF4-FFF2-40B4-BE49-F238E27FC236}">
                <a16:creationId xmlns:a16="http://schemas.microsoft.com/office/drawing/2014/main" id="{2856C005-1E17-4241-B7E8-59194873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3367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an article result</a:t>
            </a:r>
          </a:p>
        </p:txBody>
      </p:sp>
      <p:sp>
        <p:nvSpPr>
          <p:cNvPr id="12" name="objective-num-1">
            <a:extLst xmlns:a="http://schemas.openxmlformats.org/drawingml/2006/main">
              <a:ext uri="{FF2B5EF4-FFF2-40B4-BE49-F238E27FC236}">
                <a16:creationId xmlns:a16="http://schemas.microsoft.com/office/drawing/2014/main" id="{772170BF-BD8E-4A25-AEA2-51F8DCD2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09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objective-item-1">
            <a:extLst xmlns:a="http://schemas.openxmlformats.org/drawingml/2006/main">
              <a:ext uri="{FF2B5EF4-FFF2-40B4-BE49-F238E27FC236}">
                <a16:creationId xmlns:a16="http://schemas.microsoft.com/office/drawing/2014/main" id="{BC50BD26-9099-4B32-9844-98E0EEB0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6232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with a benchmark</a:t>
            </a:r>
          </a:p>
        </p:txBody>
      </p:sp>
      <p:sp>
        <p:nvSpPr>
          <p:cNvPr id="14" name="objective-num-2">
            <a:extLst xmlns:a="http://schemas.openxmlformats.org/drawingml/2006/main">
              <a:ext uri="{FF2B5EF4-FFF2-40B4-BE49-F238E27FC236}">
                <a16:creationId xmlns:a16="http://schemas.microsoft.com/office/drawing/2014/main" id="{F8840C58-5397-4EC1-9DA2-50467C8D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38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objective-item-2">
            <a:extLst xmlns:a="http://schemas.openxmlformats.org/drawingml/2006/main">
              <a:ext uri="{FF2B5EF4-FFF2-40B4-BE49-F238E27FC236}">
                <a16:creationId xmlns:a16="http://schemas.microsoft.com/office/drawing/2014/main" id="{8A0F624F-7669-4396-8A26-C93C5849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9097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Break one assumption</a:t>
            </a:r>
          </a:p>
        </p:txBody>
      </p:sp>
      <p:sp>
        <p:nvSpPr>
          <p:cNvPr id="16" name="objective-num-3">
            <a:extLst xmlns:a="http://schemas.openxmlformats.org/drawingml/2006/main">
              <a:ext uri="{FF2B5EF4-FFF2-40B4-BE49-F238E27FC236}">
                <a16:creationId xmlns:a16="http://schemas.microsoft.com/office/drawing/2014/main" id="{9D637004-5E7C-4155-A6E4-8C23561C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67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objective-item-3">
            <a:extLst xmlns:a="http://schemas.openxmlformats.org/drawingml/2006/main">
              <a:ext uri="{FF2B5EF4-FFF2-40B4-BE49-F238E27FC236}">
                <a16:creationId xmlns:a16="http://schemas.microsoft.com/office/drawing/2014/main" id="{2EAFEA40-BE9B-4169-BDDD-E5329D4F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1962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Explain the supported claim</a:t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6E416F4-BB5C-4EB2-88B7-7C969EC0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96B8EC4-9468-4FB0-8736-0A33246C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49DDE05-01BF-445A-A71B-39C0DB1D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2</a:t>
            </a:r>
          </a:p>
        </p:txBody>
      </p:sp>
    </p:spTree>
    <p:extLst>
      <p:ext uri="{BB962C8B-B14F-4D97-AF65-F5344CB8AC3E}">
        <p14:creationId xmlns:p14="http://schemas.microsoft.com/office/powerpoint/2010/main" val="8891409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448AA44B-968B-4C03-A30C-2687A49E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90-MINUTE PLAN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8A409C-8070-438C-BB33-70AF337F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Protect the final 20 minutes for presentations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E2DD382-7DB5-4B7B-AD70-47BF2316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ming-time-0">
            <a:extLst xmlns:a="http://schemas.openxmlformats.org/drawingml/2006/main">
              <a:ext uri="{FF2B5EF4-FFF2-40B4-BE49-F238E27FC236}">
                <a16:creationId xmlns:a16="http://schemas.microsoft.com/office/drawing/2014/main" id="{9263F2AF-19D5-471C-A157-67D8C42C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00–10</a:t>
            </a:r>
          </a:p>
        </p:txBody>
      </p:sp>
      <p:sp>
        <p:nvSpPr>
          <p:cNvPr id="5" name="timing-name-0">
            <a:extLst xmlns:a="http://schemas.openxmlformats.org/drawingml/2006/main">
              <a:ext uri="{FF2B5EF4-FFF2-40B4-BE49-F238E27FC236}">
                <a16:creationId xmlns:a16="http://schemas.microsoft.com/office/drawing/2014/main" id="{61E1B566-4D59-420E-93D2-60152DBE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57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Locate</a:t>
            </a:r>
          </a:p>
        </p:txBody>
      </p:sp>
      <p:sp>
        <p:nvSpPr>
          <p:cNvPr id="6" name="timing-copy-0">
            <a:extLst xmlns:a="http://schemas.openxmlformats.org/drawingml/2006/main">
              <a:ext uri="{FF2B5EF4-FFF2-40B4-BE49-F238E27FC236}">
                <a16:creationId xmlns:a16="http://schemas.microsoft.com/office/drawing/2014/main" id="{371297DD-563F-479D-8691-B58086B8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573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roles and locate the exact article result to reproduce.</a:t>
            </a:r>
          </a:p>
        </p:txBody>
      </p:sp>
      <p:sp>
        <p:nvSpPr>
          <p:cNvPr id="7" name="rule-184-226">
            <a:extLst xmlns:a="http://schemas.openxmlformats.org/drawingml/2006/main">
              <a:ext uri="{FF2B5EF4-FFF2-40B4-BE49-F238E27FC236}">
                <a16:creationId xmlns:a16="http://schemas.microsoft.com/office/drawing/2014/main" id="{49344916-4979-476D-9E09-0EBAEE64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526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ing-time-1">
            <a:extLst xmlns:a="http://schemas.openxmlformats.org/drawingml/2006/main">
              <a:ext uri="{FF2B5EF4-FFF2-40B4-BE49-F238E27FC236}">
                <a16:creationId xmlns:a16="http://schemas.microsoft.com/office/drawing/2014/main" id="{E89B43BE-3E47-441C-B48A-208FCD85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10–30</a:t>
            </a:r>
          </a:p>
        </p:txBody>
      </p:sp>
      <p:sp>
        <p:nvSpPr>
          <p:cNvPr id="9" name="timing-name-1">
            <a:extLst xmlns:a="http://schemas.openxmlformats.org/drawingml/2006/main">
              <a:ext uri="{FF2B5EF4-FFF2-40B4-BE49-F238E27FC236}">
                <a16:creationId xmlns:a16="http://schemas.microsoft.com/office/drawing/2014/main" id="{B60AEA52-CF47-4227-9F58-98E7FAEE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431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Replicate</a:t>
            </a:r>
          </a:p>
        </p:txBody>
      </p:sp>
      <p:sp>
        <p:nvSpPr>
          <p:cNvPr id="10" name="timing-copy-1">
            <a:extLst xmlns:a="http://schemas.openxmlformats.org/drawingml/2006/main">
              <a:ext uri="{FF2B5EF4-FFF2-40B4-BE49-F238E27FC236}">
                <a16:creationId xmlns:a16="http://schemas.microsoft.com/office/drawing/2014/main" id="{9FCEB54F-8D88-425F-9DEF-5228A449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431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Run the authors' data or prepared file and reproduce the target.</a:t>
            </a:r>
          </a:p>
        </p:txBody>
      </p:sp>
      <p:sp>
        <p:nvSpPr>
          <p:cNvPr id="11" name="rule-184-298">
            <a:extLst xmlns:a="http://schemas.openxmlformats.org/drawingml/2006/main">
              <a:ext uri="{FF2B5EF4-FFF2-40B4-BE49-F238E27FC236}">
                <a16:creationId xmlns:a16="http://schemas.microsoft.com/office/drawing/2014/main" id="{D1D31F5C-1711-4A78-BF4F-8C970773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384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ing-time-2">
            <a:extLst xmlns:a="http://schemas.openxmlformats.org/drawingml/2006/main">
              <a:ext uri="{FF2B5EF4-FFF2-40B4-BE49-F238E27FC236}">
                <a16:creationId xmlns:a16="http://schemas.microsoft.com/office/drawing/2014/main" id="{8A2AF859-D831-4E5B-AF8A-90688A64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30–45</a:t>
            </a:r>
          </a:p>
        </p:txBody>
      </p:sp>
      <p:sp>
        <p:nvSpPr>
          <p:cNvPr id="13" name="timing-name-2">
            <a:extLst xmlns:a="http://schemas.openxmlformats.org/drawingml/2006/main">
              <a:ext uri="{FF2B5EF4-FFF2-40B4-BE49-F238E27FC236}">
                <a16:creationId xmlns:a16="http://schemas.microsoft.com/office/drawing/2014/main" id="{94B9C177-74A3-469A-89C2-FA78326F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28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</a:t>
            </a:r>
          </a:p>
        </p:txBody>
      </p:sp>
      <p:sp>
        <p:nvSpPr>
          <p:cNvPr id="14" name="timing-copy-2">
            <a:extLst xmlns:a="http://schemas.openxmlformats.org/drawingml/2006/main">
              <a:ext uri="{FF2B5EF4-FFF2-40B4-BE49-F238E27FC236}">
                <a16:creationId xmlns:a16="http://schemas.microsoft.com/office/drawing/2014/main" id="{EF963A18-B232-49F4-B692-070CEE78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289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Apply the session method or benchmark on the same sample.</a:t>
            </a:r>
          </a:p>
        </p:txBody>
      </p:sp>
      <p:sp>
        <p:nvSpPr>
          <p:cNvPr id="15" name="rule-184-370">
            <a:extLst xmlns:a="http://schemas.openxmlformats.org/drawingml/2006/main">
              <a:ext uri="{FF2B5EF4-FFF2-40B4-BE49-F238E27FC236}">
                <a16:creationId xmlns:a16="http://schemas.microsoft.com/office/drawing/2014/main" id="{FD385F1C-A293-41FF-91BB-1DC5B148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242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iming-time-3">
            <a:extLst xmlns:a="http://schemas.openxmlformats.org/drawingml/2006/main">
              <a:ext uri="{FF2B5EF4-FFF2-40B4-BE49-F238E27FC236}">
                <a16:creationId xmlns:a16="http://schemas.microsoft.com/office/drawing/2014/main" id="{08525041-6711-4A6A-9E51-0F311BF8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45–60</a:t>
            </a:r>
          </a:p>
        </p:txBody>
      </p:sp>
      <p:sp>
        <p:nvSpPr>
          <p:cNvPr id="17" name="timing-name-3">
            <a:extLst xmlns:a="http://schemas.openxmlformats.org/drawingml/2006/main">
              <a:ext uri="{FF2B5EF4-FFF2-40B4-BE49-F238E27FC236}">
                <a16:creationId xmlns:a16="http://schemas.microsoft.com/office/drawing/2014/main" id="{5406C1DA-FC99-4E0F-983C-99A9665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14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Break</a:t>
            </a:r>
          </a:p>
        </p:txBody>
      </p:sp>
      <p:sp>
        <p:nvSpPr>
          <p:cNvPr id="18" name="timing-copy-3">
            <a:extLst xmlns:a="http://schemas.openxmlformats.org/drawingml/2006/main">
              <a:ext uri="{FF2B5EF4-FFF2-40B4-BE49-F238E27FC236}">
                <a16:creationId xmlns:a16="http://schemas.microsoft.com/office/drawing/2014/main" id="{92927843-63E5-4166-AFD3-8B102823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147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Stress one assumption and save before/after evidence.</a:t>
            </a:r>
          </a:p>
        </p:txBody>
      </p:sp>
      <p:sp>
        <p:nvSpPr>
          <p:cNvPr id="19" name="rule-184-442">
            <a:extLst xmlns:a="http://schemas.openxmlformats.org/drawingml/2006/main">
              <a:ext uri="{FF2B5EF4-FFF2-40B4-BE49-F238E27FC236}">
                <a16:creationId xmlns:a16="http://schemas.microsoft.com/office/drawing/2014/main" id="{54D713A8-BFF6-403C-9F5B-6A15BAC4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100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iming-time-4">
            <a:extLst xmlns:a="http://schemas.openxmlformats.org/drawingml/2006/main">
              <a:ext uri="{FF2B5EF4-FFF2-40B4-BE49-F238E27FC236}">
                <a16:creationId xmlns:a16="http://schemas.microsoft.com/office/drawing/2014/main" id="{16976EAF-2E16-486A-A949-F5BA5D00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60–70</a:t>
            </a:r>
          </a:p>
        </p:txBody>
      </p:sp>
      <p:sp>
        <p:nvSpPr>
          <p:cNvPr id="21" name="timing-name-4">
            <a:extLst xmlns:a="http://schemas.openxmlformats.org/drawingml/2006/main">
              <a:ext uri="{FF2B5EF4-FFF2-40B4-BE49-F238E27FC236}">
                <a16:creationId xmlns:a16="http://schemas.microsoft.com/office/drawing/2014/main" id="{D6265DA4-EB3E-4880-9F8D-4249091E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005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Synthesize</a:t>
            </a:r>
          </a:p>
        </p:txBody>
      </p:sp>
      <p:sp>
        <p:nvSpPr>
          <p:cNvPr id="22" name="timing-copy-4">
            <a:extLst xmlns:a="http://schemas.openxmlformats.org/drawingml/2006/main">
              <a:ext uri="{FF2B5EF4-FFF2-40B4-BE49-F238E27FC236}">
                <a16:creationId xmlns:a16="http://schemas.microsoft.com/office/drawing/2014/main" id="{578E2BA7-2554-4972-9228-DC882FCC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005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Create one slide: article, replication, catch.</a:t>
            </a:r>
          </a:p>
        </p:txBody>
      </p:sp>
      <p:sp>
        <p:nvSpPr>
          <p:cNvPr id="23" name="rule-184-514">
            <a:extLst xmlns:a="http://schemas.openxmlformats.org/drawingml/2006/main">
              <a:ext uri="{FF2B5EF4-FFF2-40B4-BE49-F238E27FC236}">
                <a16:creationId xmlns:a16="http://schemas.microsoft.com/office/drawing/2014/main" id="{938403E4-287F-4628-AC65-FE56B07A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958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iming-time-5">
            <a:extLst xmlns:a="http://schemas.openxmlformats.org/drawingml/2006/main">
              <a:ext uri="{FF2B5EF4-FFF2-40B4-BE49-F238E27FC236}">
                <a16:creationId xmlns:a16="http://schemas.microsoft.com/office/drawing/2014/main" id="{69B7C521-B0C6-4107-8EA7-6609864E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863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70–90</a:t>
            </a:r>
          </a:p>
        </p:txBody>
      </p:sp>
      <p:sp>
        <p:nvSpPr>
          <p:cNvPr id="25" name="timing-name-5">
            <a:extLst xmlns:a="http://schemas.openxmlformats.org/drawingml/2006/main">
              <a:ext uri="{FF2B5EF4-FFF2-40B4-BE49-F238E27FC236}">
                <a16:creationId xmlns:a16="http://schemas.microsoft.com/office/drawing/2014/main" id="{3BFFFCBF-91EF-49A0-BC29-B078BF64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86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Present</a:t>
            </a:r>
          </a:p>
        </p:txBody>
      </p:sp>
      <p:sp>
        <p:nvSpPr>
          <p:cNvPr id="26" name="timing-copy-5">
            <a:extLst xmlns:a="http://schemas.openxmlformats.org/drawingml/2006/main">
              <a:ext uri="{FF2B5EF4-FFF2-40B4-BE49-F238E27FC236}">
                <a16:creationId xmlns:a16="http://schemas.microsoft.com/office/drawing/2014/main" id="{9E1954C7-11E6-4469-BA4E-061A75FC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863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Two minutes per group; presenter chosen at random.</a:t>
            </a:r>
          </a:p>
        </p:txBody>
      </p:sp>
      <p:sp>
        <p:nvSpPr>
          <p:cNvPr id="2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AF9F895-7B35-4DF7-A65C-26E1DB48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37A5A22-773B-48ED-A784-31C9F555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2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0970CD3-93DF-4803-ACED-B66EE866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3</a:t>
            </a:r>
          </a:p>
        </p:txBody>
      </p:sp>
    </p:spTree>
    <p:extLst>
      <p:ext uri="{BB962C8B-B14F-4D97-AF65-F5344CB8AC3E}">
        <p14:creationId xmlns:p14="http://schemas.microsoft.com/office/powerpoint/2010/main" val="17811084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91E7D5D7-4635-4A4C-A3D1-AF9CF98E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START HERE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C12037-6408-4908-B221-7EE37F44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Open the Desktop clone in VS Codium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CCC9353-FFAF-4294-8976-4AEAFF3C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actice-path">
            <a:extLst xmlns:a="http://schemas.openxmlformats.org/drawingml/2006/main">
              <a:ext uri="{FF2B5EF4-FFF2-40B4-BE49-F238E27FC236}">
                <a16:creationId xmlns:a16="http://schemas.microsoft.com/office/drawing/2014/main" id="{CADA372F-2D34-4804-9FC7-1F32A843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27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Desktop/quantitative-methods</a:t>
            </a:r>
          </a:p>
        </p:txBody>
      </p:sp>
      <p:sp>
        <p:nvSpPr>
          <p:cNvPr id="5" name="practice-commands">
            <a:extLst xmlns:a="http://schemas.openxmlformats.org/drawingml/2006/main">
              <a:ext uri="{FF2B5EF4-FFF2-40B4-BE49-F238E27FC236}">
                <a16:creationId xmlns:a16="http://schemas.microsoft.com/office/drawing/2014/main" id="{4FF4D155-D5B9-4069-A1E4-8FF44F51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619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52400" rIns="19050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03-inference-diagnostics-interpretation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session03_inference_demo.py</a:t>
            </a:r>
          </a:p>
        </p:txBody>
      </p:sp>
      <p:sp>
        <p:nvSpPr>
          <p:cNvPr id="6" name="practice-local">
            <a:extLst xmlns:a="http://schemas.openxmlformats.org/drawingml/2006/main">
              <a:ext uri="{FF2B5EF4-FFF2-40B4-BE49-F238E27FC236}">
                <a16:creationId xmlns:a16="http://schemas.microsoft.com/office/drawing/2014/main" id="{A6ABA9C0-7CDD-497A-AA01-FD0A88CD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Package: 10.7910/DVN/PIAZWN. Keep the article result and your comparison separate.</a:t>
            </a:r>
          </a:p>
        </p:txBody>
      </p:sp>
      <p:cxnSp>
        <p:nvCxnSpPr>
          <p:cNvPr id="24" name="workflow-edge-0"/>
          <p:cNvCxnSpPr/>
          <p:nvPr/>
        </p:nvCxnSpPr>
        <p:spPr>
          <a:xfrm xmlns:a="http://schemas.openxmlformats.org/drawingml/2006/main">
            <a:off x="8489950" y="355282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5" name="workflow-edge-1"/>
          <p:cNvCxnSpPr/>
          <p:nvPr/>
        </p:nvCxnSpPr>
        <p:spPr>
          <a:xfrm xmlns:a="http://schemas.openxmlformats.org/drawingml/2006/main">
            <a:off x="9912350" y="355282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9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E790636B-FA24-48C5-8B6C-C3929393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6215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B531B766-01DC-41BA-BF0A-417196A7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7645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Article result</a:t>
            </a:r>
          </a:p>
        </p:txBody>
      </p:sp>
      <p:sp>
        <p:nvSpPr>
          <p:cNvPr id="11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91E4AFEE-5047-4E62-9850-3B2779F2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196215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514B6D67-16C0-4A83-9280-A23BB05E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0" y="207645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Course demo</a:t>
            </a:r>
          </a:p>
        </p:txBody>
      </p:sp>
      <p:sp>
        <p:nvSpPr>
          <p:cNvPr id="13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746DF9C3-17ED-4069-B9A3-93C2EB13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800" y="196215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6DA9C2AE-017A-410C-9C0B-133ABE88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050" y="207645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Your replication</a:t>
            </a:r>
          </a:p>
        </p:txBody>
      </p:sp>
      <p:sp>
        <p:nvSpPr>
          <p:cNvPr id="1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746B9B5-1513-48D5-80F4-DEF09DDD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FB58EFC-074C-4FDB-83B9-6E356FCB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3B7E12E-2B3F-47B2-B8DC-6015B74E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4</a:t>
            </a:r>
          </a:p>
        </p:txBody>
      </p:sp>
    </p:spTree>
    <p:extLst>
      <p:ext uri="{BB962C8B-B14F-4D97-AF65-F5344CB8AC3E}">
        <p14:creationId xmlns:p14="http://schemas.microsoft.com/office/powerpoint/2010/main" val="15520514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8932E7EA-909C-4DD0-88BD-94F0D126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WORK SEQUENCE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9E0AC5-36CE-4B0D-BECC-17066775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Complete all five moves before presenting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874967F2-C95B-4552-A54A-A662C11B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ask-label-0">
            <a:extLst xmlns:a="http://schemas.openxmlformats.org/drawingml/2006/main">
              <a:ext uri="{FF2B5EF4-FFF2-40B4-BE49-F238E27FC236}">
                <a16:creationId xmlns:a16="http://schemas.microsoft.com/office/drawing/2014/main" id="{9C03C29A-C03E-48F0-A983-0DB2CA77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1</a:t>
            </a:r>
          </a:p>
        </p:txBody>
      </p:sp>
      <p:sp>
        <p:nvSpPr>
          <p:cNvPr id="5" name="task-body-0">
            <a:extLst xmlns:a="http://schemas.openxmlformats.org/drawingml/2006/main">
              <a:ext uri="{FF2B5EF4-FFF2-40B4-BE49-F238E27FC236}">
                <a16:creationId xmlns:a16="http://schemas.microsoft.com/office/drawing/2014/main" id="{06D6F62C-F4E4-48A7-9370-4D52E34E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097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the estimand and clustering level</a:t>
            </a:r>
          </a:p>
        </p:txBody>
      </p:sp>
      <p:sp>
        <p:nvSpPr>
          <p:cNvPr id="6" name="rule-196-228">
            <a:extLst xmlns:a="http://schemas.openxmlformats.org/drawingml/2006/main">
              <a:ext uri="{FF2B5EF4-FFF2-40B4-BE49-F238E27FC236}">
                <a16:creationId xmlns:a16="http://schemas.microsoft.com/office/drawing/2014/main" id="{0F1ABB78-E216-4D9A-9B5E-0B6D1B86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717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sk-label-1">
            <a:extLst xmlns:a="http://schemas.openxmlformats.org/drawingml/2006/main">
              <a:ext uri="{FF2B5EF4-FFF2-40B4-BE49-F238E27FC236}">
                <a16:creationId xmlns:a16="http://schemas.microsoft.com/office/drawing/2014/main" id="{773462C4-E6EB-4270-8ED6-F1BB85BE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2</a:t>
            </a:r>
          </a:p>
        </p:txBody>
      </p:sp>
      <p:sp>
        <p:nvSpPr>
          <p:cNvPr id="8" name="task-body-1">
            <a:extLst xmlns:a="http://schemas.openxmlformats.org/drawingml/2006/main">
              <a:ext uri="{FF2B5EF4-FFF2-40B4-BE49-F238E27FC236}">
                <a16:creationId xmlns:a16="http://schemas.microsoft.com/office/drawing/2014/main" id="{63093F59-BD56-46F0-958E-8ABACA95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098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one reported estimate</a:t>
            </a:r>
          </a:p>
        </p:txBody>
      </p:sp>
      <p:sp>
        <p:nvSpPr>
          <p:cNvPr id="9" name="rule-196-312">
            <a:extLst xmlns:a="http://schemas.openxmlformats.org/drawingml/2006/main">
              <a:ext uri="{FF2B5EF4-FFF2-40B4-BE49-F238E27FC236}">
                <a16:creationId xmlns:a16="http://schemas.microsoft.com/office/drawing/2014/main" id="{7469AFC8-2E2C-4A78-84CE-95443D2A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9718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-label-2">
            <a:extLst xmlns:a="http://schemas.openxmlformats.org/drawingml/2006/main">
              <a:ext uri="{FF2B5EF4-FFF2-40B4-BE49-F238E27FC236}">
                <a16:creationId xmlns:a16="http://schemas.microsoft.com/office/drawing/2014/main" id="{EEA92E4D-3A67-4567-A892-13CD10B4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3</a:t>
            </a:r>
          </a:p>
        </p:txBody>
      </p:sp>
      <p:sp>
        <p:nvSpPr>
          <p:cNvPr id="11" name="task-body-2">
            <a:extLst xmlns:a="http://schemas.openxmlformats.org/drawingml/2006/main">
              <a:ext uri="{FF2B5EF4-FFF2-40B4-BE49-F238E27FC236}">
                <a16:creationId xmlns:a16="http://schemas.microsoft.com/office/drawing/2014/main" id="{987782E4-990F-4F91-B36D-6FE297C5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099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conventional and robust uncertainty</a:t>
            </a:r>
          </a:p>
        </p:txBody>
      </p:sp>
      <p:sp>
        <p:nvSpPr>
          <p:cNvPr id="12" name="rule-196-396">
            <a:extLst xmlns:a="http://schemas.openxmlformats.org/drawingml/2006/main">
              <a:ext uri="{FF2B5EF4-FFF2-40B4-BE49-F238E27FC236}">
                <a16:creationId xmlns:a16="http://schemas.microsoft.com/office/drawing/2014/main" id="{1040AD09-0360-4DAF-B211-A60534A7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719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sk-label-3">
            <a:extLst xmlns:a="http://schemas.openxmlformats.org/drawingml/2006/main">
              <a:ext uri="{FF2B5EF4-FFF2-40B4-BE49-F238E27FC236}">
                <a16:creationId xmlns:a16="http://schemas.microsoft.com/office/drawing/2014/main" id="{A26A3560-9769-419A-B28B-7BC58E29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STEP 4</a:t>
            </a:r>
          </a:p>
        </p:txBody>
      </p:sp>
      <p:sp>
        <p:nvSpPr>
          <p:cNvPr id="14" name="task-body-3">
            <a:extLst xmlns:a="http://schemas.openxmlformats.org/drawingml/2006/main">
              <a:ext uri="{FF2B5EF4-FFF2-40B4-BE49-F238E27FC236}">
                <a16:creationId xmlns:a16="http://schemas.microsoft.com/office/drawing/2014/main" id="{89A5D676-FA8C-4506-BFDF-0CC450FD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100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Stress heteroskedastic group sizes</a:t>
            </a:r>
          </a:p>
        </p:txBody>
      </p:sp>
      <p:sp>
        <p:nvSpPr>
          <p:cNvPr id="15" name="rule-196-480">
            <a:extLst xmlns:a="http://schemas.openxmlformats.org/drawingml/2006/main">
              <a:ext uri="{FF2B5EF4-FFF2-40B4-BE49-F238E27FC236}">
                <a16:creationId xmlns:a16="http://schemas.microsoft.com/office/drawing/2014/main" id="{53AE69A2-716E-4133-B88E-FD75B207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720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sk-label-4">
            <a:extLst xmlns:a="http://schemas.openxmlformats.org/drawingml/2006/main">
              <a:ext uri="{FF2B5EF4-FFF2-40B4-BE49-F238E27FC236}">
                <a16:creationId xmlns:a16="http://schemas.microsoft.com/office/drawing/2014/main" id="{DFE932B0-C62F-4BDA-AA94-EF7FA331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5</a:t>
            </a:r>
          </a:p>
        </p:txBody>
      </p:sp>
      <p:sp>
        <p:nvSpPr>
          <p:cNvPr id="17" name="task-body-4">
            <a:extLst xmlns:a="http://schemas.openxmlformats.org/drawingml/2006/main">
              <a:ext uri="{FF2B5EF4-FFF2-40B4-BE49-F238E27FC236}">
                <a16:creationId xmlns:a16="http://schemas.microsoft.com/office/drawing/2014/main" id="{CE48B39E-9014-4670-BB70-B4C9C630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101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Write the narrowest defensible interpretation</a:t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73A0BDE-D456-4A22-814B-B5C4C1B0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2EC3EE1-AE04-4393-8148-C21F868A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594EB03-8D08-4D9C-947A-54AFC014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5</a:t>
            </a:r>
          </a:p>
        </p:txBody>
      </p:sp>
    </p:spTree>
    <p:extLst>
      <p:ext uri="{BB962C8B-B14F-4D97-AF65-F5344CB8AC3E}">
        <p14:creationId xmlns:p14="http://schemas.microsoft.com/office/powerpoint/2010/main" val="18667726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reak-kicker">
            <a:extLst xmlns:a="http://schemas.openxmlformats.org/drawingml/2006/main">
              <a:ext uri="{FF2B5EF4-FFF2-40B4-BE49-F238E27FC236}">
                <a16:creationId xmlns:a16="http://schemas.microsoft.com/office/drawing/2014/main" id="{2CFAEE97-6A12-4ED0-BA3C-BA7C7956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PRACTICE · BREAK IT DELIBERATELY</a:t>
            </a:r>
          </a:p>
        </p:txBody>
      </p:sp>
      <p:sp>
        <p:nvSpPr>
          <p:cNvPr id="2" name="break-title">
            <a:extLst xmlns:a="http://schemas.openxmlformats.org/drawingml/2006/main">
              <a:ext uri="{FF2B5EF4-FFF2-40B4-BE49-F238E27FC236}">
                <a16:creationId xmlns:a16="http://schemas.microsoft.com/office/drawing/2014/main" id="{A5357EEB-A8DB-4149-B626-47196D76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small standard error can make an omitted-variable bias look very precise.</a:t>
            </a:r>
          </a:p>
        </p:txBody>
      </p:sp>
      <p:sp>
        <p:nvSpPr>
          <p:cNvPr id="3" name="break-instruction">
            <a:extLst xmlns:a="http://schemas.openxmlformats.org/drawingml/2006/main">
              <a:ext uri="{FF2B5EF4-FFF2-40B4-BE49-F238E27FC236}">
                <a16:creationId xmlns:a16="http://schemas.microsoft.com/office/drawing/2014/main" id="{E4D219DC-4975-4D3D-A38B-9FDE2072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Create the failure. Save the before/after evidence. Explain the mechanism without blaming the software.</a:t>
            </a:r>
          </a:p>
        </p:txBody>
      </p:sp>
      <p:sp>
        <p:nvSpPr>
          <p:cNvPr id="4" name="break-llm">
            <a:extLst xmlns:a="http://schemas.openxmlformats.org/drawingml/2006/main">
              <a:ext uri="{FF2B5EF4-FFF2-40B4-BE49-F238E27FC236}">
                <a16:creationId xmlns:a16="http://schemas.microsoft.com/office/drawing/2014/main" id="{B057E55D-D0E3-482D-B883-F4CCB7F0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Required: record one LLM claim you found wrong, unverifiable, or misleading—and how you checked it.</a:t>
            </a:r>
          </a:p>
        </p:txBody>
      </p:sp>
      <p:sp>
        <p:nvSpPr>
          <p:cNvPr id="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EDB6E3E-4099-4E65-9633-10DFDDAA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03CEF5A-2FFF-4476-AB08-4486C371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E4BAAB1-9BC9-4294-8BF2-CC050424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Practice · 6</a:t>
            </a:r>
          </a:p>
        </p:txBody>
      </p:sp>
    </p:spTree>
    <p:extLst>
      <p:ext uri="{BB962C8B-B14F-4D97-AF65-F5344CB8AC3E}">
        <p14:creationId xmlns:p14="http://schemas.microsoft.com/office/powerpoint/2010/main" val="19718931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C04D8F35-664F-41B6-924D-AF67EFA6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GROUP PRESENTATION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E6EB36-4DC9-42D9-A41C-2217501F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slide. Two minutes. Random presenter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A535CDE-E968-44FA-B7B7-F945425D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port-label-0">
            <a:extLst xmlns:a="http://schemas.openxmlformats.org/drawingml/2006/main">
              <a:ext uri="{FF2B5EF4-FFF2-40B4-BE49-F238E27FC236}">
                <a16:creationId xmlns:a16="http://schemas.microsoft.com/office/drawing/2014/main" id="{001C1001-7F43-47AE-BEDE-4F1709B3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ARTICLE RESULT</a:t>
            </a:r>
          </a:p>
        </p:txBody>
      </p:sp>
      <p:sp>
        <p:nvSpPr>
          <p:cNvPr id="5" name="report-body-0">
            <a:extLst xmlns:a="http://schemas.openxmlformats.org/drawingml/2006/main">
              <a:ext uri="{FF2B5EF4-FFF2-40B4-BE49-F238E27FC236}">
                <a16:creationId xmlns:a16="http://schemas.microsoft.com/office/drawing/2014/main" id="{89598B6C-0C1D-48B6-878C-FF7C9EB2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954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published estimate or figure your group targeted.</a:t>
            </a:r>
          </a:p>
        </p:txBody>
      </p:sp>
      <p:sp>
        <p:nvSpPr>
          <p:cNvPr id="6" name="rule-278-272">
            <a:extLst xmlns:a="http://schemas.openxmlformats.org/drawingml/2006/main">
              <a:ext uri="{FF2B5EF4-FFF2-40B4-BE49-F238E27FC236}">
                <a16:creationId xmlns:a16="http://schemas.microsoft.com/office/drawing/2014/main" id="{6F02E2FB-A069-43FA-8C1A-2F361041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908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port-label-1">
            <a:extLst xmlns:a="http://schemas.openxmlformats.org/drawingml/2006/main">
              <a:ext uri="{FF2B5EF4-FFF2-40B4-BE49-F238E27FC236}">
                <a16:creationId xmlns:a16="http://schemas.microsoft.com/office/drawing/2014/main" id="{84A38BF7-ABA2-4D38-B85B-A3F77F83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OUR REPLICATION</a:t>
            </a:r>
          </a:p>
        </p:txBody>
      </p:sp>
      <p:sp>
        <p:nvSpPr>
          <p:cNvPr id="8" name="report-body-1">
            <a:extLst xmlns:a="http://schemas.openxmlformats.org/drawingml/2006/main">
              <a:ext uri="{FF2B5EF4-FFF2-40B4-BE49-F238E27FC236}">
                <a16:creationId xmlns:a16="http://schemas.microsoft.com/office/drawing/2014/main" id="{2CF221A2-C4A0-49D9-B2C5-55AFE256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52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matched, what differed, and the comparison you added.</a:t>
            </a:r>
          </a:p>
        </p:txBody>
      </p:sp>
      <p:sp>
        <p:nvSpPr>
          <p:cNvPr id="9" name="rule-278-404">
            <a:extLst xmlns:a="http://schemas.openxmlformats.org/drawingml/2006/main">
              <a:ext uri="{FF2B5EF4-FFF2-40B4-BE49-F238E27FC236}">
                <a16:creationId xmlns:a16="http://schemas.microsoft.com/office/drawing/2014/main" id="{6824DE6E-5DCC-469C-B210-A73AAB3D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481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port-label-2">
            <a:extLst xmlns:a="http://schemas.openxmlformats.org/drawingml/2006/main">
              <a:ext uri="{FF2B5EF4-FFF2-40B4-BE49-F238E27FC236}">
                <a16:creationId xmlns:a16="http://schemas.microsoft.com/office/drawing/2014/main" id="{5FAFDF6A-592C-4D07-86BA-5086E058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CATCH</a:t>
            </a:r>
          </a:p>
        </p:txBody>
      </p:sp>
      <p:sp>
        <p:nvSpPr>
          <p:cNvPr id="11" name="report-body-2">
            <a:extLst xmlns:a="http://schemas.openxmlformats.org/drawingml/2006/main">
              <a:ext uri="{FF2B5EF4-FFF2-40B4-BE49-F238E27FC236}">
                <a16:creationId xmlns:a16="http://schemas.microsoft.com/office/drawing/2014/main" id="{B70861B2-6B14-422B-8185-070EC595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100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assumption, data choice, or limitation that changes the claim.</a:t>
            </a:r>
          </a:p>
        </p:txBody>
      </p:sp>
      <p:sp>
        <p:nvSpPr>
          <p:cNvPr id="12" name="rule-278-536">
            <a:extLst xmlns:a="http://schemas.openxmlformats.org/drawingml/2006/main">
              <a:ext uri="{FF2B5EF4-FFF2-40B4-BE49-F238E27FC236}">
                <a16:creationId xmlns:a16="http://schemas.microsoft.com/office/drawing/2014/main" id="{ABF1D409-B3C2-45A0-B577-58622FE3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0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port-rule">
            <a:extLst xmlns:a="http://schemas.openxmlformats.org/drawingml/2006/main">
              <a:ext uri="{FF2B5EF4-FFF2-40B4-BE49-F238E27FC236}">
                <a16:creationId xmlns:a16="http://schemas.microsoft.com/office/drawing/2014/main" id="{03728669-34E6-4AE0-A327-E4827777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Finish the presentation in class. Nothing carries over as required homework.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EA7A8CB-DDED-40B9-A6FA-6011FCFD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4818D8F-E761-4A0F-B011-464846B0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D8B2F0C-FA15-4604-B175-C006A580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7</a:t>
            </a:r>
          </a:p>
        </p:txBody>
      </p:sp>
    </p:spTree>
    <p:extLst>
      <p:ext uri="{BB962C8B-B14F-4D97-AF65-F5344CB8AC3E}">
        <p14:creationId xmlns:p14="http://schemas.microsoft.com/office/powerpoint/2010/main" val="20824286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lab-kicker">
            <a:extLst xmlns:a="http://schemas.openxmlformats.org/drawingml/2006/main">
              <a:ext uri="{FF2B5EF4-FFF2-40B4-BE49-F238E27FC236}">
                <a16:creationId xmlns:a16="http://schemas.microsoft.com/office/drawing/2014/main" id="{41115100-C33E-4CCE-A183-8CD0419B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AFTER CLASS · OPTIONAL PARTICIPATION LAB</a:t>
            </a:r>
          </a:p>
        </p:txBody>
      </p:sp>
      <p:sp>
        <p:nvSpPr>
          <p:cNvPr id="2" name="lab-title">
            <a:extLst xmlns:a="http://schemas.openxmlformats.org/drawingml/2006/main">
              <a:ext uri="{FF2B5EF4-FFF2-40B4-BE49-F238E27FC236}">
                <a16:creationId xmlns:a16="http://schemas.microsoft.com/office/drawing/2014/main" id="{355646BE-A9A1-496B-A2FB-363E190B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Class ends with the group presentations.</a:t>
            </a:r>
          </a:p>
        </p:txBody>
      </p:sp>
      <p:sp>
        <p:nvSpPr>
          <p:cNvPr id="3" name="lab-availability">
            <a:extLst xmlns:a="http://schemas.openxmlformats.org/drawingml/2006/main">
              <a:ext uri="{FF2B5EF4-FFF2-40B4-BE49-F238E27FC236}">
                <a16:creationId xmlns:a16="http://schemas.microsoft.com/office/drawing/2014/main" id="{67B52A26-AE8A-44A6-B816-9FA21D15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QMIB Lab 03 is a short at-home knowledge check.</a:t>
            </a:r>
          </a:p>
        </p:txBody>
      </p:sp>
      <p:sp>
        <p:nvSpPr>
          <p:cNvPr id="4" name="lab-policy">
            <a:extLst xmlns:a="http://schemas.openxmlformats.org/drawingml/2006/main">
              <a:ext uri="{FF2B5EF4-FFF2-40B4-BE49-F238E27FC236}">
                <a16:creationId xmlns:a16="http://schemas.microsoft.com/office/drawing/2014/main" id="{C9925BAF-7B61-48A2-8A69-DBF8D6CF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6572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lab is optional. A completed app report counts toward participation; it is separate from the next pre-session reading and data preparation.</a:t>
            </a:r>
          </a:p>
        </p:txBody>
      </p:sp>
      <p:sp>
        <p:nvSpPr>
          <p:cNvPr id="5" name="lab-steps-bg">
            <a:extLst xmlns:a="http://schemas.openxmlformats.org/drawingml/2006/main">
              <a:ext uri="{FF2B5EF4-FFF2-40B4-BE49-F238E27FC236}">
                <a16:creationId xmlns:a16="http://schemas.microsoft.com/office/drawing/2014/main" id="{CF68CCD3-DDE6-4A7C-BE9C-B3062629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71700"/>
            <a:ext cx="36766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E2A34"/>
          </a:solidFill>
          <a:ln xmlns:a="http://schemas.openxmlformats.org/drawingml/2006/main" w="9525">
            <a:solidFill>
              <a:srgbClr val="3A4652"/>
            </a:solidFill>
            <a:prstDash val="solid"/>
          </a:ln>
        </p:spPr>
      </p:sp>
      <p:sp>
        <p:nvSpPr>
          <p:cNvPr id="6" name="lab-steps-title">
            <a:extLst xmlns:a="http://schemas.openxmlformats.org/drawingml/2006/main">
              <a:ext uri="{FF2B5EF4-FFF2-40B4-BE49-F238E27FC236}">
                <a16:creationId xmlns:a16="http://schemas.microsoft.com/office/drawing/2014/main" id="{89FAD366-2446-4763-B654-3FE7DC0F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336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If you choose the lab</a:t>
            </a:r>
          </a:p>
        </p:txBody>
      </p:sp>
      <p:sp>
        <p:nvSpPr>
          <p:cNvPr id="7" name="lab-step-num-0">
            <a:extLst xmlns:a="http://schemas.openxmlformats.org/drawingml/2006/main">
              <a:ext uri="{FF2B5EF4-FFF2-40B4-BE49-F238E27FC236}">
                <a16:creationId xmlns:a16="http://schemas.microsoft.com/office/drawing/2014/main" id="{4B389A9D-88E3-4C2C-8959-A2EA3AEE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813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lab-step-0">
            <a:extLst xmlns:a="http://schemas.openxmlformats.org/drawingml/2006/main">
              <a:ext uri="{FF2B5EF4-FFF2-40B4-BE49-F238E27FC236}">
                <a16:creationId xmlns:a16="http://schemas.microsoft.com/office/drawing/2014/main" id="{016E4E96-9BA5-4852-948B-0A79E729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Open the session check in the web app</a:t>
            </a:r>
          </a:p>
        </p:txBody>
      </p:sp>
      <p:sp>
        <p:nvSpPr>
          <p:cNvPr id="9" name="lab-step-num-1">
            <a:extLst xmlns:a="http://schemas.openxmlformats.org/drawingml/2006/main">
              <a:ext uri="{FF2B5EF4-FFF2-40B4-BE49-F238E27FC236}">
                <a16:creationId xmlns:a16="http://schemas.microsoft.com/office/drawing/2014/main" id="{082C819F-AB3A-4A50-B3CA-DE08A314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766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lab-step-1">
            <a:extLst xmlns:a="http://schemas.openxmlformats.org/drawingml/2006/main">
              <a:ext uri="{FF2B5EF4-FFF2-40B4-BE49-F238E27FC236}">
                <a16:creationId xmlns:a16="http://schemas.microsoft.com/office/drawing/2014/main" id="{39085AB8-BEB5-434C-9E93-78FC4C10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385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Answer once without your notes</a:t>
            </a:r>
          </a:p>
        </p:txBody>
      </p:sp>
      <p:sp>
        <p:nvSpPr>
          <p:cNvPr id="11" name="lab-step-num-2">
            <a:extLst xmlns:a="http://schemas.openxmlformats.org/drawingml/2006/main">
              <a:ext uri="{FF2B5EF4-FFF2-40B4-BE49-F238E27FC236}">
                <a16:creationId xmlns:a16="http://schemas.microsoft.com/office/drawing/2014/main" id="{40E98AC6-8C57-49FD-B173-261CB505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lab-step-2">
            <a:extLst xmlns:a="http://schemas.openxmlformats.org/drawingml/2006/main">
              <a:ext uri="{FF2B5EF4-FFF2-40B4-BE49-F238E27FC236}">
                <a16:creationId xmlns:a16="http://schemas.microsoft.com/office/drawing/2014/main" id="{6BD847DB-04B0-431E-88BA-F8EF3597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338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0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Retry and explain missed concepts</a:t>
            </a:r>
          </a:p>
        </p:txBody>
      </p:sp>
      <p:sp>
        <p:nvSpPr>
          <p:cNvPr id="13" name="lab-step-num-3">
            <a:extLst xmlns:a="http://schemas.openxmlformats.org/drawingml/2006/main">
              <a:ext uri="{FF2B5EF4-FFF2-40B4-BE49-F238E27FC236}">
                <a16:creationId xmlns:a16="http://schemas.microsoft.com/office/drawing/2014/main" id="{19790E85-E2FA-4309-BA2D-54E8B819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67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4" name="lab-step-3">
            <a:extLst xmlns:a="http://schemas.openxmlformats.org/drawingml/2006/main">
              <a:ext uri="{FF2B5EF4-FFF2-40B4-BE49-F238E27FC236}">
                <a16:creationId xmlns:a16="http://schemas.microsoft.com/office/drawing/2014/main" id="{27682BB8-5DE1-4BBF-98DC-4AA37D1E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291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Save and submit the report</a:t>
            </a:r>
          </a:p>
        </p:txBody>
      </p:sp>
      <p:sp>
        <p:nvSpPr>
          <p:cNvPr id="1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3942B53-1C51-4017-B5D6-7CA3E4A7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C8B7CE1-A807-4DCC-BFE6-DC6E048B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BA1E058-99F1-4EB6-8D43-EE8FB4E5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Practice · 8</a:t>
            </a:r>
          </a:p>
        </p:txBody>
      </p:sp>
    </p:spTree>
    <p:extLst>
      <p:ext uri="{BB962C8B-B14F-4D97-AF65-F5344CB8AC3E}">
        <p14:creationId xmlns:p14="http://schemas.microsoft.com/office/powerpoint/2010/main" val="8629538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Thierry Warin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Presentation</dc:title>
  <dcterms:created xsi:type="dcterms:W3CDTF">2026-08-23T21:43:11.3330000Z</dcterms:created>
  <dcterms:modified xsi:type="dcterms:W3CDTF">2026-08-23T21:43:11.3330000Z</dcterms:modified>
</coreProperties>
</file>