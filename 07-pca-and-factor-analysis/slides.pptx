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5" Type="http://schemas.openxmlformats.org/officeDocument/2006/relationships/viewProps" Target="viewProps.xml" /><Relationship Id="rId5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7" Type="http://schemas.openxmlformats.org/officeDocument/2006/relationships/tableStyles" Target="tableStyles.xml" /><Relationship Id="rId5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 anchor="t"/>
          <a:lstStyle>
            <a:lvl1pPr algn="l">
              <a:defRPr sz="28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50000"/>
            <a:ext cx="7772400" cy="700000"/>
          </a:xfrm>
        </p:spPr>
        <p:txBody>
          <a:bodyPr anchor="b"/>
          <a:lstStyle>
            <a:lvl1pPr marL="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00"/>
            </a:lvl2pPr>
            <a:lvl3pPr marL="685800" indent="0">
              <a:buNone/>
              <a:defRPr sz="1100"/>
            </a:lvl3pPr>
            <a:lvl4pPr marL="1028700" indent="0">
              <a:buNone/>
              <a:defRPr sz="950"/>
            </a:lvl4pPr>
            <a:lvl5pPr marL="1371600" indent="0">
              <a:buNone/>
              <a:defRPr sz="950"/>
            </a:lvl5pPr>
            <a:lvl6pPr marL="1714500" indent="0">
              <a:buNone/>
              <a:defRPr sz="950"/>
            </a:lvl6pPr>
            <a:lvl7pPr marL="2057400" indent="0">
              <a:buNone/>
              <a:defRPr sz="950"/>
            </a:lvl7pPr>
            <a:lvl8pPr marL="2400300" indent="0">
              <a:buNone/>
              <a:defRPr sz="950"/>
            </a:lvl8pPr>
            <a:lvl9pPr marL="2743200" indent="0">
              <a:buNone/>
              <a:defRPr sz="9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uthor Footer"/>
          <p:cNvSpPr txBox="1"/>
          <p:nvPr/>
        </p:nvSpPr>
        <p:spPr>
          <a:xfrm>
            <a:off x="457200" y="4735000"/>
            <a:ext cx="50000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l"/>
            <a:r>
              <a:rPr dirty="0" lang="en-US" sz="900">
                <a:solidFill>
                  <a:srgbClr val="6E7275"/>
                </a:solidFill>
                <a:latin typeface="+mn-lt"/>
              </a:rPr>
              <a:t>Thierry Warin, PhD</a:t>
            </a:r>
          </a:p>
        </p:txBody>
      </p:sp>
      <p:sp>
        <p:nvSpPr>
          <p:cNvPr id="8" name="Slide Number Footer"/>
          <p:cNvSpPr txBox="1"/>
          <p:nvPr/>
        </p:nvSpPr>
        <p:spPr>
          <a:xfrm>
            <a:off x="7200000" y="4735000"/>
            <a:ext cx="14868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r"/>
            <a:fld id="{9B1A2C3D-4E5F-6A7B-8C9D-0E1F2A3B4C5D}" type="slidenum">
              <a:rPr dirty="0" lang="en-US" sz="900">
                <a:solidFill>
                  <a:srgbClr val="6E7275"/>
                </a:solidFill>
                <a:latin typeface="+mn-lt"/>
              </a:rPr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3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1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9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9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1-lecture/README.md" TargetMode="External" /><Relationship Id="rId3" Type="http://schemas.openxmlformats.org/officeDocument/2006/relationships/hyperlink" Target="02-practice/README.md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Trees, Forests, and Gradient Boosting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07 · Lecture, first half</a:t>
            </a:r>
            <a:br/>
            <a:br/>
            <a:r>
              <a:rPr/>
              <a:t>Thierry Warin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21 August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 we abandon linearity, what do we lose — and can we get the interpretation back?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Where we are, and what this adds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tree: how a split is chosen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Pruning — the same dial again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averaging works, and when it stops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Boosting: gradient descent in function space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Getting the interpretation back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takeaways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Write the greedy splitting objective and say why the </a:t>
            </a:r>
            <a:r>
              <a:rPr b="1"/>
              <a:t>global</a:t>
            </a:r>
            <a:r>
              <a:rPr/>
              <a:t> problem is infeasible</a:t>
            </a:r>
          </a:p>
          <a:p>
            <a:pPr lvl="0"/>
            <a:r>
              <a:rPr/>
              <a:t>Explain why misclassification error is a poor </a:t>
            </a:r>
            <a:r>
              <a:rPr i="1"/>
              <a:t>growing</a:t>
            </a:r>
            <a:r>
              <a:rPr/>
              <a:t> criterion but the right </a:t>
            </a:r>
            <a:r>
              <a:rPr i="1"/>
              <a:t>pruning</a:t>
            </a:r>
            <a:r>
              <a:rPr/>
              <a:t> one</a:t>
            </a:r>
          </a:p>
          <a:p>
            <a:pPr lvl="0"/>
            <a:r>
              <a:rPr b="1"/>
              <a:t>Derive</a:t>
            </a:r>
            <a:r>
              <a:rPr/>
              <a:t> the bagging variance formula and read off why random forests subsample features</a:t>
            </a:r>
          </a:p>
          <a:p>
            <a:pPr lvl="0"/>
            <a:r>
              <a:rPr/>
              <a:t>Describe boosting as gradient descent on a loss, in function space</a:t>
            </a:r>
          </a:p>
          <a:p>
            <a:pPr lvl="0"/>
            <a:r>
              <a:rPr/>
              <a:t>Choose an interpretation tool, and state precisely </a:t>
            </a:r>
            <a:r>
              <a:rPr b="1"/>
              <a:t>what it does not tell you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 · What this adds</a:t>
            </a:r>
          </a:p>
        </p:txBody>
      </p:sp>
    </p:spTree>
  </p:cSld>
</p:sld>
</file>

<file path=ppt/slides/slide6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Everything so far has been one straight line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4114800" /><a:gridCol w="4114800" /></a:tblGrid><a:tr h="0"><a:tc><a:txBody><a:bodyPr /><a:lstStyle /><a:p><a:pPr lvl="0" indent="0" marL="0"><a:buNone /></a:pPr><a:r><a:rPr /><a:t>Session</a:t></a:r></a:p></a:txBody><a:tcPr /></a:tc><a:tc><a:txBody><a:bodyPr /><a:lstStyle /><a:p><a:pPr lvl="0" indent="0" marL="0"><a:buNone /></a:pPr><a:r><a:rPr /><a:t>What it assumed</a:t></a:r></a:p></a:txBody><a:tcPr /></a:tc></a:tr><a:tr h="0"><a:tc><a:txBody><a:bodyPr /><a:lstStyle /><a:p><a:pPr lvl="0" indent="0" marL="0"><a:buNone /></a:pPr><a:r><a:rPr b="1" /><a:t>02–03</a:t></a:r></a:p></a:txBody></a:tc><a:tc><a:txBody><a:bodyPr /><a:lstStyle /><a:p><a:pPr lvl="0" indent="0" marL="0"><a:buNone /></a:pPr><a14:m><m:oMath xmlns:m="http://schemas.openxmlformats.org/officeDocument/2006/math"><m:r><m:rPr><m:sty m:val="p" /><m:scr m:val="double-struck" /></m:rPr><m:t>E</m:t></m:r><m:d><m:dPr><m:begChr m:val="[" /><m:sepChr m:val="" /><m:endChr m:val="]" /><m:grow /></m:dPr><m:e><m:r><m:t>y</m:t></m:r><m:r><m:rPr><m:sty m:val="p" /></m:rPr><m:t>∣</m:t></m:r><m:r><m:t>x</m:t></m:r></m:e></m:d><m:r><m:rPr><m:sty m:val="p" /></m:rPr><m:t>=</m:t></m:r><m:sSup><m:e><m:r><m:t>x</m:t></m:r></m:e><m:sup><m:r><m:rPr><m:sty m:val="p" /></m:rPr><m:t>⊤</m:t></m:r></m:sup></m:sSup><m:r><m:t>β</m:t></m:r></m:oMath></a14:m><a:r><a:rPr /><a:t> — additive, linear, no interactions</a:t></a:r></a:p></a:txBody></a:tc></a:tr><a:tr h="0"><a:tc><a:txBody><a:bodyPr /><a:lstStyle /><a:p><a:pPr lvl="0" indent="0" marL="0"><a:buNone /></a:pPr><a:r><a:rPr b="1" /><a:t>05</a:t></a:r></a:p></a:txBody></a:tc><a:tc><a:txBody><a:bodyPr /><a:lstStyle /><a:p><a:pPr lvl="0" indent="0" marL="0"><a:buNone /></a:pPr><a:r><a:rPr /><a:t>Still linear. The penalty changed </a:t></a:r><a:r><a:rPr i="1" /><a:t>which</a:t></a:r><a:r><a:rPr /><a:t> </a:t></a:r><a14:m><m:oMath xmlns:m="http://schemas.openxmlformats.org/officeDocument/2006/math"><m:r><m:t>β</m:t></m:r></m:oMath></a14:m><a:r><a:rPr /><a:t>, not the functional form</a:t></a:r></a:p></a:txBody></a:tc></a:tr><a:tr h="0"><a:tc><a:txBody><a:bodyPr /><a:lstStyle /><a:p><a:pPr lvl="0" indent="0" marL="0"><a:buNone /></a:pPr><a:r><a:rPr b="1" /><a:t>06</a:t></a:r></a:p></a:txBody></a:tc><a:tc><a:txBody><a:bodyPr /><a:lstStyle /><a:p><a:pPr lvl="0" indent="0" marL="0"><a:buNone /></a:pPr><a:r><a:rPr /><a:t>Still linear — </a:t></a:r><a:r><a:rPr b="1" /><a:t>in the log-odds</a:t></a:r></a:p></a:txBody></a:tc></a:tr></a:tbl></a:graphicData></a:graphic></p:graphicFrame></p:spTree></p:cSld>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interaction and every non-linearity so far had to be </a:t>
            </a:r>
            <a:r>
              <a:rPr b="1"/>
              <a:t>typed by hand</a:t>
            </a:r>
            <a:r>
              <a:rPr/>
              <a:t>: a squared term, a product, a spline. You had to know it was there.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today adds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1270000">
                  <a:buNone/>
                </a:pPr>
                <a:r>
                  <a:rPr sz="2000"/>
                  <a:t>A model class that finds the non-linearity and the interactions </a:t>
                </a:r>
                <a:r>
                  <a:rPr sz="2000" b="1"/>
                  <a:t>for you</a:t>
                </a:r>
                <a:r>
                  <a:rPr sz="2000"/>
                  <a:t>, from the data.</a:t>
                </a:r>
              </a:p>
              <a:p>
                <a:pPr lvl="0"/>
                <a:r>
                  <a:rPr/>
                  <a:t>Trees: no functional form at all, just a </a:t>
                </a:r>
                <a:r>
                  <a:rPr b="1"/>
                  <a:t>partition</a:t>
                </a:r>
                <a:r>
                  <a:rPr/>
                  <a:t> of the predictor space</a:t>
                </a:r>
              </a:p>
              <a:p>
                <a:pPr lvl="0"/>
                <a:r>
                  <a:rPr/>
                  <a:t>Forests: a variance-reduction device with a formula that tells you exactly when it stops working</a:t>
                </a:r>
              </a:p>
              <a:p>
                <a:pPr lvl="0"/>
                <a:r>
                  <a:rPr/>
                  <a:t>Boosting: the same idea run </a:t>
                </a:r>
                <a:r>
                  <a:rPr b="1"/>
                  <a:t>sequentially</a:t>
                </a:r>
                <a:r>
                  <a:rPr/>
                  <a:t>, which turns out to be gradient descent</a:t>
                </a:r>
              </a:p>
              <a:p>
                <a:pPr lvl="0" indent="0" marL="0">
                  <a:buNone/>
                </a:pPr>
                <a:r>
                  <a:rPr/>
                  <a:t>And what it costs: no coefficients, no standard errors, no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-statistics. Section 6 is about how much of that we can recover — and it is less than the software suggests.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tree is a partition, not a curve</a:t>
            </a:r>
          </a:p>
        </p:txBody>
      </p:sp>
      <p:pic>
        <p:nvPicPr>
          <p:cNvPr descr="slides_files/figure-pptx/cell-3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20800"/>
            <a:ext cx="8229600" cy="312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two predictors, same data. Colour is the fitted default probability. The tree can only produce axis-aligned blocks; the logistic model can only produce parallel bands.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of those is right?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Neither, always. The tree captures a </a:t>
            </a:r>
            <a:r>
              <a:rPr b="1"/>
              <a:t>threshold</a:t>
            </a:r>
            <a:r>
              <a:rPr/>
              <a:t> — “below 660 FICO everything changes” — that the line cannot. The line captures a </a:t>
            </a:r>
            <a:r>
              <a:rPr b="1"/>
              <a:t>smooth gradient</a:t>
            </a:r>
            <a:r>
              <a:rPr/>
              <a:t> that the tree can only approximate in steps.</a:t>
            </a:r>
          </a:p>
          <a:p>
            <a:pPr lvl="0" indent="0" marL="0">
              <a:buNone/>
            </a:pPr>
            <a:r>
              <a:rPr/>
              <a:t>So the question is never “are trees better than regression”. It is: </a:t>
            </a:r>
            <a:r>
              <a:rPr i="1"/>
              <a:t>is the relationship I am modelling more like a threshold, or more like a gradient?</a:t>
            </a:r>
            <a:r>
              <a:rPr/>
              <a:t> Draw the picture before you choose.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 · One tree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Partition the predictor space into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regions and predict a </a:t>
                </a:r>
                <a:r>
                  <a:rPr b="1"/>
                  <a:t>constant</a:t>
                </a:r>
                <a:r>
                  <a:rPr/>
                  <a:t> in each: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f</m:t>
                          </m:r>
                        </m:e>
                      </m:acc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m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M</m:t>
                          </m:r>
                        </m:sup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</m:sSub>
                        </m:e>
                      </m:nary>
                      <m:r>
                        <m:t> </m:t>
                      </m:r>
                      <m:r>
                        <m:rPr>
                          <m:sty m:val="p"/>
                          <m:scr m:val="double-struck"/>
                        </m:rPr>
                        <m:t>1</m:t>
                      </m:r>
                      <m:r>
                        <m:rPr>
                          <m:sty m:val="p"/>
                        </m:rPr>
                        <m:t>{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∈</m:t>
                      </m:r>
                      <m:sSub>
                        <m:e>
                          <m:r>
                            <m:t>R</m:t>
                          </m:r>
                        </m:e>
                        <m:sub>
                          <m:r>
                            <m:t>m</m:t>
                          </m:r>
                        </m:sub>
                      </m:sSub>
                      <m:r>
                        <m:rPr>
                          <m:sty m:val="p"/>
                        </m:rPr>
                        <m:t>}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Under squared loss the optimal constant is just the region mean,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c</m:t>
                            </m:r>
                          </m:e>
                        </m:acc>
                      </m:e>
                      <m:sub>
                        <m:r>
                          <m:t>m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a</m:t>
                    </m:r>
                    <m:r>
                      <m:rPr>
                        <m:sty m:val="p"/>
                      </m:rPr>
                      <m:t>v</m:t>
                    </m:r>
                    <m:r>
                      <m:rPr>
                        <m:sty m:val="p"/>
                      </m:rP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∣</m:t>
                        </m:r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∈</m:t>
                        </m:r>
                        <m:sSub>
                          <m:e>
                            <m:r>
                              <m:t>R</m:t>
                            </m:r>
                          </m:e>
                          <m:sub>
                            <m:r>
                              <m:t>m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. So the whole problem is </a:t>
                </a:r>
                <a:r>
                  <a:rPr b="1"/>
                  <a:t>choosing the regions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And that is where it gets hard: the number of partitions is astronomically large. Finding the best one is infeasible.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we are greedy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At each node, search over splitting variable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  <a:r>
                  <a:rPr/>
                  <a:t> and split point 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limLow>
                        <m:e>
                          <m:r>
                            <m:rPr>
                              <m:sty m:val="p"/>
                            </m:rPr>
                            <m:t>min</m:t>
                          </m:r>
                        </m:e>
                        <m:lim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s</m:t>
                          </m:r>
                        </m:lim>
                      </m:limLow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limLow>
                            <m:e>
                              <m:r>
                                <m:rPr>
                                  <m:sty m:val="p"/>
                                </m:rPr>
                                <m:t>min</m:t>
                              </m:r>
                            </m:e>
                            <m:lim>
                              <m:sSub>
                                <m:e>
                                  <m:r>
                                    <m:t>c</m:t>
                                  </m:r>
                                </m:e>
                                <m:sub>
                                  <m: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m:t>​</m:t>
                          </m:r>
                          <m:r>
                            <m:t>​</m:t>
                          </m:r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∈</m:t>
                              </m:r>
                              <m:sSub>
                                <m:e>
                                  <m:r>
                                    <m:t>R</m:t>
                                  </m:r>
                                </m:e>
                                <m:sub>
                                  <m: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m:t>s</m:t>
                                  </m:r>
                                </m:e>
                              </m:d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t>​</m:t>
                              </m:r>
                            </m:e>
                          </m:nary>
                          <m:r>
                            <m:t>​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y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sSub>
                                    <m:e>
                                      <m:r>
                                        <m:t>c</m:t>
                                      </m:r>
                                    </m:e>
                                    <m:sub>
                                      <m: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+</m:t>
                          </m:r>
                          <m:limLow>
                            <m:e>
                              <m:r>
                                <m:rPr>
                                  <m:sty m:val="p"/>
                                </m:rPr>
                                <m:t>min</m:t>
                              </m:r>
                            </m:e>
                            <m:lim>
                              <m:sSub>
                                <m:e>
                                  <m:r>
                                    <m:t>c</m:t>
                                  </m:r>
                                </m:e>
                                <m:sub>
                                  <m:r>
                                    <m:t>2</m:t>
                                  </m:r>
                                </m:sub>
                              </m:sSub>
                            </m:lim>
                          </m:limLow>
                          <m:r>
                            <m:t>​</m:t>
                          </m:r>
                          <m:r>
                            <m:t>​</m:t>
                          </m:r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∈</m:t>
                              </m:r>
                              <m:sSub>
                                <m:e>
                                  <m:r>
                                    <m:t>R</m:t>
                                  </m:r>
                                </m:e>
                                <m:sub>
                                  <m: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m:t>s</m:t>
                                  </m:r>
                                </m:e>
                              </m:d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t>​</m:t>
                              </m:r>
                            </m:e>
                          </m:nary>
                          <m:r>
                            <m:t>​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y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sSub>
                                    <m:e>
                                      <m:r>
                                        <m:t>c</m:t>
                                      </m:r>
                                    </m:e>
                                    <m:sub>
                                      <m: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with 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{</m:t>
                    </m:r>
                    <m:r>
                      <m:t>x</m:t>
                    </m:r>
                    <m:r>
                      <m:rPr>
                        <m:sty m:val="p"/>
                      </m:rPr>
                      <m:t>: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≤</m:t>
                    </m:r>
                    <m:r>
                      <m:t>s</m:t>
                    </m:r>
                    <m:r>
                      <m:rPr>
                        <m:sty m:val="p"/>
                      </m:rPr>
                      <m:t>}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{</m:t>
                    </m:r>
                    <m:r>
                      <m:t>x</m:t>
                    </m:r>
                    <m:r>
                      <m:rPr>
                        <m:sty m:val="p"/>
                      </m:rPr>
                      <m:t>: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&gt;</m:t>
                    </m:r>
                    <m:r>
                      <m:t>s</m:t>
                    </m:r>
                    <m:r>
                      <m:rPr>
                        <m:sty m:val="p"/>
                      </m:rPr>
                      <m:t>}</m:t>
                    </m:r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The inner minimisations are </a:t>
                </a:r>
                <a:r>
                  <a:rPr b="1"/>
                  <a:t>means</a:t>
                </a:r>
                <a:r>
                  <a:rPr/>
                  <a:t>, so one sorted scan per feature suffices. Cost per node: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p</m:t>
                        </m:r>
                        <m:r>
                          <m:t> </m:t>
                        </m:r>
                        <m:r>
                          <m:t>n</m:t>
                        </m:r>
                        <m:r>
                          <m:rPr>
                            <m:sty m:val="p"/>
                          </m:rPr>
                          <m:t>log</m:t>
                        </m:r>
                        <m:r>
                          <m:t>n</m:t>
                        </m:r>
                      </m:e>
                    </m:d>
                  </m:oMath>
                </a14:m>
                <a:r>
                  <a:rPr/>
                  <a:t> — cheap, which is why trees scale.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Watch the scan happen</a:t>
            </a:r>
          </a:p>
        </p:txBody>
      </p:sp>
      <p:pic>
        <p:nvPicPr>
          <p:cNvPr descr="slides_files/figure-pptx/cell-4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71600"/>
            <a:ext cx="8229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Left: the actual scan on our data — one number per candidate cut. Right: the three impurity measures.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right-hand panel matters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Gini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k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p</m:t>
                                  </m:r>
                                </m:e>
                              </m:acc>
                            </m:e>
                            <m:sub>
                              <m:r>
                                <m:t>m</m:t>
                              </m:r>
                              <m:r>
                                <m:t>k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p</m:t>
                                  </m:r>
                                </m:e>
                              </m:acc>
                            </m:e>
                            <m:sub>
                              <m:r>
                                <m:t>m</m:t>
                              </m:r>
                              <m:r>
                                <m:t>k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Entropy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k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p</m:t>
                                  </m:r>
                                </m:e>
                              </m:acc>
                            </m:e>
                            <m:sub>
                              <m:r>
                                <m:t>m</m:t>
                              </m:r>
                              <m:r>
                                <m:t>k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m:t>log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p</m:t>
                              </m:r>
                            </m:e>
                          </m:acc>
                        </m:e>
                        <m:sub>
                          <m:r>
                            <m:t>m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Miscl.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max</m:t>
                          </m:r>
                        </m:e>
                        <m:lim>
                          <m:r>
                            <m:t>k</m:t>
                          </m:r>
                        </m:lim>
                      </m:limLow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p</m:t>
                              </m:r>
                            </m:e>
                          </m:acc>
                        </m:e>
                        <m:sub>
                          <m:r>
                            <m:t>m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Gini and entropy are </a:t>
                </a:r>
                <a:r>
                  <a:rPr b="1"/>
                  <a:t>strictly concave</a:t>
                </a:r>
                <a:r>
                  <a:rPr/>
                  <a:t>: they reward a split that makes a node purer </a:t>
                </a:r>
                <a:r>
                  <a:rPr i="1"/>
                  <a:t>even when the majority class does not change</a:t>
                </a:r>
                <a:r>
                  <a:rPr/>
                  <a:t>. Misclassification is piecewise linear — it registers nothing.</a:t>
                </a:r>
              </a:p>
              <a:p>
                <a:pPr lvl="0" indent="0" marL="0">
                  <a:buNone/>
                </a:pPr>
                <a:r>
                  <a:rPr/>
                  <a:t>So: grow with </a:t>
                </a:r>
                <a:r>
                  <a:rPr b="1"/>
                  <a:t>Gini or entropy</a:t>
                </a:r>
                <a:r>
                  <a:rPr/>
                  <a:t>, prune with </a:t>
                </a:r>
                <a:r>
                  <a:rPr b="1"/>
                  <a:t>misclassification</a:t>
                </a:r>
                <a:r>
                  <a:rPr/>
                  <a:t> (or whatever loss you will actually be judged on). Different jobs, different criteria.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3 · Pruning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Cost-complexity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Grow a large tree </a:t>
                </a:r>
                <a14:m>
                  <m:oMath xmlns:m="http://schemas.openxmlformats.org/officeDocument/2006/math">
                    <m:sSub>
                      <m:e>
                        <m:r>
                          <m:t>T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, then choose the subtree minimising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γ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m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d>
                            <m:dPr>
                              <m:begChr m:val="|"/>
                              <m:sepChr m:val=""/>
                              <m:endChr m:val="|"/>
                              <m:grow/>
                            </m:dPr>
                            <m:e>
                              <m:r>
                                <m:t>T</m:t>
                              </m:r>
                            </m:e>
                          </m:d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∈</m:t>
                              </m:r>
                              <m:sSub>
                                <m:e>
                                  <m:r>
                                    <m:t>R</m:t>
                                  </m:r>
                                </m:e>
                                <m:sub>
                                  <m:r>
                                    <m:t>m</m:t>
                                  </m:r>
                                </m:sub>
                              </m:sSub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sSub>
                                        <m:e>
                                          <m:acc>
                                            <m:accPr>
                                              <m:chr m:val="̂"/>
                                            </m:accPr>
                                            <m:e>
                                              <m:r>
                                                <m:t>c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m:t>m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m:rPr>
                          <m:sty m:val="p"/>
                        </m:rPr>
                        <m:t>+</m:t>
                      </m:r>
                      <m:r>
                        <m:t>γ</m:t>
                      </m:r>
                      <m:r>
                        <m:t> </m:t>
                      </m:r>
                      <m:d>
                        <m:dPr>
                          <m:begChr m:val="|"/>
                          <m:sepChr m:val=""/>
                          <m:endChr m:val="|"/>
                          <m:grow/>
                        </m:dPr>
                        <m:e>
                          <m:r>
                            <m:t>T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Weakest-link pruning:</a:t>
                </a:r>
                <a:r>
                  <a:rPr/>
                  <a:t> as </a:t>
                </a:r>
                <a14:m>
                  <m:oMath xmlns:m="http://schemas.openxmlformats.org/officeDocument/2006/math">
                    <m:r>
                      <m:t>γ</m:t>
                    </m:r>
                  </m:oMath>
                </a14:m>
                <a:r>
                  <a:rPr/>
                  <a:t> rises from 0, the optimal subtrees are </a:t>
                </a:r>
                <a:r>
                  <a:rPr b="1"/>
                  <a:t>nested</a:t>
                </a:r>
                <a:r>
                  <a:rPr/>
                  <a:t> — obtained by repeatedly collapsing the internal node with the smallest per-leaf increase in error.</a:t>
                </a:r>
              </a:p>
              <a:p>
                <a:pPr lvl="0" indent="0" marL="0">
                  <a:buNone/>
                </a:pPr>
                <a:r>
                  <a:rPr/>
                  <a:t>That nesting is what makes it tractable: a one-dimensional family indexed by </a:t>
                </a:r>
                <a14:m>
                  <m:oMath xmlns:m="http://schemas.openxmlformats.org/officeDocument/2006/math">
                    <m:r>
                      <m:t>γ</m:t>
                    </m:r>
                  </m:oMath>
                </a14:m>
                <a:r>
                  <a:rPr/>
                  <a:t>, which you then select by cross-validation — exactly as you selected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last week.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same picture as Session 05</a:t>
            </a:r>
          </a:p>
        </p:txBody>
      </p:sp>
      <p:pic>
        <p:nvPicPr>
          <p:cNvPr descr="slides_files/figure-pptx/cell-5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193800"/>
            <a:ext cx="7454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interior optimum, found by CV, on a one-dimensional complexity family. Session 04’s figure with different axis labels.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structural point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in ridge.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in lasso. </a:t>
                </a:r>
                <a14:m>
                  <m:oMath xmlns:m="http://schemas.openxmlformats.org/officeDocument/2006/math">
                    <m:r>
                      <m:t>γ</m:t>
                    </m:r>
                  </m:oMath>
                </a14:m>
                <a:r>
                  <a:rPr/>
                  <a:t> here. Tree depth. Number of components in Session 08. Number of clusters in Session 09.</a:t>
                </a:r>
              </a:p>
              <a:p>
                <a:pPr lvl="0" indent="0" marL="0">
                  <a:buNone/>
                </a:pPr>
                <a:r>
                  <a:rPr b="1"/>
                  <a:t>Every method in this course has a complexity dial and a cross-validation procedure for setting it.</a:t>
                </a:r>
                <a:r>
                  <a:rPr/>
                  <a:t> Once you see that, a new method is only ever two questions: </a:t>
                </a:r>
                <a:r>
                  <a:rPr i="1"/>
                  <a:t>what is the dial, and what is the loss?</a:t>
                </a:r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4 · Why averaging works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single tree is a high-variance estimator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Change 5% of the rows and the </a:t>
                </a:r>
                <a:r>
                  <a:rPr b="1"/>
                  <a:t>first split</a:t>
                </a:r>
                <a:r>
                  <a:rPr/>
                  <a:t> can change</a:t>
                </a:r>
              </a:p>
              <a:p>
                <a:pPr lvl="0"/>
                <a:r>
                  <a:rPr/>
                  <a:t>Change the first split and every region below it changes</a:t>
                </a:r>
              </a:p>
              <a:p>
                <a:pPr lvl="0"/>
                <a:r>
                  <a:rPr/>
                  <a:t>So the whole partition is unstable — low bias, </a:t>
                </a:r>
                <a:r>
                  <a:rPr b="1"/>
                  <a:t>very</a:t>
                </a:r>
                <a:r>
                  <a:rPr/>
                  <a:t> high variance</a:t>
                </a:r>
              </a:p>
              <a:p>
                <a:pPr lvl="0" indent="0" marL="0">
                  <a:buNone/>
                </a:pPr>
                <a:r>
                  <a:rPr/>
                  <a:t>Session 04’s decomposition says: average many high-variance, low-bias estimators and the variance term falls while the bias term does not. That is </a:t>
                </a:r>
                <a:r>
                  <a:rPr b="1"/>
                  <a:t>bagging</a:t>
                </a:r>
                <a:r>
                  <a:rPr/>
                  <a:t> — fit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 trees on bootstrap resamples and average.</a:t>
                </a:r>
              </a:p>
            </p:txBody>
          </p:sp>
        </mc:Choice>
      </mc:AlternateContent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But how far does that go? Do the algebra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If each tree has variance </a:t>
                </a:r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and any two have correlation </a:t>
                </a:r>
                <a14:m>
                  <m:oMath xmlns:m="http://schemas.openxmlformats.org/officeDocument/2006/math">
                    <m:r>
                      <m:t>ρ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V</m:t>
                      </m:r>
                      <m:r>
                        <m:rPr>
                          <m:sty m:val="p"/>
                        </m:rPr>
                        <m:t>a</m:t>
                      </m:r>
                      <m:r>
                        <m:rPr>
                          <m:sty m:val="p"/>
                        </m:rPr>
                        <m:t>r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lin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B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b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sSub>
                                <m:e>
                                  <m:acc>
                                    <m:accPr>
                                      <m:chr m:val="̂"/>
                                    </m:accPr>
                                    <m:e>
                                      <m:r>
                                        <m:t>f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t>b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ρ</m:t>
                      </m:r>
                      <m:sSup>
                        <m:e>
                          <m:r>
                            <m:t>σ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ρ</m:t>
                          </m:r>
                        </m:num>
                        <m:den>
                          <m:r>
                            <m:t>B</m:t>
                          </m:r>
                        </m:den>
                      </m:f>
                      <m:sSup>
                        <m:e>
                          <m:r>
                            <m:t>σ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 </m:t>
                      </m:r>
                      <m:limLow>
                        <m:e>
                          <m:limUpp>
                            <m:e>
                              <m:r>
                                <m:rPr>
                                  <m:sty m:val="p"/>
                                </m:rPr>
                                <m:t>→</m:t>
                              </m:r>
                            </m:e>
                            <m:lim>
                              <m:r>
                                <m:t>​</m:t>
                              </m:r>
                            </m:lim>
                          </m:limUpp>
                        </m:e>
                        <m:lim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→</m:t>
                          </m:r>
                          <m:r>
                            <m:rPr>
                              <m:sty m:val="p"/>
                            </m:rPr>
                            <m:t>∞</m:t>
                          </m:r>
                        </m:lim>
                      </m:limLow>
                      <m:r>
                        <m:t> </m:t>
                      </m:r>
                      <m:r>
                        <m:t>ρ</m:t>
                      </m:r>
                      <m:sSup>
                        <m:e>
                          <m:r>
                            <m:t>σ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Increasing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 kills the </a:t>
                </a:r>
                <a:r>
                  <a:rPr b="1"/>
                  <a:t>second</a:t>
                </a:r>
                <a:r>
                  <a:rPr/>
                  <a:t> term only. The first term does not move. Buying more trees past a point buys nothing at all.</a:t>
                </a:r>
              </a:p>
            </p:txBody>
          </p:sp>
        </mc:Choice>
      </mc:AlternateContent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it off the graph</a:t>
            </a:r>
          </a:p>
        </p:txBody>
      </p:sp>
      <p:pic>
        <p:nvPicPr>
          <p:cNvPr descr="slides_files/figure-pptx/cell-6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193800"/>
            <a:ext cx="7454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ρ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0.6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100</m:t>
                    </m:r>
                  </m:oMath>
                </a14:m>
                <a:r>
                  <a:rPr/>
                  <a:t> gives </a:t>
                </a:r>
                <a14:m>
                  <m:oMath xmlns:m="http://schemas.openxmlformats.org/officeDocument/2006/math">
                    <m:r>
                      <m:t>0.604</m:t>
                    </m:r>
                  </m:oMath>
                </a14:m>
                <a:r>
                  <a:rPr/>
                  <a:t>; </a:t>
                </a:r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∞</m:t>
                    </m:r>
                  </m:oMath>
                </a14:m>
                <a:r>
                  <a:rPr/>
                  <a:t> gives </a:t>
                </a:r>
                <a14:m>
                  <m:oMath xmlns:m="http://schemas.openxmlformats.org/officeDocument/2006/math">
                    <m:r>
                      <m:t>0.600</m:t>
                    </m:r>
                  </m:oMath>
                </a14:m>
                <a:r>
                  <a:rPr/>
                  <a:t>. </a:t>
                </a:r>
                <a:r>
                  <a:rPr b="1"/>
                  <a:t>The whole gain is in lowering </a:t>
                </a:r>
                <a14:m>
                  <m:oMath xmlns:m="http://schemas.openxmlformats.org/officeDocument/2006/math">
                    <m:r>
                      <m:t>ρ</m:t>
                    </m:r>
                  </m:oMath>
                </a14:m>
                <a:r>
                  <a:rPr b="1"/>
                  <a:t>, not in raising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 b="1"/>
                  <a:t>.</a:t>
                </a:r>
              </a:p>
            </p:txBody>
          </p:sp>
        </mc:Choice>
      </mc:AlternateContent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So lower </a:t>
                </a:r>
                <a14:m>
                  <m:oMath xmlns:m="http://schemas.openxmlformats.org/officeDocument/2006/math">
                    <m:r>
                      <m:t>ρ</m:t>
                    </m:r>
                  </m:oMath>
                </a14:m>
                <a:r>
                  <a:rPr/>
                  <a:t>: that is a random forest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Restrict each split to a random subset of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features. Defaults: 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⌊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p</m:t>
                        </m:r>
                      </m:e>
                    </m:rad>
                    <m:r>
                      <m:rPr>
                        <m:sty m:val="p"/>
                      </m:rPr>
                      <m:t>⌋</m:t>
                    </m:r>
                  </m:oMath>
                </a14:m>
                <a:r>
                  <a:rPr/>
                  <a:t> for classification,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⌊</m:t>
                    </m:r>
                    <m:r>
                      <m:t>p</m:t>
                    </m:r>
                    <m:r>
                      <m:rPr>
                        <m:sty m:val="p"/>
                      </m:rPr>
                      <m:t>/</m:t>
                    </m:r>
                    <m:r>
                      <m:t>3</m:t>
                    </m:r>
                    <m:r>
                      <m:rPr>
                        <m:sty m:val="p"/>
                      </m:rPr>
                      <m:t>⌋</m:t>
                    </m:r>
                  </m:oMath>
                </a14:m>
                <a:r>
                  <a:rPr/>
                  <a:t> for regression.</a:t>
                </a:r>
              </a:p>
              <a:p>
                <a:pPr lvl="0"/>
                <a:r>
                  <a:rPr/>
                  <a:t>Lower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→ lower </a:t>
                </a:r>
                <a14:m>
                  <m:oMath xmlns:m="http://schemas.openxmlformats.org/officeDocument/2006/math">
                    <m:r>
                      <m:t>ρ</m:t>
                    </m:r>
                  </m:oMath>
                </a14:m>
                <a:r>
                  <a:rPr/>
                  <a:t> → lower ensemble variance</a:t>
                </a:r>
              </a:p>
              <a:p>
                <a:pPr lvl="0"/>
                <a:r>
                  <a:rPr/>
                  <a:t>Lower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→ </a:t>
                </a:r>
                <a:r>
                  <a:rPr b="1"/>
                  <a:t>higher</a:t>
                </a:r>
                <a:r>
                  <a:rPr/>
                  <a:t> bias in each individual tree</a:t>
                </a:r>
              </a:p>
              <a:p>
                <a:pPr lvl="0"/>
                <a:r>
                  <a:rPr/>
                  <a:t>So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is itself a bias–variance dial, tuned by CV</a:t>
                </a:r>
              </a:p>
              <a:p>
                <a:pPr lvl="0" indent="0" marL="0">
                  <a:buNone/>
                </a:pPr>
                <a:r>
                  <a:rPr/>
                  <a:t>One free bonus: each row is out-of-bag for about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/</m:t>
                            </m:r>
                            <m:r>
                              <m:t>n</m:t>
                            </m:r>
                          </m:e>
                        </m:d>
                      </m:e>
                      <m:sup>
                        <m:r>
                          <m:t>n</m:t>
                        </m:r>
                      </m:sup>
                    </m:sSup>
                    <m:r>
                      <m:rPr>
                        <m:sty m:val="p"/>
                      </m:rPr>
                      <m:t>→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≈</m:t>
                    </m:r>
                    <m:r>
                      <m:t>36.8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 of trees, so the </a:t>
                </a:r>
                <a:r>
                  <a:rPr b="1"/>
                  <a:t>OOB error</a:t>
                </a:r>
                <a:r>
                  <a:rPr/>
                  <a:t> approximates CV error at no extra cost.</a:t>
                </a:r>
              </a:p>
            </p:txBody>
          </p:sp>
        </mc:Choice>
      </mc:AlternateContent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Does it actually happen? Measure </a:t>
                </a:r>
                <a14:m>
                  <m:oMath xmlns:m="http://schemas.openxmlformats.org/officeDocument/2006/math">
                    <m:r>
                      <m:t>ρ</m:t>
                    </m:r>
                  </m:oMath>
                </a14:m>
              </a:p>
            </p:txBody>
          </p:sp>
        </mc:Choice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fit_and_measure(max_features, depth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, B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200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"""Fit an ensemble, then measure how correlated its trees' predictions are."""</a:t>
            </a:r>
            <a:br/>
            <a:r>
              <a:rPr>
                <a:latin typeface="Courier"/>
              </a:rPr>
              <a:t>    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RandomForestClassifier(n_estimators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B, max_depth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depth,</a:t>
            </a:r>
            <a:br/>
            <a:r>
              <a:rPr>
                <a:latin typeface="Courier"/>
              </a:rPr>
              <a:t>                               max_features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max_features,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n_jobs</a:t>
            </a:r>
            <a:r>
              <a:rPr>
                <a:solidFill>
                  <a:srgbClr val="666666"/>
                </a:solidFill>
                <a:latin typeface="Courier"/>
              </a:rPr>
              <a:t>=-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).fit(Xtr, ytr)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each tree's predicted probability on the test rows, stacked into a matrix</a:t>
            </a:r>
            <a:br/>
            <a:r>
              <a:rPr>
                <a:latin typeface="Courier"/>
              </a:rPr>
              <a:t>    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np.array([t.predict_proba(Xte.to_numpy())[:,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m.estimators_[:</a:t>
            </a:r>
            <a:r>
              <a:rPr>
                <a:solidFill>
                  <a:srgbClr val="40A070"/>
                </a:solidFill>
                <a:latin typeface="Courier"/>
              </a:rPr>
              <a:t>80</a:t>
            </a:r>
            <a:r>
              <a:rPr>
                <a:latin typeface="Courier"/>
              </a:rPr>
              <a:t>]])</a:t>
            </a:r>
            <a:br/>
            <a:r>
              <a:rPr>
                <a:latin typeface="Courier"/>
              </a:rPr>
              <a:t>    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np.corrcoef(P)</a:t>
            </a:r>
            <a:br/>
            <a:r>
              <a:rPr>
                <a:latin typeface="Courier"/>
              </a:rPr>
              <a:t>    rho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C[np.triu_indices(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(C),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)].mean()</a:t>
            </a:r>
            <a:br/>
            <a:r>
              <a:rPr>
                <a:latin typeface="Courier"/>
              </a:rPr>
              <a:t>    root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pd.Series([FEAT[t.tree_.feature[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]]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m.estimators_]).value_counts(normalize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m, rho, root</a:t>
            </a:r>
            <a:br/>
            <a:br/>
            <a:r>
              <a:rPr>
                <a:latin typeface="Courier"/>
              </a:rPr>
              <a:t>bag_m, rho_bag, root_bag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fit_and_measure(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)     </a:t>
            </a:r>
            <a:r>
              <a:rPr i="1">
                <a:solidFill>
                  <a:srgbClr val="60A0B0"/>
                </a:solidFill>
                <a:latin typeface="Courier"/>
              </a:rPr>
              <a:t># all features at every split = bagging</a:t>
            </a:r>
            <a:br/>
            <a:r>
              <a:rPr>
                <a:latin typeface="Courier"/>
              </a:rPr>
              <a:t>rf_m,  rho_rf,  root_rf 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fit_and_measure(</a:t>
            </a:r>
            <a:r>
              <a:rPr>
                <a:solidFill>
                  <a:srgbClr val="4070A0"/>
                </a:solidFill>
                <a:latin typeface="Courier"/>
              </a:rPr>
              <a:t>"sqrt"</a:t>
            </a:r>
            <a:r>
              <a:rPr>
                <a:latin typeface="Courier"/>
              </a:rPr>
              <a:t>)   </a:t>
            </a:r>
            <a:r>
              <a:rPr i="1">
                <a:solidFill>
                  <a:srgbClr val="60A0B0"/>
                </a:solidFill>
                <a:latin typeface="Courier"/>
              </a:rPr>
              <a:t># sqrt(p) features = random forest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max_features=None</a:t>
            </a:r>
            <a:r>
              <a:rPr/>
              <a:t> means </a:t>
            </a:r>
            <a:r>
              <a:rPr i="1"/>
              <a:t>consider every feature at every split</a:t>
            </a:r>
            <a:r>
              <a:rPr/>
              <a:t> — that is plain bagging. </a:t>
            </a:r>
            <a:r>
              <a:rPr>
                <a:latin typeface="Courier"/>
              </a:rPr>
              <a:t>"sqrt"</a:t>
            </a:r>
            <a:r>
              <a:rPr/>
              <a:t> is the forest. Everything else about the two fits is identical.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mechanism, and the payoff</a:t>
            </a:r>
          </a:p>
        </p:txBody>
      </p:sp>
      <p:pic>
        <p:nvPicPr>
          <p:cNvPr descr="slides_files/figure-pptx/cell-8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46200"/>
            <a:ext cx="82296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Bagging puts the </a:t>
                </a:r>
                <a:r>
                  <a:rPr b="1"/>
                  <a:t>same</a:t>
                </a:r>
                <a:r>
                  <a:rPr/>
                  <a:t> feature at the root of 80% of its trees. The forest, forbidden from seeing it most of the time, uses it in a quarter. </a:t>
                </a:r>
                <a14:m>
                  <m:oMath xmlns:m="http://schemas.openxmlformats.org/officeDocument/2006/math">
                    <m:r>
                      <m:t>ρ</m:t>
                    </m:r>
                  </m:oMath>
                </a14:m>
                <a:r>
                  <a:rPr/>
                  <a:t> falls, and the AUC rises.</a:t>
                </a:r>
              </a:p>
            </p:txBody>
          </p:sp>
        </mc:Choice>
      </mc:AlternateContent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honest scoreboard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tuned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RandomForestClassifier(n_estimators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500</a:t>
            </a:r>
            <a:r>
              <a:rPr>
                <a:latin typeface="Courier"/>
              </a:rPr>
              <a:t>, min_samples_leaf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40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           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n_jobs</a:t>
            </a:r>
            <a:r>
              <a:rPr>
                <a:solidFill>
                  <a:srgbClr val="666666"/>
                </a:solidFill>
                <a:latin typeface="Courier"/>
              </a:rPr>
              <a:t>=-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).fit(Xtr, ytr)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f"logistic regression (Session 06) 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AUC_LOGIT</a:t>
            </a:r>
            <a:r>
              <a:rPr>
                <a:solidFill>
                  <a:srgbClr val="4070A0"/>
                </a:solidFill>
                <a:latin typeface="Courier"/>
              </a:rPr>
              <a:t>:.4f}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f"bagging, depth 4                 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auc(bag_m)</a:t>
            </a:r>
            <a:r>
              <a:rPr>
                <a:solidFill>
                  <a:srgbClr val="4070A0"/>
                </a:solidFill>
                <a:latin typeface="Courier"/>
              </a:rPr>
              <a:t>:.4f}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f"random forest, depth 4           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auc(rf_m)</a:t>
            </a:r>
            <a:r>
              <a:rPr>
                <a:solidFill>
                  <a:srgbClr val="4070A0"/>
                </a:solidFill>
                <a:latin typeface="Courier"/>
              </a:rPr>
              <a:t>:.4f}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f"random forest, tuned             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auc(tuned)</a:t>
            </a:r>
            <a:r>
              <a:rPr>
                <a:solidFill>
                  <a:srgbClr val="4070A0"/>
                </a:solidFill>
                <a:latin typeface="Courier"/>
              </a:rPr>
              <a:t>:.4f}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logistic regression (Session 06)  0.6796
bagging, depth 4                  0.6671
random forest, depth 4            0.6757
random forest, tuned              0.6813</a:t>
            </a:r>
          </a:p>
          <a:p>
            <a:pPr lvl="0" indent="0" marL="0">
              <a:buNone/>
            </a:pPr>
            <a:r>
              <a:rPr/>
              <a:t>A tuned forest, on 9,578 loans and 19 features, beats a linear model in the log-odds by </a:t>
            </a:r>
            <a:r>
              <a:rPr b="1"/>
              <a:t>0.002 AUC</a:t>
            </a:r>
            <a:r>
              <a:rPr/>
              <a:t>. Report that honestly. Flexibility is not a free win.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5 · Boosting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different idea entirely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Bagging fits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 trees </a:t>
                </a:r>
                <a:r>
                  <a:rPr b="1"/>
                  <a:t>independently</a:t>
                </a:r>
                <a:r>
                  <a:rPr/>
                  <a:t> and averages. Boosting fits them </a:t>
                </a:r>
                <a:r>
                  <a:rPr b="1"/>
                  <a:t>sequentially</a:t>
                </a:r>
                <a:r>
                  <a:rPr/>
                  <a:t>, each one correcting what its predecessors got wrong.</a:t>
                </a:r>
              </a:p>
              <a:p>
                <a:pPr lvl="0" indent="0" marL="0">
                  <a:buNone/>
                </a:pPr>
                <a:r>
                  <a:rPr/>
                  <a:t>Think of minimising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r>
                          <m:t>L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,</m:t>
                        </m:r>
                        <m: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sSub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/>
                  <a:t> by gradient descent — not over parameters, but over the </a:t>
                </a:r>
                <a:r>
                  <a:rPr b="1"/>
                  <a:t>function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F</m:t>
                    </m:r>
                  </m:oMath>
                </a14:m>
                <a:r>
                  <a:rPr/>
                  <a:t> itself.</a:t>
                </a:r>
              </a:p>
              <a:p>
                <a:pPr lvl="0" indent="0" marL="0">
                  <a:buNone/>
                </a:pPr>
                <a:r>
                  <a:rPr/>
                  <a:t>That reframing is the whole derivation. Everything below follows from taking it literally.</a:t>
                </a:r>
              </a:p>
            </p:txBody>
          </p:sp>
        </mc:Choice>
      </mc:AlternateContent>
    </p:spTree>
  </p:cSld>
</p:sld>
</file>

<file path=ppt/slides/slide35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Gradient descent in function space</a:t></a:r></a:p></p:txBody></p:sp><mc:AlternateContent xmlns:mc="http://schemas.openxmlformats.org/markup-compatibility/2006"><mc:Choice xmlns:a14="http://schemas.microsoft.com/office/drawing/2010/main" Requires="a14"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At stage </a:t></a:r><a14:m><m:oMath xmlns:m="http://schemas.openxmlformats.org/officeDocument/2006/math"><m:r><m:t>m</m:t></m:r></m:oMath></a14:m><a:r><a:rPr /><a:t>, the negative gradient at the current fit is the </a:t></a:r><a:r><a:rPr b="1" /><a:t>pseudo-residual</a:t></a:r><a:r><a:rPr /><a:t>:</a:t></a:r></a:p><a:p><a:pPr lvl="0" indent="0" marL="0"><a:buNone /></a:pPr><a14:m><m:oMathPara xmlns:m="http://schemas.openxmlformats.org/officeDocument/2006/math"><m:oMathParaPr><m:jc m:val="center" /></m:oMathParaPr><m:oMath><m:sSub><m:e><m:r><m:t>r</m:t></m:r></m:e><m:sub><m:r><m:t>i</m:t></m:r><m:r><m:t>m</m:t></m:r></m:sub></m:sSub><m:r><m:rPr><m:sty m:val="p" /></m:rPr><m:t>=</m:t></m:r><m:r><m:rPr><m:sty m:val="p" /></m:rPr><m:t>−</m:t></m:r><m:sSub><m:e><m:d><m:dPr><m:begChr m:val="[" /><m:sepChr m:val="" /><m:endChr m:val="]" /><m:grow /></m:dPr><m:e><m:f><m:fPr><m:type m:val="bar" /></m:fPr><m:num><m:r><m:rPr><m:sty m:val="p" /></m:rPr><m:t>∂</m:t></m:r><m:r><m:t>L</m:t></m:r><m:d><m:dPr><m:begChr m:val="(" /><m:sepChr m:val="" /><m:endChr m:val=")" /><m:grow /></m:dPr><m:e><m:sSub><m:e><m:r><m:t>y</m:t></m:r></m:e><m:sub><m:r><m:t>i</m:t></m:r></m:sub></m:sSub><m:r><m:rPr><m:sty m:val="p" /></m:rPr><m:t>,</m:t></m:r><m:r><m:t>F</m:t></m:r><m:d><m:dPr><m:begChr m:val="(" /><m:sepChr m:val="" /><m:endChr m:val=")" /><m:grow /></m:dPr><m:e><m:sSub><m:e><m:r><m:t>x</m:t></m:r></m:e><m:sub><m:r><m:t>i</m:t></m:r></m:sub></m:sSub></m:e></m:d></m:e></m:d></m:num><m:den><m:r><m:rPr><m:sty m:val="p" /></m:rPr><m:t>∂</m:t></m:r><m:r><m:t>F</m:t></m:r><m:d><m:dPr><m:begChr m:val="(" /><m:sepChr m:val="" /><m:endChr m:val=")" /><m:grow /></m:dPr><m:e><m:sSub><m:e><m:r><m:t>x</m:t></m:r></m:e><m:sub><m:r><m:t>i</m:t></m:r></m:sub></m:sSub></m:e></m:d></m:den></m:f></m:e></m:d></m:e><m:sub><m:r><m:t>F</m:t></m:r><m:r><m:rPr><m:sty m:val="p" /></m:rPr><m:t>=</m:t></m:r><m:sSub><m:e><m:r><m:t>F</m:t></m:r></m:e><m:sub><m:r><m:t>m</m:t></m:r><m:r><m:rPr><m:sty m:val="p" /></m:rPr><m:t>−</m:t></m:r><m:r><m:t>1</m:t></m:r></m:sub></m:sSub></m:sub></m:sSub></m:oMath></m:oMathPara></a14:m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2552700" /><a:gridCol w="2552700" /></a:tblGrid><a:tr h="0"><a:tc><a:txBody><a:bodyPr /><a:lstStyle /><a:p><a:pPr lvl="0" indent="0" marL="0"><a:buNone /></a:pPr><a:r><a:rPr /><a:t>Loss</a:t></a:r></a:p></a:txBody><a:tcPr /></a:tc><a:tc><a:txBody><a:bodyPr /><a:lstStyle /><a:p><a:pPr lvl="0" indent="0" marL="0"><a:buNone /></a:pPr><a14:m><m:oMath xmlns:m="http://schemas.openxmlformats.org/officeDocument/2006/math"><m:sSub><m:e><m:r><m:t>r</m:t></m:r></m:e><m:sub><m:r><m:t>i</m:t></m:r><m:r><m:t>m</m:t></m:r></m:sub></m:sSub></m:oMath></a14:m><a:r><a:rPr /><a:t> becomes</a:t></a:r></a:p></a:txBody><a:tcPr /></a:tc></a:tr><a:tr h="0"><a:tc><a:txBody><a:bodyPr /><a:lstStyle /><a:p><a:pPr lvl="0" indent="0" marL="0"><a:buNone /></a:pPr><a:r><a:rPr /><a:t>squared error</a:t></a:r></a:p></a:txBody></a:tc><a:tc><a:txBody><a:bodyPr /><a:lstStyle /><a:p><a:pPr lvl="0" indent="0" marL="0"><a:buNone /></a:pPr><a14:m><m:oMath xmlns:m="http://schemas.openxmlformats.org/officeDocument/2006/math"><m:sSub><m:e><m:r><m:t>y</m:t></m:r></m:e><m:sub><m:r><m:t>i</m:t></m:r></m:sub></m:sSub><m:r><m:rPr><m:sty m:val="p" /></m:rPr><m:t>−</m:t></m:r><m:sSub><m:e><m:r><m:t>F</m:t></m:r></m:e><m:sub><m:r><m:t>m</m:t></m:r><m:r><m:rPr><m:sty m:val="p" /></m:rPr><m:t>−</m:t></m:r><m:r><m:t>1</m:t></m:r></m:sub></m:sSub><m:d><m:dPr><m:begChr m:val="(" /><m:sepChr m:val="" /><m:endChr m:val=")" /><m:grow /></m:dPr><m:e><m:sSub><m:e><m:r><m:t>x</m:t></m:r></m:e><m:sub><m:r><m:t>i</m:t></m:r></m:sub></m:sSub></m:e></m:d></m:oMath></a14:m><a:r><a:rPr /><a:t> — literally the residual</a:t></a:r></a:p></a:txBody></a:tc></a:tr><a:tr h="0"><a:tc><a:txBody><a:bodyPr /><a:lstStyle /><a:p><a:pPr lvl="0" indent="0" marL="0"><a:buNone /></a:pPr><a:r><a:rPr /><a:t>logistic</a:t></a:r></a:p></a:txBody></a:tc><a:tc><a:txBody><a:bodyPr /><a:lstStyle /><a:p><a:pPr lvl="0" indent="0" marL="0"><a:buNone /></a:pPr><a14:m><m:oMath xmlns:m="http://schemas.openxmlformats.org/officeDocument/2006/math"><m:sSub><m:e><m:r><m:t>y</m:t></m:r></m:e><m:sub><m:r><m:t>i</m:t></m:r></m:sub></m:sSub><m:r><m:rPr><m:sty m:val="p" /></m:rPr><m:t>−</m:t></m:r><m:sSub><m:e><m:r><m:t>p</m:t></m:r></m:e><m:sub><m:r><m:t>m</m:t></m:r><m:r><m:rPr><m:sty m:val="p" /></m:rPr><m:t>−</m:t></m:r><m:r><m:t>1</m:t></m:r></m:sub></m:sSub><m:d><m:dPr><m:begChr m:val="(" /><m:sepChr m:val="" /><m:endChr m:val=")" /><m:grow /></m:dPr><m:e><m:sSub><m:e><m:r><m:t>x</m:t></m:r></m:e><m:sub><m:r><m:t>i</m:t></m:r></m:sub></m:sSub></m:e></m:d></m:oMath></a14:m><a:r><a:rPr /><a:t> — the probability residual from Session 06</a:t></a:r></a:p></a:txBody></a:tc></a:tr></a:tbl></a:graphicData></a:graphic></p:graphicFrame></p:spTree></p:cSld>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Fit a small tree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m</m:t>
                        </m:r>
                      </m:sub>
                    </m:sSub>
                  </m:oMath>
                </a14:m>
                <a:r>
                  <a:rPr/>
                  <a:t> to those pseudo-residuals, then step: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m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m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ν</m:t>
                    </m:r>
                    <m:r>
                      <m:t> </m:t>
                    </m:r>
                    <m:sSub>
                      <m:e>
                        <m:r>
                          <m:t>γ</m:t>
                        </m:r>
                      </m:e>
                      <m:sub>
                        <m:r>
                          <m:t>m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m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Shrinkage is not optional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m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m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t>ν</m:t>
                      </m:r>
                      <m:r>
                        <m:t> </m:t>
                      </m:r>
                      <m:sSub>
                        <m:e>
                          <m:r>
                            <m:t>γ</m:t>
                          </m:r>
                        </m:e>
                        <m:sub>
                          <m:r>
                            <m:t>m</m:t>
                          </m:r>
                        </m:sub>
                      </m:sSub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m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&lt;</m:t>
                      </m:r>
                      <m:r>
                        <m:t>ν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t>1</m:t>
                      </m:r>
                    </m:oMath>
                  </m:oMathPara>
                </a14:m>
              </a:p>
              <a:p>
                <a:pPr lvl="0"/>
                <a:r>
                  <a:rPr/>
                  <a:t>Small </a:t>
                </a:r>
                <a14:m>
                  <m:oMath xmlns:m="http://schemas.openxmlformats.org/officeDocument/2006/math">
                    <m:r>
                      <m:t>ν</m:t>
                    </m:r>
                  </m:oMath>
                </a14:m>
                <a:r>
                  <a:rPr/>
                  <a:t> (0.01–0.1) with </a:t>
                </a:r>
                <a:r>
                  <a:rPr b="1"/>
                  <a:t>many</a:t>
                </a:r>
                <a:r>
                  <a:rPr/>
                  <a:t> trees generalises far better than large </a:t>
                </a:r>
                <a14:m>
                  <m:oMath xmlns:m="http://schemas.openxmlformats.org/officeDocument/2006/math">
                    <m:r>
                      <m:t>ν</m:t>
                    </m:r>
                  </m:oMath>
                </a14:m>
                <a:r>
                  <a:rPr/>
                  <a:t> with few</a:t>
                </a:r>
              </a:p>
              <a:p>
                <a:pPr lvl="0"/>
                <a:r>
                  <a:rPr/>
                  <a:t>Halving </a:t>
                </a:r>
                <a14:m>
                  <m:oMath xmlns:m="http://schemas.openxmlformats.org/officeDocument/2006/math">
                    <m:r>
                      <m:t>ν</m:t>
                    </m:r>
                  </m:oMath>
                </a14:m>
                <a:r>
                  <a:rPr/>
                  <a:t> roughly </a:t>
                </a:r>
                <a:r>
                  <a:rPr b="1"/>
                  <a:t>doubles</a:t>
                </a:r>
                <a:r>
                  <a:rPr/>
                  <a:t> the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you need</a:t>
                </a:r>
              </a:p>
              <a:p>
                <a:pPr lvl="0"/>
                <a:r>
                  <a:rPr/>
                  <a:t>Three dials interact: </a:t>
                </a:r>
                <a14:m>
                  <m:oMath xmlns:m="http://schemas.openxmlformats.org/officeDocument/2006/math">
                    <m:r>
                      <m:t>ν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, and depth </a:t>
                </a:r>
                <a14:m>
                  <m:oMath xmlns:m="http://schemas.openxmlformats.org/officeDocument/2006/math">
                    <m:r>
                      <m:t>d</m:t>
                    </m:r>
                  </m:oMath>
                </a14:m>
                <a:r>
                  <a:rPr/>
                  <a:t> — where </a:t>
                </a:r>
                <a14:m>
                  <m:oMath xmlns:m="http://schemas.openxmlformats.org/officeDocument/2006/math">
                    <m:r>
                      <m:t>d</m:t>
                    </m:r>
                  </m:oMath>
                </a14:m>
                <a:r>
                  <a:rPr/>
                  <a:t> caps the </a:t>
                </a:r>
                <a:r>
                  <a:rPr b="1"/>
                  <a:t>interaction order</a:t>
                </a:r>
                <a:r>
                  <a:rPr/>
                  <a:t> (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 is additive, 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</m:oMath>
                </a14:m>
                <a:r>
                  <a:rPr/>
                  <a:t> allows two-way interactions)</a:t>
                </a:r>
              </a:p>
            </p:txBody>
          </p:sp>
        </mc:Choice>
      </mc:AlternateContent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learning-rate picture</a:t>
            </a:r>
          </a:p>
        </p:txBody>
      </p:sp>
      <p:pic>
        <p:nvPicPr>
          <p:cNvPr descr="slides_files/figure-pptx/cell-10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23900" y="1193800"/>
            <a:ext cx="7696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Dots mark each curve’s peak. The fast learner (</a:t>
                </a:r>
                <a14:m>
                  <m:oMath xmlns:m="http://schemas.openxmlformats.org/officeDocument/2006/math">
                    <m:r>
                      <m:t>ν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0.5</m:t>
                    </m:r>
                  </m:oMath>
                </a14:m>
                <a:r>
                  <a:rPr/>
                  <a:t>) peaks early and then </a:t>
                </a:r>
                <a:r>
                  <a:rPr b="1"/>
                  <a:t>decays</a:t>
                </a:r>
                <a:r>
                  <a:rPr/>
                  <a:t> — it is overfitting one stage at a time.</a:t>
                </a:r>
              </a:p>
            </p:txBody>
          </p:sp>
        </mc:Choice>
      </mc:AlternateContent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the modern libraries add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XGBoost and LightGBM expand the loss to second order and penalise the tree explicitly: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rPr>
                              <m:sty m:val="p"/>
                              <m:scr m:val="script"/>
                            </m:rPr>
                            <m:t>L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m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m:t>≈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sSub>
                                <m:e>
                                  <m:r>
                                    <m:t>g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m:t>h</m:t>
                                  </m:r>
                                </m:e>
                                <m:sub>
                                  <m:r>
                                    <m:t>m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f>
                                <m:fPr>
                                  <m:type m:val="lin"/>
                                </m:fPr>
                                <m:num>
                                  <m:r>
                                    <m:t>1</m:t>
                                  </m:r>
                                </m:num>
                                <m:den>
                                  <m:r>
                                    <m:t>2</m:t>
                                  </m:r>
                                </m:den>
                              </m:f>
                              <m:sSub>
                                <m:e>
                                  <m:r>
                                    <m:t>h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m:t>h</m:t>
                                  </m:r>
                                </m:e>
                                <m:sub>
                                  <m:r>
                                    <m:t>m</m:t>
                                  </m:r>
                                </m:sub>
                              </m:sSub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m:t>+</m:t>
                      </m:r>
                      <m:r>
                        <m:t>Ω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Ω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h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γ</m:t>
                      </m:r>
                      <m:d>
                        <m:dPr>
                          <m:begChr m:val="|"/>
                          <m:sepChr m:val=""/>
                          <m:endChr m:val="|"/>
                          <m:grow/>
                        </m:dPr>
                        <m:e>
                          <m: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lin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2</m:t>
                          </m:r>
                        </m:den>
                      </m:f>
                      <m:r>
                        <m:t>λ</m:t>
                      </m:r>
                      <m:r>
                        <m:rPr>
                          <m:sty m:val="p"/>
                        </m:rPr>
                        <m:t>∥</m:t>
                      </m:r>
                      <m:r>
                        <m:t>w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m:t>∥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Solving for the optimal leaf weight: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w</m:t>
                          </m:r>
                        </m:e>
                        <m:sub>
                          <m: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⋆</m:t>
                          </m:r>
                        </m:sup>
                      </m:sSubSup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λ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Look at that denominator. </a:t>
                </a:r>
                <a:r>
                  <a:rPr b="1"/>
                  <a:t>That is ridge</a:t>
                </a:r>
                <a:r>
                  <a:rPr/>
                  <a:t>, in a third guise — the same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+</m:t>
                    </m:r>
                    <m:r>
                      <m:t>λ</m:t>
                    </m:r>
                  </m:oMath>
                </a14:m>
                <a:r>
                  <a:rPr/>
                  <a:t> that made </a:t>
                </a:r>
                <a14:m>
                  <m:oMath xmlns:m="http://schemas.openxmlformats.org/officeDocument/2006/math"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⊤</m:t>
                        </m:r>
                      </m:sup>
                    </m:sSup>
                    <m:r>
                      <m:t>X</m:t>
                    </m:r>
                  </m:oMath>
                </a14:m>
                <a:r>
                  <a:rPr/>
                  <a:t> invertible in Session 05, now stabilising a leaf.</a:t>
                </a:r>
              </a:p>
            </p:txBody>
          </p:sp>
        </mc:Choice>
      </mc:AlternateContent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6 · Recovering interpretation</a:t>
            </a:r>
          </a:p>
        </p:txBody>
      </p:sp>
    </p:spTree>
  </p:cSld>
</p:sld>
</file>

<file path=ppt/slides/slide42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Five tools, and what each is for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743200" /><a:gridCol w="2743200" /><a:gridCol w="2743200" /></a:tblGrid><a:tr h="0"><a:tc><a:txBody><a:bodyPr /><a:lstStyle /><a:p><a:pPr lvl="0" indent="0" marL="0"><a:buNone /></a:pPr><a:r><a:rPr /><a:t>Tool</a:t></a:r></a:p></a:txBody><a:tcPr /></a:tc><a:tc><a:txBody><a:bodyPr /><a:lstStyle /><a:p><a:pPr lvl="0" indent="0" marL="0"><a:buNone /></a:pPr><a:r><a:rPr /><a:t>What it answers</a:t></a:r></a:p></a:txBody><a:tcPr /></a:tc><a:tc><a:txBody><a:bodyPr /><a:lstStyle /><a:p><a:pPr lvl="0" indent="0" marL="0"><a:buNone /></a:pPr><a:r><a:rPr /><a:t>The caveat</a:t></a:r></a:p></a:txBody><a:tcPr /></a:tc></a:tr><a:tr h="0"><a:tc><a:txBody><a:bodyPr /><a:lstStyle /><a:p><a:pPr lvl="0" indent="0" marL="0"><a:buNone /></a:pPr><a:r><a:rPr /><a:t>Impurity importance</a:t></a:r></a:p></a:txBody></a:tc><a:tc><a:txBody><a:bodyPr /><a:lstStyle /><a:p><a:pPr lvl="0" indent="0" marL="0"><a:buNone /></a:pPr><a:r><a:rPr /><a:t>how often, and how usefully, a feature was split on</a:t></a:r></a:p></a:txBody></a:tc><a:tc><a:txBody><a:bodyPr /><a:lstStyle /><a:p><a:pPr lvl="0" indent="0" marL="0"><a:buNone /></a:pPr><a:r><a:rPr b="1" /><a:t>biased</a:t></a:r><a:r><a:rPr /><a:t> toward high-cardinality features; in-sample</a:t></a:r></a:p></a:txBody></a:tc></a:tr><a:tr h="0"><a:tc><a:txBody><a:bodyPr /><a:lstStyle /><a:p><a:pPr lvl="0" indent="0" marL="0"><a:buNone /></a:pPr><a:r><a:rPr /><a:t>Permutation importance</a:t></a:r></a:p></a:txBody></a:tc><a:tc><a:txBody><a:bodyPr /><a:lstStyle /><a:p><a:pPr lvl="0" indent="0" marL="0"><a:buNone /></a:pPr><a:r><a:rPr /><a:t>how much test error rises when it is scrambled</a:t></a:r></a:p></a:txBody></a:tc><a:tc><a:txBody><a:bodyPr /><a:lstStyle /><a:p><a:pPr lvl="0" indent="0" marL="0"><a:buNone /></a:pPr><a:r><a:rPr /><a:t>breaks under </a:t></a:r><a:r><a:rPr b="1" /><a:t>correlated</a:t></a:r><a:r><a:rPr /><a:t> features</a:t></a:r></a:p></a:txBody></a:tc></a:tr><a:tr h="0"><a:tc><a:txBody><a:bodyPr /><a:lstStyle /><a:p><a:pPr lvl="0" indent="0" marL="0"><a:buNone /></a:pPr><a:r><a:rPr /><a:t>Partial dependence</a:t></a:r></a:p></a:txBody></a:tc><a:tc><a:txBody><a:bodyPr /><a:lstStyle /><a:p><a:pPr lvl="0" indent="0" marL="0"><a:buNone /></a:pPr><a:r><a:rPr /><a:t>the average marginal relationship</a:t></a:r></a:p></a:txBody></a:tc><a:tc><a:txBody><a:bodyPr /><a:lstStyle /><a:p><a:pPr lvl="0" indent="0" marL="0"><a:buNone /></a:pPr><a:r><a:rPr /><a:t>assumes </a:t></a:r><a14:m><m:oMath xmlns:m="http://schemas.openxmlformats.org/officeDocument/2006/math"><m:sSub><m:e><m:r><m:t>x</m:t></m:r></m:e><m:sub><m:r><m:t>S</m:t></m:r></m:sub></m:sSub><m:r><m:rPr><m:sty m:val="p" /></m:rPr><m:t>⟂</m:t></m:r><m:sSub><m:e><m:r><m:t>x</m:t></m:r></m:e><m:sub><m:r><m:t>C</m:t></m:r></m:sub></m:sSub></m:oMath></a14:m><a:r><a:rPr /><a:t>; hides heterogeneity</a:t></a:r></a:p></a:txBody></a:tc></a:tr><a:tr h="0"><a:tc><a:txBody><a:bodyPr /><a:lstStyle /><a:p><a:pPr lvl="0" indent="0" marL="0"><a:buNone /></a:pPr><a:r><a:rPr /><a:t>ICE curves</a:t></a:r></a:p></a:txBody></a:tc><a:tc><a:txBody><a:bodyPr /><a:lstStyle /><a:p><a:pPr lvl="0" indent="0" marL="0"><a:buNone /></a:pPr><a:r><a:rPr /><a:t>the per-observation version</a:t></a:r></a:p></a:txBody></a:tc><a:tc><a:txBody><a:bodyPr /><a:lstStyle /><a:p><a:pPr lvl="0" indent="0" marL="0"><a:buNone /></a:pPr><a:r><a:rPr /><a:t>reveals what PDP averages away</a:t></a:r></a:p></a:txBody></a:tc></a:tr><a:tr h="0"><a:tc><a:txBody><a:bodyPr /><a:lstStyle /><a:p><a:pPr lvl="0" indent="0" marL="0"><a:buNone /></a:pPr><a:r><a:rPr /><a:t>SHAP</a:t></a:r></a:p></a:txBody></a:tc><a:tc><a:txBody><a:bodyPr /><a:lstStyle /><a:p><a:pPr lvl="0" indent="0" marL="0"><a:buNone /></a:pPr><a:r><a:rPr /><a:t>additive attribution, per prediction</a:t></a:r></a:p></a:txBody></a:tc><a:tc><a:txBody><a:bodyPr /><a:lstStyle /><a:p><a:pPr lvl="0" indent="0" marL="0"><a:buNone /></a:pPr><a:r><a:rPr /><a:t>axiomatically unique, costly, still a model summary</a:t></a:r></a:p></a:txBody></a:tc></a:tr></a:tbl></a:graphicData></a:graphic></p:graphicFrame></p:spTree></p:cSld>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impurity bias is not theoretical</a:t>
            </a:r>
          </a:p>
        </p:txBody>
      </p:sp>
      <p:pic>
        <p:nvPicPr>
          <p:cNvPr descr="slides_files/figure-pptx/cell-11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08100"/>
            <a:ext cx="8229600" cy="3162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Impurity importance rewards features with </a:t>
            </a:r>
            <a:r>
              <a:rPr b="1"/>
              <a:t>thousands of candidate split points</a:t>
            </a:r>
            <a:r>
              <a:rPr/>
              <a:t>. Permutation importance, scored out of sample, puts FICO first — which is what a credit analyst would have told you before you started.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that happens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continuous feature with 7,000 distinct values offers 7,000 chances to reduce impurity </a:t>
            </a:r>
            <a:r>
              <a:rPr b="1"/>
              <a:t>by noise</a:t>
            </a:r>
            <a:r>
              <a:rPr/>
              <a:t>. A binary flag offers one. Impurity importance never corrects for that.</a:t>
            </a:r>
          </a:p>
          <a:p>
            <a:pPr lvl="0"/>
            <a:r>
              <a:rPr/>
              <a:t>Never report impurity importance as “which variables matter”</a:t>
            </a:r>
          </a:p>
          <a:p>
            <a:pPr lvl="0"/>
            <a:r>
              <a:rPr/>
              <a:t>Report </a:t>
            </a:r>
            <a:r>
              <a:rPr b="1"/>
              <a:t>permutation</a:t>
            </a:r>
            <a:r>
              <a:rPr/>
              <a:t> importance, computed on </a:t>
            </a:r>
            <a:r>
              <a:rPr b="1"/>
              <a:t>held-out</a:t>
            </a:r>
            <a:r>
              <a:rPr/>
              <a:t> rows</a:t>
            </a:r>
          </a:p>
          <a:p>
            <a:pPr lvl="0"/>
            <a:r>
              <a:rPr/>
              <a:t>And state which features are correlated, because permutation breaks there too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relationship itself: PDP and ICE</a:t>
            </a:r>
          </a:p>
        </p:txBody>
      </p:sp>
      <p:pic>
        <p:nvPicPr>
          <p:cNvPr descr="slides_files/figure-pptx/cell-12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193800"/>
            <a:ext cx="7454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thick line is the average. The thin lines are </a:t>
            </a:r>
            <a:r>
              <a:rPr b="1"/>
              <a:t>individual borrowers</a:t>
            </a:r>
            <a:r>
              <a:rPr/>
              <a:t> — and they are not parallel. A single PDP curve would have hidden that.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sentence to remember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tools describe </a:t>
            </a:r>
            <a:r>
              <a:rPr b="1"/>
              <a:t>the model</a:t>
            </a:r>
            <a:r>
              <a:rPr/>
              <a:t>, not the world. A large SHAP value means the model relies on that feature. It does not mean the feature causes the outcome.</a:t>
            </a:r>
          </a:p>
          <a:p>
            <a:pPr lvl="0" indent="0" marL="0">
              <a:buNone/>
            </a:pPr>
            <a:r>
              <a:rPr/>
              <a:t>Your model learned that low FICO predicts default. It did not learn that </a:t>
            </a:r>
            <a:r>
              <a:rPr i="1"/>
              <a:t>raising</a:t>
            </a:r>
            <a:r>
              <a:rPr/>
              <a:t> someone’s FICO score would lower their default probability. Those are different claims requiring different evidence.</a:t>
            </a:r>
          </a:p>
          <a:p>
            <a:pPr lvl="0" indent="0" marL="0">
              <a:buNone/>
            </a:pPr>
            <a:r>
              <a:rPr/>
              <a:t>That distinction is the entire subject of </a:t>
            </a:r>
            <a:r>
              <a:rPr b="1"/>
              <a:t>Session 10</a:t>
            </a:r>
            <a:r>
              <a:rPr/>
              <a:t>. Notice how uncomfortable it is now.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7 · Takeaways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/>
                  <a:t>A tree is a </a:t>
                </a:r>
                <a:r>
                  <a:rPr b="1"/>
                  <a:t>partition</a:t>
                </a:r>
                <a:r>
                  <a:rPr/>
                  <a:t>, not a curve — good for thresholds, clumsy for gradients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Grow with Gini or entropy; </a:t>
                </a:r>
                <a:r>
                  <a:rPr b="1"/>
                  <a:t>prune</a:t>
                </a:r>
                <a:r>
                  <a:rPr/>
                  <a:t> with the loss you will be judged on</a:t>
                </a:r>
              </a:p>
              <a:p>
                <a:pPr lvl="0" indent="-342900" marL="342900">
                  <a:buAutoNum type="arabicPeriod"/>
                </a:pPr>
                <a14:m>
                  <m:oMath xmlns:m="http://schemas.openxmlformats.org/officeDocument/2006/math">
                    <m:r>
                      <m:t>ρ</m:t>
                    </m:r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ρ</m:t>
                        </m:r>
                      </m:num>
                      <m:den>
                        <m:r>
                          <m:t>B</m:t>
                        </m:r>
                      </m:den>
                    </m:f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: more trees hit a floor, so </a:t>
                </a:r>
                <a:r>
                  <a:rPr b="1"/>
                  <a:t>decorrelate</a:t>
                </a:r>
                <a:r>
                  <a:rPr/>
                  <a:t> instead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Boosting is gradient descent in function space; small </a:t>
                </a:r>
                <a14:m>
                  <m:oMath xmlns:m="http://schemas.openxmlformats.org/officeDocument/2006/math">
                    <m:r>
                      <m:t>ν</m:t>
                    </m:r>
                  </m:oMath>
                </a14:m>
                <a:r>
                  <a:rPr/>
                  <a:t> and many trees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Regularisation reappears inside every leaf: </a:t>
                </a:r>
                <a14:m>
                  <m:oMath xmlns:m="http://schemas.openxmlformats.org/officeDocument/2006/math">
                    <m:sSup>
                      <m:e>
                        <m: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m:t>⋆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G</m:t>
                    </m:r>
                    <m:r>
                      <m:rPr>
                        <m:sty m:val="p"/>
                      </m:rPr>
                      <m:t>/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H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λ</m:t>
                        </m:r>
                      </m:e>
                    </m:d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Interpretation tools describe the model. Causality is Session 10</a:t>
                </a:r>
              </a:p>
            </p:txBody>
          </p:sp>
        </mc:Choice>
      </mc:AlternateContent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loses marks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Reporting </a:t>
                </a:r>
                <a:r>
                  <a:rPr b="1"/>
                  <a:t>impurity</a:t>
                </a:r>
                <a:r>
                  <a:rPr/>
                  <a:t> importance as evidence about the world</a:t>
                </a:r>
              </a:p>
              <a:p>
                <a:pPr lvl="0"/>
                <a:r>
                  <a:rPr/>
                  <a:t>Reporting importances computed </a:t>
                </a:r>
                <a:r>
                  <a:rPr b="1"/>
                  <a:t>in sample</a:t>
                </a:r>
              </a:p>
              <a:p>
                <a:pPr lvl="0"/>
                <a:r>
                  <a:rPr/>
                  <a:t>A partial-dependence plot with no note on whether the features are independent</a:t>
                </a:r>
              </a:p>
              <a:p>
                <a:pPr lvl="0"/>
                <a:r>
                  <a:rPr/>
                  <a:t>Tuning </a:t>
                </a:r>
                <a14:m>
                  <m:oMath xmlns:m="http://schemas.openxmlformats.org/officeDocument/2006/math">
                    <m:r>
                      <m:t>ν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and depth one at a time, as if they did not interact</a:t>
                </a:r>
              </a:p>
              <a:p>
                <a:pPr lvl="0"/>
                <a:r>
                  <a:rPr/>
                  <a:t>Claiming the ensemble “beat the linear model” without showing both numbers</a:t>
                </a:r>
              </a:p>
              <a:p>
                <a:pPr lvl="0" indent="0" marL="0">
                  <a:buNone/>
                </a:pPr>
                <a:r>
                  <a:rPr/>
                  <a:t>On this dataset the tuned forest beats logistic regression by roughly </a:t>
                </a:r>
                <a:r>
                  <a:rPr b="1"/>
                  <a:t>0.002 AUC</a:t>
                </a:r>
                <a:r>
                  <a:rPr/>
                  <a:t>. Flexibility is not a free win, and saying so is a sign of judgment, not weakness.</a:t>
                </a:r>
              </a:p>
            </p:txBody>
          </p:sp>
        </mc:Choice>
      </mc:AlternateContent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Now, the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Ninety minutes, in your groups. You will fit a tree, a forest and a boosted ensemble on the same target, tune each honestly, and — the part that carries the marks — say what the importances do and do not license you to claim.</a:t>
            </a:r>
          </a:p>
          <a:p>
            <a:pPr lvl="0" indent="0" marL="0">
              <a:buNone/>
            </a:pPr>
            <a:r>
              <a:rPr/>
              <a:t>Notes: </a:t>
            </a:r>
            <a:r>
              <a:rPr>
                <a:hlinkClick r:id="rId2"/>
                <a:latin typeface="Courier"/>
              </a:rPr>
              <a:t>01-lecture/README.md</a:t>
            </a:r>
            <a:r>
              <a:rPr/>
              <a:t> · practice brief: </a:t>
            </a:r>
            <a:r>
              <a:rPr>
                <a:hlinkClick r:id="rId3"/>
                <a:latin typeface="Courier"/>
              </a:rPr>
              <a:t>02-practice/README.md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Trees, Forests, and Gradient Boosting</dc:title>
  <dc:creator>Thierry Warin</dc:creator>
  <cp:keywords/>
  <dcterms:created xsi:type="dcterms:W3CDTF">2026-08-23T15:36:09Z</dcterms:created>
  <dcterms:modified xsi:type="dcterms:W3CDTF">2026-08-23T15:36:09Z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21 August 2026</vt:lpwstr>
  </property>
  <property fmtid="{D5CDD505-2E9C-101B-9397-08002B2CF9AE}" pid="8" name="date-format">
    <vt:lpwstr>D MMMM YYYY</vt:lpwstr>
  </property>
  <property fmtid="{D5CDD505-2E9C-101B-9397-08002B2CF9AE}" pid="9" name="execute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institute">
    <vt:lpwstr>HEC Montréal</vt:lpwstr>
  </property>
  <property fmtid="{D5CDD505-2E9C-101B-9397-08002B2CF9AE}" pid="14" name="institutes">
    <vt:lpwstr/>
  </property>
  <property fmtid="{D5CDD505-2E9C-101B-9397-08002B2CF9AE}" pid="15" name="jupyter">
    <vt:lpwstr>python3</vt:lpwstr>
  </property>
  <property fmtid="{D5CDD505-2E9C-101B-9397-08002B2CF9AE}" pid="16" name="labels">
    <vt:lpwstr/>
  </property>
  <property fmtid="{D5CDD505-2E9C-101B-9397-08002B2CF9AE}" pid="17" name="subtitle">
    <vt:lpwstr>Session 07 · Lecture, first half</vt:lpwstr>
  </property>
  <property fmtid="{D5CDD505-2E9C-101B-9397-08002B2CF9AE}" pid="18" name="toc-title">
    <vt:lpwstr>Table of contents</vt:lpwstr>
  </property>
</Properties>
</file>