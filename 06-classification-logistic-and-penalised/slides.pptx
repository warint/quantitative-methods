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Classification: Logistic Regression, Regularisation, Thresholds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06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classifier is 97% accurate. Should anyone be impressed?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Structure of this lecture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Part A</a:t>
                      </a:r>
                      <a:r>
                        <a:rPr/>
                        <a:t> (~50 min)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6.1–6.5 — the logistic model and its estimation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Part B</a:t>
                      </a:r>
                      <a:r>
                        <a:rPr/>
                        <a:t> (~40 min)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6.6–6.9 — adding the Session 05 penalty, and imbalance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B is short </a:t>
            </a:r>
            <a:r>
              <a:rPr b="1"/>
              <a:t>precisely because</a:t>
            </a:r>
            <a:r>
              <a:rPr/>
              <a:t> Part A and Session 05 have done the work. 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A — Logistic regression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6.1 Route A — the link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Model the log-odds as linear: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log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β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⇔</m:t>
                      </m:r>
                      <m:r>
                        <m:t> 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β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σ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β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logistic function satisfies </a:t>
                </a:r>
                <a14:m>
                  <m:oMath xmlns:m="http://schemas.openxmlformats.org/officeDocument/2006/math">
                    <m:r>
                      <m:t>σ</m:t>
                    </m:r>
                    <m:r>
                      <m:rPr>
                        <m:sty m:val="p"/>
                      </m:rPr>
                      <m:t>′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z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σ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z</m:t>
                        </m:r>
                      </m:e>
                    </m:d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z</m:t>
                            </m:r>
                          </m:e>
                        </m:d>
                      </m:e>
                    </m:d>
                  </m:oMath>
                </a14:m>
                <a:r>
                  <a:rPr/>
                  <a:t> — an identity we use repeatedly today.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6.1 Route B — a latent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an unobserved index </a:t>
                </a:r>
                <a14:m>
                  <m:oMath xmlns:m="http://schemas.openxmlformats.org/officeDocument/2006/math">
                    <m:sSubSup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sSubSup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bSup>
                    <m:r>
                      <m:t>β</m:t>
                    </m:r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u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  <m:scr m:val="double-struck"/>
                      </m:rPr>
                      <m:t>1</m:t>
                    </m:r>
                    <m:r>
                      <m:rPr>
                        <m:sty m:val="p"/>
                      </m:rPr>
                      <m:t>{</m:t>
                    </m:r>
                    <m:sSubSup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bSup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u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standard </a:t>
                </a:r>
                <a:r>
                  <a:rPr b="1"/>
                  <a:t>logistic</a:t>
                </a:r>
                <a:r>
                  <a:rPr/>
                  <a:t> →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σ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Sup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m:t>⊤</m:t>
                            </m:r>
                          </m:sup>
                        </m:sSubSup>
                        <m:r>
                          <m:t>β</m:t>
                        </m:r>
                      </m:e>
                    </m:d>
                  </m:oMath>
                </a14:m>
                <a:r>
                  <a:rPr/>
                  <a:t> exactly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u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standard </a:t>
                </a:r>
                <a:r>
                  <a:rPr b="1"/>
                  <a:t>normal</a:t>
                </a:r>
                <a:r>
                  <a:rPr/>
                  <a:t> → probit</a:t>
                </a:r>
              </a:p>
              <a:p>
                <a:pPr lvl="0" indent="0" marL="0">
                  <a:buNone/>
                </a:pPr>
                <a:r>
                  <a:rPr/>
                  <a:t>Route B is the economist’s route: </a:t>
                </a:r>
                <a14:m>
                  <m:oMath xmlns:m="http://schemas.openxmlformats.org/officeDocument/2006/math">
                    <m:sSup>
                      <m:e>
                        <m:r>
                          <m:t>y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</m:oMath>
                </a14:m>
                <a:r>
                  <a:rPr/>
                  <a:t> is a latent utility difference, and the model is a random utility model. The logit/probit choice is a choice about the distribution of unobserved heterogeneity — and in practice the two give nearly identical fitted probabilities.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6.2 The likelihood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ℓ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bSup>
                              <m:r>
                                <m:t>β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m:t>log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sSup>
                                    <m:e>
                                      <m:r>
                                        <m:t>e</m:t>
                                      </m:r>
                                    </m:e>
                                    <m:sup>
                                      <m:sSubSup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  <m:sup>
                                          <m:r>
                                            <m:rPr>
                                              <m:sty m:val="p"/>
                                            </m:rPr>
                                            <m:t>⊤</m:t>
                                          </m:r>
                                        </m:sup>
                                      </m:sSubSup>
                                      <m:r>
                                        <m:t>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Score</a:t>
                </a:r>
                <a:r>
                  <a:rPr/>
                  <a:t>, using </a:t>
                </a:r>
                <a14:m>
                  <m:oMath xmlns:m="http://schemas.openxmlformats.org/officeDocument/2006/math">
                    <m:r>
                      <m:t>σ</m:t>
                    </m:r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r>
                      <m:t>σ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σ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∇</m:t>
                      </m:r>
                      <m:r>
                        <m:rPr>
                          <m:sty m:val="p"/>
                        </m:rPr>
                        <m:t>ℓ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nary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score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/>
                  <a:t>At the optimum, the residual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 sz="2000"/>
                  <a:t> is </a:t>
                </a:r>
                <a:r>
                  <a:rPr sz="2000" b="1"/>
                  <a:t>orthogonal to every regressor</a:t>
                </a:r>
                <a:r>
                  <a:rPr sz="2000"/>
                  <a:t>.</a:t>
                </a:r>
              </a:p>
              <a:p>
                <a:pPr lvl="0" indent="0" marL="0">
                  <a:buNone/>
                </a:pPr>
                <a:r>
                  <a:rPr/>
                  <a:t>Exactly the OLS condition from Session 02, with fitted </a:t>
                </a:r>
                <a:r>
                  <a:rPr i="1"/>
                  <a:t>probabilities</a:t>
                </a:r>
                <a:r>
                  <a:rPr/>
                  <a:t> in place of fitted values.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6.2 The Hessian, and concavity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rPr>
                              <m:sty m:val="p"/>
                            </m:rPr>
                            <m:t>∇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ℓ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t> 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sSubSup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W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W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diag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p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W</m:t>
                    </m:r>
                    <m:r>
                      <m:rPr>
                        <m:sty m:val="p"/>
                      </m:rPr>
                      <m:t>≽</m:t>
                    </m:r>
                    <m:r>
                      <m:t>0</m:t>
                    </m:r>
                  </m:oMath>
                </a14:m>
                <a:r>
                  <a:rPr/>
                  <a:t>, we have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W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≼</m:t>
                    </m:r>
                    <m:r>
                      <m:t>0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:r>
                  <a:rPr b="1"/>
                  <a:t>The log-likelihood is concave.</a:t>
                </a:r>
                <a:r>
                  <a:rPr/>
                  <a:t> Any stationary point is a global maximum. There are no local optima.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6.3 Newton–Raphson is IRLS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Newton step </a:t>
                </a:r>
                <a14:m>
                  <m:oMath xmlns:m="http://schemas.openxmlformats.org/officeDocument/2006/math">
                    <m:sSup>
                      <m:e>
                        <m:r>
                          <m:t>β</m:t>
                        </m:r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</m:e>
                        </m:d>
                      </m:sup>
                    </m:sSup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β</m:t>
                        </m:r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t</m:t>
                            </m:r>
                          </m:e>
                        </m:d>
                      </m:sup>
                    </m:sSup>
                    <m:r>
                      <m:rPr>
                        <m:sty m:val="p"/>
                      </m:rPr>
                      <m:t>+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⊤</m:t>
                                </m:r>
                              </m:sup>
                            </m:sSup>
                            <m:r>
                              <m:t>W</m:t>
                            </m:r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 rearranges to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β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W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W</m:t>
                      </m:r>
                      <m:r>
                        <m:t>z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z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sSup>
                        <m:e>
                          <m:r>
                            <m:t>β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t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W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which is exactly </a:t>
                </a:r>
                <a:r>
                  <a:rPr b="1"/>
                  <a:t>weighted least squares</a:t>
                </a:r>
                <a:r>
                  <a:rPr/>
                  <a:t> of the </a:t>
                </a:r>
                <a:r>
                  <a:rPr i="1"/>
                  <a:t>adjusted response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z</m:t>
                    </m:r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with weights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consequences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You reuse </a:t>
                </a:r>
                <a:r>
                  <a:rPr b="1"/>
                  <a:t>all</a:t>
                </a:r>
                <a:r>
                  <a:rPr/>
                  <a:t> the linear algebra of Session 02</a:t>
                </a:r>
              </a:p>
              <a:p>
                <a:pPr lvl="0"/>
                <a:r>
                  <a:rPr/>
                  <a:t>The asymptotic covariance is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ty m:val="p"/>
                          </m:rPr>
                          <m:t>Var</m:t>
                        </m:r>
                      </m:e>
                    </m:acc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⊤</m:t>
                                </m:r>
                              </m:sup>
                            </m:sSup>
                            <m:r>
                              <m:t>W</m:t>
                            </m:r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  <a:r>
                  <a:rPr/>
                  <a:t> — the inverse observed information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Perfect separation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a hyperplane separates the classes exactly, the likelihood increases without bound 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∥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: </a:t>
                </a:r>
                <a:r>
                  <a:rPr b="1"/>
                  <a:t>the MLE does not exist.</a:t>
                </a:r>
              </a:p>
              <a:p>
                <a:pPr lvl="0" indent="0" marL="0">
                  <a:buNone/>
                </a:pPr>
                <a:r>
                  <a:rPr/>
                  <a:t>Symptoms: enormous coefficients with enormous standard errors. More common with small samples and many dummies than students expect.</a:t>
                </a:r>
              </a:p>
              <a:p>
                <a:pPr lvl="0" indent="0" marL="0">
                  <a:buNone/>
                </a:pPr>
                <a:r>
                  <a:rPr/>
                  <a:t>Hold that thought — Part B disposes of it in one line.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6.4 Three quantities, three uses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Quantity</a:t></a:r></a:p></a:txBody><a:tcPr /></a:tc><a:tc><a:txBody><a:bodyPr /><a:lstStyle /><a:p><a:pPr lvl="0" indent="0" marL="0"><a:buNone /></a:pPr><a:r><a:rPr /><a:t>Formula</a:t></a:r></a:p></a:txBody><a:tcPr /></a:tc><a:tc><a:txBody><a:bodyPr /><a:lstStyle /><a:p><a:pPr lvl="0" indent="0" marL="0"><a:buNone /></a:pPr><a:r><a:rPr /><a:t>Use it when</a:t></a:r></a:p></a:txBody><a:tcPr /></a:tc></a:tr><a:tr h="0"><a:tc><a:txBody><a:bodyPr /><a:lstStyle /><a:p><a:pPr lvl="0" indent="0" marL="0"><a:buNone /></a:pPr><a:r><a:rPr /><a:t>Log-odds change</a:t></a:r></a:p></a:txBody></a:tc><a:tc><a:txBody><a:bodyPr /><a:lstStyle /><a:p><a:pPr lvl="0" indent="0" marL="0"><a:buNone /></a:pPr><a14:m><m:oMath xmlns:m="http://schemas.openxmlformats.org/officeDocument/2006/math"><m:sSub><m:e><m:r><m:t>β</m:t></m:r></m:e><m:sub><m:r><m:t>j</m:t></m:r></m:sub></m:sSub></m:oMath></a14:m></a:p></a:txBody></a:tc><a:tc><a:txBody><a:bodyPr /><a:lstStyle /><a:p><a:pPr lvl="0" indent="0" marL="0"><a:buNone /></a:pPr><a:r><a:rPr /><a:t>Reporting the raw model</a:t></a:r></a:p></a:txBody></a:tc></a:tr><a:tr h="0"><a:tc><a:txBody><a:bodyPr /><a:lstStyle /><a:p><a:pPr lvl="0" indent="0" marL="0"><a:buNone /></a:pPr><a:r><a:rPr /><a:t>Odds ratio</a:t></a:r></a:p></a:txBody></a:tc><a:tc><a:txBody><a:bodyPr /><a:lstStyle /><a:p><a:pPr lvl="0" indent="0" marL="0"><a:buNone /></a:pPr><a14:m><m:oMath xmlns:m="http://schemas.openxmlformats.org/officeDocument/2006/math"><m:sSup><m:e><m:r><m:t>e</m:t></m:r></m:e><m:sup><m:sSub><m:e><m:r><m:t>β</m:t></m:r></m:e><m:sub><m:r><m:t>j</m:t></m:r></m:sub></m:sSub></m:sup></m:sSup></m:oMath></a14:m></a:p></a:txBody></a:tc><a:tc><a:txBody><a:bodyPr /><a:lstStyle /><a:p><a:pPr lvl="0" indent="0" marL="0"><a:buNone /></a:pPr><a:r><a:rPr /><a:t>A clinical or credit audience</a:t></a:r></a:p></a:txBody></a:tc></a:tr><a:tr h="0"><a:tc><a:txBody><a:bodyPr /><a:lstStyle /><a:p><a:pPr lvl="0" indent="0" marL="0"><a:buNone /></a:pPr><a:r><a:rPr /><a:t>Marginal effect at </a:t></a:r><a14:m><m:oMath xmlns:m="http://schemas.openxmlformats.org/officeDocument/2006/math"><m:r><m:t>x</m:t></m:r></m:oMath></a14:m></a:p></a:txBody></a:tc><a:tc><a:txBody><a:bodyPr /><a:lstStyle /><a:p><a:pPr lvl="0" indent="0" marL="0"><a:buNone /></a:pPr><a14:m><m:oMath xmlns:m="http://schemas.openxmlformats.org/officeDocument/2006/math"><m:sSub><m:e><m:r><m:t>β</m:t></m:r></m:e><m:sub><m:r><m:t>j</m:t></m:r></m:sub></m:sSub><m:r><m:t> </m:t></m:r><m:r><m:t>p</m:t></m:r><m:d><m:dPr><m:begChr m:val="(" /><m:sepChr m:val="" /><m:endChr m:val=")" /><m:grow /></m:dPr><m:e><m:r><m:t>x</m:t></m:r></m:e></m:d><m:d><m:dPr><m:begChr m:val="(" /><m:sepChr m:val="" /><m:endChr m:val=")" /><m:grow /></m:dPr><m:e><m:r><m:t>1</m:t></m:r><m:r><m:rPr><m:sty m:val="p" /></m:rPr><m:t>−</m:t></m:r><m:r><m:t>p</m:t></m:r><m:d><m:dPr><m:begChr m:val="(" /><m:sepChr m:val="" /><m:endChr m:val=")" /><m:grow /></m:dPr><m:e><m:r><m:t>x</m:t></m:r></m:e></m:d></m:e></m:d></m:oMath></a14:m></a:p></a:txBody></a:tc><a:tc><a:txBody><a:bodyPr /><a:lstStyle /><a:p><a:pPr lvl="0" indent="0" marL="0"><a:buNone /></a:pPr><a:r><a:rPr /><a:t>You need a probability change</a:t></a:r></a:p></a:txBody></a:tc></a:tr><a:tr h="0"><a:tc><a:txBody><a:bodyPr /><a:lstStyle /><a:p><a:pPr lvl="0" indent="0" marL="0"><a:buNone /></a:pPr><a:r><a:rPr b="1" /><a:t>Average marginal effect</a:t></a:r></a:p></a:txBody></a:tc><a:tc><a:txBody><a:bodyPr /><a:lstStyle /><a:p><a:pPr lvl="0" indent="0" marL="0"><a:buNone /></a:pPr><a14:m><m:oMath xmlns:m="http://schemas.openxmlformats.org/officeDocument/2006/math"><m:f><m:fPr><m:type m:val="bar" /></m:fPr><m:num><m:r><m:t>1</m:t></m:r></m:num><m:den><m:r><m:t>n</m:t></m:r></m:den></m:f><m:nary><m:naryPr><m:chr m:val="∑" /><m:limLoc m:val="undOvr" /><m:subHide m:val="off" /><m:supHide m:val="on" /></m:naryPr><m:sub><m:r><m:t>i</m:t></m:r></m:sub><m:sup><m:r><m:t>​</m:t></m:r></m:sup><m:e><m:sSub><m:e><m:r><m:t>β</m:t></m:r></m:e><m:sub><m:r><m:t>j</m:t></m:r></m:sub></m:sSub></m:e></m:nary><m:r><m:t> </m:t></m:r><m:sSub><m:e><m:r><m:t>p</m:t></m:r></m:e><m:sub><m:r><m:t>i</m:t></m:r></m:sub></m:sSub><m:d><m:dPr><m:begChr m:val="(" /><m:sepChr m:val="" /><m:endChr m:val=")" /><m:grow /></m:dPr><m:e><m:r><m:t>1</m:t></m:r><m:r><m:rPr><m:sty m:val="p" /></m:rPr><m:t>−</m:t></m:r><m:sSub><m:e><m:r><m:t>p</m:t></m:r></m:e><m:sub><m:r><m:t>i</m:t></m:r></m:sub></m:sSub></m:e></m:d></m:oMath></a14:m></a:p></a:txBody></a:tc><a:tc><a:txBody><a:bodyPr /><a:lstStyle /><a:p><a:pPr lvl="0" indent="0" marL="0"><a:buNone /></a:pPr><a:r><a:rPr b="1" /><a:t>Reporting to economists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average marginal effect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same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implies a large probability change near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</m:oMath>
                </a14:m>
                <a:r>
                  <a:rPr/>
                  <a:t> and almost none near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0.01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Report average marginal effects</a:t>
                </a:r>
                <a:r>
                  <a:rPr/>
                  <a:t> unless you have a reason not to. A bare odds ratio invites misreading.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Aside — more than two classes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k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ℓ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r>
                                    <m:t>e</m:t>
                                  </m:r>
                                </m:e>
                                <m:sup>
                                  <m:sSup>
                                    <m:e>
                                      <m:r>
                                        <m:t>x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m:t>⊤</m:t>
                                      </m:r>
                                    </m:sup>
                                  </m:sSup>
                                  <m:sSub>
                                    <m:e>
                                      <m:r>
                                        <m:t>β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ℓ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Parameters are identified only up to adding a constant vector to every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hence the convention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 The likelihood is again concave.</a:t>
                </a:r>
              </a:p>
              <a:p>
                <a:pPr lvl="0" indent="0" marL="0">
                  <a:buNone/>
                </a:pPr>
                <a:r>
                  <a:rPr/>
                  <a:t>Multinomial logit imposes </a:t>
                </a:r>
                <a:r>
                  <a:rPr b="1"/>
                  <a:t>independence of irrelevant alternatives</a:t>
                </a:r>
                <a:r>
                  <a:rPr/>
                  <a:t> — which matters greatly for discrete-choice work and much less for pure classification.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6.5 A model, then a decision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model produces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p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. A </a:t>
                </a:r>
                <a:r>
                  <a:rPr b="1"/>
                  <a:t>decision</a:t>
                </a:r>
                <a:r>
                  <a:rPr/>
                  <a:t> requires a threshold </a:t>
                </a:r>
                <a14:m>
                  <m:oMath xmlns:m="http://schemas.openxmlformats.org/officeDocument/2006/math">
                    <m:r>
                      <m:t>τ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These are separate acts, and conflating them is the most common applied error in this session.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Predicted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Predicted 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Actual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Actual 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Precision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T</m:t>
                          </m:r>
                          <m:r>
                            <m:t>P</m:t>
                          </m:r>
                        </m:num>
                        <m:den>
                          <m:r>
                            <m:t>T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F</m:t>
                          </m:r>
                          <m: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Recall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T</m:t>
                          </m:r>
                          <m:r>
                            <m:t>P</m:t>
                          </m:r>
                        </m:num>
                        <m:den>
                          <m:r>
                            <m:t>T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F</m:t>
                          </m:r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FPR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F</m:t>
                          </m:r>
                          <m:r>
                            <m:t>P</m:t>
                          </m:r>
                        </m:num>
                        <m:den>
                          <m:r>
                            <m:t>F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T</m:t>
                          </m:r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ROC and its vice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ROC</a:t>
                </a:r>
                <a:r>
                  <a:rPr/>
                  <a:t> plots TPR against FPR as </a:t>
                </a:r>
                <a14:m>
                  <m:oMath xmlns:m="http://schemas.openxmlformats.org/officeDocument/2006/math">
                    <m:r>
                      <m:t>τ</m:t>
                    </m:r>
                  </m:oMath>
                </a14:m>
                <a:r>
                  <a:rPr/>
                  <a:t> sweeps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; </a:t>
                </a:r>
                <a:r>
                  <a:rPr b="1"/>
                  <a:t>AUC</a:t>
                </a:r>
                <a:r>
                  <a:rPr/>
                  <a:t> equals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acc>
                              <m:accPr>
                                <m:chr m:val="̂"/>
                              </m:accPr>
                              <m:e>
                                <m:r>
                                  <m:t>p</m:t>
                                </m:r>
                              </m:e>
                            </m:acc>
                          </m:e>
                          <m:sub>
                            <m:r>
                              <m:rPr>
                                <m:nor/>
                                <m:sty m:val="p"/>
                              </m:rPr>
                              <m:t>positive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&gt;</m:t>
                        </m:r>
                        <m:sSub>
                          <m:e>
                            <m:acc>
                              <m:accPr>
                                <m:chr m:val="̂"/>
                              </m:accPr>
                              <m:e>
                                <m:r>
                                  <m:t>p</m:t>
                                </m:r>
                              </m:e>
                            </m:acc>
                          </m:e>
                          <m:sub>
                            <m:r>
                              <m:rPr>
                                <m:nor/>
                                <m:sty m:val="p"/>
                              </m:rPr>
                              <m:t>negative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a random pair.</a:t>
                </a:r>
              </a:p>
              <a:p>
                <a:pPr lvl="0"/>
                <a:r>
                  <a:rPr/>
                  <a:t>Threshold-free and invariant to class balance — a </a:t>
                </a:r>
                <a:r>
                  <a:rPr b="1"/>
                  <a:t>virtue</a:t>
                </a:r>
                <a:r>
                  <a:rPr/>
                  <a:t> for comparing models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vice</a:t>
                </a:r>
                <a:r>
                  <a:rPr/>
                  <a:t> for judging usefulness under heavy imbalance</a:t>
                </a:r>
              </a:p>
              <a:p>
                <a:pPr lvl="0" indent="0" marL="0">
                  <a:buNone/>
                </a:pPr>
                <a:r>
                  <a:rPr/>
                  <a:t>With 2% positives, prefer the </a:t>
                </a:r>
                <a:r>
                  <a:rPr b="1"/>
                  <a:t>precision–recall curve</a:t>
                </a:r>
                <a:r>
                  <a:rPr/>
                  <a:t> and average precision.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Choosing </a:t>
                </a:r>
                <a14:m>
                  <m:oMath xmlns:m="http://schemas.openxmlformats.org/officeDocument/2006/math">
                    <m:r>
                      <m:t>τ</m:t>
                    </m:r>
                  </m:oMath>
                </a14:m>
                <a:r>
                  <a:rPr/>
                  <a:t> from costs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a false negative costs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F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and a false positive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F</m:t>
                        </m:r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 </m:t>
                          </m:r>
                          <m:sSup>
                            <m:e>
                              <m:r>
                                <m:t>τ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⋆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F</m:t>
                                  </m:r>
                                  <m:r>
                                    <m:t>P</m:t>
                                  </m:r>
                                </m:sub>
                              </m:sSub>
                            </m:num>
                            <m:den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F</m:t>
                                  </m:r>
                                  <m:r>
                                    <m:t>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F</m:t>
                                  </m:r>
                                  <m:r>
                                    <m:t>N</m:t>
                                  </m:r>
                                </m:sub>
                              </m:sSub>
                            </m:den>
                          </m:f>
                          <m:r>
                            <m:t> 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German Credit’s stated </a:t>
                </a:r>
                <a:r>
                  <a:rPr b="1"/>
                  <a:t>5:1</a:t>
                </a:r>
                <a:r>
                  <a:rPr/>
                  <a:t> ratio, </a:t>
                </a:r>
                <a14:m>
                  <m:oMath xmlns:m="http://schemas.openxmlformats.org/officeDocument/2006/math">
                    <m:sSup>
                      <m:e>
                        <m:r>
                          <m:t>τ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0.167</m:t>
                    </m:r>
                  </m:oMath>
                </a14:m>
                <a:r>
                  <a:rPr/>
                  <a:t>, not 0.5.</a:t>
                </a:r>
              </a:p>
              <a:p>
                <a:pPr lvl="0" indent="0" marL="0">
                  <a:buNone/>
                </a:pPr>
                <a:r>
                  <a:rPr b="1"/>
                  <a:t>The default threshold in every software package is a modelling assumption about costs that almost nobody states out loud.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Calibration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model is calibrated if, among cases where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  <m:r>
                      <m:rPr>
                        <m:sty m:val="p"/>
                      </m:rPr>
                      <m:t>≈</m:t>
                    </m:r>
                    <m:r>
                      <m:t>0.3</m:t>
                    </m:r>
                  </m:oMath>
                </a14:m>
                <a:r>
                  <a:rPr/>
                  <a:t>, about 30% are positive.</a:t>
                </a:r>
              </a:p>
              <a:p>
                <a:pPr lvl="0" indent="0" marL="0">
                  <a:buNone/>
                </a:pPr>
                <a:r>
                  <a:rPr/>
                  <a:t>Discrimination (AUC) and calibration are </a:t>
                </a:r>
                <a:r>
                  <a:rPr b="1"/>
                  <a:t>different properties</a:t>
                </a:r>
                <a:r>
                  <a:rPr/>
                  <a:t>. A model can rank perfectly and still be badly miscalibrated.</a:t>
                </a:r>
              </a:p>
              <a:p>
                <a:pPr lvl="0" indent="0" marL="0">
                  <a:buNone/>
                </a:pPr>
                <a:r>
                  <a:rPr/>
                  <a:t>Plot a reliability diagram whenever the probability itself enters a decision.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B — Adding the penalty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6.6 The 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Combine Session 05’s penalty with the likelihood: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β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d>
                        <m:dPr>
                          <m:begChr m:val="{"/>
                          <m:sepChr m:val=""/>
                          <m:endChr m:val="}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[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sSubSup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bSup>
                          <m:r>
                            <m:t>β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log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p>
                                <m:e>
                                  <m:r>
                                    <m:t>e</m:t>
                                  </m:r>
                                </m:e>
                                <m:sup>
                                  <m:sSubSup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m:t>⊤</m:t>
                                      </m:r>
                                    </m:sup>
                                  </m:sSubSup>
                                  <m:r>
                                    <m:t>β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f>
                            <m:fPr>
                              <m:type m:val="lin"/>
                            </m:fPr>
                            <m:num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α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negative log-likelihood is convex (6.2) and both penalties are convex, so the objective is convex. For </a:t>
                </a:r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1</m:t>
                    </m:r>
                  </m:oMath>
                </a14:m>
                <a:r>
                  <a:rPr/>
                  <a:t> it is </a:t>
                </a:r>
                <a:r>
                  <a:rPr b="1"/>
                  <a:t>strictly</a:t>
                </a:r>
                <a:r>
                  <a:rPr/>
                  <a:t> convex and the minimiser is unique.</a:t>
                </a:r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penalty cures separation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likelihood’s drive toward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∥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 is dominated by the penalty’s growth, so a </a:t>
                </a:r>
                <a:r>
                  <a:rPr b="1"/>
                  <a:t>finite minimiser always exists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Regularisation is here a </a:t>
                </a:r>
                <a:r>
                  <a:rPr i="1"/>
                  <a:t>regularity</a:t>
                </a:r>
                <a:r>
                  <a:rPr/>
                  <a:t> device, not merely a variance-reduction device.</a:t>
                </a:r>
              </a:p>
              <a:p>
                <a:pPr lvl="0" indent="0" marL="0">
                  <a:buNone/>
                </a:pPr>
                <a:r>
                  <a:rPr/>
                  <a:t>Firth’s bias-reduced logistic regression is an alternative. Dropping the offending variable, once you recognise it as a proxy for the outcome, is usually the honest answer.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6.7 Two nested loops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Outer.</a:t>
                </a:r>
                <a:r>
                  <a:rPr/>
                  <a:t> At the current </a:t>
                </a:r>
                <a14:m>
                  <m:oMath xmlns:m="http://schemas.openxmlformats.org/officeDocument/2006/math">
                    <m:acc>
                      <m:accPr>
                        <m:chr m:val="̃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/>
                  <a:t>, take the second-order Taylor expansion of the log-likelihood. By 6.3 this </a:t>
                </a:r>
                <a:r>
                  <a:rPr i="1"/>
                  <a:t>is</a:t>
                </a:r>
                <a:r>
                  <a:rPr/>
                  <a:t> a weighted least-squares problem, with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̃"/>
                            </m:accPr>
                            <m:e>
                              <m:r>
                                <m:t>p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p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z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  <m:acc>
                        <m:accPr>
                          <m:chr m:val="̃"/>
                        </m:accPr>
                        <m:e>
                          <m:r>
                            <m:t>β</m:t>
                          </m:r>
                        </m:e>
                      </m:acc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p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/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inner loop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Coordinate descent — the Session 05 formula with weights inserted: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←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λ</m:t>
                              </m:r>
                              <m:r>
                                <m:t>α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b>
                                    <m:e>
                                      <m:r>
                                        <m:t>w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nary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  <m:r>
                                    <m:t>j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z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Sup>
                                    <m:e>
                                      <m:acc>
                                        <m:accPr>
                                          <m:chr m:val="̃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  <m:sup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r>
                                            <m:t>j</m:t>
                                          </m:r>
                                        </m:e>
                                      </m:d>
                                    </m:sup>
                                  </m:sSubSup>
                                </m:e>
                              </m:d>
                            </m:e>
                          </m:d>
                        </m:num>
                        <m:den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>
                                <m:e>
                                  <m:r>
                                    <m:t>w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  <m:sSubSup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α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λ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ρ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sign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ρ</m:t>
                        </m:r>
                      </m:e>
                    </m:d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d>
                              <m:dPr>
                                <m:begChr m:val="|"/>
                                <m:sepChr m:val=""/>
                                <m:endChr m:val="|"/>
                                <m:grow/>
                              </m:dPr>
                              <m:e>
                                <m:r>
                                  <m:t>ρ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λ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m:t>+</m:t>
                        </m:r>
                      </m:sub>
                    </m:sSub>
                  </m:oMath>
                </a14:m>
                <a:r>
                  <a:rPr/>
                  <a:t>, the soft-thresholding operator you derived in Session 05. Iterate, recompute weights, repeat.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practical points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Warm starts</a:t>
                </a:r>
                <a:r>
                  <a:rPr/>
                  <a:t> down a decreasing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grid make the whole path cost little more than one fit.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An </a:t>
                </a:r>
                <a:r>
                  <a:rPr b="1"/>
                  <a:t>active set</a:t>
                </a:r>
                <a:r>
                  <a:rPr/>
                  <a:t> strategy cycles only over currently non-zero coefficients, checking the full set occasionally via the KKT conditions.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Clamp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 b="1"/>
                  <a:t> away from zero</a:t>
                </a:r>
                <a:r>
                  <a:rPr/>
                  <a:t> (e.g. at </a:t>
                </a:r>
                <a14:m>
                  <m:oMath xmlns:m="http://schemas.openxmlformats.org/officeDocument/2006/math">
                    <m:sSup>
                      <m:e>
                        <m:r>
                          <m:t>10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5</m:t>
                        </m:r>
                      </m:sup>
                    </m:sSup>
                  </m:oMath>
                </a14:m>
                <a:r>
                  <a:rPr/>
                  <a:t>) or </a:t>
                </a:r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explodes for well-classified points.</a:t>
                </a:r>
              </a:p>
              <a:p>
                <a:pPr lvl="0" indent="0" marL="0">
                  <a:buNone/>
                </a:pPr>
                <a:r>
                  <a:rPr/>
                  <a:t>That third one is the bug you will hit in the lab.</a:t>
                </a:r>
              </a:p>
            </p:txBody>
          </p:sp>
        </mc:Choice>
      </mc:AlternateContent>
    </p:spTree>
  </p:cSld>
</p:sld>
</file>

<file path=ppt/slides/slide2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6.8 Imbalance — three distinct interventions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Intervention</a:t></a:r></a:p></a:txBody><a:tcPr /></a:tc><a:tc><a:txBody><a:bodyPr /><a:lstStyle /><a:p><a:pPr lvl="0" indent="0" marL="0"><a:buNone /></a:pPr><a:r><a:rPr /><a:t>What it changes</a:t></a:r></a:p></a:txBody><a:tcPr /></a:tc><a:tc><a:txBody><a:bodyPr /><a:lstStyle /><a:p><a:pPr lvl="0" indent="0" marL="0"><a:buNone /></a:pPr><a:r><a:rPr /><a:t>Effect on calibration</a:t></a:r></a:p></a:txBody><a:tcPr /></a:tc></a:tr><a:tr h="0"><a:tc><a:txBody><a:bodyPr /><a:lstStyle /><a:p><a:pPr lvl="0" indent="0" marL="0"><a:buNone /></a:pPr><a:r><a:rPr b="1" /><a:t>Resampling</a:t></a:r><a:r><a:rPr /><a:t> (SMOTE, over/under)</a:t></a:r></a:p></a:txBody></a:tc><a:tc><a:txBody><a:bodyPr /><a:lstStyle /><a:p><a:pPr lvl="0" indent="0" marL="0"><a:buNone /></a:pPr><a:r><a:rPr /><a:t>the empirical distribution</a:t></a:r></a:p></a:txBody></a:tc><a:tc><a:txBody><a:bodyPr /><a:lstStyle /><a:p><a:pPr lvl="0" indent="0" marL="0"><a:buNone /></a:pPr><a:r><a:rPr b="1" /><a:t>Destroys</a:t></a:r><a:r><a:rPr /><a:t> it — </a:t></a:r><a14:m><m:oMath xmlns:m="http://schemas.openxmlformats.org/officeDocument/2006/math"><m:acc><m:accPr><m:chr m:val="̂" /></m:accPr><m:e><m:r><m:t>p</m:t></m:r></m:e></m:acc></m:oMath></a14:m><a:r><a:rPr /><a:t> estimates the resampled prior</a:t></a:r></a:p></a:txBody></a:tc></a:tr><a:tr h="0"><a:tc><a:txBody><a:bodyPr /><a:lstStyle /><a:p><a:pPr lvl="0" indent="0" marL="0"><a:buNone /></a:pPr><a:r><a:rPr b="1" /><a:t>Class weights</a:t></a:r><a:r><a:rPr /><a:t> in the loss</a:t></a:r></a:p></a:txBody></a:tc><a:tc><a:txBody><a:bodyPr /><a:lstStyle /><a:p><a:pPr lvl="0" indent="0" marL="0"><a:buNone /></a:pPr><a:r><a:rPr /><a:t>the objective</a:t></a:r></a:p></a:txBody></a:tc><a:tc><a:txBody><a:bodyPr /><a:lstStyle /><a:p><a:pPr lvl="0" indent="0" marL="0"><a:buNone /></a:pPr><a:r><a:rPr /><a:t>Distorts it similarly; equivalent to a prior shift</a:t></a:r></a:p></a:txBody></a:tc></a:tr><a:tr h="0"><a:tc><a:txBody><a:bodyPr /><a:lstStyle /><a:p><a:pPr lvl="0" indent="0" marL="0"><a:buNone /></a:pPr><a:r><a:rPr b="1" /><a:t>Threshold adjustment</a:t></a:r></a:p></a:txBody></a:tc><a:tc><a:txBody><a:bodyPr /><a:lstStyle /><a:p><a:pPr lvl="0" indent="0" marL="0"><a:buNone /></a:pPr><a:r><a:rPr /><a:t>only the decision rule</a:t></a:r></a:p></a:txBody></a:tc><a:tc><a:txBody><a:bodyPr /><a:lstStyle /><a:p><a:pPr lvl="0" indent="0" marL="0"><a:buNone /></a:pPr><a:r><a:rPr b="1" /><a:t>Preserves</a:t></a:r><a:r><a:rPr /><a:t> it completely</a:t></a:r></a:p></a:txBody></a:tc></a:tr></a:tbl></a:graphicData></a:graphic></p:graphicFrame></p:spTree></p:cSld>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recommendation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/>
                  <a:t>Fit an </a:t>
                </a:r>
                <a:r>
                  <a:rPr sz="2000" b="1"/>
                  <a:t>unweighted</a:t>
                </a:r>
                <a:r>
                  <a:rPr sz="2000"/>
                  <a:t>, well-regularised model, verify </a:t>
                </a:r>
                <a:r>
                  <a:rPr sz="2000" b="1"/>
                  <a:t>calibration</a:t>
                </a:r>
                <a:r>
                  <a:rPr sz="2000"/>
                  <a:t>, then move the </a:t>
                </a:r>
                <a:r>
                  <a:rPr sz="2000" b="1"/>
                  <a:t>threshold</a:t>
                </a:r>
                <a:r>
                  <a:rPr sz="2000"/>
                  <a:t> using </a:t>
                </a:r>
                <a14:m>
                  <m:oMath xmlns:m="http://schemas.openxmlformats.org/officeDocument/2006/math">
                    <m:sSup>
                      <m:e>
                        <m:r>
                          <m:t>τ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</m:oMath>
                </a14:m>
                <a:r>
                  <a:rPr sz="2000"/>
                  <a:t> from 6.5.</a:t>
                </a:r>
              </a:p>
              <a:p>
                <a:pPr lvl="0" indent="0" marL="0">
                  <a:buNone/>
                </a:pPr>
                <a:r>
                  <a:rPr/>
                  <a:t>You keep an interpretable probability </a:t>
                </a:r>
                <a:r>
                  <a:rPr i="1"/>
                  <a:t>and</a:t>
                </a:r>
                <a:r>
                  <a:rPr/>
                  <a:t> an optimal decision. Unambiguous for most economic applications.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must resample, undo 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With training positive rate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′</m:t>
                    </m:r>
                  </m:oMath>
                </a14:m>
                <a:r>
                  <a:rPr/>
                  <a:t> and population rate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, correct the intercept: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←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sty m:val="p"/>
                        </m:rPr>
                        <m:t>log</m:t>
                      </m:r>
                      <m:r>
                        <m:t>​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π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</m:num>
                            <m:den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π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⋅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π</m:t>
                              </m:r>
                            </m:num>
                            <m:den>
                              <m:r>
                                <m:t>π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Very few practitioners do this. Be one who does.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SMOTE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interpolates between minority neighbours, so synthetic points lie in the </a:t>
            </a:r>
            <a:r>
              <a:rPr b="1"/>
              <a:t>convex hull</a:t>
            </a:r>
            <a:r>
              <a:rPr/>
              <a:t> of observed minority cases. With correlated financial ratios in high dimensions, those interpolants can be economically impossible firms.</a:t>
            </a:r>
          </a:p>
          <a:p>
            <a:pPr lvl="0" indent="0" marL="0">
              <a:buNone/>
            </a:pPr>
            <a:r>
              <a:rPr/>
              <a:t>Treat with scepticism.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6.9 Selection stability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≫</m:t>
                    </m:r>
                    <m:r>
                      <m:t>n</m:t>
                    </m:r>
                  </m:oMath>
                </a14:m>
                <a:r>
                  <a:rPr/>
                  <a:t> with correlated predictors, the selected variable set is a </a:t>
                </a:r>
                <a:r>
                  <a:rPr b="1"/>
                  <a:t>high-variance object</a:t>
                </a:r>
                <a:r>
                  <a:rPr/>
                  <a:t> — you saw this for the lasso in Session 05; it is worse here.</a:t>
                </a:r>
              </a:p>
              <a:p>
                <a:pPr lvl="0"/>
                <a:r>
                  <a:rPr b="1"/>
                  <a:t>Stability selection</a:t>
                </a:r>
                <a:r>
                  <a:rPr/>
                  <a:t> (Meinshausen &amp; Bühlmann): many subsamples of size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2</m:t>
                    </m:r>
                  </m:oMath>
                </a14:m>
                <a:r>
                  <a:rPr/>
                  <a:t>, retain variables selected in at least </a:t>
                </a:r>
                <a14:m>
                  <m:oMath xmlns:m="http://schemas.openxmlformats.org/officeDocument/2006/math">
                    <m:sSub>
                      <m:e>
                        <m:r>
                          <m:t>π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thr</m:t>
                        </m:r>
                      </m:sub>
                    </m:sSub>
                  </m:oMath>
                </a14:m>
                <a:r>
                  <a:rPr/>
                  <a:t> (e.g. 0.6) of them. Comes with a bound on the expected number of false selections.</a:t>
                </a:r>
              </a:p>
              <a:p>
                <a:pPr lvl="0"/>
                <a:r>
                  <a:rPr b="1"/>
                  <a:t>Bootstrap selection frequencies:</a:t>
                </a:r>
                <a:r>
                  <a:rPr/>
                  <a:t> simpler, and enough for a report.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write it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Never:</a:t>
            </a:r>
            <a:r>
              <a:rPr/>
              <a:t> </a:t>
            </a:r>
            <a:r>
              <a:rPr i="1"/>
              <a:t>“the model identified X, Y and Z as the drivers of bankruptcy.”</a:t>
            </a:r>
          </a:p>
          <a:p>
            <a:pPr lvl="0" indent="0" marL="0">
              <a:buNone/>
            </a:pPr>
            <a:r>
              <a:rPr/>
              <a:t>Report the selected set </a:t>
            </a:r>
            <a:r>
              <a:rPr b="1"/>
              <a:t>with its selection frequencies</a:t>
            </a:r>
            <a:r>
              <a:rPr/>
              <a:t>, and say that a different sample would plausibly have produced a different list.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Fit penalised logistic on your project under grouped CV; report the base rate first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Produce a reliability diagram — is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</m:oMath>
                </a14:m>
                <a:r>
                  <a:rPr/>
                  <a:t> usable as a probability?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State a cost ratio, derive </a:t>
                </a:r>
                <a14:m>
                  <m:oMath xmlns:m="http://schemas.openxmlformats.org/officeDocument/2006/math">
                    <m:sSup>
                      <m:e>
                        <m:r>
                          <m:t>τ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</m:oMath>
                </a14:m>
                <a:r>
                  <a:rPr/>
                  <a:t>, and report precision and recall </a:t>
                </a:r>
                <a:r>
                  <a:rPr b="1"/>
                  <a:t>there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Bootstrap the selection and report frequencies</a:t>
                </a:r>
              </a:p>
              <a:p>
                <a:pPr lvl="0" indent="0" marL="0">
                  <a:buNone/>
                </a:pPr>
                <a:r>
                  <a:rPr/>
                  <a:t>Report the </a:t>
                </a:r>
                <a:r>
                  <a:rPr b="1"/>
                  <a:t>base rate</a:t>
                </a:r>
                <a:r>
                  <a:rPr/>
                  <a:t> before any accuracy figure, so it can be read against something.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model, the CV scheme, the cost ratio you assumed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performance at </a:t>
            </a:r>
            <a:r>
              <a:rPr i="1"/>
              <a:t>your</a:t>
            </a:r>
            <a:r>
              <a:rPr/>
              <a:t> threshold, not the best over all thresholds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calibration, and the instability of the selected set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02-lab/README.md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Classification: Logistic Regression, Regularisation, Thresholds</dc:title>
  <dc:creator>Thierry Warin</dc:creator>
  <cp:keywords/>
  <dcterms:created xsi:type="dcterms:W3CDTF">2026-08-20T19:48:17Z</dcterms:created>
  <dcterms:modified xsi:type="dcterms:W3CDTF">2026-08-20T19:48:17Z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06 · Lecture, first half</vt:lpwstr>
  </property>
  <property fmtid="{D5CDD505-2E9C-101B-9397-08002B2CF9AE}" pid="16" name="toc-title">
    <vt:lpwstr>Table of contents</vt:lpwstr>
  </property>
</Properties>
</file>