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 and the Decision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example: Lending Club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 straight line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logistic curve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second example: Portugal’s red wines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you should be able to:</a:t>
            </a:r>
          </a:p>
          <a:p>
            <a:pPr lvl="0"/>
            <a:r>
              <a:rPr/>
              <a:t>Say </a:t>
            </a:r>
            <a:r>
              <a:rPr b="1"/>
              <a:t>why</a:t>
            </a:r>
            <a:r>
              <a:rPr/>
              <a:t> a linear model cannot support a binary decision, and show it on a plot</a:t>
            </a:r>
          </a:p>
          <a:p>
            <a:pPr lvl="0"/>
            <a:r>
              <a:rPr/>
              <a:t>Fit a logistic regression in Python and report an </a:t>
            </a:r>
            <a:r>
              <a:rPr b="1"/>
              <a:t>odds ratio</a:t>
            </a:r>
            <a:r>
              <a:rPr/>
              <a:t> and an </a:t>
            </a:r>
            <a:r>
              <a:rPr b="1"/>
              <a:t>average marginal effect</a:t>
            </a:r>
          </a:p>
          <a:p>
            <a:pPr lvl="0"/>
            <a:r>
              <a:rPr/>
              <a:t>Explain why </a:t>
            </a:r>
            <a:r>
              <a:rPr b="1"/>
              <a:t>accuracy</a:t>
            </a:r>
            <a:r>
              <a:rPr/>
              <a:t> is the wrong metric under imbalance, and what to use instead</a:t>
            </a:r>
          </a:p>
          <a:p>
            <a:pPr lvl="0"/>
            <a:r>
              <a:rPr/>
              <a:t>Derive the cost-optimal </a:t>
            </a:r>
            <a:r>
              <a:rPr b="1"/>
              <a:t>threshold</a:t>
            </a:r>
            <a:r>
              <a:rPr/>
              <a:t>, and defend the cost ratio behind it</a:t>
            </a:r>
          </a:p>
          <a:p>
            <a:pPr lvl="0"/>
            <a:r>
              <a:rPr/>
              <a:t>Recognise </a:t>
            </a:r>
            <a:r>
              <a:rPr b="1"/>
              <a:t>miscalibration</a:t>
            </a:r>
            <a:r>
              <a:rPr/>
              <a:t>, and why it breaks a cost calculation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have got to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could do afterwards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 a line, and know what “controlling for” means geometrically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Attach an honest standard error to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Say whether it will hold on data you have not seen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 more predictors than you can defend individually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assume the thing you are predicting is a </a:t>
            </a:r>
            <a:r>
              <a:rPr b="1"/>
              <a:t>number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changes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outcome is a </a:t>
            </a:r>
            <a:r>
              <a:rPr b="1"/>
              <a:t>yes or no</a:t>
            </a:r>
            <a:r>
              <a:rPr/>
              <a:t>, and somebody has to </a:t>
            </a:r>
            <a:r>
              <a:rPr b="1"/>
              <a:t>act</a:t>
            </a:r>
            <a:r>
              <a:rPr/>
              <a:t> on it.</a:t>
            </a:r>
          </a:p>
          <a:p>
            <a:pPr lvl="0" indent="0" marL="0">
              <a:buNone/>
            </a:pPr>
            <a:r>
              <a:rPr/>
              <a:t>That second half is new. Sessions 02–05 end with an estimate. This session ends with a </a:t>
            </a:r>
            <a:r>
              <a:rPr b="1"/>
              <a:t>decision</a:t>
            </a:r>
            <a:r>
              <a:rPr/>
              <a:t> — fund the loan or refuse it — and a decision needs something none of the earlier methods supplied: a </a:t>
            </a:r>
            <a:r>
              <a:rPr b="1"/>
              <a:t>threshold</a:t>
            </a:r>
            <a:r>
              <a:rPr/>
              <a:t>, which comes from economics, not from the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one-sentence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Sessions 02–05 taught you to produce a number. </a:t>
            </a:r>
            <a:r>
              <a:rPr sz="2000" b="1"/>
              <a:t>Session 06 is the first time the number has to become an action.</a:t>
            </a:r>
          </a:p>
          <a:p>
            <a:pPr lvl="0" indent="0" marL="0">
              <a:buNone/>
            </a:pPr>
            <a:r>
              <a:rPr/>
              <a:t>Everything awkward in this session follows from that step — and almost every applied mistake comes from taking it without noticing.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An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Lending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peer-to-peer marketplace: individuals lend to individuals, and the platform prices the risk.</a:t>
            </a:r>
          </a:p>
          <a:p>
            <a:pPr lvl="0"/>
            <a:r>
              <a:rPr b="1"/>
              <a:t>9,578</a:t>
            </a:r>
            <a:r>
              <a:rPr/>
              <a:t> three-year loans funded through LendingClub.com</a:t>
            </a:r>
          </a:p>
          <a:p>
            <a:pPr lvl="0"/>
            <a:r>
              <a:rPr b="1"/>
              <a:t>May 2007 – February 2010</a:t>
            </a:r>
          </a:p>
          <a:p>
            <a:pPr lvl="0"/>
            <a:r>
              <a:rPr/>
              <a:t>Outcome: the loan was </a:t>
            </a:r>
            <a:r>
              <a:rPr b="1"/>
              <a:t>not fully repaid</a:t>
            </a:r>
            <a:r>
              <a:rPr/>
              <a:t> — default, or charged off</a:t>
            </a:r>
          </a:p>
          <a:p>
            <a:pPr lvl="0" indent="0" marL="1270000">
              <a:buNone/>
            </a:pPr>
            <a:r>
              <a:rPr sz="2000" b="1"/>
              <a:t>The question a lender actually has:</a:t>
            </a:r>
            <a:r>
              <a:rPr sz="2000"/>
              <a:t> </a:t>
            </a:r>
            <a:r>
              <a:rPr sz="2000" i="1"/>
              <a:t>which of these applications should I fund?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data,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scripts/fetch_teaching_data.py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r>
              <a:rPr>
                <a:latin typeface="Courier"/>
              </a:rPr>
              <a:t>loans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"data/loans.parquet"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script downloads, tidies the R-style column names (</a:t>
            </a:r>
            <a:r>
              <a:rPr>
                <a:latin typeface="Courier"/>
              </a:rPr>
              <a:t>not.fully.paid</a:t>
            </a:r>
            <a:r>
              <a:rPr/>
              <a:t> → </a:t>
            </a:r>
            <a:r>
              <a:rPr>
                <a:latin typeface="Courier"/>
              </a:rPr>
              <a:t>default</a:t>
            </a:r>
            <a:r>
              <a:rPr/>
              <a:t>) and caches to parquet. </a:t>
            </a:r>
            <a:r>
              <a:rPr b="1"/>
              <a:t>Run it once.</a:t>
            </a:r>
            <a:r>
              <a:rPr/>
              <a:t> Nothing else in the course touches the network.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before you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].mean()          </a:t>
            </a:r>
            <a:r>
              <a:rPr i="1">
                <a:solidFill>
                  <a:srgbClr val="60A0B0"/>
                </a:solidFill>
                <a:latin typeface="Courier"/>
              </a:rPr>
              <a:t># 0.160</a:t>
            </a:r>
            <a:br/>
            <a:r>
              <a:rPr>
                <a:latin typeface="Courier"/>
              </a:rPr>
              <a:t>loans[</a:t>
            </a:r>
            <a:r>
              <a:rPr>
                <a:solidFill>
                  <a:srgbClr val="4070A0"/>
                </a:solidFill>
                <a:latin typeface="Courier"/>
              </a:rPr>
              <a:t>"purpose"</a:t>
            </a:r>
            <a:r>
              <a:rPr>
                <a:latin typeface="Courier"/>
              </a:rPr>
              <a:t>].value_counts()  </a:t>
            </a:r>
            <a:r>
              <a:rPr i="1">
                <a:solidFill>
                  <a:srgbClr val="60A0B0"/>
                </a:solidFill>
                <a:latin typeface="Courier"/>
              </a:rPr>
              <a:t># 7 categories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38300"/>
            <a:ext cx="5105400" cy="152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16% default.</a:t>
            </a:r>
            <a:r>
              <a:rPr/>
              <a:t> Hold that number — section 6 turns on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Why a straight line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anyway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 the 0/1 outcome on FICO by ordinary least squares — the Session 02 estimator, unchanged.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r>
              <a:rPr>
                <a:latin typeface="Courier"/>
              </a:rPr>
              <a:t>X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sm.add_constant(loans[[</a:t>
            </a:r>
            <a:r>
              <a:rPr>
                <a:solidFill>
                  <a:srgbClr val="4070A0"/>
                </a:solidFill>
                <a:latin typeface="Courier"/>
              </a:rPr>
              <a:t>"fico"</a:t>
            </a:r>
            <a:r>
              <a:rPr>
                <a:latin typeface="Courier"/>
              </a:rPr>
              <a:t>]])</a:t>
            </a:r>
            <a:br/>
            <a:r>
              <a:rPr>
                <a:latin typeface="Courier"/>
              </a:rPr>
              <a:t>lpm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], X).fit()</a:t>
            </a:r>
          </a:p>
          <a:p>
            <a:pPr lvl="0" indent="0" marL="0">
              <a:buNone/>
            </a:pPr>
            <a:r>
              <a:rPr/>
              <a:t>This is the </a:t>
            </a:r>
            <a:r>
              <a:rPr b="1"/>
              <a:t>linear probability model</a:t>
            </a:r>
            <a:r>
              <a:rPr/>
              <a:t>. Economists use it, and for an average effect it is defensible.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it predicts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straight line crosses zero: for high-FICO applicants it predicts a </a:t>
            </a:r>
            <a:r>
              <a:rPr b="1"/>
              <a:t>negative probability of default</a:t>
            </a:r>
            <a:r>
              <a:rPr/>
              <a:t> — here as low as </a:t>
            </a:r>
            <a:r>
              <a:rPr b="1"/>
              <a:t>−0.08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is fatal for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probability below 0 or above 1 </a:t>
                </a:r>
                <a:r>
                  <a:rPr b="1"/>
                  <a:t>cannot be acted on</a:t>
                </a:r>
                <a:r>
                  <a:rPr/>
                  <a:t> — you cannot multiply it by a cost</a:t>
                </a:r>
              </a:p>
              <a:p>
                <a:pPr lvl="0"/>
                <a:r>
                  <a:rPr/>
                  <a:t>The errors are heteroskedastic </a:t>
                </a:r>
                <a:r>
                  <a:rPr b="1"/>
                  <a:t>by construction</a:t>
                </a:r>
                <a:r>
                  <a:rPr/>
                  <a:t>: the variance is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</a:p>
              <a:p>
                <a:pPr lvl="0"/>
                <a:r>
                  <a:rPr/>
                  <a:t>The fit is dragged by points far from the boundary, where nothing is being decided</a:t>
                </a:r>
              </a:p>
              <a:p>
                <a:pPr lvl="0" indent="0" marL="0">
                  <a:buNone/>
                </a:pPr>
                <a:r>
                  <a:rPr/>
                  <a:t>For an </a:t>
                </a:r>
                <a:r>
                  <a:rPr i="1"/>
                  <a:t>average effect</a:t>
                </a:r>
                <a:r>
                  <a:rPr/>
                  <a:t> the LPM survives. For an </a:t>
                </a:r>
                <a:r>
                  <a:rPr i="1"/>
                  <a:t>individual decision</a:t>
                </a:r>
                <a:r>
                  <a:rPr/>
                  <a:t> it does not — and this session is about decisions.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The logistic curve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Bend the line into the unit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log-odds</a:t>
                </a:r>
                <a:r>
                  <a:rPr/>
                  <a:t> on the left is free to run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so a linear model is safe there. The probability on the right is then squeezed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automatically.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squeeze looks like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43000" y="1193800"/>
            <a:ext cx="685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slope is </a:t>
            </a:r>
            <a:r>
              <a:rPr b="1"/>
              <a:t>not constant</a:t>
            </a:r>
            <a:r>
              <a:rPr/>
              <a:t>. That is why one coefficient does not translate into one change in probability.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ways to report one coefficient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Log-odds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b="1"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credit or clinical audience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odds ratio is constant everywhere; the probability change is not. Report the average marginal effect unless you have a reason not to.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Reading the output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numpy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np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statsmodels.formula.api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smf</a:t>
                </a:r>
                <a:br/>
                <a:br/>
                <a:r>
                  <a:rPr>
                    <a:latin typeface="Courier"/>
                  </a:rPr>
                  <a:t>m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smf.logit(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"default ~ fico + int_rate + np.log(revol_bal + 1)"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loans).fit()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(m.summary().tables[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Line by line:</a:t>
                </a:r>
              </a:p>
              <a:p>
                <a:pPr lvl="0"/>
                <a:r>
                  <a:rPr>
                    <a:latin typeface="Courier"/>
                  </a:rPr>
                  <a:t>smf.logit</a:t>
                </a:r>
                <a:r>
                  <a:rPr/>
                  <a:t> — the formula interface; </a:t>
                </a:r>
                <a:r>
                  <a:rPr>
                    <a:latin typeface="Courier"/>
                  </a:rPr>
                  <a:t>default ~ ...</a:t>
                </a:r>
                <a:r>
                  <a:rPr/>
                  <a:t> reads “default explained by”</a:t>
                </a:r>
              </a:p>
              <a:p>
                <a:pPr lvl="0"/>
                <a:r>
                  <a:rPr>
                    <a:latin typeface="Courier"/>
                  </a:rPr>
                  <a:t>np.log(revol_bal + 1)</a:t>
                </a:r>
                <a:r>
                  <a:rPr/>
                  <a:t> — transformed </a:t>
                </a:r>
                <a:r>
                  <a:rPr b="1"/>
                  <a:t>inside</a:t>
                </a:r>
                <a:r>
                  <a:rPr/>
                  <a:t> the formula, so the transformation is part of the recorded model rather than a step you might forget</a:t>
                </a:r>
              </a:p>
              <a:p>
                <a:pPr lvl="0"/>
                <a:r>
                  <a:rPr>
                    <a:latin typeface="Courier"/>
                  </a:rPr>
                  <a:t>+ 1</a:t>
                </a:r>
                <a:r>
                  <a:rPr/>
                  <a:t> because balances of exactly zero exist,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r>
                      <m:t>0</m:t>
                    </m:r>
                  </m:oMath>
                </a14:m>
                <a:r>
                  <a:rPr/>
                  <a:t> is undefined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coef  std err       z   P&gt;|z|
Intercept          1.6886   0.9231  1.8292  0.0674
fico              -0.0064   0.0011 -5.8332  0.0000
int_rate          10.5902   1.4681  7.2138  0.0000
log(revol_bal+1)  -0.0162   0.0131 -1.2314  0.2182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fico</a:t>
            </a:r>
            <a:r>
              <a:rPr/>
              <a:t> is </a:t>
            </a:r>
            <a:r>
              <a:rPr b="1"/>
              <a:t>negative</a:t>
            </a:r>
            <a:r>
              <a:rPr/>
              <a:t> — a better score lowers default risk. </a:t>
            </a:r>
            <a:r>
              <a:rPr>
                <a:latin typeface="Courier"/>
              </a:rPr>
              <a:t>int_rate</a:t>
            </a:r>
            <a:r>
              <a:rPr/>
              <a:t> is strongly </a:t>
            </a:r>
            <a:r>
              <a:rPr b="1"/>
              <a:t>positive</a:t>
            </a:r>
            <a:r>
              <a:rPr/>
              <a:t>: the platform’s own pricing already encodes who is risky.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reportable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np.exp(m.params[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"fico"</a:t>
                </a:r>
                <a:r>
                  <a:rPr>
                    <a:latin typeface="Courier"/>
                  </a:rPr>
                  <a:t>])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0.9936  — odds ratio per FICO point</a:t>
                </a:r>
                <a:br/>
                <a:r>
                  <a:rPr>
                    <a:latin typeface="Courier"/>
                  </a:rPr>
                  <a:t>m.get_margeff().summary()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average marginal effects</a:t>
                </a:r>
              </a:p>
              <a:p>
                <a:pPr lvl="0" indent="0" marL="0">
                  <a:buNone/>
                </a:pPr>
                <a:r>
                  <a:rPr b="1"/>
                  <a:t>0.9936</a:t>
                </a:r>
                <a:r>
                  <a:rPr/>
                  <a:t> per point sounds like nothing. Per </a:t>
                </a:r>
                <a:r>
                  <a:rPr b="1"/>
                  <a:t>100</a:t>
                </a:r>
                <a:r>
                  <a:rPr/>
                  <a:t> points it is </a:t>
                </a:r>
                <a14:m>
                  <m:oMath xmlns:m="http://schemas.openxmlformats.org/officeDocument/2006/math">
                    <m:sSup>
                      <m:e>
                        <m:r>
                          <m:t>0.9936</m:t>
                        </m:r>
                      </m:e>
                      <m:sup>
                        <m:r>
                          <m:t>100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0.52</m:t>
                    </m:r>
                  </m:oMath>
                </a14:m>
                <a:r>
                  <a:rPr/>
                  <a:t> — the odds of default roughly </a:t>
                </a:r>
                <a:r>
                  <a:rPr b="1"/>
                  <a:t>halve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model does not care about units; your sentence does. Always say </a:t>
                </a:r>
                <a:r>
                  <a:rPr i="1"/>
                  <a:t>per what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Why accuracy lies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null model is already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16% default. So the model </a:t>
            </a:r>
            <a:r>
              <a:rPr i="1"/>
              <a:t>“nobody ever defaults”</a:t>
            </a:r>
            <a:r>
              <a:rPr/>
              <a:t> — which uses no data at all — is</a:t>
            </a:r>
          </a:p>
          <a:p>
            <a:pPr lvl="0" indent="0" marL="1270000">
              <a:buNone/>
            </a:pPr>
            <a:r>
              <a:rPr sz="2000" b="1"/>
              <a:t>84% accurate.</a:t>
            </a:r>
          </a:p>
          <a:p>
            <a:pPr lvl="0" indent="0" marL="0">
              <a:buNone/>
            </a:pPr>
            <a:r>
              <a:rPr/>
              <a:t>Report 85% accuracy and you have bought </a:t>
            </a:r>
            <a:r>
              <a:rPr b="1"/>
              <a:t>one point</a:t>
            </a:r>
            <a:r>
              <a:rPr/>
              <a:t> over saying nothing. Under imbalance, accuracy measures the base rate, not skill.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curves, one model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8229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them against each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ROC AUC 0.627</a:t>
            </a:r>
            <a:r>
              <a:rPr/>
              <a:t> — looks like a working model. Its reference line is </a:t>
            </a:r>
            <a:r>
              <a:rPr i="1"/>
              <a:t>chance</a:t>
            </a:r>
            <a:r>
              <a:rPr/>
              <a:t>, a low bar.</a:t>
            </a:r>
          </a:p>
          <a:p>
            <a:pPr lvl="0"/>
            <a:r>
              <a:rPr b="1"/>
              <a:t>PR AUC 0.232</a:t>
            </a:r>
            <a:r>
              <a:rPr/>
              <a:t> — its reference line is the </a:t>
            </a:r>
            <a:r>
              <a:rPr b="1"/>
              <a:t>base rate, 0.160</a:t>
            </a:r>
            <a:r>
              <a:rPr/>
              <a:t>. The real gain is 0.232 against 0.160.</a:t>
            </a:r>
          </a:p>
          <a:p>
            <a:pPr lvl="0" indent="0" marL="0">
              <a:buNone/>
            </a:pPr>
            <a:r>
              <a:rPr/>
              <a:t>Under heavy imbalance, </a:t>
            </a:r>
            <a:r>
              <a:rPr b="1"/>
              <a:t>report PR with its baseline.</a:t>
            </a:r>
            <a:r>
              <a:rPr/>
              <a:t> ROC flatters, because the false-positive denominator is enormous.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The threshold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a claim, not a default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</a:t>
                </a:r>
                <a:r>
                  <a:rPr b="1"/>
                  <a:t>false positive and a false negative cost the same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For a lender they do not: refusing a good borrower costs a </a:t>
                </a:r>
                <a:r>
                  <a:rPr b="1"/>
                  <a:t>margin</a:t>
                </a:r>
                <a:r>
                  <a:rPr/>
                  <a:t>; funding a defaulter costs the </a:t>
                </a:r>
                <a:r>
                  <a:rPr b="1"/>
                  <a:t>principal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cost-optimal threshold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47800"/>
            <a:ext cx="51054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a 5:1 cost ratio the right threshold is </a:t>
            </a:r>
            <a:r>
              <a:rPr b="1"/>
              <a:t>0.167</a:t>
            </a:r>
            <a:r>
              <a:rPr/>
              <a:t>, not 0.5.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threshold does to the decision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06500" y="1193800"/>
            <a:ext cx="6731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 that should alarm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threshold  flagged  recall
     0.100     7625   0.915
     0.167     4134   0.560
     0.200     2440   0.369
     0.300      215   0.050
     0.500        0   0.000</a:t>
            </a:r>
          </a:p>
          <a:p>
            <a:pPr lvl="0" indent="0" marL="0">
              <a:buNone/>
            </a:pPr>
            <a:r>
              <a:rPr b="1"/>
              <a:t>At 0.50 the model flags nothing at all.</a:t>
            </a:r>
            <a:r>
              <a:rPr/>
              <a:t> Every applicant approved, recall zero — and the software reported no error whatsoever.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0.3 really 30%?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87500" y="1193800"/>
            <a:ext cx="596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Discrimination and calibration are different properties.</a:t>
            </a:r>
            <a:r>
              <a:rPr/>
              <a:t> A model can rank perfectly and still be miscalibrated — and a miscalibrated probability cannot enter a cost calculation.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A second example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Portugal’s red wines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1,599 red </a:t>
            </a:r>
            <a:r>
              <a:rPr i="1"/>
              <a:t>vinho verde</a:t>
            </a:r>
            <a:r>
              <a:rPr/>
              <a:t> wines, chemically assayed, each rated by at least three blind tasters.</a:t>
            </a:r>
          </a:p>
          <a:p>
            <a:pPr lvl="0" indent="0">
              <a:buNone/>
            </a:pPr>
            <a:r>
              <a:rPr>
                <a:latin typeface="Courier"/>
              </a:rPr>
              <a:t>wine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"data/redwines.parquet"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m_w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smf.logit(</a:t>
            </a:r>
            <a:r>
              <a:rPr>
                <a:solidFill>
                  <a:srgbClr val="4070A0"/>
                </a:solidFill>
                <a:latin typeface="Courier"/>
              </a:rPr>
              <a:t>"good ~ alcohol + volatile_acidity + sulphates"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wine).fit()</a:t>
            </a:r>
            <a:br/>
            <a:r>
              <a:rPr>
                <a:latin typeface="Courier"/>
              </a:rPr>
              <a:t>np.exp(m_w.params[</a:t>
            </a:r>
            <a:r>
              <a:rPr>
                <a:solidFill>
                  <a:srgbClr val="4070A0"/>
                </a:solidFill>
                <a:latin typeface="Courier"/>
              </a:rPr>
              <a:t>"alcohol"</a:t>
            </a:r>
            <a:r>
              <a:rPr>
                <a:latin typeface="Courier"/>
              </a:rPr>
              <a:t>])     </a:t>
            </a:r>
            <a:r>
              <a:rPr i="1">
                <a:solidFill>
                  <a:srgbClr val="60A0B0"/>
                </a:solidFill>
                <a:latin typeface="Courier"/>
              </a:rPr>
              <a:t># 2.74</a:t>
            </a:r>
          </a:p>
          <a:p>
            <a:pPr lvl="0" indent="0" marL="0">
              <a:buNone/>
            </a:pPr>
            <a:r>
              <a:rPr/>
              <a:t>An odds ratio of </a:t>
            </a:r>
            <a:r>
              <a:rPr b="1"/>
              <a:t>2.74</a:t>
            </a:r>
            <a:r>
              <a:rPr/>
              <a:t>: each extra percentage point of alcohol nearly </a:t>
            </a:r>
            <a:r>
              <a:rPr b="1"/>
              <a:t>triples</a:t>
            </a:r>
            <a:r>
              <a:rPr/>
              <a:t> the odds a taster calls the wine good.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method, very different signal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5994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Why the difference is not the method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Lending Club</a:t></a:r></a:p></a:txBody><a:tcPr /></a:tc><a:tc><a:txBody><a:bodyPr /><a:lstStyle /><a:p><a:pPr lvl="0" indent="0" marL="0"><a:buNone /></a:pPr><a:r><a:rPr /><a:t>Red wines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/a:p></a:txBody></a:tc><a:tc><a:txBody><a:bodyPr /><a:lstStyle /><a:p><a:pPr lvl="0" indent="0" marL="0"><a:buNone /></a:pPr><a:r><a:rPr /><a:t>9,578</a:t></a:r></a:p></a:txBody></a:tc><a:tc><a:txBody><a:bodyPr /><a:lstStyle /><a:p><a:pPr lvl="0" indent="0" marL="0"><a:buNone /></a:pPr><a:r><a:rPr /><a:t>1,599</a:t></a:r></a:p></a:txBody></a:tc></a:tr><a:tr h="0"><a:tc><a:txBody><a:bodyPr /><a:lstStyle /><a:p><a:pPr lvl="0" indent="0" marL="0"><a:buNone /></a:pPr><a:r><a:rPr /><a:t>Base rate</a:t></a:r></a:p></a:txBody></a:tc><a:tc><a:txBody><a:bodyPr /><a:lstStyle /><a:p><a:pPr lvl="0" indent="0" marL="0"><a:buNone /></a:pPr><a:r><a:rPr /><a:t>0.160</a:t></a:r></a:p></a:txBody></a:tc><a:tc><a:txBody><a:bodyPr /><a:lstStyle /><a:p><a:pPr lvl="0" indent="0" marL="0"><a:buNone /></a:pPr><a:r><a:rPr /><a:t>0.136</a:t></a:r></a:p></a:txBody></a:tc></a:tr><a:tr h="0"><a:tc><a:txBody><a:bodyPr /><a:lstStyle /><a:p><a:pPr lvl="0" indent="0" marL="0"><a:buNone /></a:pPr><a:r><a:rPr /><a:t>ROC AUC</a:t></a:r></a:p></a:txBody></a:tc><a:tc><a:txBody><a:bodyPr /><a:lstStyle /><a:p><a:pPr lvl="0" indent="0" marL="0"><a:buNone /></a:pPr><a:r><a:rPr /><a:t>0.627</a:t></a:r></a:p></a:txBody></a:tc><a:tc><a:txBody><a:bodyPr /><a:lstStyle /><a:p><a:pPr lvl="0" indent="0" marL="0"><a:buNone /></a:pPr><a:r><a:rPr b="1" /><a:t>0.866</a:t></a:r></a:p></a:txBody></a:tc></a:tr></a:tbl></a:graphicData></a:graphic></p:graphicFrame></p:spTree></p:cSld>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estimator, both imbalanced. </a:t>
            </a:r>
            <a:r>
              <a:rPr b="1"/>
              <a:t>The predictors differ in how much they know.</a:t>
            </a:r>
            <a:r>
              <a:rPr/>
              <a:t> Chemistry measures the thing being judged; a credit file measures a person’s past, not their next three years.</a:t>
            </a:r>
          </a:p>
          <a:p>
            <a:pPr lvl="0" indent="0" marL="0">
              <a:buNone/>
            </a:pPr>
            <a:r>
              <a:rPr/>
              <a:t>When a model performs badly, ask what the features could possibly contain </a:t>
            </a:r>
            <a:r>
              <a:rPr b="1"/>
              <a:t>before</a:t>
            </a:r>
            <a:r>
              <a:rPr/>
              <a:t> reaching for a fancier algorithm.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· Key takeaways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model gives a probability; a decision needs a threshold.</a:t>
            </a:r>
            <a:r>
              <a:rPr/>
              <a:t> Separate acts, separate evidence.</a:t>
            </a:r>
          </a:p>
          <a:p>
            <a:pPr lvl="0" indent="-342900" marL="342900">
              <a:buAutoNum type="arabicPeriod"/>
            </a:pPr>
            <a:r>
              <a:rPr b="1"/>
              <a:t>Report the base rate first.</a:t>
            </a:r>
            <a:r>
              <a:rPr/>
              <a:t> Accuracy cannot be read without it.</a:t>
            </a:r>
          </a:p>
          <a:p>
            <a:pPr lvl="0" indent="-342900" marL="342900">
              <a:buAutoNum type="arabicPeriod"/>
            </a:pPr>
            <a:r>
              <a:rPr b="1"/>
              <a:t>Report an odds ratio or an average marginal effect</a:t>
            </a:r>
            <a:r>
              <a:rPr/>
              <a:t>, with its units.</a:t>
            </a:r>
          </a:p>
          <a:p>
            <a:pPr lvl="0" indent="-342900" marL="342900">
              <a:buAutoNum type="arabicPeriod"/>
            </a:pPr>
            <a:r>
              <a:rPr b="1"/>
              <a:t>Derive the threshold from a stated cost ratio</a:t>
            </a:r>
            <a:r>
              <a:rPr/>
              <a:t> — and show how the answer moves if it is wrong.</a:t>
            </a:r>
          </a:p>
          <a:p>
            <a:pPr lvl="0" indent="-342900" marL="342900">
              <a:buAutoNum type="arabicPeriod"/>
            </a:pPr>
            <a:r>
              <a:rPr b="1"/>
              <a:t>Check calibration</a:t>
            </a:r>
            <a:r>
              <a:rPr/>
              <a:t> before any probability enters a cost calculation.</a:t>
            </a:r>
          </a:p>
          <a:p>
            <a:pPr lvl="0" indent="-342900" marL="342900">
              <a:buAutoNum type="arabicPeriod"/>
            </a:pPr>
            <a:r>
              <a:rPr b="1"/>
              <a:t>A weak model may be a weak feature set.</a:t>
            </a:r>
            <a:r>
              <a:rPr/>
              <a:t> Look there before changing algorithm.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 reliably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Accuracy on an imbalanced problem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measures the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silently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assumption, unstated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alone under imbalance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a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“The model found the drivers of default”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found predictors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</a:t>
                </a:r>
                <a:r>
                  <a:rPr b="1"/>
                  <a:t>your project</a:t>
                </a:r>
                <a:r>
                  <a:rPr/>
                  <a:t>, grouped CV, base rate reported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selection; report frequencies, not one list</a:t>
                </a:r>
              </a:p>
              <a:p>
                <a:pPr lvl="0" indent="0" marL="0">
                  <a:buNone/>
                </a:pPr>
                <a:r>
                  <a:rPr/>
                  <a:t>Derivations, penalised logistic and IRLS: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§6.1–6.9 ·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 and the Decision Threshold</dc:title>
  <dc:creator>Thierry Warin</dc:creator>
  <cp:keywords/>
  <dcterms:created xsi:type="dcterms:W3CDTF">2026-08-20T22:13:09Z</dcterms:created>
  <dcterms:modified xsi:type="dcterms:W3CDTF">2026-08-20T22:13:09Z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06 · Lecture, first half</vt:lpwstr>
  </property>
  <property fmtid="{D5CDD505-2E9C-101B-9397-08002B2CF9AE}" pid="18" name="toc-title">
    <vt:lpwstr>Table of contents</vt:lpwstr>
  </property>
</Properties>
</file>