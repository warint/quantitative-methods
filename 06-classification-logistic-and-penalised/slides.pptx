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Relationship Id="rId3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Classification: Logistic Regression and the Decision Threshold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classifier is 97% accurate. Should anyone be impressed?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Introduction — the decision, not the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example: Lending Club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basics of logistic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accuracy is the wrong metric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threshold is an economic choice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Another example: Portugal’s red wines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third: falling behind in Europe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takeaways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session you should be able to:</a:t>
            </a:r>
          </a:p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linear model is a poor basis for a binary decision</a:t>
            </a:r>
          </a:p>
          <a:p>
            <a:pPr lvl="0"/>
            <a:r>
              <a:rPr/>
              <a:t>Fit and interpret a logistic regression in Python, and report an </a:t>
            </a:r>
            <a:r>
              <a:rPr b="1"/>
              <a:t>odds ratio</a:t>
            </a:r>
            <a:r>
              <a:rPr/>
              <a:t> and an </a:t>
            </a:r>
            <a:r>
              <a:rPr b="1"/>
              <a:t>average marginal effect</a:t>
            </a:r>
            <a:r>
              <a:rPr/>
              <a:t> correctly</a:t>
            </a:r>
          </a:p>
          <a:p>
            <a:pPr lvl="0"/>
            <a:r>
              <a:rPr/>
              <a:t>Say why </a:t>
            </a:r>
            <a:r>
              <a:rPr b="1"/>
              <a:t>accuracy</a:t>
            </a:r>
            <a:r>
              <a:rPr/>
              <a:t> is usually the wrong metric, and what to use instead</a:t>
            </a:r>
          </a:p>
          <a:p>
            <a:pPr lvl="0"/>
            <a:r>
              <a:rPr/>
              <a:t>Derive the cost-optimal </a:t>
            </a:r>
            <a:r>
              <a:rPr b="1"/>
              <a:t>threshold</a:t>
            </a:r>
            <a:r>
              <a:rPr/>
              <a:t> and defend the cost ratio behind it</a:t>
            </a:r>
          </a:p>
          <a:p>
            <a:pPr lvl="0"/>
            <a:r>
              <a:rPr/>
              <a:t>Recognise when a model is </a:t>
            </a:r>
            <a:r>
              <a:rPr b="1"/>
              <a:t>miscalibrated</a:t>
            </a:r>
            <a:r>
              <a:rPr/>
              <a:t>, and why that matters for a decision</a:t>
            </a:r>
          </a:p>
          <a:p>
            <a:pPr lvl="0" indent="0" marL="0">
              <a:buNone/>
            </a:pPr>
            <a:r>
              <a:rPr/>
              <a:t>The derivations — the likelihood, the score, concavity, IRLS — are in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, §6.1–6.9. These slides are the applied path.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Introduction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Two things people confuse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Almost every applied mistake in this session comes from merging two separate acts.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0" bandRow="1"><a:tableStyleId>{5C22544A-7EE6-4342-B048-85BDC9FD1C3A}</a:tableStyleId></a:tblPr><a:tblGrid><a:gridCol w="2552700" /><a:gridCol w="2552700" /></a:tblGrid><a:tr h="0"><a:tc><a:txBody><a:bodyPr /><a:lstStyle /><a:p><a:pPr lvl="0" indent="0" marL="0"><a:buNone /></a:pPr><a:r><a:rPr b="1" /><a:t>The model</a:t></a:r></a:p></a:txBody></a:tc><a:tc><a:txBody><a:bodyPr /><a:lstStyle /><a:p><a:pPr lvl="0" indent="0" marL="0"><a:buNone /></a:pPr><a:r><a:rPr /><a:t>produces a probability, </a:t></a:r><a14:m><m:oMath xmlns:m="http://schemas.openxmlformats.org/officeDocument/2006/math"><m:sSub><m:e><m:acc><m:accPr><m:chr m:val="̂" /></m:accPr><m:e><m:r><m:t>p</m:t></m:r></m:e></m:acc></m:e><m:sub><m:r><m:t>i</m:t></m:r></m:sub></m:sSub><m:r><m:rPr><m:sty m:val="p" /></m:rPr><m:t>∈</m:t></m:r><m:d><m:dPr><m:begChr m:val="(" /><m:sepChr m:val="" /><m:endChr m:val=")" /><m:grow /></m:dPr><m:e><m:r><m:t>0</m:t></m:r><m:r><m:rPr><m:sty m:val="p" /></m:rPr><m:t>,</m:t></m:r><m:r><m:t>1</m:t></m:r></m:e></m:d></m:oMath></a14:m></a:p></a:txBody></a:tc></a:tr><a:tr h="0"><a:tc><a:txBody><a:bodyPr /><a:lstStyle /><a:p><a:pPr lvl="0" indent="0" marL="0"><a:buNone /></a:pPr><a:r><a:rPr b="1" /><a:t>The decision</a:t></a:r></a:p></a:txBody></a:tc><a:tc><a:txBody><a:bodyPr /><a:lstStyle /><a:p><a:pPr lvl="0" indent="0" marL="0"><a:buNone /></a:pPr><a:r><a:rPr /><a:t>applies a threshold, and acts</a:t></a:r></a:p></a:txBody></a:tc></a:tr></a:tbl></a:graphicData></a:graphic></p:graphicFrame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 is a statistical object. The threshold is an </a:t>
            </a:r>
            <a:r>
              <a:rPr b="1"/>
              <a:t>economic</a:t>
            </a:r>
            <a:r>
              <a:rPr/>
              <a:t> one. They are chosen by different people, on different evidence, and they are almost never reported together.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just use least squares?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</a:t>
                </a:r>
                <a:r>
                  <a:rPr i="1"/>
                  <a:t>can</a:t>
                </a:r>
                <a:r>
                  <a:rPr/>
                  <a:t> regress a 0/1 outcome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 Economists do, and it has real virtues — the coefficients are marginal effects, and it is robust.</a:t>
                </a:r>
              </a:p>
              <a:p>
                <a:pPr lvl="0" indent="0" marL="0">
                  <a:buNone/>
                </a:pPr>
                <a:r>
                  <a:rPr/>
                  <a:t>But for a </a:t>
                </a:r>
                <a:r>
                  <a:rPr b="1"/>
                  <a:t>decision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Fitted values go below 0 and above 1, which are not probabilities</a:t>
                </a:r>
              </a:p>
              <a:p>
                <a:pPr lvl="0"/>
                <a:r>
                  <a:rPr/>
                  <a:t>The errors are heteroskedastic by construction</a:t>
                </a:r>
              </a:p>
              <a:p>
                <a:pPr lvl="0"/>
                <a:r>
                  <a:rPr/>
                  <a:t>The fit is pulled around by points far from the boundary</a:t>
                </a:r>
              </a:p>
              <a:p>
                <a:pPr lvl="0" indent="0" marL="0">
                  <a:buNone/>
                </a:pPr>
                <a:r>
                  <a:rPr/>
                  <a:t>Defensible for an average effect. A poor basis for acting on an individual case.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An example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Lending Club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peer-to-peer lending marketplace: individuals lend to individuals, and the platform prices the risk.</a:t>
            </a:r>
          </a:p>
          <a:p>
            <a:pPr lvl="0"/>
            <a:r>
              <a:rPr b="1"/>
              <a:t>9,578</a:t>
            </a:r>
            <a:r>
              <a:rPr/>
              <a:t> three-year loans funded through LendingClub.com</a:t>
            </a:r>
          </a:p>
          <a:p>
            <a:pPr lvl="0"/>
            <a:r>
              <a:rPr b="1"/>
              <a:t>May 2007 – February 2010</a:t>
            </a:r>
          </a:p>
          <a:p>
            <a:pPr lvl="0"/>
            <a:r>
              <a:rPr/>
              <a:t>Outcome: the loan was </a:t>
            </a:r>
            <a:r>
              <a:rPr b="1"/>
              <a:t>not fully paid back</a:t>
            </a:r>
            <a:r>
              <a:rPr/>
              <a:t> — the borrower defaulted, or the loan was charged off</a:t>
            </a:r>
          </a:p>
          <a:p>
            <a:pPr lvl="0" indent="0" marL="1270000">
              <a:buNone/>
            </a:pPr>
            <a:r>
              <a:rPr sz="2000" b="1"/>
              <a:t>The question a lender actually has:</a:t>
            </a:r>
            <a:r>
              <a:rPr sz="2000"/>
              <a:t> </a:t>
            </a:r>
            <a:r>
              <a:rPr sz="2000" i="1"/>
              <a:t>which of these applications should I fund?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scripts/fetch_teaching_data.py     </a:t>
            </a:r>
            <a:r>
              <a:rPr i="1">
                <a:solidFill>
                  <a:srgbClr val="60A0B0"/>
                </a:solidFill>
                <a:latin typeface="Courier"/>
              </a:rPr>
              <a:t># once, after cloning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loans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"data/loans.parquet"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(loans.shape)      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(9578, 14)</a:t>
            </a:r>
          </a:p>
          <a:p>
            <a:pPr lvl="0" indent="0" marL="0">
              <a:buNone/>
            </a:pPr>
            <a:r>
              <a:rPr/>
              <a:t>Fetch </a:t>
            </a:r>
            <a:r>
              <a:rPr b="1"/>
              <a:t>once</a:t>
            </a:r>
            <a:r>
              <a:rPr/>
              <a:t>, then read the parquet. Nothing in a practice session may require the internet — and the fetch script has already tidied the R-style column names for you.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before you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(loans[</a:t>
            </a:r>
            <a:r>
              <a:rPr>
                <a:solidFill>
                  <a:srgbClr val="4070A0"/>
                </a:solidFill>
                <a:latin typeface="Courier"/>
              </a:rPr>
              <a:t>"default"</a:t>
            </a:r>
            <a:r>
              <a:rPr>
                <a:latin typeface="Courier"/>
              </a:rPr>
              <a:t>].mean())        </a:t>
            </a:r>
            <a:r>
              <a:rPr i="1">
                <a:solidFill>
                  <a:srgbClr val="60A0B0"/>
                </a:solidFill>
                <a:latin typeface="Courier"/>
              </a:rPr>
              <a:t># 0.160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(loans[</a:t>
            </a:r>
            <a:r>
              <a:rPr>
                <a:solidFill>
                  <a:srgbClr val="4070A0"/>
                </a:solidFill>
                <a:latin typeface="Courier"/>
              </a:rPr>
              <a:t>"purpose"</a:t>
            </a:r>
            <a:r>
              <a:rPr>
                <a:latin typeface="Courier"/>
              </a:rPr>
              <a:t>].value_counts())</a:t>
            </a:r>
            <a:br/>
            <a:r>
              <a:rPr>
                <a:latin typeface="Courier"/>
              </a:rPr>
              <a:t>loans[[</a:t>
            </a:r>
            <a:r>
              <a:rPr>
                <a:solidFill>
                  <a:srgbClr val="4070A0"/>
                </a:solidFill>
                <a:latin typeface="Courier"/>
              </a:rPr>
              <a:t>"fico"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"int_rate"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"dti"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"log_annual_inc"</a:t>
            </a:r>
            <a:r>
              <a:rPr>
                <a:latin typeface="Courier"/>
              </a:rPr>
              <a:t>]].describe()</a:t>
            </a:r>
          </a:p>
          <a:p>
            <a:pPr lvl="0" indent="0" marL="0">
              <a:buNone/>
            </a:pPr>
            <a:r>
              <a:rPr b="1"/>
              <a:t>16% of loans default.</a:t>
            </a:r>
            <a:r>
              <a:rPr/>
              <a:t> Write that number down — everything in section 5 depends on it, and a model that never predicts default is already 84% accurate.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columns mean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fico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FICO credit score — the lender’s existing risk measure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int_rate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rate the platform charged, i.e. its own risk assessment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dti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debt-to-income ratio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log_annual_inc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 annual income, self-reported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revol_bal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revolving balance outstanding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purpose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stated reason for the loan, 7 categories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</a:t>
            </a:r>
            <a:r>
              <a:rPr>
                <a:latin typeface="Courier"/>
              </a:rPr>
              <a:t>int_rate</a:t>
            </a:r>
            <a:r>
              <a:rPr/>
              <a:t>: the platform’s </a:t>
            </a:r>
            <a:r>
              <a:rPr i="1"/>
              <a:t>price</a:t>
            </a:r>
            <a:r>
              <a:rPr/>
              <a:t> is itself a prediction. Using it as a predictor asks a different question from using only borrower characteristics.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The basics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log-odds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β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β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logistic function maps the whole real line into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, so </a:t>
                </a:r>
                <a:r>
                  <a:rPr b="1"/>
                  <a:t>no fitted value can be an impossible probability</a:t>
                </a:r>
                <a:r>
                  <a:rPr/>
                  <a:t>. That is the whole reason for the transformation.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comes from, in one line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An unobserved index </a:t>
                </a:r>
                <a14:m>
                  <m:oMath xmlns:m="http://schemas.openxmlformats.org/officeDocument/2006/math"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sSubSup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bSup>
                    <m:r>
                      <m:t>β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with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when </a:t>
                </a:r>
                <a14:m>
                  <m:oMath xmlns:m="http://schemas.openxmlformats.org/officeDocument/2006/math"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logistic</a:t>
                </a:r>
                <a:r>
                  <a:rPr/>
                  <a:t> → logit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normal</a:t>
                </a:r>
                <a:r>
                  <a:rPr/>
                  <a:t> → probit</a:t>
                </a:r>
              </a:p>
              <a:p>
                <a:pPr lvl="0" indent="0" marL="0">
                  <a:buNone/>
                </a:pPr>
                <a:r>
                  <a:rPr/>
                  <a:t>The economist’s reading: </a:t>
                </a:r>
                <a14:m>
                  <m:oMath xmlns:m="http://schemas.openxmlformats.org/officeDocument/2006/math">
                    <m:sSup>
                      <m:e>
                        <m:r>
                          <m:t>y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is a latent utility difference and this is a random utility model. In practice logit and probit give nearly identical fitted probabilities — the choice is about the distribution of unobserved heterogeneity, not about fit.</a:t>
                </a:r>
              </a:p>
            </p:txBody>
          </p:sp>
        </mc:Choice>
      </mc:AlternateContent>
    </p:spTree>
  </p:cSld>
</p:sld>
</file>

<file path=ppt/slides/slide1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ways to report a coefficient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Quantity</a:t></a:r></a:p></a:txBody><a:tcPr /></a:tc><a:tc><a:txBody><a:bodyPr /><a:lstStyle /><a:p><a:pPr lvl="0" indent="0" marL="0"><a:buNone /></a:pPr><a:r><a:rPr /><a:t>Formula</a:t></a:r></a:p></a:txBody><a:tcPr /></a:tc><a:tc><a:txBody><a:bodyPr /><a:lstStyle /><a:p><a:pPr lvl="0" indent="0" marL="0"><a:buNone /></a:pPr><a:r><a:rPr /><a:t>Use it when</a:t></a:r></a:p></a:txBody><a:tcPr /></a:tc></a:tr><a:tr h="0"><a:tc><a:txBody><a:bodyPr /><a:lstStyle /><a:p><a:pPr lvl="0" indent="0" marL="0"><a:buNone /></a:pPr><a:r><a:rPr /><a:t>Log-odds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/m:oMath></a14:m></a:p></a:txBody></a:tc><a:tc><a:txBody><a:bodyPr /><a:lstStyle /><a:p><a:pPr lvl="0" indent="0" marL="0"><a:buNone /></a:pPr><a:r><a:rPr /><a:t>reporting the raw model</a:t></a:r></a:p></a:txBody></a:tc></a:tr><a:tr h="0"><a:tc><a:txBody><a:bodyPr /><a:lstStyle /><a:p><a:pPr lvl="0" indent="0" marL="0"><a:buNone /></a:pPr><a:r><a:rPr b="1" /><a:t>Odds ratio</a:t></a:r></a:p></a:txBody></a:tc><a:tc><a:txBody><a:bodyPr /><a:lstStyle /><a:p><a:pPr lvl="0" indent="0" marL="0"><a:buNone /></a:pPr><a14:m><m:oMath xmlns:m="http://schemas.openxmlformats.org/officeDocument/2006/math"><m:sSup><m:e><m:r><m:t>e</m:t></m:r></m:e><m:sup><m:sSub><m:e><m:r><m:t>β</m:t></m:r></m:e><m:sub><m:r><m:t>j</m:t></m:r></m:sub></m:sSub></m:sup></m:sSup></m:oMath></a14:m></a:p></a:txBody></a:tc><a:tc><a:txBody><a:bodyPr /><a:lstStyle /><a:p><a:pPr lvl="0" indent="0" marL="0"><a:buNone /></a:pPr><a:r><a:rPr /><a:t>a credit or clinical audience</a:t></a:r></a:p></a:txBody></a:tc></a:tr><a:tr h="0"><a:tc><a:txBody><a:bodyPr /><a:lstStyle /><a:p><a:pPr lvl="0" indent="0" marL="0"><a:buNone /></a:pPr><a:r><a:rPr b="1" /><a:t>Average marginal effect</a:t></a:r></a:p></a:txBody></a:tc><a:tc><a:txBody><a:bodyPr /><a:lstStyle /><a:p><a:pPr lvl="0" indent="0" marL="0"><a:buNone /></a:pPr><a14:m><m:oMath xmlns:m="http://schemas.openxmlformats.org/officeDocument/2006/math"><m:f><m:fPr><m:type m:val="bar" /></m:fPr><m:num><m:r><m:t>1</m:t></m:r></m:num><m:den><m:r><m:t>n</m:t></m:r></m:den></m:f><m:nary><m:naryPr><m:chr m:val="∑" /><m:limLoc m:val="undOvr" /><m:subHide m:val="off" /><m:supHide m:val="on" /></m:naryPr><m:sub><m:r><m:t>i</m:t></m:r></m:sub><m:sup><m:r><m:t>​</m:t></m:r></m:sup><m:e><m:sSub><m:e><m:r><m:t>β</m:t></m:r></m:e><m:sub><m:r><m:t>j</m:t></m:r></m:sub></m:sSub></m:e></m:nary><m:r><m:t> </m:t></m:r><m:sSub><m:e><m:r><m:t>p</m:t></m:r></m:e><m:sub><m:r><m:t>i</m:t></m:r></m:sub></m:sSub><m:d><m:dPr><m:begChr m:val="(" /><m:sepChr m:val="" /><m:endChr m:val=")" /><m:grow /></m:dPr><m:e><m:r><m:t>1</m:t></m:r><m:r><m:rPr><m:sty m:val="p" /></m:rPr><m:t>−</m:t></m:r><m:sSub><m:e><m:r><m:t>p</m:t></m:r></m:e><m:sub><m:r><m:t>i</m:t></m:r></m:sub></m:sSub></m:e></m:d></m:oMath></a14:m></a:p></a:txBody></a:tc><a:tc><a:txBody><a:bodyPr /><a:lstStyle /><a:p><a:pPr lvl="0" indent="0" marL="0"><a:buNone /></a:pPr><a:r><a:rPr b="1" /><a:t>reporting to economists</a:t></a:r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same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implies a large probability change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 and almost none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0.01</m:t>
                    </m:r>
                  </m:oMath>
                </a14:m>
                <a:r>
                  <a:rPr/>
                  <a:t>. A bare odds ratio invites misreading.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Reading the output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smf.logit(</a:t>
            </a:r>
            <a:r>
              <a:rPr>
                <a:solidFill>
                  <a:srgbClr val="4070A0"/>
                </a:solidFill>
                <a:latin typeface="Courier"/>
              </a:rPr>
              <a:t>"default ~ fico + int_rate + np.log(revol_bal + 1)"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loans).fit()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(m.summary().tables[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statsmodels</a:t>
            </a:r>
            <a:r>
              <a:rPr/>
              <a:t> gives you the inference; </a:t>
            </a:r>
            <a:r>
              <a:rPr>
                <a:latin typeface="Courier"/>
              </a:rPr>
              <a:t>scikit-learn</a:t>
            </a:r>
            <a:r>
              <a:rPr/>
              <a:t> gives you the pipeline. Use the first to understand a model and the second to validate one.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says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          coef    std err        z     P&gt;|z|
Intercept               1.6886      0.923    1.829     0.067
fico                   -0.0064      0.001   -5.833     0.000
int_rate               10.5902      1.468    7.214     0.000
np.log(revol_bal + 1)  -0.0162      0.013   -1.231     0.218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fico</a:t>
            </a:r>
            <a:r>
              <a:rPr/>
              <a:t> is </a:t>
            </a:r>
            <a:r>
              <a:rPr b="1"/>
              <a:t>negative</a:t>
            </a:r>
            <a:r>
              <a:rPr/>
              <a:t> — a higher credit score lowers default. </a:t>
            </a:r>
            <a:r>
              <a:rPr>
                <a:latin typeface="Courier"/>
              </a:rPr>
              <a:t>int_rate</a:t>
            </a:r>
            <a:r>
              <a:rPr/>
              <a:t> is strongly </a:t>
            </a:r>
            <a:r>
              <a:rPr b="1"/>
              <a:t>positive</a:t>
            </a:r>
            <a:r>
              <a:rPr/>
              <a:t>: the platform’s own pricing already knows who is risky.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Turn it into something reportable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(np.exp(m.params[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"fico"</a:t>
                </a:r>
                <a:r>
                  <a:rPr>
                    <a:latin typeface="Courier"/>
                  </a:rPr>
                  <a:t>]))        </a:t>
                </a:r>
                <a:r>
                  <a:rPr i="1">
                    <a:solidFill>
                      <a:srgbClr val="60A0B0"/>
                    </a:solidFill>
                    <a:latin typeface="Courier"/>
                  </a:rPr>
                  <a:t># 0.9936  odds ratio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(m.get_margeff().summary())       </a:t>
                </a:r>
                <a:r>
                  <a:rPr i="1">
                    <a:solidFill>
                      <a:srgbClr val="60A0B0"/>
                    </a:solidFill>
                    <a:latin typeface="Courier"/>
                  </a:rPr>
                  <a:t># average marginal effects</a:t>
                </a:r>
              </a:p>
              <a:p>
                <a:pPr lvl="0" indent="0" marL="0">
                  <a:buNone/>
                </a:pPr>
                <a:r>
                  <a:rPr/>
                  <a:t>An odds ratio of </a:t>
                </a:r>
                <a:r>
                  <a:rPr b="1"/>
                  <a:t>0.9936</a:t>
                </a:r>
                <a:r>
                  <a:rPr/>
                  <a:t> per FICO point sounds negligible. Per </a:t>
                </a:r>
                <a:r>
                  <a:rPr b="1"/>
                  <a:t>100</a:t>
                </a:r>
                <a:r>
                  <a:rPr/>
                  <a:t> points it is </a:t>
                </a:r>
                <a14:m>
                  <m:oMath xmlns:m="http://schemas.openxmlformats.org/officeDocument/2006/math">
                    <m:sSup>
                      <m:e>
                        <m:r>
                          <m:t>0.9936</m:t>
                        </m:r>
                      </m:e>
                      <m:sup>
                        <m:r>
                          <m:t>100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0.52</m:t>
                    </m:r>
                  </m:oMath>
                </a14:m>
                <a:r>
                  <a:rPr/>
                  <a:t> — the odds of default roughly halve.</a:t>
                </a:r>
              </a:p>
              <a:p>
                <a:pPr lvl="0" indent="0" marL="0">
                  <a:buNone/>
                </a:pPr>
                <a:r>
                  <a:rPr/>
                  <a:t>Scale matters in the reporting, not in the model. State the units you are quoting.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Why accuracy lies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base rate is your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16% of these loans default. So a model that says </a:t>
            </a:r>
            <a:r>
              <a:rPr i="1"/>
              <a:t>“nobody defaults”</a:t>
            </a:r>
            <a:r>
              <a:rPr/>
              <a:t>, for every applicant, is</a:t>
            </a:r>
          </a:p>
          <a:p>
            <a:pPr lvl="0" indent="0" marL="1270000">
              <a:buNone/>
            </a:pPr>
            <a:r>
              <a:rPr sz="2000" b="1"/>
              <a:t>84% accurate.</a:t>
            </a:r>
          </a:p>
          <a:p>
            <a:pPr lvl="0" indent="0" marL="0">
              <a:buNone/>
            </a:pPr>
            <a:r>
              <a:rPr/>
              <a:t>If your model reports 85% accuracy, it has bought you one percentage point over saying nothing at all. </a:t>
            </a:r>
            <a:r>
              <a:rPr b="1"/>
              <a:t>Accuracy on an imbalanced problem measures the base rate, not skill.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to use instead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roc_auc_score, average_precision_score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(roc_auc_score(y, p))            </a:t>
            </a:r>
            <a:r>
              <a:rPr i="1">
                <a:solidFill>
                  <a:srgbClr val="60A0B0"/>
                </a:solidFill>
                <a:latin typeface="Courier"/>
              </a:rPr>
              <a:t># ranks well?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(average_precision_score(y, p))  </a:t>
            </a:r>
            <a:r>
              <a:rPr i="1">
                <a:solidFill>
                  <a:srgbClr val="60A0B0"/>
                </a:solidFill>
                <a:latin typeface="Courier"/>
              </a:rPr>
              <a:t># baseline is the base rate, 0.16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ROC AUC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a random defaulter is ranked above a random non-defaulter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 AUC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across recall levels; </a:t>
                      </a:r>
                      <a:r>
                        <a:rPr b="1"/>
                        <a:t>its floor is the base rate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Under heavy imbalance, ROC AUC flatters. Report PR AUC </a:t>
            </a:r>
            <a:r>
              <a:rPr b="1"/>
              <a:t>with its baseline</a:t>
            </a:r>
            <a:r>
              <a:rPr/>
              <a:t> so a reader can see what you beat.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The threshold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0.5 is not a default. It is a claim.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Classifying at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  <m:r>
                      <m:rPr>
                        <m:sty m:val="p"/>
                      </m:rPr>
                      <m:t>&gt;</m:t>
                    </m:r>
                    <m:r>
                      <m:t>0.5</m:t>
                    </m:r>
                  </m:oMath>
                </a14:m>
                <a:r>
                  <a:rPr/>
                  <a:t> asserts that a </a:t>
                </a:r>
                <a:r>
                  <a:rPr b="1"/>
                  <a:t>false positive and a false negative cost the same.</a:t>
                </a:r>
              </a:p>
              <a:p>
                <a:pPr lvl="0" indent="0" marL="0">
                  <a:buNone/>
                </a:pPr>
                <a:r>
                  <a:rPr/>
                  <a:t>For a lender they obviously do not: refusing a good borrower costs a margin; funding a defaulter costs the principal.</a:t>
                </a:r>
              </a:p>
            </p:txBody>
          </p:sp>
        </mc:Choice>
      </mc:AlternateContent>
    </p:spTree>
  </p:cSld>
</p:sld>
</file>

<file path=ppt/slides/slide3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cost-optimal threshold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14:m><m:oMathPara xmlns:m="http://schemas.openxmlformats.org/officeDocument/2006/math"><m:oMathParaPr><m:jc m:val="center" /></m:oMathParaPr><m:oMath><m:borderBox><m:e><m:r><m:t> </m:t></m:r><m:sSup><m:e><m:r><m:t>τ</m:t></m:r></m:e><m:sup><m:r><m:rPr><m:sty m:val="p" /></m:rPr><m:t>⋆</m:t></m:r></m:sup></m:sSup><m:r><m:rPr><m:sty m:val="p" /></m:rPr><m:t>=</m:t></m:r><m:f><m:fPr><m:type m:val="bar" /></m:fPr><m:num><m:sSub><m:e><m:r><m:t>c</m:t></m:r></m:e><m:sub><m:r><m:t>F</m:t></m:r><m:r><m:t>P</m:t></m:r></m:sub></m:sSub></m:num><m:den><m:sSub><m:e><m:r><m:t>c</m:t></m:r></m:e><m:sub><m:r><m:t>F</m:t></m:r><m:r><m:t>P</m:t></m:r></m:sub></m:sSub><m:r><m:rPr><m:sty m:val="p" /></m:rPr><m:t>+</m:t></m:r><m:sSub><m:e><m:r><m:t>c</m:t></m:r></m:e><m:sub><m:r><m:t>F</m:t></m:r><m:r><m:t>N</m:t></m:r></m:sub></m:sSub></m:den></m:f><m:r><m:t> </m:t></m:r></m:e></m:borderBox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552700" /><a:gridCol w="2552700" /></a:tblGrid><a:tr h="0"><a:tc><a:txBody><a:bodyPr /><a:lstStyle /><a:p><a:pPr lvl="0" indent="0" marL="0"><a:buNone /></a:pPr><a:r><a:rPr /><a:t>Cost ratio </a:t></a:r><a14:m><m:oMath xmlns:m="http://schemas.openxmlformats.org/officeDocument/2006/math"><m:sSub><m:e><m:r><m:t>c</m:t></m:r></m:e><m:sub><m:r><m:t>F</m:t></m:r><m:r><m:t>N</m:t></m:r></m:sub></m:sSub><m:r><m:t>​</m:t></m:r><m:r><m:rPr><m:sty m:val="p" /></m:rPr><m:t>:</m:t></m:r><m:r><m:t>​</m:t></m:r><m:sSub><m:e><m:r><m:t>c</m:t></m:r></m:e><m:sub><m:r><m:t>F</m:t></m:r><m:r><m:t>P</m:t></m:r></m:sub></m:sSub></m:oMath></a14:m></a:p></a:txBody><a:tcPr /></a:tc><a:tc><a:txBody><a:bodyPr /><a:lstStyle /><a:p><a:pPr lvl="0" indent="0" marL="0"><a:buNone /></a:pPr><a14:m><m:oMath xmlns:m="http://schemas.openxmlformats.org/officeDocument/2006/math"><m:sSup><m:e><m:r><m:t>τ</m:t></m:r></m:e><m:sup><m:r><m:rPr><m:sty m:val="p" /></m:rPr><m:t>⋆</m:t></m:r></m:sup></m:sSup></m:oMath></a14:m></a:p></a:txBody><a:tcPr /></a:tc></a:tr><a:tr h="0"><a:tc><a:txBody><a:bodyPr /><a:lstStyle /><a:p><a:pPr lvl="0" indent="0" marL="0"><a:buNone /></a:pPr><a:r><a:rPr /><a:t>1 : 1</a:t></a:r></a:p></a:txBody></a:tc><a:tc><a:txBody><a:bodyPr /><a:lstStyle /><a:p><a:pPr lvl="0" indent="0" marL="0"><a:buNone /></a:pPr><a:r><a:rPr /><a:t>0.50</a:t></a:r></a:p></a:txBody></a:tc></a:tr><a:tr h="0"><a:tc><a:txBody><a:bodyPr /><a:lstStyle /><a:p><a:pPr lvl="0" indent="0" marL="0"><a:buNone /></a:pPr><a:r><a:rPr b="1" /><a:t>5 : 1</a:t></a:r></a:p></a:txBody></a:tc><a:tc><a:txBody><a:bodyPr /><a:lstStyle /><a:p><a:pPr lvl="0" indent="0" marL="0"><a:buNone /></a:pPr><a:r><a:rPr b="1" /><a:t>0.167</a:t></a:r></a:p></a:txBody></a:tc></a:tr><a:tr h="0"><a:tc><a:txBody><a:bodyPr /><a:lstStyle /><a:p><a:pPr lvl="0" indent="0" marL="0"><a:buNone /></a:pPr><a:r><a:rPr /><a:t>10 : 1</a:t></a:r></a:p></a:txBody></a:tc><a:tc><a:txBody><a:bodyPr /><a:lstStyle /><a:p><a:pPr lvl="0" indent="0" marL="0"><a:buNone /></a:pPr><a:r><a:rPr /><a:t>0.091</a:t></a:r></a:p></a:txBody></a:tc></a:tr></a:tbl></a:graphicData></a:graphic></p:graphicFrame></p:spTree></p:cSld>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default threshold in every software package is an unstated assumption about costs.</a:t>
            </a:r>
            <a:r>
              <a:rPr/>
              <a:t> State yours.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Sweep it, and read the workload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precision_score, recall_score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0.1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0.15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  <a:r>
              <a:rPr>
                <a:latin typeface="Courier"/>
              </a:rPr>
              <a:t>]:</a:t>
            </a:r>
            <a:br/>
            <a:r>
              <a:rPr>
                <a:latin typeface="Courier"/>
              </a:rPr>
              <a:t>    yhat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(p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t).astype(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</a:t>
            </a:r>
            <a:r>
              <a:rPr>
                <a:solidFill>
                  <a:srgbClr val="4070A0"/>
                </a:solidFill>
                <a:latin typeface="Courier"/>
              </a:rPr>
              <a:t>:.2f}</a:t>
            </a:r>
            <a:r>
              <a:rPr>
                <a:solidFill>
                  <a:srgbClr val="BB6688"/>
                </a:solidFill>
                <a:latin typeface="Courier"/>
              </a:rPr>
              <a:t>  flagged=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yhat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4070A0"/>
                </a:solidFill>
                <a:latin typeface="Courier"/>
              </a:rPr>
              <a:t>:5d}</a:t>
            </a:r>
            <a:r>
              <a:rPr>
                <a:solidFill>
                  <a:srgbClr val="BB6688"/>
                </a:solidFill>
                <a:latin typeface="Courier"/>
              </a:rPr>
              <a:t>  "</a:t>
            </a:r>
            <a:br/>
            <a:r>
              <a:rPr>
                <a:latin typeface="Courier"/>
              </a:rPr>
              <a:t>          </a:t>
            </a:r>
            <a:r>
              <a:rPr>
                <a:solidFill>
                  <a:srgbClr val="BB6688"/>
                </a:solidFill>
                <a:latin typeface="Courier"/>
              </a:rPr>
              <a:t>f"prec=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precision_score(y, yhat, zero_division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  "</a:t>
            </a:r>
            <a:br/>
            <a:r>
              <a:rPr>
                <a:latin typeface="Courier"/>
              </a:rPr>
              <a:t>          </a:t>
            </a:r>
            <a:r>
              <a:rPr>
                <a:solidFill>
                  <a:srgbClr val="BB6688"/>
                </a:solidFill>
                <a:latin typeface="Courier"/>
              </a:rPr>
              <a:t>f"rec=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recall_score(y, yhat)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0.10  flagged= 7625  prec=0.184  rec=0.915
0.15  flagged= 5072  prec=0.202  rec=0.670
0.20  flagged= 2440  prec=0.232  rec=0.369
0.50  flagged=    0  prec=0.000  rec=0.000</a:t>
            </a:r>
          </a:p>
          <a:p>
            <a:pPr lvl="0" indent="0" marL="0">
              <a:buNone/>
            </a:pPr>
            <a:r>
              <a:rPr b="1"/>
              <a:t>At 0.50 the model flags nothing at all.</a:t>
            </a:r>
            <a:r>
              <a:rPr/>
              <a:t> Every applicant is approved, recall is zero, and the software reported no error. This is what an unstated threshold does.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flagged</a:t>
            </a:r>
            <a:r>
              <a:rPr/>
              <a:t> as a workload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many applications a human actually has to review — that is the number the business cares about.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0.167</m:t>
                    </m:r>
                  </m:oMath>
                </a14:m>
                <a:r>
                  <a:rPr/>
                  <a:t> you flag roughly 5,000 of 9,578 and catch 67% of defaults. At 0.20 you flag 2,440 and catch 37%. </a:t>
                </a:r>
                <a:r>
                  <a:rPr b="1"/>
                  <a:t>That trade is the decision</a:t>
                </a:r>
                <a:r>
                  <a:rPr/>
                  <a:t>, and it is not the model’s to make.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Calibration — is 0.3 really 30%?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sklearn.calibration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calibration_curve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frac, mean_pred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calibration_curve(y, p, n_bins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, strategy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"quantile"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plt.plot(mean_pred, frac,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plt.plot([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</a:t>
            </a:r>
            <a:r>
              <a:rPr>
                <a:solidFill>
                  <a:srgbClr val="4070A0"/>
                </a:solidFill>
                <a:latin typeface="Courier"/>
              </a:rPr>
              <a:t>"--"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Discrimination and calibration are </a:t>
            </a:r>
            <a:r>
              <a:rPr b="1"/>
              <a:t>different properties</a:t>
            </a:r>
            <a:r>
              <a:rPr/>
              <a:t>. A model can rank perfectly and still be badly miscalibrated — and a miscalibrated probability cannot be fed into a cost calculation.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Another example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Portugal’s red wines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1,599 red </a:t>
            </a:r>
            <a:r>
              <a:rPr i="1"/>
              <a:t>vinho verde</a:t>
            </a:r>
            <a:r>
              <a:rPr/>
              <a:t> wines, chemically assayed, each rated by at least three blind tasters.</a:t>
            </a:r>
          </a:p>
          <a:p>
            <a:pPr lvl="0" indent="0">
              <a:buNone/>
            </a:pPr>
            <a:r>
              <a:rPr>
                <a:latin typeface="Courier"/>
              </a:rPr>
              <a:t>wine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"data/redwines.parquet"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(wine.shape, wine[</a:t>
            </a:r>
            <a:r>
              <a:rPr>
                <a:solidFill>
                  <a:srgbClr val="4070A0"/>
                </a:solidFill>
                <a:latin typeface="Courier"/>
              </a:rPr>
              <a:t>"good"</a:t>
            </a:r>
            <a:r>
              <a:rPr>
                <a:latin typeface="Courier"/>
              </a:rPr>
              <a:t>].mean())     </a:t>
            </a:r>
            <a:r>
              <a:rPr i="1">
                <a:solidFill>
                  <a:srgbClr val="60A0B0"/>
                </a:solidFill>
                <a:latin typeface="Courier"/>
              </a:rPr>
              <a:t># (1599, 9) 0.136</a:t>
            </a:r>
          </a:p>
          <a:p>
            <a:pPr lvl="0" indent="0" marL="0">
              <a:buNone/>
            </a:pPr>
            <a:r>
              <a:rPr/>
              <a:t>In the raw CSV the outcome is the strings </a:t>
            </a:r>
            <a:r>
              <a:rPr>
                <a:latin typeface="Courier"/>
              </a:rPr>
              <a:t>"Yes"</a:t>
            </a:r>
            <a:r>
              <a:rPr/>
              <a:t>/</a:t>
            </a:r>
            <a:r>
              <a:rPr>
                <a:latin typeface="Courier"/>
              </a:rPr>
              <a:t>"No"</a:t>
            </a:r>
            <a:r>
              <a:rPr/>
              <a:t>. </a:t>
            </a:r>
            <a:r>
              <a:rPr>
                <a:latin typeface="Courier"/>
              </a:rPr>
              <a:t>astype(int)</a:t>
            </a:r>
            <a:r>
              <a:rPr/>
              <a:t> on that </a:t>
            </a:r>
            <a:r>
              <a:rPr b="1"/>
              <a:t>raises</a:t>
            </a:r>
            <a:r>
              <a:rPr/>
              <a:t>, and a silent miscast would be worse — so the fetch script converts it, and records that it did.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the same model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m_w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smf.logit(</a:t>
            </a:r>
            <a:r>
              <a:rPr>
                <a:solidFill>
                  <a:srgbClr val="4070A0"/>
                </a:solidFill>
                <a:latin typeface="Courier"/>
              </a:rPr>
              <a:t>"good ~ alcohol + volatile_acidity + sulphates"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wine).fit()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(m_w.summary().tables[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(np.exp(m_w.params[</a:t>
            </a:r>
            <a:r>
              <a:rPr>
                <a:solidFill>
                  <a:srgbClr val="4070A0"/>
                </a:solidFill>
                <a:latin typeface="Courier"/>
              </a:rPr>
              <a:t>"alcohol"</a:t>
            </a:r>
            <a:r>
              <a:rPr>
                <a:latin typeface="Courier"/>
              </a:rPr>
              <a:t>]))    </a:t>
            </a:r>
            <a:r>
              <a:rPr i="1">
                <a:solidFill>
                  <a:srgbClr val="60A0B0"/>
                </a:solidFill>
                <a:latin typeface="Courier"/>
              </a:rPr>
              <a:t># 2.74</a:t>
            </a:r>
          </a:p>
          <a:p>
            <a:pPr lvl="0" indent="0" marL="0">
              <a:buNone/>
            </a:pPr>
            <a:r>
              <a:rPr/>
              <a:t>An odds ratio of </a:t>
            </a:r>
            <a:r>
              <a:rPr b="1"/>
              <a:t>2.74</a:t>
            </a:r>
            <a:r>
              <a:rPr/>
              <a:t> for alcohol: each extra percentage point of alcohol nearly </a:t>
            </a:r>
            <a:r>
              <a:rPr b="1"/>
              <a:t>triples</a:t>
            </a:r>
            <a:r>
              <a:rPr/>
              <a:t> the odds a taster calls the wine good. Compare the FICO odds ratio of 0.9936 — same method, wildly different effect sizes, because the units are different.</a:t>
            </a:r>
          </a:p>
        </p:txBody>
      </p:sp>
    </p:spTree>
  </p:cSld>
</p:sld>
</file>

<file path=ppt/slides/slide3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Same method, very different signal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endParaRPr /></a:p></a:txBody><a:tcPr /></a:tc><a:tc><a:txBody><a:bodyPr /><a:lstStyle /><a:p><a:pPr lvl="0" indent="0" marL="0"><a:buNone /></a:pPr><a:r><a:rPr /><a:t>Lending Club</a:t></a:r></a:p></a:txBody><a:tcPr /></a:tc><a:tc><a:txBody><a:bodyPr /><a:lstStyle /><a:p><a:pPr lvl="0" indent="0" marL="0"><a:buNone /></a:pPr><a:r><a:rPr /><a:t>Red wines</a:t></a:r></a:p></a:txBody><a:tcPr /></a:tc></a:tr><a:tr h="0"><a:tc><a:txBody><a:bodyPr /><a:lstStyle /><a:p><a:pPr lvl="0" indent="0" marL="0"><a:buNone /></a:pPr><a14:m><m:oMath xmlns:m="http://schemas.openxmlformats.org/officeDocument/2006/math"><m:r><m:t>n</m:t></m:r></m:oMath></a14:m></a:p></a:txBody></a:tc><a:tc><a:txBody><a:bodyPr /><a:lstStyle /><a:p><a:pPr lvl="0" indent="0" marL="0"><a:buNone /></a:pPr><a:r><a:rPr /><a:t>9,578</a:t></a:r></a:p></a:txBody></a:tc><a:tc><a:txBody><a:bodyPr /><a:lstStyle /><a:p><a:pPr lvl="0" indent="0" marL="0"><a:buNone /></a:pPr><a:r><a:rPr /><a:t>1,599</a:t></a:r></a:p></a:txBody></a:tc></a:tr><a:tr h="0"><a:tc><a:txBody><a:bodyPr /><a:lstStyle /><a:p><a:pPr lvl="0" indent="0" marL="0"><a:buNone /></a:pPr><a:r><a:rPr /><a:t>Base rate</a:t></a:r></a:p></a:txBody></a:tc><a:tc><a:txBody><a:bodyPr /><a:lstStyle /><a:p><a:pPr lvl="0" indent="0" marL="0"><a:buNone /></a:pPr><a:r><a:rPr /><a:t>0.160</a:t></a:r></a:p></a:txBody></a:tc><a:tc><a:txBody><a:bodyPr /><a:lstStyle /><a:p><a:pPr lvl="0" indent="0" marL="0"><a:buNone /></a:pPr><a:r><a:rPr /><a:t>0.136</a:t></a:r></a:p></a:txBody></a:tc></a:tr><a:tr h="0"><a:tc><a:txBody><a:bodyPr /><a:lstStyle /><a:p><a:pPr lvl="0" indent="0" marL="0"><a:buNone /></a:pPr><a:r><a:rPr b="1" /><a:t>ROC AUC</a:t></a:r></a:p></a:txBody></a:tc><a:tc><a:txBody><a:bodyPr /><a:lstStyle /><a:p><a:pPr lvl="0" indent="0" marL="0"><a:buNone /></a:pPr><a:r><a:rPr b="1" /><a:t>0.627</a:t></a:r></a:p></a:txBody></a:tc><a:tc><a:txBody><a:bodyPr /><a:lstStyle /><a:p><a:pPr lvl="0" indent="0" marL="0"><a:buNone /></a:pPr><a:r><a:rPr b="1" /><a:t>0.866</a:t></a:r></a:p></a:txBody></a:tc></a:tr><a:tr h="0"><a:tc><a:txBody><a:bodyPr /><a:lstStyle /><a:p><a:pPr lvl="0" indent="0" marL="0"><a:buNone /></a:pPr><a:r><a:rPr b="1" /><a:t>PR AUC</a:t></a:r></a:p></a:txBody></a:tc><a:tc><a:txBody><a:bodyPr /><a:lstStyle /><a:p><a:pPr lvl="0" indent="0" marL="0"><a:buNone /></a:pPr><a:r><a:rPr /><a:t>0.232</a:t></a:r></a:p></a:txBody></a:tc><a:tc><a:txBody><a:bodyPr /><a:lstStyle /><a:p><a:pPr lvl="0" indent="0" marL="0"><a:buNone /></a:pPr><a:r><a:rPr /><a:t>0.475</a:t></a:r></a:p></a:txBody></a:tc></a:tr></a:tbl></a:graphicData></a:graphic></p:graphicFrame></p:spTree></p:cSld>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are imbalanced. Both use the same estimator. One barely ranks better than chance; the other ranks well. </a:t>
            </a:r>
            <a:r>
              <a:rPr b="1"/>
              <a:t>The method did not differ — the informativeness of the predictors did.</a:t>
            </a:r>
          </a:p>
          <a:p>
            <a:pPr lvl="0" indent="0" marL="0">
              <a:buNone/>
            </a:pPr>
            <a:r>
              <a:rPr/>
              <a:t>Chemistry measures the thing being judged. A credit file measures a person’s past, not their next three years.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· A third example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Falling behind in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machinery, a policy question, and the practice data:</a:t>
            </a:r>
          </a:p>
          <a:p>
            <a:pPr lvl="0" indent="0">
              <a:buNone/>
            </a:pPr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(d), d[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].mean())   </a:t>
            </a:r>
            <a:r>
              <a:rPr i="1">
                <a:solidFill>
                  <a:srgbClr val="60A0B0"/>
                </a:solidFill>
                <a:latin typeface="Courier"/>
              </a:rPr>
              <a:t># 420, 0.10</a:t>
            </a:r>
          </a:p>
          <a:p>
            <a:pPr lvl="0"/>
            <a:r>
              <a:rPr/>
              <a:t>Outcome: is this country in the </a:t>
            </a:r>
            <a:r>
              <a:rPr b="1"/>
              <a:t>bottom decile</a:t>
            </a:r>
            <a:r>
              <a:rPr/>
              <a:t> of productivity growth </a:t>
            </a:r>
            <a:r>
              <a:rPr b="1"/>
              <a:t>next year</a:t>
            </a:r>
            <a:r>
              <a:rPr/>
              <a:t>?</a:t>
            </a:r>
          </a:p>
          <a:p>
            <a:pPr lvl="0"/>
            <a:r>
              <a:rPr/>
              <a:t>Base rate </a:t>
            </a:r>
            <a:r>
              <a:rPr b="1"/>
              <a:t>10%</a:t>
            </a:r>
            <a:r>
              <a:rPr/>
              <a:t> — by construction, since the threshold is the within-year decile</a:t>
            </a:r>
          </a:p>
          <a:p>
            <a:pPr lvl="0"/>
            <a:r>
              <a:rPr/>
              <a:t>30 rows are </a:t>
            </a:r>
            <a:r>
              <a:rPr>
                <a:latin typeface="Courier"/>
              </a:rPr>
              <a:t>NaN</a:t>
            </a:r>
            <a:r>
              <a:rPr/>
              <a:t>: the last year of each country. There is no next year.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differences that change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rows are not independent.</a:t>
            </a:r>
            <a:r>
              <a:rPr/>
              <a:t> 30 countries × 14 years. Germany 2019 and Germany 2020 are not two draws — so cross-validate with </a:t>
            </a:r>
            <a:r>
              <a:rPr>
                <a:latin typeface="Courier"/>
              </a:rPr>
              <a:t>GroupKFold</a:t>
            </a:r>
            <a:r>
              <a:rPr/>
              <a:t> on </a:t>
            </a:r>
            <a:r>
              <a:rPr>
                <a:latin typeface="Courier"/>
              </a:rPr>
              <a:t>geo</a:t>
            </a:r>
            <a:r>
              <a:rPr/>
              <a:t>, not at random.</a:t>
            </a:r>
          </a:p>
          <a:p>
            <a:pPr lvl="0" indent="-342900" marL="342900">
              <a:buAutoNum type="arabicPeriod"/>
            </a:pPr>
            <a:r>
              <a:rPr b="1"/>
              <a:t>Dropping those 30 NaNs is correct.</a:t>
            </a:r>
            <a:r>
              <a:rPr/>
              <a:t> Imputing them would be inventing the future.</a:t>
            </a:r>
          </a:p>
          <a:p>
            <a:pPr lvl="0" indent="0" marL="0">
              <a:buNone/>
            </a:pPr>
            <a:r>
              <a:rPr/>
              <a:t>Lending Club rows are arguably exchangeable. Panel rows never are. The method is identical; the validation is not.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· Key takeaways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carry out of this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model gives a probability; a decision needs a threshold.</a:t>
            </a:r>
            <a:r>
              <a:rPr/>
              <a:t> Separate acts, separate justifications.</a:t>
            </a:r>
          </a:p>
          <a:p>
            <a:pPr lvl="0" indent="-342900" marL="342900">
              <a:buAutoNum type="arabicPeriod"/>
            </a:pPr>
            <a:r>
              <a:rPr b="1"/>
              <a:t>Report the base rate first.</a:t>
            </a:r>
            <a:r>
              <a:rPr/>
              <a:t> Accuracy cannot be read without it.</a:t>
            </a:r>
          </a:p>
          <a:p>
            <a:pPr lvl="0" indent="-342900" marL="342900">
              <a:buAutoNum type="arabicPeriod"/>
            </a:pPr>
            <a:r>
              <a:rPr b="1"/>
              <a:t>Report an odds ratio or an average marginal effect</a:t>
            </a:r>
            <a:r>
              <a:rPr/>
              <a:t>, with its units — not a bare coefficient.</a:t>
            </a:r>
          </a:p>
          <a:p>
            <a:pPr lvl="0" indent="-342900" marL="342900">
              <a:buAutoNum type="arabicPeriod"/>
            </a:pPr>
            <a:r>
              <a:rPr b="1"/>
              <a:t>Derive your threshold from a stated cost ratio</a:t>
            </a:r>
            <a:r>
              <a:rPr/>
              <a:t>, and show how the answer moves if it is wrong.</a:t>
            </a:r>
          </a:p>
          <a:p>
            <a:pPr lvl="0" indent="-342900" marL="342900">
              <a:buAutoNum type="arabicPeriod"/>
            </a:pPr>
            <a:r>
              <a:rPr b="1"/>
              <a:t>Check calibration</a:t>
            </a:r>
            <a:r>
              <a:rPr/>
              <a:t> before any probability enters a cost calculation.</a:t>
            </a:r>
          </a:p>
          <a:p>
            <a:pPr lvl="0" indent="-342900" marL="342900">
              <a:buAutoNum type="arabicPeriod"/>
            </a:pPr>
            <a:r>
              <a:rPr b="1"/>
              <a:t>Match the validation to the data.</a:t>
            </a:r>
            <a:r>
              <a:rPr/>
              <a:t> Exchangeable rows and panel rows are not the same problem.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marks reliably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 accuracy on an imbalanced problem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measures the base 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Leaving the threshold at 0.5 silently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economic assumption, unstated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ROC AUC alone under imbalance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the false positives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 on the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Optimistic, for Session 04’s reason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“The model identified the drivers of default”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did not. It found predictors.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practice session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penalised logistic on </a:t>
                </a:r>
                <a:r>
                  <a:rPr b="1"/>
                  <a:t>your project</a:t>
                </a:r>
                <a:r>
                  <a:rPr/>
                  <a:t>, grouped CV, base rate reported first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a reliability diagram —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usable as a probability?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report precision and recall </a:t>
                </a:r>
                <a:r>
                  <a:rPr b="1"/>
                  <a:t>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Bootstrap the selection; report frequencies, not a single list</a:t>
                </a:r>
              </a:p>
              <a:p>
                <a:pPr lvl="0" indent="0" marL="0">
                  <a:buNone/>
                </a:pPr>
                <a:r>
                  <a:rPr/>
                  <a:t>Penalised logistic, IRLS and the imbalance table: </a:t>
                </a:r>
                <a:r>
                  <a:rPr>
                    <a:hlinkClick r:id="rId2"/>
                    <a:latin typeface="Courier"/>
                  </a:rPr>
                  <a:t>01-lecture/README.md</a:t>
                </a:r>
                <a:r>
                  <a:rPr/>
                  <a:t> §6.6–6.9 · brief: </a:t>
                </a:r>
                <a:r>
                  <a:rPr>
                    <a:hlinkClick r:id="rId3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Classification: Logistic Regression and the Decision Threshold</dc:title>
  <dc:creator>Thierry Warin</dc:creator>
  <cp:keywords/>
  <dcterms:created xsi:type="dcterms:W3CDTF">2026-08-20T21:11:03Z</dcterms:created>
  <dcterms:modified xsi:type="dcterms:W3CDTF">2026-08-20T21:11:03Z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06 · Lecture, first half</vt:lpwstr>
  </property>
  <property fmtid="{D5CDD505-2E9C-101B-9397-08002B2CF9AE}" pid="16" name="toc-title">
    <vt:lpwstr>Table of contents</vt:lpwstr>
  </property>
</Properties>
</file>