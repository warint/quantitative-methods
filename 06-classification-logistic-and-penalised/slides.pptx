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5" Type="http://schemas.openxmlformats.org/officeDocument/2006/relationships/viewProps" Target="viewProps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3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1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650"/>
            </a:lvl1pPr>
            <a:lvl2pPr>
              <a:defRPr sz="1400"/>
            </a:lvl2pPr>
            <a:lvl3pPr>
              <a:defRPr sz="11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650"/>
            </a:lvl1pPr>
            <a:lvl2pPr>
              <a:defRPr sz="1400"/>
            </a:lvl2pPr>
            <a:lvl3pPr>
              <a:defRPr sz="11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150" b="1"/>
            </a:lvl2pPr>
            <a:lvl3pPr marL="685800" indent="0">
              <a:buNone/>
              <a:defRPr sz="1050" b="1"/>
            </a:lvl3pPr>
            <a:lvl4pPr marL="1028700" indent="0">
              <a:buNone/>
              <a:defRPr sz="950" b="1"/>
            </a:lvl4pPr>
            <a:lvl5pPr marL="1371600" indent="0">
              <a:buNone/>
              <a:defRPr sz="950" b="1"/>
            </a:lvl5pPr>
            <a:lvl6pPr marL="1714500" indent="0">
              <a:buNone/>
              <a:defRPr sz="950" b="1"/>
            </a:lvl6pPr>
            <a:lvl7pPr marL="2057400" indent="0">
              <a:buNone/>
              <a:defRPr sz="950" b="1"/>
            </a:lvl7pPr>
            <a:lvl8pPr marL="2400300" indent="0">
              <a:buNone/>
              <a:defRPr sz="950" b="1"/>
            </a:lvl8pPr>
            <a:lvl9pPr marL="2743200" indent="0">
              <a:buNone/>
              <a:defRPr sz="9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400"/>
            </a:lvl1pPr>
            <a:lvl2pPr>
              <a:defRPr sz="1150"/>
            </a:lvl2pPr>
            <a:lvl3pPr>
              <a:defRPr sz="105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150" b="1"/>
            </a:lvl2pPr>
            <a:lvl3pPr marL="685800" indent="0">
              <a:buNone/>
              <a:defRPr sz="1050" b="1"/>
            </a:lvl3pPr>
            <a:lvl4pPr marL="1028700" indent="0">
              <a:buNone/>
              <a:defRPr sz="950" b="1"/>
            </a:lvl4pPr>
            <a:lvl5pPr marL="1371600" indent="0">
              <a:buNone/>
              <a:defRPr sz="950" b="1"/>
            </a:lvl5pPr>
            <a:lvl6pPr marL="1714500" indent="0">
              <a:buNone/>
              <a:defRPr sz="950" b="1"/>
            </a:lvl6pPr>
            <a:lvl7pPr marL="2057400" indent="0">
              <a:buNone/>
              <a:defRPr sz="950" b="1"/>
            </a:lvl7pPr>
            <a:lvl8pPr marL="2400300" indent="0">
              <a:buNone/>
              <a:defRPr sz="950" b="1"/>
            </a:lvl8pPr>
            <a:lvl9pPr marL="2743200" indent="0">
              <a:buNone/>
              <a:defRPr sz="9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400"/>
            </a:lvl1pPr>
            <a:lvl2pPr>
              <a:defRPr sz="1150"/>
            </a:lvl2pPr>
            <a:lvl3pPr>
              <a:defRPr sz="105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1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850"/>
            </a:lvl1pPr>
            <a:lvl2pPr>
              <a:defRPr sz="1650"/>
            </a:lvl2pPr>
            <a:lvl3pPr>
              <a:defRPr sz="1400"/>
            </a:lvl3pPr>
            <a:lvl4pPr>
              <a:defRPr sz="1150"/>
            </a:lvl4pPr>
            <a:lvl5pPr>
              <a:defRPr sz="1150"/>
            </a:lvl5pPr>
            <a:lvl6pPr>
              <a:defRPr sz="1150"/>
            </a:lvl6pPr>
            <a:lvl7pPr>
              <a:defRPr sz="1150"/>
            </a:lvl7pPr>
            <a:lvl8pPr>
              <a:defRPr sz="1150"/>
            </a:lvl8pPr>
            <a:lvl9pPr>
              <a:defRPr sz="1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800"/>
            </a:lvl1pPr>
            <a:lvl2pPr marL="342900" indent="0">
              <a:buNone/>
              <a:defRPr sz="700"/>
            </a:lvl2pPr>
            <a:lvl3pPr marL="685800" indent="0">
              <a:buNone/>
              <a:defRPr sz="7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1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850"/>
            </a:lvl1pPr>
            <a:lvl2pPr marL="342900" indent="0">
              <a:buNone/>
              <a:defRPr sz="1650"/>
            </a:lvl2pPr>
            <a:lvl3pPr marL="685800" indent="0">
              <a:buNone/>
              <a:defRPr sz="1400"/>
            </a:lvl3pPr>
            <a:lvl4pPr marL="1028700" indent="0">
              <a:buNone/>
              <a:defRPr sz="1150"/>
            </a:lvl4pPr>
            <a:lvl5pPr marL="1371600" indent="0">
              <a:buNone/>
              <a:defRPr sz="1150"/>
            </a:lvl5pPr>
            <a:lvl6pPr marL="1714500" indent="0">
              <a:buNone/>
              <a:defRPr sz="1150"/>
            </a:lvl6pPr>
            <a:lvl7pPr marL="2057400" indent="0">
              <a:buNone/>
              <a:defRPr sz="1150"/>
            </a:lvl7pPr>
            <a:lvl8pPr marL="2400300" indent="0">
              <a:buNone/>
              <a:defRPr sz="1150"/>
            </a:lvl8pPr>
            <a:lvl9pPr marL="2743200" indent="0">
              <a:buNone/>
              <a:defRPr sz="11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800"/>
            </a:lvl1pPr>
            <a:lvl2pPr marL="342900" indent="0">
              <a:buNone/>
              <a:defRPr sz="700"/>
            </a:lvl2pPr>
            <a:lvl3pPr marL="685800" indent="0">
              <a:buNone/>
              <a:defRPr sz="7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5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8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6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1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1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1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1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1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REPLICATIONS.md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Classification and the Threshold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06 · Logistic regression, imbalance, and the decision nobody writes down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are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90 minutes ahead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0–10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squared loss is wrong for a binary outcome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10–30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Logistic regression and the log-odds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30–45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Penalised logistic regression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45–65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Imbalance, and why accuracy lies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65–85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threshold is an economic choice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85–90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Handoff to the lab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class you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Shukla</a:t>
            </a:r>
            <a:r>
              <a:rPr/>
              <a:t>, </a:t>
            </a:r>
            <a:r>
              <a:rPr i="1"/>
              <a:t>Credit Scoring of Thin File Consumers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Harvard Dataverse, DOI 10.7910/DVN/EGAIKO · CC BY 4.0 · includes Python code</a:t>
            </a:r>
          </a:p>
          <a:p>
            <a:pPr lvl="0" indent="0" marL="0">
              <a:buNone/>
            </a:pPr>
            <a:r>
              <a:rPr/>
              <a:t>A “thin file” consumer has almost no credit history. The paper is about classifying people </a:t>
            </a:r>
            <a:r>
              <a:rPr b="1"/>
              <a:t>the data barely describes</a:t>
            </a:r>
            <a:r>
              <a:rPr/>
              <a:t> — which is exactly the situation where the threshold matters more than the model.</a:t>
            </a:r>
          </a:p>
          <a:p>
            <a:pPr lvl="0" indent="0" marL="0">
              <a:buNone/>
            </a:pPr>
            <a:r>
              <a:rPr/>
              <a:t>This is one of the sessions where you work with the </a:t>
            </a:r>
            <a:r>
              <a:rPr b="1"/>
              <a:t>authors’ own data</a:t>
            </a:r>
            <a:r>
              <a:rPr/>
              <a:t>, not a synthetic stand-in.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Which European countries will fall into the bottom decile of productivity growth </a:t>
            </a:r>
            <a:r>
              <a:rPr sz="2000" b="1" i="1"/>
              <a:t>next year</a:t>
            </a:r>
            <a:r>
              <a:rPr sz="2000" i="1"/>
              <a:t>?</a:t>
            </a:r>
          </a:p>
          <a:p>
            <a:pPr lvl="0"/>
            <a:r>
              <a:rPr/>
              <a:t>The outcome is binary</a:t>
            </a:r>
          </a:p>
          <a:p>
            <a:pPr lvl="0"/>
            <a:r>
              <a:rPr/>
              <a:t>It is </a:t>
            </a:r>
            <a:r>
              <a:rPr b="1"/>
              <a:t>rare</a:t>
            </a:r>
            <a:r>
              <a:rPr/>
              <a:t> — about one country in ten</a:t>
            </a:r>
          </a:p>
          <a:p>
            <a:pPr lvl="0"/>
            <a:r>
              <a:rPr/>
              <a:t>Getting it wrong in one direction costs more than the other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not least squares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linear probability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You </a:t>
                </a:r>
                <a:r>
                  <a:rPr i="1"/>
                  <a:t>can</a:t>
                </a:r>
                <a:r>
                  <a:rPr/>
                  <a:t> regress a 0/1 outcome on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by OLS. Economists do it often, and it has real virtues — the coefficients are marginal effects, and it is robust.</a:t>
                </a:r>
              </a:p>
              <a:p>
                <a:pPr lvl="0" indent="0" marL="0">
                  <a:buNone/>
                </a:pPr>
                <a:r>
                  <a:rPr/>
                  <a:t>But:</a:t>
                </a:r>
              </a:p>
              <a:p>
                <a:pPr lvl="0"/>
                <a:r>
                  <a:rPr/>
                  <a:t>Fitted values go </a:t>
                </a:r>
                <a:r>
                  <a:rPr b="1"/>
                  <a:t>below 0 and above 1</a:t>
                </a:r>
                <a:r>
                  <a:rPr/>
                  <a:t>, which are not probabilities</a:t>
                </a:r>
              </a:p>
              <a:p>
                <a:pPr lvl="0"/>
                <a:r>
                  <a:rPr/>
                  <a:t>The errors are heteroskedastic by construction</a:t>
                </a:r>
              </a:p>
              <a:p>
                <a:pPr lvl="0"/>
                <a:r>
                  <a:rPr/>
                  <a:t>The fit is pulled around by points far from the boundary</a:t>
                </a:r>
              </a:p>
              <a:p>
                <a:pPr lvl="0" indent="0" marL="0">
                  <a:buNone/>
                </a:pPr>
                <a:r>
                  <a:rPr/>
                  <a:t>The LPM is defensible for an average effect. It is a poor basis for a </a:t>
                </a:r>
                <a:r>
                  <a:rPr i="1"/>
                  <a:t>decision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the log-odds instead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log</m:t>
                      </m:r>
                      <m:f>
                        <m:fPr>
                          <m:type m:val="bar"/>
                        </m:fPr>
                        <m:num>
                          <m: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num>
                        <m:den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′</m:t>
                      </m:r>
                      <m:r>
                        <m:t>β</m:t>
                      </m:r>
                      <m:r>
                        <m:t>  </m:t>
                      </m:r>
                      <m:r>
                        <m:rPr>
                          <m:sty m:val="p"/>
                        </m:rPr>
                        <m:t>⇔</m:t>
                      </m:r>
                      <m:r>
                        <m:t>  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sSup>
                            <m:e>
                              <m: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′</m:t>
                              </m:r>
                              <m:r>
                                <m:t>β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logistic function maps the whole real line into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1</m:t>
                        </m:r>
                      </m:e>
                    </m:d>
                  </m:oMath>
                </a14:m>
                <a:r>
                  <a:rPr/>
                  <a:t>. No fitted value can ever be an impossible probability.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the coefficients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is the change in </a:t>
                </a:r>
                <a:r>
                  <a:rPr b="1"/>
                  <a:t>log-odds</a:t>
                </a:r>
                <a:r>
                  <a:rPr/>
                  <a:t> for a one-unit change in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  <a:p>
                <a:pPr lvl="0"/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sSub>
                          <m:e>
                            <m:r>
                              <m:t>β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sup>
                    </m:sSup>
                  </m:oMath>
                </a14:m>
                <a:r>
                  <a:rPr/>
                  <a:t> is the </a:t>
                </a:r>
                <a:r>
                  <a:rPr b="1"/>
                  <a:t>odds ratio</a:t>
                </a:r>
                <a:r>
                  <a:rPr/>
                  <a:t> — multiplicative, not additive</a:t>
                </a:r>
              </a:p>
              <a:p>
                <a:pPr lvl="0"/>
                <a:r>
                  <a:rPr/>
                  <a:t>The effect on the </a:t>
                </a:r>
                <a:r>
                  <a:rPr i="1"/>
                  <a:t>probability</a:t>
                </a:r>
                <a:r>
                  <a:rPr/>
                  <a:t> depends on where you are on the curve</a:t>
                </a:r>
              </a:p>
              <a:p>
                <a:pPr lvl="0"/>
                <a:r>
                  <a:rPr/>
                  <a:t>Near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0.5</m:t>
                    </m:r>
                  </m:oMath>
                </a14:m>
                <a:r>
                  <a:rPr/>
                  <a:t> the curve is steepest; in the tails it is nearly flat</a:t>
                </a:r>
              </a:p>
              <a:p>
                <a:pPr lvl="0" indent="0" marL="0">
                  <a:buNone/>
                </a:pPr>
                <a:r>
                  <a:rPr/>
                  <a:t>“A one-point rise in the barrier index raises the probability by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” is wrong. There is no single such number. Report the odds ratio, or a marginal effect evaluated at a stated point.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Fitting 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There is no closed form. We maximise the log-likelihood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ℓ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β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t> </m:t>
                              </m:r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′</m:t>
                              </m:r>
                              <m:r>
                                <m:t>β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m:t>log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m:t>+</m:t>
                                  </m:r>
                                  <m:sSup>
                                    <m:e>
                                      <m:r>
                                        <m:t>e</m:t>
                                      </m:r>
                                    </m:e>
                                    <m:sup>
                                      <m:sSub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m:t>′</m:t>
                                      </m:r>
                                      <m:r>
                                        <m:t>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which is </a:t>
                </a:r>
                <a:r>
                  <a:rPr b="1"/>
                  <a:t>concave</a:t>
                </a:r>
                <a:r>
                  <a:rPr/>
                  <a:t>, so the maximum is unique and the optimiser converges.</a:t>
                </a:r>
              </a:p>
              <a:p>
                <a:pPr lvl="0" indent="0" marL="0">
                  <a:buNone/>
                </a:pPr>
                <a:r>
                  <a:rPr/>
                  <a:t>Concavity is why logistic regression is boring to fit and trees are not.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Separation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If some predictor perfectly splits the classes, the likelihood is maximised by sending </a:t>
                </a:r>
                <a14:m>
                  <m:oMath xmlns:m="http://schemas.openxmlformats.org/officeDocument/2006/math">
                    <m:r>
                      <m:t>β</m:t>
                    </m:r>
                    <m:r>
                      <m:rPr>
                        <m:sty m:val="p"/>
                      </m:rPr>
                      <m:t>→</m:t>
                    </m:r>
                    <m:r>
                      <m:rPr>
                        <m:sty m:val="p"/>
                      </m:rPr>
                      <m:t>∞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Coefficients explode; standard errors explode faster</a:t>
                </a:r>
              </a:p>
              <a:p>
                <a:pPr lvl="0"/>
                <a:r>
                  <a:rPr/>
                  <a:t>Software may report “convergence” anyway</a:t>
                </a:r>
              </a:p>
              <a:p>
                <a:pPr lvl="0"/>
                <a:r>
                  <a:rPr/>
                  <a:t>It is </a:t>
                </a:r>
                <a:r>
                  <a:rPr i="1"/>
                  <a:t>more</a:t>
                </a:r>
                <a:r>
                  <a:rPr/>
                  <a:t> common in small samples — like a 30-country panel</a:t>
                </a:r>
              </a:p>
              <a:p>
                <a:pPr lvl="0" indent="0" marL="0">
                  <a:buNone/>
                </a:pPr>
                <a:r>
                  <a:rPr/>
                  <a:t>A penalty fixes it. Which is the next section.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Penalised logistic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same two penalties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r>
                            <m:t>β</m:t>
                          </m:r>
                        </m:lim>
                      </m:limLow>
                      <m:r>
                        <m:t> 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rPr>
                          <m:sty m:val="p"/>
                        </m:rPr>
                        <m:t>ℓ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β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t>λ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α</m:t>
                          </m:r>
                          <m:r>
                            <m:rPr>
                              <m:sty m:val="p"/>
                            </m:rPr>
                            <m:t>∥</m:t>
                          </m:r>
                          <m:r>
                            <m:t>β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m:t>∥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f>
                            <m:fPr>
                              <m:type m:val="lin"/>
                            </m:fPr>
                            <m:num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α</m:t>
                              </m:r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m:t>∥</m:t>
                          </m:r>
                          <m:r>
                            <m:t>β</m:t>
                          </m:r>
                          <m:sSubSup>
                            <m:e>
                              <m:r>
                                <m:rPr>
                                  <m:sty m:val="p"/>
                                </m:rPr>
                                <m:t>∥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  <m:sup>
                              <m: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Everything from Session 05 carries over: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ℓ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shrinks and shares;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ℓ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selects</a:t>
                </a:r>
              </a:p>
              <a:p>
                <a:pPr lvl="0"/>
                <a:r>
                  <a:rPr/>
                  <a:t>Standardise first, inside the pipeline</a:t>
                </a:r>
              </a:p>
              <a:p>
                <a:pPr lvl="0"/>
                <a:r>
                  <a:rPr/>
                  <a:t>Choose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by cross-validation, grouped by country</a:t>
                </a:r>
              </a:p>
              <a:p>
                <a:pPr lvl="0" indent="0" marL="0">
                  <a:buNone/>
                </a:pPr>
                <a:r>
                  <a:rPr/>
                  <a:t>In </a:t>
                </a:r>
                <a:r>
                  <a:rPr>
                    <a:latin typeface="Courier"/>
                  </a:rPr>
                  <a:t>scikit-learn</a:t>
                </a:r>
                <a:r>
                  <a:rPr/>
                  <a:t> the logistic penalty is parameterised by </a:t>
                </a:r>
                <a:r>
                  <a:rPr>
                    <a:latin typeface="Courier"/>
                  </a:rPr>
                  <a:t>C</a:t>
                </a:r>
                <a:r>
                  <a:rPr/>
                  <a:t>, which is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>
                      <m:t>λ</m:t>
                    </m:r>
                  </m:oMath>
                </a14:m>
                <a:r>
                  <a:rPr/>
                  <a:t>. Larger </a:t>
                </a:r>
                <a:r>
                  <a:rPr>
                    <a:latin typeface="Courier"/>
                  </a:rPr>
                  <a:t>C</a:t>
                </a:r>
                <a:r>
                  <a:rPr/>
                  <a:t> means </a:t>
                </a:r>
                <a:r>
                  <a:rPr i="1"/>
                  <a:t>less</a:t>
                </a:r>
                <a:r>
                  <a:rPr/>
                  <a:t> regularisation. This trips up everyone once.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data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label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pandas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pd</a:t>
            </a:r>
            <a:br/>
            <a:br/>
            <a:r>
              <a:rPr>
                <a:latin typeface="Courier"/>
              </a:rPr>
              <a:t>core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pd.read_parquet(</a:t>
            </a:r>
            <a:r>
              <a:rPr>
                <a:solidFill>
                  <a:srgbClr val="4070A0"/>
                </a:solidFill>
                <a:latin typeface="Courier"/>
              </a:rPr>
              <a:t>"data/spine/core.parquet"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(core.falling_behind_next.mean())      </a:t>
            </a:r>
            <a:r>
              <a:rPr i="1">
                <a:solidFill>
                  <a:srgbClr val="60A0B0"/>
                </a:solidFill>
                <a:latin typeface="Courier"/>
              </a:rPr>
              <a:t># 0.100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(core.falling_behind_next.isna().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())  </a:t>
            </a:r>
            <a:r>
              <a:rPr i="1">
                <a:solidFill>
                  <a:srgbClr val="60A0B0"/>
                </a:solidFill>
                <a:latin typeface="Courier"/>
              </a:rPr>
              <a:t># 30</a:t>
            </a:r>
          </a:p>
          <a:p>
            <a:pPr lvl="0"/>
            <a:r>
              <a:rPr/>
              <a:t>The rate is </a:t>
            </a:r>
            <a:r>
              <a:rPr b="1"/>
              <a:t>exactly 10% by construction</a:t>
            </a:r>
            <a:r>
              <a:rPr/>
              <a:t> — the threshold is the within-year bottom decile</a:t>
            </a:r>
          </a:p>
          <a:p>
            <a:pPr lvl="0"/>
            <a:r>
              <a:rPr b="1"/>
              <a:t>30 rows are NaN</a:t>
            </a:r>
            <a:r>
              <a:rPr/>
              <a:t>: the last year of each of 30 countries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That NaN is not a defect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falling_behind_next</a:t>
            </a:r>
            <a:r>
              <a:rPr/>
              <a:t> is next year’s outcome. For 2024 there is no next year.</a:t>
            </a:r>
          </a:p>
          <a:p>
            <a:pPr lvl="0" indent="0" marL="0">
              <a:buNone/>
            </a:pPr>
            <a:r>
              <a:rPr/>
              <a:t>Dropping those 30 rows is </a:t>
            </a:r>
            <a:r>
              <a:rPr b="1"/>
              <a:t>correct</a:t>
            </a:r>
            <a:r>
              <a:rPr/>
              <a:t>. Imputing them would be inventing the future — the exact error this course exists to prevent.</a:t>
            </a:r>
          </a:p>
          <a:p>
            <a:pPr lvl="0" indent="0" marL="0">
              <a:buNone/>
            </a:pPr>
            <a:r>
              <a:rPr/>
              <a:t>Be equally careful the other way: if you build features from the </a:t>
            </a:r>
            <a:r>
              <a:rPr i="1"/>
              <a:t>same</a:t>
            </a:r>
            <a:r>
              <a:rPr/>
              <a:t> year as the label without lagging, you have used information that would not have been available when the prediction had to be made.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rate is a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model that predicts “never falls behind” for every country is </a:t>
            </a:r>
            <a:r>
              <a:rPr b="1"/>
              <a:t>90% accurate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If your model reports 91% accuracy, it has added one percentage point over saying nothing at all. Accuracy on an imbalanced problem is not a measure of skill — it is a measure of the base rate.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Doing it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br/>
            <a:r>
              <a:rPr>
                <a:latin typeface="Courier"/>
              </a:rPr>
              <a:t>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core.dropna(subset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"falling_behind_next"</a:t>
            </a:r>
            <a:r>
              <a:rPr>
                <a:latin typeface="Courier"/>
              </a:rPr>
              <a:t>]).copy()</a:t>
            </a:r>
            <a:br/>
            <a:r>
              <a:rPr>
                <a:latin typeface="Courier"/>
              </a:rPr>
              <a:t>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d.sort_values([</a:t>
            </a:r>
            <a:r>
              <a:rPr>
                <a:solidFill>
                  <a:srgbClr val="4070A0"/>
                </a:solidFill>
                <a:latin typeface="Courier"/>
              </a:rPr>
              <a:t>"geo"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"time"</a:t>
            </a:r>
            <a:r>
              <a:rPr>
                <a:latin typeface="Courier"/>
              </a:rPr>
              <a:t>])</a:t>
            </a:r>
            <a:br/>
            <a:br/>
            <a:r>
              <a:rPr>
                <a:latin typeface="Courier"/>
              </a:rPr>
              <a:t>feat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"gdp_pc_eur"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"population"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"employment_ths"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"productivity_idx"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"gfcf_meur"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"prod_growth"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d[feat].fillna(d[feat].median())</a:t>
            </a:r>
            <a:br/>
            <a:r>
              <a:rPr>
                <a:latin typeface="Courier"/>
              </a:rPr>
              <a:t>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d[</a:t>
            </a:r>
            <a:r>
              <a:rPr>
                <a:solidFill>
                  <a:srgbClr val="4070A0"/>
                </a:solidFill>
                <a:latin typeface="Courier"/>
              </a:rPr>
              <a:t>"falling_behind_next"</a:t>
            </a:r>
            <a:r>
              <a:rPr>
                <a:latin typeface="Courier"/>
              </a:rPr>
              <a:t>].astype(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(X.shape, y.mean().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     </a:t>
            </a:r>
            <a:r>
              <a:rPr i="1">
                <a:solidFill>
                  <a:srgbClr val="60A0B0"/>
                </a:solidFill>
                <a:latin typeface="Courier"/>
              </a:rPr>
              <a:t># (420, 6), 0.1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Fit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sklearn.linear_model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LogisticRegressionCV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sklearn.pipeline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make_pipeline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sklearn.preprocessing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StandardScaler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sklearn.model_selection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GroupKFold</a:t>
            </a:r>
            <a:br/>
            <a:br/>
            <a:r>
              <a:rPr>
                <a:latin typeface="Courier"/>
              </a:rPr>
              <a:t>clf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make_pipeline(</a:t>
            </a:r>
            <a:br/>
            <a:r>
              <a:rPr>
                <a:latin typeface="Courier"/>
              </a:rPr>
              <a:t>    StandardScaler(),</a:t>
            </a:r>
            <a:br/>
            <a:r>
              <a:rPr>
                <a:latin typeface="Courier"/>
              </a:rPr>
              <a:t>    LogisticRegressionCV(Cs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np.logspace(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latin typeface="Courier"/>
              </a:rPr>
              <a:t>), penalty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"l2"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      cv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scoring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"neg_log_loss"</a:t>
            </a:r>
            <a:r>
              <a:rPr>
                <a:latin typeface="Courier"/>
              </a:rPr>
              <a:t>, max_iter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5000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clf.fit(X, y)</a:t>
            </a:r>
          </a:p>
          <a:p>
            <a:pPr lvl="0" indent="0" marL="0">
              <a:buNone/>
            </a:pPr>
            <a:r>
              <a:rPr/>
              <a:t>Scored by </a:t>
            </a:r>
            <a:r>
              <a:rPr b="1"/>
              <a:t>log loss</a:t>
            </a:r>
            <a:r>
              <a:rPr/>
              <a:t>, not accuracy. Log loss rewards well-calibrated probabilities; accuracy rewards guessing the majority class.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inner </a:t>
            </a:r>
            <a:r>
              <a:rPr>
                <a:latin typeface="Courier"/>
              </a:rPr>
              <a:t>cv</a:t>
            </a:r>
            <a:r>
              <a:rPr/>
              <a:t> is just </a:t>
            </a:r>
            <a:r>
              <a:rPr>
                <a:latin typeface="Courier"/>
              </a:rPr>
              <a:t>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precomputed </a:t>
            </a:r>
            <a:r>
              <a:rPr>
                <a:latin typeface="Courier"/>
              </a:rPr>
              <a:t>GroupKFold(...).split(...)</a:t>
            </a:r>
            <a:r>
              <a:rPr/>
              <a:t> holds row positions for the </a:t>
            </a:r>
            <a:r>
              <a:rPr b="1"/>
              <a:t>whole</a:t>
            </a:r>
            <a:r>
              <a:rPr/>
              <a:t> dataset. Nest it inside the outer loop on the next slide and those positions point past the end of the training subset — an </a:t>
            </a:r>
            <a:r>
              <a:rPr>
                <a:latin typeface="Courier"/>
              </a:rPr>
              <a:t>IndexError</a:t>
            </a:r>
            <a:r>
              <a:rPr/>
              <a:t>, if you are lucky enough to get one.</a:t>
            </a:r>
          </a:p>
          <a:p>
            <a:pPr lvl="0" indent="0" marL="0">
              <a:buNone/>
            </a:pPr>
            <a:r>
              <a:rPr/>
              <a:t>The grouping belongs on the </a:t>
            </a:r>
            <a:r>
              <a:rPr b="1"/>
              <a:t>outer</a:t>
            </a:r>
            <a:r>
              <a:rPr/>
              <a:t> loop, which is where it protects you.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Out-of-sample probabilities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sklearn.model_selection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cross_val_predict</a:t>
            </a:r>
            <a:br/>
            <a:br/>
            <a:r>
              <a:rPr>
                <a:latin typeface="Courier"/>
              </a:rPr>
              <a:t>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cross_val_predict(clf, X, y, cv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GroupKFold(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).split(X, y, d[</a:t>
            </a:r>
            <a:r>
              <a:rPr>
                <a:solidFill>
                  <a:srgbClr val="4070A0"/>
                </a:solidFill>
                <a:latin typeface="Courier"/>
              </a:rPr>
              <a:t>"geo"</a:t>
            </a:r>
            <a:r>
              <a:rPr>
                <a:latin typeface="Courier"/>
              </a:rPr>
              <a:t>]),</a:t>
            </a:r>
            <a:br/>
            <a:r>
              <a:rPr>
                <a:latin typeface="Courier"/>
              </a:rPr>
              <a:t>                      method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"predict_proba"</a:t>
            </a:r>
            <a:r>
              <a:rPr>
                <a:latin typeface="Courier"/>
              </a:rPr>
              <a:t>)[:,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"mean predicted:"</a:t>
            </a:r>
            <a:r>
              <a:rPr>
                <a:latin typeface="Courier"/>
              </a:rPr>
              <a:t>, p.mean().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4070A0"/>
                </a:solidFill>
                <a:latin typeface="Courier"/>
              </a:rPr>
              <a:t>" actual:"</a:t>
            </a:r>
            <a:r>
              <a:rPr>
                <a:latin typeface="Courier"/>
              </a:rPr>
              <a:t>, y.mean().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Those two numbers should be close. If the mean predicted probability is far from the base rate, the model is miscalibrated before you have chosen any threshold.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Judging it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ROC is the wrong picture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ROC curve plots TPR against FPR. With 90% negatives, the FPR denominator is enormous, so a great many false positives barely move the curve.</a:t>
            </a:r>
          </a:p>
          <a:p>
            <a:pPr lvl="0" indent="0" marL="0">
              <a:buNone/>
            </a:pPr>
            <a:r>
              <a:rPr/>
              <a:t>Use the </a:t>
            </a:r>
            <a:r>
              <a:rPr b="1"/>
              <a:t>precision–recall</a:t>
            </a:r>
            <a:r>
              <a:rPr/>
              <a:t> curve when the positive class is rare. Its baseline is the base rate — 0.10 here — not 0.5.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sklearn.metrics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average_precision_score, roc_auc_score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"ROC AUC :"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(roc_auc_score(y, p),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"PR  AUC :"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(average_precision_score(y, p),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4070A0"/>
                </a:solidFill>
                <a:latin typeface="Courier"/>
              </a:rPr>
              <a:t>" baseline"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(y.mean(),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sklearn.calibration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calibration_curve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matplotlib.pyplot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plt</a:t>
            </a:r>
            <a:br/>
            <a:br/>
            <a:r>
              <a:rPr>
                <a:latin typeface="Courier"/>
              </a:rPr>
              <a:t>frac, mean_pred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calibration_curve(y, p, n_bins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, strategy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"quantile"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plt.plot(mean_pred, frac, </a:t>
            </a:r>
            <a:r>
              <a:rPr>
                <a:solidFill>
                  <a:srgbClr val="4070A0"/>
                </a:solidFill>
                <a:latin typeface="Courier"/>
              </a:rPr>
              <a:t>"o-"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plt.plot([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], 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], </a:t>
            </a:r>
            <a:r>
              <a:rPr>
                <a:solidFill>
                  <a:srgbClr val="4070A0"/>
                </a:solidFill>
                <a:latin typeface="Courier"/>
              </a:rPr>
              <a:t>"--"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plt.xlabel(</a:t>
            </a:r>
            <a:r>
              <a:rPr>
                <a:solidFill>
                  <a:srgbClr val="4070A0"/>
                </a:solidFill>
                <a:latin typeface="Courier"/>
              </a:rPr>
              <a:t>"predicted probability"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plt.ylabel(</a:t>
            </a:r>
            <a:r>
              <a:rPr>
                <a:solidFill>
                  <a:srgbClr val="4070A0"/>
                </a:solidFill>
                <a:latin typeface="Courier"/>
              </a:rPr>
              <a:t>"observed frequency"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On the diagonal, “0.3” means it happens 30% of the time. That is what makes a probability usable by somebody making a decision.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threshold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0.5 is not a default. It is a claim.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Classifying at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0.5</m:t>
                    </m:r>
                  </m:oMath>
                </a14:m>
                <a:r>
                  <a:rPr/>
                  <a:t> asserts that a false positive and a false negative cost the same.</a:t>
                </a:r>
              </a:p>
              <a:p>
                <a:pPr lvl="0" indent="0" marL="0">
                  <a:buNone/>
                </a:pPr>
                <a:r>
                  <a:rPr/>
                  <a:t>For “which countries need policy attention?”, they obviously do not. Missing a country that falls behind is not the same as sending an analyst to one that was fine.</a:t>
                </a:r>
              </a:p>
            </p:txBody>
          </p:sp>
        </mc:Choice>
      </mc:AlternateContent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Choose it with a loss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F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 be the cost of a miss and </a:t>
                </a:r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F</m:t>
                        </m:r>
                        <m:r>
                          <m:t>P</m:t>
                        </m:r>
                      </m:sub>
                    </m:sSub>
                  </m:oMath>
                </a14:m>
                <a:r>
                  <a:rPr/>
                  <a:t> the cost of a false alarm. The threshold that minimises expected cost is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t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⋆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F</m:t>
                              </m:r>
                              <m:r>
                                <m:t>P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F</m:t>
                              </m:r>
                              <m: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F</m:t>
                              </m:r>
                              <m:r>
                                <m:t>N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Missing is 4× as costly → </a:t>
                </a:r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rPr>
                            <m:sty m:val="p"/>
                          </m:rPr>
                          <m:t>⋆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0.2</m:t>
                    </m:r>
                  </m:oMath>
                </a14:m>
              </a:p>
              <a:p>
                <a:pPr lvl="0"/>
                <a:r>
                  <a:rPr/>
                  <a:t>Equal costs → </a:t>
                </a:r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rPr>
                            <m:sty m:val="p"/>
                          </m:rPr>
                          <m:t>⋆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0.5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You will not know these costs precisely. State the ratio you assumed, and show how the answer moves when it changes.</a:t>
                </a:r>
              </a:p>
            </p:txBody>
          </p:sp>
        </mc:Choice>
      </mc:AlternateContent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Sweep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sklearn.metrics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precision_score, recall_score</a:t>
            </a:r>
            <a:br/>
            <a:br/>
            <a:r>
              <a:rPr>
                <a:latin typeface="Courier"/>
              </a:rPr>
              <a:t>rows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np.arange(</a:t>
            </a:r>
            <a:r>
              <a:rPr>
                <a:solidFill>
                  <a:srgbClr val="40A070"/>
                </a:solidFill>
                <a:latin typeface="Courier"/>
              </a:rPr>
              <a:t>0.05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0.65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0.05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yhat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(p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t).astype(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rows.append((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(t,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), yhat.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(),</a:t>
            </a:r>
            <a:br/>
            <a:r>
              <a:rPr>
                <a:latin typeface="Courier"/>
              </a:rPr>
              <a:t>                 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(precision_score(y, yhat, zero_division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         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(recall_score(y, yhat),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)))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(pd.DataFrame(rows, columns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"threshold"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"flagged"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"precision"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"recall"</a:t>
            </a:r>
            <a:r>
              <a:rPr>
                <a:latin typeface="Courier"/>
              </a:rPr>
              <a:t>]))</a:t>
            </a:r>
          </a:p>
          <a:p>
            <a:pPr lvl="0" indent="0" marL="0">
              <a:buNone/>
            </a:pPr>
            <a:r>
              <a:rPr/>
              <a:t>Read the “flagged” column as a workload: how many countries would you actually have to look at?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</a:t>
            </a:r>
            <a:r>
              <a:rPr b="1"/>
              <a:t>base rate</a:t>
            </a:r>
            <a:r>
              <a:rPr/>
              <a:t>, first, so accuracy can be read against it</a:t>
            </a:r>
          </a:p>
          <a:p>
            <a:pPr lvl="0"/>
            <a:r>
              <a:rPr/>
              <a:t>PR AUC rather than ROC AUC, with the baseline stated</a:t>
            </a:r>
          </a:p>
          <a:p>
            <a:pPr lvl="0"/>
            <a:r>
              <a:rPr/>
              <a:t>A calibration plot, or a sentence about what it showed</a:t>
            </a:r>
          </a:p>
          <a:p>
            <a:pPr lvl="0"/>
            <a:r>
              <a:rPr/>
              <a:t>The </a:t>
            </a:r>
            <a:r>
              <a:rPr b="1"/>
              <a:t>threshold you chose and the cost ratio implying it</a:t>
            </a:r>
          </a:p>
          <a:p>
            <a:pPr lvl="0"/>
            <a:r>
              <a:rPr/>
              <a:t>Precision and recall </a:t>
            </a:r>
            <a:r>
              <a:rPr i="1"/>
              <a:t>at that threshold</a:t>
            </a:r>
            <a:r>
              <a:rPr/>
              <a:t> — not the maximum over all thresholds</a:t>
            </a:r>
          </a:p>
          <a:p>
            <a:pPr lvl="0" indent="0" marL="0">
              <a:buNone/>
            </a:pPr>
            <a:r>
              <a:rPr/>
              <a:t>Reporting the best F1 over a swept threshold, chosen on the same data you evaluate on, is a leak. Choose the threshold on training folds.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mistakes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Mistake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Consequence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Reporting accuracy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90% means nothing at a 10% base rate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Threshold left at 0.5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 economic assumption made silently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ROC AUC on rare events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Looks strong, hides false positives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Imputing the 30 NaN labels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Inventing the future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</a:t>
                      </a:r>
                      <a:r>
                        <a:rPr/>
                        <a:t> read as a penalty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Regularisation backwards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Same-year 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Leakage from the prediction date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the lab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/>
                  <a:t>Download the Shukla thin-file package and read its Python code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Fit penalised logistic on the spine label, grouped by country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Produce the calibration plot and the threshold sweep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State a cost ratio, derive </a:t>
                </a:r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rPr>
                            <m:sty m:val="p"/>
                          </m:rPr>
                          <m:t>⋆</m:t>
                        </m:r>
                      </m:sup>
                    </m:sSup>
                  </m:oMath>
                </a14:m>
                <a:r>
                  <a:rPr/>
                  <a:t>, and report performance there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Three sentences a policy reader could act on</a:t>
                </a:r>
              </a:p>
              <a:p>
                <a:pPr lvl="0" indent="0" marL="0">
                  <a:buNone/>
                </a:pPr>
                <a:r>
                  <a:rPr/>
                  <a:t>See </a:t>
                </a:r>
                <a:r>
                  <a:rPr>
                    <a:hlinkClick r:id="rId2"/>
                    <a:latin typeface="Courier"/>
                  </a:rPr>
                  <a:t>REPLICATIONS.md</a:t>
                </a:r>
                <a:r>
                  <a:rPr/>
                  <a:t> for how to download the package.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and the Threshold</dc:title>
  <dc:creator>Thierry Warin</dc:creator>
  <cp:keywords/>
  <dcterms:created xsi:type="dcterms:W3CDTF">2026-08-19T02:57:37Z</dcterms:created>
  <dcterms:modified xsi:type="dcterms:W3CDTF">2026-08-19T02:57:37Z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18 August 2026</vt:lpwstr>
  </property>
  <property fmtid="{D5CDD505-2E9C-101B-9397-08002B2CF9AE}" pid="8" name="date-format">
    <vt:lpwstr>D MMMM YYYY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HEC Montréal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Session 06 · Logistic regression, imbalance, and the decision nobody writes down</vt:lpwstr>
  </property>
  <property fmtid="{D5CDD505-2E9C-101B-9397-08002B2CF9AE}" pid="16" name="toc-title">
    <vt:lpwstr>Table of contents</vt:lpwstr>
  </property>
</Properties>
</file>