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43be00337f44d9" /><Relationship Type="http://schemas.openxmlformats.org/officeDocument/2006/relationships/extended-properties" Target="/docProps/app.xml" Id="Re9c953a05bd742be" /><Relationship Type="http://schemas.openxmlformats.org/officeDocument/2006/relationships/officeDocument" Target="/ppt/presentation.xml" Id="R4ac6048ffdd44b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d5f6cecda3467e"/>
  </p:sldMasterIdLst>
  <p:notesMasterIdLst>
    <p:notesMasterId xmlns:r="http://schemas.openxmlformats.org/officeDocument/2006/relationships" r:id="Rc92c5782d5eb4152"/>
  </p:notesMasterIdLst>
  <p:sldIdLst>
    <p:sldId xmlns:r="http://schemas.openxmlformats.org/officeDocument/2006/relationships" id="256" r:id="R563c720d1bcd4e19"/>
    <p:sldId xmlns:r="http://schemas.openxmlformats.org/officeDocument/2006/relationships" id="257" r:id="R262824b8aa3d4f51"/>
    <p:sldId xmlns:r="http://schemas.openxmlformats.org/officeDocument/2006/relationships" id="258" r:id="R289a3c87cedb450a"/>
    <p:sldId xmlns:r="http://schemas.openxmlformats.org/officeDocument/2006/relationships" id="259" r:id="Rf65cd14e90c84e87"/>
    <p:sldId xmlns:r="http://schemas.openxmlformats.org/officeDocument/2006/relationships" id="260" r:id="Rde846e9c88214099"/>
    <p:sldId xmlns:r="http://schemas.openxmlformats.org/officeDocument/2006/relationships" id="261" r:id="R001410dc9eea4102"/>
    <p:sldId xmlns:r="http://schemas.openxmlformats.org/officeDocument/2006/relationships" id="262" r:id="R7c22b09ed5614c95"/>
    <p:sldId xmlns:r="http://schemas.openxmlformats.org/officeDocument/2006/relationships" id="263" r:id="R171cb7b9b2f444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0218fe14a643a4" /><Relationship Type="http://schemas.openxmlformats.org/officeDocument/2006/relationships/slideMaster" Target="/ppt/slideMasters/slideMaster1.xml" Id="R29d5f6cecda3467e" /><Relationship Type="http://schemas.openxmlformats.org/officeDocument/2006/relationships/notesMaster" Target="/ppt/notesMasters/notesMaster1.xml" Id="Rc92c5782d5eb4152" /><Relationship Type="http://schemas.openxmlformats.org/officeDocument/2006/relationships/presProps" Target="/ppt/presProps.xml" Id="R83c2bb7833cf4daf" /><Relationship Type="http://schemas.openxmlformats.org/officeDocument/2006/relationships/tableStyles" Target="/ppt/tableStyles.xml" Id="R5d5c3c655f574203" /><Relationship Type="http://schemas.openxmlformats.org/officeDocument/2006/relationships/slide" Target="/ppt/slides/slide1.xml" Id="R563c720d1bcd4e19" /><Relationship Type="http://schemas.openxmlformats.org/officeDocument/2006/relationships/slide" Target="/ppt/slides/slide2.xml" Id="R262824b8aa3d4f51" /><Relationship Type="http://schemas.openxmlformats.org/officeDocument/2006/relationships/slide" Target="/ppt/slides/slide3.xml" Id="R289a3c87cedb450a" /><Relationship Type="http://schemas.openxmlformats.org/officeDocument/2006/relationships/slide" Target="/ppt/slides/slide4.xml" Id="Rf65cd14e90c84e87" /><Relationship Type="http://schemas.openxmlformats.org/officeDocument/2006/relationships/slide" Target="/ppt/slides/slide5.xml" Id="Rde846e9c88214099" /><Relationship Type="http://schemas.openxmlformats.org/officeDocument/2006/relationships/slide" Target="/ppt/slides/slide6.xml" Id="R001410dc9eea4102" /><Relationship Type="http://schemas.openxmlformats.org/officeDocument/2006/relationships/slide" Target="/ppt/slides/slide7.xml" Id="R7c22b09ed5614c95" /><Relationship Type="http://schemas.openxmlformats.org/officeDocument/2006/relationships/slide" Target="/ppt/slides/slide8.xml" Id="R171cb7b9b2f444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96ce02f0584b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74dfad101049bb" /><Relationship Type="http://schemas.openxmlformats.org/officeDocument/2006/relationships/notesMaster" Target="/ppt/notesMasters/notesMaster1.xml" Id="Refde905c59e747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c319a7755b4b81" /><Relationship Type="http://schemas.openxmlformats.org/officeDocument/2006/relationships/notesMaster" Target="/ppt/notesMasters/notesMaster1.xml" Id="R6fd82085725548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717d00ba1348c9" /><Relationship Type="http://schemas.openxmlformats.org/officeDocument/2006/relationships/notesMaster" Target="/ppt/notesMasters/notesMaster1.xml" Id="R36cbbb3ba9264c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a8776fbf084341" /><Relationship Type="http://schemas.openxmlformats.org/officeDocument/2006/relationships/notesMaster" Target="/ppt/notesMasters/notesMaster1.xml" Id="R3e319e4aade64a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68b387ac0e4190" /><Relationship Type="http://schemas.openxmlformats.org/officeDocument/2006/relationships/notesMaster" Target="/ppt/notesMasters/notesMaster1.xml" Id="R5dcc5710d69545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030fca12c34238" /><Relationship Type="http://schemas.openxmlformats.org/officeDocument/2006/relationships/notesMaster" Target="/ppt/notesMasters/notesMaster1.xml" Id="Re7b911169fb44f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10ac8105a74c95" /><Relationship Type="http://schemas.openxmlformats.org/officeDocument/2006/relationships/notesMaster" Target="/ppt/notesMasters/notesMaster1.xml" Id="R202c533d3cf54f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b601028eb341bc" /><Relationship Type="http://schemas.openxmlformats.org/officeDocument/2006/relationships/notesMaster" Target="/ppt/notesMasters/notesMaster1.xml" Id="Refa1cd05622441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question: 90 minutes in groups: Reproduce one article result, inspect probabilities, and choose an action rule that reflects error costs.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  <a:p xmlns:a="http://schemas.openxmlformats.org/drawingml/2006/main">
            <a:r>
              <a:t>- ISLR, classification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Groups work collaboratively. Assign a driver, a checker, and a narrator, then rotate roles halfway through.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06-classification-logistic-and-penalised/02-practice/README.md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  <a:p xmlns:a="http://schemas.openxmlformats.org/drawingml/2006/main">
            <a:r>
              <a:t>- ISLR, classification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time at each transition. The one-slide presentation is the in-class product, not homework.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06-classification-logistic-and-penalised/02-practice/README.md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  <a:p xmlns:a="http://schemas.openxmlformats.org/drawingml/2006/main">
            <a:r>
              <a:t>- ISLR, classification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the demo fails, fix the environment before starting the research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06-classification-logistic-and-penalised/02-practice/README.md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  <a:p xmlns:a="http://schemas.openxmlformats.org/drawingml/2006/main">
            <a:r>
              <a:t>- ISLR, classification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Assign one member to narrate why each transition exists while another types.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06-classification-logistic-and-penalised/02-practice/README.md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  <a:p xmlns:a="http://schemas.openxmlformats.org/drawingml/2006/main">
            <a:r>
              <a:t>- ISLR, classification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failure is the learning objective. Do not let groups skip it after obtaining a clean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06-classification-logistic-and-penalised/02-practice/README.md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  <a:p xmlns:a="http://schemas.openxmlformats.org/drawingml/2006/main">
            <a:r>
              <a:t>- ISLR, classification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Draw the presenter after the group is called. This makes shared understanding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06-classification-logistic-and-penalised/02-practice/README.md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  <a:p xmlns:a="http://schemas.openxmlformats.org/drawingml/2006/main">
            <a:r>
              <a:t>- ISLR, classification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QMIB Lab App is an optional post-class knowledge check. Completion can count toward participation; it is not preparation for the next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QMIB Lab App: /Users/thierrywarin/Desktop/QMIB-lab-app/README.md</a:t>
            </a:r>
          </a:p>
          <a:p xmlns:a="http://schemas.openxmlformats.org/drawingml/2006/main">
            <a:r>
              <a:t>- Course source: 06-classification-logistic-and-penalised/02-practice/README.md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  <a:p xmlns:a="http://schemas.openxmlformats.org/drawingml/2006/main">
            <a:r>
              <a:t>- ISLR, classification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094a0169934e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53090a7a4b4a89" /><Relationship Type="http://schemas.openxmlformats.org/officeDocument/2006/relationships/slideLayout" Target="/ppt/slideLayouts/slideLayout1.xml" Id="Rdeb5decdb5b047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b5decdb5b047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a4c4fe0e44104" /><Relationship Type="http://schemas.openxmlformats.org/officeDocument/2006/relationships/chart" Target="/ppt/slides/charts/chart1.xml" Id="R6e7c9201f8eb4032" /><Relationship Type="http://schemas.openxmlformats.org/officeDocument/2006/relationships/notesSlide" Target="/ppt/notesSlides/notesSlide1.xml" Id="R8b082cd94b3541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9ae6dbf40483d" /><Relationship Type="http://schemas.openxmlformats.org/officeDocument/2006/relationships/notesSlide" Target="/ppt/notesSlides/notesSlide2.xml" Id="R7001e05b85234f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f8483b3f2460f" /><Relationship Type="http://schemas.openxmlformats.org/officeDocument/2006/relationships/notesSlide" Target="/ppt/notesSlides/notesSlide3.xml" Id="R28ed5193382143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e54fb2abc4978" /><Relationship Type="http://schemas.openxmlformats.org/officeDocument/2006/relationships/notesSlide" Target="/ppt/notesSlides/notesSlide4.xml" Id="R8cf11a4849e44d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8543263f04f0c" /><Relationship Type="http://schemas.openxmlformats.org/officeDocument/2006/relationships/notesSlide" Target="/ppt/notesSlides/notesSlide5.xml" Id="Rbfd749e7eb6a48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0423f4f874bb6" /><Relationship Type="http://schemas.openxmlformats.org/officeDocument/2006/relationships/notesSlide" Target="/ppt/notesSlides/notesSlide6.xml" Id="R2560e64ecd4749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c2367fb9447c4" /><Relationship Type="http://schemas.openxmlformats.org/officeDocument/2006/relationships/notesSlide" Target="/ppt/notesSlides/notesSlide7.xml" Id="R57a7ce16403445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cc20bfb9b45bc" /><Relationship Type="http://schemas.openxmlformats.org/officeDocument/2006/relationships/notesSlide" Target="/ppt/notesSlides/notesSlide8.xml" Id="Rdb431e77adbc4b62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9"/>
              <c:pt idx="0">
                <c:v>−4</c:v>
              </c:pt>
              <c:pt idx="1">
                <c:v>−3</c:v>
              </c:pt>
              <c:pt idx="2">
                <c:v>−2</c:v>
              </c:pt>
              <c:pt idx="3">
                <c:v>−1</c:v>
              </c:pt>
              <c:pt idx="4">
                <c:v>0</c:v>
              </c:pt>
              <c:pt idx="5">
                <c:v>1</c:v>
              </c:pt>
              <c:pt idx="6">
                <c:v>2</c:v>
              </c:pt>
              <c:pt idx="7">
                <c:v>3</c:v>
              </c:pt>
              <c:pt idx="8">
                <c:v>4</c:v>
              </c:pt>
            </c:strLit>
          </c:cat>
          <c:val>
            <c:numLit>
              <c:formatCode>General</c:formatCode>
              <c:ptCount val="9"/>
              <c:pt idx="0">
                <c:v>0.02</c:v>
              </c:pt>
              <c:pt idx="1">
                <c:v>0.05</c:v>
              </c:pt>
              <c:pt idx="2">
                <c:v>0.12</c:v>
              </c:pt>
              <c:pt idx="3">
                <c:v>0.27</c:v>
              </c:pt>
              <c:pt idx="4">
                <c:v>0.5</c:v>
              </c:pt>
              <c:pt idx="5">
                <c:v>0.73</c:v>
              </c:pt>
              <c:pt idx="6">
                <c:v>0.88</c:v>
              </c:pt>
              <c:pt idx="7">
                <c:v>0.95</c:v>
              </c:pt>
              <c:pt idx="8">
                <c:v>0.98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87497B62-B9A9-445B-B01A-EA5482B6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06 · IN-CLASS PRACTICE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36898D5-35D9-439D-98A3-5E46D083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 network evolution classification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32C505B7-CA48-401C-89C7-2C538B9F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4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90 minutes in groups: Reproduce one article result, inspect probabilities, and choose an action rule that reflects error costs.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2B78381F-D0D1-4975-81AD-E7BEC9B2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59373BB3-2A1E-4B5B-B47E-93CB62F6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57975" y="685800"/>
          <a:ext xmlns:a="http://schemas.openxmlformats.org/drawingml/2006/main" cx="4752975" cy="5086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7c9201f8eb4032"/>
          </a:graphicData>
        </a:graphic>
      </p:graphicFrame>
      <p:sp>
        <p:nvSpPr>
          <p:cNvPr id="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4690505-F019-4C25-B218-F0D380BD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1D034A0-AF57-440D-94C2-8413DEC0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478B2A5-D492-4606-8F97-06150593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1</a:t>
            </a:r>
          </a:p>
        </p:txBody>
      </p:sp>
    </p:spTree>
    <p:extLst>
      <p:ext uri="{BB962C8B-B14F-4D97-AF65-F5344CB8AC3E}">
        <p14:creationId xmlns:p14="http://schemas.microsoft.com/office/powerpoint/2010/main" val="12340191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C524D552-3F96-4067-A90A-71165998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CHALLENGE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485B49-5152-4C4B-B62D-DC629487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Turn the method into a defensible group result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5E6C707-0136-4E81-9BAB-3302AADC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hallenge-label">
            <a:extLst xmlns:a="http://schemas.openxmlformats.org/drawingml/2006/main">
              <a:ext uri="{FF2B5EF4-FFF2-40B4-BE49-F238E27FC236}">
                <a16:creationId xmlns:a16="http://schemas.microsoft.com/office/drawing/2014/main" id="{EDBC97CE-A436-4F32-BABA-7BCA666E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CHALLENGE</a:t>
            </a:r>
          </a:p>
        </p:txBody>
      </p:sp>
      <p:sp>
        <p:nvSpPr>
          <p:cNvPr id="5" name="challenge-copy">
            <a:extLst xmlns:a="http://schemas.openxmlformats.org/drawingml/2006/main">
              <a:ext uri="{FF2B5EF4-FFF2-40B4-BE49-F238E27FC236}">
                <a16:creationId xmlns:a16="http://schemas.microsoft.com/office/drawing/2014/main" id="{1A46A206-5FAC-4521-9C77-B6660CFB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5905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Reproduce one article result, inspect probabilities, and choose an action rule that reflects error costs.</a:t>
            </a:r>
          </a:p>
        </p:txBody>
      </p:sp>
      <p:sp>
        <p:nvSpPr>
          <p:cNvPr id="6" name="challenge-result-label">
            <a:extLst xmlns:a="http://schemas.openxmlformats.org/drawingml/2006/main">
              <a:ext uri="{FF2B5EF4-FFF2-40B4-BE49-F238E27FC236}">
                <a16:creationId xmlns:a16="http://schemas.microsoft.com/office/drawing/2014/main" id="{7B70B2FD-CEB5-4996-B858-277675C0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RESULT AT MINUTE 70</a:t>
            </a:r>
          </a:p>
        </p:txBody>
      </p:sp>
      <p:sp>
        <p:nvSpPr>
          <p:cNvPr id="7" name="challenge-result">
            <a:extLst xmlns:a="http://schemas.openxmlformats.org/drawingml/2006/main">
              <a:ext uri="{FF2B5EF4-FFF2-40B4-BE49-F238E27FC236}">
                <a16:creationId xmlns:a16="http://schemas.microsoft.com/office/drawing/2014/main" id="{290CE45A-AAA8-4AE4-AE23-5FA100E2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590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one fold-level classification result, then turn predicted probabilities into a defensible decision rule.</a:t>
            </a:r>
          </a:p>
        </p:txBody>
      </p:sp>
      <p:sp>
        <p:nvSpPr>
          <p:cNvPr id="8" name="objective-bg">
            <a:extLst xmlns:a="http://schemas.openxmlformats.org/drawingml/2006/main">
              <a:ext uri="{FF2B5EF4-FFF2-40B4-BE49-F238E27FC236}">
                <a16:creationId xmlns:a16="http://schemas.microsoft.com/office/drawing/2014/main" id="{93A5CCF4-187C-4304-AB88-11905CF6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76400"/>
            <a:ext cx="419100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objective-title">
            <a:extLst xmlns:a="http://schemas.openxmlformats.org/drawingml/2006/main">
              <a:ext uri="{FF2B5EF4-FFF2-40B4-BE49-F238E27FC236}">
                <a16:creationId xmlns:a16="http://schemas.microsoft.com/office/drawing/2014/main" id="{6B23B7A4-88AD-464F-B03D-95E28541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383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By the end, your group can…</a:t>
            </a:r>
          </a:p>
        </p:txBody>
      </p:sp>
      <p:sp>
        <p:nvSpPr>
          <p:cNvPr id="10" name="objective-num-0">
            <a:extLst xmlns:a="http://schemas.openxmlformats.org/drawingml/2006/main">
              <a:ext uri="{FF2B5EF4-FFF2-40B4-BE49-F238E27FC236}">
                <a16:creationId xmlns:a16="http://schemas.microsoft.com/office/drawing/2014/main" id="{89BD07AB-C448-4FD1-9E21-C50B9FEB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objective-item-0">
            <a:extLst xmlns:a="http://schemas.openxmlformats.org/drawingml/2006/main">
              <a:ext uri="{FF2B5EF4-FFF2-40B4-BE49-F238E27FC236}">
                <a16:creationId xmlns:a16="http://schemas.microsoft.com/office/drawing/2014/main" id="{B9772CF6-9844-4DE3-9750-7FFA6D41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3367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an article result</a:t>
            </a:r>
          </a:p>
        </p:txBody>
      </p:sp>
      <p:sp>
        <p:nvSpPr>
          <p:cNvPr id="12" name="objective-num-1">
            <a:extLst xmlns:a="http://schemas.openxmlformats.org/drawingml/2006/main">
              <a:ext uri="{FF2B5EF4-FFF2-40B4-BE49-F238E27FC236}">
                <a16:creationId xmlns:a16="http://schemas.microsoft.com/office/drawing/2014/main" id="{5AC74769-0195-443A-8975-97D9C679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09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objective-item-1">
            <a:extLst xmlns:a="http://schemas.openxmlformats.org/drawingml/2006/main">
              <a:ext uri="{FF2B5EF4-FFF2-40B4-BE49-F238E27FC236}">
                <a16:creationId xmlns:a16="http://schemas.microsoft.com/office/drawing/2014/main" id="{2628F7B9-3944-4308-B4AD-C8970F14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6232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with a benchmark</a:t>
            </a:r>
          </a:p>
        </p:txBody>
      </p:sp>
      <p:sp>
        <p:nvSpPr>
          <p:cNvPr id="14" name="objective-num-2">
            <a:extLst xmlns:a="http://schemas.openxmlformats.org/drawingml/2006/main">
              <a:ext uri="{FF2B5EF4-FFF2-40B4-BE49-F238E27FC236}">
                <a16:creationId xmlns:a16="http://schemas.microsoft.com/office/drawing/2014/main" id="{D5542E66-FD63-4A2B-8FAE-D0166915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38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objective-item-2">
            <a:extLst xmlns:a="http://schemas.openxmlformats.org/drawingml/2006/main">
              <a:ext uri="{FF2B5EF4-FFF2-40B4-BE49-F238E27FC236}">
                <a16:creationId xmlns:a16="http://schemas.microsoft.com/office/drawing/2014/main" id="{293ED3F4-53AA-4213-80D0-0D716C48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9097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Break one assumption</a:t>
            </a:r>
          </a:p>
        </p:txBody>
      </p:sp>
      <p:sp>
        <p:nvSpPr>
          <p:cNvPr id="16" name="objective-num-3">
            <a:extLst xmlns:a="http://schemas.openxmlformats.org/drawingml/2006/main">
              <a:ext uri="{FF2B5EF4-FFF2-40B4-BE49-F238E27FC236}">
                <a16:creationId xmlns:a16="http://schemas.microsoft.com/office/drawing/2014/main" id="{27052D6E-20CD-4884-A5E3-A8993653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67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objective-item-3">
            <a:extLst xmlns:a="http://schemas.openxmlformats.org/drawingml/2006/main">
              <a:ext uri="{FF2B5EF4-FFF2-40B4-BE49-F238E27FC236}">
                <a16:creationId xmlns:a16="http://schemas.microsoft.com/office/drawing/2014/main" id="{3710820B-8152-4398-9F69-0D0D8402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1962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Explain the supported claim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7D79947-E5D0-4160-B0E3-554CE93C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73ADCEB-5B04-495F-B6CE-F5D2FCE9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0557CF4-6A79-47A2-8485-75E269DD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2</a:t>
            </a:r>
          </a:p>
        </p:txBody>
      </p:sp>
    </p:spTree>
    <p:extLst>
      <p:ext uri="{BB962C8B-B14F-4D97-AF65-F5344CB8AC3E}">
        <p14:creationId xmlns:p14="http://schemas.microsoft.com/office/powerpoint/2010/main" val="18801690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4BB1DD91-3138-4669-A55C-04DCFD06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90-MINUTE PLAN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1F957C-08B0-4AFA-A1FC-4344B592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Protect the final 20 minutes for presentations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DC02E91-9D36-4EBF-97A1-7CAE8B00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ming-time-0">
            <a:extLst xmlns:a="http://schemas.openxmlformats.org/drawingml/2006/main">
              <a:ext uri="{FF2B5EF4-FFF2-40B4-BE49-F238E27FC236}">
                <a16:creationId xmlns:a16="http://schemas.microsoft.com/office/drawing/2014/main" id="{1C1E584B-C105-4638-8391-ACB73C3A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00–10</a:t>
            </a:r>
          </a:p>
        </p:txBody>
      </p:sp>
      <p:sp>
        <p:nvSpPr>
          <p:cNvPr id="5" name="timing-name-0">
            <a:extLst xmlns:a="http://schemas.openxmlformats.org/drawingml/2006/main">
              <a:ext uri="{FF2B5EF4-FFF2-40B4-BE49-F238E27FC236}">
                <a16:creationId xmlns:a16="http://schemas.microsoft.com/office/drawing/2014/main" id="{84DEE163-115B-43CE-AC15-B0C32763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57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Locate</a:t>
            </a:r>
          </a:p>
        </p:txBody>
      </p:sp>
      <p:sp>
        <p:nvSpPr>
          <p:cNvPr id="6" name="timing-copy-0">
            <a:extLst xmlns:a="http://schemas.openxmlformats.org/drawingml/2006/main">
              <a:ext uri="{FF2B5EF4-FFF2-40B4-BE49-F238E27FC236}">
                <a16:creationId xmlns:a16="http://schemas.microsoft.com/office/drawing/2014/main" id="{1C6D0086-E521-4758-9D9A-EDD7C973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573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roles and locate the exact article result to reproduce.</a:t>
            </a:r>
          </a:p>
        </p:txBody>
      </p:sp>
      <p:sp>
        <p:nvSpPr>
          <p:cNvPr id="7" name="rule-184-226">
            <a:extLst xmlns:a="http://schemas.openxmlformats.org/drawingml/2006/main">
              <a:ext uri="{FF2B5EF4-FFF2-40B4-BE49-F238E27FC236}">
                <a16:creationId xmlns:a16="http://schemas.microsoft.com/office/drawing/2014/main" id="{AD175025-D482-4B03-AA48-1C693B06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526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ing-time-1">
            <a:extLst xmlns:a="http://schemas.openxmlformats.org/drawingml/2006/main">
              <a:ext uri="{FF2B5EF4-FFF2-40B4-BE49-F238E27FC236}">
                <a16:creationId xmlns:a16="http://schemas.microsoft.com/office/drawing/2014/main" id="{C791BEB8-37C2-4B3D-90D7-F123E18E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10–30</a:t>
            </a:r>
          </a:p>
        </p:txBody>
      </p:sp>
      <p:sp>
        <p:nvSpPr>
          <p:cNvPr id="9" name="timing-name-1">
            <a:extLst xmlns:a="http://schemas.openxmlformats.org/drawingml/2006/main">
              <a:ext uri="{FF2B5EF4-FFF2-40B4-BE49-F238E27FC236}">
                <a16:creationId xmlns:a16="http://schemas.microsoft.com/office/drawing/2014/main" id="{43975315-330E-4519-A342-C39ECDE5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431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</a:t>
            </a:r>
          </a:p>
        </p:txBody>
      </p:sp>
      <p:sp>
        <p:nvSpPr>
          <p:cNvPr id="10" name="timing-copy-1">
            <a:extLst xmlns:a="http://schemas.openxmlformats.org/drawingml/2006/main">
              <a:ext uri="{FF2B5EF4-FFF2-40B4-BE49-F238E27FC236}">
                <a16:creationId xmlns:a16="http://schemas.microsoft.com/office/drawing/2014/main" id="{7B28A874-47D6-41F3-B684-E3CE77BF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431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Run the authors' data or prepared file and reproduce the target.</a:t>
            </a:r>
          </a:p>
        </p:txBody>
      </p:sp>
      <p:sp>
        <p:nvSpPr>
          <p:cNvPr id="11" name="rule-184-298">
            <a:extLst xmlns:a="http://schemas.openxmlformats.org/drawingml/2006/main">
              <a:ext uri="{FF2B5EF4-FFF2-40B4-BE49-F238E27FC236}">
                <a16:creationId xmlns:a16="http://schemas.microsoft.com/office/drawing/2014/main" id="{3D74F62B-2AE6-4EBE-8075-D3D75C66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384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ing-time-2">
            <a:extLst xmlns:a="http://schemas.openxmlformats.org/drawingml/2006/main">
              <a:ext uri="{FF2B5EF4-FFF2-40B4-BE49-F238E27FC236}">
                <a16:creationId xmlns:a16="http://schemas.microsoft.com/office/drawing/2014/main" id="{ECD9503F-FF91-4361-B987-1494E51D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30–45</a:t>
            </a:r>
          </a:p>
        </p:txBody>
      </p:sp>
      <p:sp>
        <p:nvSpPr>
          <p:cNvPr id="13" name="timing-name-2">
            <a:extLst xmlns:a="http://schemas.openxmlformats.org/drawingml/2006/main">
              <a:ext uri="{FF2B5EF4-FFF2-40B4-BE49-F238E27FC236}">
                <a16:creationId xmlns:a16="http://schemas.microsoft.com/office/drawing/2014/main" id="{26BDBF73-03D5-4B39-906A-AF4D6A64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8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</a:t>
            </a:r>
          </a:p>
        </p:txBody>
      </p:sp>
      <p:sp>
        <p:nvSpPr>
          <p:cNvPr id="14" name="timing-copy-2">
            <a:extLst xmlns:a="http://schemas.openxmlformats.org/drawingml/2006/main">
              <a:ext uri="{FF2B5EF4-FFF2-40B4-BE49-F238E27FC236}">
                <a16:creationId xmlns:a16="http://schemas.microsoft.com/office/drawing/2014/main" id="{DFCCE7C9-CD4E-426B-BBF9-C8893AAB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289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Apply the session method or benchmark on the same sample.</a:t>
            </a:r>
          </a:p>
        </p:txBody>
      </p:sp>
      <p:sp>
        <p:nvSpPr>
          <p:cNvPr id="15" name="rule-184-370">
            <a:extLst xmlns:a="http://schemas.openxmlformats.org/drawingml/2006/main">
              <a:ext uri="{FF2B5EF4-FFF2-40B4-BE49-F238E27FC236}">
                <a16:creationId xmlns:a16="http://schemas.microsoft.com/office/drawing/2014/main" id="{98F862A9-4F53-45F5-82CB-710E39CA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242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iming-time-3">
            <a:extLst xmlns:a="http://schemas.openxmlformats.org/drawingml/2006/main">
              <a:ext uri="{FF2B5EF4-FFF2-40B4-BE49-F238E27FC236}">
                <a16:creationId xmlns:a16="http://schemas.microsoft.com/office/drawing/2014/main" id="{EA815815-D720-4C01-A46C-A036A7A4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45–60</a:t>
            </a:r>
          </a:p>
        </p:txBody>
      </p:sp>
      <p:sp>
        <p:nvSpPr>
          <p:cNvPr id="17" name="timing-name-3">
            <a:extLst xmlns:a="http://schemas.openxmlformats.org/drawingml/2006/main">
              <a:ext uri="{FF2B5EF4-FFF2-40B4-BE49-F238E27FC236}">
                <a16:creationId xmlns:a16="http://schemas.microsoft.com/office/drawing/2014/main" id="{484ECE95-3F75-44ED-9938-1B7E52B6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14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Break</a:t>
            </a:r>
          </a:p>
        </p:txBody>
      </p:sp>
      <p:sp>
        <p:nvSpPr>
          <p:cNvPr id="18" name="timing-copy-3">
            <a:extLst xmlns:a="http://schemas.openxmlformats.org/drawingml/2006/main">
              <a:ext uri="{FF2B5EF4-FFF2-40B4-BE49-F238E27FC236}">
                <a16:creationId xmlns:a16="http://schemas.microsoft.com/office/drawing/2014/main" id="{E7A266EA-207A-48BF-A0A2-CBD878F1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147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Stress one assumption and save before/after evidence.</a:t>
            </a:r>
          </a:p>
        </p:txBody>
      </p:sp>
      <p:sp>
        <p:nvSpPr>
          <p:cNvPr id="19" name="rule-184-442">
            <a:extLst xmlns:a="http://schemas.openxmlformats.org/drawingml/2006/main">
              <a:ext uri="{FF2B5EF4-FFF2-40B4-BE49-F238E27FC236}">
                <a16:creationId xmlns:a16="http://schemas.microsoft.com/office/drawing/2014/main" id="{09824C18-D59E-4039-9E26-974DBD87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100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iming-time-4">
            <a:extLst xmlns:a="http://schemas.openxmlformats.org/drawingml/2006/main">
              <a:ext uri="{FF2B5EF4-FFF2-40B4-BE49-F238E27FC236}">
                <a16:creationId xmlns:a16="http://schemas.microsoft.com/office/drawing/2014/main" id="{2E07FF1B-4E40-4712-B0D0-E1BF27C7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60–70</a:t>
            </a:r>
          </a:p>
        </p:txBody>
      </p:sp>
      <p:sp>
        <p:nvSpPr>
          <p:cNvPr id="21" name="timing-name-4">
            <a:extLst xmlns:a="http://schemas.openxmlformats.org/drawingml/2006/main">
              <a:ext uri="{FF2B5EF4-FFF2-40B4-BE49-F238E27FC236}">
                <a16:creationId xmlns:a16="http://schemas.microsoft.com/office/drawing/2014/main" id="{81149D2D-E412-4750-B221-012EF516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005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Synthesize</a:t>
            </a:r>
          </a:p>
        </p:txBody>
      </p:sp>
      <p:sp>
        <p:nvSpPr>
          <p:cNvPr id="22" name="timing-copy-4">
            <a:extLst xmlns:a="http://schemas.openxmlformats.org/drawingml/2006/main">
              <a:ext uri="{FF2B5EF4-FFF2-40B4-BE49-F238E27FC236}">
                <a16:creationId xmlns:a16="http://schemas.microsoft.com/office/drawing/2014/main" id="{263D2148-4116-4B8E-9511-A2FDEF44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005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Create one slide: article, replication, catch.</a:t>
            </a:r>
          </a:p>
        </p:txBody>
      </p:sp>
      <p:sp>
        <p:nvSpPr>
          <p:cNvPr id="23" name="rule-184-514">
            <a:extLst xmlns:a="http://schemas.openxmlformats.org/drawingml/2006/main">
              <a:ext uri="{FF2B5EF4-FFF2-40B4-BE49-F238E27FC236}">
                <a16:creationId xmlns:a16="http://schemas.microsoft.com/office/drawing/2014/main" id="{63BACDA5-6612-4527-8BB5-FDCCD180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958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iming-time-5">
            <a:extLst xmlns:a="http://schemas.openxmlformats.org/drawingml/2006/main">
              <a:ext uri="{FF2B5EF4-FFF2-40B4-BE49-F238E27FC236}">
                <a16:creationId xmlns:a16="http://schemas.microsoft.com/office/drawing/2014/main" id="{C8A8C758-BE19-471F-B6DC-2F2828F9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863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70–90</a:t>
            </a:r>
          </a:p>
        </p:txBody>
      </p:sp>
      <p:sp>
        <p:nvSpPr>
          <p:cNvPr id="25" name="timing-name-5">
            <a:extLst xmlns:a="http://schemas.openxmlformats.org/drawingml/2006/main">
              <a:ext uri="{FF2B5EF4-FFF2-40B4-BE49-F238E27FC236}">
                <a16:creationId xmlns:a16="http://schemas.microsoft.com/office/drawing/2014/main" id="{C787FCA1-CE24-49BF-8ABC-C282054F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86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Present</a:t>
            </a:r>
          </a:p>
        </p:txBody>
      </p:sp>
      <p:sp>
        <p:nvSpPr>
          <p:cNvPr id="26" name="timing-copy-5">
            <a:extLst xmlns:a="http://schemas.openxmlformats.org/drawingml/2006/main">
              <a:ext uri="{FF2B5EF4-FFF2-40B4-BE49-F238E27FC236}">
                <a16:creationId xmlns:a16="http://schemas.microsoft.com/office/drawing/2014/main" id="{6EA37E27-A322-4500-9DE5-75DE3D33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863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Two minutes per group; presenter chosen at random.</a:t>
            </a:r>
          </a:p>
        </p:txBody>
      </p:sp>
      <p:sp>
        <p:nvSpPr>
          <p:cNvPr id="2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4A02C54-81AD-423F-AA90-E08BF149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990F2BE-086A-4662-A1A4-5F25C24A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2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63B783B-7E69-44C8-A8D9-2643C7CA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3</a:t>
            </a:r>
          </a:p>
        </p:txBody>
      </p:sp>
    </p:spTree>
    <p:extLst>
      <p:ext uri="{BB962C8B-B14F-4D97-AF65-F5344CB8AC3E}">
        <p14:creationId xmlns:p14="http://schemas.microsoft.com/office/powerpoint/2010/main" val="10745671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18B84C79-4C26-4655-85DC-0B9456F8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START HERE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29A1CB-49D9-42B6-A316-7C36A79F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Open the Desktop clone in VS Codium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712379E-12D8-4B6B-BE0E-1794EF8B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actice-path">
            <a:extLst xmlns:a="http://schemas.openxmlformats.org/drawingml/2006/main">
              <a:ext uri="{FF2B5EF4-FFF2-40B4-BE49-F238E27FC236}">
                <a16:creationId xmlns:a16="http://schemas.microsoft.com/office/drawing/2014/main" id="{9D706356-1998-4373-AFC6-32AA09D5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27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Desktop/quantitative-methods</a:t>
            </a:r>
          </a:p>
        </p:txBody>
      </p:sp>
      <p:sp>
        <p:nvSpPr>
          <p:cNvPr id="5" name="practice-commands">
            <a:extLst xmlns:a="http://schemas.openxmlformats.org/drawingml/2006/main">
              <a:ext uri="{FF2B5EF4-FFF2-40B4-BE49-F238E27FC236}">
                <a16:creationId xmlns:a16="http://schemas.microsoft.com/office/drawing/2014/main" id="{2F09B6ED-81A7-4637-8F3F-950D8742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619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52400" rIns="19050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06-classification-logistic-and-penalised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session06_classification_demo.py</a:t>
            </a:r>
          </a:p>
        </p:txBody>
      </p:sp>
      <p:sp>
        <p:nvSpPr>
          <p:cNvPr id="6" name="practice-local">
            <a:extLst xmlns:a="http://schemas.openxmlformats.org/drawingml/2006/main">
              <a:ext uri="{FF2B5EF4-FFF2-40B4-BE49-F238E27FC236}">
                <a16:creationId xmlns:a16="http://schemas.microsoft.com/office/drawing/2014/main" id="{68A13047-D0DB-4503-85C6-645F10FC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Package: 10.7910/DVN/ONOFS7. Keep the article result and your comparison separate.</a:t>
            </a:r>
          </a:p>
        </p:txBody>
      </p:sp>
      <p:cxnSp>
        <p:nvCxnSpPr>
          <p:cNvPr id="24" name="workflow-edge-0"/>
          <p:cNvCxnSpPr/>
          <p:nvPr/>
        </p:nvCxnSpPr>
        <p:spPr>
          <a:xfrm xmlns:a="http://schemas.openxmlformats.org/drawingml/2006/main">
            <a:off x="8489950" y="355282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5" name="workflow-edge-1"/>
          <p:cNvCxnSpPr/>
          <p:nvPr/>
        </p:nvCxnSpPr>
        <p:spPr>
          <a:xfrm xmlns:a="http://schemas.openxmlformats.org/drawingml/2006/main">
            <a:off x="9912350" y="355282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9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1B6ECCB3-7BB8-4712-B652-DEF056C7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FF368FF9-6199-4371-944E-F5782CF3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Article result</a:t>
            </a:r>
          </a:p>
        </p:txBody>
      </p:sp>
      <p:sp>
        <p:nvSpPr>
          <p:cNvPr id="11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6936BDCA-A642-470C-BBF7-C882C65E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234A3514-E022-4FC1-A8BF-3EADC097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Course demo</a:t>
            </a:r>
          </a:p>
        </p:txBody>
      </p:sp>
      <p:sp>
        <p:nvSpPr>
          <p:cNvPr id="13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AB5E9F47-BB33-4A23-B507-B5598127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8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61E9642B-03D2-46F9-A468-E5E17517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0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Your replication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21D05A8-3B26-4FDC-A34E-F5551174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C47DFBC-132A-45B5-8077-10E011D6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F987169-005C-4B0E-949D-FF1F14CF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4</a:t>
            </a:r>
          </a:p>
        </p:txBody>
      </p:sp>
    </p:spTree>
    <p:extLst>
      <p:ext uri="{BB962C8B-B14F-4D97-AF65-F5344CB8AC3E}">
        <p14:creationId xmlns:p14="http://schemas.microsoft.com/office/powerpoint/2010/main" val="16418356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2A9F3A21-ABE7-4A54-A44D-2313D72A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WORK SEQUENCE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00CA29-9739-40DE-80E9-C0049A1D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Complete all five moves before presenting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1B9D27A8-B0A8-43AF-8028-568E5C7A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ask-label-0">
            <a:extLst xmlns:a="http://schemas.openxmlformats.org/drawingml/2006/main">
              <a:ext uri="{FF2B5EF4-FFF2-40B4-BE49-F238E27FC236}">
                <a16:creationId xmlns:a16="http://schemas.microsoft.com/office/drawing/2014/main" id="{57A28BBA-60CE-4D2C-8322-54143239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1</a:t>
            </a:r>
          </a:p>
        </p:txBody>
      </p:sp>
      <p:sp>
        <p:nvSpPr>
          <p:cNvPr id="5" name="task-body-0">
            <a:extLst xmlns:a="http://schemas.openxmlformats.org/drawingml/2006/main">
              <a:ext uri="{FF2B5EF4-FFF2-40B4-BE49-F238E27FC236}">
                <a16:creationId xmlns:a16="http://schemas.microsoft.com/office/drawing/2014/main" id="{C5EBF303-5831-4592-8600-3D0B19A2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097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Identify the classes and fold design</a:t>
            </a:r>
          </a:p>
        </p:txBody>
      </p:sp>
      <p:sp>
        <p:nvSpPr>
          <p:cNvPr id="6" name="rule-196-228">
            <a:extLst xmlns:a="http://schemas.openxmlformats.org/drawingml/2006/main">
              <a:ext uri="{FF2B5EF4-FFF2-40B4-BE49-F238E27FC236}">
                <a16:creationId xmlns:a16="http://schemas.microsoft.com/office/drawing/2014/main" id="{D58EE43D-AE67-453A-B784-828323CF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717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sk-label-1">
            <a:extLst xmlns:a="http://schemas.openxmlformats.org/drawingml/2006/main">
              <a:ext uri="{FF2B5EF4-FFF2-40B4-BE49-F238E27FC236}">
                <a16:creationId xmlns:a16="http://schemas.microsoft.com/office/drawing/2014/main" id="{30964B6A-6EDF-48C3-B59B-C96A937A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2</a:t>
            </a:r>
          </a:p>
        </p:txBody>
      </p:sp>
      <p:sp>
        <p:nvSpPr>
          <p:cNvPr id="8" name="task-body-1">
            <a:extLst xmlns:a="http://schemas.openxmlformats.org/drawingml/2006/main">
              <a:ext uri="{FF2B5EF4-FFF2-40B4-BE49-F238E27FC236}">
                <a16:creationId xmlns:a16="http://schemas.microsoft.com/office/drawing/2014/main" id="{8CEC4A55-065E-47FF-8BE4-44CA72C2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098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one classification result</a:t>
            </a:r>
          </a:p>
        </p:txBody>
      </p:sp>
      <p:sp>
        <p:nvSpPr>
          <p:cNvPr id="9" name="rule-196-312">
            <a:extLst xmlns:a="http://schemas.openxmlformats.org/drawingml/2006/main">
              <a:ext uri="{FF2B5EF4-FFF2-40B4-BE49-F238E27FC236}">
                <a16:creationId xmlns:a16="http://schemas.microsoft.com/office/drawing/2014/main" id="{A89CD5B6-EC25-4AAD-8F49-CC20C7D0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9718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-label-2">
            <a:extLst xmlns:a="http://schemas.openxmlformats.org/drawingml/2006/main">
              <a:ext uri="{FF2B5EF4-FFF2-40B4-BE49-F238E27FC236}">
                <a16:creationId xmlns:a16="http://schemas.microsoft.com/office/drawing/2014/main" id="{FAEE0A09-84BD-4010-9C22-BC6B75D3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3</a:t>
            </a:r>
          </a:p>
        </p:txBody>
      </p:sp>
      <p:sp>
        <p:nvSpPr>
          <p:cNvPr id="11" name="task-body-2">
            <a:extLst xmlns:a="http://schemas.openxmlformats.org/drawingml/2006/main">
              <a:ext uri="{FF2B5EF4-FFF2-40B4-BE49-F238E27FC236}">
                <a16:creationId xmlns:a16="http://schemas.microsoft.com/office/drawing/2014/main" id="{3940FFE6-F6B5-4DB2-AE26-F98721CC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099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Check calibration and class imbalance</a:t>
            </a:r>
          </a:p>
        </p:txBody>
      </p:sp>
      <p:sp>
        <p:nvSpPr>
          <p:cNvPr id="12" name="rule-196-396">
            <a:extLst xmlns:a="http://schemas.openxmlformats.org/drawingml/2006/main">
              <a:ext uri="{FF2B5EF4-FFF2-40B4-BE49-F238E27FC236}">
                <a16:creationId xmlns:a16="http://schemas.microsoft.com/office/drawing/2014/main" id="{9B272DB6-B872-45EC-81A1-2F6610B8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719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sk-label-3">
            <a:extLst xmlns:a="http://schemas.openxmlformats.org/drawingml/2006/main">
              <a:ext uri="{FF2B5EF4-FFF2-40B4-BE49-F238E27FC236}">
                <a16:creationId xmlns:a16="http://schemas.microsoft.com/office/drawing/2014/main" id="{936BFEBF-D444-408B-AF3C-3C92FEEC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STEP 4</a:t>
            </a:r>
          </a:p>
        </p:txBody>
      </p:sp>
      <p:sp>
        <p:nvSpPr>
          <p:cNvPr id="14" name="task-body-3">
            <a:extLst xmlns:a="http://schemas.openxmlformats.org/drawingml/2006/main">
              <a:ext uri="{FF2B5EF4-FFF2-40B4-BE49-F238E27FC236}">
                <a16:creationId xmlns:a16="http://schemas.microsoft.com/office/drawing/2014/main" id="{DAC4DA9D-51E9-446F-9269-4E6AD6D4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100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a cost-based threshold or action rule</a:t>
            </a:r>
          </a:p>
        </p:txBody>
      </p:sp>
      <p:sp>
        <p:nvSpPr>
          <p:cNvPr id="15" name="rule-196-480">
            <a:extLst xmlns:a="http://schemas.openxmlformats.org/drawingml/2006/main">
              <a:ext uri="{FF2B5EF4-FFF2-40B4-BE49-F238E27FC236}">
                <a16:creationId xmlns:a16="http://schemas.microsoft.com/office/drawing/2014/main" id="{02BE01C4-C9B4-4C46-A7C6-37E9F1A4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720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sk-label-4">
            <a:extLst xmlns:a="http://schemas.openxmlformats.org/drawingml/2006/main">
              <a:ext uri="{FF2B5EF4-FFF2-40B4-BE49-F238E27FC236}">
                <a16:creationId xmlns:a16="http://schemas.microsoft.com/office/drawing/2014/main" id="{1A20C76B-32DC-4004-914A-721A5F71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5</a:t>
            </a:r>
          </a:p>
        </p:txBody>
      </p:sp>
      <p:sp>
        <p:nvSpPr>
          <p:cNvPr id="17" name="task-body-4">
            <a:extLst xmlns:a="http://schemas.openxmlformats.org/drawingml/2006/main">
              <a:ext uri="{FF2B5EF4-FFF2-40B4-BE49-F238E27FC236}">
                <a16:creationId xmlns:a16="http://schemas.microsoft.com/office/drawing/2014/main" id="{2D04E4B2-C255-4F0E-810B-5EE6E1B0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101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it with the default rule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933E6DE-2EFB-4C29-B21B-099BB823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95E2312-EC2E-4556-9E4E-14BAFC0F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E25F455-4FCA-4A84-B176-CC78DEC9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5</a:t>
            </a:r>
          </a:p>
        </p:txBody>
      </p:sp>
    </p:spTree>
    <p:extLst>
      <p:ext uri="{BB962C8B-B14F-4D97-AF65-F5344CB8AC3E}">
        <p14:creationId xmlns:p14="http://schemas.microsoft.com/office/powerpoint/2010/main" val="9566630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eak-kicker">
            <a:extLst xmlns:a="http://schemas.openxmlformats.org/drawingml/2006/main">
              <a:ext uri="{FF2B5EF4-FFF2-40B4-BE49-F238E27FC236}">
                <a16:creationId xmlns:a16="http://schemas.microsoft.com/office/drawing/2014/main" id="{FA180F4F-3F09-4818-93EB-BF02AFC2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PRACTICE · BREAK IT DELIBERATELY</a:t>
            </a:r>
          </a:p>
        </p:txBody>
      </p:sp>
      <p:sp>
        <p:nvSpPr>
          <p:cNvPr id="2" name="break-title">
            <a:extLst xmlns:a="http://schemas.openxmlformats.org/drawingml/2006/main">
              <a:ext uri="{FF2B5EF4-FFF2-40B4-BE49-F238E27FC236}">
                <a16:creationId xmlns:a16="http://schemas.microsoft.com/office/drawing/2014/main" id="{933ABD23-44D0-4D9A-8F76-B9730E1F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 a 3% event, predicting ‘no’ for everyone gives 97% accuracy and zero usefulness.</a:t>
            </a:r>
          </a:p>
        </p:txBody>
      </p:sp>
      <p:sp>
        <p:nvSpPr>
          <p:cNvPr id="3" name="break-instruction">
            <a:extLst xmlns:a="http://schemas.openxmlformats.org/drawingml/2006/main">
              <a:ext uri="{FF2B5EF4-FFF2-40B4-BE49-F238E27FC236}">
                <a16:creationId xmlns:a16="http://schemas.microsoft.com/office/drawing/2014/main" id="{52159C01-A6BE-42CD-BD9A-6C9906F6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Create the failure. Save the before/after evidence. Explain the mechanism without blaming the software.</a:t>
            </a:r>
          </a:p>
        </p:txBody>
      </p:sp>
      <p:sp>
        <p:nvSpPr>
          <p:cNvPr id="4" name="break-llm">
            <a:extLst xmlns:a="http://schemas.openxmlformats.org/drawingml/2006/main">
              <a:ext uri="{FF2B5EF4-FFF2-40B4-BE49-F238E27FC236}">
                <a16:creationId xmlns:a16="http://schemas.microsoft.com/office/drawing/2014/main" id="{31058CE1-EFDB-45AB-879D-D6C2DEE3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Required: record one LLM claim you found wrong, unverifiable, or misleading—and how you checked it.</a:t>
            </a:r>
          </a:p>
        </p:txBody>
      </p:sp>
      <p:sp>
        <p:nvSpPr>
          <p:cNvPr id="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85F47E1-BC0F-4FE5-ABB9-9B15A1CA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E06E214-9651-4002-9116-5A4AB2B0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BABB8C6-7F55-4A0D-BE9C-0C64B96F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Practice · 6</a:t>
            </a:r>
          </a:p>
        </p:txBody>
      </p:sp>
    </p:spTree>
    <p:extLst>
      <p:ext uri="{BB962C8B-B14F-4D97-AF65-F5344CB8AC3E}">
        <p14:creationId xmlns:p14="http://schemas.microsoft.com/office/powerpoint/2010/main" val="12976123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D21DE11C-429C-47D3-8A2C-2E767302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GROUP PRESENTATION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933E41-48EA-4413-9674-78FABF62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slide. Two minutes. Random presenter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79FBDED-906E-4758-82FE-81BD9560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port-label-0">
            <a:extLst xmlns:a="http://schemas.openxmlformats.org/drawingml/2006/main">
              <a:ext uri="{FF2B5EF4-FFF2-40B4-BE49-F238E27FC236}">
                <a16:creationId xmlns:a16="http://schemas.microsoft.com/office/drawing/2014/main" id="{BAB47F24-FF80-4A75-858E-E844ACFD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ARTICLE RESULT</a:t>
            </a:r>
          </a:p>
        </p:txBody>
      </p:sp>
      <p:sp>
        <p:nvSpPr>
          <p:cNvPr id="5" name="report-body-0">
            <a:extLst xmlns:a="http://schemas.openxmlformats.org/drawingml/2006/main">
              <a:ext uri="{FF2B5EF4-FFF2-40B4-BE49-F238E27FC236}">
                <a16:creationId xmlns:a16="http://schemas.microsoft.com/office/drawing/2014/main" id="{12AF4F9D-ED21-4A0E-8D9E-EDADFC6E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954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published estimate or figure your group targeted.</a:t>
            </a:r>
          </a:p>
        </p:txBody>
      </p:sp>
      <p:sp>
        <p:nvSpPr>
          <p:cNvPr id="6" name="rule-278-272">
            <a:extLst xmlns:a="http://schemas.openxmlformats.org/drawingml/2006/main">
              <a:ext uri="{FF2B5EF4-FFF2-40B4-BE49-F238E27FC236}">
                <a16:creationId xmlns:a16="http://schemas.microsoft.com/office/drawing/2014/main" id="{B46909E4-4EAD-4B2B-973E-2CBA6441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908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port-label-1">
            <a:extLst xmlns:a="http://schemas.openxmlformats.org/drawingml/2006/main">
              <a:ext uri="{FF2B5EF4-FFF2-40B4-BE49-F238E27FC236}">
                <a16:creationId xmlns:a16="http://schemas.microsoft.com/office/drawing/2014/main" id="{9416873A-8B73-402D-B919-62F51B37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OUR REPLICATION</a:t>
            </a:r>
          </a:p>
        </p:txBody>
      </p:sp>
      <p:sp>
        <p:nvSpPr>
          <p:cNvPr id="8" name="report-body-1">
            <a:extLst xmlns:a="http://schemas.openxmlformats.org/drawingml/2006/main">
              <a:ext uri="{FF2B5EF4-FFF2-40B4-BE49-F238E27FC236}">
                <a16:creationId xmlns:a16="http://schemas.microsoft.com/office/drawing/2014/main" id="{FF46200F-C142-4BC8-99AC-47214735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52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matched, what differed, and the comparison you added.</a:t>
            </a:r>
          </a:p>
        </p:txBody>
      </p:sp>
      <p:sp>
        <p:nvSpPr>
          <p:cNvPr id="9" name="rule-278-404">
            <a:extLst xmlns:a="http://schemas.openxmlformats.org/drawingml/2006/main">
              <a:ext uri="{FF2B5EF4-FFF2-40B4-BE49-F238E27FC236}">
                <a16:creationId xmlns:a16="http://schemas.microsoft.com/office/drawing/2014/main" id="{5A23E2F2-A062-47D4-B726-31C12FE8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481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port-label-2">
            <a:extLst xmlns:a="http://schemas.openxmlformats.org/drawingml/2006/main">
              <a:ext uri="{FF2B5EF4-FFF2-40B4-BE49-F238E27FC236}">
                <a16:creationId xmlns:a16="http://schemas.microsoft.com/office/drawing/2014/main" id="{000F7E9F-5816-430A-9A27-19CCD656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CATCH</a:t>
            </a:r>
          </a:p>
        </p:txBody>
      </p:sp>
      <p:sp>
        <p:nvSpPr>
          <p:cNvPr id="11" name="report-body-2">
            <a:extLst xmlns:a="http://schemas.openxmlformats.org/drawingml/2006/main">
              <a:ext uri="{FF2B5EF4-FFF2-40B4-BE49-F238E27FC236}">
                <a16:creationId xmlns:a16="http://schemas.microsoft.com/office/drawing/2014/main" id="{747F8354-F30D-4979-8FFC-03E2EE47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100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assumption, data choice, or limitation that changes the claim.</a:t>
            </a:r>
          </a:p>
        </p:txBody>
      </p:sp>
      <p:sp>
        <p:nvSpPr>
          <p:cNvPr id="12" name="rule-278-536">
            <a:extLst xmlns:a="http://schemas.openxmlformats.org/drawingml/2006/main">
              <a:ext uri="{FF2B5EF4-FFF2-40B4-BE49-F238E27FC236}">
                <a16:creationId xmlns:a16="http://schemas.microsoft.com/office/drawing/2014/main" id="{F79A83CD-8480-4A4B-9067-EED74BA5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port-rule">
            <a:extLst xmlns:a="http://schemas.openxmlformats.org/drawingml/2006/main">
              <a:ext uri="{FF2B5EF4-FFF2-40B4-BE49-F238E27FC236}">
                <a16:creationId xmlns:a16="http://schemas.microsoft.com/office/drawing/2014/main" id="{2A48BF64-0186-41C4-8674-A97F526E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Finish the presentation in class. Nothing carries over as required homework.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6A6D261-DECF-4E13-8E7A-A8CF38AA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EDFC1C7-C5B1-43A1-86FB-17D6F95C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49393D9-BB25-42FC-B292-49F7D6E8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7</a:t>
            </a:r>
          </a:p>
        </p:txBody>
      </p:sp>
    </p:spTree>
    <p:extLst>
      <p:ext uri="{BB962C8B-B14F-4D97-AF65-F5344CB8AC3E}">
        <p14:creationId xmlns:p14="http://schemas.microsoft.com/office/powerpoint/2010/main" val="10016777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lab-kicker">
            <a:extLst xmlns:a="http://schemas.openxmlformats.org/drawingml/2006/main">
              <a:ext uri="{FF2B5EF4-FFF2-40B4-BE49-F238E27FC236}">
                <a16:creationId xmlns:a16="http://schemas.microsoft.com/office/drawing/2014/main" id="{796A050A-A72F-4EAD-8746-2AC94483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AFTER CLASS · OPTIONAL PARTICIPATION LAB</a:t>
            </a:r>
          </a:p>
        </p:txBody>
      </p:sp>
      <p:sp>
        <p:nvSpPr>
          <p:cNvPr id="2" name="lab-title">
            <a:extLst xmlns:a="http://schemas.openxmlformats.org/drawingml/2006/main">
              <a:ext uri="{FF2B5EF4-FFF2-40B4-BE49-F238E27FC236}">
                <a16:creationId xmlns:a16="http://schemas.microsoft.com/office/drawing/2014/main" id="{A1133AEE-F09C-4038-9906-DE5C352F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Class ends with the group presentations.</a:t>
            </a:r>
          </a:p>
        </p:txBody>
      </p:sp>
      <p:sp>
        <p:nvSpPr>
          <p:cNvPr id="3" name="lab-availability">
            <a:extLst xmlns:a="http://schemas.openxmlformats.org/drawingml/2006/main">
              <a:ext uri="{FF2B5EF4-FFF2-40B4-BE49-F238E27FC236}">
                <a16:creationId xmlns:a16="http://schemas.microsoft.com/office/drawing/2014/main" id="{E20BD8AC-F0AA-4D18-9099-D08725AB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QMIB Lab 06 is a short at-home knowledge check.</a:t>
            </a:r>
          </a:p>
        </p:txBody>
      </p:sp>
      <p:sp>
        <p:nvSpPr>
          <p:cNvPr id="4" name="lab-policy">
            <a:extLst xmlns:a="http://schemas.openxmlformats.org/drawingml/2006/main">
              <a:ext uri="{FF2B5EF4-FFF2-40B4-BE49-F238E27FC236}">
                <a16:creationId xmlns:a16="http://schemas.microsoft.com/office/drawing/2014/main" id="{18FABCF4-CA77-4E04-9089-F5765A2E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6572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lab is optional. A completed app report counts toward participation; it is separate from the next pre-session reading and data preparation.</a:t>
            </a:r>
          </a:p>
        </p:txBody>
      </p:sp>
      <p:sp>
        <p:nvSpPr>
          <p:cNvPr id="5" name="lab-steps-bg">
            <a:extLst xmlns:a="http://schemas.openxmlformats.org/drawingml/2006/main">
              <a:ext uri="{FF2B5EF4-FFF2-40B4-BE49-F238E27FC236}">
                <a16:creationId xmlns:a16="http://schemas.microsoft.com/office/drawing/2014/main" id="{95EE39BF-E051-4329-92C3-1BDE8D3D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71700"/>
            <a:ext cx="36766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E2A34"/>
          </a:solidFill>
          <a:ln xmlns:a="http://schemas.openxmlformats.org/drawingml/2006/main" w="9525">
            <a:solidFill>
              <a:srgbClr val="3A4652"/>
            </a:solidFill>
            <a:prstDash val="solid"/>
          </a:ln>
        </p:spPr>
      </p:sp>
      <p:sp>
        <p:nvSpPr>
          <p:cNvPr id="6" name="lab-steps-title">
            <a:extLst xmlns:a="http://schemas.openxmlformats.org/drawingml/2006/main">
              <a:ext uri="{FF2B5EF4-FFF2-40B4-BE49-F238E27FC236}">
                <a16:creationId xmlns:a16="http://schemas.microsoft.com/office/drawing/2014/main" id="{1E6D4D8B-6B46-4FDE-BD4D-CBDFB7A6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336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If you choose the lab</a:t>
            </a:r>
          </a:p>
        </p:txBody>
      </p:sp>
      <p:sp>
        <p:nvSpPr>
          <p:cNvPr id="7" name="lab-step-num-0">
            <a:extLst xmlns:a="http://schemas.openxmlformats.org/drawingml/2006/main">
              <a:ext uri="{FF2B5EF4-FFF2-40B4-BE49-F238E27FC236}">
                <a16:creationId xmlns:a16="http://schemas.microsoft.com/office/drawing/2014/main" id="{B304C723-4DD4-478F-B0DC-C672BD51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813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lab-step-0">
            <a:extLst xmlns:a="http://schemas.openxmlformats.org/drawingml/2006/main">
              <a:ext uri="{FF2B5EF4-FFF2-40B4-BE49-F238E27FC236}">
                <a16:creationId xmlns:a16="http://schemas.microsoft.com/office/drawing/2014/main" id="{E1653C13-7BD1-4830-9FBF-23AF0B03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 the session check in the web app</a:t>
            </a:r>
          </a:p>
        </p:txBody>
      </p:sp>
      <p:sp>
        <p:nvSpPr>
          <p:cNvPr id="9" name="lab-step-num-1">
            <a:extLst xmlns:a="http://schemas.openxmlformats.org/drawingml/2006/main">
              <a:ext uri="{FF2B5EF4-FFF2-40B4-BE49-F238E27FC236}">
                <a16:creationId xmlns:a16="http://schemas.microsoft.com/office/drawing/2014/main" id="{3D723D5A-B100-494E-BBFF-CE316D97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766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lab-step-1">
            <a:extLst xmlns:a="http://schemas.openxmlformats.org/drawingml/2006/main">
              <a:ext uri="{FF2B5EF4-FFF2-40B4-BE49-F238E27FC236}">
                <a16:creationId xmlns:a16="http://schemas.microsoft.com/office/drawing/2014/main" id="{EBC3A85B-9A4A-4B1E-BC97-C737A360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385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Answer once without your notes</a:t>
            </a:r>
          </a:p>
        </p:txBody>
      </p:sp>
      <p:sp>
        <p:nvSpPr>
          <p:cNvPr id="11" name="lab-step-num-2">
            <a:extLst xmlns:a="http://schemas.openxmlformats.org/drawingml/2006/main">
              <a:ext uri="{FF2B5EF4-FFF2-40B4-BE49-F238E27FC236}">
                <a16:creationId xmlns:a16="http://schemas.microsoft.com/office/drawing/2014/main" id="{F8000F99-22BD-45F1-B83F-0711A721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lab-step-2">
            <a:extLst xmlns:a="http://schemas.openxmlformats.org/drawingml/2006/main">
              <a:ext uri="{FF2B5EF4-FFF2-40B4-BE49-F238E27FC236}">
                <a16:creationId xmlns:a16="http://schemas.microsoft.com/office/drawing/2014/main" id="{92D17F7A-A87F-419A-8200-8CE738BF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338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0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Retry and explain missed concepts</a:t>
            </a:r>
          </a:p>
        </p:txBody>
      </p:sp>
      <p:sp>
        <p:nvSpPr>
          <p:cNvPr id="13" name="lab-step-num-3">
            <a:extLst xmlns:a="http://schemas.openxmlformats.org/drawingml/2006/main">
              <a:ext uri="{FF2B5EF4-FFF2-40B4-BE49-F238E27FC236}">
                <a16:creationId xmlns:a16="http://schemas.microsoft.com/office/drawing/2014/main" id="{C458000B-EDFC-436D-AEA9-AFDFFF8F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67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4" name="lab-step-3">
            <a:extLst xmlns:a="http://schemas.openxmlformats.org/drawingml/2006/main">
              <a:ext uri="{FF2B5EF4-FFF2-40B4-BE49-F238E27FC236}">
                <a16:creationId xmlns:a16="http://schemas.microsoft.com/office/drawing/2014/main" id="{5D297BEE-35F6-4B95-9BA2-6A722A13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291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Save and submit the report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5B02FB8-23CA-4BEC-A36D-D45CE065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0446265-E88E-4631-9335-12984FF6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11B31AA-5BE4-4FCE-9F85-3DC1DF6E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Practice · 8</a:t>
            </a:r>
          </a:p>
        </p:txBody>
      </p:sp>
    </p:spTree>
    <p:extLst>
      <p:ext uri="{BB962C8B-B14F-4D97-AF65-F5344CB8AC3E}">
        <p14:creationId xmlns:p14="http://schemas.microsoft.com/office/powerpoint/2010/main" val="17016425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Thierry Warin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Presentation</dc:title>
  <dcterms:created xsi:type="dcterms:W3CDTF">2026-08-23T21:43:12.2060000Z</dcterms:created>
  <dcterms:modified xsi:type="dcterms:W3CDTF">2026-08-23T21:43:12.2060000Z</dcterms:modified>
</coreProperties>
</file>