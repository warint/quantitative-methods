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0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2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3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4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5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6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7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8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19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20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21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22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23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57db76cf694421" /><Relationship Type="http://schemas.openxmlformats.org/officeDocument/2006/relationships/extended-properties" Target="/docProps/app.xml" Id="Rfc4e3c18c1c84881" /><Relationship Type="http://schemas.openxmlformats.org/officeDocument/2006/relationships/officeDocument" Target="/ppt/presentation.xml" Id="R5f3f5b644144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3b990fac944930"/>
  </p:sldMasterIdLst>
  <p:notesMasterIdLst>
    <p:notesMasterId xmlns:r="http://schemas.openxmlformats.org/officeDocument/2006/relationships" r:id="R701b1fe7ca2f4406"/>
  </p:notesMasterIdLst>
  <p:sldIdLst>
    <p:sldId xmlns:r="http://schemas.openxmlformats.org/officeDocument/2006/relationships" id="256" r:id="R5a577eca4676495a"/>
    <p:sldId xmlns:r="http://schemas.openxmlformats.org/officeDocument/2006/relationships" id="257" r:id="R03c1fda841ef4b76"/>
    <p:sldId xmlns:r="http://schemas.openxmlformats.org/officeDocument/2006/relationships" id="258" r:id="R0e741ea039ca481f"/>
    <p:sldId xmlns:r="http://schemas.openxmlformats.org/officeDocument/2006/relationships" id="259" r:id="R90716ef1d422401e"/>
    <p:sldId xmlns:r="http://schemas.openxmlformats.org/officeDocument/2006/relationships" id="260" r:id="Rcec473ee8ed2420f"/>
    <p:sldId xmlns:r="http://schemas.openxmlformats.org/officeDocument/2006/relationships" id="261" r:id="R10dfc16cd08d4058"/>
    <p:sldId xmlns:r="http://schemas.openxmlformats.org/officeDocument/2006/relationships" id="262" r:id="R59b8a06d1bc24ab6"/>
    <p:sldId xmlns:r="http://schemas.openxmlformats.org/officeDocument/2006/relationships" id="263" r:id="Rd3318e3e7e7e4e79"/>
    <p:sldId xmlns:r="http://schemas.openxmlformats.org/officeDocument/2006/relationships" id="264" r:id="Rc3f331fb3fa64a17"/>
    <p:sldId xmlns:r="http://schemas.openxmlformats.org/officeDocument/2006/relationships" id="265" r:id="R0d1cdc6c07e44d86"/>
    <p:sldId xmlns:r="http://schemas.openxmlformats.org/officeDocument/2006/relationships" id="266" r:id="Ra5104b73080a4837"/>
    <p:sldId xmlns:r="http://schemas.openxmlformats.org/officeDocument/2006/relationships" id="267" r:id="Ra593aef76dad492b"/>
    <p:sldId xmlns:r="http://schemas.openxmlformats.org/officeDocument/2006/relationships" id="268" r:id="R8ec4055b4fd24866"/>
    <p:sldId xmlns:r="http://schemas.openxmlformats.org/officeDocument/2006/relationships" id="269" r:id="R8def6f92f3934bb7"/>
    <p:sldId xmlns:r="http://schemas.openxmlformats.org/officeDocument/2006/relationships" id="270" r:id="R8845820675074961"/>
    <p:sldId xmlns:r="http://schemas.openxmlformats.org/officeDocument/2006/relationships" id="271" r:id="Rd36ac8ddab984e08"/>
    <p:sldId xmlns:r="http://schemas.openxmlformats.org/officeDocument/2006/relationships" id="272" r:id="R12027e215d5941ef"/>
    <p:sldId xmlns:r="http://schemas.openxmlformats.org/officeDocument/2006/relationships" id="273" r:id="R26a9a93353f34a55"/>
    <p:sldId xmlns:r="http://schemas.openxmlformats.org/officeDocument/2006/relationships" id="274" r:id="R2b9da17cf69442e1"/>
    <p:sldId xmlns:r="http://schemas.openxmlformats.org/officeDocument/2006/relationships" id="275" r:id="R1469b9816beb4d88"/>
    <p:sldId xmlns:r="http://schemas.openxmlformats.org/officeDocument/2006/relationships" id="276" r:id="R8d1ef9d4edb74ae6"/>
    <p:sldId xmlns:r="http://schemas.openxmlformats.org/officeDocument/2006/relationships" id="277" r:id="R4b0374d0e87940fd"/>
    <p:sldId xmlns:r="http://schemas.openxmlformats.org/officeDocument/2006/relationships" id="278" r:id="R39198aee0eba46df"/>
    <p:sldId xmlns:r="http://schemas.openxmlformats.org/officeDocument/2006/relationships" id="279" r:id="R35948bedb5424857"/>
    <p:sldId xmlns:r="http://schemas.openxmlformats.org/officeDocument/2006/relationships" id="280" r:id="R2c63ac68ec554fba"/>
    <p:sldId xmlns:r="http://schemas.openxmlformats.org/officeDocument/2006/relationships" id="281" r:id="Rf4534391df654a02"/>
    <p:sldId xmlns:r="http://schemas.openxmlformats.org/officeDocument/2006/relationships" id="282" r:id="R9afbaf19781f495f"/>
    <p:sldId xmlns:r="http://schemas.openxmlformats.org/officeDocument/2006/relationships" id="283" r:id="R273d90cea4d14823"/>
    <p:sldId xmlns:r="http://schemas.openxmlformats.org/officeDocument/2006/relationships" id="284" r:id="R531e52b78a154387"/>
    <p:sldId xmlns:r="http://schemas.openxmlformats.org/officeDocument/2006/relationships" id="285" r:id="R9ef236c559c542ac"/>
    <p:sldId xmlns:r="http://schemas.openxmlformats.org/officeDocument/2006/relationships" id="286" r:id="Rab69ff172c574add"/>
    <p:sldId xmlns:r="http://schemas.openxmlformats.org/officeDocument/2006/relationships" id="287" r:id="Rc9eb114abd1549bb"/>
    <p:sldId xmlns:r="http://schemas.openxmlformats.org/officeDocument/2006/relationships" id="288" r:id="Rf8a964db9012452f"/>
    <p:sldId xmlns:r="http://schemas.openxmlformats.org/officeDocument/2006/relationships" id="289" r:id="R4f08723d82fb45ba"/>
    <p:sldId xmlns:r="http://schemas.openxmlformats.org/officeDocument/2006/relationships" id="290" r:id="Rbc20a61b3de54513"/>
    <p:sldId xmlns:r="http://schemas.openxmlformats.org/officeDocument/2006/relationships" id="291" r:id="R96b2cd27e1d1421d"/>
    <p:sldId xmlns:r="http://schemas.openxmlformats.org/officeDocument/2006/relationships" id="292" r:id="R10c4b1020991485d"/>
    <p:sldId xmlns:r="http://schemas.openxmlformats.org/officeDocument/2006/relationships" id="293" r:id="R90fb97e905b14c20"/>
    <p:sldId xmlns:r="http://schemas.openxmlformats.org/officeDocument/2006/relationships" id="294" r:id="Rce2e459e3c884afc"/>
    <p:sldId xmlns:r="http://schemas.openxmlformats.org/officeDocument/2006/relationships" id="295" r:id="R249e1993e77441d1"/>
    <p:sldId xmlns:r="http://schemas.openxmlformats.org/officeDocument/2006/relationships" id="296" r:id="R92fad5f2c194454f"/>
    <p:sldId xmlns:r="http://schemas.openxmlformats.org/officeDocument/2006/relationships" id="297" r:id="Rc5717dc5744d43c0"/>
    <p:sldId xmlns:r="http://schemas.openxmlformats.org/officeDocument/2006/relationships" id="298" r:id="R157761f5a62f422f"/>
    <p:sldId xmlns:r="http://schemas.openxmlformats.org/officeDocument/2006/relationships" id="299" r:id="Rb69e3562ff2c482e"/>
    <p:sldId xmlns:r="http://schemas.openxmlformats.org/officeDocument/2006/relationships" id="300" r:id="R32db937812dd4662"/>
    <p:sldId xmlns:r="http://schemas.openxmlformats.org/officeDocument/2006/relationships" id="301" r:id="Rac6b5736e8cf425b"/>
    <p:sldId xmlns:r="http://schemas.openxmlformats.org/officeDocument/2006/relationships" id="302" r:id="R83fbb47209094d15"/>
    <p:sldId xmlns:r="http://schemas.openxmlformats.org/officeDocument/2006/relationships" id="303" r:id="Rd9bcc2dcaf0844e4"/>
    <p:sldId xmlns:r="http://schemas.openxmlformats.org/officeDocument/2006/relationships" id="304" r:id="Ra413a4bcadcf41f9"/>
    <p:sldId xmlns:r="http://schemas.openxmlformats.org/officeDocument/2006/relationships" id="305" r:id="R52e18a7d3f704c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23817d5cfc41b9" /><Relationship Type="http://schemas.openxmlformats.org/officeDocument/2006/relationships/slideMaster" Target="/ppt/slideMasters/slideMaster1.xml" Id="R463b990fac944930" /><Relationship Type="http://schemas.openxmlformats.org/officeDocument/2006/relationships/notesMaster" Target="/ppt/notesMasters/notesMaster1.xml" Id="R701b1fe7ca2f4406" /><Relationship Type="http://schemas.openxmlformats.org/officeDocument/2006/relationships/presProps" Target="/ppt/presProps.xml" Id="R0513373290b94cc5" /><Relationship Type="http://schemas.openxmlformats.org/officeDocument/2006/relationships/tableStyles" Target="/ppt/tableStyles.xml" Id="Redad520c8edd4e0b" /><Relationship Type="http://schemas.openxmlformats.org/officeDocument/2006/relationships/slide" Target="/ppt/slides/slide1.xml" Id="R5a577eca4676495a" /><Relationship Type="http://schemas.openxmlformats.org/officeDocument/2006/relationships/slide" Target="/ppt/slides/slide2.xml" Id="R03c1fda841ef4b76" /><Relationship Type="http://schemas.openxmlformats.org/officeDocument/2006/relationships/slide" Target="/ppt/slides/slide3.xml" Id="R0e741ea039ca481f" /><Relationship Type="http://schemas.openxmlformats.org/officeDocument/2006/relationships/slide" Target="/ppt/slides/slide4.xml" Id="R90716ef1d422401e" /><Relationship Type="http://schemas.openxmlformats.org/officeDocument/2006/relationships/slide" Target="/ppt/slides/slide5.xml" Id="Rcec473ee8ed2420f" /><Relationship Type="http://schemas.openxmlformats.org/officeDocument/2006/relationships/slide" Target="/ppt/slides/slide6.xml" Id="R10dfc16cd08d4058" /><Relationship Type="http://schemas.openxmlformats.org/officeDocument/2006/relationships/slide" Target="/ppt/slides/slide7.xml" Id="R59b8a06d1bc24ab6" /><Relationship Type="http://schemas.openxmlformats.org/officeDocument/2006/relationships/slide" Target="/ppt/slides/slide8.xml" Id="Rd3318e3e7e7e4e79" /><Relationship Type="http://schemas.openxmlformats.org/officeDocument/2006/relationships/slide" Target="/ppt/slides/slide9.xml" Id="Rc3f331fb3fa64a17" /><Relationship Type="http://schemas.openxmlformats.org/officeDocument/2006/relationships/slide" Target="/ppt/slides/slide10.xml" Id="R0d1cdc6c07e44d86" /><Relationship Type="http://schemas.openxmlformats.org/officeDocument/2006/relationships/slide" Target="/ppt/slides/slide11.xml" Id="Ra5104b73080a4837" /><Relationship Type="http://schemas.openxmlformats.org/officeDocument/2006/relationships/slide" Target="/ppt/slides/slide12.xml" Id="Ra593aef76dad492b" /><Relationship Type="http://schemas.openxmlformats.org/officeDocument/2006/relationships/slide" Target="/ppt/slides/slide13.xml" Id="R8ec4055b4fd24866" /><Relationship Type="http://schemas.openxmlformats.org/officeDocument/2006/relationships/slide" Target="/ppt/slides/slide14.xml" Id="R8def6f92f3934bb7" /><Relationship Type="http://schemas.openxmlformats.org/officeDocument/2006/relationships/slide" Target="/ppt/slides/slide15.xml" Id="R8845820675074961" /><Relationship Type="http://schemas.openxmlformats.org/officeDocument/2006/relationships/slide" Target="/ppt/slides/slide16.xml" Id="Rd36ac8ddab984e08" /><Relationship Type="http://schemas.openxmlformats.org/officeDocument/2006/relationships/slide" Target="/ppt/slides/slide17.xml" Id="R12027e215d5941ef" /><Relationship Type="http://schemas.openxmlformats.org/officeDocument/2006/relationships/slide" Target="/ppt/slides/slide18.xml" Id="R26a9a93353f34a55" /><Relationship Type="http://schemas.openxmlformats.org/officeDocument/2006/relationships/slide" Target="/ppt/slides/slide19.xml" Id="R2b9da17cf69442e1" /><Relationship Type="http://schemas.openxmlformats.org/officeDocument/2006/relationships/slide" Target="/ppt/slides/slide20.xml" Id="R1469b9816beb4d88" /><Relationship Type="http://schemas.openxmlformats.org/officeDocument/2006/relationships/slide" Target="/ppt/slides/slide21.xml" Id="R8d1ef9d4edb74ae6" /><Relationship Type="http://schemas.openxmlformats.org/officeDocument/2006/relationships/slide" Target="/ppt/slides/slide22.xml" Id="R4b0374d0e87940fd" /><Relationship Type="http://schemas.openxmlformats.org/officeDocument/2006/relationships/slide" Target="/ppt/slides/slide23.xml" Id="R39198aee0eba46df" /><Relationship Type="http://schemas.openxmlformats.org/officeDocument/2006/relationships/slide" Target="/ppt/slides/slide24.xml" Id="R35948bedb5424857" /><Relationship Type="http://schemas.openxmlformats.org/officeDocument/2006/relationships/slide" Target="/ppt/slides/slide25.xml" Id="R2c63ac68ec554fba" /><Relationship Type="http://schemas.openxmlformats.org/officeDocument/2006/relationships/slide" Target="/ppt/slides/slide26.xml" Id="Rf4534391df654a02" /><Relationship Type="http://schemas.openxmlformats.org/officeDocument/2006/relationships/slide" Target="/ppt/slides/slide27.xml" Id="R9afbaf19781f495f" /><Relationship Type="http://schemas.openxmlformats.org/officeDocument/2006/relationships/slide" Target="/ppt/slides/slide28.xml" Id="R273d90cea4d14823" /><Relationship Type="http://schemas.openxmlformats.org/officeDocument/2006/relationships/slide" Target="/ppt/slides/slide29.xml" Id="R531e52b78a154387" /><Relationship Type="http://schemas.openxmlformats.org/officeDocument/2006/relationships/slide" Target="/ppt/slides/slide30.xml" Id="R9ef236c559c542ac" /><Relationship Type="http://schemas.openxmlformats.org/officeDocument/2006/relationships/slide" Target="/ppt/slides/slide31.xml" Id="Rab69ff172c574add" /><Relationship Type="http://schemas.openxmlformats.org/officeDocument/2006/relationships/slide" Target="/ppt/slides/slide32.xml" Id="Rc9eb114abd1549bb" /><Relationship Type="http://schemas.openxmlformats.org/officeDocument/2006/relationships/slide" Target="/ppt/slides/slide33.xml" Id="Rf8a964db9012452f" /><Relationship Type="http://schemas.openxmlformats.org/officeDocument/2006/relationships/slide" Target="/ppt/slides/slide34.xml" Id="R4f08723d82fb45ba" /><Relationship Type="http://schemas.openxmlformats.org/officeDocument/2006/relationships/slide" Target="/ppt/slides/slide35.xml" Id="Rbc20a61b3de54513" /><Relationship Type="http://schemas.openxmlformats.org/officeDocument/2006/relationships/slide" Target="/ppt/slides/slide36.xml" Id="R96b2cd27e1d1421d" /><Relationship Type="http://schemas.openxmlformats.org/officeDocument/2006/relationships/slide" Target="/ppt/slides/slide37.xml" Id="R10c4b1020991485d" /><Relationship Type="http://schemas.openxmlformats.org/officeDocument/2006/relationships/slide" Target="/ppt/slides/slide38.xml" Id="R90fb97e905b14c20" /><Relationship Type="http://schemas.openxmlformats.org/officeDocument/2006/relationships/slide" Target="/ppt/slides/slide39.xml" Id="Rce2e459e3c884afc" /><Relationship Type="http://schemas.openxmlformats.org/officeDocument/2006/relationships/slide" Target="/ppt/slides/slide40.xml" Id="R249e1993e77441d1" /><Relationship Type="http://schemas.openxmlformats.org/officeDocument/2006/relationships/slide" Target="/ppt/slides/slide41.xml" Id="R92fad5f2c194454f" /><Relationship Type="http://schemas.openxmlformats.org/officeDocument/2006/relationships/slide" Target="/ppt/slides/slide42.xml" Id="Rc5717dc5744d43c0" /><Relationship Type="http://schemas.openxmlformats.org/officeDocument/2006/relationships/slide" Target="/ppt/slides/slide43.xml" Id="R157761f5a62f422f" /><Relationship Type="http://schemas.openxmlformats.org/officeDocument/2006/relationships/slide" Target="/ppt/slides/slide44.xml" Id="Rb69e3562ff2c482e" /><Relationship Type="http://schemas.openxmlformats.org/officeDocument/2006/relationships/slide" Target="/ppt/slides/slide45.xml" Id="R32db937812dd4662" /><Relationship Type="http://schemas.openxmlformats.org/officeDocument/2006/relationships/slide" Target="/ppt/slides/slide46.xml" Id="Rac6b5736e8cf425b" /><Relationship Type="http://schemas.openxmlformats.org/officeDocument/2006/relationships/slide" Target="/ppt/slides/slide47.xml" Id="R83fbb47209094d15" /><Relationship Type="http://schemas.openxmlformats.org/officeDocument/2006/relationships/slide" Target="/ppt/slides/slide48.xml" Id="Rd9bcc2dcaf0844e4" /><Relationship Type="http://schemas.openxmlformats.org/officeDocument/2006/relationships/slide" Target="/ppt/slides/slide49.xml" Id="Ra413a4bcadcf41f9" /><Relationship Type="http://schemas.openxmlformats.org/officeDocument/2006/relationships/slide" Target="/ppt/slides/slide50.xml" Id="R52e18a7d3f70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e4e40b39b4e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7ed1292764228" /><Relationship Type="http://schemas.openxmlformats.org/officeDocument/2006/relationships/notesMaster" Target="/ppt/notesMasters/notesMaster1.xml" Id="R501bf995aa6b43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44d73090f42e7" /><Relationship Type="http://schemas.openxmlformats.org/officeDocument/2006/relationships/notesMaster" Target="/ppt/notesMasters/notesMaster1.xml" Id="Rafa295e9927a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9bf7df5524d59" /><Relationship Type="http://schemas.openxmlformats.org/officeDocument/2006/relationships/notesMaster" Target="/ppt/notesMasters/notesMaster1.xml" Id="R78e23d698b4f47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4d5d1490348e3" /><Relationship Type="http://schemas.openxmlformats.org/officeDocument/2006/relationships/notesMaster" Target="/ppt/notesMasters/notesMaster1.xml" Id="Rc75df09ef23743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9554b2497d437d" /><Relationship Type="http://schemas.openxmlformats.org/officeDocument/2006/relationships/notesMaster" Target="/ppt/notesMasters/notesMaster1.xml" Id="R5f59aa2274e846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3c2ece45604814" /><Relationship Type="http://schemas.openxmlformats.org/officeDocument/2006/relationships/notesMaster" Target="/ppt/notesMasters/notesMaster1.xml" Id="Rc389d7c251b24c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12c7223d454c43" /><Relationship Type="http://schemas.openxmlformats.org/officeDocument/2006/relationships/notesMaster" Target="/ppt/notesMasters/notesMaster1.xml" Id="R0ff3717f5c9d4c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942cc000964a9c" /><Relationship Type="http://schemas.openxmlformats.org/officeDocument/2006/relationships/notesMaster" Target="/ppt/notesMasters/notesMaster1.xml" Id="R047ddbf4c36342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34df983eaa4e73" /><Relationship Type="http://schemas.openxmlformats.org/officeDocument/2006/relationships/notesMaster" Target="/ppt/notesMasters/notesMaster1.xml" Id="R8b4f955b13e645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9c03963253495c" /><Relationship Type="http://schemas.openxmlformats.org/officeDocument/2006/relationships/notesMaster" Target="/ppt/notesMasters/notesMaster1.xml" Id="R1e7b645623cf4f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a9cf610d914c7f" /><Relationship Type="http://schemas.openxmlformats.org/officeDocument/2006/relationships/notesMaster" Target="/ppt/notesMasters/notesMaster1.xml" Id="R898e14afcfbb43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9e60b18cfa4eb0" /><Relationship Type="http://schemas.openxmlformats.org/officeDocument/2006/relationships/notesMaster" Target="/ppt/notesMasters/notesMaster1.xml" Id="Rcf1e81012daa49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cbc70be8bd41bf" /><Relationship Type="http://schemas.openxmlformats.org/officeDocument/2006/relationships/notesMaster" Target="/ppt/notesMasters/notesMaster1.xml" Id="R75234a02809e4a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c32b86da7e4f5e" /><Relationship Type="http://schemas.openxmlformats.org/officeDocument/2006/relationships/notesMaster" Target="/ppt/notesMasters/notesMaster1.xml" Id="Rcfc1afcaf49843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4f7c9aa2c8458f" /><Relationship Type="http://schemas.openxmlformats.org/officeDocument/2006/relationships/notesMaster" Target="/ppt/notesMasters/notesMaster1.xml" Id="Ra1bdc8eed03043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99d7bb795c415c" /><Relationship Type="http://schemas.openxmlformats.org/officeDocument/2006/relationships/notesMaster" Target="/ppt/notesMasters/notesMaster1.xml" Id="Rf26a5d8c5eb440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9f3911455c4f3b" /><Relationship Type="http://schemas.openxmlformats.org/officeDocument/2006/relationships/notesMaster" Target="/ppt/notesMasters/notesMaster1.xml" Id="R21bfe7ff647a45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4db03e35d04a08" /><Relationship Type="http://schemas.openxmlformats.org/officeDocument/2006/relationships/notesMaster" Target="/ppt/notesMasters/notesMaster1.xml" Id="Rfd985220c41349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13e8550bd74bb4" /><Relationship Type="http://schemas.openxmlformats.org/officeDocument/2006/relationships/notesMaster" Target="/ppt/notesMasters/notesMaster1.xml" Id="R4d79840b0ec541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d2200d31de4e93" /><Relationship Type="http://schemas.openxmlformats.org/officeDocument/2006/relationships/notesMaster" Target="/ppt/notesMasters/notesMaster1.xml" Id="R9d7a001acd674f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4347e35b6c4562" /><Relationship Type="http://schemas.openxmlformats.org/officeDocument/2006/relationships/notesMaster" Target="/ppt/notesMasters/notesMaster1.xml" Id="R4ad51c77c1c349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38337089294b91" /><Relationship Type="http://schemas.openxmlformats.org/officeDocument/2006/relationships/notesMaster" Target="/ppt/notesMasters/notesMaster1.xml" Id="R9d3ca970650c46d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ca72eb881340e2" /><Relationship Type="http://schemas.openxmlformats.org/officeDocument/2006/relationships/notesMaster" Target="/ppt/notesMasters/notesMaster1.xml" Id="Rf464f4918538481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77cf33a47c4e82" /><Relationship Type="http://schemas.openxmlformats.org/officeDocument/2006/relationships/notesMaster" Target="/ppt/notesMasters/notesMaster1.xml" Id="R5cc9fdebf25548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1c9533507584827" /><Relationship Type="http://schemas.openxmlformats.org/officeDocument/2006/relationships/notesMaster" Target="/ppt/notesMasters/notesMaster1.xml" Id="R02155086e3fa42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9b8643128c4554" /><Relationship Type="http://schemas.openxmlformats.org/officeDocument/2006/relationships/notesMaster" Target="/ppt/notesMasters/notesMaster1.xml" Id="Ra58b7019074b41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dfb662f3e5d4d7b" /><Relationship Type="http://schemas.openxmlformats.org/officeDocument/2006/relationships/notesMaster" Target="/ppt/notesMasters/notesMaster1.xml" Id="Rce167afae5de4a3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9c5b239849421c" /><Relationship Type="http://schemas.openxmlformats.org/officeDocument/2006/relationships/notesMaster" Target="/ppt/notesMasters/notesMaster1.xml" Id="R00e856ad56154fa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ab80ceac09847b3" /><Relationship Type="http://schemas.openxmlformats.org/officeDocument/2006/relationships/notesMaster" Target="/ppt/notesMasters/notesMaster1.xml" Id="Rf441af2fe03a4a5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0d3b141a0e487e" /><Relationship Type="http://schemas.openxmlformats.org/officeDocument/2006/relationships/notesMaster" Target="/ppt/notesMasters/notesMaster1.xml" Id="Rad1ae400d0464c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3bcd9781a6340d9" /><Relationship Type="http://schemas.openxmlformats.org/officeDocument/2006/relationships/notesMaster" Target="/ppt/notesMasters/notesMaster1.xml" Id="R0d62e10d2aec4a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c9605b00e642db" /><Relationship Type="http://schemas.openxmlformats.org/officeDocument/2006/relationships/notesMaster" Target="/ppt/notesMasters/notesMaster1.xml" Id="Rcb36044eb4514a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2d5d138eba4400" /><Relationship Type="http://schemas.openxmlformats.org/officeDocument/2006/relationships/notesMaster" Target="/ppt/notesMasters/notesMaster1.xml" Id="Rb7a1fe3c9f8f4f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8a51ea4b52433a" /><Relationship Type="http://schemas.openxmlformats.org/officeDocument/2006/relationships/notesMaster" Target="/ppt/notesMasters/notesMaster1.xml" Id="R820a09985d024d6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04bdb160a64f8b" /><Relationship Type="http://schemas.openxmlformats.org/officeDocument/2006/relationships/notesMaster" Target="/ppt/notesMasters/notesMaster1.xml" Id="R102e0d111a614da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417027787184384" /><Relationship Type="http://schemas.openxmlformats.org/officeDocument/2006/relationships/notesMaster" Target="/ppt/notesMasters/notesMaster1.xml" Id="R2a2337f45fb1468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56dc64be4804b13" /><Relationship Type="http://schemas.openxmlformats.org/officeDocument/2006/relationships/notesMaster" Target="/ppt/notesMasters/notesMaster1.xml" Id="R6f6ffed343c4438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6b55628ad8f41d1" /><Relationship Type="http://schemas.openxmlformats.org/officeDocument/2006/relationships/notesMaster" Target="/ppt/notesMasters/notesMaster1.xml" Id="Rbe28347ab31a4ad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21113f91e9e4f1c" /><Relationship Type="http://schemas.openxmlformats.org/officeDocument/2006/relationships/notesMaster" Target="/ppt/notesMasters/notesMaster1.xml" Id="R8651054ee1124e4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a302ba50caa4705" /><Relationship Type="http://schemas.openxmlformats.org/officeDocument/2006/relationships/notesMaster" Target="/ppt/notesMasters/notesMaster1.xml" Id="Rda9c4866938d435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082140200354acb" /><Relationship Type="http://schemas.openxmlformats.org/officeDocument/2006/relationships/notesMaster" Target="/ppt/notesMasters/notesMaster1.xml" Id="R5ee4aa05e3a74af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f8209460cc74f66" /><Relationship Type="http://schemas.openxmlformats.org/officeDocument/2006/relationships/notesMaster" Target="/ppt/notesMasters/notesMaster1.xml" Id="Raa02ddf80291492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4b26b2c718e4cd0" /><Relationship Type="http://schemas.openxmlformats.org/officeDocument/2006/relationships/notesMaster" Target="/ppt/notesMasters/notesMaster1.xml" Id="Rf4905be199564e7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242dc57a93240f1" /><Relationship Type="http://schemas.openxmlformats.org/officeDocument/2006/relationships/notesMaster" Target="/ppt/notesMasters/notesMaster1.xml" Id="R9bc7a292426444d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93f43645bab46b8" /><Relationship Type="http://schemas.openxmlformats.org/officeDocument/2006/relationships/notesMaster" Target="/ppt/notesMasters/notesMaster1.xml" Id="R3cb4a6efa80d435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be372ee5d084cdb" /><Relationship Type="http://schemas.openxmlformats.org/officeDocument/2006/relationships/notesMaster" Target="/ppt/notesMasters/notesMaster1.xml" Id="R72679ad1efdb4a5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355c75aff594265" /><Relationship Type="http://schemas.openxmlformats.org/officeDocument/2006/relationships/notesMaster" Target="/ppt/notesMasters/notesMaster1.xml" Id="R412860041bb743a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0770f65232b4343" /><Relationship Type="http://schemas.openxmlformats.org/officeDocument/2006/relationships/notesMaster" Target="/ppt/notesMasters/notesMaster1.xml" Id="R0d28b4fda12540a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41072db317640e0" /><Relationship Type="http://schemas.openxmlformats.org/officeDocument/2006/relationships/notesMaster" Target="/ppt/notesMasters/notesMaster1.xml" Id="R5258192b4ec5456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27687bbc8f84ff3" /><Relationship Type="http://schemas.openxmlformats.org/officeDocument/2006/relationships/notesMaster" Target="/ppt/notesMasters/notesMaster1.xml" Id="R31edb0bfdbb7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Sir David Cox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Asset: slides/course-assets/historical-portraits/cox.png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What this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Where we have got to.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one-sentence version.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An example.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Lending Club.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Asset: 06-classification-logistic-and-penalised/demo/outputs/confusion_matrix.png — generated by 06-classification-logistic-and-penalised/demo/session06_classification_demo.py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Look before you model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Why a straight line fails.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Try it anyway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Look at what it predicts.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Look at what it predicts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4 · The logistic curve.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Bend the line into the unit interval.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Asset: 06-classification-logistic-and-penalised/demo/outputs/confusion_matrix.png — generated by 06-classification-logistic-and-penalised/demo/session06_classification_demo.py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the squeeze looks like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Three ways to report one coefficient.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5 · Reading the output.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Fit it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it says.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it says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it reportable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Asset: 06-classification-logistic-and-penalised/demo/outputs/confusion_matrix.png — generated by 06-classification-logistic-and-penalised/demo/session06_classification_demo.py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null model is already good.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Two curves, one model.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Read them against each other.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The threshold.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0.5 is a claim, not a default.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cost-optimal threshold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cost-optimal threshold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Asset: 06-classification-logistic-and-penalised/demo/outputs/confusion_matrix.png — generated by 06-classification-logistic-and-penalised/demo/session06_classification_demo.py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number that should alarm you.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number that should alarm you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Is 0.3 really 30%?.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8 · A second example.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Portugal's red wines.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Portugal's red wines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Same method, very different signal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Asset: 06-classification-logistic-and-penalised/demo/outputs/confusion_matrix.png — generated by 06-classification-logistic-and-penalised/demo/session06_classification_demo.py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9 · Key takeaways.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 reliably.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In the practice session.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06-classification-logistic-and-penalised/slides.qmd</a:t>
            </a:r>
          </a:p>
          <a:p xmlns:a="http://schemas.openxmlformats.org/drawingml/2006/main">
            <a:r>
              <a:t>- https://warin.ca/quant/en/session6_cours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555c5f99f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b55db50d804631" /><Relationship Type="http://schemas.openxmlformats.org/officeDocument/2006/relationships/slideLayout" Target="/ppt/slideLayouts/slideLayout1.xml" Id="Rca568b68d813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568b68d813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088b3a9e4f36" /><Relationship Type="http://schemas.openxmlformats.org/officeDocument/2006/relationships/chart" Target="/ppt/slides/charts/chart1.xml" Id="Rcd6600242d574c8a" /><Relationship Type="http://schemas.openxmlformats.org/officeDocument/2006/relationships/notesSlide" Target="/ppt/notesSlides/notesSlide1.xml" Id="R248bf0ece1eb40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27264a0864f68" /><Relationship Type="http://schemas.openxmlformats.org/officeDocument/2006/relationships/notesSlide" Target="/ppt/notesSlides/notesSlide2.xml" Id="R393bc2acda734a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b7814f1f1451c" /><Relationship Type="http://schemas.openxmlformats.org/officeDocument/2006/relationships/notesSlide" Target="/ppt/notesSlides/notesSlide3.xml" Id="Rf40ba94ff94243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c82922cfd473f" /><Relationship Type="http://schemas.openxmlformats.org/officeDocument/2006/relationships/chart" Target="/ppt/slides/charts/chart2.xml" Id="Rfdb8a68a2890439d" /><Relationship Type="http://schemas.openxmlformats.org/officeDocument/2006/relationships/notesSlide" Target="/ppt/notesSlides/notesSlide4.xml" Id="Re4138d6ff646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2b052b93d45f4" /><Relationship Type="http://schemas.openxmlformats.org/officeDocument/2006/relationships/chart" Target="/ppt/slides/charts/chart3.xml" Id="Rd4afcfea00b047ca" /><Relationship Type="http://schemas.openxmlformats.org/officeDocument/2006/relationships/image" Target="/ppt/media/image.png" Id="R4db4a62ccdd04ee5" /><Relationship Type="http://schemas.openxmlformats.org/officeDocument/2006/relationships/notesSlide" Target="/ppt/notesSlides/notesSlide5.xml" Id="Rb285a97c7cc643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3011cb3ff4781" /><Relationship Type="http://schemas.openxmlformats.org/officeDocument/2006/relationships/notesSlide" Target="/ppt/notesSlides/notesSlide6.xml" Id="R1c88018cc82e4f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3e6ab76f547eb" /><Relationship Type="http://schemas.openxmlformats.org/officeDocument/2006/relationships/chart" Target="/ppt/slides/charts/chart4.xml" Id="R6cafb2253e624198" /><Relationship Type="http://schemas.openxmlformats.org/officeDocument/2006/relationships/notesSlide" Target="/ppt/notesSlides/notesSlide7.xml" Id="R1f418127c7d34a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6b49ac3424bc8" /><Relationship Type="http://schemas.openxmlformats.org/officeDocument/2006/relationships/notesSlide" Target="/ppt/notesSlides/notesSlide8.xml" Id="Rc16af7eb378a4f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fc7ce033846bb" /><Relationship Type="http://schemas.openxmlformats.org/officeDocument/2006/relationships/chart" Target="/ppt/slides/charts/chart5.xml" Id="R633cd800f31e4684" /><Relationship Type="http://schemas.openxmlformats.org/officeDocument/2006/relationships/notesSlide" Target="/ppt/notesSlides/notesSlide9.xml" Id="R6721100908ad45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fe5021d2842ce" /><Relationship Type="http://schemas.openxmlformats.org/officeDocument/2006/relationships/chart" Target="/ppt/slides/charts/chart6.xml" Id="R13fa4f7f09e947e9" /><Relationship Type="http://schemas.openxmlformats.org/officeDocument/2006/relationships/notesSlide" Target="/ppt/notesSlides/notesSlide10.xml" Id="Rccce8e413a214f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9383e5ab949e3" /><Relationship Type="http://schemas.openxmlformats.org/officeDocument/2006/relationships/chart" Target="/ppt/slides/charts/chart7.xml" Id="R60cadb10ce38479d" /><Relationship Type="http://schemas.openxmlformats.org/officeDocument/2006/relationships/image" Target="/ppt/media/image2.png" Id="R193e39eba7f1442e" /><Relationship Type="http://schemas.openxmlformats.org/officeDocument/2006/relationships/notesSlide" Target="/ppt/notesSlides/notesSlide11.xml" Id="R13ad2f98de5c47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14b92e1d649f6" /><Relationship Type="http://schemas.openxmlformats.org/officeDocument/2006/relationships/notesSlide" Target="/ppt/notesSlides/notesSlide12.xml" Id="Rf99066cf1a7440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47c0b66f94aa0" /><Relationship Type="http://schemas.openxmlformats.org/officeDocument/2006/relationships/chart" Target="/ppt/slides/charts/chart8.xml" Id="R7a572e3acd0e432c" /><Relationship Type="http://schemas.openxmlformats.org/officeDocument/2006/relationships/notesSlide" Target="/ppt/notesSlides/notesSlide13.xml" Id="R02885660a76645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b1d1e49c544b4" /><Relationship Type="http://schemas.openxmlformats.org/officeDocument/2006/relationships/notesSlide" Target="/ppt/notesSlides/notesSlide14.xml" Id="R4ec701369f514a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d03bda50a4f8e" /><Relationship Type="http://schemas.openxmlformats.org/officeDocument/2006/relationships/chart" Target="/ppt/slides/charts/chart9.xml" Id="Rb68288d950ab4583" /><Relationship Type="http://schemas.openxmlformats.org/officeDocument/2006/relationships/notesSlide" Target="/ppt/notesSlides/notesSlide15.xml" Id="R7289e2be6fb744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67801bc74380" /><Relationship Type="http://schemas.openxmlformats.org/officeDocument/2006/relationships/notesSlide" Target="/ppt/notesSlides/notesSlide16.xml" Id="R5966a7e14f7d4c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089317eec4726" /><Relationship Type="http://schemas.openxmlformats.org/officeDocument/2006/relationships/chart" Target="/ppt/slides/charts/chart10.xml" Id="R508252402d2c4af2" /><Relationship Type="http://schemas.openxmlformats.org/officeDocument/2006/relationships/notesSlide" Target="/ppt/notesSlides/notesSlide17.xml" Id="R79a37ee4696247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d63cd0a8f4e01" /><Relationship Type="http://schemas.openxmlformats.org/officeDocument/2006/relationships/notesSlide" Target="/ppt/notesSlides/notesSlide18.xml" Id="Rf9bcbf2586e949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de0f51d174986" /><Relationship Type="http://schemas.openxmlformats.org/officeDocument/2006/relationships/chart" Target="/ppt/slides/charts/chart11.xml" Id="R91bd710a0b164d97" /><Relationship Type="http://schemas.openxmlformats.org/officeDocument/2006/relationships/image" Target="/ppt/media/image3.png" Id="R2c03cdf16ad442be" /><Relationship Type="http://schemas.openxmlformats.org/officeDocument/2006/relationships/notesSlide" Target="/ppt/notesSlides/notesSlide19.xml" Id="Rccc9e6b816424e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2a0ca90144b7b" /><Relationship Type="http://schemas.openxmlformats.org/officeDocument/2006/relationships/notesSlide" Target="/ppt/notesSlides/notesSlide20.xml" Id="R4077918c38014b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c7f83581d4909" /><Relationship Type="http://schemas.openxmlformats.org/officeDocument/2006/relationships/chart" Target="/ppt/slides/charts/chart12.xml" Id="R9b0453fa221b4e43" /><Relationship Type="http://schemas.openxmlformats.org/officeDocument/2006/relationships/notesSlide" Target="/ppt/notesSlides/notesSlide21.xml" Id="Reb84219c109e45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06ff9717c41fa" /><Relationship Type="http://schemas.openxmlformats.org/officeDocument/2006/relationships/chart" Target="/ppt/slides/charts/chart13.xml" Id="R758873993a734f26" /><Relationship Type="http://schemas.openxmlformats.org/officeDocument/2006/relationships/notesSlide" Target="/ppt/notesSlides/notesSlide22.xml" Id="Rb17f244901dc45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20dcac93c4f4c" /><Relationship Type="http://schemas.openxmlformats.org/officeDocument/2006/relationships/chart" Target="/ppt/slides/charts/chart14.xml" Id="Rd0dcbb4711db4545" /><Relationship Type="http://schemas.openxmlformats.org/officeDocument/2006/relationships/notesSlide" Target="/ppt/notesSlides/notesSlide23.xml" Id="Rd57bbca7007f455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c9d17f6674ef2" /><Relationship Type="http://schemas.openxmlformats.org/officeDocument/2006/relationships/notesSlide" Target="/ppt/notesSlides/notesSlide24.xml" Id="R3ce6aa751cb34b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73ff386b64032" /><Relationship Type="http://schemas.openxmlformats.org/officeDocument/2006/relationships/notesSlide" Target="/ppt/notesSlides/notesSlide25.xml" Id="Rcb257285e77845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5a14287be4898" /><Relationship Type="http://schemas.openxmlformats.org/officeDocument/2006/relationships/notesSlide" Target="/ppt/notesSlides/notesSlide26.xml" Id="R86ee33753ebb48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778bb3ce4401e" /><Relationship Type="http://schemas.openxmlformats.org/officeDocument/2006/relationships/chart" Target="/ppt/slides/charts/chart15.xml" Id="R21e5de77ec1241ce" /><Relationship Type="http://schemas.openxmlformats.org/officeDocument/2006/relationships/image" Target="/ppt/media/image4.png" Id="R866e6c475ccb4d25" /><Relationship Type="http://schemas.openxmlformats.org/officeDocument/2006/relationships/notesSlide" Target="/ppt/notesSlides/notesSlide27.xml" Id="R3cbfffe7ab6e4e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3ed86052544b0" /><Relationship Type="http://schemas.openxmlformats.org/officeDocument/2006/relationships/notesSlide" Target="/ppt/notesSlides/notesSlide28.xml" Id="R4ef56cbef4d6435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689cb4c04202" /><Relationship Type="http://schemas.openxmlformats.org/officeDocument/2006/relationships/notesSlide" Target="/ppt/notesSlides/notesSlide29.xml" Id="R246d3b9289da418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eada2a24c4f4f" /><Relationship Type="http://schemas.openxmlformats.org/officeDocument/2006/relationships/chart" Target="/ppt/slides/charts/chart16.xml" Id="Rc3f5ba32d9e749c6" /><Relationship Type="http://schemas.openxmlformats.org/officeDocument/2006/relationships/notesSlide" Target="/ppt/notesSlides/notesSlide30.xml" Id="R41c933decd194e2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923902a364c0d" /><Relationship Type="http://schemas.openxmlformats.org/officeDocument/2006/relationships/chart" Target="/ppt/slides/charts/chart17.xml" Id="R5a709aed07164502" /><Relationship Type="http://schemas.openxmlformats.org/officeDocument/2006/relationships/notesSlide" Target="/ppt/notesSlides/notesSlide31.xml" Id="R6616aef9d6b746d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a1ce827194d67" /><Relationship Type="http://schemas.openxmlformats.org/officeDocument/2006/relationships/chart" Target="/ppt/slides/charts/chart18.xml" Id="R427cb49366ec4fd3" /><Relationship Type="http://schemas.openxmlformats.org/officeDocument/2006/relationships/notesSlide" Target="/ppt/notesSlides/notesSlide32.xml" Id="R86acdcdadc5f4da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404cf62cd4e26" /><Relationship Type="http://schemas.openxmlformats.org/officeDocument/2006/relationships/notesSlide" Target="/ppt/notesSlides/notesSlide33.xml" Id="Rb579354d58ed494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e084e50344dac" /><Relationship Type="http://schemas.openxmlformats.org/officeDocument/2006/relationships/notesSlide" Target="/ppt/notesSlides/notesSlide34.xml" Id="R823c5fd6826b4f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94bf49a5d4f89" /><Relationship Type="http://schemas.openxmlformats.org/officeDocument/2006/relationships/chart" Target="/ppt/slides/charts/chart19.xml" Id="Rd02b14d6caa34cd2" /><Relationship Type="http://schemas.openxmlformats.org/officeDocument/2006/relationships/image" Target="/ppt/media/image5.png" Id="Rf6a9342251ce4062" /><Relationship Type="http://schemas.openxmlformats.org/officeDocument/2006/relationships/notesSlide" Target="/ppt/notesSlides/notesSlide35.xml" Id="Rc810faf542e548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f2dc6ad5a4887" /><Relationship Type="http://schemas.openxmlformats.org/officeDocument/2006/relationships/notesSlide" Target="/ppt/notesSlides/notesSlide36.xml" Id="Ra0518c4e829e43f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34ca68dea4101" /><Relationship Type="http://schemas.openxmlformats.org/officeDocument/2006/relationships/chart" Target="/ppt/slides/charts/chart20.xml" Id="R8809eaab6fa94bf2" /><Relationship Type="http://schemas.openxmlformats.org/officeDocument/2006/relationships/notesSlide" Target="/ppt/notesSlides/notesSlide37.xml" Id="R83814c456abb496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bd61e9bd74f13" /><Relationship Type="http://schemas.openxmlformats.org/officeDocument/2006/relationships/chart" Target="/ppt/slides/charts/chart21.xml" Id="R1c285c6c03d440ae" /><Relationship Type="http://schemas.openxmlformats.org/officeDocument/2006/relationships/notesSlide" Target="/ppt/notesSlides/notesSlide38.xml" Id="R192142a1eef14cf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b176552a9472f" /><Relationship Type="http://schemas.openxmlformats.org/officeDocument/2006/relationships/chart" Target="/ppt/slides/charts/chart22.xml" Id="Raec6f027afbc47c4" /><Relationship Type="http://schemas.openxmlformats.org/officeDocument/2006/relationships/notesSlide" Target="/ppt/notesSlides/notesSlide39.xml" Id="R3cc7f9767fd0494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b09c696334c21" /><Relationship Type="http://schemas.openxmlformats.org/officeDocument/2006/relationships/notesSlide" Target="/ppt/notesSlides/notesSlide40.xml" Id="R0c7061f4778945e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7c49ba92747c7" /><Relationship Type="http://schemas.openxmlformats.org/officeDocument/2006/relationships/notesSlide" Target="/ppt/notesSlides/notesSlide41.xml" Id="R5b2479c1db6d442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ab2f5edda4e10" /><Relationship Type="http://schemas.openxmlformats.org/officeDocument/2006/relationships/notesSlide" Target="/ppt/notesSlides/notesSlide42.xml" Id="R0dbc91b12112477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8a5449e3743ab" /><Relationship Type="http://schemas.openxmlformats.org/officeDocument/2006/relationships/chart" Target="/ppt/slides/charts/chart23.xml" Id="R32158f47aee843ba" /><Relationship Type="http://schemas.openxmlformats.org/officeDocument/2006/relationships/image" Target="/ppt/media/image6.png" Id="R13579f869f9c4fa2" /><Relationship Type="http://schemas.openxmlformats.org/officeDocument/2006/relationships/notesSlide" Target="/ppt/notesSlides/notesSlide43.xml" Id="Rb7bf0991042a4bc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f724d84343a2" /><Relationship Type="http://schemas.openxmlformats.org/officeDocument/2006/relationships/notesSlide" Target="/ppt/notesSlides/notesSlide44.xml" Id="Rf9d7c73554754a5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4862f36364447" /><Relationship Type="http://schemas.openxmlformats.org/officeDocument/2006/relationships/notesSlide" Target="/ppt/notesSlides/notesSlide45.xml" Id="R8553ae9b85ed411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cb7c61f4d4ebe" /><Relationship Type="http://schemas.openxmlformats.org/officeDocument/2006/relationships/notesSlide" Target="/ppt/notesSlides/notesSlide46.xml" Id="Rc81f52d3d3d44e6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d0d9957a741f8" /><Relationship Type="http://schemas.openxmlformats.org/officeDocument/2006/relationships/notesSlide" Target="/ppt/notesSlides/notesSlide47.xml" Id="R727d3159d5104a7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318a0615c4057" /><Relationship Type="http://schemas.openxmlformats.org/officeDocument/2006/relationships/notesSlide" Target="/ppt/notesSlides/notesSlide48.xml" Id="R72a1bfa6c45e4db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93cea42649e0" /><Relationship Type="http://schemas.openxmlformats.org/officeDocument/2006/relationships/notesSlide" Target="/ppt/notesSlides/notesSlide49.xml" Id="R46b7ca931f234c5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64df789dc48e6" /><Relationship Type="http://schemas.openxmlformats.org/officeDocument/2006/relationships/notesSlide" Target="/ppt/notesSlides/notesSlide50.xml" Id="R0f4f8a08501346b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False negatives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smooth val="1"/>
        </c:ser>
        <c:ser>
          <c:idx val="1"/>
          <c:order val="1"/>
          <c:tx>
            <c:v>False positives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6"/>
              <c:pt idx="0">
                <c:v>0.0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  <c:pt idx="5">
                <c:v>1.0</c:v>
              </c:pt>
            </c:num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6</c:v>
              </c:pt>
              <c:pt idx="5">
                <c:v>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0.14</c:v>
              </c:pt>
              <c:pt idx="1">
                <c:v>0.37</c:v>
              </c:pt>
              <c:pt idx="2">
                <c:v>1</c:v>
              </c:pt>
              <c:pt idx="3">
                <c:v>2.72</c:v>
              </c:pt>
              <c:pt idx="4">
                <c:v>7.39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5C8314A-ADC5-4D74-9409-F8FC69AC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06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BA69714-41E8-459C-9D48-83BB6D18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Classification: logistic regression and decision thresholds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15AB04E9-2F67-402C-880D-A36BB37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D927EABE-B984-4F2F-8909-8200D08D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B95D67D8-9381-4F73-BB5F-5082FA49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6600242d574c8a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BBE66A6-767F-4980-ACBA-09CA7D0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889CCA-4E56-46C7-B740-BE89C7B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7003CA-E52C-4BAA-809F-3DE27F8E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2126462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4E193E11-A4B5-4306-95A9-7956A7DA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6A58-C6AC-48BD-B082-3749ED2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CFC61A6-780D-4F72-AF4F-73D37AED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4CAB5AC0-FD33-4CC1-9BE1-6ABD7ED8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Move from probabilities to decisions using calibration, class balance, and explicit costs.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D743C7B2-55B3-4FD2-9CFC-E1CB15E5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80C7F10-0DCB-48E0-AD80-7DF822CA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FC85EF9-E165-4D81-BAC4-9E21A8D8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87C3E89C-A8A0-4C06-9356-5754028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B301CE5-9BD4-492F-816C-7EFA65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679AB20-D73C-43A1-A7A8-D7C96309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9C1D8146-4BBB-496F-8DDD-48A877F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B64FE2C-2DB3-4A53-B78B-C749D8B3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E84BAC6-D48E-4782-BCB6-049F65D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6CDE04E-D7A5-4B26-A39A-0B81ED2F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1130580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B45E6BC-BD67-4EE1-ACDC-99DE710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61C0D-0800-4407-BAF8-82EAB78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ED563C-E1F4-4C33-B500-57074A2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6E6C345-BBC6-4150-B102-8ADD46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AF0824-FE44-4FEA-BC55-FDC4F64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a number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8CFDABC-BF77-409E-A414-F3B3969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2CDA8FA-BDD0-4DF7-ACCA-9B65CEF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a probability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F5E71F0-4A67-4A78-848E-3B2AD1C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6410000-BC36-47AA-BAF9-299FFBC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an action threshold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420CA37B-CBA6-4BE6-9990-FB763B4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Move from probabilities to decisions using calibration, class balance, and explicit costs.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FF810C-F4D3-4EE5-901A-30F6F15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03492C-64B1-4C33-A452-E99537C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B719E10-3365-41EC-9188-A032A2E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842890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E30803E-5A81-406B-AD08-233104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B377A0-F584-420E-8C1F-5E85D60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922C422-A8EF-405E-9569-820A0BF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55754AD-BD48-46E0-8315-C500B62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Classification separates probability estimation from the decision—and forces error costs into the open.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EA27308-F0F8-4151-AAFC-00BAED1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credit risk · rare events · screening decisions.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B6144A1-A309-4E75-B524-B173C90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99054E9-E8B9-4222-8B0A-7B4DF5BC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b8a68a2890439d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26CBCC5-9536-4890-95A2-988D235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C883A9-ABDC-4386-8B49-F0B2269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558717-74B6-4984-BD6D-03E2DBE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701730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E61F3DB-2EB1-48B4-B1C1-9DEBDA8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3B0B9-D28F-4A64-B5B3-33AD36E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587F97C-08ED-4B33-966A-50F72D6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afcfea00b047ca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B0E97306-C45F-4E92-91A5-1BE07A1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Sir David Cox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F4CBEC27-5E90-4DAF-B92C-59D6D33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1924–2022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A0F5B5-22FF-4883-B990-F74AF39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1FA66CD-D5E9-4352-AD84-9B2582D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BE05C04-BD9A-4E87-97E6-F0641A1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A3A9904C-1203-4227-8B6D-F078C38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Cox helped make logistic regression a practical language for relating predictors…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E4CC920A-D1E3-49F4-B9D2-F9094F9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D7AE0D4-FE6E-4A55-ABA1-CB3EAEC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9B7DDF-AD24-42DD-AA6B-A94B27D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3F34DA-4585-4E96-8684-4DC8E4E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17" name="media-matte-cox.png">
            <a:extLst xmlns:a="http://schemas.openxmlformats.org/drawingml/2006/main">
              <a:ext uri="{FF2B5EF4-FFF2-40B4-BE49-F238E27FC236}">
                <a16:creationId xmlns:a16="http://schemas.microsoft.com/office/drawing/2014/main" id="{FB4BA10A-5575-4290-AC87-CFDFFF9D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4a62ccdd04ee5"/>
          <a:stretch xmlns:a="http://schemas.openxmlformats.org/drawingml/2006/main"/>
        </p:blipFill>
        <p:spPr>
          <a:xfrm xmlns:a="http://schemas.openxmlformats.org/drawingml/2006/main">
            <a:off x="3017520" y="1600200"/>
            <a:ext cx="17373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27904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4F67789-A61D-4A23-926B-2E7F9473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11E577-9D29-4A4B-A627-FFF3EB3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720696-FC3B-4859-8092-096D0F3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209D5E30-36FF-4891-8E87-A2CB5DC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FDAC1EF2-75F9-434C-BEA7-9FA9A6B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A2BCF9-8721-42E5-95A3-7AD6F2D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FBDCB34A-FE70-444F-837E-5B1CF76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5A59F2B3-59F4-416C-B40F-4343D90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5945901-4118-41AE-9861-FCBA4A6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Discrimination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CA6A56F-0455-44B4-A39C-BB93630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3C070E55-09A7-4428-9755-B4A3821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817F0FB-6291-44DE-A7E2-96C1B49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1FC13430-8960-4457-B048-A2BF1EC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Threshold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B45BC7B3-0E3B-4029-A291-2E20204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4904156-EA11-4D4C-B127-E74EC3A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13DAC35B-036F-4310-892F-D4BCE1F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E558ABF-BCD2-4504-8FA4-5B23A05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07946C-1BAD-4302-BA28-450B445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622765E-85A6-4288-9EFA-A3BA2C3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649514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A0774CA-5D12-4450-B312-26DB349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8AE5F-AD93-4775-BE2B-B5005E2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we have got to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55A1409-D252-40D3-A8C3-E3182A6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FF213B9F-583A-4C7B-A24D-888464D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log[p/(1−p)] = xᵀβ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F92D94E-5BAC-4812-8AE8-7CEB1F1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All four assume the thing you are predicting is a number.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D7C014-663E-43F5-91FC-6A4FDEB5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945ABA0-F93B-408A-973B-6C92DFD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All four assume the thing you are predicting is a number.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afb2253e62419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97449B-BEA5-4528-8927-6DBB752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AB16C0B-0BF9-4ACD-A5CA-A812512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327253-68FE-4C68-B310-BFB2547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728785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B45E6BC-BD67-4EE1-ACDC-99DE710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61C0D-0800-4407-BAF8-82EAB78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one-sentence version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ED563C-E1F4-4C33-B500-57074A2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6E6C345-BBC6-4150-B102-8ADD46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AF0824-FE44-4FEA-BC55-FDC4F64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Sessions 02–05 taught you to produce a number.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8CFDABC-BF77-409E-A414-F3B3969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2CDA8FA-BDD0-4DF7-ACCA-9B65CEF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Session 06 is the first time the number has to become an action.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F5E71F0-4A67-4A78-848E-3B2AD1C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6410000-BC36-47AA-BAF9-299FFBC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Everything awkward in this session follows from that step — and almost every applied mistake comes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420CA37B-CBA6-4BE6-9990-FB763B4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FF810C-F4D3-4EE5-901A-30F6F15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03492C-64B1-4C33-A452-E99537C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B719E10-3365-41EC-9188-A032A2E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8428903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BFE805C-6A20-4771-A072-19B767B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FA2C57-8FA0-4A79-AF7F-63A2902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An example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A6AD85E-C5EF-4FD2-886D-B11C19D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3931EE2-EFBF-435A-9A4B-101AD718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p(x) = 1 / [1 + exp(−xᵀβ)]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43246643-1A55-4E2B-9C51-C1F255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An example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A1F6C9B-6D7E-4BC3-A9CB-B57FEF8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28BAF64-A189-4DB4-AA3A-77D3C12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An example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3cd800f31e4684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1376029-4470-4A37-82BB-100A5C5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D553EC-B6EE-49FB-B7B8-4D92F37D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A199905-A24A-4CF3-BC60-9C365C6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949641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E30803E-5A81-406B-AD08-233104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B377A0-F584-420E-8C1F-5E85D60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Lending Club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922C422-A8EF-405E-9569-820A0BF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55754AD-BD48-46E0-8315-C500B62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log[p/(1−p)] = xᵀβ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EA27308-F0F8-4151-AAFC-00BAED1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peer-to-peer marketplace: individuals lend to individuals, and the platform prices the risk. &gt; The question a lender actually has: which of these applications should I fund?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B6144A1-A309-4E75-B524-B173C90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99054E9-E8B9-4222-8B0A-7B4DF5BC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9,578 three-year loans funded through LendingClub.com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fa4f7f09e947e9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26CBCC5-9536-4890-95A2-988D235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C883A9-ABDC-4386-8B49-F0B2269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558717-74B6-4984-BD6D-03E2DBE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7017306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E61F3DB-2EB1-48B4-B1C1-9DEBDA8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3B0B9-D28F-4A64-B5B3-33AD36E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before you model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587F97C-08ED-4B33-966A-50F72D6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cadb10ce38479d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B0E97306-C45F-4E92-91A5-1BE07A1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F4CBEC27-5E90-4DAF-B92C-59D6D33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1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loans["default"].mean() # 0.160 loans["purpose"].valuecounts() # 7 categories fig, ax =…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A0F5B5-22FF-4883-B990-F74AF39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1FA66CD-D5E9-4352-AD84-9B2582D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BE05C04-BD9A-4E87-97E6-F0641A1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A3A9904C-1203-4227-8B6D-F078C38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E4CC920A-D1E3-49F4-B9D2-F9094F9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D7AE0D4-FE6E-4A55-ABA1-CB3EAEC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9B7DDF-AD24-42DD-AA6B-A94B27D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3F34DA-4585-4E96-8684-4DC8E4E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17" name="media-matte-confusion_matrix.png">
            <a:extLst xmlns:a="http://schemas.openxmlformats.org/drawingml/2006/main">
              <a:ext uri="{FF2B5EF4-FFF2-40B4-BE49-F238E27FC236}">
                <a16:creationId xmlns:a16="http://schemas.microsoft.com/office/drawing/2014/main" id="{53DED3C5-E49B-40AA-8BF7-95DCC8BF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e39eba7f1442e"/>
          <a:stretch xmlns:a="http://schemas.openxmlformats.org/drawingml/2006/main"/>
        </p:blipFill>
        <p:spPr>
          <a:xfrm xmlns:a="http://schemas.openxmlformats.org/drawingml/2006/main">
            <a:off x="1280160" y="1600200"/>
            <a:ext cx="521208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27904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C8C5719-4E0E-4856-8CE5-97BC422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7FABC4-F995-4C95-A89C-4DFB4AE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before you model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C3A89DA-C4C5-4FF8-A42C-1B6034E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36F7CAD2-FD82-40DF-AD05-3541987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9B1F9F3C-4CB2-46A8-966B-B1AF5C7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B4531BA-DDB9-410A-8903-D1CC37B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FC68904-9B12-4299-9E9B-0F66E1DF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06-classification-logistic-and-penalised/demo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session06_classification_demo.py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59AA2D3-0653-47BC-86C8-472C4B2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E569B986-2F86-4717-83FF-77302AA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loans["default"].mean()          # 0.160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loans["purpose"].value_counts()  # 7 categories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13CB8A89-EDAA-4C95-88A7-E373E4C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F5C00F-6E44-44C8-8F44-8910AC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3BDAFB-FD5D-4B6F-85FF-C15D1C0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FEB808-CAEB-4FFF-A12F-8C992C0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13256472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A0774CA-5D12-4450-B312-26DB349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8AE5F-AD93-4775-BE2B-B5005E2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Why a straight line fails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55A1409-D252-40D3-A8C3-E3182A6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FF213B9F-583A-4C7B-A24D-888464D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log[p/(1−p)] = xᵀβ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F92D94E-5BAC-4812-8AE8-7CEB1F1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Why a straight line fails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D7C014-663E-43F5-91FC-6A4FDEB5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945ABA0-F93B-408A-973B-6C92DFD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Why a straight line fails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572e3acd0e432c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97449B-BEA5-4528-8927-6DBB752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AB16C0B-0BF9-4ACD-A5CA-A812512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327253-68FE-4C68-B310-BFB2547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728785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550834C5-72B1-4C98-BADF-B1922A7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2B6B6-78EC-40BF-B77B-1D3CB91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Try it anyway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A39364A-05EB-4743-A6B6-D37664E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86ADC8F-F94A-4527-8237-F3FB85A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Regress the 0/1 outcome on FICO by ordinary least squares — the Session 02 estimator, unchanged. import statsmodels.api as sm X = sm.addconstant(loans[["fico"]])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49312CE-E809-438E-B63F-9E5632E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7A4C350-A315-4B61-AF45-11B7D73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Regress the 0/1 outcome on FICO by ordinary least squares — the Session 02 estimator, unchanged.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98A045BB-57A6-44D6-BFBA-998379E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7B352D8-6F7B-4C71-815A-D206A41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95356C6-7B94-48AB-8422-C25027F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import statsmodels.api as sm X = sm.addconstant(loans[["fico"]])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06AADFF3-43E7-481B-8C26-9230B68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A5F1AF1B-649B-4167-BE4F-65E78A5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39E26B04-876C-4CB1-959F-1D9D141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EF2B058D-86B7-458E-BC8A-1343590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35D56EEC-76B4-4043-96D3-2415E02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7F70C32-E951-4C33-9A4D-8EAE672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59952141-8D07-4A67-8605-09ED27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96F2436-09F1-469C-8CC4-9224486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F08AF9-A307-4CEC-A5CB-A64AD60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E8A093-42A8-4E6C-8ACF-3CC18324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19226410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BFE805C-6A20-4771-A072-19B767B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FA2C57-8FA0-4A79-AF7F-63A2902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at what it predicts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A6AD85E-C5EF-4FD2-886D-B11C19D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3931EE2-EFBF-435A-9A4B-101AD718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p(x) = 1 / [1 + exp(−xᵀβ)]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43246643-1A55-4E2B-9C51-C1F255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lpm = sm.OLS(y, sm.addconstant(loans[["fico"]])).fit() mlog = smf.logit("default ~ fico", data=loans).fit(disp=0) grid = np.linspace(loans.fico.min() - 40, loans.fico.max() + 40, 300)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A1F6C9B-6D7E-4BC3-A9CB-B57FEF8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28BAF64-A189-4DB4-AA3A-77D3C12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lpm = sm.OLS(y, sm.addconstant(loans[["fico"]])).fit() mlog = smf.logit("default ~ fico",…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8288d950ab4583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1376029-4470-4A37-82BB-100A5C5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D553EC-B6EE-49FB-B7B8-4D92F37D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A199905-A24A-4CF3-BC60-9C365C6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9496411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4F67789-A61D-4A23-926B-2E7F9473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11E577-9D29-4A4B-A627-FFF3EB3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at what it predicts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720696-FC3B-4859-8092-096D0F3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209D5E30-36FF-4891-8E87-A2CB5DC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FDAC1EF2-75F9-434C-BEA7-9FA9A6B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at what it…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A2BCF9-8721-42E5-95A3-7AD6F2D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FBDCB34A-FE70-444F-837E-5B1CF76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lpm = sm.OLS(y, sm.addconstant(loans[["fico"]])).fit() mlog = smf.logit("default ~ fico",…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5A59F2B3-59F4-416C-B40F-4343D90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5945901-4118-41AE-9861-FCBA4A6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Threshold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CA6A56F-0455-44B4-A39C-BB93630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3C070E55-09A7-4428-9755-B4A3821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817F0FB-6291-44DE-A7E2-96C1B49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1FC13430-8960-4457-B048-A2BF1EC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Calibration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B45BC7B3-0E3B-4029-A291-2E20204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4904156-EA11-4D4C-B127-E74EC3A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13DAC35B-036F-4310-892F-D4BCE1F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E558ABF-BCD2-4504-8FA4-5B23A05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07946C-1BAD-4302-BA28-450B445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622765E-85A6-4288-9EFA-A3BA2C3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6495148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E30803E-5A81-406B-AD08-233104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B377A0-F584-420E-8C1F-5E85D60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The logistic curve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922C422-A8EF-405E-9569-820A0BF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55754AD-BD48-46E0-8315-C500B62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Choose 1 if p &gt; C_FP/(C_FP + C_FN)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EA27308-F0F8-4151-AAFC-00BAED1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The logistic curve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B6144A1-A309-4E75-B524-B173C90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99054E9-E8B9-4222-8B0A-7B4DF5BC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The logistic curve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8252402d2c4af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26CBCC5-9536-4890-95A2-988D235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C883A9-ABDC-4386-8B49-F0B2269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558717-74B6-4984-BD6D-03E2DBE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7017306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B45E6BC-BD67-4EE1-ACDC-99DE710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61C0D-0800-4407-BAF8-82EAB78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Bend the line into the unit interval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ED563C-E1F4-4C33-B500-57074A2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6E6C345-BBC6-4150-B102-8ADD46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AF0824-FE44-4FEA-BC55-FDC4F64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Longleftrightarrow p(x) = frac11 + e^-x^ᵀβ The log-odds on the left is free to run from - in fty…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8CFDABC-BF77-409E-A414-F3B3969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2CDA8FA-BDD0-4DF7-ACCA-9B65CEF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Longleftrightarrow p(x) = frac11 + e^-x^ᵀβ The log-odds on the left is free to run from - in fty to +…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F5E71F0-4A67-4A78-848E-3B2AD1C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6410000-BC36-47AA-BAF9-299FFBC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420CA37B-CBA6-4BE6-9990-FB763B4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FF810C-F4D3-4EE5-901A-30F6F15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03492C-64B1-4C33-A452-E99537C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B719E10-3365-41EC-9188-A032A2E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8428903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E61F3DB-2EB1-48B4-B1C1-9DEBDA8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3B0B9-D28F-4A64-B5B3-33AD36E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Bend the line into the unit interval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587F97C-08ED-4B33-966A-50F72D6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bd710a0b164d97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B0E97306-C45F-4E92-91A5-1BE07A1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F4CBEC27-5E90-4DAF-B92C-59D6D33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Longleftrightarrow p(x) = frac11 + e^-x^ᵀβ The log-odds on the left is free to run from - in fty…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A0F5B5-22FF-4883-B990-F74AF39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1FA66CD-D5E9-4352-AD84-9B2582D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9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Longleftrightarrow p(x) = frac11 + e^-x^ᵀβ The log-odds on the left is free to run from - in fty to +…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BE05C04-BD9A-4E87-97E6-F0641A1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A3A9904C-1203-4227-8B6D-F078C38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E4CC920A-D1E3-49F4-B9D2-F9094F9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D7AE0D4-FE6E-4A55-ABA1-CB3EAEC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9B7DDF-AD24-42DD-AA6B-A94B27D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3F34DA-4585-4E96-8684-4DC8E4E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17" name="media-matte-confusion_matrix.png">
            <a:extLst xmlns:a="http://schemas.openxmlformats.org/drawingml/2006/main">
              <a:ext uri="{FF2B5EF4-FFF2-40B4-BE49-F238E27FC236}">
                <a16:creationId xmlns:a16="http://schemas.microsoft.com/office/drawing/2014/main" id="{983CBAB9-CB60-4075-8239-EE670BC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3cdf16ad442be"/>
          <a:stretch xmlns:a="http://schemas.openxmlformats.org/drawingml/2006/main"/>
        </p:blipFill>
        <p:spPr>
          <a:xfrm xmlns:a="http://schemas.openxmlformats.org/drawingml/2006/main">
            <a:off x="1280160" y="1600200"/>
            <a:ext cx="521208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279042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C8C5719-4E0E-4856-8CE5-97BC422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7FABC4-F995-4C95-A89C-4DFB4AE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the squeeze looks like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C3A89DA-C4C5-4FF8-A42C-1B6034E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36F7CAD2-FD82-40DF-AD05-3541987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9B1F9F3C-4CB2-46A8-966B-B1AF5C7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B4531BA-DDB9-410A-8903-D1CC37B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FC68904-9B12-4299-9E9B-0F66E1DF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06-classification-logistic-and-penalised/demo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session06_classification_demo.py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59AA2D3-0653-47BC-86C8-472C4B2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E569B986-2F86-4717-83FF-77302AA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z = np.linspace(-6, 6, 400)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sig = 1 / (1 + np.exp(-z))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ax.plot(z, sig, color=CL.accent, lw=2.6)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ax.axhline(0, color=CL.line); ax.axhline(1, color=CL.line)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ax.axhline(.5, color=CL.muted, ls=":", lw=1)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ax.axvline(0, color=CL.muted, ls=":", lw=1)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ax.plot([0], [.5], "o", color=CL.ink, ms=7)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ax.text(-5.9, .72, "steepest here — a unit of $x^{\\top}\\beta$\nmoves $p$ a great deal",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color=CL.ink, fontsize=8.5)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ax.annotate("flat — the same unit\nbarely moves $p$", xy=(4.4, .988), xytext=(1.5, .55),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color=CL.muted, fontsize=8.5,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13CB8A89-EDAA-4C95-88A7-E373E4C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F5C00F-6E44-44C8-8F44-8910AC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3BDAFB-FD5D-4B6F-85FF-C15D1C0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FEB808-CAEB-4FFF-A12F-8C992C0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13256472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A0774CA-5D12-4450-B312-26DB349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8AE5F-AD93-4775-BE2B-B5005E2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ways to report one coefficient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55A1409-D252-40D3-A8C3-E3182A6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FF213B9F-583A-4C7B-A24D-888464D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p(x) = 1 / [1 + exp(−xᵀβ)]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F92D94E-5BAC-4812-8AE8-7CEB1F1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odds ratio is constant everywhere; the probability change is not. Report the average marginal effect unless you have a reason not to.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D7C014-663E-43F5-91FC-6A4FDEB5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945ABA0-F93B-408A-973B-6C92DFD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odds ratio is constant everywhere; the probability change is not.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0453fa221b4e43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97449B-BEA5-4528-8927-6DBB752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AB16C0B-0BF9-4ACD-A5CA-A812512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327253-68FE-4C68-B310-BFB2547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7287859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BFE805C-6A20-4771-A072-19B767B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FA2C57-8FA0-4A79-AF7F-63A2902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Reading the output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A6AD85E-C5EF-4FD2-886D-B11C19D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3931EE2-EFBF-435A-9A4B-101AD718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log[p/(1−p)] = xᵀβ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43246643-1A55-4E2B-9C51-C1F255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Reading the output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A1F6C9B-6D7E-4BC3-A9CB-B57FEF8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28BAF64-A189-4DB4-AA3A-77D3C12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Reading the output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8873993a734f26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1376029-4470-4A37-82BB-100A5C5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D553EC-B6EE-49FB-B7B8-4D92F37D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A199905-A24A-4CF3-BC60-9C365C6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9496411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E30803E-5A81-406B-AD08-233104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B377A0-F584-420E-8C1F-5E85D60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it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922C422-A8EF-405E-9569-820A0BF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55754AD-BD48-46E0-8315-C500B62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Choose 1 if p &gt; C_FP/(C_FP + C_FN)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EA27308-F0F8-4151-AAFC-00BAED1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import numpy as np import statsmodels.formula.api as smf m = smf.logit("default ~ fico + intrate + np.log(revolbal + 1)",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B6144A1-A309-4E75-B524-B173C90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99054E9-E8B9-4222-8B0A-7B4DF5BC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smf.logit — the formula interface; default ~ ... reads "default explained by"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dcbb4711db4545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26CBCC5-9536-4890-95A2-988D235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C883A9-ABDC-4386-8B49-F0B2269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558717-74B6-4984-BD6D-03E2DBE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7017306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9C0B305A-C3B6-4B7F-82A6-112B1168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BFE60440-6981-417B-8C54-54DBE4E0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it says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675CDD43-00EF-4A87-ABA3-BD75B85E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FF2796A7-8ACC-4985-B28F-7886B35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1B0C1F92-0B35-4E16-B9FE-BA9CCC5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 a 3% event, predicting ‘no’ for everyone gives 97% accuracy and zero usefulness.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0FE78FFF-8463-4C74-A922-B40A58FD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7D1D59D3-94BF-4F68-9A84-83D3BFD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Evaluation preserves prevalence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D9CB0B6-6D5E-4E40-988B-0337FD74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8360CB-7DCC-410C-921E-7138527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CF334C1-1A75-48EC-BF5F-628111E2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69559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4F67789-A61D-4A23-926B-2E7F9473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11E577-9D29-4A4B-A627-FFF3EB3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it says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720696-FC3B-4859-8092-096D0F3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209D5E30-36FF-4891-8E87-A2CB5DC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FDAC1EF2-75F9-434C-BEA7-9FA9A6B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it says · Python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A2BCF9-8721-42E5-95A3-7AD6F2D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FBDCB34A-FE70-444F-837E-5B1CF76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tbl = pd.DataFrame("coef": m.params, "std err": m.bse, "z": m.tvalues, "P&gt;|z|":…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5A59F2B3-59F4-416C-B40F-4343D90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5945901-4118-41AE-9861-FCBA4A6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Threshold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CA6A56F-0455-44B4-A39C-BB93630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3C070E55-09A7-4428-9755-B4A3821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tbl = pd.DataFrame("coef": m.params, "std err": m.bse, "z": m.tvalues, "P&gt;|z|": m.pvalues).round(4)…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817F0FB-6291-44DE-A7E2-96C1B49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1FC13430-8960-4457-B048-A2BF1EC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Calibration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B45BC7B3-0E3B-4029-A291-2E20204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4904156-EA11-4D4C-B127-E74EC3A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13DAC35B-036F-4310-892F-D4BCE1F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E558ABF-BCD2-4504-8FA4-5B23A05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07946C-1BAD-4302-BA28-450B445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622765E-85A6-4288-9EFA-A3BA2C3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6495148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B45E6BC-BD67-4EE1-ACDC-99DE710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61C0D-0800-4407-BAF8-82EAB78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Make it reportable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ED563C-E1F4-4C33-B500-57074A2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6E6C345-BBC6-4150-B102-8ADD46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AF0824-FE44-4FEA-BC55-FDC4F64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np.exp(m.params["fico"]) # 0.9936 — odds ratio per FICO point m.getmargeff().summary() # average…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8CFDABC-BF77-409E-A414-F3B3969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2CDA8FA-BDD0-4DF7-ACCA-9B65CEF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F5E71F0-4A67-4A78-848E-3B2AD1C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6410000-BC36-47AA-BAF9-299FFBC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420CA37B-CBA6-4BE6-9990-FB763B4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Choose a threshold from costs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FF810C-F4D3-4EE5-901A-30F6F15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03492C-64B1-4C33-A452-E99537C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B719E10-3365-41EC-9188-A032A2E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8428903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E61F3DB-2EB1-48B4-B1C1-9DEBDA8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3B0B9-D28F-4A64-B5B3-33AD36E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Why accuracy lies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587F97C-08ED-4B33-966A-50F72D6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e5de77ec1241ce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B0E97306-C45F-4E92-91A5-1BE07A1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F4CBEC27-5E90-4DAF-B92C-59D6D33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Why accuracy lies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A0F5B5-22FF-4883-B990-F74AF39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1FA66CD-D5E9-4352-AD84-9B2582D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BE05C04-BD9A-4E87-97E6-F0641A1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A3A9904C-1203-4227-8B6D-F078C38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E4CC920A-D1E3-49F4-B9D2-F9094F9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D7AE0D4-FE6E-4A55-ABA1-CB3EAEC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9B7DDF-AD24-42DD-AA6B-A94B27D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3F34DA-4585-4E96-8684-4DC8E4E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17" name="media-matte-confusion_matrix.png">
            <a:extLst xmlns:a="http://schemas.openxmlformats.org/drawingml/2006/main">
              <a:ext uri="{FF2B5EF4-FFF2-40B4-BE49-F238E27FC236}">
                <a16:creationId xmlns:a16="http://schemas.microsoft.com/office/drawing/2014/main" id="{F7FDACD2-D99E-47AF-901A-C2C584F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e6c475ccb4d25"/>
          <a:stretch xmlns:a="http://schemas.openxmlformats.org/drawingml/2006/main"/>
        </p:blipFill>
        <p:spPr>
          <a:xfrm xmlns:a="http://schemas.openxmlformats.org/drawingml/2006/main">
            <a:off x="1280160" y="1600200"/>
            <a:ext cx="521208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279042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C8C5719-4E0E-4856-8CE5-97BC422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7FABC4-F995-4C95-A89C-4DFB4AE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null model is already good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C3A89DA-C4C5-4FF8-A42C-1B6034E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36F7CAD2-FD82-40DF-AD05-3541987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9B1F9F3C-4CB2-46A8-966B-B1AF5C7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B4531BA-DDB9-410A-8903-D1CC37B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FC68904-9B12-4299-9E9B-0F66E1DF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06-classification-logistic-and-penalised/demo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session06_classification_demo.py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59AA2D3-0653-47BC-86C8-472C4B2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E569B986-2F86-4717-83FF-77302AA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sklearn.linear_model import LogisticRegression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np.arange(20.).reshape(10,2); y = np.array([0,0,0,0,0,0,1,1,1,1])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LogisticRegression().fit(X,y)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 = m.predict_proba(X)[:,1]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print(np.c_[p, p &gt;= .30])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13CB8A89-EDAA-4C95-88A7-E373E4C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F5C00F-6E44-44C8-8F44-8910AC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3BDAFB-FD5D-4B6F-85FF-C15D1C0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FEB808-CAEB-4FFF-A12F-8C992C0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13256472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550834C5-72B1-4C98-BADF-B1922A7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2B6B6-78EC-40BF-B77B-1D3CB91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curves, one model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A39364A-05EB-4743-A6B6-D37664E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86ADC8F-F94A-4527-8237-F3FB85A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9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fpr, tpr, = roccurve(y, p) pre, rec, = precisionrecallcurve(y, p) fig, axes = plt.subplots(1, 2, figsize=(7.8, 3.0))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49312CE-E809-438E-B63F-9E5632E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7A4C350-A315-4B61-AF45-11B7D73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fpr, tpr, = roccurve(y, p) pre, rec, = precisionrecallcurve(y, p) fig, axes = plt.subplots(1, 2,…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98A045BB-57A6-44D6-BFBA-998379E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7B352D8-6F7B-4C71-815A-D206A41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95356C6-7B94-48AB-8422-C25027F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06AADFF3-43E7-481B-8C26-9230B68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A5F1AF1B-649B-4167-BE4F-65E78A5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39E26B04-876C-4CB1-959F-1D9D141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EF2B058D-86B7-458E-BC8A-1343590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35D56EEC-76B4-4043-96D3-2415E02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7F70C32-E951-4C33-9A4D-8EAE672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a threshold from costs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59952141-8D07-4A67-8605-09ED27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96F2436-09F1-469C-8CC4-9224486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F08AF9-A307-4CEC-A5CB-A64AD60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E8A093-42A8-4E6C-8ACF-3CC18324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19226410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A0774CA-5D12-4450-B312-26DB349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8AE5F-AD93-4775-BE2B-B5005E2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them against each other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55A1409-D252-40D3-A8C3-E3182A6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FF213B9F-583A-4C7B-A24D-888464D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p(x) = 1 / [1 + exp(−xᵀβ)]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F92D94E-5BAC-4812-8AE8-7CEB1F1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Under heavy imbalance, report PR with its baseline. ROC flatters, because the false-positive denominator is enormous.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D7C014-663E-43F5-91FC-6A4FDEB5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945ABA0-F93B-408A-973B-6C92DFD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ROC AUC 0.627 — looks like a working model. Its reference line is chance, a low bar.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f5ba32d9e749c6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97449B-BEA5-4528-8927-6DBB752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AB16C0B-0BF9-4ACD-A5CA-A812512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327253-68FE-4C68-B310-BFB2547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7287859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BFE805C-6A20-4771-A072-19B767B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FA2C57-8FA0-4A79-AF7F-63A2902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The threshold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A6AD85E-C5EF-4FD2-886D-B11C19D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3931EE2-EFBF-435A-9A4B-101AD718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log[p/(1−p)] = xᵀβ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43246643-1A55-4E2B-9C51-C1F255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The threshold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A1F6C9B-6D7E-4BC3-A9CB-B57FEF8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28BAF64-A189-4DB4-AA3A-77D3C12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The threshold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709aed0716450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1376029-4470-4A37-82BB-100A5C5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D553EC-B6EE-49FB-B7B8-4D92F37D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A199905-A24A-4CF3-BC60-9C365C6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9496411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E30803E-5A81-406B-AD08-233104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B377A0-F584-420E-8C1F-5E85D60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0.5 is a claim, not a default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922C422-A8EF-405E-9569-820A0BF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55754AD-BD48-46E0-8315-C500B62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Choose 1 if p &gt; C_FP/(C_FP + C_FN)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EA27308-F0F8-4151-AAFC-00BAED1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Classifying at hat p &gt; 0.5 asserts that a false positive and a false negative cost the same. For a lender they do not: refusing a good borrower costs a margin; funding a defaulter costs the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B6144A1-A309-4E75-B524-B173C90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99054E9-E8B9-4222-8B0A-7B4DF5BC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Classifying at hat p &gt; 0.5 asserts that a false positive and a false negative cost the same.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7cb49366ec4fd3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26CBCC5-9536-4890-95A2-988D235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C883A9-ABDC-4386-8B49-F0B2269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558717-74B6-4984-BD6D-03E2DBE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7017306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4F67789-A61D-4A23-926B-2E7F9473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11E577-9D29-4A4B-A627-FFF3EB3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cost-optimal threshold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720696-FC3B-4859-8092-096D0F3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209D5E30-36FF-4891-8E87-A2CB5DC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FDAC1EF2-75F9-434C-BEA7-9FA9A6B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cost-optimal…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A2BCF9-8721-42E5-95A3-7AD6F2D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FBDCB34A-FE70-444F-837E-5B1CF76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ratios = np.array([1, 2, 5, 10, 20]) taus = 1 / (1 + ratios) fig, ax = plt.subplots(figsize=(7.2,…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5A59F2B3-59F4-416C-B40F-4343D90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5945901-4118-41AE-9861-FCBA4A6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Discrimination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CA6A56F-0455-44B4-A39C-BB93630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3C070E55-09A7-4428-9755-B4A3821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ratios = np.array([1, 2, 5, 10, 20]) taus = 1 / (1 + ratios) fig, ax = plt.subplots(figsize=(7.2, 2.7))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817F0FB-6291-44DE-A7E2-96C1B49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1FC13430-8960-4457-B048-A2BF1EC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Threshold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B45BC7B3-0E3B-4029-A291-2E20204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4904156-EA11-4D4C-B127-E74EC3A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13DAC35B-036F-4310-892F-D4BCE1F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E558ABF-BCD2-4504-8FA4-5B23A05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07946C-1BAD-4302-BA28-450B445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622765E-85A6-4288-9EFA-A3BA2C3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64951486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B45E6BC-BD67-4EE1-ACDC-99DE710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61C0D-0800-4407-BAF8-82EAB78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cost-optimal threshold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ED563C-E1F4-4C33-B500-57074A2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6E6C345-BBC6-4150-B102-8ADD46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AF0824-FE44-4FEA-BC55-FDC4F64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ratios = np.array([1, 2, 5, 10, 20]) taus = 1 / (1 + ratios) fig, ax = plt.subplots(figsize=(7.2,…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8CFDABC-BF77-409E-A414-F3B3969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2CDA8FA-BDD0-4DF7-ACCA-9B65CEF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ratios = np.array([1, 2, 5, 10, 20]) taus = 1 / (1 + ratios) fig, ax = plt.subplots(figsize=(7.2, 2.7))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F5E71F0-4A67-4A78-848E-3B2AD1C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6410000-BC36-47AA-BAF9-299FFBC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420CA37B-CBA6-4BE6-9990-FB763B4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FF810C-F4D3-4EE5-901A-30F6F15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03492C-64B1-4C33-A452-E99537C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B719E10-3365-41EC-9188-A032A2E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8428903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E61F3DB-2EB1-48B4-B1C1-9DEBDA8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3B0B9-D28F-4A64-B5B3-33AD36E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the threshold does to the decision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587F97C-08ED-4B33-966A-50F72D6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2b14d6caa34cd2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B0E97306-C45F-4E92-91A5-1BE07A1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F4CBEC27-5E90-4DAF-B92C-59D6D33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ths = np.linspace(0.02, 0.6, 140) flagged = np.array([(p &gt;= t).mean() for t in ths]) recall =…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A0F5B5-22FF-4883-B990-F74AF39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1FA66CD-D5E9-4352-AD84-9B2582D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BE05C04-BD9A-4E87-97E6-F0641A1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A3A9904C-1203-4227-8B6D-F078C38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E4CC920A-D1E3-49F4-B9D2-F9094F9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D7AE0D4-FE6E-4A55-ABA1-CB3EAEC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9B7DDF-AD24-42DD-AA6B-A94B27D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3F34DA-4585-4E96-8684-4DC8E4E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17" name="media-matte-confusion_matrix.png">
            <a:extLst xmlns:a="http://schemas.openxmlformats.org/drawingml/2006/main">
              <a:ext uri="{FF2B5EF4-FFF2-40B4-BE49-F238E27FC236}">
                <a16:creationId xmlns:a16="http://schemas.microsoft.com/office/drawing/2014/main" id="{9B8FE067-4E57-465F-9EA0-C203CA19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9342251ce4062"/>
          <a:stretch xmlns:a="http://schemas.openxmlformats.org/drawingml/2006/main"/>
        </p:blipFill>
        <p:spPr>
          <a:xfrm xmlns:a="http://schemas.openxmlformats.org/drawingml/2006/main">
            <a:off x="1280160" y="1600200"/>
            <a:ext cx="521208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2790428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C8C5719-4E0E-4856-8CE5-97BC422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7FABC4-F995-4C95-A89C-4DFB4AE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number that should alarm you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C3A89DA-C4C5-4FF8-A42C-1B6034E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36F7CAD2-FD82-40DF-AD05-3541987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9B1F9F3C-4CB2-46A8-966B-B1AF5C7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B4531BA-DDB9-410A-8903-D1CC37B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FC68904-9B12-4299-9E9B-0F66E1DF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06-classification-logistic-and-penalised/demo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session06_classification_demo.py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59AA2D3-0653-47BC-86C8-472C4B2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E569B986-2F86-4717-83FF-77302AA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t in [0.10, 0.167, 0.20, 0.30, 0.50]: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yh = (p &gt;= t).astype(int)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rows.append((t, int(yh.sum()), ((yh == 1) &amp; (y == 1)).sum() / y.sum()))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out = pd.DataFrame(rows, columns=["threshold", "flagged", "recall"])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print(out.to_string(index=False, float_format=lambda v: f"{v:.3f}"))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13CB8A89-EDAA-4C95-88A7-E373E4C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F5C00F-6E44-44C8-8F44-8910AC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3BDAFB-FD5D-4B6F-85FF-C15D1C0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FEB808-CAEB-4FFF-A12F-8C992C0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13256472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A0774CA-5D12-4450-B312-26DB349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98AE5F-AD93-4775-BE2B-B5005E2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number that should alarm you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55A1409-D252-40D3-A8C3-E3182A6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FF213B9F-583A-4C7B-A24D-888464D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log[p/(1−p)] = xᵀβ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F92D94E-5BAC-4812-8AE8-7CEB1F1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t in [0.10, 0.167, 0.20, 0.30, 0.50]: yh = (p &gt;= t).astype(int) rows.append((t, int(yh.sum()), ((yh == 1) &amp; (y == 1)).sum() / y.sum()))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6D7C014-663E-43F5-91FC-6A4FDEB5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945ABA0-F93B-408A-973B-6C92DFD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t in [0.10, 0.167, 0.20, 0.30, 0.50]: yh = (p &gt;= t).astype(int) rows.append((t, int(yh.sum()),…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09eaab6fa94bf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97449B-BEA5-4528-8927-6DBB752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AB16C0B-0BF9-4ACD-A5CA-A812512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327253-68FE-4C68-B310-BFB2547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7287859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BFE805C-6A20-4771-A072-19B767B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FA2C57-8FA0-4A79-AF7F-63A2902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 0.3 really 30%?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A6AD85E-C5EF-4FD2-886D-B11C19DD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3931EE2-EFBF-435A-9A4B-101AD718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Choose 1 if p &gt; C_FP/(C_FP + C_FN)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43246643-1A55-4E2B-9C51-C1F255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frac, meanpred = calibrationcurve(y, p, nbins=8, strategy="quantile") fig, ax = plt.subplots(figsize=(5.4, 3.1)) ax.plot([0, .5], [0, .5], ls="--", color=CL.muted, lw=1.2)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A1F6C9B-6D7E-4BC3-A9CB-B57FEF8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28BAF64-A189-4DB4-AA3A-77D3C12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frac, meanpred = calibrationcurve(y, p, nbins=8, strategy="quantile") fig, ax =…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285c6c03d440ae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1376029-4470-4A37-82BB-100A5C5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D553EC-B6EE-49FB-B7B8-4D92F37D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A199905-A24A-4CF3-BC60-9C365C6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9496411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E30803E-5A81-406B-AD08-233104C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B377A0-F584-420E-8C1F-5E85D60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A second example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922C422-A8EF-405E-9569-820A0BF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55754AD-BD48-46E0-8315-C500B62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p(x) = 1 / [1 + exp(−xᵀβ)]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EA27308-F0F8-4151-AAFC-00BAED1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A second example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B6144A1-A309-4E75-B524-B173C90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99054E9-E8B9-4222-8B0A-7B4DF5BC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A second example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c6f027afbc47c4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26CBCC5-9536-4890-95A2-988D235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C883A9-ABDC-4386-8B49-F0B2269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558717-74B6-4984-BD6D-03E2DBE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7017306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550834C5-72B1-4C98-BADF-B1922A7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2B6B6-78EC-40BF-B77B-1D3CB91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Portugal's red wines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A39364A-05EB-4743-A6B6-D37664E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86ADC8F-F94A-4527-8237-F3FB85A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4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1,599 red vinho verde wines, chemically assayed, each rated by at least three blind tasters. wine = pd.readparquet("data/redwines.parquet") mw = smf.logit("good ~…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49312CE-E809-438E-B63F-9E5632E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7A4C350-A315-4B61-AF45-11B7D73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1,599 red vinho verde wines, chemically assayed, each rated by at least three blind tasters.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98A045BB-57A6-44D6-BFBA-998379E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7B352D8-6F7B-4C71-815A-D206A41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95356C6-7B94-48AB-8422-C25027F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wine = pd.readparquet("data/redwines.parquet") mw = smf.logit("good ~ alcohol + volatileacidity +…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06AADFF3-43E7-481B-8C26-9230B68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A5F1AF1B-649B-4167-BE4F-65E78A5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39E26B04-876C-4CB1-959F-1D9D141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EF2B058D-86B7-458E-BC8A-1343590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35D56EEC-76B4-4043-96D3-2415E02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7F70C32-E951-4C33-9A4D-8EAE672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59952141-8D07-4A67-8605-09ED27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96F2436-09F1-469C-8CC4-9224486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F08AF9-A307-4CEC-A5CB-A64AD60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E8A093-42A8-4E6C-8ACF-3CC18324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192264107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4F67789-A61D-4A23-926B-2E7F9473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11E577-9D29-4A4B-A627-FFF3EB3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Portugal's red wines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720696-FC3B-4859-8092-096D0F3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209D5E30-36FF-4891-8E87-A2CB5DC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FDAC1EF2-75F9-434C-BEA7-9FA9A6B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Portugal's red wines ·…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A2BCF9-8721-42E5-95A3-7AD6F2D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FBDCB34A-FE70-444F-837E-5B1CF76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1,599 red vinho verde wines, chemically assayed, each rated by at least three blind tasters.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5A59F2B3-59F4-416C-B40F-4343D90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5945901-4118-41AE-9861-FCBA4A6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Calibration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CA6A56F-0455-44B4-A39C-BB93630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3C070E55-09A7-4428-9755-B4A3821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wine = pd.readparquet("data/redwines.parquet") mw = smf.logit("good ~ alcohol + volatileacidity +…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817F0FB-6291-44DE-A7E2-96C1B49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1FC13430-8960-4457-B048-A2BF1EC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Discrimination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B45BC7B3-0E3B-4029-A291-2E20204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4904156-EA11-4D4C-B127-E74EC3A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13DAC35B-036F-4310-892F-D4BCE1F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E558ABF-BCD2-4504-8FA4-5B23A05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07946C-1BAD-4302-BA28-450B445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622765E-85A6-4288-9EFA-A3BA2C3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64951486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B45E6BC-BD67-4EE1-ACDC-99DE710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61C0D-0800-4407-BAF8-82EAB78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Same method, very different signal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ED563C-E1F4-4C33-B500-57074A2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6E6C345-BBC6-4150-B102-8ADD46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0AF0824-FE44-4FEA-BC55-FDC4F64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mw = smf.logit("good ~ alcohol + volatileacidity + sulphates", data=wine).fit(disp=0) pw =…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8CFDABC-BF77-409E-A414-F3B3969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2CDA8FA-BDD0-4DF7-ACCA-9B65CEF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probabilities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F5E71F0-4A67-4A78-848E-3B2AD1C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6410000-BC36-47AA-BAF9-299FFBC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ranking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420CA37B-CBA6-4BE6-9990-FB763B4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Choose a threshold from costs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FF810C-F4D3-4EE5-901A-30F6F15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03492C-64B1-4C33-A452-E99537C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B719E10-3365-41EC-9188-A032A2E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84289036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E61F3DB-2EB1-48B4-B1C1-9DEBDA8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3B0B9-D28F-4A64-B5B3-33AD36E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the difference is not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587F97C-08ED-4B33-966A-50F72D6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158f47aee843ba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B0E97306-C45F-4E92-91A5-1BE07A1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F4CBEC27-5E90-4DAF-B92C-59D6D33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Same estimator, both imbalanced.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A0F5B5-22FF-4883-B990-F74AF39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1FA66CD-D5E9-4352-AD84-9B2582D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predictors differ in how much they know.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BE05C04-BD9A-4E87-97E6-F0641A1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A3A9904C-1203-4227-8B6D-F078C38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8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Chemistry measures the thing being judged; a credit file measures a person's past, not their next…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E4CC920A-D1E3-49F4-B9D2-F9094F9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D7AE0D4-FE6E-4A55-ABA1-CB3EAEC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9B7DDF-AD24-42DD-AA6B-A94B27D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3F34DA-4585-4E96-8684-4DC8E4E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17" name="media-matte-confusion_matrix.png">
            <a:extLst xmlns:a="http://schemas.openxmlformats.org/drawingml/2006/main">
              <a:ext uri="{FF2B5EF4-FFF2-40B4-BE49-F238E27FC236}">
                <a16:creationId xmlns:a16="http://schemas.microsoft.com/office/drawing/2014/main" id="{7513BC5C-AD2F-47D6-BCE1-B6188626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79f869f9c4fa2"/>
          <a:stretch xmlns:a="http://schemas.openxmlformats.org/drawingml/2006/main"/>
        </p:blipFill>
        <p:spPr>
          <a:xfrm xmlns:a="http://schemas.openxmlformats.org/drawingml/2006/main">
            <a:off x="1280160" y="1600200"/>
            <a:ext cx="521208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2790428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C8C5719-4E0E-4856-8CE5-97BC422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7FABC4-F995-4C95-A89C-4DFB4AE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 · Key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C3A89DA-C4C5-4FF8-A42C-1B6034EB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36F7CAD2-FD82-40DF-AD05-3541987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9B1F9F3C-4CB2-46A8-966B-B1AF5C7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B4531BA-DDB9-410A-8903-D1CC37B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FC68904-9B12-4299-9E9B-0F66E1DF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06-classification-logistic-and-penalised/demo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session06_classification_demo.py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59AA2D3-0653-47BC-86C8-472C4B2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E569B986-2F86-4717-83FF-77302AA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sklearn.linear_model import LogisticRegression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np.arange(20.).reshape(10,2); y = np.array([0,0,0,0,0,0,1,1,1,1])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LogisticRegression().fit(X,y)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 = m.predict_proba(X)[:,1]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print(np.c_[p, p &gt;= .30])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13CB8A89-EDAA-4C95-88A7-E373E4C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FF5C00F-6E44-44C8-8F44-8910AC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3BDAFB-FD5D-4B6F-85FF-C15D1C0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FEB808-CAEB-4FFF-A12F-8C992C0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132564728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9C0B305A-C3B6-4B7F-82A6-112B1168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BFE60440-6981-417B-8C54-54DBE4E0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 reliably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675CDD43-00EF-4A87-ABA3-BD75B85E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FF2796A7-8ACC-4985-B28F-7886B35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1B0C1F92-0B35-4E16-B9FE-BA9CCC5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 a 3% event, predicting ‘no’ for everyone gives 97% accuracy and zero usefulness.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0FE78FFF-8463-4C74-A922-B40A58FD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7D1D59D3-94BF-4F68-9A84-83D3BFD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Costs are stated or stress-tested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D9CB0B6-6D5E-4E40-988B-0337FD74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8360CB-7DCC-410C-921E-7138527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CF334C1-1A75-48EC-BF5F-628111E2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695599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25DD8C84-C7AA-4A7D-A1DB-469300E4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135FFE-45A7-43F2-9E43-03872C5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 the practice session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2315E05-6C65-4C03-BF61-DCE008E5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4A72FE7A-593F-4E3A-A2E0-F1F7C41A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8CBA82BF-2329-42C5-AC58-ACF7E970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Derivations, penalised logistic and IRLS: 01-lecture/README.md §6.1–6.9 · brief: 02-practice/README.md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9FE15A61-FF39-44E0-9A6F-FE8691A6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DD7C9893-F176-4541-8D10-CC7966A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FA525697-F02A-4247-87F4-81DC0A2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 a 3% event, predicting ‘no’ for everyone gives 97% accuracy and zero usefulness.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84C86AE8-1B58-40C8-8B60-CD14196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63C1540-A950-4635-A39C-0355E0E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2A4DF4-093D-4250-A8DD-9EDB58DB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1539AD-C3A8-4B52-AB69-0BAE2B7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206332218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BABC72AC-CB60-4D4F-A348-D26C2D14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AB6BD3-9CCE-4929-8759-236EC36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9F9117-BF9A-49BB-BB1D-D1AAE37E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144CFE72-BC42-42DE-8F75-07E3264E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6A4F5633-8A43-43BC-829C-F7D835F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Saganowski et al. (2019) — Group Evolution Prediction in Complex Networks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83579041-9E82-4E74-B262-E7D5B68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multi-class prediction with repeated folds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1B4426D3-E0AC-4A4C-B29C-80315FD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https://doi.org/10.1371/journal.pone.0224194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BEF52C10-4E31-4243-A84A-23667078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3FA05B57-E8D5-47EB-8D43-853C310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2F92A45F-CCAF-4A5B-8099-E5533F8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10.7910/DVN/ONOFS7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95217382-5933-4DB1-9875-78E038E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public CSV folds from seven networks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72E62D67-BCF0-4236-BB3F-EA002FD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https://doi.org/10.7910/DVN/ONOFS7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CE9EAC10-D422-48E1-BDDA-7AD26681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F7B68BCD-3EE9-452D-9571-F5991F3D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40002C30-5173-46FD-B3BC-B5B6B2B9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ISLR, classification chapter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84FC7862-D686-4C21-9EFE-4321F9C2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review of logistic regression and classification metrics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21018DCD-7175-475C-8EF8-AD46EBF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2C100C1-5339-477F-9630-8E3C011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1C9542-4911-4194-9330-1F30AC07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6B0B991-0336-45F0-9A54-4E15BDFD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3806686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25DD8C84-C7AA-4A7D-A1DB-469300E4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135FFE-45A7-43F2-9E43-03872C5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2315E05-6C65-4C03-BF61-DCE008E5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4A72FE7A-593F-4E3A-A2E0-F1F7C41A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8CBA82BF-2329-42C5-AC58-ACF7E970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Report prevalence, AUC, calibration, threshold, and the resulting confusion matrix.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9FE15A61-FF39-44E0-9A6F-FE8691A6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DD7C9893-F176-4541-8D10-CC7966A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FA525697-F02A-4247-87F4-81DC0A2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 a 3% event, predicting ‘no’ for everyone gives 97% accuracy and zero usefulness.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84C86AE8-1B58-40C8-8B60-CD14196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63C1540-A950-4635-A39C-0355E0E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2A4DF4-093D-4250-A8DD-9EDB58DB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1539AD-C3A8-4B52-AB69-0BAE2B7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206332218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550834C5-72B1-4C98-BADF-B1922A7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2B6B6-78EC-40BF-B77B-1D3CB91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A39364A-05EB-4743-A6B6-D37664E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086ADC8F-F94A-4527-8237-F3FB85A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On a 3% event, predicting ‘no’ for everyone gives 97% accuracy and zero usefulness.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49312CE-E809-438E-B63F-9E5632E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D7A4C350-A315-4B61-AF45-11B7D73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labels match the real event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98A045BB-57A6-44D6-BFBA-998379EE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7B352D8-6F7B-4C71-815A-D206A41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95356C6-7B94-48AB-8422-C25027F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Evaluation preserves prevalence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06AADFF3-43E7-481B-8C26-9230B68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A5F1AF1B-649B-4167-BE4F-65E78A5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39E26B04-876C-4CB1-959F-1D9D141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Costs are stated or stress-tested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EF2B058D-86B7-458E-BC8A-1343590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35D56EEC-76B4-4043-96D3-2415E02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87F70C32-E951-4C33-9A4D-8EAE672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Separation and rare classes are diagnosed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59952141-8D07-4A67-8605-09ED27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96F2436-09F1-469C-8CC4-9224486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F08AF9-A307-4CEC-A5CB-A64AD60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E8A093-42A8-4E6C-8ACF-3CC18324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192264107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4F43B05B-6642-49EF-AE65-2E5624FD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A14465-BD0C-4774-A162-A5773EC6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network evolution classification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DD1F4C1-33BD-4F42-8A65-09AC4F0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618EC6B0-42DC-458A-AE4C-4B1799A8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result, inspect probabilities, and choose an action rule that reflects error costs.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899C7312-B3FD-4464-8A55-2425ACF7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49583F37-3A77-4057-B3F8-0A04508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Identify the classes and fold design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D34978FF-CC16-4040-9C3A-6A47424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723AED95-158C-4EBA-96FB-C02C5C92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classification result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385F5463-A53A-4205-994C-04ACD73E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64691B4B-7F99-4AF6-B49A-22034C20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calibration and class imbalance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ACEFB870-49FE-47D2-AE83-4250120F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250B6640-57E1-400D-9EAA-B54E4D66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a cost-based threshold or action rule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C66239C2-1FB5-457C-A626-0B8709FA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78818496-D6CA-49C5-9DB1-FB0C7155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it with the default rule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286D95C8-C2FA-4478-B216-CF84BA36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C333C1A9-A81C-42F0-A8C8-70FD860F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E3B90256-635F-42CC-A772-8C6272FD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DC9A2A4-9FCD-4FF9-8064-574D28C8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4B7D961-7872-470E-B700-56AA9178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668B00-523A-4B79-9160-6185717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297445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06 Lecture</dc:title>
  <dcterms:created xsi:type="dcterms:W3CDTF">2026-08-23T23:38:14.9560000Z</dcterms:created>
  <dcterms:modified xsi:type="dcterms:W3CDTF">2026-08-23T23:38:14.9560000Z</dcterms:modified>
</coreProperties>
</file>