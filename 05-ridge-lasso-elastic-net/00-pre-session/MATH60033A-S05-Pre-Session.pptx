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53c805165c47c9" /><Relationship Type="http://schemas.openxmlformats.org/officeDocument/2006/relationships/extended-properties" Target="/docProps/app.xml" Id="Reeff6b2b1d2a4b91" /><Relationship Type="http://schemas.openxmlformats.org/officeDocument/2006/relationships/officeDocument" Target="/ppt/presentation.xml" Id="R8da63a3fb60042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a59b8400f14b45"/>
  </p:sldMasterIdLst>
  <p:notesMasterIdLst>
    <p:notesMasterId xmlns:r="http://schemas.openxmlformats.org/officeDocument/2006/relationships" r:id="R187377a1c64946ae"/>
  </p:notesMasterIdLst>
  <p:sldIdLst>
    <p:sldId xmlns:r="http://schemas.openxmlformats.org/officeDocument/2006/relationships" id="256" r:id="Rfdf32b66560f4273"/>
    <p:sldId xmlns:r="http://schemas.openxmlformats.org/officeDocument/2006/relationships" id="257" r:id="Ra518f636b5ff4379"/>
    <p:sldId xmlns:r="http://schemas.openxmlformats.org/officeDocument/2006/relationships" id="258" r:id="R2e432c72c38a47dc"/>
    <p:sldId xmlns:r="http://schemas.openxmlformats.org/officeDocument/2006/relationships" id="259" r:id="Rc70201cb0a8f4e28"/>
    <p:sldId xmlns:r="http://schemas.openxmlformats.org/officeDocument/2006/relationships" id="260" r:id="R90fb4fbbbe6c4fbd"/>
    <p:sldId xmlns:r="http://schemas.openxmlformats.org/officeDocument/2006/relationships" id="261" r:id="R91b674e604e54e3f"/>
    <p:sldId xmlns:r="http://schemas.openxmlformats.org/officeDocument/2006/relationships" id="262" r:id="Rb3623ea726ca4e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a1ef3c6d1e45b0" /><Relationship Type="http://schemas.openxmlformats.org/officeDocument/2006/relationships/slideMaster" Target="/ppt/slideMasters/slideMaster1.xml" Id="Ra4a59b8400f14b45" /><Relationship Type="http://schemas.openxmlformats.org/officeDocument/2006/relationships/notesMaster" Target="/ppt/notesMasters/notesMaster1.xml" Id="R187377a1c64946ae" /><Relationship Type="http://schemas.openxmlformats.org/officeDocument/2006/relationships/presProps" Target="/ppt/presProps.xml" Id="Rb67d046abfe3496f" /><Relationship Type="http://schemas.openxmlformats.org/officeDocument/2006/relationships/tableStyles" Target="/ppt/tableStyles.xml" Id="R6754df61609342a6" /><Relationship Type="http://schemas.openxmlformats.org/officeDocument/2006/relationships/slide" Target="/ppt/slides/slide1.xml" Id="Rfdf32b66560f4273" /><Relationship Type="http://schemas.openxmlformats.org/officeDocument/2006/relationships/slide" Target="/ppt/slides/slide2.xml" Id="Ra518f636b5ff4379" /><Relationship Type="http://schemas.openxmlformats.org/officeDocument/2006/relationships/slide" Target="/ppt/slides/slide3.xml" Id="R2e432c72c38a47dc" /><Relationship Type="http://schemas.openxmlformats.org/officeDocument/2006/relationships/slide" Target="/ppt/slides/slide4.xml" Id="Rc70201cb0a8f4e28" /><Relationship Type="http://schemas.openxmlformats.org/officeDocument/2006/relationships/slide" Target="/ppt/slides/slide5.xml" Id="R90fb4fbbbe6c4fbd" /><Relationship Type="http://schemas.openxmlformats.org/officeDocument/2006/relationships/slide" Target="/ppt/slides/slide6.xml" Id="R91b674e604e54e3f" /><Relationship Type="http://schemas.openxmlformats.org/officeDocument/2006/relationships/slide" Target="/ppt/slides/slide7.xml" Id="Rb3623ea726ca4e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16f71269564b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8e28c281004a00" /><Relationship Type="http://schemas.openxmlformats.org/officeDocument/2006/relationships/notesMaster" Target="/ppt/notesMasters/notesMaster1.xml" Id="Rfb97481e3c2f47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a9008df3ca47c6" /><Relationship Type="http://schemas.openxmlformats.org/officeDocument/2006/relationships/notesMaster" Target="/ppt/notesMasters/notesMaster1.xml" Id="R6b232826a4f64c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2ad7613b0b465d" /><Relationship Type="http://schemas.openxmlformats.org/officeDocument/2006/relationships/notesMaster" Target="/ppt/notesMasters/notesMaster1.xml" Id="R716db17c1c374f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bdf8637e334b25" /><Relationship Type="http://schemas.openxmlformats.org/officeDocument/2006/relationships/notesMaster" Target="/ppt/notesMasters/notesMaster1.xml" Id="Rdfd6455cd51046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4aab035cfa4b51" /><Relationship Type="http://schemas.openxmlformats.org/officeDocument/2006/relationships/notesMaster" Target="/ppt/notesMasters/notesMaster1.xml" Id="Rb33fe5a64c9d46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86139d05114be2" /><Relationship Type="http://schemas.openxmlformats.org/officeDocument/2006/relationships/notesMaster" Target="/ppt/notesMasters/notesMaster1.xml" Id="R296b595a787d46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e0f9200e41427c" /><Relationship Type="http://schemas.openxmlformats.org/officeDocument/2006/relationships/notesMaster" Target="/ppt/notesMasters/notesMaster1.xml" Id="Rcb75807f742e42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When is a deliberately biased estimator the better one?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05-ridge-lasso-elastic-net/00-pre-session/README.md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class, students read the article, download the Dataverse package, and identify this practice target: Reproduce one lasso benchmark on the selected small pair, then compare ridge, lasso, and elastic net under the same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05-ridge-lasso-elastic-net/00-pre-session/README.md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academic article and Dataverse package are required before class. ISLR is optional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05-ridge-lasso-elastic-net/00-pre-session/README.md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be able to supply a concrete example of each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05-ridge-lasso-elastic-net/00-pre-session/README.md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practice target is: Reproduce one lasso benchmark on the selected small pair, then compare ridge, lasso, and elastic net under the same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05-ridge-lasso-elastic-net/00-pre-session/README.md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reveal answers. Ask students to bring the question they could 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05-ridge-lasso-elastic-net/00-pre-session/README.md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goal is readiness, not completion theatre. Invite students to bring one unresolved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05-ridge-lasso-elastic-net/00-pre-session/README.md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1f2bd02b84b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d2b39760574074" /><Relationship Type="http://schemas.openxmlformats.org/officeDocument/2006/relationships/slideLayout" Target="/ppt/slideLayouts/slideLayout1.xml" Id="Rea01c0952aa34d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01c0952aa34d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a11c71e9b4d15" /><Relationship Type="http://schemas.openxmlformats.org/officeDocument/2006/relationships/chart" Target="/ppt/slides/charts/chart1.xml" Id="R31ef0917a5fe40ca" /><Relationship Type="http://schemas.openxmlformats.org/officeDocument/2006/relationships/notesSlide" Target="/ppt/notesSlides/notesSlide1.xml" Id="Ra16eb49ce79045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c8d1a47e24633" /><Relationship Type="http://schemas.openxmlformats.org/officeDocument/2006/relationships/notesSlide" Target="/ppt/notesSlides/notesSlide2.xml" Id="Rcf4eb60445b945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529e02c5142fc" /><Relationship Type="http://schemas.openxmlformats.org/officeDocument/2006/relationships/notesSlide" Target="/ppt/notesSlides/notesSlide3.xml" Id="Rdb13292589764a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8fee2c13d49da" /><Relationship Type="http://schemas.openxmlformats.org/officeDocument/2006/relationships/notesSlide" Target="/ppt/notesSlides/notesSlide4.xml" Id="Rbdbef963b98140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b1fe218a646a2" /><Relationship Type="http://schemas.openxmlformats.org/officeDocument/2006/relationships/notesSlide" Target="/ppt/notesSlides/notesSlide5.xml" Id="Rc411681e7ee341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aab4f9ac34e4a" /><Relationship Type="http://schemas.openxmlformats.org/officeDocument/2006/relationships/notesSlide" Target="/ppt/notesSlides/notesSlide6.xml" Id="R6f87c6d776c446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d2b9fbd954a78" /><Relationship Type="http://schemas.openxmlformats.org/officeDocument/2006/relationships/notesSlide" Target="/ppt/notesSlides/notesSlide7.xml" Id="R72c9ad39083447c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x₁</c:v>
              </c:pt>
              <c:pt idx="1">
                <c:v>x₂</c:v>
              </c:pt>
              <c:pt idx="2">
                <c:v>x₃</c:v>
              </c:pt>
              <c:pt idx="3">
                <c:v>x₄</c:v>
              </c:pt>
              <c:pt idx="4">
                <c:v>x₅</c:v>
              </c:pt>
            </c:strLit>
          </c:cat>
          <c:val>
            <c:numLit>
              <c:formatCode>General</c:formatCode>
              <c:ptCount val="5"/>
              <c:pt idx="0">
                <c:v>5</c:v>
              </c:pt>
              <c:pt idx="1">
                <c:v>4</c:v>
              </c:pt>
              <c:pt idx="2">
                <c:v>3</c:v>
              </c:pt>
              <c:pt idx="3">
                <c:v>2</c:v>
              </c:pt>
              <c:pt idx="4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54D1401-DF3B-4A92-A817-4294A65C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05 · PRE-SESSION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3CB7980-850E-44B0-A798-4EC0F0A8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Ridge, lasso, and the elastic net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126C64A2-51DE-44A1-8B7F-D6AB00C2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When is a deliberately biased estimator the better one?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E418115E-7210-4214-B80A-44353D03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94B4337D-3B5B-4EAD-9500-377E00A1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ef0917a5fe40ca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6FF7A42-FA43-4E0E-839C-529FB1C0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6BB0047-B1D7-4504-B717-EEF7B6E0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327FC1B-FB07-40EB-90A7-B2FC6F0F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</a:t>
            </a:r>
          </a:p>
        </p:txBody>
      </p:sp>
    </p:spTree>
    <p:extLst>
      <p:ext uri="{BB962C8B-B14F-4D97-AF65-F5344CB8AC3E}">
        <p14:creationId xmlns:p14="http://schemas.microsoft.com/office/powerpoint/2010/main" val="1212300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774B9B85-0EEC-4094-BC8D-DA36138E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REQUIRED BEFORE CLASS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7BB826-1286-427B-89A3-E0C5711A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article; download the package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3A29F9F-B114-4D87-ABAA-A5BE5509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quired-label">
            <a:extLst xmlns:a="http://schemas.openxmlformats.org/drawingml/2006/main">
              <a:ext uri="{FF2B5EF4-FFF2-40B4-BE49-F238E27FC236}">
                <a16:creationId xmlns:a16="http://schemas.microsoft.com/office/drawing/2014/main" id="{69DF2DA9-7FDD-4A51-A865-3883B48B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quired-title">
            <a:extLst xmlns:a="http://schemas.openxmlformats.org/drawingml/2006/main">
              <a:ext uri="{FF2B5EF4-FFF2-40B4-BE49-F238E27FC236}">
                <a16:creationId xmlns:a16="http://schemas.microsoft.com/office/drawing/2014/main" id="{E73B384F-9336-4FA9-9941-47F5D7E9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Frandi et al. (2016) — Fast and Scalable Lasso</a:t>
            </a:r>
          </a:p>
        </p:txBody>
      </p:sp>
      <p:sp>
        <p:nvSpPr>
          <p:cNvPr id="6" name="pre-required-purpose">
            <a:extLst xmlns:a="http://schemas.openxmlformats.org/drawingml/2006/main">
              <a:ext uri="{FF2B5EF4-FFF2-40B4-BE49-F238E27FC236}">
                <a16:creationId xmlns:a16="http://schemas.microsoft.com/office/drawing/2014/main" id="{F5E55E60-B2FE-4976-8D50-022332F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sparse estimation and regularization paths at scale</a:t>
            </a:r>
          </a:p>
        </p:txBody>
      </p:sp>
      <p:sp>
        <p:nvSpPr>
          <p:cNvPr id="7" name="pre-required-url">
            <a:extLst xmlns:a="http://schemas.openxmlformats.org/drawingml/2006/main">
              <a:ext uri="{FF2B5EF4-FFF2-40B4-BE49-F238E27FC236}">
                <a16:creationId xmlns:a16="http://schemas.microsoft.com/office/drawing/2014/main" id="{16CE62C1-7E5E-415E-BB8B-BCE6827A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https://doi.org/10.1007/s10994-016-5578-4</a:t>
            </a:r>
          </a:p>
        </p:txBody>
      </p:sp>
      <p:sp>
        <p:nvSpPr>
          <p:cNvPr id="8" name="pre-data-label">
            <a:extLst xmlns:a="http://schemas.openxmlformats.org/drawingml/2006/main">
              <a:ext uri="{FF2B5EF4-FFF2-40B4-BE49-F238E27FC236}">
                <a16:creationId xmlns:a16="http://schemas.microsoft.com/office/drawing/2014/main" id="{F98149BB-CD08-45F1-A955-B995FE05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data-url">
            <a:extLst xmlns:a="http://schemas.openxmlformats.org/drawingml/2006/main">
              <a:ext uri="{FF2B5EF4-FFF2-40B4-BE49-F238E27FC236}">
                <a16:creationId xmlns:a16="http://schemas.microsoft.com/office/drawing/2014/main" id="{DF86E29A-6796-40DC-A252-35B6C96D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https://doi.org/10.7910/DVN/QJEUKR</a:t>
            </a:r>
          </a:p>
        </p:txBody>
      </p:sp>
      <p:sp>
        <p:nvSpPr>
          <p:cNvPr id="10" name="pre-bring-label">
            <a:extLst xmlns:a="http://schemas.openxmlformats.org/drawingml/2006/main">
              <a:ext uri="{FF2B5EF4-FFF2-40B4-BE49-F238E27FC236}">
                <a16:creationId xmlns:a16="http://schemas.microsoft.com/office/drawing/2014/main" id="{247B011A-C820-47FF-8BA9-1765F59A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BRING TO CLASS</a:t>
            </a:r>
          </a:p>
        </p:txBody>
      </p:sp>
      <p:sp>
        <p:nvSpPr>
          <p:cNvPr id="11" name="pre-bring-copy">
            <a:extLst xmlns:a="http://schemas.openxmlformats.org/drawingml/2006/main">
              <a:ext uri="{FF2B5EF4-FFF2-40B4-BE49-F238E27FC236}">
                <a16:creationId xmlns:a16="http://schemas.microsoft.com/office/drawing/2014/main" id="{B860E89B-E0D4-40AF-B730-F5E12807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annotated · package extracted · target result identified</a:t>
            </a:r>
          </a:p>
        </p:txBody>
      </p:sp>
      <p:sp>
        <p:nvSpPr>
          <p:cNvPr id="12" name="pre-annotation-bg">
            <a:extLst xmlns:a="http://schemas.openxmlformats.org/drawingml/2006/main">
              <a:ext uri="{FF2B5EF4-FFF2-40B4-BE49-F238E27FC236}">
                <a16:creationId xmlns:a16="http://schemas.microsoft.com/office/drawing/2014/main" id="{0671B973-7FA4-4EDD-A1A5-056C5ACB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4038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pre-annotation-title">
            <a:extLst xmlns:a="http://schemas.openxmlformats.org/drawingml/2006/main">
              <a:ext uri="{FF2B5EF4-FFF2-40B4-BE49-F238E27FC236}">
                <a16:creationId xmlns:a16="http://schemas.microsoft.com/office/drawing/2014/main" id="{F1F61905-7806-4F69-96C5-D455B9A1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Annotate four things</a:t>
            </a:r>
          </a:p>
        </p:txBody>
      </p:sp>
      <p:sp>
        <p:nvSpPr>
          <p:cNvPr id="14" name="pre-annotation-num-0">
            <a:extLst xmlns:a="http://schemas.openxmlformats.org/drawingml/2006/main">
              <a:ext uri="{FF2B5EF4-FFF2-40B4-BE49-F238E27FC236}">
                <a16:creationId xmlns:a16="http://schemas.microsoft.com/office/drawing/2014/main" id="{C87F140F-1951-4944-A5B5-7795DBEE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pre-annotation-item-0">
            <a:extLst xmlns:a="http://schemas.openxmlformats.org/drawingml/2006/main">
              <a:ext uri="{FF2B5EF4-FFF2-40B4-BE49-F238E27FC236}">
                <a16:creationId xmlns:a16="http://schemas.microsoft.com/office/drawing/2014/main" id="{C6E46490-4CAB-49E3-9B8F-CAFA575E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16" name="pre-annotation-num-1">
            <a:extLst xmlns:a="http://schemas.openxmlformats.org/drawingml/2006/main">
              <a:ext uri="{FF2B5EF4-FFF2-40B4-BE49-F238E27FC236}">
                <a16:creationId xmlns:a16="http://schemas.microsoft.com/office/drawing/2014/main" id="{CB75F99F-95F5-48C2-883D-0A721A6A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pre-annotation-item-1">
            <a:extLst xmlns:a="http://schemas.openxmlformats.org/drawingml/2006/main">
              <a:ext uri="{FF2B5EF4-FFF2-40B4-BE49-F238E27FC236}">
                <a16:creationId xmlns:a16="http://schemas.microsoft.com/office/drawing/2014/main" id="{827DAC4B-8D0C-437D-89EA-191183E0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or design</a:t>
            </a:r>
          </a:p>
        </p:txBody>
      </p:sp>
      <p:sp>
        <p:nvSpPr>
          <p:cNvPr id="18" name="pre-annotation-num-2">
            <a:extLst xmlns:a="http://schemas.openxmlformats.org/drawingml/2006/main">
              <a:ext uri="{FF2B5EF4-FFF2-40B4-BE49-F238E27FC236}">
                <a16:creationId xmlns:a16="http://schemas.microsoft.com/office/drawing/2014/main" id="{30AD36F1-6724-46F0-A6C6-3CD58D53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pre-annotation-item-2">
            <a:extLst xmlns:a="http://schemas.openxmlformats.org/drawingml/2006/main">
              <a:ext uri="{FF2B5EF4-FFF2-40B4-BE49-F238E27FC236}">
                <a16:creationId xmlns:a16="http://schemas.microsoft.com/office/drawing/2014/main" id="{2451179A-3E59-4525-B18A-BB30CAC7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strongest evidence</a:t>
            </a:r>
          </a:p>
        </p:txBody>
      </p:sp>
      <p:sp>
        <p:nvSpPr>
          <p:cNvPr id="20" name="pre-annotation-num-3">
            <a:extLst xmlns:a="http://schemas.openxmlformats.org/drawingml/2006/main">
              <a:ext uri="{FF2B5EF4-FFF2-40B4-BE49-F238E27FC236}">
                <a16:creationId xmlns:a16="http://schemas.microsoft.com/office/drawing/2014/main" id="{9F05BBB0-808C-4CA3-B748-FC96DECF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re-annotation-item-3">
            <a:extLst xmlns:a="http://schemas.openxmlformats.org/drawingml/2006/main">
              <a:ext uri="{FF2B5EF4-FFF2-40B4-BE49-F238E27FC236}">
                <a16:creationId xmlns:a16="http://schemas.microsoft.com/office/drawing/2014/main" id="{AFFF5AF9-5A06-4BFE-BD8C-806617F9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limitation or doubt</a:t>
            </a:r>
          </a:p>
        </p:txBody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7AEAC84-362F-4E51-92BD-6D31BA5A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533729-91D5-4F74-8E1C-1E343E25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64E2A1A-99E0-4987-8E36-14313AC2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2</a:t>
            </a:r>
          </a:p>
        </p:txBody>
      </p:sp>
    </p:spTree>
    <p:extLst>
      <p:ext uri="{BB962C8B-B14F-4D97-AF65-F5344CB8AC3E}">
        <p14:creationId xmlns:p14="http://schemas.microsoft.com/office/powerpoint/2010/main" val="837654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1EA7E11-7EF8-4673-8EE2-513478F9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READING GUIDE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0D8DDE-B4B4-44D5-ABC5-DFBC76EB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for the argument, not for coverage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141C7CA-38BB-41F4-BC90-AD213F38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ading-status-0">
            <a:extLst xmlns:a="http://schemas.openxmlformats.org/drawingml/2006/main">
              <a:ext uri="{FF2B5EF4-FFF2-40B4-BE49-F238E27FC236}">
                <a16:creationId xmlns:a16="http://schemas.microsoft.com/office/drawing/2014/main" id="{DE659002-727D-40FF-B675-6A374A18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ading-0">
            <a:extLst xmlns:a="http://schemas.openxmlformats.org/drawingml/2006/main">
              <a:ext uri="{FF2B5EF4-FFF2-40B4-BE49-F238E27FC236}">
                <a16:creationId xmlns:a16="http://schemas.microsoft.com/office/drawing/2014/main" id="{DC7835D0-FF27-4728-A10C-B3814C08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Frandi et al. (2016) — Fast and Scalable Lasso</a:t>
            </a:r>
          </a:p>
        </p:txBody>
      </p:sp>
      <p:sp>
        <p:nvSpPr>
          <p:cNvPr id="6" name="pre-reading-why-0">
            <a:extLst xmlns:a="http://schemas.openxmlformats.org/drawingml/2006/main">
              <a:ext uri="{FF2B5EF4-FFF2-40B4-BE49-F238E27FC236}">
                <a16:creationId xmlns:a16="http://schemas.microsoft.com/office/drawing/2014/main" id="{47B476F5-14A6-49D2-AC4D-CADB382E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sparse estimation and regularization paths at scale</a:t>
            </a:r>
          </a:p>
        </p:txBody>
      </p:sp>
      <p:sp>
        <p:nvSpPr>
          <p:cNvPr id="7" name="pre-reading-url-0">
            <a:extLst xmlns:a="http://schemas.openxmlformats.org/drawingml/2006/main">
              <a:ext uri="{FF2B5EF4-FFF2-40B4-BE49-F238E27FC236}">
                <a16:creationId xmlns:a16="http://schemas.microsoft.com/office/drawing/2014/main" id="{ECB499AD-4869-4090-B95D-D5E741EF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https://doi.org/10.1007/s10994-016-5578-4</a:t>
            </a:r>
          </a:p>
        </p:txBody>
      </p:sp>
      <p:sp>
        <p:nvSpPr>
          <p:cNvPr id="8" name="pre-reading-status-1">
            <a:extLst xmlns:a="http://schemas.openxmlformats.org/drawingml/2006/main">
              <a:ext uri="{FF2B5EF4-FFF2-40B4-BE49-F238E27FC236}">
                <a16:creationId xmlns:a16="http://schemas.microsoft.com/office/drawing/2014/main" id="{7D7D1D39-B9EA-43A8-90FD-F397E0B0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reading-1">
            <a:extLst xmlns:a="http://schemas.openxmlformats.org/drawingml/2006/main">
              <a:ext uri="{FF2B5EF4-FFF2-40B4-BE49-F238E27FC236}">
                <a16:creationId xmlns:a16="http://schemas.microsoft.com/office/drawing/2014/main" id="{4D70E09E-AA81-4E6A-B4C8-733A741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Harvard Dataverse 10.7910/DVN/QJEUKR</a:t>
            </a:r>
          </a:p>
        </p:txBody>
      </p:sp>
      <p:sp>
        <p:nvSpPr>
          <p:cNvPr id="10" name="pre-reading-why-1">
            <a:extLst xmlns:a="http://schemas.openxmlformats.org/drawingml/2006/main">
              <a:ext uri="{FF2B5EF4-FFF2-40B4-BE49-F238E27FC236}">
                <a16:creationId xmlns:a16="http://schemas.microsoft.com/office/drawing/2014/main" id="{0B3BEB8A-DDE1-464C-8532-0E901267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package: use only the selected classroom train/test pair</a:t>
            </a:r>
          </a:p>
        </p:txBody>
      </p:sp>
      <p:sp>
        <p:nvSpPr>
          <p:cNvPr id="11" name="pre-reading-url-1">
            <a:extLst xmlns:a="http://schemas.openxmlformats.org/drawingml/2006/main">
              <a:ext uri="{FF2B5EF4-FFF2-40B4-BE49-F238E27FC236}">
                <a16:creationId xmlns:a16="http://schemas.microsoft.com/office/drawing/2014/main" id="{978A3431-9E51-4787-9460-53D662E8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https://doi.org/10.7910/DVN/QJEUKR</a:t>
            </a:r>
          </a:p>
        </p:txBody>
      </p:sp>
      <p:sp>
        <p:nvSpPr>
          <p:cNvPr id="12" name="pre-reading-status-2">
            <a:extLst xmlns:a="http://schemas.openxmlformats.org/drawingml/2006/main">
              <a:ext uri="{FF2B5EF4-FFF2-40B4-BE49-F238E27FC236}">
                <a16:creationId xmlns:a16="http://schemas.microsoft.com/office/drawing/2014/main" id="{FFF4E365-1368-4DFD-A941-8704B23E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3" name="pre-reading-2">
            <a:extLst xmlns:a="http://schemas.openxmlformats.org/drawingml/2006/main">
              <a:ext uri="{FF2B5EF4-FFF2-40B4-BE49-F238E27FC236}">
                <a16:creationId xmlns:a16="http://schemas.microsoft.com/office/drawing/2014/main" id="{6D7E5C8F-8D8D-4DE5-825B-649BCBBA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ISLR, regularization chapter</a:t>
            </a:r>
          </a:p>
        </p:txBody>
      </p:sp>
      <p:sp>
        <p:nvSpPr>
          <p:cNvPr id="14" name="pre-reading-why-2">
            <a:extLst xmlns:a="http://schemas.openxmlformats.org/drawingml/2006/main">
              <a:ext uri="{FF2B5EF4-FFF2-40B4-BE49-F238E27FC236}">
                <a16:creationId xmlns:a16="http://schemas.microsoft.com/office/drawing/2014/main" id="{E69676DA-08FE-4D22-A3EF-410F1D4C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explanation of ridge, lasso, and elastic net</a:t>
            </a:r>
          </a:p>
        </p:txBody>
      </p:sp>
      <p:sp>
        <p:nvSpPr>
          <p:cNvPr id="15" name="pre-reading-url-2">
            <a:extLst xmlns:a="http://schemas.openxmlformats.org/drawingml/2006/main">
              <a:ext uri="{FF2B5EF4-FFF2-40B4-BE49-F238E27FC236}">
                <a16:creationId xmlns:a16="http://schemas.microsoft.com/office/drawing/2014/main" id="{C79F8250-A279-4FBF-8087-3F92A42A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https://www.statlearning.com/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1696F27-DA81-4CD1-B0E6-42854E4D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5D4999-0DC9-4A2C-92DC-57473D65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EFAFC3E-390E-4AEE-8A95-BC922713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3</a:t>
            </a:r>
          </a:p>
        </p:txBody>
      </p:sp>
    </p:spTree>
    <p:extLst>
      <p:ext uri="{BB962C8B-B14F-4D97-AF65-F5344CB8AC3E}">
        <p14:creationId xmlns:p14="http://schemas.microsoft.com/office/powerpoint/2010/main" val="2709145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880A60D8-BDFA-4C33-B1C6-426E31A4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D4DA7D-024F-4E66-ADE7-90D946E8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Arrive able to use these words precisely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1B19B4F-8ED2-40C8-88C5-0F5BBB55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term-0">
            <a:extLst xmlns:a="http://schemas.openxmlformats.org/drawingml/2006/main">
              <a:ext uri="{FF2B5EF4-FFF2-40B4-BE49-F238E27FC236}">
                <a16:creationId xmlns:a16="http://schemas.microsoft.com/office/drawing/2014/main" id="{CF0EF4FB-168C-42FC-A604-6A089D16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Shrinkage</a:t>
            </a:r>
          </a:p>
        </p:txBody>
      </p:sp>
      <p:sp>
        <p:nvSpPr>
          <p:cNvPr id="5" name="pre-term-def-0">
            <a:extLst xmlns:a="http://schemas.openxmlformats.org/drawingml/2006/main">
              <a:ext uri="{FF2B5EF4-FFF2-40B4-BE49-F238E27FC236}">
                <a16:creationId xmlns:a16="http://schemas.microsoft.com/office/drawing/2014/main" id="{5679953F-1F23-4557-B887-6766FE3B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Pulling estimates toward zero to reduce variance.</a:t>
            </a:r>
          </a:p>
        </p:txBody>
      </p:sp>
      <p:sp>
        <p:nvSpPr>
          <p:cNvPr id="6" name="rule-48-272">
            <a:extLst xmlns:a="http://schemas.openxmlformats.org/drawingml/2006/main">
              <a:ext uri="{FF2B5EF4-FFF2-40B4-BE49-F238E27FC236}">
                <a16:creationId xmlns:a16="http://schemas.microsoft.com/office/drawing/2014/main" id="{6371F2C8-C1E0-4933-9D87-B4DA33F0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-term-1">
            <a:extLst xmlns:a="http://schemas.openxmlformats.org/drawingml/2006/main">
              <a:ext uri="{FF2B5EF4-FFF2-40B4-BE49-F238E27FC236}">
                <a16:creationId xmlns:a16="http://schemas.microsoft.com/office/drawing/2014/main" id="{FBF41799-8477-4C9D-90EB-07DAE46D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Sparsity</a:t>
            </a:r>
          </a:p>
        </p:txBody>
      </p:sp>
      <p:sp>
        <p:nvSpPr>
          <p:cNvPr id="8" name="pre-term-def-1">
            <a:extLst xmlns:a="http://schemas.openxmlformats.org/drawingml/2006/main">
              <a:ext uri="{FF2B5EF4-FFF2-40B4-BE49-F238E27FC236}">
                <a16:creationId xmlns:a16="http://schemas.microsoft.com/office/drawing/2014/main" id="{873D6255-347A-4D24-A5A2-65171173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Representing a model with many coefficients exactly zero.</a:t>
            </a:r>
          </a:p>
        </p:txBody>
      </p:sp>
      <p:sp>
        <p:nvSpPr>
          <p:cNvPr id="9" name="rule-48-402">
            <a:extLst xmlns:a="http://schemas.openxmlformats.org/drawingml/2006/main">
              <a:ext uri="{FF2B5EF4-FFF2-40B4-BE49-F238E27FC236}">
                <a16:creationId xmlns:a16="http://schemas.microsoft.com/office/drawing/2014/main" id="{C674D96F-2E05-4F06-9B14-D7235523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e-term-2">
            <a:extLst xmlns:a="http://schemas.openxmlformats.org/drawingml/2006/main">
              <a:ext uri="{FF2B5EF4-FFF2-40B4-BE49-F238E27FC236}">
                <a16:creationId xmlns:a16="http://schemas.microsoft.com/office/drawing/2014/main" id="{160A2C0F-E0CF-40C6-B8FA-E74F693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λ</a:t>
            </a:r>
          </a:p>
        </p:txBody>
      </p:sp>
      <p:sp>
        <p:nvSpPr>
          <p:cNvPr id="11" name="pre-term-def-2">
            <a:extLst xmlns:a="http://schemas.openxmlformats.org/drawingml/2006/main">
              <a:ext uri="{FF2B5EF4-FFF2-40B4-BE49-F238E27FC236}">
                <a16:creationId xmlns:a16="http://schemas.microsoft.com/office/drawing/2014/main" id="{422FCA58-4167-4FE0-A086-3EB448A5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regularisation strength, chosen by validation—not taste.</a:t>
            </a:r>
          </a:p>
        </p:txBody>
      </p:sp>
      <p:sp>
        <p:nvSpPr>
          <p:cNvPr id="12" name="rule-48-532">
            <a:extLst xmlns:a="http://schemas.openxmlformats.org/drawingml/2006/main">
              <a:ext uri="{FF2B5EF4-FFF2-40B4-BE49-F238E27FC236}">
                <a16:creationId xmlns:a16="http://schemas.microsoft.com/office/drawing/2014/main" id="{9BF1C82C-FEF3-402A-8F25-074DBD0E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8343A62-C05C-4566-891C-BACB6F4D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BAD432C-6311-4B71-A83E-1AD53BCD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777D50F-E226-4746-85A6-A6411FA9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4</a:t>
            </a:r>
          </a:p>
        </p:txBody>
      </p:sp>
    </p:spTree>
    <p:extLst>
      <p:ext uri="{BB962C8B-B14F-4D97-AF65-F5344CB8AC3E}">
        <p14:creationId xmlns:p14="http://schemas.microsoft.com/office/powerpoint/2010/main" val="1870341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C231174B-738D-4301-8F11-80ADFDC1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REPLICATION PACKAGE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7CE45B-5A88-470E-A01D-D460070C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data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5794A8D-4B0F-4F2C-8111-3D17C9A7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-doi-label">
            <a:extLst xmlns:a="http://schemas.openxmlformats.org/drawingml/2006/main">
              <a:ext uri="{FF2B5EF4-FFF2-40B4-BE49-F238E27FC236}">
                <a16:creationId xmlns:a16="http://schemas.microsoft.com/office/drawing/2014/main" id="{4A297B5D-4DAB-42BC-BDF7-1A4171B9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HARVARD DATAVERSE</a:t>
            </a:r>
          </a:p>
        </p:txBody>
      </p:sp>
      <p:sp>
        <p:nvSpPr>
          <p:cNvPr id="5" name="data-doi">
            <a:extLst xmlns:a="http://schemas.openxmlformats.org/drawingml/2006/main">
              <a:ext uri="{FF2B5EF4-FFF2-40B4-BE49-F238E27FC236}">
                <a16:creationId xmlns:a16="http://schemas.microsoft.com/office/drawing/2014/main" id="{8EBE2E38-C100-4B94-A23F-700F784F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10.7910/DVN/QJEUKR</a:t>
            </a:r>
          </a:p>
        </p:txBody>
      </p:sp>
      <p:sp>
        <p:nvSpPr>
          <p:cNvPr id="6" name="data-copy">
            <a:extLst xmlns:a="http://schemas.openxmlformats.org/drawingml/2006/main">
              <a:ext uri="{FF2B5EF4-FFF2-40B4-BE49-F238E27FC236}">
                <a16:creationId xmlns:a16="http://schemas.microsoft.com/office/drawing/2014/main" id="{B2A7B832-A93C-4903-B728-7D0505AD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 not download the whole multi-gigabyte package. Use the two selected 48 MB classroom files named in the pre-session deck.</a:t>
            </a:r>
          </a:p>
        </p:txBody>
      </p:sp>
      <p:sp>
        <p:nvSpPr>
          <p:cNvPr id="7" name="data-path-label">
            <a:extLst xmlns:a="http://schemas.openxmlformats.org/drawingml/2006/main">
              <a:ext uri="{FF2B5EF4-FFF2-40B4-BE49-F238E27FC236}">
                <a16:creationId xmlns:a16="http://schemas.microsoft.com/office/drawing/2014/main" id="{6C32B009-A96A-4B2B-AFD4-0592F8B3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EXTRACT TO</a:t>
            </a:r>
          </a:p>
        </p:txBody>
      </p:sp>
      <p:sp>
        <p:nvSpPr>
          <p:cNvPr id="8" name="data-path">
            <a:extLst xmlns:a="http://schemas.openxmlformats.org/drawingml/2006/main">
              <a:ext uri="{FF2B5EF4-FFF2-40B4-BE49-F238E27FC236}">
                <a16:creationId xmlns:a16="http://schemas.microsoft.com/office/drawing/2014/main" id="{FF58029B-839D-4C78-AC05-506D7B28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Desktop/quantitative-methods/05-ridge-lasso-elastic-net/data/replication/</a:t>
            </a:r>
          </a:p>
        </p:txBody>
      </p:sp>
      <p:cxnSp>
        <p:nvCxnSpPr>
          <p:cNvPr id="28" name="workflow-edge-0"/>
          <p:cNvCxnSpPr/>
          <p:nvPr/>
        </p:nvCxnSpPr>
        <p:spPr>
          <a:xfrm xmlns:a="http://schemas.openxmlformats.org/drawingml/2006/main">
            <a:off x="84899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9" name="workflow-edge-1"/>
          <p:cNvCxnSpPr/>
          <p:nvPr/>
        </p:nvCxnSpPr>
        <p:spPr>
          <a:xfrm xmlns:a="http://schemas.openxmlformats.org/drawingml/2006/main">
            <a:off x="99123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1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1286C189-E4EC-4636-860B-F49E6988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E5CE65C8-D6E3-4F31-BAF0-A4B11FA2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</a:t>
            </a:r>
          </a:p>
        </p:txBody>
      </p:sp>
      <p:sp>
        <p:nvSpPr>
          <p:cNvPr id="13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499BD83D-8FB4-4AC7-81EC-160D36AE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EE02A316-4B9D-4721-89F4-3398F33B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5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3166624D-4517-486A-A0A9-228453C5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8BDDEB6C-13FC-40FC-A625-62819042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locally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1044D87-49C7-4550-80F3-A2D8D724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75CE00C-B56F-4054-91D4-6C70C15C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ADCA7E-2826-4B06-ABAA-6D0FB366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5</a:t>
            </a:r>
          </a:p>
        </p:txBody>
      </p:sp>
    </p:spTree>
    <p:extLst>
      <p:ext uri="{BB962C8B-B14F-4D97-AF65-F5344CB8AC3E}">
        <p14:creationId xmlns:p14="http://schemas.microsoft.com/office/powerpoint/2010/main" val="1381352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17AFF870-943F-4A5F-BDB8-14766DE7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SELF-CHECK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0D588E-E637-4E9D-9382-8E159FC5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 paper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CE17216-E84B-44DD-AB62-28196D84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num-0">
            <a:extLst xmlns:a="http://schemas.openxmlformats.org/drawingml/2006/main">
              <a:ext uri="{FF2B5EF4-FFF2-40B4-BE49-F238E27FC236}">
                <a16:creationId xmlns:a16="http://schemas.microsoft.com/office/drawing/2014/main" id="{6CCA1328-7A29-47E7-A88D-A30CCF72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27E36D18-2E8F-4058-B53B-13892762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does ridge not create zeros?</a:t>
            </a:r>
          </a:p>
        </p:txBody>
      </p:sp>
      <p:sp>
        <p:nvSpPr>
          <p:cNvPr id="6" name="rule-138-274">
            <a:extLst xmlns:a="http://schemas.openxmlformats.org/drawingml/2006/main">
              <a:ext uri="{FF2B5EF4-FFF2-40B4-BE49-F238E27FC236}">
                <a16:creationId xmlns:a16="http://schemas.microsoft.com/office/drawing/2014/main" id="{D9A9E1E3-C5FD-4669-9E06-734FC596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num-1">
            <a:extLst xmlns:a="http://schemas.openxmlformats.org/drawingml/2006/main">
              <a:ext uri="{FF2B5EF4-FFF2-40B4-BE49-F238E27FC236}">
                <a16:creationId xmlns:a16="http://schemas.microsoft.com/office/drawing/2014/main" id="{1D5B392B-FA54-4717-8663-04999172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252C132F-80DC-4B90-9E47-0E6EDE99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creates lasso's corners?</a:t>
            </a:r>
          </a:p>
        </p:txBody>
      </p:sp>
      <p:sp>
        <p:nvSpPr>
          <p:cNvPr id="9" name="rule-138-406">
            <a:extLst xmlns:a="http://schemas.openxmlformats.org/drawingml/2006/main">
              <a:ext uri="{FF2B5EF4-FFF2-40B4-BE49-F238E27FC236}">
                <a16:creationId xmlns:a16="http://schemas.microsoft.com/office/drawing/2014/main" id="{AC603C80-9784-4BA3-8514-7F0BD380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-num-2">
            <a:extLst xmlns:a="http://schemas.openxmlformats.org/drawingml/2006/main">
              <a:ext uri="{FF2B5EF4-FFF2-40B4-BE49-F238E27FC236}">
                <a16:creationId xmlns:a16="http://schemas.microsoft.com/office/drawing/2014/main" id="{792B9A14-B3DC-4DA9-B2B0-D5F33067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question-2">
            <a:extLst xmlns:a="http://schemas.openxmlformats.org/drawingml/2006/main">
              <a:ext uri="{FF2B5EF4-FFF2-40B4-BE49-F238E27FC236}">
                <a16:creationId xmlns:a16="http://schemas.microsoft.com/office/drawing/2014/main" id="{5D404E13-C9E8-4A9A-B85D-E2DBCB9F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Where must scaling occur?</a:t>
            </a:r>
          </a:p>
        </p:txBody>
      </p:sp>
      <p:sp>
        <p:nvSpPr>
          <p:cNvPr id="12" name="rule-138-538">
            <a:extLst xmlns:a="http://schemas.openxmlformats.org/drawingml/2006/main">
              <a:ext uri="{FF2B5EF4-FFF2-40B4-BE49-F238E27FC236}">
                <a16:creationId xmlns:a16="http://schemas.microsoft.com/office/drawing/2014/main" id="{A9247E85-3F08-40EF-9A28-ECE18613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57EEC63-DFA7-414E-A116-5F3E605A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D35E48E-6193-45B3-92C8-F97F608E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A532033-3F5D-4253-BF25-5972AA28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6</a:t>
            </a:r>
          </a:p>
        </p:txBody>
      </p:sp>
    </p:spTree>
    <p:extLst>
      <p:ext uri="{BB962C8B-B14F-4D97-AF65-F5344CB8AC3E}">
        <p14:creationId xmlns:p14="http://schemas.microsoft.com/office/powerpoint/2010/main" val="1668204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ady-kicker">
            <a:extLst xmlns:a="http://schemas.openxmlformats.org/drawingml/2006/main">
              <a:ext uri="{FF2B5EF4-FFF2-40B4-BE49-F238E27FC236}">
                <a16:creationId xmlns:a16="http://schemas.microsoft.com/office/drawing/2014/main" id="{5B32BF6E-2122-49A2-898D-64A6B15E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PRE-SESSION · READY CHECK</a:t>
            </a:r>
          </a:p>
        </p:txBody>
      </p:sp>
      <p:sp>
        <p:nvSpPr>
          <p:cNvPr id="2" name="ready-title">
            <a:extLst xmlns:a="http://schemas.openxmlformats.org/drawingml/2006/main">
              <a:ext uri="{FF2B5EF4-FFF2-40B4-BE49-F238E27FC236}">
                <a16:creationId xmlns:a16="http://schemas.microsoft.com/office/drawing/2014/main" id="{8ECCFD9C-71DF-42D2-8286-CD827D29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Session 05?</a:t>
            </a:r>
          </a:p>
        </p:txBody>
      </p:sp>
      <p:sp>
        <p:nvSpPr>
          <p:cNvPr id="3" name="ready-box-0">
            <a:extLst xmlns:a="http://schemas.openxmlformats.org/drawingml/2006/main">
              <a:ext uri="{FF2B5EF4-FFF2-40B4-BE49-F238E27FC236}">
                <a16:creationId xmlns:a16="http://schemas.microsoft.com/office/drawing/2014/main" id="{3A6C91CC-2124-4D6E-A2C8-73835A61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4" name="ready-item-0">
            <a:extLst xmlns:a="http://schemas.openxmlformats.org/drawingml/2006/main">
              <a:ext uri="{FF2B5EF4-FFF2-40B4-BE49-F238E27FC236}">
                <a16:creationId xmlns:a16="http://schemas.microsoft.com/office/drawing/2014/main" id="{9C94B261-068E-4787-BC73-06F262F6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Article annotated</a:t>
            </a:r>
          </a:p>
        </p:txBody>
      </p:sp>
      <p:sp>
        <p:nvSpPr>
          <p:cNvPr id="5" name="ready-box-1">
            <a:extLst xmlns:a="http://schemas.openxmlformats.org/drawingml/2006/main">
              <a:ext uri="{FF2B5EF4-FFF2-40B4-BE49-F238E27FC236}">
                <a16:creationId xmlns:a16="http://schemas.microsoft.com/office/drawing/2014/main" id="{A1925F83-C993-4276-8508-413CF767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ready-item-1">
            <a:extLst xmlns:a="http://schemas.openxmlformats.org/drawingml/2006/main">
              <a:ext uri="{FF2B5EF4-FFF2-40B4-BE49-F238E27FC236}">
                <a16:creationId xmlns:a16="http://schemas.microsoft.com/office/drawing/2014/main" id="{6D5FE92E-7CF9-4020-B5E5-75476BDC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Dataverse package extracted</a:t>
            </a:r>
          </a:p>
        </p:txBody>
      </p:sp>
      <p:sp>
        <p:nvSpPr>
          <p:cNvPr id="7" name="ready-box-2">
            <a:extLst xmlns:a="http://schemas.openxmlformats.org/drawingml/2006/main">
              <a:ext uri="{FF2B5EF4-FFF2-40B4-BE49-F238E27FC236}">
                <a16:creationId xmlns:a16="http://schemas.microsoft.com/office/drawing/2014/main" id="{F25FBC03-606F-4C75-9CEE-4FDA7217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8" name="ready-item-2">
            <a:extLst xmlns:a="http://schemas.openxmlformats.org/drawingml/2006/main">
              <a:ext uri="{FF2B5EF4-FFF2-40B4-BE49-F238E27FC236}">
                <a16:creationId xmlns:a16="http://schemas.microsoft.com/office/drawing/2014/main" id="{ACFEA6DC-3BE2-4890-9815-E81C3B2E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 result located</a:t>
            </a:r>
          </a:p>
        </p:txBody>
      </p:sp>
      <p:sp>
        <p:nvSpPr>
          <p:cNvPr id="9" name="ready-box-3">
            <a:extLst xmlns:a="http://schemas.openxmlformats.org/drawingml/2006/main">
              <a:ext uri="{FF2B5EF4-FFF2-40B4-BE49-F238E27FC236}">
                <a16:creationId xmlns:a16="http://schemas.microsoft.com/office/drawing/2014/main" id="{29B408E0-62D4-41CF-AD56-4C54AB1A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0" name="ready-item-3">
            <a:extLst xmlns:a="http://schemas.openxmlformats.org/drawingml/2006/main">
              <a:ext uri="{FF2B5EF4-FFF2-40B4-BE49-F238E27FC236}">
                <a16:creationId xmlns:a16="http://schemas.microsoft.com/office/drawing/2014/main" id="{5D023B3D-9441-42C5-ADBA-14A33AAA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Self-check attempted</a:t>
            </a:r>
          </a:p>
        </p:txBody>
      </p:sp>
      <p:sp>
        <p:nvSpPr>
          <p:cNvPr id="11" name="ready-box-4">
            <a:extLst xmlns:a="http://schemas.openxmlformats.org/drawingml/2006/main">
              <a:ext uri="{FF2B5EF4-FFF2-40B4-BE49-F238E27FC236}">
                <a16:creationId xmlns:a16="http://schemas.microsoft.com/office/drawing/2014/main" id="{DB9AB58E-C4E7-4249-9DC1-C13DEF75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ready-item-4">
            <a:extLst xmlns:a="http://schemas.openxmlformats.org/drawingml/2006/main">
              <a:ext uri="{FF2B5EF4-FFF2-40B4-BE49-F238E27FC236}">
                <a16:creationId xmlns:a16="http://schemas.microsoft.com/office/drawing/2014/main" id="{F8A7DD21-2666-46AC-BC4E-D75E70EE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ready</a:t>
            </a:r>
          </a:p>
        </p:txBody>
      </p:sp>
      <p:sp>
        <p:nvSpPr>
          <p:cNvPr id="13" name="ready-question">
            <a:extLst xmlns:a="http://schemas.openxmlformats.org/drawingml/2006/main">
              <a:ext uri="{FF2B5EF4-FFF2-40B4-BE49-F238E27FC236}">
                <a16:creationId xmlns:a16="http://schemas.microsoft.com/office/drawing/2014/main" id="{34794219-4AE7-415F-852C-8C1241ED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05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When is a deliberately biased estimator the better one?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1BF2FEA-1256-4211-BD64-C35310FA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BCED79C-7F52-4C83-8DC0-C90048EB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32049610-09C4-4392-A0B5-BA2B3600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7</a:t>
            </a:r>
          </a:p>
        </p:txBody>
      </p:sp>
    </p:spTree>
    <p:extLst>
      <p:ext uri="{BB962C8B-B14F-4D97-AF65-F5344CB8AC3E}">
        <p14:creationId xmlns:p14="http://schemas.microsoft.com/office/powerpoint/2010/main" val="1064070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2026-08-23T21:43:00.0230000Z</dcterms:created>
  <dcterms:modified xsi:type="dcterms:W3CDTF">2026-08-23T21:43:00.0230000Z</dcterms:modified>
</coreProperties>
</file>