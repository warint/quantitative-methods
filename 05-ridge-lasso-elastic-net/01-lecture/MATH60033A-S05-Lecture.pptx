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8.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9.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10.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11.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slides/charts/chart12.xml" ContentType="application/vnd.openxmlformats-officedocument.drawingml.chart+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1d1252c6224db8" /><Relationship Type="http://schemas.openxmlformats.org/officeDocument/2006/relationships/extended-properties" Target="/docProps/app.xml" Id="R70edac2b7d7145ed" /><Relationship Type="http://schemas.openxmlformats.org/officeDocument/2006/relationships/officeDocument" Target="/ppt/presentation.xml" Id="Rf0b1698fdc8e415e" /></Relationships>
</file>

<file path=ppt/presentation.xml><?xml version="1.0" encoding="utf-8"?>
<p:presentation xmlns:p="http://schemas.openxmlformats.org/presentationml/2006/main">
  <p:sldMasterIdLst>
    <p:sldMasterId xmlns:r="http://schemas.openxmlformats.org/officeDocument/2006/relationships" id="2147483648" r:id="R233a4317c7524260"/>
  </p:sldMasterIdLst>
  <p:notesMasterIdLst>
    <p:notesMasterId xmlns:r="http://schemas.openxmlformats.org/officeDocument/2006/relationships" r:id="R9420b56e68dc4f3e"/>
  </p:notesMasterIdLst>
  <p:sldIdLst>
    <p:sldId xmlns:r="http://schemas.openxmlformats.org/officeDocument/2006/relationships" id="256" r:id="Re6337578b9fe4da3"/>
    <p:sldId xmlns:r="http://schemas.openxmlformats.org/officeDocument/2006/relationships" id="257" r:id="R9d0330ff93084d07"/>
    <p:sldId xmlns:r="http://schemas.openxmlformats.org/officeDocument/2006/relationships" id="258" r:id="R3c4e0370a51745e8"/>
    <p:sldId xmlns:r="http://schemas.openxmlformats.org/officeDocument/2006/relationships" id="259" r:id="Rdb213078c35042e0"/>
    <p:sldId xmlns:r="http://schemas.openxmlformats.org/officeDocument/2006/relationships" id="260" r:id="R803b2076be844537"/>
    <p:sldId xmlns:r="http://schemas.openxmlformats.org/officeDocument/2006/relationships" id="261" r:id="R52a03df7c4404dff"/>
    <p:sldId xmlns:r="http://schemas.openxmlformats.org/officeDocument/2006/relationships" id="262" r:id="R22568b720fb14329"/>
    <p:sldId xmlns:r="http://schemas.openxmlformats.org/officeDocument/2006/relationships" id="263" r:id="R331fd0f1f9344eef"/>
    <p:sldId xmlns:r="http://schemas.openxmlformats.org/officeDocument/2006/relationships" id="264" r:id="Rc5cb0a603fc74720"/>
    <p:sldId xmlns:r="http://schemas.openxmlformats.org/officeDocument/2006/relationships" id="265" r:id="Rc31e62e036d7401e"/>
    <p:sldId xmlns:r="http://schemas.openxmlformats.org/officeDocument/2006/relationships" id="266" r:id="Rea4ec5861883451e"/>
    <p:sldId xmlns:r="http://schemas.openxmlformats.org/officeDocument/2006/relationships" id="267" r:id="R9380e85fd5654422"/>
    <p:sldId xmlns:r="http://schemas.openxmlformats.org/officeDocument/2006/relationships" id="268" r:id="Rafd8b8f18264403d"/>
    <p:sldId xmlns:r="http://schemas.openxmlformats.org/officeDocument/2006/relationships" id="269" r:id="Rae184db083844d79"/>
    <p:sldId xmlns:r="http://schemas.openxmlformats.org/officeDocument/2006/relationships" id="270" r:id="R4a6b352457f04322"/>
    <p:sldId xmlns:r="http://schemas.openxmlformats.org/officeDocument/2006/relationships" id="271" r:id="R28b1868b077d4192"/>
    <p:sldId xmlns:r="http://schemas.openxmlformats.org/officeDocument/2006/relationships" id="272" r:id="R078ff7a581654469"/>
    <p:sldId xmlns:r="http://schemas.openxmlformats.org/officeDocument/2006/relationships" id="273" r:id="R3563ff94bd224efb"/>
    <p:sldId xmlns:r="http://schemas.openxmlformats.org/officeDocument/2006/relationships" id="274" r:id="R18a8822827594adf"/>
    <p:sldId xmlns:r="http://schemas.openxmlformats.org/officeDocument/2006/relationships" id="275" r:id="Rb784b267acb94f9c"/>
    <p:sldId xmlns:r="http://schemas.openxmlformats.org/officeDocument/2006/relationships" id="276" r:id="Rf334c4ac46da4bf1"/>
    <p:sldId xmlns:r="http://schemas.openxmlformats.org/officeDocument/2006/relationships" id="277" r:id="R721b644b477b45ed"/>
    <p:sldId xmlns:r="http://schemas.openxmlformats.org/officeDocument/2006/relationships" id="278" r:id="Rb748860b940f4e4f"/>
    <p:sldId xmlns:r="http://schemas.openxmlformats.org/officeDocument/2006/relationships" id="279" r:id="Rb6d2c39c49714114"/>
    <p:sldId xmlns:r="http://schemas.openxmlformats.org/officeDocument/2006/relationships" id="280" r:id="R195ebb9e9cfd42ab"/>
    <p:sldId xmlns:r="http://schemas.openxmlformats.org/officeDocument/2006/relationships" id="281" r:id="Rabc7b0b7e21e429e"/>
    <p:sldId xmlns:r="http://schemas.openxmlformats.org/officeDocument/2006/relationships" id="282" r:id="R997ab23867d44421"/>
    <p:sldId xmlns:r="http://schemas.openxmlformats.org/officeDocument/2006/relationships" id="283" r:id="R871f0e7f1e894536"/>
    <p:sldId xmlns:r="http://schemas.openxmlformats.org/officeDocument/2006/relationships" id="284" r:id="R568bb8b65b464f05"/>
    <p:sldId xmlns:r="http://schemas.openxmlformats.org/officeDocument/2006/relationships" id="285" r:id="R7c09662e4c314826"/>
    <p:sldId xmlns:r="http://schemas.openxmlformats.org/officeDocument/2006/relationships" id="286" r:id="Rb6669369e11b407b"/>
    <p:sldId xmlns:r="http://schemas.openxmlformats.org/officeDocument/2006/relationships" id="287" r:id="R42bd3bf0f5004388"/>
    <p:sldId xmlns:r="http://schemas.openxmlformats.org/officeDocument/2006/relationships" id="288" r:id="R68f60593a9e54d15"/>
    <p:sldId xmlns:r="http://schemas.openxmlformats.org/officeDocument/2006/relationships" id="289" r:id="Re28d93e014c04fc4"/>
    <p:sldId xmlns:r="http://schemas.openxmlformats.org/officeDocument/2006/relationships" id="290" r:id="R81fc21c06cf04528"/>
    <p:sldId xmlns:r="http://schemas.openxmlformats.org/officeDocument/2006/relationships" id="291" r:id="Rd4075b8f0f204193"/>
    <p:sldId xmlns:r="http://schemas.openxmlformats.org/officeDocument/2006/relationships" id="292" r:id="R89fa0635359c4209"/>
    <p:sldId xmlns:r="http://schemas.openxmlformats.org/officeDocument/2006/relationships" id="293" r:id="R1ee433faa25641de"/>
    <p:sldId xmlns:r="http://schemas.openxmlformats.org/officeDocument/2006/relationships" id="294" r:id="Ref5e197f28574db6"/>
    <p:sldId xmlns:r="http://schemas.openxmlformats.org/officeDocument/2006/relationships" id="295" r:id="Rc76160fcc1964ffc"/>
    <p:sldId xmlns:r="http://schemas.openxmlformats.org/officeDocument/2006/relationships" id="296" r:id="Rd15be6ead17c4b1c"/>
    <p:sldId xmlns:r="http://schemas.openxmlformats.org/officeDocument/2006/relationships" id="297" r:id="R9d620b046b024f68"/>
    <p:sldId xmlns:r="http://schemas.openxmlformats.org/officeDocument/2006/relationships" id="298" r:id="R2377c619bdec4bcc"/>
    <p:sldId xmlns:r="http://schemas.openxmlformats.org/officeDocument/2006/relationships" id="299" r:id="R57fcfa88f5214a28"/>
    <p:sldId xmlns:r="http://schemas.openxmlformats.org/officeDocument/2006/relationships" id="300" r:id="R3bf7c9b5c59949e6"/>
    <p:sldId xmlns:r="http://schemas.openxmlformats.org/officeDocument/2006/relationships" id="301" r:id="R3d69444c487e4b83"/>
    <p:sldId xmlns:r="http://schemas.openxmlformats.org/officeDocument/2006/relationships" id="302" r:id="R61c648a947b647a0"/>
    <p:sldId xmlns:r="http://schemas.openxmlformats.org/officeDocument/2006/relationships" id="303" r:id="R73020b43df314f37"/>
    <p:sldId xmlns:r="http://schemas.openxmlformats.org/officeDocument/2006/relationships" id="304" r:id="R1101f5ef2213429e"/>
    <p:sldId xmlns:r="http://schemas.openxmlformats.org/officeDocument/2006/relationships" id="305" r:id="Rba1c86071bb440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cf498c48be4e0a" /><Relationship Type="http://schemas.openxmlformats.org/officeDocument/2006/relationships/slideMaster" Target="/ppt/slideMasters/slideMaster1.xml" Id="R233a4317c7524260" /><Relationship Type="http://schemas.openxmlformats.org/officeDocument/2006/relationships/notesMaster" Target="/ppt/notesMasters/notesMaster1.xml" Id="R9420b56e68dc4f3e" /><Relationship Type="http://schemas.openxmlformats.org/officeDocument/2006/relationships/presProps" Target="/ppt/presProps.xml" Id="R19d116b130d84b3e" /><Relationship Type="http://schemas.openxmlformats.org/officeDocument/2006/relationships/tableStyles" Target="/ppt/tableStyles.xml" Id="R82fc5245a73e47a8" /><Relationship Type="http://schemas.openxmlformats.org/officeDocument/2006/relationships/slide" Target="/ppt/slides/slide1.xml" Id="Re6337578b9fe4da3" /><Relationship Type="http://schemas.openxmlformats.org/officeDocument/2006/relationships/slide" Target="/ppt/slides/slide2.xml" Id="R9d0330ff93084d07" /><Relationship Type="http://schemas.openxmlformats.org/officeDocument/2006/relationships/slide" Target="/ppt/slides/slide3.xml" Id="R3c4e0370a51745e8" /><Relationship Type="http://schemas.openxmlformats.org/officeDocument/2006/relationships/slide" Target="/ppt/slides/slide4.xml" Id="Rdb213078c35042e0" /><Relationship Type="http://schemas.openxmlformats.org/officeDocument/2006/relationships/slide" Target="/ppt/slides/slide5.xml" Id="R803b2076be844537" /><Relationship Type="http://schemas.openxmlformats.org/officeDocument/2006/relationships/slide" Target="/ppt/slides/slide6.xml" Id="R52a03df7c4404dff" /><Relationship Type="http://schemas.openxmlformats.org/officeDocument/2006/relationships/slide" Target="/ppt/slides/slide7.xml" Id="R22568b720fb14329" /><Relationship Type="http://schemas.openxmlformats.org/officeDocument/2006/relationships/slide" Target="/ppt/slides/slide8.xml" Id="R331fd0f1f9344eef" /><Relationship Type="http://schemas.openxmlformats.org/officeDocument/2006/relationships/slide" Target="/ppt/slides/slide9.xml" Id="Rc5cb0a603fc74720" /><Relationship Type="http://schemas.openxmlformats.org/officeDocument/2006/relationships/slide" Target="/ppt/slides/slide10.xml" Id="Rc31e62e036d7401e" /><Relationship Type="http://schemas.openxmlformats.org/officeDocument/2006/relationships/slide" Target="/ppt/slides/slide11.xml" Id="Rea4ec5861883451e" /><Relationship Type="http://schemas.openxmlformats.org/officeDocument/2006/relationships/slide" Target="/ppt/slides/slide12.xml" Id="R9380e85fd5654422" /><Relationship Type="http://schemas.openxmlformats.org/officeDocument/2006/relationships/slide" Target="/ppt/slides/slide13.xml" Id="Rafd8b8f18264403d" /><Relationship Type="http://schemas.openxmlformats.org/officeDocument/2006/relationships/slide" Target="/ppt/slides/slide14.xml" Id="Rae184db083844d79" /><Relationship Type="http://schemas.openxmlformats.org/officeDocument/2006/relationships/slide" Target="/ppt/slides/slide15.xml" Id="R4a6b352457f04322" /><Relationship Type="http://schemas.openxmlformats.org/officeDocument/2006/relationships/slide" Target="/ppt/slides/slide16.xml" Id="R28b1868b077d4192" /><Relationship Type="http://schemas.openxmlformats.org/officeDocument/2006/relationships/slide" Target="/ppt/slides/slide17.xml" Id="R078ff7a581654469" /><Relationship Type="http://schemas.openxmlformats.org/officeDocument/2006/relationships/slide" Target="/ppt/slides/slide18.xml" Id="R3563ff94bd224efb" /><Relationship Type="http://schemas.openxmlformats.org/officeDocument/2006/relationships/slide" Target="/ppt/slides/slide19.xml" Id="R18a8822827594adf" /><Relationship Type="http://schemas.openxmlformats.org/officeDocument/2006/relationships/slide" Target="/ppt/slides/slide20.xml" Id="Rb784b267acb94f9c" /><Relationship Type="http://schemas.openxmlformats.org/officeDocument/2006/relationships/slide" Target="/ppt/slides/slide21.xml" Id="Rf334c4ac46da4bf1" /><Relationship Type="http://schemas.openxmlformats.org/officeDocument/2006/relationships/slide" Target="/ppt/slides/slide22.xml" Id="R721b644b477b45ed" /><Relationship Type="http://schemas.openxmlformats.org/officeDocument/2006/relationships/slide" Target="/ppt/slides/slide23.xml" Id="Rb748860b940f4e4f" /><Relationship Type="http://schemas.openxmlformats.org/officeDocument/2006/relationships/slide" Target="/ppt/slides/slide24.xml" Id="Rb6d2c39c49714114" /><Relationship Type="http://schemas.openxmlformats.org/officeDocument/2006/relationships/slide" Target="/ppt/slides/slide25.xml" Id="R195ebb9e9cfd42ab" /><Relationship Type="http://schemas.openxmlformats.org/officeDocument/2006/relationships/slide" Target="/ppt/slides/slide26.xml" Id="Rabc7b0b7e21e429e" /><Relationship Type="http://schemas.openxmlformats.org/officeDocument/2006/relationships/slide" Target="/ppt/slides/slide27.xml" Id="R997ab23867d44421" /><Relationship Type="http://schemas.openxmlformats.org/officeDocument/2006/relationships/slide" Target="/ppt/slides/slide28.xml" Id="R871f0e7f1e894536" /><Relationship Type="http://schemas.openxmlformats.org/officeDocument/2006/relationships/slide" Target="/ppt/slides/slide29.xml" Id="R568bb8b65b464f05" /><Relationship Type="http://schemas.openxmlformats.org/officeDocument/2006/relationships/slide" Target="/ppt/slides/slide30.xml" Id="R7c09662e4c314826" /><Relationship Type="http://schemas.openxmlformats.org/officeDocument/2006/relationships/slide" Target="/ppt/slides/slide31.xml" Id="Rb6669369e11b407b" /><Relationship Type="http://schemas.openxmlformats.org/officeDocument/2006/relationships/slide" Target="/ppt/slides/slide32.xml" Id="R42bd3bf0f5004388" /><Relationship Type="http://schemas.openxmlformats.org/officeDocument/2006/relationships/slide" Target="/ppt/slides/slide33.xml" Id="R68f60593a9e54d15" /><Relationship Type="http://schemas.openxmlformats.org/officeDocument/2006/relationships/slide" Target="/ppt/slides/slide34.xml" Id="Re28d93e014c04fc4" /><Relationship Type="http://schemas.openxmlformats.org/officeDocument/2006/relationships/slide" Target="/ppt/slides/slide35.xml" Id="R81fc21c06cf04528" /><Relationship Type="http://schemas.openxmlformats.org/officeDocument/2006/relationships/slide" Target="/ppt/slides/slide36.xml" Id="Rd4075b8f0f204193" /><Relationship Type="http://schemas.openxmlformats.org/officeDocument/2006/relationships/slide" Target="/ppt/slides/slide37.xml" Id="R89fa0635359c4209" /><Relationship Type="http://schemas.openxmlformats.org/officeDocument/2006/relationships/slide" Target="/ppt/slides/slide38.xml" Id="R1ee433faa25641de" /><Relationship Type="http://schemas.openxmlformats.org/officeDocument/2006/relationships/slide" Target="/ppt/slides/slide39.xml" Id="Ref5e197f28574db6" /><Relationship Type="http://schemas.openxmlformats.org/officeDocument/2006/relationships/slide" Target="/ppt/slides/slide40.xml" Id="Rc76160fcc1964ffc" /><Relationship Type="http://schemas.openxmlformats.org/officeDocument/2006/relationships/slide" Target="/ppt/slides/slide41.xml" Id="Rd15be6ead17c4b1c" /><Relationship Type="http://schemas.openxmlformats.org/officeDocument/2006/relationships/slide" Target="/ppt/slides/slide42.xml" Id="R9d620b046b024f68" /><Relationship Type="http://schemas.openxmlformats.org/officeDocument/2006/relationships/slide" Target="/ppt/slides/slide43.xml" Id="R2377c619bdec4bcc" /><Relationship Type="http://schemas.openxmlformats.org/officeDocument/2006/relationships/slide" Target="/ppt/slides/slide44.xml" Id="R57fcfa88f5214a28" /><Relationship Type="http://schemas.openxmlformats.org/officeDocument/2006/relationships/slide" Target="/ppt/slides/slide45.xml" Id="R3bf7c9b5c59949e6" /><Relationship Type="http://schemas.openxmlformats.org/officeDocument/2006/relationships/slide" Target="/ppt/slides/slide46.xml" Id="R3d69444c487e4b83" /><Relationship Type="http://schemas.openxmlformats.org/officeDocument/2006/relationships/slide" Target="/ppt/slides/slide47.xml" Id="R61c648a947b647a0" /><Relationship Type="http://schemas.openxmlformats.org/officeDocument/2006/relationships/slide" Target="/ppt/slides/slide48.xml" Id="R73020b43df314f37" /><Relationship Type="http://schemas.openxmlformats.org/officeDocument/2006/relationships/slide" Target="/ppt/slides/slide49.xml" Id="R1101f5ef2213429e" /><Relationship Type="http://schemas.openxmlformats.org/officeDocument/2006/relationships/slide" Target="/ppt/slides/slide50.xml" Id="Rba1c86071bb440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89c516aa0c44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88bbf01c1c4095" /><Relationship Type="http://schemas.openxmlformats.org/officeDocument/2006/relationships/notesMaster" Target="/ppt/notesMasters/notesMaster1.xml" Id="R91cde19b64cc43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54cf6b6b344b53" /><Relationship Type="http://schemas.openxmlformats.org/officeDocument/2006/relationships/notesMaster" Target="/ppt/notesMasters/notesMaster1.xml" Id="Rf0cc27d0516540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22ee3e0c23471e" /><Relationship Type="http://schemas.openxmlformats.org/officeDocument/2006/relationships/notesMaster" Target="/ppt/notesMasters/notesMaster1.xml" Id="Reb99bb1b60104d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0f6b0434c3470e" /><Relationship Type="http://schemas.openxmlformats.org/officeDocument/2006/relationships/notesMaster" Target="/ppt/notesMasters/notesMaster1.xml" Id="R9ce410df5eb8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dc2ebbf6ca440f" /><Relationship Type="http://schemas.openxmlformats.org/officeDocument/2006/relationships/notesMaster" Target="/ppt/notesMasters/notesMaster1.xml" Id="Rfcee33bd3ea04b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193d50dd8b4322" /><Relationship Type="http://schemas.openxmlformats.org/officeDocument/2006/relationships/notesMaster" Target="/ppt/notesMasters/notesMaster1.xml" Id="Reb5579310b494d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2c2239bc3b4698" /><Relationship Type="http://schemas.openxmlformats.org/officeDocument/2006/relationships/notesMaster" Target="/ppt/notesMasters/notesMaster1.xml" Id="R1490ed9b355f47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73a01f2bd442ff" /><Relationship Type="http://schemas.openxmlformats.org/officeDocument/2006/relationships/notesMaster" Target="/ppt/notesMasters/notesMaster1.xml" Id="R16c7c1c108db44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a7308f0e9b4afd" /><Relationship Type="http://schemas.openxmlformats.org/officeDocument/2006/relationships/notesMaster" Target="/ppt/notesMasters/notesMaster1.xml" Id="R0b312051459746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5e111c35ab428a" /><Relationship Type="http://schemas.openxmlformats.org/officeDocument/2006/relationships/notesMaster" Target="/ppt/notesMasters/notesMaster1.xml" Id="R690edc7a719e4b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3ce801e38f54954" /><Relationship Type="http://schemas.openxmlformats.org/officeDocument/2006/relationships/notesMaster" Target="/ppt/notesMasters/notesMaster1.xml" Id="R3ad9ab6534ea4f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3e32ecd57849f2" /><Relationship Type="http://schemas.openxmlformats.org/officeDocument/2006/relationships/notesMaster" Target="/ppt/notesMasters/notesMaster1.xml" Id="Rbb502a88f31046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c42a2a95f047ef" /><Relationship Type="http://schemas.openxmlformats.org/officeDocument/2006/relationships/notesMaster" Target="/ppt/notesMasters/notesMaster1.xml" Id="R5dbed49e53bb42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d685703bf14e6f" /><Relationship Type="http://schemas.openxmlformats.org/officeDocument/2006/relationships/notesMaster" Target="/ppt/notesMasters/notesMaster1.xml" Id="R5456680642da445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eaf339fdfd4343" /><Relationship Type="http://schemas.openxmlformats.org/officeDocument/2006/relationships/notesMaster" Target="/ppt/notesMasters/notesMaster1.xml" Id="R52e6dc1a61324c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aec09aed784bb8" /><Relationship Type="http://schemas.openxmlformats.org/officeDocument/2006/relationships/notesMaster" Target="/ppt/notesMasters/notesMaster1.xml" Id="Ra9a11668dc104d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af57da2d2646a7" /><Relationship Type="http://schemas.openxmlformats.org/officeDocument/2006/relationships/notesMaster" Target="/ppt/notesMasters/notesMaster1.xml" Id="R1b1bef623fbc4a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28cd32e800547cb" /><Relationship Type="http://schemas.openxmlformats.org/officeDocument/2006/relationships/notesMaster" Target="/ppt/notesMasters/notesMaster1.xml" Id="R4e121fbd1b1d4d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a7552297e9749e4" /><Relationship Type="http://schemas.openxmlformats.org/officeDocument/2006/relationships/notesMaster" Target="/ppt/notesMasters/notesMaster1.xml" Id="Ra3bf3f43b2054ed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5658d67e0d84efb" /><Relationship Type="http://schemas.openxmlformats.org/officeDocument/2006/relationships/notesMaster" Target="/ppt/notesMasters/notesMaster1.xml" Id="Rc4c1306deb8044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888c1915b504a49" /><Relationship Type="http://schemas.openxmlformats.org/officeDocument/2006/relationships/notesMaster" Target="/ppt/notesMasters/notesMaster1.xml" Id="R8264b0919ef34da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eef3d3ffb284180" /><Relationship Type="http://schemas.openxmlformats.org/officeDocument/2006/relationships/notesMaster" Target="/ppt/notesMasters/notesMaster1.xml" Id="R79c665c4fa79413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73296bd633481a" /><Relationship Type="http://schemas.openxmlformats.org/officeDocument/2006/relationships/notesMaster" Target="/ppt/notesMasters/notesMaster1.xml" Id="R8684cb083e98473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975ab77fa324ccc" /><Relationship Type="http://schemas.openxmlformats.org/officeDocument/2006/relationships/notesMaster" Target="/ppt/notesMasters/notesMaster1.xml" Id="R83a613dca79043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48e9a33b4a4591" /><Relationship Type="http://schemas.openxmlformats.org/officeDocument/2006/relationships/notesMaster" Target="/ppt/notesMasters/notesMaster1.xml" Id="Rf538de7403d64a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4a020e36bc4129" /><Relationship Type="http://schemas.openxmlformats.org/officeDocument/2006/relationships/notesMaster" Target="/ppt/notesMasters/notesMaster1.xml" Id="Rd37c2c46ca3247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46f7c582cf742fd" /><Relationship Type="http://schemas.openxmlformats.org/officeDocument/2006/relationships/notesMaster" Target="/ppt/notesMasters/notesMaster1.xml" Id="Rb808fd006b2f476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16bd7abe9cb419e" /><Relationship Type="http://schemas.openxmlformats.org/officeDocument/2006/relationships/notesMaster" Target="/ppt/notesMasters/notesMaster1.xml" Id="Ra28ee35f79bf47f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3fb6c7a175d43e6" /><Relationship Type="http://schemas.openxmlformats.org/officeDocument/2006/relationships/notesMaster" Target="/ppt/notesMasters/notesMaster1.xml" Id="Rc142c22265d74b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f1d0b0df1b14b84" /><Relationship Type="http://schemas.openxmlformats.org/officeDocument/2006/relationships/notesMaster" Target="/ppt/notesMasters/notesMaster1.xml" Id="R99155fd0d78145d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47e40fe234a488b" /><Relationship Type="http://schemas.openxmlformats.org/officeDocument/2006/relationships/notesMaster" Target="/ppt/notesMasters/notesMaster1.xml" Id="R159e75ee559e43d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39fd4bf84f546df" /><Relationship Type="http://schemas.openxmlformats.org/officeDocument/2006/relationships/notesMaster" Target="/ppt/notesMasters/notesMaster1.xml" Id="Rbc4d8a32ec0542e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830dde41fc1459a" /><Relationship Type="http://schemas.openxmlformats.org/officeDocument/2006/relationships/notesMaster" Target="/ppt/notesMasters/notesMaster1.xml" Id="R47f89244b3ae4c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7504118afed4770" /><Relationship Type="http://schemas.openxmlformats.org/officeDocument/2006/relationships/notesMaster" Target="/ppt/notesMasters/notesMaster1.xml" Id="R5bde017e944845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eaece374d444da" /><Relationship Type="http://schemas.openxmlformats.org/officeDocument/2006/relationships/notesMaster" Target="/ppt/notesMasters/notesMaster1.xml" Id="Red47d0437bb54ce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40cfedce0fd45f1" /><Relationship Type="http://schemas.openxmlformats.org/officeDocument/2006/relationships/notesMaster" Target="/ppt/notesMasters/notesMaster1.xml" Id="R64ed436a61924d7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7b1e343e93a4efc" /><Relationship Type="http://schemas.openxmlformats.org/officeDocument/2006/relationships/notesMaster" Target="/ppt/notesMasters/notesMaster1.xml" Id="R8c1a8248878747b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586805775244d9" /><Relationship Type="http://schemas.openxmlformats.org/officeDocument/2006/relationships/notesMaster" Target="/ppt/notesMasters/notesMaster1.xml" Id="R4b063ec5ead4477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bf70121556a48f4" /><Relationship Type="http://schemas.openxmlformats.org/officeDocument/2006/relationships/notesMaster" Target="/ppt/notesMasters/notesMaster1.xml" Id="R257d8d0bb3a941e3"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aec5291da914016" /><Relationship Type="http://schemas.openxmlformats.org/officeDocument/2006/relationships/notesMaster" Target="/ppt/notesMasters/notesMaster1.xml" Id="Reb5202ab5526416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576cff0eafa4b29" /><Relationship Type="http://schemas.openxmlformats.org/officeDocument/2006/relationships/notesMaster" Target="/ppt/notesMasters/notesMaster1.xml" Id="R6bd534b616b0491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27b9353cb0d468c" /><Relationship Type="http://schemas.openxmlformats.org/officeDocument/2006/relationships/notesMaster" Target="/ppt/notesMasters/notesMaster1.xml" Id="R7796c5dd57044b3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56208d49e8e4dae" /><Relationship Type="http://schemas.openxmlformats.org/officeDocument/2006/relationships/notesMaster" Target="/ppt/notesMasters/notesMaster1.xml" Id="Rb7409e374ed647c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d7a83f89dd34e36" /><Relationship Type="http://schemas.openxmlformats.org/officeDocument/2006/relationships/notesMaster" Target="/ppt/notesMasters/notesMaster1.xml" Id="R5adb0f4b3d4641a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153073921e74548" /><Relationship Type="http://schemas.openxmlformats.org/officeDocument/2006/relationships/notesMaster" Target="/ppt/notesMasters/notesMaster1.xml" Id="R83558e29c59e4c1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22281d167484e25" /><Relationship Type="http://schemas.openxmlformats.org/officeDocument/2006/relationships/notesMaster" Target="/ppt/notesMasters/notesMaster1.xml" Id="R14fbf1247a714e2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bafabf79829415e" /><Relationship Type="http://schemas.openxmlformats.org/officeDocument/2006/relationships/notesMaster" Target="/ppt/notesMasters/notesMaster1.xml" Id="R04003f8d4aaa452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e6497f4fd3445a2" /><Relationship Type="http://schemas.openxmlformats.org/officeDocument/2006/relationships/notesMaster" Target="/ppt/notesMasters/notesMaster1.xml" Id="R056ff08e591d4b5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f04a4eca5c54131" /><Relationship Type="http://schemas.openxmlformats.org/officeDocument/2006/relationships/notesMaster" Target="/ppt/notesMasters/notesMaster1.xml" Id="R70fd3d84031c435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1584faa11464a23" /><Relationship Type="http://schemas.openxmlformats.org/officeDocument/2006/relationships/notesMaster" Target="/ppt/notesMasters/notesMaster1.xml" Id="R9e5218eb69ca46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session question. Ask students what kind of claim the method is designed to support.</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route as a promise: students should always know whether a slide is defining, motivating, deriving, implementing, or challenging the method.</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cumulative course structure explicit before introducing new notation.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one use case and one misuse before showing the mathematics.</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Andrey Tikhonov and connect the biography to the method—not to hero worship.</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slides/course-assets/historical-portraits/tikhonov.png — AI-generated interpretive illustration; not an archival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1 · What this adds.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opening claim, and why it is wrong.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What today adds, in one line.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A situation you will actually meet.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What complete-case analysis leaves you.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axes to pattern to claim. Then ask which design choice would change the visual.</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05-ridge-lasso-elastic-net/demo/outputs/regularisation_comparison.png — generated by 05-ridge-lasso-elastic-net/demo/session05_regularisation_demo.py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Four estimators, one held-out test set.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Four estimators, one held-out test set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result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Read that again.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estimator.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Ridge in the SVD basis.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Ridge in the SVD basis · read the mathematics.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axes to pattern to claim. Then ask which design choice would change the visual.</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05-ridge-lasso-elastic-net/demo/outputs/regularisation_comparison.png — generated by 05-ridge-lasso-elastic-net/demo/session05_regularisation_demo.py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Why that shape is the whole point.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Ridge in three lines, explained.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Bias–variance, explicitly.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4 · Lasso.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estimator · read the mathematics.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picture that explains the zeros.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Corners produce zeros.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axes to pattern to claim. Then ask which design choice would change the visual.</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05-ridge-lasso-elastic-net/demo/outputs/regularisation_comparison.png — generated by 05-ridge-lasso-elastic-net/demo/session05_regularisation_demo.py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Soft-thresholding.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operator, drawn.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operator, drawn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coefficient path.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What survived, on our data.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What survived, on our data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5 · Elastic net.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axes to pattern to claim. Then ask which design choice would change the visual.</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05-ridge-lasso-elastic-net/demo/outputs/regularisation_comparison.png — generated by 05-ridge-lasso-elastic-net/demo/session05_regularisation_demo.py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estimator.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grouping effect, measured.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grouping effect, measured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Why this matters for a paper · read the mathematics.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6 · Choosing λ.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path, and where it starts · read the mathematics.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The CV curve · Python.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figure from axes to pattern to claim. Then ask which design choice would change the visual.</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a:p xmlns:a="http://schemas.openxmlformats.org/drawingml/2006/main">
            <a:r>
              <a:t>- Asset: 05-ridge-lasso-elastic-net/demo/outputs/regularisation_comparison.png — generated by 05-ridge-lasso-elastic-net/demo/session05_regularisation_demo.py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7 · Takeaways.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Key takeaways.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Now, the practice. Translate the notation into one sentence, then connect it to the article replication.</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required article and Dataverse package must already be available. ISLR is optional background, never the practice target.</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students say the sentence aloud before they see the result they will replicate.</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most fragile assumption in the article and make it the first diagnostic in practice.</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lecture ends here. Open the separate in-class practice presentation and start the 90-minute clock.</a:t>
            </a:r>
          </a:p>
          <a:p xmlns:a="http://schemas.openxmlformats.org/drawingml/2006/main">
            <a:r>
              <a:t/>
            </a:r>
          </a:p>
          <a:p xmlns:a="http://schemas.openxmlformats.org/drawingml/2006/main">
            <a:r>
              <a:t>[Sources]</a:t>
            </a:r>
          </a:p>
          <a:p xmlns:a="http://schemas.openxmlformats.org/drawingml/2006/main">
            <a:r>
              <a:t>- Course source: 05-ridge-lasso-elastic-net/slides.qmd</a:t>
            </a:r>
          </a:p>
          <a:p xmlns:a="http://schemas.openxmlformats.org/drawingml/2006/main">
            <a:r>
              <a:t>- https://warin.ca/quant/en/session5_cours</a:t>
            </a:r>
          </a:p>
          <a:p xmlns:a="http://schemas.openxmlformats.org/drawingml/2006/main">
            <a:r>
              <a:t>- Frandi et al. (2016) — Fast and Scalable Lasso — https://doi.org/10.1007/s10994-016-5578-4</a:t>
            </a:r>
          </a:p>
          <a:p xmlns:a="http://schemas.openxmlformats.org/drawingml/2006/main">
            <a:r>
              <a:t>- Harvard Dataverse 10.7910/DVN/QJEUKR — https://doi.org/10.7910/DVN/QJEUKR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ae82a4662049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8794a67788c4418" /><Relationship Type="http://schemas.openxmlformats.org/officeDocument/2006/relationships/slideLayout" Target="/ppt/slideLayouts/slideLayout1.xml" Id="R64f5c3cb9ba7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4f5c3cb9ba7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db9af489df4f6e" /><Relationship Type="http://schemas.openxmlformats.org/officeDocument/2006/relationships/chart" Target="/ppt/slides/charts/chart1.xml" Id="R7157f936a5204d36" /><Relationship Type="http://schemas.openxmlformats.org/officeDocument/2006/relationships/notesSlide" Target="/ppt/notesSlides/notesSlide1.xml" Id="Rca8d3c08b6104b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e832b238374543" /><Relationship Type="http://schemas.openxmlformats.org/officeDocument/2006/relationships/notesSlide" Target="/ppt/notesSlides/notesSlide2.xml" Id="R7e3378f1caa342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3ffc156f034db9" /><Relationship Type="http://schemas.openxmlformats.org/officeDocument/2006/relationships/notesSlide" Target="/ppt/notesSlides/notesSlide3.xml" Id="R3847793e658240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03576e41384a59" /><Relationship Type="http://schemas.openxmlformats.org/officeDocument/2006/relationships/chart" Target="/ppt/slides/charts/chart2.xml" Id="Rccf5ae146fbf45a7" /><Relationship Type="http://schemas.openxmlformats.org/officeDocument/2006/relationships/notesSlide" Target="/ppt/notesSlides/notesSlide4.xml" Id="Rdf14b2ddb10947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9d4cf40e004c4f" /><Relationship Type="http://schemas.openxmlformats.org/officeDocument/2006/relationships/image" Target="/ppt/media/image.png" Id="R433315fcbee046ac" /><Relationship Type="http://schemas.openxmlformats.org/officeDocument/2006/relationships/notesSlide" Target="/ppt/notesSlides/notesSlide5.xml" Id="Raee5f3682b3047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14f5d5bc294b35" /><Relationship Type="http://schemas.openxmlformats.org/officeDocument/2006/relationships/notesSlide" Target="/ppt/notesSlides/notesSlide6.xml" Id="R893c1d0f603041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371ef46bc54e8f" /><Relationship Type="http://schemas.openxmlformats.org/officeDocument/2006/relationships/chart" Target="/ppt/slides/charts/chart3.xml" Id="Rb5f9076c8d334dd0" /><Relationship Type="http://schemas.openxmlformats.org/officeDocument/2006/relationships/notesSlide" Target="/ppt/notesSlides/notesSlide7.xml" Id="Rcdd21a1bfb8848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2fcbd0dee3e4ce0" /><Relationship Type="http://schemas.openxmlformats.org/officeDocument/2006/relationships/notesSlide" Target="/ppt/notesSlides/notesSlide8.xml" Id="Rdb1aa3b475fc43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fba9a8e75849b7" /><Relationship Type="http://schemas.openxmlformats.org/officeDocument/2006/relationships/notesSlide" Target="/ppt/notesSlides/notesSlide9.xml" Id="R03eb0797ca8141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cd4bff692b4c46" /><Relationship Type="http://schemas.openxmlformats.org/officeDocument/2006/relationships/chart" Target="/ppt/slides/charts/chart4.xml" Id="R1cc22895028f4655" /><Relationship Type="http://schemas.openxmlformats.org/officeDocument/2006/relationships/notesSlide" Target="/ppt/notesSlides/notesSlide10.xml" Id="R2de483f2099641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70468f566c4ab2" /><Relationship Type="http://schemas.openxmlformats.org/officeDocument/2006/relationships/image" Target="/ppt/media/image2.png" Id="R06e2d2d7d42f450b" /><Relationship Type="http://schemas.openxmlformats.org/officeDocument/2006/relationships/notesSlide" Target="/ppt/notesSlides/notesSlide11.xml" Id="R1d9a09868efb41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afc80afe0f45e3" /><Relationship Type="http://schemas.openxmlformats.org/officeDocument/2006/relationships/notesSlide" Target="/ppt/notesSlides/notesSlide12.xml" Id="R054c31b6d30a40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fdb06e7f1e4a05" /><Relationship Type="http://schemas.openxmlformats.org/officeDocument/2006/relationships/chart" Target="/ppt/slides/charts/chart5.xml" Id="Rd51a1e598e2443d8" /><Relationship Type="http://schemas.openxmlformats.org/officeDocument/2006/relationships/notesSlide" Target="/ppt/notesSlides/notesSlide13.xml" Id="R177ed0bb0c9645e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1324d45ca545a3" /><Relationship Type="http://schemas.openxmlformats.org/officeDocument/2006/relationships/notesSlide" Target="/ppt/notesSlides/notesSlide14.xml" Id="R0a8758bf2a114e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0ee41736f74e3d" /><Relationship Type="http://schemas.openxmlformats.org/officeDocument/2006/relationships/notesSlide" Target="/ppt/notesSlides/notesSlide15.xml" Id="R8cc1bc683af14e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44777195e645dc" /><Relationship Type="http://schemas.openxmlformats.org/officeDocument/2006/relationships/notesSlide" Target="/ppt/notesSlides/notesSlide16.xml" Id="Re53709170a344ab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4b438ffc9ed46f4" /><Relationship Type="http://schemas.openxmlformats.org/officeDocument/2006/relationships/chart" Target="/ppt/slides/charts/chart6.xml" Id="Rc09b0265897248a6" /><Relationship Type="http://schemas.openxmlformats.org/officeDocument/2006/relationships/notesSlide" Target="/ppt/notesSlides/notesSlide17.xml" Id="Re6be71d4f1a545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2b36c6f11a14699" /><Relationship Type="http://schemas.openxmlformats.org/officeDocument/2006/relationships/notesSlide" Target="/ppt/notesSlides/notesSlide18.xml" Id="R642d67cf20d342e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9ed77117e244690" /><Relationship Type="http://schemas.openxmlformats.org/officeDocument/2006/relationships/image" Target="/ppt/media/image3.png" Id="R23530ac09bed4c2a" /><Relationship Type="http://schemas.openxmlformats.org/officeDocument/2006/relationships/notesSlide" Target="/ppt/notesSlides/notesSlide19.xml" Id="R461f1bd92df94e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bcfa8c0806244f0" /><Relationship Type="http://schemas.openxmlformats.org/officeDocument/2006/relationships/notesSlide" Target="/ppt/notesSlides/notesSlide20.xml" Id="Rddf1fe93b5da45c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09be92d45054013" /><Relationship Type="http://schemas.openxmlformats.org/officeDocument/2006/relationships/chart" Target="/ppt/slides/charts/chart7.xml" Id="R2fd669b4d26b4a58" /><Relationship Type="http://schemas.openxmlformats.org/officeDocument/2006/relationships/notesSlide" Target="/ppt/notesSlides/notesSlide21.xml" Id="R76fd2080ccbd486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76d3976068b496f" /><Relationship Type="http://schemas.openxmlformats.org/officeDocument/2006/relationships/notesSlide" Target="/ppt/notesSlides/notesSlide22.xml" Id="Ra1aafb1dc00c4a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a0b0d3378734ce4" /><Relationship Type="http://schemas.openxmlformats.org/officeDocument/2006/relationships/chart" Target="/ppt/slides/charts/chart8.xml" Id="Rbe17d8bbf1214f18" /><Relationship Type="http://schemas.openxmlformats.org/officeDocument/2006/relationships/notesSlide" Target="/ppt/notesSlides/notesSlide23.xml" Id="Rae12cea9912044e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9aa1f2d1f6b47f3" /><Relationship Type="http://schemas.openxmlformats.org/officeDocument/2006/relationships/notesSlide" Target="/ppt/notesSlides/notesSlide24.xml" Id="Rba7a1fae13f249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dc7291abbe40e8" /><Relationship Type="http://schemas.openxmlformats.org/officeDocument/2006/relationships/notesSlide" Target="/ppt/notesSlides/notesSlide25.xml" Id="R80896700678947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e05913276c84467" /><Relationship Type="http://schemas.openxmlformats.org/officeDocument/2006/relationships/notesSlide" Target="/ppt/notesSlides/notesSlide26.xml" Id="R4aca60af0a574a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f39235ac6834d42" /><Relationship Type="http://schemas.openxmlformats.org/officeDocument/2006/relationships/image" Target="/ppt/media/image4.png" Id="Rd0235dabd3a74d8c" /><Relationship Type="http://schemas.openxmlformats.org/officeDocument/2006/relationships/notesSlide" Target="/ppt/notesSlides/notesSlide27.xml" Id="R911eb0db95e44bd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3c80355f9b9487c" /><Relationship Type="http://schemas.openxmlformats.org/officeDocument/2006/relationships/notesSlide" Target="/ppt/notesSlides/notesSlide28.xml" Id="R35df0698dc15436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bbe388282d74552" /><Relationship Type="http://schemas.openxmlformats.org/officeDocument/2006/relationships/notesSlide" Target="/ppt/notesSlides/notesSlide29.xml" Id="R2fcd77778e7a4f2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5e48e3a38524ffe" /><Relationship Type="http://schemas.openxmlformats.org/officeDocument/2006/relationships/chart" Target="/ppt/slides/charts/chart9.xml" Id="Re7fc35b28f644b2e" /><Relationship Type="http://schemas.openxmlformats.org/officeDocument/2006/relationships/notesSlide" Target="/ppt/notesSlides/notesSlide30.xml" Id="R3379ec72cfac430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1978f88e94d455d" /><Relationship Type="http://schemas.openxmlformats.org/officeDocument/2006/relationships/notesSlide" Target="/ppt/notesSlides/notesSlide31.xml" Id="Rf84eab6c5a0a4aa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80dab3e000146ef" /><Relationship Type="http://schemas.openxmlformats.org/officeDocument/2006/relationships/chart" Target="/ppt/slides/charts/chart10.xml" Id="R4990aaa16c6f4fcf" /><Relationship Type="http://schemas.openxmlformats.org/officeDocument/2006/relationships/notesSlide" Target="/ppt/notesSlides/notesSlide32.xml" Id="Re2b92054953240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92a8456d71e423a" /><Relationship Type="http://schemas.openxmlformats.org/officeDocument/2006/relationships/notesSlide" Target="/ppt/notesSlides/notesSlide33.xml" Id="Rf551d2ed20f0418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764e43e79ee4252" /><Relationship Type="http://schemas.openxmlformats.org/officeDocument/2006/relationships/notesSlide" Target="/ppt/notesSlides/notesSlide34.xml" Id="Rf7dbc87d68b34d2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655e807321d41c1" /><Relationship Type="http://schemas.openxmlformats.org/officeDocument/2006/relationships/image" Target="/ppt/media/image5.png" Id="Rfac4dec8b9354cdb" /><Relationship Type="http://schemas.openxmlformats.org/officeDocument/2006/relationships/notesSlide" Target="/ppt/notesSlides/notesSlide35.xml" Id="R7bd59c4052aa44a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63e27b8058e4fcf" /><Relationship Type="http://schemas.openxmlformats.org/officeDocument/2006/relationships/notesSlide" Target="/ppt/notesSlides/notesSlide36.xml" Id="Rfe4c1b7cf46d408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08b6e56ce5543f2" /><Relationship Type="http://schemas.openxmlformats.org/officeDocument/2006/relationships/chart" Target="/ppt/slides/charts/chart11.xml" Id="R3cec10bcd0884938" /><Relationship Type="http://schemas.openxmlformats.org/officeDocument/2006/relationships/notesSlide" Target="/ppt/notesSlides/notesSlide37.xml" Id="Re805f4df31b64b8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3bc477d842346b3" /><Relationship Type="http://schemas.openxmlformats.org/officeDocument/2006/relationships/notesSlide" Target="/ppt/notesSlides/notesSlide38.xml" Id="R763c383c305346f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80ca4aa4d6b4576" /><Relationship Type="http://schemas.openxmlformats.org/officeDocument/2006/relationships/chart" Target="/ppt/slides/charts/chart12.xml" Id="Rb48928d31e7f440b" /><Relationship Type="http://schemas.openxmlformats.org/officeDocument/2006/relationships/notesSlide" Target="/ppt/notesSlides/notesSlide39.xml" Id="R7152c8d26ac1458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08d42685ce74282" /><Relationship Type="http://schemas.openxmlformats.org/officeDocument/2006/relationships/notesSlide" Target="/ppt/notesSlides/notesSlide40.xml" Id="Rf23064fe18f740d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895c50189a84f98" /><Relationship Type="http://schemas.openxmlformats.org/officeDocument/2006/relationships/notesSlide" Target="/ppt/notesSlides/notesSlide41.xml" Id="R72c28b42298d450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b8c76b8ad7c4d99" /><Relationship Type="http://schemas.openxmlformats.org/officeDocument/2006/relationships/notesSlide" Target="/ppt/notesSlides/notesSlide42.xml" Id="Rd2bb2666def2475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0c2efffc4854384" /><Relationship Type="http://schemas.openxmlformats.org/officeDocument/2006/relationships/image" Target="/ppt/media/image6.png" Id="Rffbcf69a68ec4443" /><Relationship Type="http://schemas.openxmlformats.org/officeDocument/2006/relationships/notesSlide" Target="/ppt/notesSlides/notesSlide43.xml" Id="R0f656c23fdc8433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6a2f3df35984cc8" /><Relationship Type="http://schemas.openxmlformats.org/officeDocument/2006/relationships/notesSlide" Target="/ppt/notesSlides/notesSlide44.xml" Id="R9561afe6e620420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bd2094516c942b1" /><Relationship Type="http://schemas.openxmlformats.org/officeDocument/2006/relationships/notesSlide" Target="/ppt/notesSlides/notesSlide45.xml" Id="Rdfac8ea06a55435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16166019c10347df" /><Relationship Type="http://schemas.openxmlformats.org/officeDocument/2006/relationships/notesSlide" Target="/ppt/notesSlides/notesSlide46.xml" Id="Rd892d434af9744e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2ae1e29c6af9470c" /><Relationship Type="http://schemas.openxmlformats.org/officeDocument/2006/relationships/notesSlide" Target="/ppt/notesSlides/notesSlide47.xml" Id="R9ed23ab9c4c8483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4c9d3c9d92d4bec" /><Relationship Type="http://schemas.openxmlformats.org/officeDocument/2006/relationships/notesSlide" Target="/ppt/notesSlides/notesSlide48.xml" Id="Ra28bbb49da38470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c08e48c30604b79" /><Relationship Type="http://schemas.openxmlformats.org/officeDocument/2006/relationships/notesSlide" Target="/ppt/notesSlides/notesSlide49.xml" Id="R571c27833975471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4ea9444c745949a2" /><Relationship Type="http://schemas.openxmlformats.org/officeDocument/2006/relationships/notesSlide" Target="/ppt/notesSlides/notesSlide50.xml" Id="R039c72a471ac4c1f" /></Relationships>
</file>

<file path=ppt/slides/charts/chart1.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7.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8.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9.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0.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1.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x₁</c:v>
              </c:pt>
              <c:pt idx="1">
                <c:v>x₂</c:v>
              </c:pt>
              <c:pt idx="2">
                <c:v>x₃</c:v>
              </c:pt>
              <c:pt idx="3">
                <c:v>x₄</c:v>
              </c:pt>
              <c:pt idx="4">
                <c:v>x₅</c:v>
              </c:pt>
            </c:strLit>
          </c:cat>
          <c:val>
            <c:numLit>
              <c:formatCode>General</c:formatCode>
              <c:ptCount val="5"/>
              <c:pt idx="0">
                <c:v>5</c:v>
              </c:pt>
              <c:pt idx="1">
                <c:v>4</c:v>
              </c:pt>
              <c:pt idx="2">
                <c:v>3</c:v>
              </c:pt>
              <c:pt idx="3">
                <c:v>2</c:v>
              </c:pt>
              <c:pt idx="4">
                <c:v>1</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12.xml><?xml version="1.0" encoding="utf-8"?>
<c:chartSpace xmlns:c="http://schemas.openxmlformats.org/drawingml/2006/chart">
  <c:lang val="en-US"/>
  <c:chart>
    <c:plotArea>
      <c:barChart>
        <c:barDir val="col"/>
        <c:grouping val="clustered"/>
        <c:varyColors val="0"/>
        <c:ser>
          <c:idx val="0"/>
          <c:order val="0"/>
          <c:tx>
            <c:v>Value</c:v>
          </c:tx>
          <c:spPr>
            <a:solidFill xmlns:a="http://schemas.openxmlformats.org/drawingml/2006/main">
              <a:srgbClr val="60A5FA"/>
            </a:solidFill>
          </c:spPr>
          <c:cat>
            <c:strLit>
              <c:ptCount val="5"/>
              <c:pt idx="0">
                <c:v>λ₁</c:v>
              </c:pt>
              <c:pt idx="1">
                <c:v>λ₂</c:v>
              </c:pt>
              <c:pt idx="2">
                <c:v>λ₃</c:v>
              </c:pt>
              <c:pt idx="3">
                <c:v>λ₄</c:v>
              </c:pt>
              <c:pt idx="4">
                <c:v>λ₅</c:v>
              </c:pt>
            </c:strLit>
          </c:cat>
          <c:val>
            <c:numLit>
              <c:formatCode>General</c:formatCode>
              <c:ptCount val="5"/>
              <c:pt idx="0">
                <c:v>5</c:v>
              </c:pt>
              <c:pt idx="1">
                <c:v>4</c:v>
              </c:pt>
              <c:pt idx="2">
                <c:v>2.8</c:v>
              </c:pt>
              <c:pt idx="3">
                <c:v>1.5</c:v>
              </c:pt>
              <c:pt idx="4">
                <c:v>0.6</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C0CA"/>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72768"/>
      </c:catAx>
      <c:valAx>
        <c:axId val="48672768"/>
        <c:scaling>
          <c:orientation val="minMax"/>
        </c:scaling>
        <c:delete val="0"/>
        <c:axPos val="l"/>
        <c:majorGridlines>
          <c:spPr>
            <a:ln xmlns:a="http://schemas.openxmlformats.org/drawingml/2006/main" w="9525">
              <a:solidFill>
                <a:srgbClr val="EDF1F5"/>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273"/>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ver-kicker">
            <a:extLst xmlns:a="http://schemas.openxmlformats.org/drawingml/2006/main">
              <a:ext uri="{FF2B5EF4-FFF2-40B4-BE49-F238E27FC236}">
                <a16:creationId xmlns:a16="http://schemas.microsoft.com/office/drawing/2014/main" id="{15D5651E-148E-49E7-90D3-06C0078F6A17}"/>
              </a:ext>
            </a:extLst>
          </p:cNvPr>
          <p:cNvSpPr>
            <a:spLocks xmlns:a="http://schemas.openxmlformats.org/drawingml/2006/main" noGrp="1"/>
          </p:cNvSpPr>
          <p:nvPr/>
        </p:nvSpPr>
        <p:spPr>
          <a:xfrm xmlns:a="http://schemas.openxmlformats.org/drawingml/2006/main">
            <a:off x="4572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MATH60033A · SESSION 05 · LECTURE</a:t>
            </a:r>
          </a:p>
        </p:txBody>
      </p:sp>
      <p:sp>
        <p:nvSpPr>
          <p:cNvPr id="2" name="cover-title">
            <a:extLst xmlns:a="http://schemas.openxmlformats.org/drawingml/2006/main">
              <a:ext uri="{FF2B5EF4-FFF2-40B4-BE49-F238E27FC236}">
                <a16:creationId xmlns:a16="http://schemas.microsoft.com/office/drawing/2014/main" id="{27F96B7F-54BC-4D57-B8D7-43D0EB149550}"/>
              </a:ext>
            </a:extLst>
          </p:cNvPr>
          <p:cNvSpPr>
            <a:spLocks xmlns:a="http://schemas.openxmlformats.org/drawingml/2006/main" noGrp="1"/>
          </p:cNvSpPr>
          <p:nvPr/>
        </p:nvSpPr>
        <p:spPr>
          <a:xfrm xmlns:a="http://schemas.openxmlformats.org/drawingml/2006/main">
            <a:off x="457200" y="1066800"/>
            <a:ext cx="557212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4200" b="1">
                <a:solidFill>
                  <a:srgbClr val="111827"/>
                </a:solidFill>
                <a:latin typeface="Helvetica Neue"/>
                <a:ea typeface="Helvetica Neue"/>
                <a:cs typeface="Helvetica Neue"/>
              </a:defRPr>
            </a:pPr>
            <a:r>
              <a:rPr sz="4200" b="1">
                <a:solidFill>
                  <a:srgbClr val="111827"/>
                </a:solidFill>
                <a:latin typeface="Helvetica Neue"/>
                <a:ea typeface="Helvetica Neue"/>
                <a:cs typeface="Helvetica Neue"/>
              </a:rPr>
              <a:t>Ridge, lasso, and the elastic net</a:t>
            </a:r>
          </a:p>
        </p:txBody>
      </p:sp>
      <p:sp>
        <p:nvSpPr>
          <p:cNvPr id="3" name="cover-hook">
            <a:extLst xmlns:a="http://schemas.openxmlformats.org/drawingml/2006/main">
              <a:ext uri="{FF2B5EF4-FFF2-40B4-BE49-F238E27FC236}">
                <a16:creationId xmlns:a16="http://schemas.microsoft.com/office/drawing/2014/main" id="{C7DE993D-4102-4EAA-8C77-3DC8DCC7030E}"/>
              </a:ext>
            </a:extLst>
          </p:cNvPr>
          <p:cNvSpPr>
            <a:spLocks xmlns:a="http://schemas.openxmlformats.org/drawingml/2006/main" noGrp="1"/>
          </p:cNvSpPr>
          <p:nvPr/>
        </p:nvSpPr>
        <p:spPr>
          <a:xfrm xmlns:a="http://schemas.openxmlformats.org/drawingml/2006/main">
            <a:off x="457200" y="3562350"/>
            <a:ext cx="5095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536273"/>
                </a:solidFill>
                <a:latin typeface="Helvetica Neue"/>
                <a:ea typeface="Helvetica Neue"/>
                <a:cs typeface="Helvetica Neue"/>
              </a:defRPr>
            </a:pPr>
            <a:r>
              <a:rPr sz="2325" b="1">
                <a:solidFill>
                  <a:srgbClr val="536273"/>
                </a:solidFill>
                <a:latin typeface="Helvetica Neue"/>
                <a:ea typeface="Helvetica Neue"/>
                <a:cs typeface="Helvetica Neue"/>
              </a:rPr>
              <a:t>When is a deliberately biased estimator the better one?</a:t>
            </a:r>
          </a:p>
        </p:txBody>
      </p:sp>
      <p:sp>
        <p:nvSpPr>
          <p:cNvPr id="4" name="cover-author">
            <a:extLst xmlns:a="http://schemas.openxmlformats.org/drawingml/2006/main">
              <a:ext uri="{FF2B5EF4-FFF2-40B4-BE49-F238E27FC236}">
                <a16:creationId xmlns:a16="http://schemas.microsoft.com/office/drawing/2014/main" id="{D7A7D7B1-E37B-4FCA-8A72-4EA574634B03}"/>
              </a:ext>
            </a:extLst>
          </p:cNvPr>
          <p:cNvSpPr>
            <a:spLocks xmlns:a="http://schemas.openxmlformats.org/drawingml/2006/main" noGrp="1"/>
          </p:cNvSpPr>
          <p:nvPr/>
        </p:nvSpPr>
        <p:spPr>
          <a:xfrm xmlns:a="http://schemas.openxmlformats.org/drawingml/2006/main">
            <a:off x="457200" y="573405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Thierry Warin</a:t>
            </a:r>
          </a:p>
        </p:txBody>
      </p:sp>
      <p:sp>
        <p:nvSpPr>
          <p:cNvPr id="5" name="motif-field">
            <a:extLst xmlns:a="http://schemas.openxmlformats.org/drawingml/2006/main">
              <a:ext uri="{FF2B5EF4-FFF2-40B4-BE49-F238E27FC236}">
                <a16:creationId xmlns:a16="http://schemas.microsoft.com/office/drawing/2014/main" id="{4515A2A7-1B75-4171-AC2F-6F57E967B2A8}"/>
              </a:ext>
            </a:extLst>
          </p:cNvPr>
          <p:cNvSpPr>
            <a:spLocks xmlns:a="http://schemas.openxmlformats.org/drawingml/2006/main" noGrp="1"/>
          </p:cNvSpPr>
          <p:nvPr/>
        </p:nvSpPr>
        <p:spPr>
          <a:xfrm xmlns:a="http://schemas.openxmlformats.org/drawingml/2006/main">
            <a:off x="6334125" y="361950"/>
            <a:ext cx="5400675" cy="5734050"/>
          </a:xfrm>
          <a:prstGeom xmlns:a="http://schemas.openxmlformats.org/drawingml/2006/main" prst="roundRect">
            <a:avLst>
              <a:gd name="adj" fmla="val 1411"/>
            </a:avLst>
          </a:prstGeom>
          <a:solidFill xmlns:a="http://schemas.openxmlformats.org/drawingml/2006/main">
            <a:srgbClr val="DDF2FC"/>
          </a:solidFill>
          <a:ln xmlns:a="http://schemas.openxmlformats.org/drawingml/2006/main" w="9525">
            <a:solidFill>
              <a:srgbClr val="B8C0CA"/>
            </a:solidFill>
            <a:prstDash val="solid"/>
          </a:ln>
        </p:spPr>
      </p:sp>
      <p:graphicFrame>
        <p:nvGraphicFramePr>
          <p:cNvPr id="17" name="Chart"/>
          <p:cNvGraphicFramePr/>
          <p:nvPr/>
        </p:nvGraphicFramePr>
        <p:xfrm>
          <a:off xmlns:a="http://schemas.openxmlformats.org/drawingml/2006/main" x="6657975" y="685800"/>
          <a:ext xmlns:a="http://schemas.openxmlformats.org/drawingml/2006/main" cx="4752975" cy="5086350"/>
        </p:xfrm>
        <a:graphic xmlns:a="http://schemas.openxmlformats.org/drawingml/2006/main">
          <a:graphicData uri="http://schemas.openxmlformats.org/drawingml/2006/chart">
            <c:chart xmlns:r="http://schemas.openxmlformats.org/officeDocument/2006/relationships" xmlns:c="http://schemas.openxmlformats.org/drawingml/2006/chart" r:id="R7157f936a5204d36"/>
          </a:graphicData>
        </a:graphic>
      </p:graphicFrame>
      <p:sp>
        <p:nvSpPr>
          <p:cNvPr id="7" name="rule-48-674">
            <a:extLst xmlns:a="http://schemas.openxmlformats.org/drawingml/2006/main">
              <a:ext uri="{FF2B5EF4-FFF2-40B4-BE49-F238E27FC236}">
                <a16:creationId xmlns:a16="http://schemas.microsoft.com/office/drawing/2014/main" id="{B9E0C6A7-085A-46D5-B036-6FBF7DB682B4}"/>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8" name="footer-left">
            <a:extLst xmlns:a="http://schemas.openxmlformats.org/drawingml/2006/main">
              <a:ext uri="{FF2B5EF4-FFF2-40B4-BE49-F238E27FC236}">
                <a16:creationId xmlns:a16="http://schemas.microsoft.com/office/drawing/2014/main" id="{5C3A3AA4-8758-4662-825B-5B7B95BB265F}"/>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9" name="footer-right">
            <a:extLst xmlns:a="http://schemas.openxmlformats.org/drawingml/2006/main">
              <a:ext uri="{FF2B5EF4-FFF2-40B4-BE49-F238E27FC236}">
                <a16:creationId xmlns:a16="http://schemas.microsoft.com/office/drawing/2014/main" id="{424249E0-DA6F-4E03-BB06-710BC1617D80}"/>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1/50</a:t>
            </a:r>
          </a:p>
        </p:txBody>
      </p:sp>
    </p:spTree>
    <p:extLst>
      <p:ext uri="{BB962C8B-B14F-4D97-AF65-F5344CB8AC3E}">
        <p14:creationId xmlns:p14="http://schemas.microsoft.com/office/powerpoint/2010/main" val="45263952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yebrow">
            <a:extLst xmlns:a="http://schemas.openxmlformats.org/drawingml/2006/main">
              <a:ext uri="{FF2B5EF4-FFF2-40B4-BE49-F238E27FC236}">
                <a16:creationId xmlns:a16="http://schemas.microsoft.com/office/drawing/2014/main" id="{2C2DCABB-0637-4A45-AEAF-6C7DE4A1222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ROUTE</a:t>
            </a:r>
          </a:p>
        </p:txBody>
      </p:sp>
      <p:sp>
        <p:nvSpPr>
          <p:cNvPr id="2" name="slide-title">
            <a:extLst xmlns:a="http://schemas.openxmlformats.org/drawingml/2006/main">
              <a:ext uri="{FF2B5EF4-FFF2-40B4-BE49-F238E27FC236}">
                <a16:creationId xmlns:a16="http://schemas.microsoft.com/office/drawing/2014/main" id="{11DAE938-7350-448B-B5B9-4EF8D4CAD0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why, how—and what changes today</a:t>
            </a:r>
          </a:p>
        </p:txBody>
      </p:sp>
      <p:sp>
        <p:nvSpPr>
          <p:cNvPr id="3" name="rule-48-137">
            <a:extLst xmlns:a="http://schemas.openxmlformats.org/drawingml/2006/main">
              <a:ext uri="{FF2B5EF4-FFF2-40B4-BE49-F238E27FC236}">
                <a16:creationId xmlns:a16="http://schemas.microsoft.com/office/drawing/2014/main" id="{5646EA91-7B6A-4073-A985-5D59C7EFF857}"/>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objective">
            <a:extLst xmlns:a="http://schemas.openxmlformats.org/drawingml/2006/main">
              <a:ext uri="{FF2B5EF4-FFF2-40B4-BE49-F238E27FC236}">
                <a16:creationId xmlns:a16="http://schemas.microsoft.com/office/drawing/2014/main" id="{7A55FB78-70C2-4D94-82A7-015B7B4D3F94}"/>
              </a:ext>
            </a:extLst>
          </p:cNvPr>
          <p:cNvSpPr>
            <a:spLocks xmlns:a="http://schemas.openxmlformats.org/drawingml/2006/main" noGrp="1"/>
          </p:cNvSpPr>
          <p:nvPr/>
        </p:nvSpPr>
        <p:spPr>
          <a:xfrm xmlns:a="http://schemas.openxmlformats.org/drawingml/2006/main">
            <a:off x="457200" y="1581150"/>
            <a:ext cx="1095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2563EB"/>
                </a:solidFill>
                <a:latin typeface="Helvetica Neue"/>
                <a:ea typeface="Helvetica Neue"/>
                <a:cs typeface="Helvetica Neue"/>
              </a:defRPr>
            </a:pPr>
            <a:r>
              <a:rPr sz="2175" b="1">
                <a:solidFill>
                  <a:srgbClr val="2563EB"/>
                </a:solidFill>
                <a:latin typeface="Helvetica Neue"/>
                <a:ea typeface="Helvetica Neue"/>
                <a:cs typeface="Helvetica Neue"/>
              </a:rPr>
              <a:t>See regularisation as controlled shrinkage and choose its strength inside cross-validation.</a:t>
            </a:r>
          </a:p>
        </p:txBody>
      </p:sp>
      <p:cxnSp>
        <p:nvCxnSpPr>
          <p:cNvPr id="33" name="workflow-edge-0"/>
          <p:cNvCxnSpPr/>
          <p:nvPr/>
        </p:nvCxnSpPr>
        <p:spPr>
          <a:xfrm xmlns:a="http://schemas.openxmlformats.org/drawingml/2006/main">
            <a:off x="4019550" y="4010025"/>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4" name="workflow-edge-1"/>
          <p:cNvCxnSpPr/>
          <p:nvPr/>
        </p:nvCxnSpPr>
        <p:spPr>
          <a:xfrm xmlns:a="http://schemas.openxmlformats.org/drawingml/2006/main">
            <a:off x="7829550" y="4010025"/>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7" name="workflow-node-0">
            <a:extLst xmlns:a="http://schemas.openxmlformats.org/drawingml/2006/main">
              <a:ext uri="{FF2B5EF4-FFF2-40B4-BE49-F238E27FC236}">
                <a16:creationId xmlns:a16="http://schemas.microsoft.com/office/drawing/2014/main" id="{9819DD98-FB57-44E1-86B4-7BABC87ED852}"/>
              </a:ext>
            </a:extLst>
          </p:cNvPr>
          <p:cNvSpPr>
            <a:spLocks xmlns:a="http://schemas.openxmlformats.org/drawingml/2006/main" noGrp="1"/>
          </p:cNvSpPr>
          <p:nvPr/>
        </p:nvSpPr>
        <p:spPr>
          <a:xfrm xmlns:a="http://schemas.openxmlformats.org/drawingml/2006/main">
            <a:off x="552450" y="2895600"/>
            <a:ext cx="3467100" cy="2228850"/>
          </a:xfrm>
          <a:prstGeom xmlns:a="http://schemas.openxmlformats.org/drawingml/2006/main" prst="roundRect">
            <a:avLst>
              <a:gd name="adj" fmla="val 3419"/>
            </a:avLst>
          </a:prstGeom>
          <a:solidFill xmlns:a="http://schemas.openxmlformats.org/drawingml/2006/main">
            <a:srgbClr val="DDF2FC"/>
          </a:solidFill>
          <a:ln xmlns:a="http://schemas.openxmlformats.org/drawingml/2006/main" w="9525">
            <a:solidFill>
              <a:srgbClr val="B8C0CA"/>
            </a:solidFill>
            <a:prstDash val="solid"/>
          </a:ln>
        </p:spPr>
      </p:sp>
      <p:sp>
        <p:nvSpPr>
          <p:cNvPr id="8" name="workflow-text-0">
            <a:extLst xmlns:a="http://schemas.openxmlformats.org/drawingml/2006/main">
              <a:ext uri="{FF2B5EF4-FFF2-40B4-BE49-F238E27FC236}">
                <a16:creationId xmlns:a16="http://schemas.microsoft.com/office/drawing/2014/main" id="{C87CCA32-22EA-44D1-BC34-1D0548ADA027}"/>
              </a:ext>
            </a:extLst>
          </p:cNvPr>
          <p:cNvSpPr>
            <a:spLocks xmlns:a="http://schemas.openxmlformats.org/drawingml/2006/main" noGrp="1"/>
          </p:cNvSpPr>
          <p:nvPr/>
        </p:nvSpPr>
        <p:spPr>
          <a:xfrm xmlns:a="http://schemas.openxmlformats.org/drawingml/2006/main">
            <a:off x="647700" y="3009900"/>
            <a:ext cx="32766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WHAT</a:t>
            </a:r>
          </a:p>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Name the object and notation</a:t>
            </a:r>
          </a:p>
        </p:txBody>
      </p:sp>
      <p:sp>
        <p:nvSpPr>
          <p:cNvPr id="9" name="workflow-node-1">
            <a:extLst xmlns:a="http://schemas.openxmlformats.org/drawingml/2006/main">
              <a:ext uri="{FF2B5EF4-FFF2-40B4-BE49-F238E27FC236}">
                <a16:creationId xmlns:a16="http://schemas.microsoft.com/office/drawing/2014/main" id="{1E62BAB7-2BE5-4DF0-88C7-D9DC1B650D0E}"/>
              </a:ext>
            </a:extLst>
          </p:cNvPr>
          <p:cNvSpPr>
            <a:spLocks xmlns:a="http://schemas.openxmlformats.org/drawingml/2006/main" noGrp="1"/>
          </p:cNvSpPr>
          <p:nvPr/>
        </p:nvSpPr>
        <p:spPr>
          <a:xfrm xmlns:a="http://schemas.openxmlformats.org/drawingml/2006/main">
            <a:off x="4362450" y="2895600"/>
            <a:ext cx="3467100" cy="2228850"/>
          </a:xfrm>
          <a:prstGeom xmlns:a="http://schemas.openxmlformats.org/drawingml/2006/main" prst="roundRect">
            <a:avLst>
              <a:gd name="adj" fmla="val 3419"/>
            </a:avLst>
          </a:prstGeom>
          <a:solidFill xmlns:a="http://schemas.openxmlformats.org/drawingml/2006/main">
            <a:srgbClr val="EDF1F5"/>
          </a:solidFill>
          <a:ln xmlns:a="http://schemas.openxmlformats.org/drawingml/2006/main" w="9525">
            <a:solidFill>
              <a:srgbClr val="B8C0CA"/>
            </a:solidFill>
            <a:prstDash val="solid"/>
          </a:ln>
        </p:spPr>
      </p:sp>
      <p:sp>
        <p:nvSpPr>
          <p:cNvPr id="10" name="workflow-text-1">
            <a:extLst xmlns:a="http://schemas.openxmlformats.org/drawingml/2006/main">
              <a:ext uri="{FF2B5EF4-FFF2-40B4-BE49-F238E27FC236}">
                <a16:creationId xmlns:a16="http://schemas.microsoft.com/office/drawing/2014/main" id="{61AB59CC-7999-4AE6-A288-F5DFDED3504A}"/>
              </a:ext>
            </a:extLst>
          </p:cNvPr>
          <p:cNvSpPr>
            <a:spLocks xmlns:a="http://schemas.openxmlformats.org/drawingml/2006/main" noGrp="1"/>
          </p:cNvSpPr>
          <p:nvPr/>
        </p:nvSpPr>
        <p:spPr>
          <a:xfrm xmlns:a="http://schemas.openxmlformats.org/drawingml/2006/main">
            <a:off x="4457700" y="3009900"/>
            <a:ext cx="32766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WHY</a:t>
            </a:r>
          </a:p>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See the problem it solves</a:t>
            </a:r>
          </a:p>
        </p:txBody>
      </p:sp>
      <p:sp>
        <p:nvSpPr>
          <p:cNvPr id="11" name="workflow-node-2">
            <a:extLst xmlns:a="http://schemas.openxmlformats.org/drawingml/2006/main">
              <a:ext uri="{FF2B5EF4-FFF2-40B4-BE49-F238E27FC236}">
                <a16:creationId xmlns:a16="http://schemas.microsoft.com/office/drawing/2014/main" id="{E72459CE-E97F-4B3A-8384-32C0A56723DA}"/>
              </a:ext>
            </a:extLst>
          </p:cNvPr>
          <p:cNvSpPr>
            <a:spLocks xmlns:a="http://schemas.openxmlformats.org/drawingml/2006/main" noGrp="1"/>
          </p:cNvSpPr>
          <p:nvPr/>
        </p:nvSpPr>
        <p:spPr>
          <a:xfrm xmlns:a="http://schemas.openxmlformats.org/drawingml/2006/main">
            <a:off x="8172450" y="2895600"/>
            <a:ext cx="3467100" cy="2228850"/>
          </a:xfrm>
          <a:prstGeom xmlns:a="http://schemas.openxmlformats.org/drawingml/2006/main" prst="roundRect">
            <a:avLst>
              <a:gd name="adj" fmla="val 3419"/>
            </a:avLst>
          </a:prstGeom>
          <a:solidFill xmlns:a="http://schemas.openxmlformats.org/drawingml/2006/main">
            <a:srgbClr val="FDEAE5"/>
          </a:solidFill>
          <a:ln xmlns:a="http://schemas.openxmlformats.org/drawingml/2006/main" w="9525">
            <a:solidFill>
              <a:srgbClr val="B8C0CA"/>
            </a:solidFill>
            <a:prstDash val="solid"/>
          </a:ln>
        </p:spPr>
      </p:sp>
      <p:sp>
        <p:nvSpPr>
          <p:cNvPr id="12" name="workflow-text-2">
            <a:extLst xmlns:a="http://schemas.openxmlformats.org/drawingml/2006/main">
              <a:ext uri="{FF2B5EF4-FFF2-40B4-BE49-F238E27FC236}">
                <a16:creationId xmlns:a16="http://schemas.microsoft.com/office/drawing/2014/main" id="{FCC838DD-1FBF-4F57-BD1A-EECFA810543E}"/>
              </a:ext>
            </a:extLst>
          </p:cNvPr>
          <p:cNvSpPr>
            <a:spLocks xmlns:a="http://schemas.openxmlformats.org/drawingml/2006/main" noGrp="1"/>
          </p:cNvSpPr>
          <p:nvPr/>
        </p:nvSpPr>
        <p:spPr>
          <a:xfrm xmlns:a="http://schemas.openxmlformats.org/drawingml/2006/main">
            <a:off x="8267700" y="3009900"/>
            <a:ext cx="32766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HOW</a:t>
            </a:r>
          </a:p>
          <a:p xmlns:a="http://schemas.openxmlformats.org/drawingml/2006/main">
            <a:pPr algn="ctr">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Derive, run, interpret, challenge</a:t>
            </a:r>
          </a:p>
        </p:txBody>
      </p:sp>
      <p:sp>
        <p:nvSpPr>
          <p:cNvPr id="13" name="arc-caption">
            <a:extLst xmlns:a="http://schemas.openxmlformats.org/drawingml/2006/main">
              <a:ext uri="{FF2B5EF4-FFF2-40B4-BE49-F238E27FC236}">
                <a16:creationId xmlns:a16="http://schemas.microsoft.com/office/drawing/2014/main" id="{384B5692-A35F-4DE8-876E-AC84AC415B30}"/>
              </a:ext>
            </a:extLst>
          </p:cNvPr>
          <p:cNvSpPr>
            <a:spLocks xmlns:a="http://schemas.openxmlformats.org/drawingml/2006/main" noGrp="1"/>
          </p:cNvSpPr>
          <p:nvPr/>
        </p:nvSpPr>
        <p:spPr>
          <a:xfrm xmlns:a="http://schemas.openxmlformats.org/drawingml/2006/main">
            <a:off x="457200" y="5695950"/>
            <a:ext cx="762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626"/>
          </a:bodyPr>
          <a:lstStyle xmlns:a="http://schemas.openxmlformats.org/drawingml/2006/main"/>
          <a:p xmlns:a="http://schemas.openxmlformats.org/drawingml/2006/main">
            <a:pPr algn="l">
              <a:lnSpc>
                <a:spcPct val="100000"/>
              </a:lnSpc>
              <a:buNone/>
              <a:defRPr sz="1575" b="1">
                <a:solidFill>
                  <a:srgbClr val="F97362"/>
                </a:solidFill>
                <a:latin typeface="Helvetica Neue"/>
                <a:ea typeface="Helvetica Neue"/>
                <a:cs typeface="Helvetica Neue"/>
              </a:defRPr>
            </a:pPr>
            <a:r>
              <a:rPr sz="1575" b="1">
                <a:solidFill>
                  <a:srgbClr val="F97362"/>
                </a:solidFill>
                <a:latin typeface="Helvetica Neue"/>
                <a:ea typeface="Helvetica Neue"/>
                <a:cs typeface="Helvetica Neue"/>
              </a:rPr>
              <a:t>The lecture ends by connecting the method to the required article and the 90-minute replication.</a:t>
            </a:r>
          </a:p>
        </p:txBody>
      </p:sp>
      <p:sp>
        <p:nvSpPr>
          <p:cNvPr id="14" name="rule-48-674">
            <a:extLst xmlns:a="http://schemas.openxmlformats.org/drawingml/2006/main">
              <a:ext uri="{FF2B5EF4-FFF2-40B4-BE49-F238E27FC236}">
                <a16:creationId xmlns:a16="http://schemas.microsoft.com/office/drawing/2014/main" id="{31F827C5-EFBC-48F0-AB04-1CF66EB4C2CF}"/>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footer-left">
            <a:extLst xmlns:a="http://schemas.openxmlformats.org/drawingml/2006/main">
              <a:ext uri="{FF2B5EF4-FFF2-40B4-BE49-F238E27FC236}">
                <a16:creationId xmlns:a16="http://schemas.microsoft.com/office/drawing/2014/main" id="{1C4A98CF-ACFE-4CD6-9C76-C8DA01B4C63A}"/>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6" name="footer-right">
            <a:extLst xmlns:a="http://schemas.openxmlformats.org/drawingml/2006/main">
              <a:ext uri="{FF2B5EF4-FFF2-40B4-BE49-F238E27FC236}">
                <a16:creationId xmlns:a16="http://schemas.microsoft.com/office/drawing/2014/main" id="{295A76DC-96F5-4FE1-86B7-7B302F1BDA7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2/50</a:t>
            </a:r>
          </a:p>
        </p:txBody>
      </p:sp>
    </p:spTree>
    <p:extLst>
      <p:ext uri="{BB962C8B-B14F-4D97-AF65-F5344CB8AC3E}">
        <p14:creationId xmlns:p14="http://schemas.microsoft.com/office/powerpoint/2010/main" val="19917844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BRIDGE</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this adds to the previous method</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Bias–variance trade-off</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Add a penalty</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Tune λ out of sample</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New capacity: See regularisation as controlled shrinkage and choose its strength inside cross-validation.</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3/50</a:t>
            </a:r>
          </a:p>
        </p:txBody>
      </p:sp>
    </p:spTree>
    <p:extLst>
      <p:ext uri="{BB962C8B-B14F-4D97-AF65-F5344CB8AC3E}">
        <p14:creationId xmlns:p14="http://schemas.microsoft.com/office/powerpoint/2010/main" val="2082114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WHY</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Why this method enters the course now</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875" b="1">
                <a:solidFill>
                  <a:srgbClr val="2563EB"/>
                </a:solidFill>
                <a:latin typeface="Helvetica Neue"/>
                <a:ea typeface="Helvetica Neue"/>
                <a:cs typeface="Helvetica Neue"/>
              </a:defRPr>
            </a:pPr>
            <a:r>
              <a:rPr sz="1875" b="1">
                <a:solidFill>
                  <a:srgbClr val="2563EB"/>
                </a:solidFill>
                <a:latin typeface="Helvetica Neue"/>
                <a:ea typeface="Helvetica Neue"/>
                <a:cs typeface="Helvetica Neue"/>
              </a:rPr>
              <a:t>Regularisation accepts controlled bias to stabilise prediction when predictors are many, noisy, or correlated.</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75" b="1">
                <a:solidFill>
                  <a:srgbClr val="111827"/>
                </a:solidFill>
                <a:latin typeface="Helvetica Neue"/>
                <a:ea typeface="Helvetica Neue"/>
                <a:cs typeface="Helvetica Neue"/>
              </a:defRPr>
            </a:pPr>
            <a:r>
              <a:rPr sz="2175" b="1">
                <a:solidFill>
                  <a:srgbClr val="111827"/>
                </a:solidFill>
                <a:latin typeface="Helvetica Neue"/>
                <a:ea typeface="Helvetica Neue"/>
                <a:cs typeface="Helvetica Neue"/>
              </a:rPr>
              <a:t>Used in: wide business data · screening · stable prediction.</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DECISION TEST</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What decision becomes better—or more honest—after learning this method?</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ccf5ae146fbf45a7"/>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4/50</a:t>
            </a:r>
          </a:p>
        </p:txBody>
      </p:sp>
    </p:spTree>
    <p:extLst>
      <p:ext uri="{BB962C8B-B14F-4D97-AF65-F5344CB8AC3E}">
        <p14:creationId xmlns:p14="http://schemas.microsoft.com/office/powerpoint/2010/main" val="1704592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HISTORICAL CONNECTION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A face behind the method</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Andrey Tikhonov</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97362"/>
                </a:solidFill>
                <a:latin typeface="Helvetica Neue"/>
                <a:ea typeface="Helvetica Neue"/>
                <a:cs typeface="Helvetica Neue"/>
              </a:defRPr>
            </a:pPr>
            <a:r>
              <a:rPr sz="1500" b="1">
                <a:solidFill>
                  <a:srgbClr val="F97362"/>
                </a:solidFill>
                <a:latin typeface="Helvetica Neue"/>
                <a:ea typeface="Helvetica Neue"/>
                <a:cs typeface="Helvetica Neue"/>
              </a:rPr>
              <a:t>1906–1993</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WHY THIS PERSON MATTERS</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lnSpc>
                <a:spcPct val="100000"/>
              </a:lnSpc>
              <a:buNone/>
              <a:defRPr sz="1200" b="1">
                <a:solidFill>
                  <a:srgbClr val="111827"/>
                </a:solidFill>
                <a:latin typeface="Helvetica Neue"/>
                <a:ea typeface="Helvetica Neue"/>
                <a:cs typeface="Helvetica Neue"/>
              </a:defRPr>
            </a:pPr>
            <a:r>
              <a:rPr sz="1200" b="1">
                <a:solidFill>
                  <a:srgbClr val="111827"/>
                </a:solidFill>
                <a:latin typeface="Helvetica Neue"/>
                <a:ea typeface="Helvetica Neue"/>
                <a:cs typeface="Helvetica Neue"/>
              </a:rPr>
              <a:t>Tikhonov regularisation formalised how a penalty can turn an unstable inverse…</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5/50</a:t>
            </a:r>
          </a:p>
        </p:txBody>
      </p:sp>
      <p:sp>
        <p:nvSpPr>
          <p:cNvPr id="35" name="media-matte-tikhonov.png">
            <a:extLst xmlns:a="http://schemas.openxmlformats.org/drawingml/2006/main">
              <a:ext uri="{FF2B5EF4-FFF2-40B4-BE49-F238E27FC236}">
                <a16:creationId xmlns:a16="http://schemas.microsoft.com/office/drawing/2014/main" id="{70000EBC-10FC-45D1-B244-D8D868F2D407}"/>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433315fcbee046ac"/>
          <a:stretch xmlns:a="http://schemas.openxmlformats.org/drawingml/2006/main"/>
        </p:blipFill>
        <p:spPr>
          <a:xfrm xmlns:a="http://schemas.openxmlformats.org/drawingml/2006/main">
            <a:off x="3017520" y="1600200"/>
            <a:ext cx="1737360" cy="4343400"/>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C80C528-1474-405D-9C90-DF81DDD43E55}"/>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VOCABULARY</a:t>
            </a:r>
          </a:p>
        </p:txBody>
      </p:sp>
      <p:sp>
        <p:nvSpPr>
          <p:cNvPr id="2" name="slide-title">
            <a:extLst xmlns:a="http://schemas.openxmlformats.org/drawingml/2006/main">
              <a:ext uri="{FF2B5EF4-FFF2-40B4-BE49-F238E27FC236}">
                <a16:creationId xmlns:a16="http://schemas.microsoft.com/office/drawing/2014/main" id="{32CF42EB-3729-49E9-8055-C03019AE6F5B}"/>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1 · What this adds</a:t>
            </a:r>
          </a:p>
        </p:txBody>
      </p:sp>
      <p:sp>
        <p:nvSpPr>
          <p:cNvPr id="3" name="rule-48-137">
            <a:extLst xmlns:a="http://schemas.openxmlformats.org/drawingml/2006/main">
              <a:ext uri="{FF2B5EF4-FFF2-40B4-BE49-F238E27FC236}">
                <a16:creationId xmlns:a16="http://schemas.microsoft.com/office/drawing/2014/main" id="{D1EEFB01-4024-4D4F-85BC-DDECF0CA954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term-number-0">
            <a:extLst xmlns:a="http://schemas.openxmlformats.org/drawingml/2006/main">
              <a:ext uri="{FF2B5EF4-FFF2-40B4-BE49-F238E27FC236}">
                <a16:creationId xmlns:a16="http://schemas.microsoft.com/office/drawing/2014/main" id="{7338BD65-F7FE-4651-AF04-274443A68BC4}"/>
              </a:ext>
            </a:extLst>
          </p:cNvPr>
          <p:cNvSpPr>
            <a:spLocks xmlns:a="http://schemas.openxmlformats.org/drawingml/2006/main" noGrp="1"/>
          </p:cNvSpPr>
          <p:nvPr/>
        </p:nvSpPr>
        <p:spPr>
          <a:xfrm xmlns:a="http://schemas.openxmlformats.org/drawingml/2006/main">
            <a:off x="4572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01</a:t>
            </a:r>
          </a:p>
        </p:txBody>
      </p:sp>
      <p:sp>
        <p:nvSpPr>
          <p:cNvPr id="5" name="term-title-0">
            <a:extLst xmlns:a="http://schemas.openxmlformats.org/drawingml/2006/main">
              <a:ext uri="{FF2B5EF4-FFF2-40B4-BE49-F238E27FC236}">
                <a16:creationId xmlns:a16="http://schemas.microsoft.com/office/drawing/2014/main" id="{F01754AE-2F8B-477A-8B8B-F186A806271F}"/>
              </a:ext>
            </a:extLst>
          </p:cNvPr>
          <p:cNvSpPr>
            <a:spLocks xmlns:a="http://schemas.openxmlformats.org/drawingml/2006/main" noGrp="1"/>
          </p:cNvSpPr>
          <p:nvPr/>
        </p:nvSpPr>
        <p:spPr>
          <a:xfrm xmlns:a="http://schemas.openxmlformats.org/drawingml/2006/main">
            <a:off x="4572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1 · What this adds</a:t>
            </a:r>
          </a:p>
        </p:txBody>
      </p:sp>
      <p:sp>
        <p:nvSpPr>
          <p:cNvPr id="6" name="rule-48-316">
            <a:extLst xmlns:a="http://schemas.openxmlformats.org/drawingml/2006/main">
              <a:ext uri="{FF2B5EF4-FFF2-40B4-BE49-F238E27FC236}">
                <a16:creationId xmlns:a16="http://schemas.microsoft.com/office/drawing/2014/main" id="{716702AF-1287-4D7F-8496-1CA5C2E0C404}"/>
              </a:ext>
            </a:extLst>
          </p:cNvPr>
          <p:cNvSpPr>
            <a:spLocks xmlns:a="http://schemas.openxmlformats.org/drawingml/2006/main" noGrp="1"/>
          </p:cNvSpPr>
          <p:nvPr/>
        </p:nvSpPr>
        <p:spPr>
          <a:xfrm xmlns:a="http://schemas.openxmlformats.org/drawingml/2006/main">
            <a:off x="4572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term-body-0">
            <a:extLst xmlns:a="http://schemas.openxmlformats.org/drawingml/2006/main">
              <a:ext uri="{FF2B5EF4-FFF2-40B4-BE49-F238E27FC236}">
                <a16:creationId xmlns:a16="http://schemas.microsoft.com/office/drawing/2014/main" id="{E3972F18-A2EB-47F0-8106-2F5D03C26627}"/>
              </a:ext>
            </a:extLst>
          </p:cNvPr>
          <p:cNvSpPr>
            <a:spLocks xmlns:a="http://schemas.openxmlformats.org/drawingml/2006/main" noGrp="1"/>
          </p:cNvSpPr>
          <p:nvPr/>
        </p:nvSpPr>
        <p:spPr>
          <a:xfrm xmlns:a="http://schemas.openxmlformats.org/drawingml/2006/main">
            <a:off x="4572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1 · What this adds</a:t>
            </a:r>
          </a:p>
        </p:txBody>
      </p:sp>
      <p:sp>
        <p:nvSpPr>
          <p:cNvPr id="8" name="term-number-1">
            <a:extLst xmlns:a="http://schemas.openxmlformats.org/drawingml/2006/main">
              <a:ext uri="{FF2B5EF4-FFF2-40B4-BE49-F238E27FC236}">
                <a16:creationId xmlns:a16="http://schemas.microsoft.com/office/drawing/2014/main" id="{005594F1-755F-458A-8559-7C8E9144F924}"/>
              </a:ext>
            </a:extLst>
          </p:cNvPr>
          <p:cNvSpPr>
            <a:spLocks xmlns:a="http://schemas.openxmlformats.org/drawingml/2006/main" noGrp="1"/>
          </p:cNvSpPr>
          <p:nvPr/>
        </p:nvSpPr>
        <p:spPr>
          <a:xfrm xmlns:a="http://schemas.openxmlformats.org/drawingml/2006/main">
            <a:off x="424815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02</a:t>
            </a:r>
          </a:p>
        </p:txBody>
      </p:sp>
      <p:sp>
        <p:nvSpPr>
          <p:cNvPr id="9" name="term-title-1">
            <a:extLst xmlns:a="http://schemas.openxmlformats.org/drawingml/2006/main">
              <a:ext uri="{FF2B5EF4-FFF2-40B4-BE49-F238E27FC236}">
                <a16:creationId xmlns:a16="http://schemas.microsoft.com/office/drawing/2014/main" id="{7805FB6D-5B4F-44D6-B108-C5C40F0C3A6E}"/>
              </a:ext>
            </a:extLst>
          </p:cNvPr>
          <p:cNvSpPr>
            <a:spLocks xmlns:a="http://schemas.openxmlformats.org/drawingml/2006/main" noGrp="1"/>
          </p:cNvSpPr>
          <p:nvPr/>
        </p:nvSpPr>
        <p:spPr>
          <a:xfrm xmlns:a="http://schemas.openxmlformats.org/drawingml/2006/main">
            <a:off x="424815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Sparsity</a:t>
            </a:r>
          </a:p>
        </p:txBody>
      </p:sp>
      <p:sp>
        <p:nvSpPr>
          <p:cNvPr id="10" name="rule-446-316">
            <a:extLst xmlns:a="http://schemas.openxmlformats.org/drawingml/2006/main">
              <a:ext uri="{FF2B5EF4-FFF2-40B4-BE49-F238E27FC236}">
                <a16:creationId xmlns:a16="http://schemas.microsoft.com/office/drawing/2014/main" id="{00FB1CC3-E5B4-4416-B665-45C9D71B49F6}"/>
              </a:ext>
            </a:extLst>
          </p:cNvPr>
          <p:cNvSpPr>
            <a:spLocks xmlns:a="http://schemas.openxmlformats.org/drawingml/2006/main" noGrp="1"/>
          </p:cNvSpPr>
          <p:nvPr/>
        </p:nvSpPr>
        <p:spPr>
          <a:xfrm xmlns:a="http://schemas.openxmlformats.org/drawingml/2006/main">
            <a:off x="4248150" y="3009900"/>
            <a:ext cx="3143250" cy="381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term-body-1">
            <a:extLst xmlns:a="http://schemas.openxmlformats.org/drawingml/2006/main">
              <a:ext uri="{FF2B5EF4-FFF2-40B4-BE49-F238E27FC236}">
                <a16:creationId xmlns:a16="http://schemas.microsoft.com/office/drawing/2014/main" id="{059316DC-5928-4A81-B7B7-E763B018742A}"/>
              </a:ext>
            </a:extLst>
          </p:cNvPr>
          <p:cNvSpPr>
            <a:spLocks xmlns:a="http://schemas.openxmlformats.org/drawingml/2006/main" noGrp="1"/>
          </p:cNvSpPr>
          <p:nvPr/>
        </p:nvSpPr>
        <p:spPr>
          <a:xfrm xmlns:a="http://schemas.openxmlformats.org/drawingml/2006/main">
            <a:off x="424815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Standardise inside the pipeline</a:t>
            </a:r>
          </a:p>
        </p:txBody>
      </p:sp>
      <p:sp>
        <p:nvSpPr>
          <p:cNvPr id="12" name="term-number-2">
            <a:extLst xmlns:a="http://schemas.openxmlformats.org/drawingml/2006/main">
              <a:ext uri="{FF2B5EF4-FFF2-40B4-BE49-F238E27FC236}">
                <a16:creationId xmlns:a16="http://schemas.microsoft.com/office/drawing/2014/main" id="{6E07A6F4-CDBF-4E01-8BB0-297F8C6DBD54}"/>
              </a:ext>
            </a:extLst>
          </p:cNvPr>
          <p:cNvSpPr>
            <a:spLocks xmlns:a="http://schemas.openxmlformats.org/drawingml/2006/main" noGrp="1"/>
          </p:cNvSpPr>
          <p:nvPr/>
        </p:nvSpPr>
        <p:spPr>
          <a:xfrm xmlns:a="http://schemas.openxmlformats.org/drawingml/2006/main">
            <a:off x="80391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03</a:t>
            </a:r>
          </a:p>
        </p:txBody>
      </p:sp>
      <p:sp>
        <p:nvSpPr>
          <p:cNvPr id="13" name="term-title-2">
            <a:extLst xmlns:a="http://schemas.openxmlformats.org/drawingml/2006/main">
              <a:ext uri="{FF2B5EF4-FFF2-40B4-BE49-F238E27FC236}">
                <a16:creationId xmlns:a16="http://schemas.microsoft.com/office/drawing/2014/main" id="{F4A2BCEF-5119-4B1A-9864-6A99D56BAC29}"/>
              </a:ext>
            </a:extLst>
          </p:cNvPr>
          <p:cNvSpPr>
            <a:spLocks xmlns:a="http://schemas.openxmlformats.org/drawingml/2006/main" noGrp="1"/>
          </p:cNvSpPr>
          <p:nvPr/>
        </p:nvSpPr>
        <p:spPr>
          <a:xfrm xmlns:a="http://schemas.openxmlformats.org/drawingml/2006/main">
            <a:off x="80391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λ</a:t>
            </a:r>
          </a:p>
        </p:txBody>
      </p:sp>
      <p:sp>
        <p:nvSpPr>
          <p:cNvPr id="14" name="rule-844-316">
            <a:extLst xmlns:a="http://schemas.openxmlformats.org/drawingml/2006/main">
              <a:ext uri="{FF2B5EF4-FFF2-40B4-BE49-F238E27FC236}">
                <a16:creationId xmlns:a16="http://schemas.microsoft.com/office/drawing/2014/main" id="{DAB5D43D-6D70-4305-AC58-DFC22D0252C3}"/>
              </a:ext>
            </a:extLst>
          </p:cNvPr>
          <p:cNvSpPr>
            <a:spLocks xmlns:a="http://schemas.openxmlformats.org/drawingml/2006/main" noGrp="1"/>
          </p:cNvSpPr>
          <p:nvPr/>
        </p:nvSpPr>
        <p:spPr>
          <a:xfrm xmlns:a="http://schemas.openxmlformats.org/drawingml/2006/main">
            <a:off x="80391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term-body-2">
            <a:extLst xmlns:a="http://schemas.openxmlformats.org/drawingml/2006/main">
              <a:ext uri="{FF2B5EF4-FFF2-40B4-BE49-F238E27FC236}">
                <a16:creationId xmlns:a16="http://schemas.microsoft.com/office/drawing/2014/main" id="{FF48416B-E5CE-4B16-9704-0F78DC32D588}"/>
              </a:ext>
            </a:extLst>
          </p:cNvPr>
          <p:cNvSpPr>
            <a:spLocks xmlns:a="http://schemas.openxmlformats.org/drawingml/2006/main" noGrp="1"/>
          </p:cNvSpPr>
          <p:nvPr/>
        </p:nvSpPr>
        <p:spPr>
          <a:xfrm xmlns:a="http://schemas.openxmlformats.org/drawingml/2006/main">
            <a:off x="80391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Fit a path of λ values</a:t>
            </a:r>
          </a:p>
        </p:txBody>
      </p:sp>
      <p:sp>
        <p:nvSpPr>
          <p:cNvPr id="16" name="definition-footer">
            <a:extLst xmlns:a="http://schemas.openxmlformats.org/drawingml/2006/main">
              <a:ext uri="{FF2B5EF4-FFF2-40B4-BE49-F238E27FC236}">
                <a16:creationId xmlns:a16="http://schemas.microsoft.com/office/drawing/2014/main" id="{4AABB398-75BA-48E7-BE04-A6E55D7E9824}"/>
              </a:ext>
            </a:extLst>
          </p:cNvPr>
          <p:cNvSpPr>
            <a:spLocks xmlns:a="http://schemas.openxmlformats.org/drawingml/2006/main" noGrp="1"/>
          </p:cNvSpPr>
          <p:nvPr/>
        </p:nvSpPr>
        <p:spPr>
          <a:xfrm xmlns:a="http://schemas.openxmlformats.org/drawingml/2006/main">
            <a:off x="457200" y="55054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563EB"/>
                </a:solidFill>
                <a:latin typeface="Helvetica Neue"/>
                <a:ea typeface="Helvetica Neue"/>
                <a:cs typeface="Helvetica Neue"/>
              </a:defRPr>
            </a:pPr>
            <a:r>
              <a:rPr sz="1575" b="1">
                <a:solidFill>
                  <a:srgbClr val="2563EB"/>
                </a:solidFill>
                <a:latin typeface="Helvetica Neue"/>
                <a:ea typeface="Helvetica Neue"/>
                <a:cs typeface="Helvetica Neue"/>
              </a:rPr>
              <a:t>A definition becomes useful when it changes what you compute or what you are allowed to claim.</a:t>
            </a:r>
          </a:p>
        </p:txBody>
      </p:sp>
      <p:sp>
        <p:nvSpPr>
          <p:cNvPr id="17" name="rule-48-674">
            <a:extLst xmlns:a="http://schemas.openxmlformats.org/drawingml/2006/main">
              <a:ext uri="{FF2B5EF4-FFF2-40B4-BE49-F238E27FC236}">
                <a16:creationId xmlns:a16="http://schemas.microsoft.com/office/drawing/2014/main" id="{2ACC8367-FA52-47E9-B5E8-8EE1E910C888}"/>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B07CDD74-6159-4192-BE71-6BCA29BEE82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32856D94-272E-475F-87D8-01F6F8E0BC83}"/>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6/50</a:t>
            </a:r>
          </a:p>
        </p:txBody>
      </p:sp>
    </p:spTree>
    <p:extLst>
      <p:ext uri="{BB962C8B-B14F-4D97-AF65-F5344CB8AC3E}">
        <p14:creationId xmlns:p14="http://schemas.microsoft.com/office/powerpoint/2010/main" val="18300806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7FCBC34-3ADA-4F3D-A67E-7B4F390009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CED8EE5E-D9DC-4927-93A4-086D2A718E99}"/>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opening claim, and why it is wrong</a:t>
            </a:r>
          </a:p>
        </p:txBody>
      </p:sp>
      <p:sp>
        <p:nvSpPr>
          <p:cNvPr id="3" name="rule-48-137">
            <a:extLst xmlns:a="http://schemas.openxmlformats.org/drawingml/2006/main">
              <a:ext uri="{FF2B5EF4-FFF2-40B4-BE49-F238E27FC236}">
                <a16:creationId xmlns:a16="http://schemas.microsoft.com/office/drawing/2014/main" id="{0C1EC8C7-5606-4238-9546-69CBA9C7FA2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C657BB0B-D025-4398-98B9-996A671B113A}"/>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714B80FE-9AF8-401C-92AB-082201BF4482}"/>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328"/>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&gt; OLS is the best linear unbiased estimator. True. And useless, when the variance of "best unbiased" is enormous. Session 04's decomposition says total error is bias^2 + variance + σ^2.</a:t>
            </a:r>
          </a:p>
        </p:txBody>
      </p:sp>
      <p:sp>
        <p:nvSpPr>
          <p:cNvPr id="6" name="equation-prompt">
            <a:extLst xmlns:a="http://schemas.openxmlformats.org/drawingml/2006/main">
              <a:ext uri="{FF2B5EF4-FFF2-40B4-BE49-F238E27FC236}">
                <a16:creationId xmlns:a16="http://schemas.microsoft.com/office/drawing/2014/main" id="{A9F294A1-C407-436C-AAC6-01F92C2F39B6}"/>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8DC9B53F-030D-4720-B264-6C0B22DC2484}"/>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&gt; OLS is the best linear unbiased estimator.</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b5f9076c8d334dd0"/>
          </a:graphicData>
        </a:graphic>
      </p:graphicFrame>
      <p:sp>
        <p:nvSpPr>
          <p:cNvPr id="9" name="rule-48-674">
            <a:extLst xmlns:a="http://schemas.openxmlformats.org/drawingml/2006/main">
              <a:ext uri="{FF2B5EF4-FFF2-40B4-BE49-F238E27FC236}">
                <a16:creationId xmlns:a16="http://schemas.microsoft.com/office/drawing/2014/main" id="{F1129F64-421B-4DD7-BBD8-606313F1BDB6}"/>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A89C2CB-2EB7-40CD-A29F-40299CACE7A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C47D3986-0C78-4300-9AA7-F583673D21A8}"/>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7/50</a:t>
            </a:r>
          </a:p>
        </p:txBody>
      </p:sp>
    </p:spTree>
    <p:extLst>
      <p:ext uri="{BB962C8B-B14F-4D97-AF65-F5344CB8AC3E}">
        <p14:creationId xmlns:p14="http://schemas.microsoft.com/office/powerpoint/2010/main" val="20292119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HOW</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today adds, in one line</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A dial — λ — that moves you along the bias–variance curve of Session 04 on purpose</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A method that still works when p &gt; n, where OLS has no unique solution at all</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A method that performs variable selection as part of fitting, not as a separate ritual</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Sessions 06 through 11 all reuse this dial.</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8/50</a:t>
            </a:r>
          </a:p>
        </p:txBody>
      </p:sp>
    </p:spTree>
    <p:extLst>
      <p:ext uri="{BB962C8B-B14F-4D97-AF65-F5344CB8AC3E}">
        <p14:creationId xmlns:p14="http://schemas.microsoft.com/office/powerpoint/2010/main" val="208211410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14CB035E-CCD8-4A3B-A6BE-26B69106595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F64E5443-A695-44DC-9C9B-9C0C714DDF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A situation you will actually meet</a:t>
            </a:r>
          </a:p>
        </p:txBody>
      </p:sp>
      <p:sp>
        <p:nvSpPr>
          <p:cNvPr id="3" name="rule-48-137">
            <a:extLst xmlns:a="http://schemas.openxmlformats.org/drawingml/2006/main">
              <a:ext uri="{FF2B5EF4-FFF2-40B4-BE49-F238E27FC236}">
                <a16:creationId xmlns:a16="http://schemas.microsoft.com/office/drawing/2014/main" id="{FD5A2F72-BE27-40E4-ACC4-EA19C0BA21D0}"/>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D66350E3-0AF2-4D03-A9C9-1CDA6751CC2B}"/>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Ridge: min ||y−Xβ||² + λ||β||²₂</a:t>
            </a:r>
          </a:p>
        </p:txBody>
      </p:sp>
      <p:sp>
        <p:nvSpPr>
          <p:cNvPr id="5" name="equation-reading">
            <a:extLst xmlns:a="http://schemas.openxmlformats.org/drawingml/2006/main">
              <a:ext uri="{FF2B5EF4-FFF2-40B4-BE49-F238E27FC236}">
                <a16:creationId xmlns:a16="http://schemas.microsoft.com/office/drawing/2014/main" id="{FF9CB8B1-81E5-4609-9EB8-DC2F0B0E5FB0}"/>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50"/>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We want to explain R&amp;D intensity (R&amp;D as % of GDP) across European countries from digital and AI-adoption indicators. This is the ordinary condition of applied macro work: a wide table, a short usable window, and no</a:t>
            </a:r>
          </a:p>
        </p:txBody>
      </p:sp>
      <p:sp>
        <p:nvSpPr>
          <p:cNvPr id="6" name="equation-prompt">
            <a:extLst xmlns:a="http://schemas.openxmlformats.org/drawingml/2006/main">
              <a:ext uri="{FF2B5EF4-FFF2-40B4-BE49-F238E27FC236}">
                <a16:creationId xmlns:a16="http://schemas.microsoft.com/office/drawing/2014/main" id="{0FA2A665-22F2-4545-AA88-545C481ECC9A}"/>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636E2140-82E5-4477-8DAF-174ADF36A1F6}"/>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30 countries × 11 years in the file</a:t>
            </a:r>
          </a:p>
        </p:txBody>
      </p:sp>
      <p:sp>
        <p:nvSpPr>
          <p:cNvPr id="8" name="lasso-field">
            <a:extLst xmlns:a="http://schemas.openxmlformats.org/drawingml/2006/main">
              <a:ext uri="{FF2B5EF4-FFF2-40B4-BE49-F238E27FC236}">
                <a16:creationId xmlns:a16="http://schemas.microsoft.com/office/drawing/2014/main" id="{3AEA489D-5572-4871-8843-3CD39BB4665D}"/>
              </a:ext>
            </a:extLst>
          </p:cNvPr>
          <p:cNvSpPr>
            <a:spLocks xmlns:a="http://schemas.openxmlformats.org/drawingml/2006/main" noGrp="1"/>
          </p:cNvSpPr>
          <p:nvPr/>
        </p:nvSpPr>
        <p:spPr>
          <a:xfrm xmlns:a="http://schemas.openxmlformats.org/drawingml/2006/main">
            <a:off x="5924550" y="1657350"/>
            <a:ext cx="5810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9" name="lasso-title">
            <a:extLst xmlns:a="http://schemas.openxmlformats.org/drawingml/2006/main">
              <a:ext uri="{FF2B5EF4-FFF2-40B4-BE49-F238E27FC236}">
                <a16:creationId xmlns:a16="http://schemas.microsoft.com/office/drawing/2014/main" id="{9535E93E-1CCE-422C-AD13-048209596BEB}"/>
              </a:ext>
            </a:extLst>
          </p:cNvPr>
          <p:cNvSpPr>
            <a:spLocks xmlns:a="http://schemas.openxmlformats.org/drawingml/2006/main" noGrp="1"/>
          </p:cNvSpPr>
          <p:nvPr/>
        </p:nvSpPr>
        <p:spPr>
          <a:xfrm xmlns:a="http://schemas.openxmlformats.org/drawingml/2006/main">
            <a:off x="6248400" y="1885950"/>
            <a:ext cx="516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10" name="lasso-label-0">
            <a:extLst xmlns:a="http://schemas.openxmlformats.org/drawingml/2006/main">
              <a:ext uri="{FF2B5EF4-FFF2-40B4-BE49-F238E27FC236}">
                <a16:creationId xmlns:a16="http://schemas.microsoft.com/office/drawing/2014/main" id="{5C9C2215-E736-453D-AB74-55E441EFDC64}"/>
              </a:ext>
            </a:extLst>
          </p:cNvPr>
          <p:cNvSpPr>
            <a:spLocks xmlns:a="http://schemas.openxmlformats.org/drawingml/2006/main" noGrp="1"/>
          </p:cNvSpPr>
          <p:nvPr/>
        </p:nvSpPr>
        <p:spPr>
          <a:xfrm xmlns:a="http://schemas.openxmlformats.org/drawingml/2006/main">
            <a:off x="6248400" y="2495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11" name="lasso-track-0">
            <a:extLst xmlns:a="http://schemas.openxmlformats.org/drawingml/2006/main">
              <a:ext uri="{FF2B5EF4-FFF2-40B4-BE49-F238E27FC236}">
                <a16:creationId xmlns:a16="http://schemas.microsoft.com/office/drawing/2014/main" id="{EB3C20BF-E1F6-42E2-886E-AE6E49EC800D}"/>
              </a:ext>
            </a:extLst>
          </p:cNvPr>
          <p:cNvSpPr>
            <a:spLocks xmlns:a="http://schemas.openxmlformats.org/drawingml/2006/main" noGrp="1"/>
          </p:cNvSpPr>
          <p:nvPr/>
        </p:nvSpPr>
        <p:spPr>
          <a:xfrm xmlns:a="http://schemas.openxmlformats.org/drawingml/2006/main">
            <a:off x="6838950" y="25908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2" name="lasso-bar-0">
            <a:extLst xmlns:a="http://schemas.openxmlformats.org/drawingml/2006/main">
              <a:ext uri="{FF2B5EF4-FFF2-40B4-BE49-F238E27FC236}">
                <a16:creationId xmlns:a16="http://schemas.microsoft.com/office/drawing/2014/main" id="{E3DD2267-E857-40C1-9D6C-6DCF45D0582A}"/>
              </a:ext>
            </a:extLst>
          </p:cNvPr>
          <p:cNvSpPr>
            <a:spLocks xmlns:a="http://schemas.openxmlformats.org/drawingml/2006/main" noGrp="1"/>
          </p:cNvSpPr>
          <p:nvPr/>
        </p:nvSpPr>
        <p:spPr>
          <a:xfrm xmlns:a="http://schemas.openxmlformats.org/drawingml/2006/main">
            <a:off x="6838950" y="255270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3" name="lasso-label-1">
            <a:extLst xmlns:a="http://schemas.openxmlformats.org/drawingml/2006/main">
              <a:ext uri="{FF2B5EF4-FFF2-40B4-BE49-F238E27FC236}">
                <a16:creationId xmlns:a16="http://schemas.microsoft.com/office/drawing/2014/main" id="{0521DD6E-BB33-460C-81BF-842ED7FF8D63}"/>
              </a:ext>
            </a:extLst>
          </p:cNvPr>
          <p:cNvSpPr>
            <a:spLocks xmlns:a="http://schemas.openxmlformats.org/drawingml/2006/main" noGrp="1"/>
          </p:cNvSpPr>
          <p:nvPr/>
        </p:nvSpPr>
        <p:spPr>
          <a:xfrm xmlns:a="http://schemas.openxmlformats.org/drawingml/2006/main">
            <a:off x="6248400" y="3048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4" name="lasso-track-1">
            <a:extLst xmlns:a="http://schemas.openxmlformats.org/drawingml/2006/main">
              <a:ext uri="{FF2B5EF4-FFF2-40B4-BE49-F238E27FC236}">
                <a16:creationId xmlns:a16="http://schemas.microsoft.com/office/drawing/2014/main" id="{0B5613AB-DFA2-4B52-920C-1A1928421738}"/>
              </a:ext>
            </a:extLst>
          </p:cNvPr>
          <p:cNvSpPr>
            <a:spLocks xmlns:a="http://schemas.openxmlformats.org/drawingml/2006/main" noGrp="1"/>
          </p:cNvSpPr>
          <p:nvPr/>
        </p:nvSpPr>
        <p:spPr>
          <a:xfrm xmlns:a="http://schemas.openxmlformats.org/drawingml/2006/main">
            <a:off x="6838950" y="31432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5" name="lasso-bar-1">
            <a:extLst xmlns:a="http://schemas.openxmlformats.org/drawingml/2006/main">
              <a:ext uri="{FF2B5EF4-FFF2-40B4-BE49-F238E27FC236}">
                <a16:creationId xmlns:a16="http://schemas.microsoft.com/office/drawing/2014/main" id="{FC318E9C-653B-4A97-A08F-CC361FE10E1D}"/>
              </a:ext>
            </a:extLst>
          </p:cNvPr>
          <p:cNvSpPr>
            <a:spLocks xmlns:a="http://schemas.openxmlformats.org/drawingml/2006/main" noGrp="1"/>
          </p:cNvSpPr>
          <p:nvPr/>
        </p:nvSpPr>
        <p:spPr>
          <a:xfrm xmlns:a="http://schemas.openxmlformats.org/drawingml/2006/main">
            <a:off x="6838950" y="310515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6" name="lasso-label-2">
            <a:extLst xmlns:a="http://schemas.openxmlformats.org/drawingml/2006/main">
              <a:ext uri="{FF2B5EF4-FFF2-40B4-BE49-F238E27FC236}">
                <a16:creationId xmlns:a16="http://schemas.microsoft.com/office/drawing/2014/main" id="{BB85B417-FD35-4D35-BFE8-6CF064394C60}"/>
              </a:ext>
            </a:extLst>
          </p:cNvPr>
          <p:cNvSpPr>
            <a:spLocks xmlns:a="http://schemas.openxmlformats.org/drawingml/2006/main" noGrp="1"/>
          </p:cNvSpPr>
          <p:nvPr/>
        </p:nvSpPr>
        <p:spPr>
          <a:xfrm xmlns:a="http://schemas.openxmlformats.org/drawingml/2006/main">
            <a:off x="6248400" y="36004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7" name="lasso-track-2">
            <a:extLst xmlns:a="http://schemas.openxmlformats.org/drawingml/2006/main">
              <a:ext uri="{FF2B5EF4-FFF2-40B4-BE49-F238E27FC236}">
                <a16:creationId xmlns:a16="http://schemas.microsoft.com/office/drawing/2014/main" id="{792FDFAD-74F1-4037-BECE-5398B27EC5BD}"/>
              </a:ext>
            </a:extLst>
          </p:cNvPr>
          <p:cNvSpPr>
            <a:spLocks xmlns:a="http://schemas.openxmlformats.org/drawingml/2006/main" noGrp="1"/>
          </p:cNvSpPr>
          <p:nvPr/>
        </p:nvSpPr>
        <p:spPr>
          <a:xfrm xmlns:a="http://schemas.openxmlformats.org/drawingml/2006/main">
            <a:off x="6838950" y="36957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8" name="lasso-bar-2">
            <a:extLst xmlns:a="http://schemas.openxmlformats.org/drawingml/2006/main">
              <a:ext uri="{FF2B5EF4-FFF2-40B4-BE49-F238E27FC236}">
                <a16:creationId xmlns:a16="http://schemas.microsoft.com/office/drawing/2014/main" id="{1C0C9592-85A2-4C08-9CF9-094AE63CD9B3}"/>
              </a:ext>
            </a:extLst>
          </p:cNvPr>
          <p:cNvSpPr>
            <a:spLocks xmlns:a="http://schemas.openxmlformats.org/drawingml/2006/main" noGrp="1"/>
          </p:cNvSpPr>
          <p:nvPr/>
        </p:nvSpPr>
        <p:spPr>
          <a:xfrm xmlns:a="http://schemas.openxmlformats.org/drawingml/2006/main">
            <a:off x="6838950" y="365760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9" name="lasso-label-3">
            <a:extLst xmlns:a="http://schemas.openxmlformats.org/drawingml/2006/main">
              <a:ext uri="{FF2B5EF4-FFF2-40B4-BE49-F238E27FC236}">
                <a16:creationId xmlns:a16="http://schemas.microsoft.com/office/drawing/2014/main" id="{B2F67AD9-47AF-4C6C-8C9F-B47E96302F88}"/>
              </a:ext>
            </a:extLst>
          </p:cNvPr>
          <p:cNvSpPr>
            <a:spLocks xmlns:a="http://schemas.openxmlformats.org/drawingml/2006/main" noGrp="1"/>
          </p:cNvSpPr>
          <p:nvPr/>
        </p:nvSpPr>
        <p:spPr>
          <a:xfrm xmlns:a="http://schemas.openxmlformats.org/drawingml/2006/main">
            <a:off x="6248400" y="41529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20" name="lasso-track-3">
            <a:extLst xmlns:a="http://schemas.openxmlformats.org/drawingml/2006/main">
              <a:ext uri="{FF2B5EF4-FFF2-40B4-BE49-F238E27FC236}">
                <a16:creationId xmlns:a16="http://schemas.microsoft.com/office/drawing/2014/main" id="{91AAC046-5415-473B-8CD9-DEDB45A14A32}"/>
              </a:ext>
            </a:extLst>
          </p:cNvPr>
          <p:cNvSpPr>
            <a:spLocks xmlns:a="http://schemas.openxmlformats.org/drawingml/2006/main" noGrp="1"/>
          </p:cNvSpPr>
          <p:nvPr/>
        </p:nvSpPr>
        <p:spPr>
          <a:xfrm xmlns:a="http://schemas.openxmlformats.org/drawingml/2006/main">
            <a:off x="6838950" y="42481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3">
            <a:extLst xmlns:a="http://schemas.openxmlformats.org/drawingml/2006/main">
              <a:ext uri="{FF2B5EF4-FFF2-40B4-BE49-F238E27FC236}">
                <a16:creationId xmlns:a16="http://schemas.microsoft.com/office/drawing/2014/main" id="{1FA6A086-9ED5-46BD-9812-051E4F05C994}"/>
              </a:ext>
            </a:extLst>
          </p:cNvPr>
          <p:cNvSpPr>
            <a:spLocks xmlns:a="http://schemas.openxmlformats.org/drawingml/2006/main" noGrp="1"/>
          </p:cNvSpPr>
          <p:nvPr/>
        </p:nvSpPr>
        <p:spPr>
          <a:xfrm xmlns:a="http://schemas.openxmlformats.org/drawingml/2006/main">
            <a:off x="6800850" y="41910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3">
            <a:extLst xmlns:a="http://schemas.openxmlformats.org/drawingml/2006/main">
              <a:ext uri="{FF2B5EF4-FFF2-40B4-BE49-F238E27FC236}">
                <a16:creationId xmlns:a16="http://schemas.microsoft.com/office/drawing/2014/main" id="{58941E9C-0899-4766-BDDB-AF6FA586EB23}"/>
              </a:ext>
            </a:extLst>
          </p:cNvPr>
          <p:cNvSpPr>
            <a:spLocks xmlns:a="http://schemas.openxmlformats.org/drawingml/2006/main" noGrp="1"/>
          </p:cNvSpPr>
          <p:nvPr/>
        </p:nvSpPr>
        <p:spPr>
          <a:xfrm xmlns:a="http://schemas.openxmlformats.org/drawingml/2006/main">
            <a:off x="7124700" y="4152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label-4">
            <a:extLst xmlns:a="http://schemas.openxmlformats.org/drawingml/2006/main">
              <a:ext uri="{FF2B5EF4-FFF2-40B4-BE49-F238E27FC236}">
                <a16:creationId xmlns:a16="http://schemas.microsoft.com/office/drawing/2014/main" id="{D7FA3C5B-457E-4DE5-B8E2-D9C0E926AE6D}"/>
              </a:ext>
            </a:extLst>
          </p:cNvPr>
          <p:cNvSpPr>
            <a:spLocks xmlns:a="http://schemas.openxmlformats.org/drawingml/2006/main" noGrp="1"/>
          </p:cNvSpPr>
          <p:nvPr/>
        </p:nvSpPr>
        <p:spPr>
          <a:xfrm xmlns:a="http://schemas.openxmlformats.org/drawingml/2006/main">
            <a:off x="6248400" y="4705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4" name="lasso-track-4">
            <a:extLst xmlns:a="http://schemas.openxmlformats.org/drawingml/2006/main">
              <a:ext uri="{FF2B5EF4-FFF2-40B4-BE49-F238E27FC236}">
                <a16:creationId xmlns:a16="http://schemas.microsoft.com/office/drawing/2014/main" id="{25071342-E231-41F3-8012-FC94D8025270}"/>
              </a:ext>
            </a:extLst>
          </p:cNvPr>
          <p:cNvSpPr>
            <a:spLocks xmlns:a="http://schemas.openxmlformats.org/drawingml/2006/main" noGrp="1"/>
          </p:cNvSpPr>
          <p:nvPr/>
        </p:nvSpPr>
        <p:spPr>
          <a:xfrm xmlns:a="http://schemas.openxmlformats.org/drawingml/2006/main">
            <a:off x="6838950" y="48006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5" name="lasso-zero-4">
            <a:extLst xmlns:a="http://schemas.openxmlformats.org/drawingml/2006/main">
              <a:ext uri="{FF2B5EF4-FFF2-40B4-BE49-F238E27FC236}">
                <a16:creationId xmlns:a16="http://schemas.microsoft.com/office/drawing/2014/main" id="{9CD7EEA9-EA5C-45D0-95FA-66D0C49F9B9E}"/>
              </a:ext>
            </a:extLst>
          </p:cNvPr>
          <p:cNvSpPr>
            <a:spLocks xmlns:a="http://schemas.openxmlformats.org/drawingml/2006/main" noGrp="1"/>
          </p:cNvSpPr>
          <p:nvPr/>
        </p:nvSpPr>
        <p:spPr>
          <a:xfrm xmlns:a="http://schemas.openxmlformats.org/drawingml/2006/main">
            <a:off x="6800850" y="47434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6" name="lasso-zero-label-4">
            <a:extLst xmlns:a="http://schemas.openxmlformats.org/drawingml/2006/main">
              <a:ext uri="{FF2B5EF4-FFF2-40B4-BE49-F238E27FC236}">
                <a16:creationId xmlns:a16="http://schemas.microsoft.com/office/drawing/2014/main" id="{ABFB3F04-14F9-45E8-B0DD-BFFAA13ACE41}"/>
              </a:ext>
            </a:extLst>
          </p:cNvPr>
          <p:cNvSpPr>
            <a:spLocks xmlns:a="http://schemas.openxmlformats.org/drawingml/2006/main" noGrp="1"/>
          </p:cNvSpPr>
          <p:nvPr/>
        </p:nvSpPr>
        <p:spPr>
          <a:xfrm xmlns:a="http://schemas.openxmlformats.org/drawingml/2006/main">
            <a:off x="7124700" y="47053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7" name="lasso-caption">
            <a:extLst xmlns:a="http://schemas.openxmlformats.org/drawingml/2006/main">
              <a:ext uri="{FF2B5EF4-FFF2-40B4-BE49-F238E27FC236}">
                <a16:creationId xmlns:a16="http://schemas.microsoft.com/office/drawing/2014/main" id="{841C1741-7165-46DB-ADC1-9D91428800CA}"/>
              </a:ext>
            </a:extLst>
          </p:cNvPr>
          <p:cNvSpPr>
            <a:spLocks xmlns:a="http://schemas.openxmlformats.org/drawingml/2006/main" noGrp="1"/>
          </p:cNvSpPr>
          <p:nvPr/>
        </p:nvSpPr>
        <p:spPr>
          <a:xfrm xmlns:a="http://schemas.openxmlformats.org/drawingml/2006/main">
            <a:off x="6248400" y="525780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8" name="rule-48-674">
            <a:extLst xmlns:a="http://schemas.openxmlformats.org/drawingml/2006/main">
              <a:ext uri="{FF2B5EF4-FFF2-40B4-BE49-F238E27FC236}">
                <a16:creationId xmlns:a16="http://schemas.microsoft.com/office/drawing/2014/main" id="{9CB94CE9-8FE1-49E7-9622-3DF93FE7D903}"/>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footer-left">
            <a:extLst xmlns:a="http://schemas.openxmlformats.org/drawingml/2006/main">
              <a:ext uri="{FF2B5EF4-FFF2-40B4-BE49-F238E27FC236}">
                <a16:creationId xmlns:a16="http://schemas.microsoft.com/office/drawing/2014/main" id="{CFC81144-E0DA-422C-ADB6-32D3E98C9D2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0" name="footer-right">
            <a:extLst xmlns:a="http://schemas.openxmlformats.org/drawingml/2006/main">
              <a:ext uri="{FF2B5EF4-FFF2-40B4-BE49-F238E27FC236}">
                <a16:creationId xmlns:a16="http://schemas.microsoft.com/office/drawing/2014/main" id="{79782731-636A-4A2F-A481-236828BFEDD1}"/>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9/50</a:t>
            </a:r>
          </a:p>
        </p:txBody>
      </p:sp>
    </p:spTree>
    <p:extLst>
      <p:ext uri="{BB962C8B-B14F-4D97-AF65-F5344CB8AC3E}">
        <p14:creationId xmlns:p14="http://schemas.microsoft.com/office/powerpoint/2010/main" val="12727320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complete-case analysis leaves you</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raw = pd.readparquet("../data/spine/angleccountry.parquet") YCOL = "rdpctgdp" XCOLS = [c for c in raw.columns if c not in ("geo", "time", "flag", YCOL)]</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22"/>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raw = pd.readparquet("../data/spine/angleccountry.parquet") YCOL = "rdpctgdp" XCOLS = [c for c in…</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1cc22895028f4655"/>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10/50</a:t>
            </a:r>
          </a:p>
        </p:txBody>
      </p:sp>
    </p:spTree>
    <p:extLst>
      <p:ext uri="{BB962C8B-B14F-4D97-AF65-F5344CB8AC3E}">
        <p14:creationId xmlns:p14="http://schemas.microsoft.com/office/powerpoint/2010/main" val="17045924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VISUAL EXPLANATION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Why OLS cannot cope here</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READ THE FIGURE</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97"/>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Session 02: kappa(X) near 10^16 means the design is numerically singular</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97"/>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Session 03: the variance of βj-hat is σ^2 / [(1-Rj^2) SSj] — and</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97"/>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So the coefficients exist, but they are noise amplified</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11/50</a:t>
            </a:r>
          </a:p>
        </p:txBody>
      </p:sp>
      <p:sp>
        <p:nvSpPr>
          <p:cNvPr id="35" name="media-matte-regularisation_comparison.png">
            <a:extLst xmlns:a="http://schemas.openxmlformats.org/drawingml/2006/main">
              <a:ext uri="{FF2B5EF4-FFF2-40B4-BE49-F238E27FC236}">
                <a16:creationId xmlns:a16="http://schemas.microsoft.com/office/drawing/2014/main" id="{8CB74531-2BEB-48B4-A83E-374AFBA73E57}"/>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06e2d2d7d42f450b"/>
          <a:stretch xmlns:a="http://schemas.openxmlformats.org/drawingml/2006/main"/>
        </p:blipFill>
        <p:spPr>
          <a:xfrm xmlns:a="http://schemas.openxmlformats.org/drawingml/2006/main">
            <a:off x="457200" y="1843088"/>
            <a:ext cx="6858000" cy="3857625"/>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D265BB83-F1B8-4BDC-B874-2B9DE4239B3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PYTHON</a:t>
            </a:r>
          </a:p>
        </p:txBody>
      </p:sp>
      <p:sp>
        <p:nvSpPr>
          <p:cNvPr id="2" name="slide-title">
            <a:extLst xmlns:a="http://schemas.openxmlformats.org/drawingml/2006/main">
              <a:ext uri="{FF2B5EF4-FFF2-40B4-BE49-F238E27FC236}">
                <a16:creationId xmlns:a16="http://schemas.microsoft.com/office/drawing/2014/main" id="{53F75BA3-90FD-4863-BCE5-6692E8373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Four estimators, one held-out test set</a:t>
            </a:r>
          </a:p>
        </p:txBody>
      </p:sp>
      <p:sp>
        <p:nvSpPr>
          <p:cNvPr id="3" name="rule-48-137">
            <a:extLst xmlns:a="http://schemas.openxmlformats.org/drawingml/2006/main">
              <a:ext uri="{FF2B5EF4-FFF2-40B4-BE49-F238E27FC236}">
                <a16:creationId xmlns:a16="http://schemas.microsoft.com/office/drawing/2014/main" id="{92EE19D2-9919-4F0E-8E33-AF8EDFA276BB}"/>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code-location-title">
            <a:extLst xmlns:a="http://schemas.openxmlformats.org/drawingml/2006/main">
              <a:ext uri="{FF2B5EF4-FFF2-40B4-BE49-F238E27FC236}">
                <a16:creationId xmlns:a16="http://schemas.microsoft.com/office/drawing/2014/main" id="{C87787FD-A427-4748-A6C3-58F3F7D6284B}"/>
              </a:ext>
            </a:extLst>
          </p:cNvPr>
          <p:cNvSpPr>
            <a:spLocks xmlns:a="http://schemas.openxmlformats.org/drawingml/2006/main" noGrp="1"/>
          </p:cNvSpPr>
          <p:nvPr/>
        </p:nvSpPr>
        <p:spPr>
          <a:xfrm xmlns:a="http://schemas.openxmlformats.org/drawingml/2006/main">
            <a:off x="457200" y="16573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START FROM THE DESKTOP CLONE</a:t>
            </a:r>
          </a:p>
        </p:txBody>
      </p:sp>
      <p:sp>
        <p:nvSpPr>
          <p:cNvPr id="5" name="code-location">
            <a:extLst xmlns:a="http://schemas.openxmlformats.org/drawingml/2006/main">
              <a:ext uri="{FF2B5EF4-FFF2-40B4-BE49-F238E27FC236}">
                <a16:creationId xmlns:a16="http://schemas.microsoft.com/office/drawing/2014/main" id="{491146B4-C834-4DF2-A1FA-8F7CB3B94ADE}"/>
              </a:ext>
            </a:extLst>
          </p:cNvPr>
          <p:cNvSpPr>
            <a:spLocks xmlns:a="http://schemas.openxmlformats.org/drawingml/2006/main" noGrp="1"/>
          </p:cNvSpPr>
          <p:nvPr/>
        </p:nvSpPr>
        <p:spPr>
          <a:xfrm xmlns:a="http://schemas.openxmlformats.org/drawingml/2006/main">
            <a:off x="457200" y="20764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~/Desktop/quantitative-methods</a:t>
            </a:r>
          </a:p>
        </p:txBody>
      </p:sp>
      <p:sp>
        <p:nvSpPr>
          <p:cNvPr id="6" name="code-command-title">
            <a:extLst xmlns:a="http://schemas.openxmlformats.org/drawingml/2006/main">
              <a:ext uri="{FF2B5EF4-FFF2-40B4-BE49-F238E27FC236}">
                <a16:creationId xmlns:a16="http://schemas.microsoft.com/office/drawing/2014/main" id="{AC12E83B-F78A-4AAF-911E-6E391B6FE570}"/>
              </a:ext>
            </a:extLst>
          </p:cNvPr>
          <p:cNvSpPr>
            <a:spLocks xmlns:a="http://schemas.openxmlformats.org/drawingml/2006/main" noGrp="1"/>
          </p:cNvSpPr>
          <p:nvPr/>
        </p:nvSpPr>
        <p:spPr>
          <a:xfrm xmlns:a="http://schemas.openxmlformats.org/drawingml/2006/main">
            <a:off x="457200" y="2838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RUN THE COMPLETE SESSION DEMO</a:t>
            </a:r>
          </a:p>
        </p:txBody>
      </p:sp>
      <p:sp>
        <p:nvSpPr>
          <p:cNvPr id="7" name="code-command">
            <a:extLst xmlns:a="http://schemas.openxmlformats.org/drawingml/2006/main">
              <a:ext uri="{FF2B5EF4-FFF2-40B4-BE49-F238E27FC236}">
                <a16:creationId xmlns:a16="http://schemas.microsoft.com/office/drawing/2014/main" id="{14A1E7E7-4C85-4DD1-943B-12D88B761A4B}"/>
              </a:ext>
            </a:extLst>
          </p:cNvPr>
          <p:cNvSpPr>
            <a:spLocks xmlns:a="http://schemas.openxmlformats.org/drawingml/2006/main" noGrp="1"/>
          </p:cNvSpPr>
          <p:nvPr/>
        </p:nvSpPr>
        <p:spPr>
          <a:xfrm xmlns:a="http://schemas.openxmlformats.org/drawingml/2006/main">
            <a:off x="457200" y="3276600"/>
            <a:ext cx="4953000" cy="14097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33350" tIns="114300" rIns="133350" bIns="114300" anchor="t">
            <a:normAutofit fontScale="100000"/>
          </a:bodyPr>
          <a:lstStyle xmlns:a="http://schemas.openxmlformats.org/drawingml/2006/main"/>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~/Desktop/quantitative-methods</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source .venv/bin/activate</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05-ridge-lasso-elastic-net/demo</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python session05_regularisation_demo.py</a:t>
            </a:r>
          </a:p>
        </p:txBody>
      </p:sp>
      <p:sp>
        <p:nvSpPr>
          <p:cNvPr id="8" name="code-windows">
            <a:extLst xmlns:a="http://schemas.openxmlformats.org/drawingml/2006/main">
              <a:ext uri="{FF2B5EF4-FFF2-40B4-BE49-F238E27FC236}">
                <a16:creationId xmlns:a16="http://schemas.microsoft.com/office/drawing/2014/main" id="{2B832BDB-F4EF-477C-8AF7-F9AEFB62B6D4}"/>
              </a:ext>
            </a:extLst>
          </p:cNvPr>
          <p:cNvSpPr>
            <a:spLocks xmlns:a="http://schemas.openxmlformats.org/drawingml/2006/main" noGrp="1"/>
          </p:cNvSpPr>
          <p:nvPr/>
        </p:nvSpPr>
        <p:spPr>
          <a:xfrm xmlns:a="http://schemas.openxmlformats.org/drawingml/2006/main">
            <a:off x="457200" y="4819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536273"/>
                </a:solidFill>
                <a:latin typeface="Menlo"/>
                <a:ea typeface="Menlo"/>
                <a:cs typeface="Menlo"/>
              </a:defRPr>
            </a:pPr>
            <a:r>
              <a:rPr sz="1200" b="0">
                <a:solidFill>
                  <a:srgbClr val="536273"/>
                </a:solidFill>
                <a:latin typeface="Menlo"/>
                <a:ea typeface="Menlo"/>
                <a:cs typeface="Menlo"/>
              </a:rPr>
              <a:t>Windows activation: .venv\Scripts\activate</a:t>
            </a:r>
          </a:p>
        </p:txBody>
      </p:sp>
      <p:sp>
        <p:nvSpPr>
          <p:cNvPr id="9" name="code-snippet">
            <a:extLst xmlns:a="http://schemas.openxmlformats.org/drawingml/2006/main">
              <a:ext uri="{FF2B5EF4-FFF2-40B4-BE49-F238E27FC236}">
                <a16:creationId xmlns:a16="http://schemas.microsoft.com/office/drawing/2014/main" id="{99265DF0-C641-4157-A5BC-21B08C598F0D}"/>
              </a:ext>
            </a:extLst>
          </p:cNvPr>
          <p:cNvSpPr>
            <a:spLocks xmlns:a="http://schemas.openxmlformats.org/drawingml/2006/main" noGrp="1"/>
          </p:cNvSpPr>
          <p:nvPr/>
        </p:nvSpPr>
        <p:spPr>
          <a:xfrm xmlns:a="http://schemas.openxmlformats.org/drawingml/2006/main">
            <a:off x="5943600" y="1657350"/>
            <a:ext cx="5791200" cy="33909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71450" tIns="152400" rIns="171450" bIns="152400" anchor="t">
            <a:normAutofit fontScale="99528"/>
          </a:bodyPr>
          <a:lstStyle xmlns:a="http://schemas.openxmlformats.org/drawingml/2006/main"/>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echo: true</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def test_rmse(model):</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"""Fit on the training split, score on the untouched 30%."""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model.fit(Xtr, ytr)</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return np.sqrt(mean_squared_error(yte, model.predict(Xte)))</a:t>
            </a:r>
          </a:p>
          <a:p xmlns:a="http://schemas.openxmlformats.org/drawingml/2006/main">
            <a:pPr algn="l">
              <a:lnSpc>
                <a:spcPct val="100000"/>
              </a:lnSpc>
              <a:buNone/>
              <a:defRPr sz="1575" b="0">
                <a:solidFill>
                  <a:srgbClr val="FFFFFF"/>
                </a:solidFill>
                <a:latin typeface="Menlo"/>
                <a:ea typeface="Menlo"/>
                <a:cs typeface="Menlo"/>
              </a:defRPr>
            </a:pPr>
            <a:r>
              <a:rPr sz="1575" b="0">
                <a:solidFill>
                  <a:srgbClr val="FFFFFF"/>
                </a:solidFill>
                <a:latin typeface="Menlo"/>
                <a:ea typeface="Menlo"/>
                <a:cs typeface="Menlo"/>
              </a:rPr>
              <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ALPHAS = np.logspace(-3, 3, 60)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L1S    = [0.1, 0.5, 0.7, 0.9, 0.95, 1.0]</a:t>
            </a:r>
          </a:p>
          <a:p xmlns:a="http://schemas.openxmlformats.org/drawingml/2006/main">
            <a:pPr algn="l">
              <a:lnSpc>
                <a:spcPct val="100000"/>
              </a:lnSpc>
              <a:buNone/>
              <a:defRPr sz="1575" b="0">
                <a:solidFill>
                  <a:srgbClr val="FFFFFF"/>
                </a:solidFill>
                <a:latin typeface="Menlo"/>
                <a:ea typeface="Menlo"/>
                <a:cs typeface="Menlo"/>
              </a:defRPr>
            </a:pPr>
            <a:r>
              <a:rPr sz="1575" b="0">
                <a:solidFill>
                  <a:srgbClr val="FFFFFF"/>
                </a:solidFill>
                <a:latin typeface="Menlo"/>
                <a:ea typeface="Menlo"/>
                <a:cs typeface="Menlo"/>
              </a:rPr>
              <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scores = {</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"predict the mean": np.sqrt(mean_squared_error(yte, np.full_like(yte, ytr.mean()))),</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    "OLS":         test_rmse(make_pipeline(StandardScaler(), LinearRegression())),</a:t>
            </a:r>
          </a:p>
        </p:txBody>
      </p:sp>
      <p:sp>
        <p:nvSpPr>
          <p:cNvPr id="10" name="code-caption">
            <a:extLst xmlns:a="http://schemas.openxmlformats.org/drawingml/2006/main">
              <a:ext uri="{FF2B5EF4-FFF2-40B4-BE49-F238E27FC236}">
                <a16:creationId xmlns:a16="http://schemas.microsoft.com/office/drawing/2014/main" id="{78289761-A279-4315-A997-8383071B2C4C}"/>
              </a:ext>
            </a:extLst>
          </p:cNvPr>
          <p:cNvSpPr>
            <a:spLocks xmlns:a="http://schemas.openxmlformats.org/drawingml/2006/main" noGrp="1"/>
          </p:cNvSpPr>
          <p:nvPr/>
        </p:nvSpPr>
        <p:spPr>
          <a:xfrm xmlns:a="http://schemas.openxmlformats.org/drawingml/2006/main">
            <a:off x="5943600" y="5257800"/>
            <a:ext cx="579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Copy/paste the terminal block exactly. The full demo imports everything it needs, sets its seed, and saves the figure locally.</a:t>
            </a:r>
          </a:p>
        </p:txBody>
      </p:sp>
      <p:sp>
        <p:nvSpPr>
          <p:cNvPr id="11" name="rule-48-674">
            <a:extLst xmlns:a="http://schemas.openxmlformats.org/drawingml/2006/main">
              <a:ext uri="{FF2B5EF4-FFF2-40B4-BE49-F238E27FC236}">
                <a16:creationId xmlns:a16="http://schemas.microsoft.com/office/drawing/2014/main" id="{7EDA6DC4-E18A-4C38-A441-1FC099BE88B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2" name="footer-left">
            <a:extLst xmlns:a="http://schemas.openxmlformats.org/drawingml/2006/main">
              <a:ext uri="{FF2B5EF4-FFF2-40B4-BE49-F238E27FC236}">
                <a16:creationId xmlns:a16="http://schemas.microsoft.com/office/drawing/2014/main" id="{8A5543C0-ECCF-4613-9DDB-DF2CC736ED61}"/>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3" name="footer-right">
            <a:extLst xmlns:a="http://schemas.openxmlformats.org/drawingml/2006/main">
              <a:ext uri="{FF2B5EF4-FFF2-40B4-BE49-F238E27FC236}">
                <a16:creationId xmlns:a16="http://schemas.microsoft.com/office/drawing/2014/main" id="{DD8BF317-E931-4DAD-8D22-ED6F7BDC9F26}"/>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12/50</a:t>
            </a:r>
          </a:p>
        </p:txBody>
      </p:sp>
    </p:spTree>
    <p:extLst>
      <p:ext uri="{BB962C8B-B14F-4D97-AF65-F5344CB8AC3E}">
        <p14:creationId xmlns:p14="http://schemas.microsoft.com/office/powerpoint/2010/main" val="20656830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7FCBC34-3ADA-4F3D-A67E-7B4F390009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CODE</a:t>
            </a:r>
          </a:p>
        </p:txBody>
      </p:sp>
      <p:sp>
        <p:nvSpPr>
          <p:cNvPr id="2" name="slide-title">
            <a:extLst xmlns:a="http://schemas.openxmlformats.org/drawingml/2006/main">
              <a:ext uri="{FF2B5EF4-FFF2-40B4-BE49-F238E27FC236}">
                <a16:creationId xmlns:a16="http://schemas.microsoft.com/office/drawing/2014/main" id="{CED8EE5E-D9DC-4927-93A4-086D2A718E99}"/>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Four estimators, one held-out test set · Python</a:t>
            </a:r>
          </a:p>
        </p:txBody>
      </p:sp>
      <p:sp>
        <p:nvSpPr>
          <p:cNvPr id="3" name="rule-48-137">
            <a:extLst xmlns:a="http://schemas.openxmlformats.org/drawingml/2006/main">
              <a:ext uri="{FF2B5EF4-FFF2-40B4-BE49-F238E27FC236}">
                <a16:creationId xmlns:a16="http://schemas.microsoft.com/office/drawing/2014/main" id="{0C1EC8C7-5606-4238-9546-69CBA9C7FA2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C657BB0B-D025-4398-98B9-996A671B113A}"/>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714B80FE-9AF8-401C-92AB-082201BF4482}"/>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def testrmse(model): """Fit on the training split, score on the untouched 30%.""" model.fit(Xtr, ytr)</a:t>
            </a:r>
          </a:p>
        </p:txBody>
      </p:sp>
      <p:sp>
        <p:nvSpPr>
          <p:cNvPr id="6" name="equation-prompt">
            <a:extLst xmlns:a="http://schemas.openxmlformats.org/drawingml/2006/main">
              <a:ext uri="{FF2B5EF4-FFF2-40B4-BE49-F238E27FC236}">
                <a16:creationId xmlns:a16="http://schemas.microsoft.com/office/drawing/2014/main" id="{A9F294A1-C407-436C-AAC6-01F92C2F39B6}"/>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8DC9B53F-030D-4720-B264-6C0B22DC2484}"/>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def testrmse(model): """Fit on the training split, score on the untouched 30%.""" model.fit(Xtr,…</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d51a1e598e2443d8"/>
          </a:graphicData>
        </a:graphic>
      </p:graphicFrame>
      <p:sp>
        <p:nvSpPr>
          <p:cNvPr id="9" name="rule-48-674">
            <a:extLst xmlns:a="http://schemas.openxmlformats.org/drawingml/2006/main">
              <a:ext uri="{FF2B5EF4-FFF2-40B4-BE49-F238E27FC236}">
                <a16:creationId xmlns:a16="http://schemas.microsoft.com/office/drawing/2014/main" id="{F1129F64-421B-4DD7-BBD8-606313F1BDB6}"/>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A89C2CB-2EB7-40CD-A29F-40299CACE7A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C47D3986-0C78-4300-9AA7-F583673D21A8}"/>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13/50</a:t>
            </a:r>
          </a:p>
        </p:txBody>
      </p:sp>
    </p:spTree>
    <p:extLst>
      <p:ext uri="{BB962C8B-B14F-4D97-AF65-F5344CB8AC3E}">
        <p14:creationId xmlns:p14="http://schemas.microsoft.com/office/powerpoint/2010/main" val="20292119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8EC660AD-E8E7-4FF5-BDA1-0D614CBF5328}"/>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ASSUMPTIONS</a:t>
            </a:r>
          </a:p>
        </p:txBody>
      </p:sp>
      <p:sp>
        <p:nvSpPr>
          <p:cNvPr id="2" name="slide-title">
            <a:extLst xmlns:a="http://schemas.openxmlformats.org/drawingml/2006/main">
              <a:ext uri="{FF2B5EF4-FFF2-40B4-BE49-F238E27FC236}">
                <a16:creationId xmlns:a16="http://schemas.microsoft.com/office/drawing/2014/main" id="{6BE1177A-D573-418B-8EE5-2C6E39AEA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result · Python</a:t>
            </a:r>
          </a:p>
        </p:txBody>
      </p:sp>
      <p:sp>
        <p:nvSpPr>
          <p:cNvPr id="3" name="rule-48-137">
            <a:extLst xmlns:a="http://schemas.openxmlformats.org/drawingml/2006/main">
              <a:ext uri="{FF2B5EF4-FFF2-40B4-BE49-F238E27FC236}">
                <a16:creationId xmlns:a16="http://schemas.microsoft.com/office/drawing/2014/main" id="{74FD44A5-45BB-4756-8BB1-48730F2F9455}"/>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assumption-lead">
            <a:extLst xmlns:a="http://schemas.openxmlformats.org/drawingml/2006/main">
              <a:ext uri="{FF2B5EF4-FFF2-40B4-BE49-F238E27FC236}">
                <a16:creationId xmlns:a16="http://schemas.microsoft.com/office/drawing/2014/main" id="{D4AF6FBE-6BB0-4A9C-B571-FE4B5884634B}"/>
              </a:ext>
            </a:extLst>
          </p:cNvPr>
          <p:cNvSpPr>
            <a:spLocks xmlns:a="http://schemas.openxmlformats.org/drawingml/2006/main" noGrp="1"/>
          </p:cNvSpPr>
          <p:nvPr/>
        </p:nvSpPr>
        <p:spPr>
          <a:xfrm xmlns:a="http://schemas.openxmlformats.org/drawingml/2006/main">
            <a:off x="457200" y="1657350"/>
            <a:ext cx="581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189"/>
          </a:bodyPr>
          <a:lstStyle xmlns:a="http://schemas.openxmlformats.org/drawingml/2006/main"/>
          <a:p xmlns:a="http://schemas.openxmlformats.org/drawingml/2006/main">
            <a:pPr algn="l">
              <a:lnSpc>
                <a:spcPct val="100000"/>
              </a:lnSpc>
              <a:buNone/>
              <a:defRPr sz="2025" b="1">
                <a:solidFill>
                  <a:srgbClr val="2563EB"/>
                </a:solidFill>
                <a:latin typeface="Helvetica Neue"/>
                <a:ea typeface="Helvetica Neue"/>
                <a:cs typeface="Helvetica Neue"/>
              </a:defRPr>
            </a:pPr>
            <a:r>
              <a:rPr sz="2025" b="1">
                <a:solidFill>
                  <a:srgbClr val="2563EB"/>
                </a:solidFill>
                <a:latin typeface="Helvetica Neue"/>
                <a:ea typeface="Helvetica Neue"/>
                <a:cs typeface="Helvetica Neue"/>
              </a:rPr>
              <a:t>fig, ax = plt.subplots(figsize=(7.2, 3.1)) names = list(scores); vals = [scores[k] for k in names] cols = [CL.muted, CL.warn, CL.accent, CL.good, CL.ink]</a:t>
            </a:r>
          </a:p>
        </p:txBody>
      </p:sp>
      <p:sp>
        <p:nvSpPr>
          <p:cNvPr id="5" name="assumption-dot-0">
            <a:extLst xmlns:a="http://schemas.openxmlformats.org/drawingml/2006/main">
              <a:ext uri="{FF2B5EF4-FFF2-40B4-BE49-F238E27FC236}">
                <a16:creationId xmlns:a16="http://schemas.microsoft.com/office/drawing/2014/main" id="{C74D3213-AB06-4FF3-AEBD-B2A04B7482E9}"/>
              </a:ext>
            </a:extLst>
          </p:cNvPr>
          <p:cNvSpPr>
            <a:spLocks xmlns:a="http://schemas.openxmlformats.org/drawingml/2006/main" noGrp="1"/>
          </p:cNvSpPr>
          <p:nvPr/>
        </p:nvSpPr>
        <p:spPr>
          <a:xfrm xmlns:a="http://schemas.openxmlformats.org/drawingml/2006/main">
            <a:off x="6762750" y="17907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6" name="assumption-0">
            <a:extLst xmlns:a="http://schemas.openxmlformats.org/drawingml/2006/main">
              <a:ext uri="{FF2B5EF4-FFF2-40B4-BE49-F238E27FC236}">
                <a16:creationId xmlns:a16="http://schemas.microsoft.com/office/drawing/2014/main" id="{69DD163B-A3DB-400D-97CD-432ECE135561}"/>
              </a:ext>
            </a:extLst>
          </p:cNvPr>
          <p:cNvSpPr>
            <a:spLocks xmlns:a="http://schemas.openxmlformats.org/drawingml/2006/main" noGrp="1"/>
          </p:cNvSpPr>
          <p:nvPr/>
        </p:nvSpPr>
        <p:spPr>
          <a:xfrm xmlns:a="http://schemas.openxmlformats.org/drawingml/2006/main">
            <a:off x="7181850" y="16954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69"/>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fig, ax = plt.subplots(figsize=(7.2, 3.1)) names = list(scores); vals = [scores[k] for k in names]…</a:t>
            </a:r>
          </a:p>
        </p:txBody>
      </p:sp>
      <p:sp>
        <p:nvSpPr>
          <p:cNvPr id="7" name="rule-710-254">
            <a:extLst xmlns:a="http://schemas.openxmlformats.org/drawingml/2006/main">
              <a:ext uri="{FF2B5EF4-FFF2-40B4-BE49-F238E27FC236}">
                <a16:creationId xmlns:a16="http://schemas.microsoft.com/office/drawing/2014/main" id="{3A46FC59-6D50-4B86-88EA-E140411EB314}"/>
              </a:ext>
            </a:extLst>
          </p:cNvPr>
          <p:cNvSpPr>
            <a:spLocks xmlns:a="http://schemas.openxmlformats.org/drawingml/2006/main" noGrp="1"/>
          </p:cNvSpPr>
          <p:nvPr/>
        </p:nvSpPr>
        <p:spPr>
          <a:xfrm xmlns:a="http://schemas.openxmlformats.org/drawingml/2006/main">
            <a:off x="6762750" y="24193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8" name="assumption-dot-1">
            <a:extLst xmlns:a="http://schemas.openxmlformats.org/drawingml/2006/main">
              <a:ext uri="{FF2B5EF4-FFF2-40B4-BE49-F238E27FC236}">
                <a16:creationId xmlns:a16="http://schemas.microsoft.com/office/drawing/2014/main" id="{C5249663-8E9D-4047-B1E5-937C72C4FB55}"/>
              </a:ext>
            </a:extLst>
          </p:cNvPr>
          <p:cNvSpPr>
            <a:spLocks xmlns:a="http://schemas.openxmlformats.org/drawingml/2006/main" noGrp="1"/>
          </p:cNvSpPr>
          <p:nvPr/>
        </p:nvSpPr>
        <p:spPr>
          <a:xfrm xmlns:a="http://schemas.openxmlformats.org/drawingml/2006/main">
            <a:off x="6762750" y="27051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9" name="assumption-1">
            <a:extLst xmlns:a="http://schemas.openxmlformats.org/drawingml/2006/main">
              <a:ext uri="{FF2B5EF4-FFF2-40B4-BE49-F238E27FC236}">
                <a16:creationId xmlns:a16="http://schemas.microsoft.com/office/drawing/2014/main" id="{000AE48E-E4F3-4F73-BD2C-169FE21C5333}"/>
              </a:ext>
            </a:extLst>
          </p:cNvPr>
          <p:cNvSpPr>
            <a:spLocks xmlns:a="http://schemas.openxmlformats.org/drawingml/2006/main" noGrp="1"/>
          </p:cNvSpPr>
          <p:nvPr/>
        </p:nvSpPr>
        <p:spPr>
          <a:xfrm xmlns:a="http://schemas.openxmlformats.org/drawingml/2006/main">
            <a:off x="7181850" y="26098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431"/>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fig, ax = plt.subplots(figsize=(7.2, 3.1)) names = list(scores); vals = [scores[k] for k in names] cols…</a:t>
            </a:r>
          </a:p>
        </p:txBody>
      </p:sp>
      <p:sp>
        <p:nvSpPr>
          <p:cNvPr id="10" name="rule-710-350">
            <a:extLst xmlns:a="http://schemas.openxmlformats.org/drawingml/2006/main">
              <a:ext uri="{FF2B5EF4-FFF2-40B4-BE49-F238E27FC236}">
                <a16:creationId xmlns:a16="http://schemas.microsoft.com/office/drawing/2014/main" id="{BFF5DE9F-1237-4974-8DE2-F81B0DB6418D}"/>
              </a:ext>
            </a:extLst>
          </p:cNvPr>
          <p:cNvSpPr>
            <a:spLocks xmlns:a="http://schemas.openxmlformats.org/drawingml/2006/main" noGrp="1"/>
          </p:cNvSpPr>
          <p:nvPr/>
        </p:nvSpPr>
        <p:spPr>
          <a:xfrm xmlns:a="http://schemas.openxmlformats.org/drawingml/2006/main">
            <a:off x="6762750" y="33337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assumption-dot-2">
            <a:extLst xmlns:a="http://schemas.openxmlformats.org/drawingml/2006/main">
              <a:ext uri="{FF2B5EF4-FFF2-40B4-BE49-F238E27FC236}">
                <a16:creationId xmlns:a16="http://schemas.microsoft.com/office/drawing/2014/main" id="{6450A870-D914-4829-93A4-ADABD3C1A926}"/>
              </a:ext>
            </a:extLst>
          </p:cNvPr>
          <p:cNvSpPr>
            <a:spLocks xmlns:a="http://schemas.openxmlformats.org/drawingml/2006/main" noGrp="1"/>
          </p:cNvSpPr>
          <p:nvPr/>
        </p:nvSpPr>
        <p:spPr>
          <a:xfrm xmlns:a="http://schemas.openxmlformats.org/drawingml/2006/main">
            <a:off x="6762750" y="36195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2" name="assumption-2">
            <a:extLst xmlns:a="http://schemas.openxmlformats.org/drawingml/2006/main">
              <a:ext uri="{FF2B5EF4-FFF2-40B4-BE49-F238E27FC236}">
                <a16:creationId xmlns:a16="http://schemas.microsoft.com/office/drawing/2014/main" id="{0EA19C9A-FFF7-49F8-9838-B65AB79762B0}"/>
              </a:ext>
            </a:extLst>
          </p:cNvPr>
          <p:cNvSpPr>
            <a:spLocks xmlns:a="http://schemas.openxmlformats.org/drawingml/2006/main" noGrp="1"/>
          </p:cNvSpPr>
          <p:nvPr/>
        </p:nvSpPr>
        <p:spPr>
          <a:xfrm xmlns:a="http://schemas.openxmlformats.org/drawingml/2006/main">
            <a:off x="7181850" y="35242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13" name="rule-710-446">
            <a:extLst xmlns:a="http://schemas.openxmlformats.org/drawingml/2006/main">
              <a:ext uri="{FF2B5EF4-FFF2-40B4-BE49-F238E27FC236}">
                <a16:creationId xmlns:a16="http://schemas.microsoft.com/office/drawing/2014/main" id="{5A3ABF52-F6A1-4968-A4B7-9ECBF9AA13DF}"/>
              </a:ext>
            </a:extLst>
          </p:cNvPr>
          <p:cNvSpPr>
            <a:spLocks xmlns:a="http://schemas.openxmlformats.org/drawingml/2006/main" noGrp="1"/>
          </p:cNvSpPr>
          <p:nvPr/>
        </p:nvSpPr>
        <p:spPr>
          <a:xfrm xmlns:a="http://schemas.openxmlformats.org/drawingml/2006/main">
            <a:off x="6762750" y="42481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assumption-dot-3">
            <a:extLst xmlns:a="http://schemas.openxmlformats.org/drawingml/2006/main">
              <a:ext uri="{FF2B5EF4-FFF2-40B4-BE49-F238E27FC236}">
                <a16:creationId xmlns:a16="http://schemas.microsoft.com/office/drawing/2014/main" id="{FDAAE2F1-57D8-493B-9782-36DA49AB2577}"/>
              </a:ext>
            </a:extLst>
          </p:cNvPr>
          <p:cNvSpPr>
            <a:spLocks xmlns:a="http://schemas.openxmlformats.org/drawingml/2006/main" noGrp="1"/>
          </p:cNvSpPr>
          <p:nvPr/>
        </p:nvSpPr>
        <p:spPr>
          <a:xfrm xmlns:a="http://schemas.openxmlformats.org/drawingml/2006/main">
            <a:off x="6762750" y="4533900"/>
            <a:ext cx="228600" cy="2286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5" name="assumption-3">
            <a:extLst xmlns:a="http://schemas.openxmlformats.org/drawingml/2006/main">
              <a:ext uri="{FF2B5EF4-FFF2-40B4-BE49-F238E27FC236}">
                <a16:creationId xmlns:a16="http://schemas.microsoft.com/office/drawing/2014/main" id="{D364FFDA-5E48-4783-B8F9-7CD803CBC014}"/>
              </a:ext>
            </a:extLst>
          </p:cNvPr>
          <p:cNvSpPr>
            <a:spLocks xmlns:a="http://schemas.openxmlformats.org/drawingml/2006/main" noGrp="1"/>
          </p:cNvSpPr>
          <p:nvPr/>
        </p:nvSpPr>
        <p:spPr>
          <a:xfrm xmlns:a="http://schemas.openxmlformats.org/drawingml/2006/main">
            <a:off x="7181850" y="44386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Fit a path of λ values</a:t>
            </a:r>
          </a:p>
        </p:txBody>
      </p:sp>
      <p:sp>
        <p:nvSpPr>
          <p:cNvPr id="16" name="assumption-callout">
            <a:extLst xmlns:a="http://schemas.openxmlformats.org/drawingml/2006/main">
              <a:ext uri="{FF2B5EF4-FFF2-40B4-BE49-F238E27FC236}">
                <a16:creationId xmlns:a16="http://schemas.microsoft.com/office/drawing/2014/main" id="{C37DF882-234C-4590-92EC-078B6E918153}"/>
              </a:ext>
            </a:extLst>
          </p:cNvPr>
          <p:cNvSpPr>
            <a:spLocks xmlns:a="http://schemas.openxmlformats.org/drawingml/2006/main" noGrp="1"/>
          </p:cNvSpPr>
          <p:nvPr/>
        </p:nvSpPr>
        <p:spPr>
          <a:xfrm xmlns:a="http://schemas.openxmlformats.org/drawingml/2006/main">
            <a:off x="457200" y="4057650"/>
            <a:ext cx="542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Ask which assumption is most fragile in your article replication—and what observable evidence would reveal the failure.</a:t>
            </a:r>
          </a:p>
        </p:txBody>
      </p:sp>
      <p:sp>
        <p:nvSpPr>
          <p:cNvPr id="17" name="rule-48-674">
            <a:extLst xmlns:a="http://schemas.openxmlformats.org/drawingml/2006/main">
              <a:ext uri="{FF2B5EF4-FFF2-40B4-BE49-F238E27FC236}">
                <a16:creationId xmlns:a16="http://schemas.microsoft.com/office/drawing/2014/main" id="{BAAE104D-3257-43E4-911B-474CAB2A6434}"/>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A1955895-4284-4432-8553-0DDE4D6FA1F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6823EF8C-D383-40EE-8488-CE8824082C8C}"/>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14/50</a:t>
            </a:r>
          </a:p>
        </p:txBody>
      </p:sp>
    </p:spTree>
    <p:extLst>
      <p:ext uri="{BB962C8B-B14F-4D97-AF65-F5344CB8AC3E}">
        <p14:creationId xmlns:p14="http://schemas.microsoft.com/office/powerpoint/2010/main" val="100608594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14CB035E-CCD8-4A3B-A6BE-26B69106595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F64E5443-A695-44DC-9C9B-9C0C714DDF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Read that again</a:t>
            </a:r>
          </a:p>
        </p:txBody>
      </p:sp>
      <p:sp>
        <p:nvSpPr>
          <p:cNvPr id="3" name="rule-48-137">
            <a:extLst xmlns:a="http://schemas.openxmlformats.org/drawingml/2006/main">
              <a:ext uri="{FF2B5EF4-FFF2-40B4-BE49-F238E27FC236}">
                <a16:creationId xmlns:a16="http://schemas.microsoft.com/office/drawing/2014/main" id="{FD5A2F72-BE27-40E4-ACC4-EA19C0BA21D0}"/>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D66350E3-0AF2-4D03-A9C9-1CDA6751CC2B}"/>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Ridge: min ||y−Xβ||² + λ||β||²₂</a:t>
            </a:r>
          </a:p>
        </p:txBody>
      </p:sp>
      <p:sp>
        <p:nvSpPr>
          <p:cNvPr id="5" name="equation-reading">
            <a:extLst xmlns:a="http://schemas.openxmlformats.org/drawingml/2006/main">
              <a:ext uri="{FF2B5EF4-FFF2-40B4-BE49-F238E27FC236}">
                <a16:creationId xmlns:a16="http://schemas.microsoft.com/office/drawing/2014/main" id="{FF9CB8B1-81E5-4609-9EB8-DC2F0B0E5FB0}"/>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This is the entire argument for regularisation, and it took four lines of code to make. The rest of the session is about why it works and how to set the dial.</a:t>
            </a:r>
          </a:p>
        </p:txBody>
      </p:sp>
      <p:sp>
        <p:nvSpPr>
          <p:cNvPr id="6" name="equation-prompt">
            <a:extLst xmlns:a="http://schemas.openxmlformats.org/drawingml/2006/main">
              <a:ext uri="{FF2B5EF4-FFF2-40B4-BE49-F238E27FC236}">
                <a16:creationId xmlns:a16="http://schemas.microsoft.com/office/drawing/2014/main" id="{0FA2A665-22F2-4545-AA88-545C481ECC9A}"/>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636E2140-82E5-4477-8DAF-174ADF36A1F6}"/>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With 29 predictors and 37 rows, OLS is worth almost nothing — it is fitting noise</a:t>
            </a:r>
          </a:p>
        </p:txBody>
      </p:sp>
      <p:sp>
        <p:nvSpPr>
          <p:cNvPr id="8" name="lasso-field">
            <a:extLst xmlns:a="http://schemas.openxmlformats.org/drawingml/2006/main">
              <a:ext uri="{FF2B5EF4-FFF2-40B4-BE49-F238E27FC236}">
                <a16:creationId xmlns:a16="http://schemas.microsoft.com/office/drawing/2014/main" id="{3AEA489D-5572-4871-8843-3CD39BB4665D}"/>
              </a:ext>
            </a:extLst>
          </p:cNvPr>
          <p:cNvSpPr>
            <a:spLocks xmlns:a="http://schemas.openxmlformats.org/drawingml/2006/main" noGrp="1"/>
          </p:cNvSpPr>
          <p:nvPr/>
        </p:nvSpPr>
        <p:spPr>
          <a:xfrm xmlns:a="http://schemas.openxmlformats.org/drawingml/2006/main">
            <a:off x="5924550" y="1657350"/>
            <a:ext cx="5810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9" name="lasso-title">
            <a:extLst xmlns:a="http://schemas.openxmlformats.org/drawingml/2006/main">
              <a:ext uri="{FF2B5EF4-FFF2-40B4-BE49-F238E27FC236}">
                <a16:creationId xmlns:a16="http://schemas.microsoft.com/office/drawing/2014/main" id="{9535E93E-1CCE-422C-AD13-048209596BEB}"/>
              </a:ext>
            </a:extLst>
          </p:cNvPr>
          <p:cNvSpPr>
            <a:spLocks xmlns:a="http://schemas.openxmlformats.org/drawingml/2006/main" noGrp="1"/>
          </p:cNvSpPr>
          <p:nvPr/>
        </p:nvSpPr>
        <p:spPr>
          <a:xfrm xmlns:a="http://schemas.openxmlformats.org/drawingml/2006/main">
            <a:off x="6248400" y="1885950"/>
            <a:ext cx="516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10" name="lasso-label-0">
            <a:extLst xmlns:a="http://schemas.openxmlformats.org/drawingml/2006/main">
              <a:ext uri="{FF2B5EF4-FFF2-40B4-BE49-F238E27FC236}">
                <a16:creationId xmlns:a16="http://schemas.microsoft.com/office/drawing/2014/main" id="{5C9C2215-E736-453D-AB74-55E441EFDC64}"/>
              </a:ext>
            </a:extLst>
          </p:cNvPr>
          <p:cNvSpPr>
            <a:spLocks xmlns:a="http://schemas.openxmlformats.org/drawingml/2006/main" noGrp="1"/>
          </p:cNvSpPr>
          <p:nvPr/>
        </p:nvSpPr>
        <p:spPr>
          <a:xfrm xmlns:a="http://schemas.openxmlformats.org/drawingml/2006/main">
            <a:off x="6248400" y="2495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11" name="lasso-track-0">
            <a:extLst xmlns:a="http://schemas.openxmlformats.org/drawingml/2006/main">
              <a:ext uri="{FF2B5EF4-FFF2-40B4-BE49-F238E27FC236}">
                <a16:creationId xmlns:a16="http://schemas.microsoft.com/office/drawing/2014/main" id="{EB3C20BF-E1F6-42E2-886E-AE6E49EC800D}"/>
              </a:ext>
            </a:extLst>
          </p:cNvPr>
          <p:cNvSpPr>
            <a:spLocks xmlns:a="http://schemas.openxmlformats.org/drawingml/2006/main" noGrp="1"/>
          </p:cNvSpPr>
          <p:nvPr/>
        </p:nvSpPr>
        <p:spPr>
          <a:xfrm xmlns:a="http://schemas.openxmlformats.org/drawingml/2006/main">
            <a:off x="6838950" y="25908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2" name="lasso-bar-0">
            <a:extLst xmlns:a="http://schemas.openxmlformats.org/drawingml/2006/main">
              <a:ext uri="{FF2B5EF4-FFF2-40B4-BE49-F238E27FC236}">
                <a16:creationId xmlns:a16="http://schemas.microsoft.com/office/drawing/2014/main" id="{E3DD2267-E857-40C1-9D6C-6DCF45D0582A}"/>
              </a:ext>
            </a:extLst>
          </p:cNvPr>
          <p:cNvSpPr>
            <a:spLocks xmlns:a="http://schemas.openxmlformats.org/drawingml/2006/main" noGrp="1"/>
          </p:cNvSpPr>
          <p:nvPr/>
        </p:nvSpPr>
        <p:spPr>
          <a:xfrm xmlns:a="http://schemas.openxmlformats.org/drawingml/2006/main">
            <a:off x="6838950" y="255270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3" name="lasso-label-1">
            <a:extLst xmlns:a="http://schemas.openxmlformats.org/drawingml/2006/main">
              <a:ext uri="{FF2B5EF4-FFF2-40B4-BE49-F238E27FC236}">
                <a16:creationId xmlns:a16="http://schemas.microsoft.com/office/drawing/2014/main" id="{0521DD6E-BB33-460C-81BF-842ED7FF8D63}"/>
              </a:ext>
            </a:extLst>
          </p:cNvPr>
          <p:cNvSpPr>
            <a:spLocks xmlns:a="http://schemas.openxmlformats.org/drawingml/2006/main" noGrp="1"/>
          </p:cNvSpPr>
          <p:nvPr/>
        </p:nvSpPr>
        <p:spPr>
          <a:xfrm xmlns:a="http://schemas.openxmlformats.org/drawingml/2006/main">
            <a:off x="6248400" y="3048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4" name="lasso-track-1">
            <a:extLst xmlns:a="http://schemas.openxmlformats.org/drawingml/2006/main">
              <a:ext uri="{FF2B5EF4-FFF2-40B4-BE49-F238E27FC236}">
                <a16:creationId xmlns:a16="http://schemas.microsoft.com/office/drawing/2014/main" id="{0B5613AB-DFA2-4B52-920C-1A1928421738}"/>
              </a:ext>
            </a:extLst>
          </p:cNvPr>
          <p:cNvSpPr>
            <a:spLocks xmlns:a="http://schemas.openxmlformats.org/drawingml/2006/main" noGrp="1"/>
          </p:cNvSpPr>
          <p:nvPr/>
        </p:nvSpPr>
        <p:spPr>
          <a:xfrm xmlns:a="http://schemas.openxmlformats.org/drawingml/2006/main">
            <a:off x="6838950" y="31432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5" name="lasso-bar-1">
            <a:extLst xmlns:a="http://schemas.openxmlformats.org/drawingml/2006/main">
              <a:ext uri="{FF2B5EF4-FFF2-40B4-BE49-F238E27FC236}">
                <a16:creationId xmlns:a16="http://schemas.microsoft.com/office/drawing/2014/main" id="{FC318E9C-653B-4A97-A08F-CC361FE10E1D}"/>
              </a:ext>
            </a:extLst>
          </p:cNvPr>
          <p:cNvSpPr>
            <a:spLocks xmlns:a="http://schemas.openxmlformats.org/drawingml/2006/main" noGrp="1"/>
          </p:cNvSpPr>
          <p:nvPr/>
        </p:nvSpPr>
        <p:spPr>
          <a:xfrm xmlns:a="http://schemas.openxmlformats.org/drawingml/2006/main">
            <a:off x="6838950" y="310515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6" name="lasso-label-2">
            <a:extLst xmlns:a="http://schemas.openxmlformats.org/drawingml/2006/main">
              <a:ext uri="{FF2B5EF4-FFF2-40B4-BE49-F238E27FC236}">
                <a16:creationId xmlns:a16="http://schemas.microsoft.com/office/drawing/2014/main" id="{BB85B417-FD35-4D35-BFE8-6CF064394C60}"/>
              </a:ext>
            </a:extLst>
          </p:cNvPr>
          <p:cNvSpPr>
            <a:spLocks xmlns:a="http://schemas.openxmlformats.org/drawingml/2006/main" noGrp="1"/>
          </p:cNvSpPr>
          <p:nvPr/>
        </p:nvSpPr>
        <p:spPr>
          <a:xfrm xmlns:a="http://schemas.openxmlformats.org/drawingml/2006/main">
            <a:off x="6248400" y="36004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7" name="lasso-track-2">
            <a:extLst xmlns:a="http://schemas.openxmlformats.org/drawingml/2006/main">
              <a:ext uri="{FF2B5EF4-FFF2-40B4-BE49-F238E27FC236}">
                <a16:creationId xmlns:a16="http://schemas.microsoft.com/office/drawing/2014/main" id="{792FDFAD-74F1-4037-BECE-5398B27EC5BD}"/>
              </a:ext>
            </a:extLst>
          </p:cNvPr>
          <p:cNvSpPr>
            <a:spLocks xmlns:a="http://schemas.openxmlformats.org/drawingml/2006/main" noGrp="1"/>
          </p:cNvSpPr>
          <p:nvPr/>
        </p:nvSpPr>
        <p:spPr>
          <a:xfrm xmlns:a="http://schemas.openxmlformats.org/drawingml/2006/main">
            <a:off x="6838950" y="36957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8" name="lasso-bar-2">
            <a:extLst xmlns:a="http://schemas.openxmlformats.org/drawingml/2006/main">
              <a:ext uri="{FF2B5EF4-FFF2-40B4-BE49-F238E27FC236}">
                <a16:creationId xmlns:a16="http://schemas.microsoft.com/office/drawing/2014/main" id="{1C0C9592-85A2-4C08-9CF9-094AE63CD9B3}"/>
              </a:ext>
            </a:extLst>
          </p:cNvPr>
          <p:cNvSpPr>
            <a:spLocks xmlns:a="http://schemas.openxmlformats.org/drawingml/2006/main" noGrp="1"/>
          </p:cNvSpPr>
          <p:nvPr/>
        </p:nvSpPr>
        <p:spPr>
          <a:xfrm xmlns:a="http://schemas.openxmlformats.org/drawingml/2006/main">
            <a:off x="6838950" y="365760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9" name="lasso-label-3">
            <a:extLst xmlns:a="http://schemas.openxmlformats.org/drawingml/2006/main">
              <a:ext uri="{FF2B5EF4-FFF2-40B4-BE49-F238E27FC236}">
                <a16:creationId xmlns:a16="http://schemas.microsoft.com/office/drawing/2014/main" id="{B2F67AD9-47AF-4C6C-8C9F-B47E96302F88}"/>
              </a:ext>
            </a:extLst>
          </p:cNvPr>
          <p:cNvSpPr>
            <a:spLocks xmlns:a="http://schemas.openxmlformats.org/drawingml/2006/main" noGrp="1"/>
          </p:cNvSpPr>
          <p:nvPr/>
        </p:nvSpPr>
        <p:spPr>
          <a:xfrm xmlns:a="http://schemas.openxmlformats.org/drawingml/2006/main">
            <a:off x="6248400" y="41529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20" name="lasso-track-3">
            <a:extLst xmlns:a="http://schemas.openxmlformats.org/drawingml/2006/main">
              <a:ext uri="{FF2B5EF4-FFF2-40B4-BE49-F238E27FC236}">
                <a16:creationId xmlns:a16="http://schemas.microsoft.com/office/drawing/2014/main" id="{91AAC046-5415-473B-8CD9-DEDB45A14A32}"/>
              </a:ext>
            </a:extLst>
          </p:cNvPr>
          <p:cNvSpPr>
            <a:spLocks xmlns:a="http://schemas.openxmlformats.org/drawingml/2006/main" noGrp="1"/>
          </p:cNvSpPr>
          <p:nvPr/>
        </p:nvSpPr>
        <p:spPr>
          <a:xfrm xmlns:a="http://schemas.openxmlformats.org/drawingml/2006/main">
            <a:off x="6838950" y="42481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3">
            <a:extLst xmlns:a="http://schemas.openxmlformats.org/drawingml/2006/main">
              <a:ext uri="{FF2B5EF4-FFF2-40B4-BE49-F238E27FC236}">
                <a16:creationId xmlns:a16="http://schemas.microsoft.com/office/drawing/2014/main" id="{1FA6A086-9ED5-46BD-9812-051E4F05C994}"/>
              </a:ext>
            </a:extLst>
          </p:cNvPr>
          <p:cNvSpPr>
            <a:spLocks xmlns:a="http://schemas.openxmlformats.org/drawingml/2006/main" noGrp="1"/>
          </p:cNvSpPr>
          <p:nvPr/>
        </p:nvSpPr>
        <p:spPr>
          <a:xfrm xmlns:a="http://schemas.openxmlformats.org/drawingml/2006/main">
            <a:off x="6800850" y="41910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3">
            <a:extLst xmlns:a="http://schemas.openxmlformats.org/drawingml/2006/main">
              <a:ext uri="{FF2B5EF4-FFF2-40B4-BE49-F238E27FC236}">
                <a16:creationId xmlns:a16="http://schemas.microsoft.com/office/drawing/2014/main" id="{58941E9C-0899-4766-BDDB-AF6FA586EB23}"/>
              </a:ext>
            </a:extLst>
          </p:cNvPr>
          <p:cNvSpPr>
            <a:spLocks xmlns:a="http://schemas.openxmlformats.org/drawingml/2006/main" noGrp="1"/>
          </p:cNvSpPr>
          <p:nvPr/>
        </p:nvSpPr>
        <p:spPr>
          <a:xfrm xmlns:a="http://schemas.openxmlformats.org/drawingml/2006/main">
            <a:off x="7124700" y="4152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label-4">
            <a:extLst xmlns:a="http://schemas.openxmlformats.org/drawingml/2006/main">
              <a:ext uri="{FF2B5EF4-FFF2-40B4-BE49-F238E27FC236}">
                <a16:creationId xmlns:a16="http://schemas.microsoft.com/office/drawing/2014/main" id="{D7FA3C5B-457E-4DE5-B8E2-D9C0E926AE6D}"/>
              </a:ext>
            </a:extLst>
          </p:cNvPr>
          <p:cNvSpPr>
            <a:spLocks xmlns:a="http://schemas.openxmlformats.org/drawingml/2006/main" noGrp="1"/>
          </p:cNvSpPr>
          <p:nvPr/>
        </p:nvSpPr>
        <p:spPr>
          <a:xfrm xmlns:a="http://schemas.openxmlformats.org/drawingml/2006/main">
            <a:off x="6248400" y="4705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4" name="lasso-track-4">
            <a:extLst xmlns:a="http://schemas.openxmlformats.org/drawingml/2006/main">
              <a:ext uri="{FF2B5EF4-FFF2-40B4-BE49-F238E27FC236}">
                <a16:creationId xmlns:a16="http://schemas.microsoft.com/office/drawing/2014/main" id="{25071342-E231-41F3-8012-FC94D8025270}"/>
              </a:ext>
            </a:extLst>
          </p:cNvPr>
          <p:cNvSpPr>
            <a:spLocks xmlns:a="http://schemas.openxmlformats.org/drawingml/2006/main" noGrp="1"/>
          </p:cNvSpPr>
          <p:nvPr/>
        </p:nvSpPr>
        <p:spPr>
          <a:xfrm xmlns:a="http://schemas.openxmlformats.org/drawingml/2006/main">
            <a:off x="6838950" y="48006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5" name="lasso-zero-4">
            <a:extLst xmlns:a="http://schemas.openxmlformats.org/drawingml/2006/main">
              <a:ext uri="{FF2B5EF4-FFF2-40B4-BE49-F238E27FC236}">
                <a16:creationId xmlns:a16="http://schemas.microsoft.com/office/drawing/2014/main" id="{9CD7EEA9-EA5C-45D0-95FA-66D0C49F9B9E}"/>
              </a:ext>
            </a:extLst>
          </p:cNvPr>
          <p:cNvSpPr>
            <a:spLocks xmlns:a="http://schemas.openxmlformats.org/drawingml/2006/main" noGrp="1"/>
          </p:cNvSpPr>
          <p:nvPr/>
        </p:nvSpPr>
        <p:spPr>
          <a:xfrm xmlns:a="http://schemas.openxmlformats.org/drawingml/2006/main">
            <a:off x="6800850" y="47434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6" name="lasso-zero-label-4">
            <a:extLst xmlns:a="http://schemas.openxmlformats.org/drawingml/2006/main">
              <a:ext uri="{FF2B5EF4-FFF2-40B4-BE49-F238E27FC236}">
                <a16:creationId xmlns:a16="http://schemas.microsoft.com/office/drawing/2014/main" id="{ABFB3F04-14F9-45E8-B0DD-BFFAA13ACE41}"/>
              </a:ext>
            </a:extLst>
          </p:cNvPr>
          <p:cNvSpPr>
            <a:spLocks xmlns:a="http://schemas.openxmlformats.org/drawingml/2006/main" noGrp="1"/>
          </p:cNvSpPr>
          <p:nvPr/>
        </p:nvSpPr>
        <p:spPr>
          <a:xfrm xmlns:a="http://schemas.openxmlformats.org/drawingml/2006/main">
            <a:off x="7124700" y="47053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7" name="lasso-caption">
            <a:extLst xmlns:a="http://schemas.openxmlformats.org/drawingml/2006/main">
              <a:ext uri="{FF2B5EF4-FFF2-40B4-BE49-F238E27FC236}">
                <a16:creationId xmlns:a16="http://schemas.microsoft.com/office/drawing/2014/main" id="{841C1741-7165-46DB-ADC1-9D91428800CA}"/>
              </a:ext>
            </a:extLst>
          </p:cNvPr>
          <p:cNvSpPr>
            <a:spLocks xmlns:a="http://schemas.openxmlformats.org/drawingml/2006/main" noGrp="1"/>
          </p:cNvSpPr>
          <p:nvPr/>
        </p:nvSpPr>
        <p:spPr>
          <a:xfrm xmlns:a="http://schemas.openxmlformats.org/drawingml/2006/main">
            <a:off x="6248400" y="525780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8" name="rule-48-674">
            <a:extLst xmlns:a="http://schemas.openxmlformats.org/drawingml/2006/main">
              <a:ext uri="{FF2B5EF4-FFF2-40B4-BE49-F238E27FC236}">
                <a16:creationId xmlns:a16="http://schemas.microsoft.com/office/drawing/2014/main" id="{9CB94CE9-8FE1-49E7-9622-3DF93FE7D903}"/>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footer-left">
            <a:extLst xmlns:a="http://schemas.openxmlformats.org/drawingml/2006/main">
              <a:ext uri="{FF2B5EF4-FFF2-40B4-BE49-F238E27FC236}">
                <a16:creationId xmlns:a16="http://schemas.microsoft.com/office/drawing/2014/main" id="{CFC81144-E0DA-422C-ADB6-32D3E98C9D2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0" name="footer-right">
            <a:extLst xmlns:a="http://schemas.openxmlformats.org/drawingml/2006/main">
              <a:ext uri="{FF2B5EF4-FFF2-40B4-BE49-F238E27FC236}">
                <a16:creationId xmlns:a16="http://schemas.microsoft.com/office/drawing/2014/main" id="{79782731-636A-4A2F-A481-236828BFEDD1}"/>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15/50</a:t>
            </a:r>
          </a:p>
        </p:txBody>
      </p:sp>
    </p:spTree>
    <p:extLst>
      <p:ext uri="{BB962C8B-B14F-4D97-AF65-F5344CB8AC3E}">
        <p14:creationId xmlns:p14="http://schemas.microsoft.com/office/powerpoint/2010/main" val="127273204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C80C528-1474-405D-9C90-DF81DDD43E55}"/>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VOCABULARY</a:t>
            </a:r>
          </a:p>
        </p:txBody>
      </p:sp>
      <p:sp>
        <p:nvSpPr>
          <p:cNvPr id="2" name="slide-title">
            <a:extLst xmlns:a="http://schemas.openxmlformats.org/drawingml/2006/main">
              <a:ext uri="{FF2B5EF4-FFF2-40B4-BE49-F238E27FC236}">
                <a16:creationId xmlns:a16="http://schemas.microsoft.com/office/drawing/2014/main" id="{32CF42EB-3729-49E9-8055-C03019AE6F5B}"/>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estimator</a:t>
            </a:r>
          </a:p>
        </p:txBody>
      </p:sp>
      <p:sp>
        <p:nvSpPr>
          <p:cNvPr id="3" name="rule-48-137">
            <a:extLst xmlns:a="http://schemas.openxmlformats.org/drawingml/2006/main">
              <a:ext uri="{FF2B5EF4-FFF2-40B4-BE49-F238E27FC236}">
                <a16:creationId xmlns:a16="http://schemas.microsoft.com/office/drawing/2014/main" id="{D1EEFB01-4024-4D4F-85BC-DDECF0CA954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term-number-0">
            <a:extLst xmlns:a="http://schemas.openxmlformats.org/drawingml/2006/main">
              <a:ext uri="{FF2B5EF4-FFF2-40B4-BE49-F238E27FC236}">
                <a16:creationId xmlns:a16="http://schemas.microsoft.com/office/drawing/2014/main" id="{7338BD65-F7FE-4651-AF04-274443A68BC4}"/>
              </a:ext>
            </a:extLst>
          </p:cNvPr>
          <p:cNvSpPr>
            <a:spLocks xmlns:a="http://schemas.openxmlformats.org/drawingml/2006/main" noGrp="1"/>
          </p:cNvSpPr>
          <p:nvPr/>
        </p:nvSpPr>
        <p:spPr>
          <a:xfrm xmlns:a="http://schemas.openxmlformats.org/drawingml/2006/main">
            <a:off x="4572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01</a:t>
            </a:r>
          </a:p>
        </p:txBody>
      </p:sp>
      <p:sp>
        <p:nvSpPr>
          <p:cNvPr id="5" name="term-title-0">
            <a:extLst xmlns:a="http://schemas.openxmlformats.org/drawingml/2006/main">
              <a:ext uri="{FF2B5EF4-FFF2-40B4-BE49-F238E27FC236}">
                <a16:creationId xmlns:a16="http://schemas.microsoft.com/office/drawing/2014/main" id="{F01754AE-2F8B-477A-8B8B-F186A806271F}"/>
              </a:ext>
            </a:extLst>
          </p:cNvPr>
          <p:cNvSpPr>
            <a:spLocks xmlns:a="http://schemas.openxmlformats.org/drawingml/2006/main" noGrp="1"/>
          </p:cNvSpPr>
          <p:nvPr/>
        </p:nvSpPr>
        <p:spPr>
          <a:xfrm xmlns:a="http://schemas.openxmlformats.org/drawingml/2006/main">
            <a:off x="4572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The estimator</a:t>
            </a:r>
          </a:p>
        </p:txBody>
      </p:sp>
      <p:sp>
        <p:nvSpPr>
          <p:cNvPr id="6" name="rule-48-316">
            <a:extLst xmlns:a="http://schemas.openxmlformats.org/drawingml/2006/main">
              <a:ext uri="{FF2B5EF4-FFF2-40B4-BE49-F238E27FC236}">
                <a16:creationId xmlns:a16="http://schemas.microsoft.com/office/drawing/2014/main" id="{716702AF-1287-4D7F-8496-1CA5C2E0C404}"/>
              </a:ext>
            </a:extLst>
          </p:cNvPr>
          <p:cNvSpPr>
            <a:spLocks xmlns:a="http://schemas.openxmlformats.org/drawingml/2006/main" noGrp="1"/>
          </p:cNvSpPr>
          <p:nvPr/>
        </p:nvSpPr>
        <p:spPr>
          <a:xfrm xmlns:a="http://schemas.openxmlformats.org/drawingml/2006/main">
            <a:off x="4572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term-body-0">
            <a:extLst xmlns:a="http://schemas.openxmlformats.org/drawingml/2006/main">
              <a:ext uri="{FF2B5EF4-FFF2-40B4-BE49-F238E27FC236}">
                <a16:creationId xmlns:a16="http://schemas.microsoft.com/office/drawing/2014/main" id="{E3972F18-A2EB-47F0-8106-2F5D03C26627}"/>
              </a:ext>
            </a:extLst>
          </p:cNvPr>
          <p:cNvSpPr>
            <a:spLocks xmlns:a="http://schemas.openxmlformats.org/drawingml/2006/main" noGrp="1"/>
          </p:cNvSpPr>
          <p:nvPr/>
        </p:nvSpPr>
        <p:spPr>
          <a:xfrm xmlns:a="http://schemas.openxmlformats.org/drawingml/2006/main">
            <a:off x="4572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 (X^ᵀ X + λ I)^-1 X^ᵀ y Adding λ I lifts every eigenvalue of X^ᵀ X by λ.</a:t>
            </a:r>
          </a:p>
        </p:txBody>
      </p:sp>
      <p:sp>
        <p:nvSpPr>
          <p:cNvPr id="8" name="term-number-1">
            <a:extLst xmlns:a="http://schemas.openxmlformats.org/drawingml/2006/main">
              <a:ext uri="{FF2B5EF4-FFF2-40B4-BE49-F238E27FC236}">
                <a16:creationId xmlns:a16="http://schemas.microsoft.com/office/drawing/2014/main" id="{005594F1-755F-458A-8559-7C8E9144F924}"/>
              </a:ext>
            </a:extLst>
          </p:cNvPr>
          <p:cNvSpPr>
            <a:spLocks xmlns:a="http://schemas.openxmlformats.org/drawingml/2006/main" noGrp="1"/>
          </p:cNvSpPr>
          <p:nvPr/>
        </p:nvSpPr>
        <p:spPr>
          <a:xfrm xmlns:a="http://schemas.openxmlformats.org/drawingml/2006/main">
            <a:off x="424815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02</a:t>
            </a:r>
          </a:p>
        </p:txBody>
      </p:sp>
      <p:sp>
        <p:nvSpPr>
          <p:cNvPr id="9" name="term-title-1">
            <a:extLst xmlns:a="http://schemas.openxmlformats.org/drawingml/2006/main">
              <a:ext uri="{FF2B5EF4-FFF2-40B4-BE49-F238E27FC236}">
                <a16:creationId xmlns:a16="http://schemas.microsoft.com/office/drawing/2014/main" id="{7805FB6D-5B4F-44D6-B108-C5C40F0C3A6E}"/>
              </a:ext>
            </a:extLst>
          </p:cNvPr>
          <p:cNvSpPr>
            <a:spLocks xmlns:a="http://schemas.openxmlformats.org/drawingml/2006/main" noGrp="1"/>
          </p:cNvSpPr>
          <p:nvPr/>
        </p:nvSpPr>
        <p:spPr>
          <a:xfrm xmlns:a="http://schemas.openxmlformats.org/drawingml/2006/main">
            <a:off x="424815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λ</a:t>
            </a:r>
          </a:p>
        </p:txBody>
      </p:sp>
      <p:sp>
        <p:nvSpPr>
          <p:cNvPr id="10" name="rule-446-316">
            <a:extLst xmlns:a="http://schemas.openxmlformats.org/drawingml/2006/main">
              <a:ext uri="{FF2B5EF4-FFF2-40B4-BE49-F238E27FC236}">
                <a16:creationId xmlns:a16="http://schemas.microsoft.com/office/drawing/2014/main" id="{00FB1CC3-E5B4-4416-B665-45C9D71B49F6}"/>
              </a:ext>
            </a:extLst>
          </p:cNvPr>
          <p:cNvSpPr>
            <a:spLocks xmlns:a="http://schemas.openxmlformats.org/drawingml/2006/main" noGrp="1"/>
          </p:cNvSpPr>
          <p:nvPr/>
        </p:nvSpPr>
        <p:spPr>
          <a:xfrm xmlns:a="http://schemas.openxmlformats.org/drawingml/2006/main">
            <a:off x="4248150" y="3009900"/>
            <a:ext cx="3143250" cy="381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term-body-1">
            <a:extLst xmlns:a="http://schemas.openxmlformats.org/drawingml/2006/main">
              <a:ext uri="{FF2B5EF4-FFF2-40B4-BE49-F238E27FC236}">
                <a16:creationId xmlns:a16="http://schemas.microsoft.com/office/drawing/2014/main" id="{059316DC-5928-4A81-B7B7-E763B018742A}"/>
              </a:ext>
            </a:extLst>
          </p:cNvPr>
          <p:cNvSpPr>
            <a:spLocks xmlns:a="http://schemas.openxmlformats.org/drawingml/2006/main" noGrp="1"/>
          </p:cNvSpPr>
          <p:nvPr/>
        </p:nvSpPr>
        <p:spPr>
          <a:xfrm xmlns:a="http://schemas.openxmlformats.org/drawingml/2006/main">
            <a:off x="424815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A matrix with all eigenvalues positive is invertible — for any λ &gt; 0, even when p &gt; n.</a:t>
            </a:r>
          </a:p>
        </p:txBody>
      </p:sp>
      <p:sp>
        <p:nvSpPr>
          <p:cNvPr id="12" name="term-number-2">
            <a:extLst xmlns:a="http://schemas.openxmlformats.org/drawingml/2006/main">
              <a:ext uri="{FF2B5EF4-FFF2-40B4-BE49-F238E27FC236}">
                <a16:creationId xmlns:a16="http://schemas.microsoft.com/office/drawing/2014/main" id="{6E07A6F4-CDBF-4E01-8BB0-297F8C6DBD54}"/>
              </a:ext>
            </a:extLst>
          </p:cNvPr>
          <p:cNvSpPr>
            <a:spLocks xmlns:a="http://schemas.openxmlformats.org/drawingml/2006/main" noGrp="1"/>
          </p:cNvSpPr>
          <p:nvPr/>
        </p:nvSpPr>
        <p:spPr>
          <a:xfrm xmlns:a="http://schemas.openxmlformats.org/drawingml/2006/main">
            <a:off x="80391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03</a:t>
            </a:r>
          </a:p>
        </p:txBody>
      </p:sp>
      <p:sp>
        <p:nvSpPr>
          <p:cNvPr id="13" name="term-title-2">
            <a:extLst xmlns:a="http://schemas.openxmlformats.org/drawingml/2006/main">
              <a:ext uri="{FF2B5EF4-FFF2-40B4-BE49-F238E27FC236}">
                <a16:creationId xmlns:a16="http://schemas.microsoft.com/office/drawing/2014/main" id="{F4A2BCEF-5119-4B1A-9864-6A99D56BAC29}"/>
              </a:ext>
            </a:extLst>
          </p:cNvPr>
          <p:cNvSpPr>
            <a:spLocks xmlns:a="http://schemas.openxmlformats.org/drawingml/2006/main" noGrp="1"/>
          </p:cNvSpPr>
          <p:nvPr/>
        </p:nvSpPr>
        <p:spPr>
          <a:xfrm xmlns:a="http://schemas.openxmlformats.org/drawingml/2006/main">
            <a:off x="80391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Shrinkage</a:t>
            </a:r>
          </a:p>
        </p:txBody>
      </p:sp>
      <p:sp>
        <p:nvSpPr>
          <p:cNvPr id="14" name="rule-844-316">
            <a:extLst xmlns:a="http://schemas.openxmlformats.org/drawingml/2006/main">
              <a:ext uri="{FF2B5EF4-FFF2-40B4-BE49-F238E27FC236}">
                <a16:creationId xmlns:a16="http://schemas.microsoft.com/office/drawing/2014/main" id="{DAB5D43D-6D70-4305-AC58-DFC22D0252C3}"/>
              </a:ext>
            </a:extLst>
          </p:cNvPr>
          <p:cNvSpPr>
            <a:spLocks xmlns:a="http://schemas.openxmlformats.org/drawingml/2006/main" noGrp="1"/>
          </p:cNvSpPr>
          <p:nvPr/>
        </p:nvSpPr>
        <p:spPr>
          <a:xfrm xmlns:a="http://schemas.openxmlformats.org/drawingml/2006/main">
            <a:off x="80391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term-body-2">
            <a:extLst xmlns:a="http://schemas.openxmlformats.org/drawingml/2006/main">
              <a:ext uri="{FF2B5EF4-FFF2-40B4-BE49-F238E27FC236}">
                <a16:creationId xmlns:a16="http://schemas.microsoft.com/office/drawing/2014/main" id="{FF48416B-E5CE-4B16-9704-0F78DC32D588}"/>
              </a:ext>
            </a:extLst>
          </p:cNvPr>
          <p:cNvSpPr>
            <a:spLocks xmlns:a="http://schemas.openxmlformats.org/drawingml/2006/main" noGrp="1"/>
          </p:cNvSpPr>
          <p:nvPr/>
        </p:nvSpPr>
        <p:spPr>
          <a:xfrm xmlns:a="http://schemas.openxmlformats.org/drawingml/2006/main">
            <a:off x="80391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Standardise inside the pipeline</a:t>
            </a:r>
          </a:p>
        </p:txBody>
      </p:sp>
      <p:sp>
        <p:nvSpPr>
          <p:cNvPr id="16" name="definition-footer">
            <a:extLst xmlns:a="http://schemas.openxmlformats.org/drawingml/2006/main">
              <a:ext uri="{FF2B5EF4-FFF2-40B4-BE49-F238E27FC236}">
                <a16:creationId xmlns:a16="http://schemas.microsoft.com/office/drawing/2014/main" id="{4AABB398-75BA-48E7-BE04-A6E55D7E9824}"/>
              </a:ext>
            </a:extLst>
          </p:cNvPr>
          <p:cNvSpPr>
            <a:spLocks xmlns:a="http://schemas.openxmlformats.org/drawingml/2006/main" noGrp="1"/>
          </p:cNvSpPr>
          <p:nvPr/>
        </p:nvSpPr>
        <p:spPr>
          <a:xfrm xmlns:a="http://schemas.openxmlformats.org/drawingml/2006/main">
            <a:off x="457200" y="55054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563EB"/>
                </a:solidFill>
                <a:latin typeface="Helvetica Neue"/>
                <a:ea typeface="Helvetica Neue"/>
                <a:cs typeface="Helvetica Neue"/>
              </a:defRPr>
            </a:pPr>
            <a:r>
              <a:rPr sz="1575" b="1">
                <a:solidFill>
                  <a:srgbClr val="2563EB"/>
                </a:solidFill>
                <a:latin typeface="Helvetica Neue"/>
                <a:ea typeface="Helvetica Neue"/>
                <a:cs typeface="Helvetica Neue"/>
              </a:rPr>
              <a:t>A definition becomes useful when it changes what you compute or what you are allowed to claim.</a:t>
            </a:r>
          </a:p>
        </p:txBody>
      </p:sp>
      <p:sp>
        <p:nvSpPr>
          <p:cNvPr id="17" name="rule-48-674">
            <a:extLst xmlns:a="http://schemas.openxmlformats.org/drawingml/2006/main">
              <a:ext uri="{FF2B5EF4-FFF2-40B4-BE49-F238E27FC236}">
                <a16:creationId xmlns:a16="http://schemas.microsoft.com/office/drawing/2014/main" id="{2ACC8367-FA52-47E9-B5E8-8EE1E910C888}"/>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B07CDD74-6159-4192-BE71-6BCA29BEE82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32856D94-272E-475F-87D8-01F6F8E0BC83}"/>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16/50</a:t>
            </a:r>
          </a:p>
        </p:txBody>
      </p:sp>
    </p:spTree>
    <p:extLst>
      <p:ext uri="{BB962C8B-B14F-4D97-AF65-F5344CB8AC3E}">
        <p14:creationId xmlns:p14="http://schemas.microsoft.com/office/powerpoint/2010/main" val="18300806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Ridge in the SVD basis</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hat y^ridge = Σ_j=1^p u_j (d_j²)/(d_j² + λ) u_j^ᵀ y</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39"/>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With X = UDV^ᵀ — Session 02's singular value decomposition: OLS is the same sum with every factor equal to 1. So ridge does not scale coefficients down uniformly. It multiplies the j-th principal direction of</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42"/>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With X = UDV^ᵀ — Session 02's singular value decomposition: OLS is the same sum with every factor…</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c09b0265897248a6"/>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17/50</a:t>
            </a:r>
          </a:p>
        </p:txBody>
      </p:sp>
    </p:spTree>
    <p:extLst>
      <p:ext uri="{BB962C8B-B14F-4D97-AF65-F5344CB8AC3E}">
        <p14:creationId xmlns:p14="http://schemas.microsoft.com/office/powerpoint/2010/main" val="1704592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HOW</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Ridge in the SVD basis · read the mathematics</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With X = UDV^ᵀ — Session 02's singular value decomposition: OLS is the same sum with every factor…</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So ridge does not scale coefficients down uniformly.</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It multiplies the j-th principal direction of</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With X = UDV^ᵀ — Session 02's singular value decomposition: OLS is the same sum with every factor equal…</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18/50</a:t>
            </a:r>
          </a:p>
        </p:txBody>
      </p:sp>
    </p:spTree>
    <p:extLst>
      <p:ext uri="{BB962C8B-B14F-4D97-AF65-F5344CB8AC3E}">
        <p14:creationId xmlns:p14="http://schemas.microsoft.com/office/powerpoint/2010/main" val="20821141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VISUAL EXPLANATION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shrinkage factor, drawn · Python</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READ THE FIGURE</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002"/>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lam = np.logspace(-3, 3, 300) fig, axes = plt.subplots(1, 2, figsize=(7.6, 2.9)) for dj, c, lab in…</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Fit a path of λ values</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19/50</a:t>
            </a:r>
          </a:p>
        </p:txBody>
      </p:sp>
      <p:sp>
        <p:nvSpPr>
          <p:cNvPr id="35" name="media-matte-regularisation_comparison.png">
            <a:extLst xmlns:a="http://schemas.openxmlformats.org/drawingml/2006/main">
              <a:ext uri="{FF2B5EF4-FFF2-40B4-BE49-F238E27FC236}">
                <a16:creationId xmlns:a16="http://schemas.microsoft.com/office/drawing/2014/main" id="{1996EDAF-DB2D-42EA-BD8A-69530617E39E}"/>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23530ac09bed4c2a"/>
          <a:stretch xmlns:a="http://schemas.openxmlformats.org/drawingml/2006/main"/>
        </p:blipFill>
        <p:spPr>
          <a:xfrm xmlns:a="http://schemas.openxmlformats.org/drawingml/2006/main">
            <a:off x="457200" y="1843088"/>
            <a:ext cx="6858000" cy="3857625"/>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D265BB83-F1B8-4BDC-B874-2B9DE4239B3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PYTHON</a:t>
            </a:r>
          </a:p>
        </p:txBody>
      </p:sp>
      <p:sp>
        <p:nvSpPr>
          <p:cNvPr id="2" name="slide-title">
            <a:extLst xmlns:a="http://schemas.openxmlformats.org/drawingml/2006/main">
              <a:ext uri="{FF2B5EF4-FFF2-40B4-BE49-F238E27FC236}">
                <a16:creationId xmlns:a16="http://schemas.microsoft.com/office/drawing/2014/main" id="{53F75BA3-90FD-4863-BCE5-6692E8373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Why that shape is the whole point</a:t>
            </a:r>
          </a:p>
        </p:txBody>
      </p:sp>
      <p:sp>
        <p:nvSpPr>
          <p:cNvPr id="3" name="rule-48-137">
            <a:extLst xmlns:a="http://schemas.openxmlformats.org/drawingml/2006/main">
              <a:ext uri="{FF2B5EF4-FFF2-40B4-BE49-F238E27FC236}">
                <a16:creationId xmlns:a16="http://schemas.microsoft.com/office/drawing/2014/main" id="{92EE19D2-9919-4F0E-8E33-AF8EDFA276BB}"/>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code-location-title">
            <a:extLst xmlns:a="http://schemas.openxmlformats.org/drawingml/2006/main">
              <a:ext uri="{FF2B5EF4-FFF2-40B4-BE49-F238E27FC236}">
                <a16:creationId xmlns:a16="http://schemas.microsoft.com/office/drawing/2014/main" id="{C87787FD-A427-4748-A6C3-58F3F7D6284B}"/>
              </a:ext>
            </a:extLst>
          </p:cNvPr>
          <p:cNvSpPr>
            <a:spLocks xmlns:a="http://schemas.openxmlformats.org/drawingml/2006/main" noGrp="1"/>
          </p:cNvSpPr>
          <p:nvPr/>
        </p:nvSpPr>
        <p:spPr>
          <a:xfrm xmlns:a="http://schemas.openxmlformats.org/drawingml/2006/main">
            <a:off x="457200" y="16573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START FROM THE DESKTOP CLONE</a:t>
            </a:r>
          </a:p>
        </p:txBody>
      </p:sp>
      <p:sp>
        <p:nvSpPr>
          <p:cNvPr id="5" name="code-location">
            <a:extLst xmlns:a="http://schemas.openxmlformats.org/drawingml/2006/main">
              <a:ext uri="{FF2B5EF4-FFF2-40B4-BE49-F238E27FC236}">
                <a16:creationId xmlns:a16="http://schemas.microsoft.com/office/drawing/2014/main" id="{491146B4-C834-4DF2-A1FA-8F7CB3B94ADE}"/>
              </a:ext>
            </a:extLst>
          </p:cNvPr>
          <p:cNvSpPr>
            <a:spLocks xmlns:a="http://schemas.openxmlformats.org/drawingml/2006/main" noGrp="1"/>
          </p:cNvSpPr>
          <p:nvPr/>
        </p:nvSpPr>
        <p:spPr>
          <a:xfrm xmlns:a="http://schemas.openxmlformats.org/drawingml/2006/main">
            <a:off x="457200" y="20764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~/Desktop/quantitative-methods</a:t>
            </a:r>
          </a:p>
        </p:txBody>
      </p:sp>
      <p:sp>
        <p:nvSpPr>
          <p:cNvPr id="6" name="code-command-title">
            <a:extLst xmlns:a="http://schemas.openxmlformats.org/drawingml/2006/main">
              <a:ext uri="{FF2B5EF4-FFF2-40B4-BE49-F238E27FC236}">
                <a16:creationId xmlns:a16="http://schemas.microsoft.com/office/drawing/2014/main" id="{AC12E83B-F78A-4AAF-911E-6E391B6FE570}"/>
              </a:ext>
            </a:extLst>
          </p:cNvPr>
          <p:cNvSpPr>
            <a:spLocks xmlns:a="http://schemas.openxmlformats.org/drawingml/2006/main" noGrp="1"/>
          </p:cNvSpPr>
          <p:nvPr/>
        </p:nvSpPr>
        <p:spPr>
          <a:xfrm xmlns:a="http://schemas.openxmlformats.org/drawingml/2006/main">
            <a:off x="457200" y="2838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RUN THE COMPLETE SESSION DEMO</a:t>
            </a:r>
          </a:p>
        </p:txBody>
      </p:sp>
      <p:sp>
        <p:nvSpPr>
          <p:cNvPr id="7" name="code-command">
            <a:extLst xmlns:a="http://schemas.openxmlformats.org/drawingml/2006/main">
              <a:ext uri="{FF2B5EF4-FFF2-40B4-BE49-F238E27FC236}">
                <a16:creationId xmlns:a16="http://schemas.microsoft.com/office/drawing/2014/main" id="{14A1E7E7-4C85-4DD1-943B-12D88B761A4B}"/>
              </a:ext>
            </a:extLst>
          </p:cNvPr>
          <p:cNvSpPr>
            <a:spLocks xmlns:a="http://schemas.openxmlformats.org/drawingml/2006/main" noGrp="1"/>
          </p:cNvSpPr>
          <p:nvPr/>
        </p:nvSpPr>
        <p:spPr>
          <a:xfrm xmlns:a="http://schemas.openxmlformats.org/drawingml/2006/main">
            <a:off x="457200" y="3276600"/>
            <a:ext cx="4953000" cy="14097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33350" tIns="114300" rIns="133350" bIns="114300" anchor="t">
            <a:normAutofit fontScale="100000"/>
          </a:bodyPr>
          <a:lstStyle xmlns:a="http://schemas.openxmlformats.org/drawingml/2006/main"/>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~/Desktop/quantitative-methods</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source .venv/bin/activate</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05-ridge-lasso-elastic-net/demo</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python session05_regularisation_demo.py</a:t>
            </a:r>
          </a:p>
        </p:txBody>
      </p:sp>
      <p:sp>
        <p:nvSpPr>
          <p:cNvPr id="8" name="code-windows">
            <a:extLst xmlns:a="http://schemas.openxmlformats.org/drawingml/2006/main">
              <a:ext uri="{FF2B5EF4-FFF2-40B4-BE49-F238E27FC236}">
                <a16:creationId xmlns:a16="http://schemas.microsoft.com/office/drawing/2014/main" id="{2B832BDB-F4EF-477C-8AF7-F9AEFB62B6D4}"/>
              </a:ext>
            </a:extLst>
          </p:cNvPr>
          <p:cNvSpPr>
            <a:spLocks xmlns:a="http://schemas.openxmlformats.org/drawingml/2006/main" noGrp="1"/>
          </p:cNvSpPr>
          <p:nvPr/>
        </p:nvSpPr>
        <p:spPr>
          <a:xfrm xmlns:a="http://schemas.openxmlformats.org/drawingml/2006/main">
            <a:off x="457200" y="4819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536273"/>
                </a:solidFill>
                <a:latin typeface="Menlo"/>
                <a:ea typeface="Menlo"/>
                <a:cs typeface="Menlo"/>
              </a:defRPr>
            </a:pPr>
            <a:r>
              <a:rPr sz="1200" b="0">
                <a:solidFill>
                  <a:srgbClr val="536273"/>
                </a:solidFill>
                <a:latin typeface="Menlo"/>
                <a:ea typeface="Menlo"/>
                <a:cs typeface="Menlo"/>
              </a:rPr>
              <a:t>Windows activation: .venv\Scripts\activate</a:t>
            </a:r>
          </a:p>
        </p:txBody>
      </p:sp>
      <p:sp>
        <p:nvSpPr>
          <p:cNvPr id="9" name="code-snippet">
            <a:extLst xmlns:a="http://schemas.openxmlformats.org/drawingml/2006/main">
              <a:ext uri="{FF2B5EF4-FFF2-40B4-BE49-F238E27FC236}">
                <a16:creationId xmlns:a16="http://schemas.microsoft.com/office/drawing/2014/main" id="{99265DF0-C641-4157-A5BC-21B08C598F0D}"/>
              </a:ext>
            </a:extLst>
          </p:cNvPr>
          <p:cNvSpPr>
            <a:spLocks xmlns:a="http://schemas.openxmlformats.org/drawingml/2006/main" noGrp="1"/>
          </p:cNvSpPr>
          <p:nvPr/>
        </p:nvSpPr>
        <p:spPr>
          <a:xfrm xmlns:a="http://schemas.openxmlformats.org/drawingml/2006/main">
            <a:off x="5943600" y="1657350"/>
            <a:ext cx="5791200" cy="33909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71450" tIns="152400" rIns="171450" bIns="152400" anchor="t">
            <a:normAutofit fontScale="100000"/>
          </a:bodyPr>
          <a:lstStyle xmlns:a="http://schemas.openxmlformats.org/drawingml/2006/main"/>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import numpy as np</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sklearn.linear_model import RidgeCV</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sklearn.pipeline import make_pipeline</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sklearn.preprocessing import StandardScaler</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X = np.arange(30.).reshape(10,3); y = np.arange(10.)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m = make_pipeline(StandardScaler(), RidgeCV([.1,1,10])).fit(X,y)</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print(m[-1].alpha_, m.predict(X[:2]))</a:t>
            </a:r>
          </a:p>
        </p:txBody>
      </p:sp>
      <p:sp>
        <p:nvSpPr>
          <p:cNvPr id="10" name="code-caption">
            <a:extLst xmlns:a="http://schemas.openxmlformats.org/drawingml/2006/main">
              <a:ext uri="{FF2B5EF4-FFF2-40B4-BE49-F238E27FC236}">
                <a16:creationId xmlns:a16="http://schemas.microsoft.com/office/drawing/2014/main" id="{78289761-A279-4315-A997-8383071B2C4C}"/>
              </a:ext>
            </a:extLst>
          </p:cNvPr>
          <p:cNvSpPr>
            <a:spLocks xmlns:a="http://schemas.openxmlformats.org/drawingml/2006/main" noGrp="1"/>
          </p:cNvSpPr>
          <p:nvPr/>
        </p:nvSpPr>
        <p:spPr>
          <a:xfrm xmlns:a="http://schemas.openxmlformats.org/drawingml/2006/main">
            <a:off x="5943600" y="5257800"/>
            <a:ext cx="579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Copy/paste the terminal block exactly. The full demo imports everything it needs, sets its seed, and saves the figure locally.</a:t>
            </a:r>
          </a:p>
        </p:txBody>
      </p:sp>
      <p:sp>
        <p:nvSpPr>
          <p:cNvPr id="11" name="rule-48-674">
            <a:extLst xmlns:a="http://schemas.openxmlformats.org/drawingml/2006/main">
              <a:ext uri="{FF2B5EF4-FFF2-40B4-BE49-F238E27FC236}">
                <a16:creationId xmlns:a16="http://schemas.microsoft.com/office/drawing/2014/main" id="{7EDA6DC4-E18A-4C38-A441-1FC099BE88B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2" name="footer-left">
            <a:extLst xmlns:a="http://schemas.openxmlformats.org/drawingml/2006/main">
              <a:ext uri="{FF2B5EF4-FFF2-40B4-BE49-F238E27FC236}">
                <a16:creationId xmlns:a16="http://schemas.microsoft.com/office/drawing/2014/main" id="{8A5543C0-ECCF-4613-9DDB-DF2CC736ED61}"/>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3" name="footer-right">
            <a:extLst xmlns:a="http://schemas.openxmlformats.org/drawingml/2006/main">
              <a:ext uri="{FF2B5EF4-FFF2-40B4-BE49-F238E27FC236}">
                <a16:creationId xmlns:a16="http://schemas.microsoft.com/office/drawing/2014/main" id="{DD8BF317-E931-4DAD-8D22-ED6F7BDC9F26}"/>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20/50</a:t>
            </a:r>
          </a:p>
        </p:txBody>
      </p:sp>
    </p:spTree>
    <p:extLst>
      <p:ext uri="{BB962C8B-B14F-4D97-AF65-F5344CB8AC3E}">
        <p14:creationId xmlns:p14="http://schemas.microsoft.com/office/powerpoint/2010/main" val="20656830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7FCBC34-3ADA-4F3D-A67E-7B4F390009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CED8EE5E-D9DC-4927-93A4-086D2A718E99}"/>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Ridge in three lines, explained</a:t>
            </a:r>
          </a:p>
        </p:txBody>
      </p:sp>
      <p:sp>
        <p:nvSpPr>
          <p:cNvPr id="3" name="rule-48-137">
            <a:extLst xmlns:a="http://schemas.openxmlformats.org/drawingml/2006/main">
              <a:ext uri="{FF2B5EF4-FFF2-40B4-BE49-F238E27FC236}">
                <a16:creationId xmlns:a16="http://schemas.microsoft.com/office/drawing/2014/main" id="{0C1EC8C7-5606-4238-9546-69CBA9C7FA2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C657BB0B-D025-4398-98B9-996A671B113A}"/>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Ridge: min ||y−Xβ||² + λ||β||²₂</a:t>
            </a:r>
          </a:p>
        </p:txBody>
      </p:sp>
      <p:sp>
        <p:nvSpPr>
          <p:cNvPr id="5" name="equation-reading">
            <a:extLst xmlns:a="http://schemas.openxmlformats.org/drawingml/2006/main">
              <a:ext uri="{FF2B5EF4-FFF2-40B4-BE49-F238E27FC236}">
                <a16:creationId xmlns:a16="http://schemas.microsoft.com/office/drawing/2014/main" id="{714B80FE-9AF8-401C-92AB-082201BF4482}"/>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3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mod = makepipeline( StandardScaler(), # 1. penalty is scale-dependent: standardise first RidgeCV(alphas=np.logspace(-3, 3, 60)) # 2. pick lambda by leave-one-out CV over a log grid</a:t>
            </a:r>
          </a:p>
        </p:txBody>
      </p:sp>
      <p:sp>
        <p:nvSpPr>
          <p:cNvPr id="6" name="equation-prompt">
            <a:extLst xmlns:a="http://schemas.openxmlformats.org/drawingml/2006/main">
              <a:ext uri="{FF2B5EF4-FFF2-40B4-BE49-F238E27FC236}">
                <a16:creationId xmlns:a16="http://schemas.microsoft.com/office/drawing/2014/main" id="{A9F294A1-C407-436C-AAC6-01F92C2F39B6}"/>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8DC9B53F-030D-4720-B264-6C0B22DC2484}"/>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mod = makepipeline( StandardScaler(), # 1.</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2fd669b4d26b4a58"/>
          </a:graphicData>
        </a:graphic>
      </p:graphicFrame>
      <p:sp>
        <p:nvSpPr>
          <p:cNvPr id="9" name="rule-48-674">
            <a:extLst xmlns:a="http://schemas.openxmlformats.org/drawingml/2006/main">
              <a:ext uri="{FF2B5EF4-FFF2-40B4-BE49-F238E27FC236}">
                <a16:creationId xmlns:a16="http://schemas.microsoft.com/office/drawing/2014/main" id="{F1129F64-421B-4DD7-BBD8-606313F1BDB6}"/>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A89C2CB-2EB7-40CD-A29F-40299CACE7A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C47D3986-0C78-4300-9AA7-F583673D21A8}"/>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21/50</a:t>
            </a:r>
          </a:p>
        </p:txBody>
      </p:sp>
    </p:spTree>
    <p:extLst>
      <p:ext uri="{BB962C8B-B14F-4D97-AF65-F5344CB8AC3E}">
        <p14:creationId xmlns:p14="http://schemas.microsoft.com/office/powerpoint/2010/main" val="20292119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14CB035E-CCD8-4A3B-A6BE-26B69106595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F64E5443-A695-44DC-9C9B-9C0C714DDF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Bias–variance, explicitly</a:t>
            </a:r>
          </a:p>
        </p:txBody>
      </p:sp>
      <p:sp>
        <p:nvSpPr>
          <p:cNvPr id="3" name="rule-48-137">
            <a:extLst xmlns:a="http://schemas.openxmlformats.org/drawingml/2006/main">
              <a:ext uri="{FF2B5EF4-FFF2-40B4-BE49-F238E27FC236}">
                <a16:creationId xmlns:a16="http://schemas.microsoft.com/office/drawing/2014/main" id="{FD5A2F72-BE27-40E4-ACC4-EA19C0BA21D0}"/>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D66350E3-0AF2-4D03-A9C9-1CDA6751CC2B}"/>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FF9CB8B1-81E5-4609-9EB8-DC2F0B0E5FB0}"/>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That last line is Hoerl and Kennard, 1970, and it genuinely surprised the profession. It should change how you hear the phrase "best unbiased estimator" for the rest of your career.</a:t>
            </a:r>
          </a:p>
        </p:txBody>
      </p:sp>
      <p:sp>
        <p:nvSpPr>
          <p:cNvPr id="6" name="equation-prompt">
            <a:extLst xmlns:a="http://schemas.openxmlformats.org/drawingml/2006/main">
              <a:ext uri="{FF2B5EF4-FFF2-40B4-BE49-F238E27FC236}">
                <a16:creationId xmlns:a16="http://schemas.microsoft.com/office/drawing/2014/main" id="{0FA2A665-22F2-4545-AA88-545C481ECC9A}"/>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636E2140-82E5-4477-8DAF-174ADF36A1F6}"/>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Var(β^ridge-hat) is decreasing in λ</a:t>
            </a:r>
          </a:p>
        </p:txBody>
      </p:sp>
      <p:sp>
        <p:nvSpPr>
          <p:cNvPr id="8" name="lasso-field">
            <a:extLst xmlns:a="http://schemas.openxmlformats.org/drawingml/2006/main">
              <a:ext uri="{FF2B5EF4-FFF2-40B4-BE49-F238E27FC236}">
                <a16:creationId xmlns:a16="http://schemas.microsoft.com/office/drawing/2014/main" id="{3AEA489D-5572-4871-8843-3CD39BB4665D}"/>
              </a:ext>
            </a:extLst>
          </p:cNvPr>
          <p:cNvSpPr>
            <a:spLocks xmlns:a="http://schemas.openxmlformats.org/drawingml/2006/main" noGrp="1"/>
          </p:cNvSpPr>
          <p:nvPr/>
        </p:nvSpPr>
        <p:spPr>
          <a:xfrm xmlns:a="http://schemas.openxmlformats.org/drawingml/2006/main">
            <a:off x="5924550" y="1657350"/>
            <a:ext cx="5810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9" name="lasso-title">
            <a:extLst xmlns:a="http://schemas.openxmlformats.org/drawingml/2006/main">
              <a:ext uri="{FF2B5EF4-FFF2-40B4-BE49-F238E27FC236}">
                <a16:creationId xmlns:a16="http://schemas.microsoft.com/office/drawing/2014/main" id="{9535E93E-1CCE-422C-AD13-048209596BEB}"/>
              </a:ext>
            </a:extLst>
          </p:cNvPr>
          <p:cNvSpPr>
            <a:spLocks xmlns:a="http://schemas.openxmlformats.org/drawingml/2006/main" noGrp="1"/>
          </p:cNvSpPr>
          <p:nvPr/>
        </p:nvSpPr>
        <p:spPr>
          <a:xfrm xmlns:a="http://schemas.openxmlformats.org/drawingml/2006/main">
            <a:off x="6248400" y="1885950"/>
            <a:ext cx="516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10" name="lasso-label-0">
            <a:extLst xmlns:a="http://schemas.openxmlformats.org/drawingml/2006/main">
              <a:ext uri="{FF2B5EF4-FFF2-40B4-BE49-F238E27FC236}">
                <a16:creationId xmlns:a16="http://schemas.microsoft.com/office/drawing/2014/main" id="{5C9C2215-E736-453D-AB74-55E441EFDC64}"/>
              </a:ext>
            </a:extLst>
          </p:cNvPr>
          <p:cNvSpPr>
            <a:spLocks xmlns:a="http://schemas.openxmlformats.org/drawingml/2006/main" noGrp="1"/>
          </p:cNvSpPr>
          <p:nvPr/>
        </p:nvSpPr>
        <p:spPr>
          <a:xfrm xmlns:a="http://schemas.openxmlformats.org/drawingml/2006/main">
            <a:off x="6248400" y="2495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11" name="lasso-track-0">
            <a:extLst xmlns:a="http://schemas.openxmlformats.org/drawingml/2006/main">
              <a:ext uri="{FF2B5EF4-FFF2-40B4-BE49-F238E27FC236}">
                <a16:creationId xmlns:a16="http://schemas.microsoft.com/office/drawing/2014/main" id="{EB3C20BF-E1F6-42E2-886E-AE6E49EC800D}"/>
              </a:ext>
            </a:extLst>
          </p:cNvPr>
          <p:cNvSpPr>
            <a:spLocks xmlns:a="http://schemas.openxmlformats.org/drawingml/2006/main" noGrp="1"/>
          </p:cNvSpPr>
          <p:nvPr/>
        </p:nvSpPr>
        <p:spPr>
          <a:xfrm xmlns:a="http://schemas.openxmlformats.org/drawingml/2006/main">
            <a:off x="6838950" y="25908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2" name="lasso-bar-0">
            <a:extLst xmlns:a="http://schemas.openxmlformats.org/drawingml/2006/main">
              <a:ext uri="{FF2B5EF4-FFF2-40B4-BE49-F238E27FC236}">
                <a16:creationId xmlns:a16="http://schemas.microsoft.com/office/drawing/2014/main" id="{E3DD2267-E857-40C1-9D6C-6DCF45D0582A}"/>
              </a:ext>
            </a:extLst>
          </p:cNvPr>
          <p:cNvSpPr>
            <a:spLocks xmlns:a="http://schemas.openxmlformats.org/drawingml/2006/main" noGrp="1"/>
          </p:cNvSpPr>
          <p:nvPr/>
        </p:nvSpPr>
        <p:spPr>
          <a:xfrm xmlns:a="http://schemas.openxmlformats.org/drawingml/2006/main">
            <a:off x="6838950" y="255270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3" name="lasso-label-1">
            <a:extLst xmlns:a="http://schemas.openxmlformats.org/drawingml/2006/main">
              <a:ext uri="{FF2B5EF4-FFF2-40B4-BE49-F238E27FC236}">
                <a16:creationId xmlns:a16="http://schemas.microsoft.com/office/drawing/2014/main" id="{0521DD6E-BB33-460C-81BF-842ED7FF8D63}"/>
              </a:ext>
            </a:extLst>
          </p:cNvPr>
          <p:cNvSpPr>
            <a:spLocks xmlns:a="http://schemas.openxmlformats.org/drawingml/2006/main" noGrp="1"/>
          </p:cNvSpPr>
          <p:nvPr/>
        </p:nvSpPr>
        <p:spPr>
          <a:xfrm xmlns:a="http://schemas.openxmlformats.org/drawingml/2006/main">
            <a:off x="6248400" y="3048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4" name="lasso-track-1">
            <a:extLst xmlns:a="http://schemas.openxmlformats.org/drawingml/2006/main">
              <a:ext uri="{FF2B5EF4-FFF2-40B4-BE49-F238E27FC236}">
                <a16:creationId xmlns:a16="http://schemas.microsoft.com/office/drawing/2014/main" id="{0B5613AB-DFA2-4B52-920C-1A1928421738}"/>
              </a:ext>
            </a:extLst>
          </p:cNvPr>
          <p:cNvSpPr>
            <a:spLocks xmlns:a="http://schemas.openxmlformats.org/drawingml/2006/main" noGrp="1"/>
          </p:cNvSpPr>
          <p:nvPr/>
        </p:nvSpPr>
        <p:spPr>
          <a:xfrm xmlns:a="http://schemas.openxmlformats.org/drawingml/2006/main">
            <a:off x="6838950" y="31432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5" name="lasso-bar-1">
            <a:extLst xmlns:a="http://schemas.openxmlformats.org/drawingml/2006/main">
              <a:ext uri="{FF2B5EF4-FFF2-40B4-BE49-F238E27FC236}">
                <a16:creationId xmlns:a16="http://schemas.microsoft.com/office/drawing/2014/main" id="{FC318E9C-653B-4A97-A08F-CC361FE10E1D}"/>
              </a:ext>
            </a:extLst>
          </p:cNvPr>
          <p:cNvSpPr>
            <a:spLocks xmlns:a="http://schemas.openxmlformats.org/drawingml/2006/main" noGrp="1"/>
          </p:cNvSpPr>
          <p:nvPr/>
        </p:nvSpPr>
        <p:spPr>
          <a:xfrm xmlns:a="http://schemas.openxmlformats.org/drawingml/2006/main">
            <a:off x="6838950" y="310515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6" name="lasso-label-2">
            <a:extLst xmlns:a="http://schemas.openxmlformats.org/drawingml/2006/main">
              <a:ext uri="{FF2B5EF4-FFF2-40B4-BE49-F238E27FC236}">
                <a16:creationId xmlns:a16="http://schemas.microsoft.com/office/drawing/2014/main" id="{BB85B417-FD35-4D35-BFE8-6CF064394C60}"/>
              </a:ext>
            </a:extLst>
          </p:cNvPr>
          <p:cNvSpPr>
            <a:spLocks xmlns:a="http://schemas.openxmlformats.org/drawingml/2006/main" noGrp="1"/>
          </p:cNvSpPr>
          <p:nvPr/>
        </p:nvSpPr>
        <p:spPr>
          <a:xfrm xmlns:a="http://schemas.openxmlformats.org/drawingml/2006/main">
            <a:off x="6248400" y="36004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7" name="lasso-track-2">
            <a:extLst xmlns:a="http://schemas.openxmlformats.org/drawingml/2006/main">
              <a:ext uri="{FF2B5EF4-FFF2-40B4-BE49-F238E27FC236}">
                <a16:creationId xmlns:a16="http://schemas.microsoft.com/office/drawing/2014/main" id="{792FDFAD-74F1-4037-BECE-5398B27EC5BD}"/>
              </a:ext>
            </a:extLst>
          </p:cNvPr>
          <p:cNvSpPr>
            <a:spLocks xmlns:a="http://schemas.openxmlformats.org/drawingml/2006/main" noGrp="1"/>
          </p:cNvSpPr>
          <p:nvPr/>
        </p:nvSpPr>
        <p:spPr>
          <a:xfrm xmlns:a="http://schemas.openxmlformats.org/drawingml/2006/main">
            <a:off x="6838950" y="36957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8" name="lasso-bar-2">
            <a:extLst xmlns:a="http://schemas.openxmlformats.org/drawingml/2006/main">
              <a:ext uri="{FF2B5EF4-FFF2-40B4-BE49-F238E27FC236}">
                <a16:creationId xmlns:a16="http://schemas.microsoft.com/office/drawing/2014/main" id="{1C0C9592-85A2-4C08-9CF9-094AE63CD9B3}"/>
              </a:ext>
            </a:extLst>
          </p:cNvPr>
          <p:cNvSpPr>
            <a:spLocks xmlns:a="http://schemas.openxmlformats.org/drawingml/2006/main" noGrp="1"/>
          </p:cNvSpPr>
          <p:nvPr/>
        </p:nvSpPr>
        <p:spPr>
          <a:xfrm xmlns:a="http://schemas.openxmlformats.org/drawingml/2006/main">
            <a:off x="6838950" y="365760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9" name="lasso-label-3">
            <a:extLst xmlns:a="http://schemas.openxmlformats.org/drawingml/2006/main">
              <a:ext uri="{FF2B5EF4-FFF2-40B4-BE49-F238E27FC236}">
                <a16:creationId xmlns:a16="http://schemas.microsoft.com/office/drawing/2014/main" id="{B2F67AD9-47AF-4C6C-8C9F-B47E96302F88}"/>
              </a:ext>
            </a:extLst>
          </p:cNvPr>
          <p:cNvSpPr>
            <a:spLocks xmlns:a="http://schemas.openxmlformats.org/drawingml/2006/main" noGrp="1"/>
          </p:cNvSpPr>
          <p:nvPr/>
        </p:nvSpPr>
        <p:spPr>
          <a:xfrm xmlns:a="http://schemas.openxmlformats.org/drawingml/2006/main">
            <a:off x="6248400" y="41529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20" name="lasso-track-3">
            <a:extLst xmlns:a="http://schemas.openxmlformats.org/drawingml/2006/main">
              <a:ext uri="{FF2B5EF4-FFF2-40B4-BE49-F238E27FC236}">
                <a16:creationId xmlns:a16="http://schemas.microsoft.com/office/drawing/2014/main" id="{91AAC046-5415-473B-8CD9-DEDB45A14A32}"/>
              </a:ext>
            </a:extLst>
          </p:cNvPr>
          <p:cNvSpPr>
            <a:spLocks xmlns:a="http://schemas.openxmlformats.org/drawingml/2006/main" noGrp="1"/>
          </p:cNvSpPr>
          <p:nvPr/>
        </p:nvSpPr>
        <p:spPr>
          <a:xfrm xmlns:a="http://schemas.openxmlformats.org/drawingml/2006/main">
            <a:off x="6838950" y="42481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3">
            <a:extLst xmlns:a="http://schemas.openxmlformats.org/drawingml/2006/main">
              <a:ext uri="{FF2B5EF4-FFF2-40B4-BE49-F238E27FC236}">
                <a16:creationId xmlns:a16="http://schemas.microsoft.com/office/drawing/2014/main" id="{1FA6A086-9ED5-46BD-9812-051E4F05C994}"/>
              </a:ext>
            </a:extLst>
          </p:cNvPr>
          <p:cNvSpPr>
            <a:spLocks xmlns:a="http://schemas.openxmlformats.org/drawingml/2006/main" noGrp="1"/>
          </p:cNvSpPr>
          <p:nvPr/>
        </p:nvSpPr>
        <p:spPr>
          <a:xfrm xmlns:a="http://schemas.openxmlformats.org/drawingml/2006/main">
            <a:off x="6800850" y="41910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3">
            <a:extLst xmlns:a="http://schemas.openxmlformats.org/drawingml/2006/main">
              <a:ext uri="{FF2B5EF4-FFF2-40B4-BE49-F238E27FC236}">
                <a16:creationId xmlns:a16="http://schemas.microsoft.com/office/drawing/2014/main" id="{58941E9C-0899-4766-BDDB-AF6FA586EB23}"/>
              </a:ext>
            </a:extLst>
          </p:cNvPr>
          <p:cNvSpPr>
            <a:spLocks xmlns:a="http://schemas.openxmlformats.org/drawingml/2006/main" noGrp="1"/>
          </p:cNvSpPr>
          <p:nvPr/>
        </p:nvSpPr>
        <p:spPr>
          <a:xfrm xmlns:a="http://schemas.openxmlformats.org/drawingml/2006/main">
            <a:off x="7124700" y="4152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label-4">
            <a:extLst xmlns:a="http://schemas.openxmlformats.org/drawingml/2006/main">
              <a:ext uri="{FF2B5EF4-FFF2-40B4-BE49-F238E27FC236}">
                <a16:creationId xmlns:a16="http://schemas.microsoft.com/office/drawing/2014/main" id="{D7FA3C5B-457E-4DE5-B8E2-D9C0E926AE6D}"/>
              </a:ext>
            </a:extLst>
          </p:cNvPr>
          <p:cNvSpPr>
            <a:spLocks xmlns:a="http://schemas.openxmlformats.org/drawingml/2006/main" noGrp="1"/>
          </p:cNvSpPr>
          <p:nvPr/>
        </p:nvSpPr>
        <p:spPr>
          <a:xfrm xmlns:a="http://schemas.openxmlformats.org/drawingml/2006/main">
            <a:off x="6248400" y="4705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4" name="lasso-track-4">
            <a:extLst xmlns:a="http://schemas.openxmlformats.org/drawingml/2006/main">
              <a:ext uri="{FF2B5EF4-FFF2-40B4-BE49-F238E27FC236}">
                <a16:creationId xmlns:a16="http://schemas.microsoft.com/office/drawing/2014/main" id="{25071342-E231-41F3-8012-FC94D8025270}"/>
              </a:ext>
            </a:extLst>
          </p:cNvPr>
          <p:cNvSpPr>
            <a:spLocks xmlns:a="http://schemas.openxmlformats.org/drawingml/2006/main" noGrp="1"/>
          </p:cNvSpPr>
          <p:nvPr/>
        </p:nvSpPr>
        <p:spPr>
          <a:xfrm xmlns:a="http://schemas.openxmlformats.org/drawingml/2006/main">
            <a:off x="6838950" y="48006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5" name="lasso-zero-4">
            <a:extLst xmlns:a="http://schemas.openxmlformats.org/drawingml/2006/main">
              <a:ext uri="{FF2B5EF4-FFF2-40B4-BE49-F238E27FC236}">
                <a16:creationId xmlns:a16="http://schemas.microsoft.com/office/drawing/2014/main" id="{9CD7EEA9-EA5C-45D0-95FA-66D0C49F9B9E}"/>
              </a:ext>
            </a:extLst>
          </p:cNvPr>
          <p:cNvSpPr>
            <a:spLocks xmlns:a="http://schemas.openxmlformats.org/drawingml/2006/main" noGrp="1"/>
          </p:cNvSpPr>
          <p:nvPr/>
        </p:nvSpPr>
        <p:spPr>
          <a:xfrm xmlns:a="http://schemas.openxmlformats.org/drawingml/2006/main">
            <a:off x="6800850" y="47434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6" name="lasso-zero-label-4">
            <a:extLst xmlns:a="http://schemas.openxmlformats.org/drawingml/2006/main">
              <a:ext uri="{FF2B5EF4-FFF2-40B4-BE49-F238E27FC236}">
                <a16:creationId xmlns:a16="http://schemas.microsoft.com/office/drawing/2014/main" id="{ABFB3F04-14F9-45E8-B0DD-BFFAA13ACE41}"/>
              </a:ext>
            </a:extLst>
          </p:cNvPr>
          <p:cNvSpPr>
            <a:spLocks xmlns:a="http://schemas.openxmlformats.org/drawingml/2006/main" noGrp="1"/>
          </p:cNvSpPr>
          <p:nvPr/>
        </p:nvSpPr>
        <p:spPr>
          <a:xfrm xmlns:a="http://schemas.openxmlformats.org/drawingml/2006/main">
            <a:off x="7124700" y="47053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7" name="lasso-caption">
            <a:extLst xmlns:a="http://schemas.openxmlformats.org/drawingml/2006/main">
              <a:ext uri="{FF2B5EF4-FFF2-40B4-BE49-F238E27FC236}">
                <a16:creationId xmlns:a16="http://schemas.microsoft.com/office/drawing/2014/main" id="{841C1741-7165-46DB-ADC1-9D91428800CA}"/>
              </a:ext>
            </a:extLst>
          </p:cNvPr>
          <p:cNvSpPr>
            <a:spLocks xmlns:a="http://schemas.openxmlformats.org/drawingml/2006/main" noGrp="1"/>
          </p:cNvSpPr>
          <p:nvPr/>
        </p:nvSpPr>
        <p:spPr>
          <a:xfrm xmlns:a="http://schemas.openxmlformats.org/drawingml/2006/main">
            <a:off x="6248400" y="525780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8" name="rule-48-674">
            <a:extLst xmlns:a="http://schemas.openxmlformats.org/drawingml/2006/main">
              <a:ext uri="{FF2B5EF4-FFF2-40B4-BE49-F238E27FC236}">
                <a16:creationId xmlns:a16="http://schemas.microsoft.com/office/drawing/2014/main" id="{9CB94CE9-8FE1-49E7-9622-3DF93FE7D903}"/>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footer-left">
            <a:extLst xmlns:a="http://schemas.openxmlformats.org/drawingml/2006/main">
              <a:ext uri="{FF2B5EF4-FFF2-40B4-BE49-F238E27FC236}">
                <a16:creationId xmlns:a16="http://schemas.microsoft.com/office/drawing/2014/main" id="{CFC81144-E0DA-422C-ADB6-32D3E98C9D2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0" name="footer-right">
            <a:extLst xmlns:a="http://schemas.openxmlformats.org/drawingml/2006/main">
              <a:ext uri="{FF2B5EF4-FFF2-40B4-BE49-F238E27FC236}">
                <a16:creationId xmlns:a16="http://schemas.microsoft.com/office/drawing/2014/main" id="{79782731-636A-4A2F-A481-236828BFEDD1}"/>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22/50</a:t>
            </a:r>
          </a:p>
        </p:txBody>
      </p:sp>
    </p:spTree>
    <p:extLst>
      <p:ext uri="{BB962C8B-B14F-4D97-AF65-F5344CB8AC3E}">
        <p14:creationId xmlns:p14="http://schemas.microsoft.com/office/powerpoint/2010/main" val="127273204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SECTION</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4 · Lasso</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Elastic net = loss + λ[α||β||₁ +(1−α)||β||²₂]</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4 · Lasso</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4 · Lasso</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be17d8bbf1214f18"/>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23/50</a:t>
            </a:r>
          </a:p>
        </p:txBody>
      </p:sp>
    </p:spTree>
    <p:extLst>
      <p:ext uri="{BB962C8B-B14F-4D97-AF65-F5344CB8AC3E}">
        <p14:creationId xmlns:p14="http://schemas.microsoft.com/office/powerpoint/2010/main" val="170459249"/>
      </p:ext>
    </p:extLst>
  </p:cSld>
</p:sld>
</file>

<file path=ppt/slides/slide2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1" name="failure-kicker">
            <a:extLst xmlns:a="http://schemas.openxmlformats.org/drawingml/2006/main">
              <a:ext uri="{FF2B5EF4-FFF2-40B4-BE49-F238E27FC236}">
                <a16:creationId xmlns:a16="http://schemas.microsoft.com/office/drawing/2014/main" id="{94FD110D-668C-4506-8BF9-B79984AB032C}"/>
              </a:ext>
            </a:extLst>
          </p:cNvPr>
          <p:cNvSpPr>
            <a:spLocks xmlns:a="http://schemas.openxmlformats.org/drawingml/2006/main" noGrp="1"/>
          </p:cNvSpPr>
          <p:nvPr/>
        </p:nvSpPr>
        <p:spPr>
          <a:xfrm xmlns:a="http://schemas.openxmlformats.org/drawingml/2006/main">
            <a:off x="457200" y="361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LECTURE · FAILURE MODE</a:t>
            </a:r>
          </a:p>
        </p:txBody>
      </p:sp>
      <p:sp>
        <p:nvSpPr>
          <p:cNvPr id="2" name="failure-title">
            <a:extLst xmlns:a="http://schemas.openxmlformats.org/drawingml/2006/main">
              <a:ext uri="{FF2B5EF4-FFF2-40B4-BE49-F238E27FC236}">
                <a16:creationId xmlns:a16="http://schemas.microsoft.com/office/drawing/2014/main" id="{A994D625-983E-4EC8-B71A-0B76542CED4B}"/>
              </a:ext>
            </a:extLst>
          </p:cNvPr>
          <p:cNvSpPr>
            <a:spLocks xmlns:a="http://schemas.openxmlformats.org/drawingml/2006/main" noGrp="1"/>
          </p:cNvSpPr>
          <p:nvPr/>
        </p:nvSpPr>
        <p:spPr>
          <a:xfrm xmlns:a="http://schemas.openxmlformats.org/drawingml/2006/main">
            <a:off x="457200" y="11430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The estimator · read the mathematics</a:t>
            </a:r>
          </a:p>
        </p:txBody>
      </p:sp>
      <p:sp>
        <p:nvSpPr>
          <p:cNvPr id="3" name="rule-48-350">
            <a:extLst xmlns:a="http://schemas.openxmlformats.org/drawingml/2006/main">
              <a:ext uri="{FF2B5EF4-FFF2-40B4-BE49-F238E27FC236}">
                <a16:creationId xmlns:a16="http://schemas.microsoft.com/office/drawing/2014/main" id="{771A2286-730E-4279-A0F2-FD9E55AD84DB}"/>
              </a:ext>
            </a:extLst>
          </p:cNvPr>
          <p:cNvSpPr>
            <a:spLocks xmlns:a="http://schemas.openxmlformats.org/drawingml/2006/main" noGrp="1"/>
          </p:cNvSpPr>
          <p:nvPr/>
        </p:nvSpPr>
        <p:spPr>
          <a:xfrm xmlns:a="http://schemas.openxmlformats.org/drawingml/2006/main">
            <a:off x="457200" y="3333750"/>
            <a:ext cx="11277600" cy="9525"/>
          </a:xfrm>
          <a:prstGeom xmlns:a="http://schemas.openxmlformats.org/drawingml/2006/main" prst="rect">
            <a:avLst/>
          </a:prstGeom>
          <a:solidFill xmlns:a="http://schemas.openxmlformats.org/drawingml/2006/main">
            <a:srgbClr val="3A4652"/>
          </a:solidFill>
          <a:ln xmlns:a="http://schemas.openxmlformats.org/drawingml/2006/main" w="0">
            <a:noFill/>
            <a:prstDash val="solid"/>
          </a:ln>
        </p:spPr>
      </p:sp>
      <p:sp>
        <p:nvSpPr>
          <p:cNvPr id="4" name="failure-left-title">
            <a:extLst xmlns:a="http://schemas.openxmlformats.org/drawingml/2006/main">
              <a:ext uri="{FF2B5EF4-FFF2-40B4-BE49-F238E27FC236}">
                <a16:creationId xmlns:a16="http://schemas.microsoft.com/office/drawing/2014/main" id="{9335A70E-1F73-4121-A801-563107996647}"/>
              </a:ext>
            </a:extLst>
          </p:cNvPr>
          <p:cNvSpPr>
            <a:spLocks xmlns:a="http://schemas.openxmlformats.org/drawingml/2006/main" noGrp="1"/>
          </p:cNvSpPr>
          <p:nvPr/>
        </p:nvSpPr>
        <p:spPr>
          <a:xfrm xmlns:a="http://schemas.openxmlformats.org/drawingml/2006/main">
            <a:off x="457200" y="37909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0A5FA"/>
                </a:solidFill>
                <a:latin typeface="Helvetica Neue"/>
                <a:ea typeface="Helvetica Neue"/>
                <a:cs typeface="Helvetica Neue"/>
              </a:defRPr>
            </a:pPr>
            <a:r>
              <a:rPr sz="1350" b="1">
                <a:solidFill>
                  <a:srgbClr val="60A5FA"/>
                </a:solidFill>
                <a:latin typeface="Helvetica Neue"/>
                <a:ea typeface="Helvetica Neue"/>
                <a:cs typeface="Helvetica Neue"/>
              </a:rPr>
              <a:t>WHAT BREAKS</a:t>
            </a:r>
          </a:p>
        </p:txBody>
      </p:sp>
      <p:sp>
        <p:nvSpPr>
          <p:cNvPr id="5" name="failure-left">
            <a:extLst xmlns:a="http://schemas.openxmlformats.org/drawingml/2006/main">
              <a:ext uri="{FF2B5EF4-FFF2-40B4-BE49-F238E27FC236}">
                <a16:creationId xmlns:a16="http://schemas.microsoft.com/office/drawing/2014/main" id="{D6F8B1FD-5A77-456A-85D1-D2D21B83453E}"/>
              </a:ext>
            </a:extLst>
          </p:cNvPr>
          <p:cNvSpPr>
            <a:spLocks xmlns:a="http://schemas.openxmlformats.org/drawingml/2006/main" noGrp="1"/>
          </p:cNvSpPr>
          <p:nvPr/>
        </p:nvSpPr>
        <p:spPr>
          <a:xfrm xmlns:a="http://schemas.openxmlformats.org/drawingml/2006/main">
            <a:off x="457200" y="43243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Lasso can select one arbitrary member of a correlated group and make instability look like importance.</a:t>
            </a:r>
          </a:p>
        </p:txBody>
      </p:sp>
      <p:sp>
        <p:nvSpPr>
          <p:cNvPr id="6" name="failure-right-title">
            <a:extLst xmlns:a="http://schemas.openxmlformats.org/drawingml/2006/main">
              <a:ext uri="{FF2B5EF4-FFF2-40B4-BE49-F238E27FC236}">
                <a16:creationId xmlns:a16="http://schemas.microsoft.com/office/drawing/2014/main" id="{660BA79E-49EA-412C-B81A-A787C28DE6D7}"/>
              </a:ext>
            </a:extLst>
          </p:cNvPr>
          <p:cNvSpPr>
            <a:spLocks xmlns:a="http://schemas.openxmlformats.org/drawingml/2006/main" noGrp="1"/>
          </p:cNvSpPr>
          <p:nvPr/>
        </p:nvSpPr>
        <p:spPr>
          <a:xfrm xmlns:a="http://schemas.openxmlformats.org/drawingml/2006/main">
            <a:off x="6457950" y="37909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WHY IT MATTERS</a:t>
            </a:r>
          </a:p>
        </p:txBody>
      </p:sp>
      <p:sp>
        <p:nvSpPr>
          <p:cNvPr id="7" name="failure-right">
            <a:extLst xmlns:a="http://schemas.openxmlformats.org/drawingml/2006/main">
              <a:ext uri="{FF2B5EF4-FFF2-40B4-BE49-F238E27FC236}">
                <a16:creationId xmlns:a16="http://schemas.microsoft.com/office/drawing/2014/main" id="{EB9D7924-95F7-4251-8B01-1B37030EA9C0}"/>
              </a:ext>
            </a:extLst>
          </p:cNvPr>
          <p:cNvSpPr>
            <a:spLocks xmlns:a="http://schemas.openxmlformats.org/drawingml/2006/main" noGrp="1"/>
          </p:cNvSpPr>
          <p:nvPr/>
        </p:nvSpPr>
        <p:spPr>
          <a:xfrm xmlns:a="http://schemas.openxmlformats.org/drawingml/2006/main">
            <a:off x="6457950" y="43243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The penalty matches the scientific goal</a:t>
            </a:r>
          </a:p>
        </p:txBody>
      </p:sp>
      <p:sp>
        <p:nvSpPr>
          <p:cNvPr id="8" name="rule-48-674">
            <a:extLst xmlns:a="http://schemas.openxmlformats.org/drawingml/2006/main">
              <a:ext uri="{FF2B5EF4-FFF2-40B4-BE49-F238E27FC236}">
                <a16:creationId xmlns:a16="http://schemas.microsoft.com/office/drawing/2014/main" id="{3BFE8C1D-08AD-465F-8C65-B6B98955447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465564"/>
          </a:solidFill>
          <a:ln xmlns:a="http://schemas.openxmlformats.org/drawingml/2006/main" w="0">
            <a:noFill/>
            <a:prstDash val="solid"/>
          </a:ln>
        </p:spPr>
      </p:sp>
      <p:sp>
        <p:nvSpPr>
          <p:cNvPr id="9" name="footer-left">
            <a:extLst xmlns:a="http://schemas.openxmlformats.org/drawingml/2006/main">
              <a:ext uri="{FF2B5EF4-FFF2-40B4-BE49-F238E27FC236}">
                <a16:creationId xmlns:a16="http://schemas.microsoft.com/office/drawing/2014/main" id="{3DBEA6F7-6B05-4747-8DD6-F01CEDAACED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C7D2DE"/>
                </a:solidFill>
                <a:latin typeface="Helvetica Neue"/>
                <a:ea typeface="Helvetica Neue"/>
                <a:cs typeface="Helvetica Neue"/>
              </a:defRPr>
            </a:pPr>
            <a:r>
              <a:rPr sz="1050" b="0">
                <a:solidFill>
                  <a:srgbClr val="C7D2DE"/>
                </a:solidFill>
                <a:latin typeface="Helvetica Neue"/>
                <a:ea typeface="Helvetica Neue"/>
                <a:cs typeface="Helvetica Neue"/>
              </a:rPr>
              <a:t>MATH60033A · Thierry Warin · Session 05</a:t>
            </a:r>
          </a:p>
        </p:txBody>
      </p:sp>
      <p:sp>
        <p:nvSpPr>
          <p:cNvPr id="10" name="footer-right">
            <a:extLst xmlns:a="http://schemas.openxmlformats.org/drawingml/2006/main">
              <a:ext uri="{FF2B5EF4-FFF2-40B4-BE49-F238E27FC236}">
                <a16:creationId xmlns:a16="http://schemas.microsoft.com/office/drawing/2014/main" id="{B952E2D6-D1F2-4BB0-AEE3-27E567294EA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C7D2DE"/>
                </a:solidFill>
                <a:latin typeface="Helvetica Neue"/>
                <a:ea typeface="Helvetica Neue"/>
                <a:cs typeface="Helvetica Neue"/>
              </a:defRPr>
            </a:pPr>
            <a:r>
              <a:rPr sz="1050" b="0">
                <a:solidFill>
                  <a:srgbClr val="C7D2DE"/>
                </a:solidFill>
                <a:latin typeface="Helvetica Neue"/>
                <a:ea typeface="Helvetica Neue"/>
                <a:cs typeface="Helvetica Neue"/>
              </a:rPr>
              <a:t>Lecture · 24/50</a:t>
            </a:r>
          </a:p>
        </p:txBody>
      </p:sp>
    </p:spTree>
    <p:extLst>
      <p:ext uri="{BB962C8B-B14F-4D97-AF65-F5344CB8AC3E}">
        <p14:creationId xmlns:p14="http://schemas.microsoft.com/office/powerpoint/2010/main" val="129185160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C80C528-1474-405D-9C90-DF81DDD43E55}"/>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VOCABULARY</a:t>
            </a:r>
          </a:p>
        </p:txBody>
      </p:sp>
      <p:sp>
        <p:nvSpPr>
          <p:cNvPr id="2" name="slide-title">
            <a:extLst xmlns:a="http://schemas.openxmlformats.org/drawingml/2006/main">
              <a:ext uri="{FF2B5EF4-FFF2-40B4-BE49-F238E27FC236}">
                <a16:creationId xmlns:a16="http://schemas.microsoft.com/office/drawing/2014/main" id="{32CF42EB-3729-49E9-8055-C03019AE6F5B}"/>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picture that explains the zeros</a:t>
            </a:r>
          </a:p>
        </p:txBody>
      </p:sp>
      <p:sp>
        <p:nvSpPr>
          <p:cNvPr id="3" name="rule-48-137">
            <a:extLst xmlns:a="http://schemas.openxmlformats.org/drawingml/2006/main">
              <a:ext uri="{FF2B5EF4-FFF2-40B4-BE49-F238E27FC236}">
                <a16:creationId xmlns:a16="http://schemas.microsoft.com/office/drawing/2014/main" id="{D1EEFB01-4024-4D4F-85BC-DDECF0CA954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term-number-0">
            <a:extLst xmlns:a="http://schemas.openxmlformats.org/drawingml/2006/main">
              <a:ext uri="{FF2B5EF4-FFF2-40B4-BE49-F238E27FC236}">
                <a16:creationId xmlns:a16="http://schemas.microsoft.com/office/drawing/2014/main" id="{7338BD65-F7FE-4651-AF04-274443A68BC4}"/>
              </a:ext>
            </a:extLst>
          </p:cNvPr>
          <p:cNvSpPr>
            <a:spLocks xmlns:a="http://schemas.openxmlformats.org/drawingml/2006/main" noGrp="1"/>
          </p:cNvSpPr>
          <p:nvPr/>
        </p:nvSpPr>
        <p:spPr>
          <a:xfrm xmlns:a="http://schemas.openxmlformats.org/drawingml/2006/main">
            <a:off x="4572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01</a:t>
            </a:r>
          </a:p>
        </p:txBody>
      </p:sp>
      <p:sp>
        <p:nvSpPr>
          <p:cNvPr id="5" name="term-title-0">
            <a:extLst xmlns:a="http://schemas.openxmlformats.org/drawingml/2006/main">
              <a:ext uri="{FF2B5EF4-FFF2-40B4-BE49-F238E27FC236}">
                <a16:creationId xmlns:a16="http://schemas.microsoft.com/office/drawing/2014/main" id="{F01754AE-2F8B-477A-8B8B-F186A806271F}"/>
              </a:ext>
            </a:extLst>
          </p:cNvPr>
          <p:cNvSpPr>
            <a:spLocks xmlns:a="http://schemas.openxmlformats.org/drawingml/2006/main" noGrp="1"/>
          </p:cNvSpPr>
          <p:nvPr/>
        </p:nvSpPr>
        <p:spPr>
          <a:xfrm xmlns:a="http://schemas.openxmlformats.org/drawingml/2006/main">
            <a:off x="4572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The picture that…</a:t>
            </a:r>
          </a:p>
        </p:txBody>
      </p:sp>
      <p:sp>
        <p:nvSpPr>
          <p:cNvPr id="6" name="rule-48-316">
            <a:extLst xmlns:a="http://schemas.openxmlformats.org/drawingml/2006/main">
              <a:ext uri="{FF2B5EF4-FFF2-40B4-BE49-F238E27FC236}">
                <a16:creationId xmlns:a16="http://schemas.microsoft.com/office/drawing/2014/main" id="{716702AF-1287-4D7F-8496-1CA5C2E0C404}"/>
              </a:ext>
            </a:extLst>
          </p:cNvPr>
          <p:cNvSpPr>
            <a:spLocks xmlns:a="http://schemas.openxmlformats.org/drawingml/2006/main" noGrp="1"/>
          </p:cNvSpPr>
          <p:nvPr/>
        </p:nvSpPr>
        <p:spPr>
          <a:xfrm xmlns:a="http://schemas.openxmlformats.org/drawingml/2006/main">
            <a:off x="4572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term-body-0">
            <a:extLst xmlns:a="http://schemas.openxmlformats.org/drawingml/2006/main">
              <a:ext uri="{FF2B5EF4-FFF2-40B4-BE49-F238E27FC236}">
                <a16:creationId xmlns:a16="http://schemas.microsoft.com/office/drawing/2014/main" id="{E3972F18-A2EB-47F0-8106-2F5D03C26627}"/>
              </a:ext>
            </a:extLst>
          </p:cNvPr>
          <p:cNvSpPr>
            <a:spLocks xmlns:a="http://schemas.openxmlformats.org/drawingml/2006/main" noGrp="1"/>
          </p:cNvSpPr>
          <p:nvPr/>
        </p:nvSpPr>
        <p:spPr>
          <a:xfrm xmlns:a="http://schemas.openxmlformats.org/drawingml/2006/main">
            <a:off x="4572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fig, axes = plt.subplots(1, 2, figsize=(7.6, 3.15)) bols = np.array([2.1, 1.35]) A =…</a:t>
            </a:r>
          </a:p>
        </p:txBody>
      </p:sp>
      <p:sp>
        <p:nvSpPr>
          <p:cNvPr id="8" name="term-number-1">
            <a:extLst xmlns:a="http://schemas.openxmlformats.org/drawingml/2006/main">
              <a:ext uri="{FF2B5EF4-FFF2-40B4-BE49-F238E27FC236}">
                <a16:creationId xmlns:a16="http://schemas.microsoft.com/office/drawing/2014/main" id="{005594F1-755F-458A-8559-7C8E9144F924}"/>
              </a:ext>
            </a:extLst>
          </p:cNvPr>
          <p:cNvSpPr>
            <a:spLocks xmlns:a="http://schemas.openxmlformats.org/drawingml/2006/main" noGrp="1"/>
          </p:cNvSpPr>
          <p:nvPr/>
        </p:nvSpPr>
        <p:spPr>
          <a:xfrm xmlns:a="http://schemas.openxmlformats.org/drawingml/2006/main">
            <a:off x="424815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02</a:t>
            </a:r>
          </a:p>
        </p:txBody>
      </p:sp>
      <p:sp>
        <p:nvSpPr>
          <p:cNvPr id="9" name="term-title-1">
            <a:extLst xmlns:a="http://schemas.openxmlformats.org/drawingml/2006/main">
              <a:ext uri="{FF2B5EF4-FFF2-40B4-BE49-F238E27FC236}">
                <a16:creationId xmlns:a16="http://schemas.microsoft.com/office/drawing/2014/main" id="{7805FB6D-5B4F-44D6-B108-C5C40F0C3A6E}"/>
              </a:ext>
            </a:extLst>
          </p:cNvPr>
          <p:cNvSpPr>
            <a:spLocks xmlns:a="http://schemas.openxmlformats.org/drawingml/2006/main" noGrp="1"/>
          </p:cNvSpPr>
          <p:nvPr/>
        </p:nvSpPr>
        <p:spPr>
          <a:xfrm xmlns:a="http://schemas.openxmlformats.org/drawingml/2006/main">
            <a:off x="424815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λ</a:t>
            </a:r>
          </a:p>
        </p:txBody>
      </p:sp>
      <p:sp>
        <p:nvSpPr>
          <p:cNvPr id="10" name="rule-446-316">
            <a:extLst xmlns:a="http://schemas.openxmlformats.org/drawingml/2006/main">
              <a:ext uri="{FF2B5EF4-FFF2-40B4-BE49-F238E27FC236}">
                <a16:creationId xmlns:a16="http://schemas.microsoft.com/office/drawing/2014/main" id="{00FB1CC3-E5B4-4416-B665-45C9D71B49F6}"/>
              </a:ext>
            </a:extLst>
          </p:cNvPr>
          <p:cNvSpPr>
            <a:spLocks xmlns:a="http://schemas.openxmlformats.org/drawingml/2006/main" noGrp="1"/>
          </p:cNvSpPr>
          <p:nvPr/>
        </p:nvSpPr>
        <p:spPr>
          <a:xfrm xmlns:a="http://schemas.openxmlformats.org/drawingml/2006/main">
            <a:off x="4248150" y="3009900"/>
            <a:ext cx="3143250" cy="381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term-body-1">
            <a:extLst xmlns:a="http://schemas.openxmlformats.org/drawingml/2006/main">
              <a:ext uri="{FF2B5EF4-FFF2-40B4-BE49-F238E27FC236}">
                <a16:creationId xmlns:a16="http://schemas.microsoft.com/office/drawing/2014/main" id="{059316DC-5928-4A81-B7B7-E763B018742A}"/>
              </a:ext>
            </a:extLst>
          </p:cNvPr>
          <p:cNvSpPr>
            <a:spLocks xmlns:a="http://schemas.openxmlformats.org/drawingml/2006/main" noGrp="1"/>
          </p:cNvSpPr>
          <p:nvPr/>
        </p:nvSpPr>
        <p:spPr>
          <a:xfrm xmlns:a="http://schemas.openxmlformats.org/drawingml/2006/main">
            <a:off x="424815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fig, axes = plt.subplots(1, 2, figsize=(7.6, 3.15)) bols = np.array([2.1, 1.35]) A = np.array([[1.0,…</a:t>
            </a:r>
          </a:p>
        </p:txBody>
      </p:sp>
      <p:sp>
        <p:nvSpPr>
          <p:cNvPr id="12" name="term-number-2">
            <a:extLst xmlns:a="http://schemas.openxmlformats.org/drawingml/2006/main">
              <a:ext uri="{FF2B5EF4-FFF2-40B4-BE49-F238E27FC236}">
                <a16:creationId xmlns:a16="http://schemas.microsoft.com/office/drawing/2014/main" id="{6E07A6F4-CDBF-4E01-8BB0-297F8C6DBD54}"/>
              </a:ext>
            </a:extLst>
          </p:cNvPr>
          <p:cNvSpPr>
            <a:spLocks xmlns:a="http://schemas.openxmlformats.org/drawingml/2006/main" noGrp="1"/>
          </p:cNvSpPr>
          <p:nvPr/>
        </p:nvSpPr>
        <p:spPr>
          <a:xfrm xmlns:a="http://schemas.openxmlformats.org/drawingml/2006/main">
            <a:off x="80391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03</a:t>
            </a:r>
          </a:p>
        </p:txBody>
      </p:sp>
      <p:sp>
        <p:nvSpPr>
          <p:cNvPr id="13" name="term-title-2">
            <a:extLst xmlns:a="http://schemas.openxmlformats.org/drawingml/2006/main">
              <a:ext uri="{FF2B5EF4-FFF2-40B4-BE49-F238E27FC236}">
                <a16:creationId xmlns:a16="http://schemas.microsoft.com/office/drawing/2014/main" id="{F4A2BCEF-5119-4B1A-9864-6A99D56BAC29}"/>
              </a:ext>
            </a:extLst>
          </p:cNvPr>
          <p:cNvSpPr>
            <a:spLocks xmlns:a="http://schemas.openxmlformats.org/drawingml/2006/main" noGrp="1"/>
          </p:cNvSpPr>
          <p:nvPr/>
        </p:nvSpPr>
        <p:spPr>
          <a:xfrm xmlns:a="http://schemas.openxmlformats.org/drawingml/2006/main">
            <a:off x="80391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Shrinkage</a:t>
            </a:r>
          </a:p>
        </p:txBody>
      </p:sp>
      <p:sp>
        <p:nvSpPr>
          <p:cNvPr id="14" name="rule-844-316">
            <a:extLst xmlns:a="http://schemas.openxmlformats.org/drawingml/2006/main">
              <a:ext uri="{FF2B5EF4-FFF2-40B4-BE49-F238E27FC236}">
                <a16:creationId xmlns:a16="http://schemas.microsoft.com/office/drawing/2014/main" id="{DAB5D43D-6D70-4305-AC58-DFC22D0252C3}"/>
              </a:ext>
            </a:extLst>
          </p:cNvPr>
          <p:cNvSpPr>
            <a:spLocks xmlns:a="http://schemas.openxmlformats.org/drawingml/2006/main" noGrp="1"/>
          </p:cNvSpPr>
          <p:nvPr/>
        </p:nvSpPr>
        <p:spPr>
          <a:xfrm xmlns:a="http://schemas.openxmlformats.org/drawingml/2006/main">
            <a:off x="80391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term-body-2">
            <a:extLst xmlns:a="http://schemas.openxmlformats.org/drawingml/2006/main">
              <a:ext uri="{FF2B5EF4-FFF2-40B4-BE49-F238E27FC236}">
                <a16:creationId xmlns:a16="http://schemas.microsoft.com/office/drawing/2014/main" id="{FF48416B-E5CE-4B16-9704-0F78DC32D588}"/>
              </a:ext>
            </a:extLst>
          </p:cNvPr>
          <p:cNvSpPr>
            <a:spLocks xmlns:a="http://schemas.openxmlformats.org/drawingml/2006/main" noGrp="1"/>
          </p:cNvSpPr>
          <p:nvPr/>
        </p:nvSpPr>
        <p:spPr>
          <a:xfrm xmlns:a="http://schemas.openxmlformats.org/drawingml/2006/main">
            <a:off x="80391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Standardise inside the pipeline</a:t>
            </a:r>
          </a:p>
        </p:txBody>
      </p:sp>
      <p:sp>
        <p:nvSpPr>
          <p:cNvPr id="16" name="definition-footer">
            <a:extLst xmlns:a="http://schemas.openxmlformats.org/drawingml/2006/main">
              <a:ext uri="{FF2B5EF4-FFF2-40B4-BE49-F238E27FC236}">
                <a16:creationId xmlns:a16="http://schemas.microsoft.com/office/drawing/2014/main" id="{4AABB398-75BA-48E7-BE04-A6E55D7E9824}"/>
              </a:ext>
            </a:extLst>
          </p:cNvPr>
          <p:cNvSpPr>
            <a:spLocks xmlns:a="http://schemas.openxmlformats.org/drawingml/2006/main" noGrp="1"/>
          </p:cNvSpPr>
          <p:nvPr/>
        </p:nvSpPr>
        <p:spPr>
          <a:xfrm xmlns:a="http://schemas.openxmlformats.org/drawingml/2006/main">
            <a:off x="457200" y="55054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563EB"/>
                </a:solidFill>
                <a:latin typeface="Helvetica Neue"/>
                <a:ea typeface="Helvetica Neue"/>
                <a:cs typeface="Helvetica Neue"/>
              </a:defRPr>
            </a:pPr>
            <a:r>
              <a:rPr sz="1575" b="1">
                <a:solidFill>
                  <a:srgbClr val="2563EB"/>
                </a:solidFill>
                <a:latin typeface="Helvetica Neue"/>
                <a:ea typeface="Helvetica Neue"/>
                <a:cs typeface="Helvetica Neue"/>
              </a:rPr>
              <a:t>A definition becomes useful when it changes what you compute or what you are allowed to claim.</a:t>
            </a:r>
          </a:p>
        </p:txBody>
      </p:sp>
      <p:sp>
        <p:nvSpPr>
          <p:cNvPr id="17" name="rule-48-674">
            <a:extLst xmlns:a="http://schemas.openxmlformats.org/drawingml/2006/main">
              <a:ext uri="{FF2B5EF4-FFF2-40B4-BE49-F238E27FC236}">
                <a16:creationId xmlns:a16="http://schemas.microsoft.com/office/drawing/2014/main" id="{2ACC8367-FA52-47E9-B5E8-8EE1E910C888}"/>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B07CDD74-6159-4192-BE71-6BCA29BEE82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32856D94-272E-475F-87D8-01F6F8E0BC83}"/>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25/50</a:t>
            </a:r>
          </a:p>
        </p:txBody>
      </p:sp>
    </p:spTree>
    <p:extLst>
      <p:ext uri="{BB962C8B-B14F-4D97-AF65-F5344CB8AC3E}">
        <p14:creationId xmlns:p14="http://schemas.microsoft.com/office/powerpoint/2010/main" val="183008060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HOW</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Corners produce zeros</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The ell1 region is a diamond: it has corners, and every corner sits on an axis, where one…</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Ellipses expanding from an arbitrary direction generically hit a corner.</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The ell2 region is a disc: perfectly smooth, no corners.</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The touch…</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26/50</a:t>
            </a:r>
          </a:p>
        </p:txBody>
      </p:sp>
    </p:spTree>
    <p:extLst>
      <p:ext uri="{BB962C8B-B14F-4D97-AF65-F5344CB8AC3E}">
        <p14:creationId xmlns:p14="http://schemas.microsoft.com/office/powerpoint/2010/main" val="208211410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VISUAL EXPLANATION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Where the zeros come from, algebraically · read the mathematics</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READ THE FIGURE</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Hold every βk, k neq j, fixed.</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1588"/>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With standardised columns the univariate problem is rhoj = tfrac1nsumi xijBig(yi - sumk neq j…</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8421"/>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With standardised columns the univariate problem is rhoj = tfrac1nsumi xijBig(yi - sumk neq j xikβkBig)…</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27/50</a:t>
            </a:r>
          </a:p>
        </p:txBody>
      </p:sp>
      <p:sp>
        <p:nvSpPr>
          <p:cNvPr id="35" name="media-matte-regularisation_comparison.png">
            <a:extLst xmlns:a="http://schemas.openxmlformats.org/drawingml/2006/main">
              <a:ext uri="{FF2B5EF4-FFF2-40B4-BE49-F238E27FC236}">
                <a16:creationId xmlns:a16="http://schemas.microsoft.com/office/drawing/2014/main" id="{414AB117-5577-40E0-A43D-DB41713B7033}"/>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d0235dabd3a74d8c"/>
          <a:stretch xmlns:a="http://schemas.openxmlformats.org/drawingml/2006/main"/>
        </p:blipFill>
        <p:spPr>
          <a:xfrm xmlns:a="http://schemas.openxmlformats.org/drawingml/2006/main">
            <a:off x="457200" y="1843088"/>
            <a:ext cx="6858000" cy="3857625"/>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D265BB83-F1B8-4BDC-B874-2B9DE4239B3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PYTHON</a:t>
            </a:r>
          </a:p>
        </p:txBody>
      </p:sp>
      <p:sp>
        <p:nvSpPr>
          <p:cNvPr id="2" name="slide-title">
            <a:extLst xmlns:a="http://schemas.openxmlformats.org/drawingml/2006/main">
              <a:ext uri="{FF2B5EF4-FFF2-40B4-BE49-F238E27FC236}">
                <a16:creationId xmlns:a16="http://schemas.microsoft.com/office/drawing/2014/main" id="{53F75BA3-90FD-4863-BCE5-6692E8373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Soft-thresholding</a:t>
            </a:r>
          </a:p>
        </p:txBody>
      </p:sp>
      <p:sp>
        <p:nvSpPr>
          <p:cNvPr id="3" name="rule-48-137">
            <a:extLst xmlns:a="http://schemas.openxmlformats.org/drawingml/2006/main">
              <a:ext uri="{FF2B5EF4-FFF2-40B4-BE49-F238E27FC236}">
                <a16:creationId xmlns:a16="http://schemas.microsoft.com/office/drawing/2014/main" id="{92EE19D2-9919-4F0E-8E33-AF8EDFA276BB}"/>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code-location-title">
            <a:extLst xmlns:a="http://schemas.openxmlformats.org/drawingml/2006/main">
              <a:ext uri="{FF2B5EF4-FFF2-40B4-BE49-F238E27FC236}">
                <a16:creationId xmlns:a16="http://schemas.microsoft.com/office/drawing/2014/main" id="{C87787FD-A427-4748-A6C3-58F3F7D6284B}"/>
              </a:ext>
            </a:extLst>
          </p:cNvPr>
          <p:cNvSpPr>
            <a:spLocks xmlns:a="http://schemas.openxmlformats.org/drawingml/2006/main" noGrp="1"/>
          </p:cNvSpPr>
          <p:nvPr/>
        </p:nvSpPr>
        <p:spPr>
          <a:xfrm xmlns:a="http://schemas.openxmlformats.org/drawingml/2006/main">
            <a:off x="457200" y="16573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START FROM THE DESKTOP CLONE</a:t>
            </a:r>
          </a:p>
        </p:txBody>
      </p:sp>
      <p:sp>
        <p:nvSpPr>
          <p:cNvPr id="5" name="code-location">
            <a:extLst xmlns:a="http://schemas.openxmlformats.org/drawingml/2006/main">
              <a:ext uri="{FF2B5EF4-FFF2-40B4-BE49-F238E27FC236}">
                <a16:creationId xmlns:a16="http://schemas.microsoft.com/office/drawing/2014/main" id="{491146B4-C834-4DF2-A1FA-8F7CB3B94ADE}"/>
              </a:ext>
            </a:extLst>
          </p:cNvPr>
          <p:cNvSpPr>
            <a:spLocks xmlns:a="http://schemas.openxmlformats.org/drawingml/2006/main" noGrp="1"/>
          </p:cNvSpPr>
          <p:nvPr/>
        </p:nvSpPr>
        <p:spPr>
          <a:xfrm xmlns:a="http://schemas.openxmlformats.org/drawingml/2006/main">
            <a:off x="457200" y="20764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~/Desktop/quantitative-methods</a:t>
            </a:r>
          </a:p>
        </p:txBody>
      </p:sp>
      <p:sp>
        <p:nvSpPr>
          <p:cNvPr id="6" name="code-command-title">
            <a:extLst xmlns:a="http://schemas.openxmlformats.org/drawingml/2006/main">
              <a:ext uri="{FF2B5EF4-FFF2-40B4-BE49-F238E27FC236}">
                <a16:creationId xmlns:a16="http://schemas.microsoft.com/office/drawing/2014/main" id="{AC12E83B-F78A-4AAF-911E-6E391B6FE570}"/>
              </a:ext>
            </a:extLst>
          </p:cNvPr>
          <p:cNvSpPr>
            <a:spLocks xmlns:a="http://schemas.openxmlformats.org/drawingml/2006/main" noGrp="1"/>
          </p:cNvSpPr>
          <p:nvPr/>
        </p:nvSpPr>
        <p:spPr>
          <a:xfrm xmlns:a="http://schemas.openxmlformats.org/drawingml/2006/main">
            <a:off x="457200" y="2838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RUN THE COMPLETE SESSION DEMO</a:t>
            </a:r>
          </a:p>
        </p:txBody>
      </p:sp>
      <p:sp>
        <p:nvSpPr>
          <p:cNvPr id="7" name="code-command">
            <a:extLst xmlns:a="http://schemas.openxmlformats.org/drawingml/2006/main">
              <a:ext uri="{FF2B5EF4-FFF2-40B4-BE49-F238E27FC236}">
                <a16:creationId xmlns:a16="http://schemas.microsoft.com/office/drawing/2014/main" id="{14A1E7E7-4C85-4DD1-943B-12D88B761A4B}"/>
              </a:ext>
            </a:extLst>
          </p:cNvPr>
          <p:cNvSpPr>
            <a:spLocks xmlns:a="http://schemas.openxmlformats.org/drawingml/2006/main" noGrp="1"/>
          </p:cNvSpPr>
          <p:nvPr/>
        </p:nvSpPr>
        <p:spPr>
          <a:xfrm xmlns:a="http://schemas.openxmlformats.org/drawingml/2006/main">
            <a:off x="457200" y="3276600"/>
            <a:ext cx="4953000" cy="14097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33350" tIns="114300" rIns="133350" bIns="114300" anchor="t">
            <a:normAutofit fontScale="100000"/>
          </a:bodyPr>
          <a:lstStyle xmlns:a="http://schemas.openxmlformats.org/drawingml/2006/main"/>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~/Desktop/quantitative-methods</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source .venv/bin/activate</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05-ridge-lasso-elastic-net/demo</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python session05_regularisation_demo.py</a:t>
            </a:r>
          </a:p>
        </p:txBody>
      </p:sp>
      <p:sp>
        <p:nvSpPr>
          <p:cNvPr id="8" name="code-windows">
            <a:extLst xmlns:a="http://schemas.openxmlformats.org/drawingml/2006/main">
              <a:ext uri="{FF2B5EF4-FFF2-40B4-BE49-F238E27FC236}">
                <a16:creationId xmlns:a16="http://schemas.microsoft.com/office/drawing/2014/main" id="{2B832BDB-F4EF-477C-8AF7-F9AEFB62B6D4}"/>
              </a:ext>
            </a:extLst>
          </p:cNvPr>
          <p:cNvSpPr>
            <a:spLocks xmlns:a="http://schemas.openxmlformats.org/drawingml/2006/main" noGrp="1"/>
          </p:cNvSpPr>
          <p:nvPr/>
        </p:nvSpPr>
        <p:spPr>
          <a:xfrm xmlns:a="http://schemas.openxmlformats.org/drawingml/2006/main">
            <a:off x="457200" y="4819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536273"/>
                </a:solidFill>
                <a:latin typeface="Menlo"/>
                <a:ea typeface="Menlo"/>
                <a:cs typeface="Menlo"/>
              </a:defRPr>
            </a:pPr>
            <a:r>
              <a:rPr sz="1200" b="0">
                <a:solidFill>
                  <a:srgbClr val="536273"/>
                </a:solidFill>
                <a:latin typeface="Menlo"/>
                <a:ea typeface="Menlo"/>
                <a:cs typeface="Menlo"/>
              </a:rPr>
              <a:t>Windows activation: .venv\Scripts\activate</a:t>
            </a:r>
          </a:p>
        </p:txBody>
      </p:sp>
      <p:sp>
        <p:nvSpPr>
          <p:cNvPr id="9" name="code-snippet">
            <a:extLst xmlns:a="http://schemas.openxmlformats.org/drawingml/2006/main">
              <a:ext uri="{FF2B5EF4-FFF2-40B4-BE49-F238E27FC236}">
                <a16:creationId xmlns:a16="http://schemas.microsoft.com/office/drawing/2014/main" id="{99265DF0-C641-4157-A5BC-21B08C598F0D}"/>
              </a:ext>
            </a:extLst>
          </p:cNvPr>
          <p:cNvSpPr>
            <a:spLocks xmlns:a="http://schemas.openxmlformats.org/drawingml/2006/main" noGrp="1"/>
          </p:cNvSpPr>
          <p:nvPr/>
        </p:nvSpPr>
        <p:spPr>
          <a:xfrm xmlns:a="http://schemas.openxmlformats.org/drawingml/2006/main">
            <a:off x="5943600" y="1657350"/>
            <a:ext cx="5791200" cy="33909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71450" tIns="152400" rIns="171450" bIns="152400" anchor="t">
            <a:normAutofit fontScale="100000"/>
          </a:bodyPr>
          <a:lstStyle xmlns:a="http://schemas.openxmlformats.org/drawingml/2006/main"/>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import numpy as np</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sklearn.linear_model import RidgeCV</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sklearn.pipeline import make_pipeline</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sklearn.preprocessing import StandardScaler</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X = np.arange(30.).reshape(10,3); y = np.arange(10.)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m = make_pipeline(StandardScaler(), RidgeCV([.1,1,10])).fit(X,y)</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print(m[-1].alpha_, m.predict(X[:2]))</a:t>
            </a:r>
          </a:p>
        </p:txBody>
      </p:sp>
      <p:sp>
        <p:nvSpPr>
          <p:cNvPr id="10" name="code-caption">
            <a:extLst xmlns:a="http://schemas.openxmlformats.org/drawingml/2006/main">
              <a:ext uri="{FF2B5EF4-FFF2-40B4-BE49-F238E27FC236}">
                <a16:creationId xmlns:a16="http://schemas.microsoft.com/office/drawing/2014/main" id="{78289761-A279-4315-A997-8383071B2C4C}"/>
              </a:ext>
            </a:extLst>
          </p:cNvPr>
          <p:cNvSpPr>
            <a:spLocks xmlns:a="http://schemas.openxmlformats.org/drawingml/2006/main" noGrp="1"/>
          </p:cNvSpPr>
          <p:nvPr/>
        </p:nvSpPr>
        <p:spPr>
          <a:xfrm xmlns:a="http://schemas.openxmlformats.org/drawingml/2006/main">
            <a:off x="5943600" y="5257800"/>
            <a:ext cx="579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Copy/paste the terminal block exactly. The full demo imports everything it needs, sets its seed, and saves the figure locally.</a:t>
            </a:r>
          </a:p>
        </p:txBody>
      </p:sp>
      <p:sp>
        <p:nvSpPr>
          <p:cNvPr id="11" name="rule-48-674">
            <a:extLst xmlns:a="http://schemas.openxmlformats.org/drawingml/2006/main">
              <a:ext uri="{FF2B5EF4-FFF2-40B4-BE49-F238E27FC236}">
                <a16:creationId xmlns:a16="http://schemas.microsoft.com/office/drawing/2014/main" id="{7EDA6DC4-E18A-4C38-A441-1FC099BE88B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2" name="footer-left">
            <a:extLst xmlns:a="http://schemas.openxmlformats.org/drawingml/2006/main">
              <a:ext uri="{FF2B5EF4-FFF2-40B4-BE49-F238E27FC236}">
                <a16:creationId xmlns:a16="http://schemas.microsoft.com/office/drawing/2014/main" id="{8A5543C0-ECCF-4613-9DDB-DF2CC736ED61}"/>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3" name="footer-right">
            <a:extLst xmlns:a="http://schemas.openxmlformats.org/drawingml/2006/main">
              <a:ext uri="{FF2B5EF4-FFF2-40B4-BE49-F238E27FC236}">
                <a16:creationId xmlns:a16="http://schemas.microsoft.com/office/drawing/2014/main" id="{DD8BF317-E931-4DAD-8D22-ED6F7BDC9F26}"/>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28/50</a:t>
            </a:r>
          </a:p>
        </p:txBody>
      </p:sp>
    </p:spTree>
    <p:extLst>
      <p:ext uri="{BB962C8B-B14F-4D97-AF65-F5344CB8AC3E}">
        <p14:creationId xmlns:p14="http://schemas.microsoft.com/office/powerpoint/2010/main" val="20656830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8EC660AD-E8E7-4FF5-BDA1-0D614CBF5328}"/>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ASSUMPTIONS</a:t>
            </a:r>
          </a:p>
        </p:txBody>
      </p:sp>
      <p:sp>
        <p:nvSpPr>
          <p:cNvPr id="2" name="slide-title">
            <a:extLst xmlns:a="http://schemas.openxmlformats.org/drawingml/2006/main">
              <a:ext uri="{FF2B5EF4-FFF2-40B4-BE49-F238E27FC236}">
                <a16:creationId xmlns:a16="http://schemas.microsoft.com/office/drawing/2014/main" id="{6BE1177A-D573-418B-8EE5-2C6E39AEA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operator, drawn</a:t>
            </a:r>
          </a:p>
        </p:txBody>
      </p:sp>
      <p:sp>
        <p:nvSpPr>
          <p:cNvPr id="3" name="rule-48-137">
            <a:extLst xmlns:a="http://schemas.openxmlformats.org/drawingml/2006/main">
              <a:ext uri="{FF2B5EF4-FFF2-40B4-BE49-F238E27FC236}">
                <a16:creationId xmlns:a16="http://schemas.microsoft.com/office/drawing/2014/main" id="{74FD44A5-45BB-4756-8BB1-48730F2F9455}"/>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assumption-lead">
            <a:extLst xmlns:a="http://schemas.openxmlformats.org/drawingml/2006/main">
              <a:ext uri="{FF2B5EF4-FFF2-40B4-BE49-F238E27FC236}">
                <a16:creationId xmlns:a16="http://schemas.microsoft.com/office/drawing/2014/main" id="{D4AF6FBE-6BB0-4A9C-B571-FE4B5884634B}"/>
              </a:ext>
            </a:extLst>
          </p:cNvPr>
          <p:cNvSpPr>
            <a:spLocks xmlns:a="http://schemas.openxmlformats.org/drawingml/2006/main" noGrp="1"/>
          </p:cNvSpPr>
          <p:nvPr/>
        </p:nvSpPr>
        <p:spPr>
          <a:xfrm xmlns:a="http://schemas.openxmlformats.org/drawingml/2006/main">
            <a:off x="457200" y="1657350"/>
            <a:ext cx="581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189"/>
          </a:bodyPr>
          <a:lstStyle xmlns:a="http://schemas.openxmlformats.org/drawingml/2006/main"/>
          <a:p xmlns:a="http://schemas.openxmlformats.org/drawingml/2006/main">
            <a:pPr algn="l">
              <a:lnSpc>
                <a:spcPct val="100000"/>
              </a:lnSpc>
              <a:buNone/>
              <a:defRPr sz="2025" b="1">
                <a:solidFill>
                  <a:srgbClr val="2563EB"/>
                </a:solidFill>
                <a:latin typeface="Helvetica Neue"/>
                <a:ea typeface="Helvetica Neue"/>
                <a:cs typeface="Helvetica Neue"/>
              </a:defRPr>
            </a:pPr>
            <a:r>
              <a:rPr sz="2025" b="1">
                <a:solidFill>
                  <a:srgbClr val="2563EB"/>
                </a:solidFill>
                <a:latin typeface="Helvetica Neue"/>
                <a:ea typeface="Helvetica Neue"/>
                <a:cs typeface="Helvetica Neue"/>
              </a:rPr>
              <a:t>rho = np.linspace(-1.0, 1.0, 400) soft = np.sign(rho) np.clip(np.abs(rho) - LAM, 0, None) fig, ax = plt.subplots(figsize=(5.4, 2.9))</a:t>
            </a:r>
          </a:p>
        </p:txBody>
      </p:sp>
      <p:sp>
        <p:nvSpPr>
          <p:cNvPr id="5" name="assumption-dot-0">
            <a:extLst xmlns:a="http://schemas.openxmlformats.org/drawingml/2006/main">
              <a:ext uri="{FF2B5EF4-FFF2-40B4-BE49-F238E27FC236}">
                <a16:creationId xmlns:a16="http://schemas.microsoft.com/office/drawing/2014/main" id="{C74D3213-AB06-4FF3-AEBD-B2A04B7482E9}"/>
              </a:ext>
            </a:extLst>
          </p:cNvPr>
          <p:cNvSpPr>
            <a:spLocks xmlns:a="http://schemas.openxmlformats.org/drawingml/2006/main" noGrp="1"/>
          </p:cNvSpPr>
          <p:nvPr/>
        </p:nvSpPr>
        <p:spPr>
          <a:xfrm xmlns:a="http://schemas.openxmlformats.org/drawingml/2006/main">
            <a:off x="6762750" y="17907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6" name="assumption-0">
            <a:extLst xmlns:a="http://schemas.openxmlformats.org/drawingml/2006/main">
              <a:ext uri="{FF2B5EF4-FFF2-40B4-BE49-F238E27FC236}">
                <a16:creationId xmlns:a16="http://schemas.microsoft.com/office/drawing/2014/main" id="{69DD163B-A3DB-400D-97CD-432ECE135561}"/>
              </a:ext>
            </a:extLst>
          </p:cNvPr>
          <p:cNvSpPr>
            <a:spLocks xmlns:a="http://schemas.openxmlformats.org/drawingml/2006/main" noGrp="1"/>
          </p:cNvSpPr>
          <p:nvPr/>
        </p:nvSpPr>
        <p:spPr>
          <a:xfrm xmlns:a="http://schemas.openxmlformats.org/drawingml/2006/main">
            <a:off x="7181850" y="16954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979"/>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rho = np.linspace(-1.0, 1.0, 400) soft = np.sign(rho) np.clip(np.abs(rho) - LAM, 0, None) fig, ax…</a:t>
            </a:r>
          </a:p>
        </p:txBody>
      </p:sp>
      <p:sp>
        <p:nvSpPr>
          <p:cNvPr id="7" name="rule-710-254">
            <a:extLst xmlns:a="http://schemas.openxmlformats.org/drawingml/2006/main">
              <a:ext uri="{FF2B5EF4-FFF2-40B4-BE49-F238E27FC236}">
                <a16:creationId xmlns:a16="http://schemas.microsoft.com/office/drawing/2014/main" id="{3A46FC59-6D50-4B86-88EA-E140411EB314}"/>
              </a:ext>
            </a:extLst>
          </p:cNvPr>
          <p:cNvSpPr>
            <a:spLocks xmlns:a="http://schemas.openxmlformats.org/drawingml/2006/main" noGrp="1"/>
          </p:cNvSpPr>
          <p:nvPr/>
        </p:nvSpPr>
        <p:spPr>
          <a:xfrm xmlns:a="http://schemas.openxmlformats.org/drawingml/2006/main">
            <a:off x="6762750" y="24193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8" name="assumption-dot-1">
            <a:extLst xmlns:a="http://schemas.openxmlformats.org/drawingml/2006/main">
              <a:ext uri="{FF2B5EF4-FFF2-40B4-BE49-F238E27FC236}">
                <a16:creationId xmlns:a16="http://schemas.microsoft.com/office/drawing/2014/main" id="{C5249663-8E9D-4047-B1E5-937C72C4FB55}"/>
              </a:ext>
            </a:extLst>
          </p:cNvPr>
          <p:cNvSpPr>
            <a:spLocks xmlns:a="http://schemas.openxmlformats.org/drawingml/2006/main" noGrp="1"/>
          </p:cNvSpPr>
          <p:nvPr/>
        </p:nvSpPr>
        <p:spPr>
          <a:xfrm xmlns:a="http://schemas.openxmlformats.org/drawingml/2006/main">
            <a:off x="6762750" y="27051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9" name="assumption-1">
            <a:extLst xmlns:a="http://schemas.openxmlformats.org/drawingml/2006/main">
              <a:ext uri="{FF2B5EF4-FFF2-40B4-BE49-F238E27FC236}">
                <a16:creationId xmlns:a16="http://schemas.microsoft.com/office/drawing/2014/main" id="{000AE48E-E4F3-4F73-BD2C-169FE21C5333}"/>
              </a:ext>
            </a:extLst>
          </p:cNvPr>
          <p:cNvSpPr>
            <a:spLocks xmlns:a="http://schemas.openxmlformats.org/drawingml/2006/main" noGrp="1"/>
          </p:cNvSpPr>
          <p:nvPr/>
        </p:nvSpPr>
        <p:spPr>
          <a:xfrm xmlns:a="http://schemas.openxmlformats.org/drawingml/2006/main">
            <a:off x="7181850" y="26098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979"/>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rho = np.linspace(-1.0, 1.0, 400) soft = np.sign(rho) np.clip(np.abs(rho) - LAM, 0, None) fig, ax =…</a:t>
            </a:r>
          </a:p>
        </p:txBody>
      </p:sp>
      <p:sp>
        <p:nvSpPr>
          <p:cNvPr id="10" name="rule-710-350">
            <a:extLst xmlns:a="http://schemas.openxmlformats.org/drawingml/2006/main">
              <a:ext uri="{FF2B5EF4-FFF2-40B4-BE49-F238E27FC236}">
                <a16:creationId xmlns:a16="http://schemas.microsoft.com/office/drawing/2014/main" id="{BFF5DE9F-1237-4974-8DE2-F81B0DB6418D}"/>
              </a:ext>
            </a:extLst>
          </p:cNvPr>
          <p:cNvSpPr>
            <a:spLocks xmlns:a="http://schemas.openxmlformats.org/drawingml/2006/main" noGrp="1"/>
          </p:cNvSpPr>
          <p:nvPr/>
        </p:nvSpPr>
        <p:spPr>
          <a:xfrm xmlns:a="http://schemas.openxmlformats.org/drawingml/2006/main">
            <a:off x="6762750" y="33337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assumption-dot-2">
            <a:extLst xmlns:a="http://schemas.openxmlformats.org/drawingml/2006/main">
              <a:ext uri="{FF2B5EF4-FFF2-40B4-BE49-F238E27FC236}">
                <a16:creationId xmlns:a16="http://schemas.microsoft.com/office/drawing/2014/main" id="{6450A870-D914-4829-93A4-ADABD3C1A926}"/>
              </a:ext>
            </a:extLst>
          </p:cNvPr>
          <p:cNvSpPr>
            <a:spLocks xmlns:a="http://schemas.openxmlformats.org/drawingml/2006/main" noGrp="1"/>
          </p:cNvSpPr>
          <p:nvPr/>
        </p:nvSpPr>
        <p:spPr>
          <a:xfrm xmlns:a="http://schemas.openxmlformats.org/drawingml/2006/main">
            <a:off x="6762750" y="36195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2" name="assumption-2">
            <a:extLst xmlns:a="http://schemas.openxmlformats.org/drawingml/2006/main">
              <a:ext uri="{FF2B5EF4-FFF2-40B4-BE49-F238E27FC236}">
                <a16:creationId xmlns:a16="http://schemas.microsoft.com/office/drawing/2014/main" id="{0EA19C9A-FFF7-49F8-9838-B65AB79762B0}"/>
              </a:ext>
            </a:extLst>
          </p:cNvPr>
          <p:cNvSpPr>
            <a:spLocks xmlns:a="http://schemas.openxmlformats.org/drawingml/2006/main" noGrp="1"/>
          </p:cNvSpPr>
          <p:nvPr/>
        </p:nvSpPr>
        <p:spPr>
          <a:xfrm xmlns:a="http://schemas.openxmlformats.org/drawingml/2006/main">
            <a:off x="7181850" y="35242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13" name="rule-710-446">
            <a:extLst xmlns:a="http://schemas.openxmlformats.org/drawingml/2006/main">
              <a:ext uri="{FF2B5EF4-FFF2-40B4-BE49-F238E27FC236}">
                <a16:creationId xmlns:a16="http://schemas.microsoft.com/office/drawing/2014/main" id="{5A3ABF52-F6A1-4968-A4B7-9ECBF9AA13DF}"/>
              </a:ext>
            </a:extLst>
          </p:cNvPr>
          <p:cNvSpPr>
            <a:spLocks xmlns:a="http://schemas.openxmlformats.org/drawingml/2006/main" noGrp="1"/>
          </p:cNvSpPr>
          <p:nvPr/>
        </p:nvSpPr>
        <p:spPr>
          <a:xfrm xmlns:a="http://schemas.openxmlformats.org/drawingml/2006/main">
            <a:off x="6762750" y="42481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assumption-dot-3">
            <a:extLst xmlns:a="http://schemas.openxmlformats.org/drawingml/2006/main">
              <a:ext uri="{FF2B5EF4-FFF2-40B4-BE49-F238E27FC236}">
                <a16:creationId xmlns:a16="http://schemas.microsoft.com/office/drawing/2014/main" id="{FDAAE2F1-57D8-493B-9782-36DA49AB2577}"/>
              </a:ext>
            </a:extLst>
          </p:cNvPr>
          <p:cNvSpPr>
            <a:spLocks xmlns:a="http://schemas.openxmlformats.org/drawingml/2006/main" noGrp="1"/>
          </p:cNvSpPr>
          <p:nvPr/>
        </p:nvSpPr>
        <p:spPr>
          <a:xfrm xmlns:a="http://schemas.openxmlformats.org/drawingml/2006/main">
            <a:off x="6762750" y="4533900"/>
            <a:ext cx="228600" cy="2286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5" name="assumption-3">
            <a:extLst xmlns:a="http://schemas.openxmlformats.org/drawingml/2006/main">
              <a:ext uri="{FF2B5EF4-FFF2-40B4-BE49-F238E27FC236}">
                <a16:creationId xmlns:a16="http://schemas.microsoft.com/office/drawing/2014/main" id="{D364FFDA-5E48-4783-B8F9-7CD803CBC014}"/>
              </a:ext>
            </a:extLst>
          </p:cNvPr>
          <p:cNvSpPr>
            <a:spLocks xmlns:a="http://schemas.openxmlformats.org/drawingml/2006/main" noGrp="1"/>
          </p:cNvSpPr>
          <p:nvPr/>
        </p:nvSpPr>
        <p:spPr>
          <a:xfrm xmlns:a="http://schemas.openxmlformats.org/drawingml/2006/main">
            <a:off x="7181850" y="44386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Fit a path of λ values</a:t>
            </a:r>
          </a:p>
        </p:txBody>
      </p:sp>
      <p:sp>
        <p:nvSpPr>
          <p:cNvPr id="16" name="assumption-callout">
            <a:extLst xmlns:a="http://schemas.openxmlformats.org/drawingml/2006/main">
              <a:ext uri="{FF2B5EF4-FFF2-40B4-BE49-F238E27FC236}">
                <a16:creationId xmlns:a16="http://schemas.microsoft.com/office/drawing/2014/main" id="{C37DF882-234C-4590-92EC-078B6E918153}"/>
              </a:ext>
            </a:extLst>
          </p:cNvPr>
          <p:cNvSpPr>
            <a:spLocks xmlns:a="http://schemas.openxmlformats.org/drawingml/2006/main" noGrp="1"/>
          </p:cNvSpPr>
          <p:nvPr/>
        </p:nvSpPr>
        <p:spPr>
          <a:xfrm xmlns:a="http://schemas.openxmlformats.org/drawingml/2006/main">
            <a:off x="457200" y="4057650"/>
            <a:ext cx="542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Ask which assumption is most fragile in your article replication—and what observable evidence would reveal the failure.</a:t>
            </a:r>
          </a:p>
        </p:txBody>
      </p:sp>
      <p:sp>
        <p:nvSpPr>
          <p:cNvPr id="17" name="rule-48-674">
            <a:extLst xmlns:a="http://schemas.openxmlformats.org/drawingml/2006/main">
              <a:ext uri="{FF2B5EF4-FFF2-40B4-BE49-F238E27FC236}">
                <a16:creationId xmlns:a16="http://schemas.microsoft.com/office/drawing/2014/main" id="{BAAE104D-3257-43E4-911B-474CAB2A6434}"/>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A1955895-4284-4432-8553-0DDE4D6FA1F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6823EF8C-D383-40EE-8488-CE8824082C8C}"/>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29/50</a:t>
            </a:r>
          </a:p>
        </p:txBody>
      </p:sp>
    </p:spTree>
    <p:extLst>
      <p:ext uri="{BB962C8B-B14F-4D97-AF65-F5344CB8AC3E}">
        <p14:creationId xmlns:p14="http://schemas.microsoft.com/office/powerpoint/2010/main" val="10060859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7FCBC34-3ADA-4F3D-A67E-7B4F390009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CODE</a:t>
            </a:r>
          </a:p>
        </p:txBody>
      </p:sp>
      <p:sp>
        <p:nvSpPr>
          <p:cNvPr id="2" name="slide-title">
            <a:extLst xmlns:a="http://schemas.openxmlformats.org/drawingml/2006/main">
              <a:ext uri="{FF2B5EF4-FFF2-40B4-BE49-F238E27FC236}">
                <a16:creationId xmlns:a16="http://schemas.microsoft.com/office/drawing/2014/main" id="{CED8EE5E-D9DC-4927-93A4-086D2A718E99}"/>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operator, drawn · Python</a:t>
            </a:r>
          </a:p>
        </p:txBody>
      </p:sp>
      <p:sp>
        <p:nvSpPr>
          <p:cNvPr id="3" name="rule-48-137">
            <a:extLst xmlns:a="http://schemas.openxmlformats.org/drawingml/2006/main">
              <a:ext uri="{FF2B5EF4-FFF2-40B4-BE49-F238E27FC236}">
                <a16:creationId xmlns:a16="http://schemas.microsoft.com/office/drawing/2014/main" id="{0C1EC8C7-5606-4238-9546-69CBA9C7FA2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C657BB0B-D025-4398-98B9-996A671B113A}"/>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Ridge: min ||y−Xβ||² + λ||β||²₂</a:t>
            </a:r>
          </a:p>
        </p:txBody>
      </p:sp>
      <p:sp>
        <p:nvSpPr>
          <p:cNvPr id="5" name="equation-reading">
            <a:extLst xmlns:a="http://schemas.openxmlformats.org/drawingml/2006/main">
              <a:ext uri="{FF2B5EF4-FFF2-40B4-BE49-F238E27FC236}">
                <a16:creationId xmlns:a16="http://schemas.microsoft.com/office/drawing/2014/main" id="{714B80FE-9AF8-401C-92AB-082201BF4482}"/>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rho = np.linspace(-1.0, 1.0, 400) soft = np.sign(rho) np.clip(np.abs(rho) - LAM, 0, None) fig, ax = plt.subplots(figsize=(5.4, 2.9))</a:t>
            </a:r>
          </a:p>
        </p:txBody>
      </p:sp>
      <p:sp>
        <p:nvSpPr>
          <p:cNvPr id="6" name="equation-prompt">
            <a:extLst xmlns:a="http://schemas.openxmlformats.org/drawingml/2006/main">
              <a:ext uri="{FF2B5EF4-FFF2-40B4-BE49-F238E27FC236}">
                <a16:creationId xmlns:a16="http://schemas.microsoft.com/office/drawing/2014/main" id="{A9F294A1-C407-436C-AAC6-01F92C2F39B6}"/>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8DC9B53F-030D-4720-B264-6C0B22DC2484}"/>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rho = np.linspace(-1.0, 1.0, 400) soft = np.sign(rho) np.clip(np.abs(rho) - LAM, 0, None) fig, ax…</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e7fc35b28f644b2e"/>
          </a:graphicData>
        </a:graphic>
      </p:graphicFrame>
      <p:sp>
        <p:nvSpPr>
          <p:cNvPr id="9" name="rule-48-674">
            <a:extLst xmlns:a="http://schemas.openxmlformats.org/drawingml/2006/main">
              <a:ext uri="{FF2B5EF4-FFF2-40B4-BE49-F238E27FC236}">
                <a16:creationId xmlns:a16="http://schemas.microsoft.com/office/drawing/2014/main" id="{F1129F64-421B-4DD7-BBD8-606313F1BDB6}"/>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A89C2CB-2EB7-40CD-A29F-40299CACE7A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C47D3986-0C78-4300-9AA7-F583673D21A8}"/>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30/50</a:t>
            </a:r>
          </a:p>
        </p:txBody>
      </p:sp>
    </p:spTree>
    <p:extLst>
      <p:ext uri="{BB962C8B-B14F-4D97-AF65-F5344CB8AC3E}">
        <p14:creationId xmlns:p14="http://schemas.microsoft.com/office/powerpoint/2010/main" val="20292119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14CB035E-CCD8-4A3B-A6BE-26B69106595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F64E5443-A695-44DC-9C9B-9C0C714DDF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coefficient path</a:t>
            </a:r>
          </a:p>
        </p:txBody>
      </p:sp>
      <p:sp>
        <p:nvSpPr>
          <p:cNvPr id="3" name="rule-48-137">
            <a:extLst xmlns:a="http://schemas.openxmlformats.org/drawingml/2006/main">
              <a:ext uri="{FF2B5EF4-FFF2-40B4-BE49-F238E27FC236}">
                <a16:creationId xmlns:a16="http://schemas.microsoft.com/office/drawing/2014/main" id="{FD5A2F72-BE27-40E4-ACC4-EA19C0BA21D0}"/>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D66350E3-0AF2-4D03-A9C9-1CDA6751CC2B}"/>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FF9CB8B1-81E5-4609-9EB8-DC2F0B0E5FB0}"/>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fig, axes = plt.subplots(1, 2, figsize=(7.7, 2.95), sharey=True) grid = np.logspace(-3.1, 0.4, 90) Bs = np.array([Ridge(alpha=a len(ytr)).fit(Ztr, ytr).coef for a in grid])</a:t>
            </a:r>
          </a:p>
        </p:txBody>
      </p:sp>
      <p:sp>
        <p:nvSpPr>
          <p:cNvPr id="6" name="equation-prompt">
            <a:extLst xmlns:a="http://schemas.openxmlformats.org/drawingml/2006/main">
              <a:ext uri="{FF2B5EF4-FFF2-40B4-BE49-F238E27FC236}">
                <a16:creationId xmlns:a16="http://schemas.microsoft.com/office/drawing/2014/main" id="{0FA2A665-22F2-4545-AA88-545C481ECC9A}"/>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636E2140-82E5-4477-8DAF-174ADF36A1F6}"/>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fig, axes = plt.subplots(1, 2, figsize=(7.7, 2.95), sharey=True) grid = np.logspace(-3.1, 0.4, 90)…</a:t>
            </a:r>
          </a:p>
        </p:txBody>
      </p:sp>
      <p:sp>
        <p:nvSpPr>
          <p:cNvPr id="8" name="lasso-field">
            <a:extLst xmlns:a="http://schemas.openxmlformats.org/drawingml/2006/main">
              <a:ext uri="{FF2B5EF4-FFF2-40B4-BE49-F238E27FC236}">
                <a16:creationId xmlns:a16="http://schemas.microsoft.com/office/drawing/2014/main" id="{3AEA489D-5572-4871-8843-3CD39BB4665D}"/>
              </a:ext>
            </a:extLst>
          </p:cNvPr>
          <p:cNvSpPr>
            <a:spLocks xmlns:a="http://schemas.openxmlformats.org/drawingml/2006/main" noGrp="1"/>
          </p:cNvSpPr>
          <p:nvPr/>
        </p:nvSpPr>
        <p:spPr>
          <a:xfrm xmlns:a="http://schemas.openxmlformats.org/drawingml/2006/main">
            <a:off x="5924550" y="1657350"/>
            <a:ext cx="5810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9" name="lasso-title">
            <a:extLst xmlns:a="http://schemas.openxmlformats.org/drawingml/2006/main">
              <a:ext uri="{FF2B5EF4-FFF2-40B4-BE49-F238E27FC236}">
                <a16:creationId xmlns:a16="http://schemas.microsoft.com/office/drawing/2014/main" id="{9535E93E-1CCE-422C-AD13-048209596BEB}"/>
              </a:ext>
            </a:extLst>
          </p:cNvPr>
          <p:cNvSpPr>
            <a:spLocks xmlns:a="http://schemas.openxmlformats.org/drawingml/2006/main" noGrp="1"/>
          </p:cNvSpPr>
          <p:nvPr/>
        </p:nvSpPr>
        <p:spPr>
          <a:xfrm xmlns:a="http://schemas.openxmlformats.org/drawingml/2006/main">
            <a:off x="6248400" y="1885950"/>
            <a:ext cx="516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10" name="lasso-label-0">
            <a:extLst xmlns:a="http://schemas.openxmlformats.org/drawingml/2006/main">
              <a:ext uri="{FF2B5EF4-FFF2-40B4-BE49-F238E27FC236}">
                <a16:creationId xmlns:a16="http://schemas.microsoft.com/office/drawing/2014/main" id="{5C9C2215-E736-453D-AB74-55E441EFDC64}"/>
              </a:ext>
            </a:extLst>
          </p:cNvPr>
          <p:cNvSpPr>
            <a:spLocks xmlns:a="http://schemas.openxmlformats.org/drawingml/2006/main" noGrp="1"/>
          </p:cNvSpPr>
          <p:nvPr/>
        </p:nvSpPr>
        <p:spPr>
          <a:xfrm xmlns:a="http://schemas.openxmlformats.org/drawingml/2006/main">
            <a:off x="6248400" y="2495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11" name="lasso-track-0">
            <a:extLst xmlns:a="http://schemas.openxmlformats.org/drawingml/2006/main">
              <a:ext uri="{FF2B5EF4-FFF2-40B4-BE49-F238E27FC236}">
                <a16:creationId xmlns:a16="http://schemas.microsoft.com/office/drawing/2014/main" id="{EB3C20BF-E1F6-42E2-886E-AE6E49EC800D}"/>
              </a:ext>
            </a:extLst>
          </p:cNvPr>
          <p:cNvSpPr>
            <a:spLocks xmlns:a="http://schemas.openxmlformats.org/drawingml/2006/main" noGrp="1"/>
          </p:cNvSpPr>
          <p:nvPr/>
        </p:nvSpPr>
        <p:spPr>
          <a:xfrm xmlns:a="http://schemas.openxmlformats.org/drawingml/2006/main">
            <a:off x="6838950" y="25908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2" name="lasso-bar-0">
            <a:extLst xmlns:a="http://schemas.openxmlformats.org/drawingml/2006/main">
              <a:ext uri="{FF2B5EF4-FFF2-40B4-BE49-F238E27FC236}">
                <a16:creationId xmlns:a16="http://schemas.microsoft.com/office/drawing/2014/main" id="{E3DD2267-E857-40C1-9D6C-6DCF45D0582A}"/>
              </a:ext>
            </a:extLst>
          </p:cNvPr>
          <p:cNvSpPr>
            <a:spLocks xmlns:a="http://schemas.openxmlformats.org/drawingml/2006/main" noGrp="1"/>
          </p:cNvSpPr>
          <p:nvPr/>
        </p:nvSpPr>
        <p:spPr>
          <a:xfrm xmlns:a="http://schemas.openxmlformats.org/drawingml/2006/main">
            <a:off x="6838950" y="255270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3" name="lasso-label-1">
            <a:extLst xmlns:a="http://schemas.openxmlformats.org/drawingml/2006/main">
              <a:ext uri="{FF2B5EF4-FFF2-40B4-BE49-F238E27FC236}">
                <a16:creationId xmlns:a16="http://schemas.microsoft.com/office/drawing/2014/main" id="{0521DD6E-BB33-460C-81BF-842ED7FF8D63}"/>
              </a:ext>
            </a:extLst>
          </p:cNvPr>
          <p:cNvSpPr>
            <a:spLocks xmlns:a="http://schemas.openxmlformats.org/drawingml/2006/main" noGrp="1"/>
          </p:cNvSpPr>
          <p:nvPr/>
        </p:nvSpPr>
        <p:spPr>
          <a:xfrm xmlns:a="http://schemas.openxmlformats.org/drawingml/2006/main">
            <a:off x="6248400" y="3048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4" name="lasso-track-1">
            <a:extLst xmlns:a="http://schemas.openxmlformats.org/drawingml/2006/main">
              <a:ext uri="{FF2B5EF4-FFF2-40B4-BE49-F238E27FC236}">
                <a16:creationId xmlns:a16="http://schemas.microsoft.com/office/drawing/2014/main" id="{0B5613AB-DFA2-4B52-920C-1A1928421738}"/>
              </a:ext>
            </a:extLst>
          </p:cNvPr>
          <p:cNvSpPr>
            <a:spLocks xmlns:a="http://schemas.openxmlformats.org/drawingml/2006/main" noGrp="1"/>
          </p:cNvSpPr>
          <p:nvPr/>
        </p:nvSpPr>
        <p:spPr>
          <a:xfrm xmlns:a="http://schemas.openxmlformats.org/drawingml/2006/main">
            <a:off x="6838950" y="31432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5" name="lasso-bar-1">
            <a:extLst xmlns:a="http://schemas.openxmlformats.org/drawingml/2006/main">
              <a:ext uri="{FF2B5EF4-FFF2-40B4-BE49-F238E27FC236}">
                <a16:creationId xmlns:a16="http://schemas.microsoft.com/office/drawing/2014/main" id="{FC318E9C-653B-4A97-A08F-CC361FE10E1D}"/>
              </a:ext>
            </a:extLst>
          </p:cNvPr>
          <p:cNvSpPr>
            <a:spLocks xmlns:a="http://schemas.openxmlformats.org/drawingml/2006/main" noGrp="1"/>
          </p:cNvSpPr>
          <p:nvPr/>
        </p:nvSpPr>
        <p:spPr>
          <a:xfrm xmlns:a="http://schemas.openxmlformats.org/drawingml/2006/main">
            <a:off x="6838950" y="310515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6" name="lasso-label-2">
            <a:extLst xmlns:a="http://schemas.openxmlformats.org/drawingml/2006/main">
              <a:ext uri="{FF2B5EF4-FFF2-40B4-BE49-F238E27FC236}">
                <a16:creationId xmlns:a16="http://schemas.microsoft.com/office/drawing/2014/main" id="{BB85B417-FD35-4D35-BFE8-6CF064394C60}"/>
              </a:ext>
            </a:extLst>
          </p:cNvPr>
          <p:cNvSpPr>
            <a:spLocks xmlns:a="http://schemas.openxmlformats.org/drawingml/2006/main" noGrp="1"/>
          </p:cNvSpPr>
          <p:nvPr/>
        </p:nvSpPr>
        <p:spPr>
          <a:xfrm xmlns:a="http://schemas.openxmlformats.org/drawingml/2006/main">
            <a:off x="6248400" y="36004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7" name="lasso-track-2">
            <a:extLst xmlns:a="http://schemas.openxmlformats.org/drawingml/2006/main">
              <a:ext uri="{FF2B5EF4-FFF2-40B4-BE49-F238E27FC236}">
                <a16:creationId xmlns:a16="http://schemas.microsoft.com/office/drawing/2014/main" id="{792FDFAD-74F1-4037-BECE-5398B27EC5BD}"/>
              </a:ext>
            </a:extLst>
          </p:cNvPr>
          <p:cNvSpPr>
            <a:spLocks xmlns:a="http://schemas.openxmlformats.org/drawingml/2006/main" noGrp="1"/>
          </p:cNvSpPr>
          <p:nvPr/>
        </p:nvSpPr>
        <p:spPr>
          <a:xfrm xmlns:a="http://schemas.openxmlformats.org/drawingml/2006/main">
            <a:off x="6838950" y="36957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8" name="lasso-bar-2">
            <a:extLst xmlns:a="http://schemas.openxmlformats.org/drawingml/2006/main">
              <a:ext uri="{FF2B5EF4-FFF2-40B4-BE49-F238E27FC236}">
                <a16:creationId xmlns:a16="http://schemas.microsoft.com/office/drawing/2014/main" id="{1C0C9592-85A2-4C08-9CF9-094AE63CD9B3}"/>
              </a:ext>
            </a:extLst>
          </p:cNvPr>
          <p:cNvSpPr>
            <a:spLocks xmlns:a="http://schemas.openxmlformats.org/drawingml/2006/main" noGrp="1"/>
          </p:cNvSpPr>
          <p:nvPr/>
        </p:nvSpPr>
        <p:spPr>
          <a:xfrm xmlns:a="http://schemas.openxmlformats.org/drawingml/2006/main">
            <a:off x="6838950" y="365760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9" name="lasso-label-3">
            <a:extLst xmlns:a="http://schemas.openxmlformats.org/drawingml/2006/main">
              <a:ext uri="{FF2B5EF4-FFF2-40B4-BE49-F238E27FC236}">
                <a16:creationId xmlns:a16="http://schemas.microsoft.com/office/drawing/2014/main" id="{B2F67AD9-47AF-4C6C-8C9F-B47E96302F88}"/>
              </a:ext>
            </a:extLst>
          </p:cNvPr>
          <p:cNvSpPr>
            <a:spLocks xmlns:a="http://schemas.openxmlformats.org/drawingml/2006/main" noGrp="1"/>
          </p:cNvSpPr>
          <p:nvPr/>
        </p:nvSpPr>
        <p:spPr>
          <a:xfrm xmlns:a="http://schemas.openxmlformats.org/drawingml/2006/main">
            <a:off x="6248400" y="41529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20" name="lasso-track-3">
            <a:extLst xmlns:a="http://schemas.openxmlformats.org/drawingml/2006/main">
              <a:ext uri="{FF2B5EF4-FFF2-40B4-BE49-F238E27FC236}">
                <a16:creationId xmlns:a16="http://schemas.microsoft.com/office/drawing/2014/main" id="{91AAC046-5415-473B-8CD9-DEDB45A14A32}"/>
              </a:ext>
            </a:extLst>
          </p:cNvPr>
          <p:cNvSpPr>
            <a:spLocks xmlns:a="http://schemas.openxmlformats.org/drawingml/2006/main" noGrp="1"/>
          </p:cNvSpPr>
          <p:nvPr/>
        </p:nvSpPr>
        <p:spPr>
          <a:xfrm xmlns:a="http://schemas.openxmlformats.org/drawingml/2006/main">
            <a:off x="6838950" y="42481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3">
            <a:extLst xmlns:a="http://schemas.openxmlformats.org/drawingml/2006/main">
              <a:ext uri="{FF2B5EF4-FFF2-40B4-BE49-F238E27FC236}">
                <a16:creationId xmlns:a16="http://schemas.microsoft.com/office/drawing/2014/main" id="{1FA6A086-9ED5-46BD-9812-051E4F05C994}"/>
              </a:ext>
            </a:extLst>
          </p:cNvPr>
          <p:cNvSpPr>
            <a:spLocks xmlns:a="http://schemas.openxmlformats.org/drawingml/2006/main" noGrp="1"/>
          </p:cNvSpPr>
          <p:nvPr/>
        </p:nvSpPr>
        <p:spPr>
          <a:xfrm xmlns:a="http://schemas.openxmlformats.org/drawingml/2006/main">
            <a:off x="6800850" y="41910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3">
            <a:extLst xmlns:a="http://schemas.openxmlformats.org/drawingml/2006/main">
              <a:ext uri="{FF2B5EF4-FFF2-40B4-BE49-F238E27FC236}">
                <a16:creationId xmlns:a16="http://schemas.microsoft.com/office/drawing/2014/main" id="{58941E9C-0899-4766-BDDB-AF6FA586EB23}"/>
              </a:ext>
            </a:extLst>
          </p:cNvPr>
          <p:cNvSpPr>
            <a:spLocks xmlns:a="http://schemas.openxmlformats.org/drawingml/2006/main" noGrp="1"/>
          </p:cNvSpPr>
          <p:nvPr/>
        </p:nvSpPr>
        <p:spPr>
          <a:xfrm xmlns:a="http://schemas.openxmlformats.org/drawingml/2006/main">
            <a:off x="7124700" y="4152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label-4">
            <a:extLst xmlns:a="http://schemas.openxmlformats.org/drawingml/2006/main">
              <a:ext uri="{FF2B5EF4-FFF2-40B4-BE49-F238E27FC236}">
                <a16:creationId xmlns:a16="http://schemas.microsoft.com/office/drawing/2014/main" id="{D7FA3C5B-457E-4DE5-B8E2-D9C0E926AE6D}"/>
              </a:ext>
            </a:extLst>
          </p:cNvPr>
          <p:cNvSpPr>
            <a:spLocks xmlns:a="http://schemas.openxmlformats.org/drawingml/2006/main" noGrp="1"/>
          </p:cNvSpPr>
          <p:nvPr/>
        </p:nvSpPr>
        <p:spPr>
          <a:xfrm xmlns:a="http://schemas.openxmlformats.org/drawingml/2006/main">
            <a:off x="6248400" y="4705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4" name="lasso-track-4">
            <a:extLst xmlns:a="http://schemas.openxmlformats.org/drawingml/2006/main">
              <a:ext uri="{FF2B5EF4-FFF2-40B4-BE49-F238E27FC236}">
                <a16:creationId xmlns:a16="http://schemas.microsoft.com/office/drawing/2014/main" id="{25071342-E231-41F3-8012-FC94D8025270}"/>
              </a:ext>
            </a:extLst>
          </p:cNvPr>
          <p:cNvSpPr>
            <a:spLocks xmlns:a="http://schemas.openxmlformats.org/drawingml/2006/main" noGrp="1"/>
          </p:cNvSpPr>
          <p:nvPr/>
        </p:nvSpPr>
        <p:spPr>
          <a:xfrm xmlns:a="http://schemas.openxmlformats.org/drawingml/2006/main">
            <a:off x="6838950" y="48006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5" name="lasso-zero-4">
            <a:extLst xmlns:a="http://schemas.openxmlformats.org/drawingml/2006/main">
              <a:ext uri="{FF2B5EF4-FFF2-40B4-BE49-F238E27FC236}">
                <a16:creationId xmlns:a16="http://schemas.microsoft.com/office/drawing/2014/main" id="{9CD7EEA9-EA5C-45D0-95FA-66D0C49F9B9E}"/>
              </a:ext>
            </a:extLst>
          </p:cNvPr>
          <p:cNvSpPr>
            <a:spLocks xmlns:a="http://schemas.openxmlformats.org/drawingml/2006/main" noGrp="1"/>
          </p:cNvSpPr>
          <p:nvPr/>
        </p:nvSpPr>
        <p:spPr>
          <a:xfrm xmlns:a="http://schemas.openxmlformats.org/drawingml/2006/main">
            <a:off x="6800850" y="47434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6" name="lasso-zero-label-4">
            <a:extLst xmlns:a="http://schemas.openxmlformats.org/drawingml/2006/main">
              <a:ext uri="{FF2B5EF4-FFF2-40B4-BE49-F238E27FC236}">
                <a16:creationId xmlns:a16="http://schemas.microsoft.com/office/drawing/2014/main" id="{ABFB3F04-14F9-45E8-B0DD-BFFAA13ACE41}"/>
              </a:ext>
            </a:extLst>
          </p:cNvPr>
          <p:cNvSpPr>
            <a:spLocks xmlns:a="http://schemas.openxmlformats.org/drawingml/2006/main" noGrp="1"/>
          </p:cNvSpPr>
          <p:nvPr/>
        </p:nvSpPr>
        <p:spPr>
          <a:xfrm xmlns:a="http://schemas.openxmlformats.org/drawingml/2006/main">
            <a:off x="7124700" y="47053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7" name="lasso-caption">
            <a:extLst xmlns:a="http://schemas.openxmlformats.org/drawingml/2006/main">
              <a:ext uri="{FF2B5EF4-FFF2-40B4-BE49-F238E27FC236}">
                <a16:creationId xmlns:a16="http://schemas.microsoft.com/office/drawing/2014/main" id="{841C1741-7165-46DB-ADC1-9D91428800CA}"/>
              </a:ext>
            </a:extLst>
          </p:cNvPr>
          <p:cNvSpPr>
            <a:spLocks xmlns:a="http://schemas.openxmlformats.org/drawingml/2006/main" noGrp="1"/>
          </p:cNvSpPr>
          <p:nvPr/>
        </p:nvSpPr>
        <p:spPr>
          <a:xfrm xmlns:a="http://schemas.openxmlformats.org/drawingml/2006/main">
            <a:off x="6248400" y="525780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8" name="rule-48-674">
            <a:extLst xmlns:a="http://schemas.openxmlformats.org/drawingml/2006/main">
              <a:ext uri="{FF2B5EF4-FFF2-40B4-BE49-F238E27FC236}">
                <a16:creationId xmlns:a16="http://schemas.microsoft.com/office/drawing/2014/main" id="{9CB94CE9-8FE1-49E7-9622-3DF93FE7D903}"/>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footer-left">
            <a:extLst xmlns:a="http://schemas.openxmlformats.org/drawingml/2006/main">
              <a:ext uri="{FF2B5EF4-FFF2-40B4-BE49-F238E27FC236}">
                <a16:creationId xmlns:a16="http://schemas.microsoft.com/office/drawing/2014/main" id="{CFC81144-E0DA-422C-ADB6-32D3E98C9D2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0" name="footer-right">
            <a:extLst xmlns:a="http://schemas.openxmlformats.org/drawingml/2006/main">
              <a:ext uri="{FF2B5EF4-FFF2-40B4-BE49-F238E27FC236}">
                <a16:creationId xmlns:a16="http://schemas.microsoft.com/office/drawing/2014/main" id="{79782731-636A-4A2F-A481-236828BFEDD1}"/>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31/50</a:t>
            </a:r>
          </a:p>
        </p:txBody>
      </p:sp>
    </p:spTree>
    <p:extLst>
      <p:ext uri="{BB962C8B-B14F-4D97-AF65-F5344CB8AC3E}">
        <p14:creationId xmlns:p14="http://schemas.microsoft.com/office/powerpoint/2010/main" val="127273204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survived, on our data</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Elastic net = loss + λ[α||β||₁ +(1−α)||β||²₂]</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lcv = LassoCV(cv=5, randomstate=0, maxiter=50000).fit(Ztr, ytr) kept = [(c, b) for c, b in zip(XCOLS, lcv.coef) if abs(b) &gt; 1e-8] print(f"lambda = lcv.alpha:.4f kept len(kept) of P")</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lcv = LassoCV(cv=5, randomstate=0, maxiter=50000).fit(Ztr, ytr) kept = [(c, b) for c, b in…</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4990aaa16c6f4fcf"/>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32/50</a:t>
            </a:r>
          </a:p>
        </p:txBody>
      </p:sp>
    </p:spTree>
    <p:extLst>
      <p:ext uri="{BB962C8B-B14F-4D97-AF65-F5344CB8AC3E}">
        <p14:creationId xmlns:p14="http://schemas.microsoft.com/office/powerpoint/2010/main" val="17045924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C80C528-1474-405D-9C90-DF81DDD43E55}"/>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VOCABULARY</a:t>
            </a:r>
          </a:p>
        </p:txBody>
      </p:sp>
      <p:sp>
        <p:nvSpPr>
          <p:cNvPr id="2" name="slide-title">
            <a:extLst xmlns:a="http://schemas.openxmlformats.org/drawingml/2006/main">
              <a:ext uri="{FF2B5EF4-FFF2-40B4-BE49-F238E27FC236}">
                <a16:creationId xmlns:a16="http://schemas.microsoft.com/office/drawing/2014/main" id="{32CF42EB-3729-49E9-8055-C03019AE6F5B}"/>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survived, on our data · Python</a:t>
            </a:r>
          </a:p>
        </p:txBody>
      </p:sp>
      <p:sp>
        <p:nvSpPr>
          <p:cNvPr id="3" name="rule-48-137">
            <a:extLst xmlns:a="http://schemas.openxmlformats.org/drawingml/2006/main">
              <a:ext uri="{FF2B5EF4-FFF2-40B4-BE49-F238E27FC236}">
                <a16:creationId xmlns:a16="http://schemas.microsoft.com/office/drawing/2014/main" id="{D1EEFB01-4024-4D4F-85BC-DDECF0CA954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term-number-0">
            <a:extLst xmlns:a="http://schemas.openxmlformats.org/drawingml/2006/main">
              <a:ext uri="{FF2B5EF4-FFF2-40B4-BE49-F238E27FC236}">
                <a16:creationId xmlns:a16="http://schemas.microsoft.com/office/drawing/2014/main" id="{7338BD65-F7FE-4651-AF04-274443A68BC4}"/>
              </a:ext>
            </a:extLst>
          </p:cNvPr>
          <p:cNvSpPr>
            <a:spLocks xmlns:a="http://schemas.openxmlformats.org/drawingml/2006/main" noGrp="1"/>
          </p:cNvSpPr>
          <p:nvPr/>
        </p:nvSpPr>
        <p:spPr>
          <a:xfrm xmlns:a="http://schemas.openxmlformats.org/drawingml/2006/main">
            <a:off x="4572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01</a:t>
            </a:r>
          </a:p>
        </p:txBody>
      </p:sp>
      <p:sp>
        <p:nvSpPr>
          <p:cNvPr id="5" name="term-title-0">
            <a:extLst xmlns:a="http://schemas.openxmlformats.org/drawingml/2006/main">
              <a:ext uri="{FF2B5EF4-FFF2-40B4-BE49-F238E27FC236}">
                <a16:creationId xmlns:a16="http://schemas.microsoft.com/office/drawing/2014/main" id="{F01754AE-2F8B-477A-8B8B-F186A806271F}"/>
              </a:ext>
            </a:extLst>
          </p:cNvPr>
          <p:cNvSpPr>
            <a:spLocks xmlns:a="http://schemas.openxmlformats.org/drawingml/2006/main" noGrp="1"/>
          </p:cNvSpPr>
          <p:nvPr/>
        </p:nvSpPr>
        <p:spPr>
          <a:xfrm xmlns:a="http://schemas.openxmlformats.org/drawingml/2006/main">
            <a:off x="4572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What survived, on our…</a:t>
            </a:r>
          </a:p>
        </p:txBody>
      </p:sp>
      <p:sp>
        <p:nvSpPr>
          <p:cNvPr id="6" name="rule-48-316">
            <a:extLst xmlns:a="http://schemas.openxmlformats.org/drawingml/2006/main">
              <a:ext uri="{FF2B5EF4-FFF2-40B4-BE49-F238E27FC236}">
                <a16:creationId xmlns:a16="http://schemas.microsoft.com/office/drawing/2014/main" id="{716702AF-1287-4D7F-8496-1CA5C2E0C404}"/>
              </a:ext>
            </a:extLst>
          </p:cNvPr>
          <p:cNvSpPr>
            <a:spLocks xmlns:a="http://schemas.openxmlformats.org/drawingml/2006/main" noGrp="1"/>
          </p:cNvSpPr>
          <p:nvPr/>
        </p:nvSpPr>
        <p:spPr>
          <a:xfrm xmlns:a="http://schemas.openxmlformats.org/drawingml/2006/main">
            <a:off x="4572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term-body-0">
            <a:extLst xmlns:a="http://schemas.openxmlformats.org/drawingml/2006/main">
              <a:ext uri="{FF2B5EF4-FFF2-40B4-BE49-F238E27FC236}">
                <a16:creationId xmlns:a16="http://schemas.microsoft.com/office/drawing/2014/main" id="{E3972F18-A2EB-47F0-8106-2F5D03C26627}"/>
              </a:ext>
            </a:extLst>
          </p:cNvPr>
          <p:cNvSpPr>
            <a:spLocks xmlns:a="http://schemas.openxmlformats.org/drawingml/2006/main" noGrp="1"/>
          </p:cNvSpPr>
          <p:nvPr/>
        </p:nvSpPr>
        <p:spPr>
          <a:xfrm xmlns:a="http://schemas.openxmlformats.org/drawingml/2006/main">
            <a:off x="4572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lcv = LassoCV(cv=5, randomstate=0, maxiter=50000).fit(Ztr, ytr) kept = [(c, b) for c, b in…</a:t>
            </a:r>
          </a:p>
        </p:txBody>
      </p:sp>
      <p:sp>
        <p:nvSpPr>
          <p:cNvPr id="8" name="term-number-1">
            <a:extLst xmlns:a="http://schemas.openxmlformats.org/drawingml/2006/main">
              <a:ext uri="{FF2B5EF4-FFF2-40B4-BE49-F238E27FC236}">
                <a16:creationId xmlns:a16="http://schemas.microsoft.com/office/drawing/2014/main" id="{005594F1-755F-458A-8559-7C8E9144F924}"/>
              </a:ext>
            </a:extLst>
          </p:cNvPr>
          <p:cNvSpPr>
            <a:spLocks xmlns:a="http://schemas.openxmlformats.org/drawingml/2006/main" noGrp="1"/>
          </p:cNvSpPr>
          <p:nvPr/>
        </p:nvSpPr>
        <p:spPr>
          <a:xfrm xmlns:a="http://schemas.openxmlformats.org/drawingml/2006/main">
            <a:off x="424815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02</a:t>
            </a:r>
          </a:p>
        </p:txBody>
      </p:sp>
      <p:sp>
        <p:nvSpPr>
          <p:cNvPr id="9" name="term-title-1">
            <a:extLst xmlns:a="http://schemas.openxmlformats.org/drawingml/2006/main">
              <a:ext uri="{FF2B5EF4-FFF2-40B4-BE49-F238E27FC236}">
                <a16:creationId xmlns:a16="http://schemas.microsoft.com/office/drawing/2014/main" id="{7805FB6D-5B4F-44D6-B108-C5C40F0C3A6E}"/>
              </a:ext>
            </a:extLst>
          </p:cNvPr>
          <p:cNvSpPr>
            <a:spLocks xmlns:a="http://schemas.openxmlformats.org/drawingml/2006/main" noGrp="1"/>
          </p:cNvSpPr>
          <p:nvPr/>
        </p:nvSpPr>
        <p:spPr>
          <a:xfrm xmlns:a="http://schemas.openxmlformats.org/drawingml/2006/main">
            <a:off x="424815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Sparsity</a:t>
            </a:r>
          </a:p>
        </p:txBody>
      </p:sp>
      <p:sp>
        <p:nvSpPr>
          <p:cNvPr id="10" name="rule-446-316">
            <a:extLst xmlns:a="http://schemas.openxmlformats.org/drawingml/2006/main">
              <a:ext uri="{FF2B5EF4-FFF2-40B4-BE49-F238E27FC236}">
                <a16:creationId xmlns:a16="http://schemas.microsoft.com/office/drawing/2014/main" id="{00FB1CC3-E5B4-4416-B665-45C9D71B49F6}"/>
              </a:ext>
            </a:extLst>
          </p:cNvPr>
          <p:cNvSpPr>
            <a:spLocks xmlns:a="http://schemas.openxmlformats.org/drawingml/2006/main" noGrp="1"/>
          </p:cNvSpPr>
          <p:nvPr/>
        </p:nvSpPr>
        <p:spPr>
          <a:xfrm xmlns:a="http://schemas.openxmlformats.org/drawingml/2006/main">
            <a:off x="4248150" y="3009900"/>
            <a:ext cx="3143250" cy="381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term-body-1">
            <a:extLst xmlns:a="http://schemas.openxmlformats.org/drawingml/2006/main">
              <a:ext uri="{FF2B5EF4-FFF2-40B4-BE49-F238E27FC236}">
                <a16:creationId xmlns:a16="http://schemas.microsoft.com/office/drawing/2014/main" id="{059316DC-5928-4A81-B7B7-E763B018742A}"/>
              </a:ext>
            </a:extLst>
          </p:cNvPr>
          <p:cNvSpPr>
            <a:spLocks xmlns:a="http://schemas.openxmlformats.org/drawingml/2006/main" noGrp="1"/>
          </p:cNvSpPr>
          <p:nvPr/>
        </p:nvSpPr>
        <p:spPr>
          <a:xfrm xmlns:a="http://schemas.openxmlformats.org/drawingml/2006/main">
            <a:off x="424815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lcv = LassoCV(cv=5, randomstate=0, maxiter=50000).fit(Ztr, ytr) kept = [(c, b) for c, b in zip(XCOLS,…</a:t>
            </a:r>
          </a:p>
        </p:txBody>
      </p:sp>
      <p:sp>
        <p:nvSpPr>
          <p:cNvPr id="12" name="term-number-2">
            <a:extLst xmlns:a="http://schemas.openxmlformats.org/drawingml/2006/main">
              <a:ext uri="{FF2B5EF4-FFF2-40B4-BE49-F238E27FC236}">
                <a16:creationId xmlns:a16="http://schemas.microsoft.com/office/drawing/2014/main" id="{6E07A6F4-CDBF-4E01-8BB0-297F8C6DBD54}"/>
              </a:ext>
            </a:extLst>
          </p:cNvPr>
          <p:cNvSpPr>
            <a:spLocks xmlns:a="http://schemas.openxmlformats.org/drawingml/2006/main" noGrp="1"/>
          </p:cNvSpPr>
          <p:nvPr/>
        </p:nvSpPr>
        <p:spPr>
          <a:xfrm xmlns:a="http://schemas.openxmlformats.org/drawingml/2006/main">
            <a:off x="80391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03</a:t>
            </a:r>
          </a:p>
        </p:txBody>
      </p:sp>
      <p:sp>
        <p:nvSpPr>
          <p:cNvPr id="13" name="term-title-2">
            <a:extLst xmlns:a="http://schemas.openxmlformats.org/drawingml/2006/main">
              <a:ext uri="{FF2B5EF4-FFF2-40B4-BE49-F238E27FC236}">
                <a16:creationId xmlns:a16="http://schemas.microsoft.com/office/drawing/2014/main" id="{F4A2BCEF-5119-4B1A-9864-6A99D56BAC29}"/>
              </a:ext>
            </a:extLst>
          </p:cNvPr>
          <p:cNvSpPr>
            <a:spLocks xmlns:a="http://schemas.openxmlformats.org/drawingml/2006/main" noGrp="1"/>
          </p:cNvSpPr>
          <p:nvPr/>
        </p:nvSpPr>
        <p:spPr>
          <a:xfrm xmlns:a="http://schemas.openxmlformats.org/drawingml/2006/main">
            <a:off x="80391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λ</a:t>
            </a:r>
          </a:p>
        </p:txBody>
      </p:sp>
      <p:sp>
        <p:nvSpPr>
          <p:cNvPr id="14" name="rule-844-316">
            <a:extLst xmlns:a="http://schemas.openxmlformats.org/drawingml/2006/main">
              <a:ext uri="{FF2B5EF4-FFF2-40B4-BE49-F238E27FC236}">
                <a16:creationId xmlns:a16="http://schemas.microsoft.com/office/drawing/2014/main" id="{DAB5D43D-6D70-4305-AC58-DFC22D0252C3}"/>
              </a:ext>
            </a:extLst>
          </p:cNvPr>
          <p:cNvSpPr>
            <a:spLocks xmlns:a="http://schemas.openxmlformats.org/drawingml/2006/main" noGrp="1"/>
          </p:cNvSpPr>
          <p:nvPr/>
        </p:nvSpPr>
        <p:spPr>
          <a:xfrm xmlns:a="http://schemas.openxmlformats.org/drawingml/2006/main">
            <a:off x="80391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term-body-2">
            <a:extLst xmlns:a="http://schemas.openxmlformats.org/drawingml/2006/main">
              <a:ext uri="{FF2B5EF4-FFF2-40B4-BE49-F238E27FC236}">
                <a16:creationId xmlns:a16="http://schemas.microsoft.com/office/drawing/2014/main" id="{FF48416B-E5CE-4B16-9704-0F78DC32D588}"/>
              </a:ext>
            </a:extLst>
          </p:cNvPr>
          <p:cNvSpPr>
            <a:spLocks xmlns:a="http://schemas.openxmlformats.org/drawingml/2006/main" noGrp="1"/>
          </p:cNvSpPr>
          <p:nvPr/>
        </p:nvSpPr>
        <p:spPr>
          <a:xfrm xmlns:a="http://schemas.openxmlformats.org/drawingml/2006/main">
            <a:off x="80391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Standardise inside the pipeline</a:t>
            </a:r>
          </a:p>
        </p:txBody>
      </p:sp>
      <p:sp>
        <p:nvSpPr>
          <p:cNvPr id="16" name="definition-footer">
            <a:extLst xmlns:a="http://schemas.openxmlformats.org/drawingml/2006/main">
              <a:ext uri="{FF2B5EF4-FFF2-40B4-BE49-F238E27FC236}">
                <a16:creationId xmlns:a16="http://schemas.microsoft.com/office/drawing/2014/main" id="{4AABB398-75BA-48E7-BE04-A6E55D7E9824}"/>
              </a:ext>
            </a:extLst>
          </p:cNvPr>
          <p:cNvSpPr>
            <a:spLocks xmlns:a="http://schemas.openxmlformats.org/drawingml/2006/main" noGrp="1"/>
          </p:cNvSpPr>
          <p:nvPr/>
        </p:nvSpPr>
        <p:spPr>
          <a:xfrm xmlns:a="http://schemas.openxmlformats.org/drawingml/2006/main">
            <a:off x="457200" y="55054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563EB"/>
                </a:solidFill>
                <a:latin typeface="Helvetica Neue"/>
                <a:ea typeface="Helvetica Neue"/>
                <a:cs typeface="Helvetica Neue"/>
              </a:defRPr>
            </a:pPr>
            <a:r>
              <a:rPr sz="1575" b="1">
                <a:solidFill>
                  <a:srgbClr val="2563EB"/>
                </a:solidFill>
                <a:latin typeface="Helvetica Neue"/>
                <a:ea typeface="Helvetica Neue"/>
                <a:cs typeface="Helvetica Neue"/>
              </a:rPr>
              <a:t>A definition becomes useful when it changes what you compute or what you are allowed to claim.</a:t>
            </a:r>
          </a:p>
        </p:txBody>
      </p:sp>
      <p:sp>
        <p:nvSpPr>
          <p:cNvPr id="17" name="rule-48-674">
            <a:extLst xmlns:a="http://schemas.openxmlformats.org/drawingml/2006/main">
              <a:ext uri="{FF2B5EF4-FFF2-40B4-BE49-F238E27FC236}">
                <a16:creationId xmlns:a16="http://schemas.microsoft.com/office/drawing/2014/main" id="{2ACC8367-FA52-47E9-B5E8-8EE1E910C888}"/>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B07CDD74-6159-4192-BE71-6BCA29BEE82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32856D94-272E-475F-87D8-01F6F8E0BC83}"/>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33/50</a:t>
            </a:r>
          </a:p>
        </p:txBody>
      </p:sp>
    </p:spTree>
    <p:extLst>
      <p:ext uri="{BB962C8B-B14F-4D97-AF65-F5344CB8AC3E}">
        <p14:creationId xmlns:p14="http://schemas.microsoft.com/office/powerpoint/2010/main" val="183008060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HOW</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5 · Elastic net</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5 · Elastic net</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Standardise inside the pipeline</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Fit a path of λ values</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Choose by nested or held-out validation</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34/50</a:t>
            </a:r>
          </a:p>
        </p:txBody>
      </p:sp>
    </p:spTree>
    <p:extLst>
      <p:ext uri="{BB962C8B-B14F-4D97-AF65-F5344CB8AC3E}">
        <p14:creationId xmlns:p14="http://schemas.microsoft.com/office/powerpoint/2010/main" val="208211410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VISUAL EXPLANATION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Limitation 2 is not academic</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READ THE FIGURE</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97"/>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Our five AI-adoption columns are all measuring roughly the same thing: GRP = ["aiuseany",…</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5298"/>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Our five AI-adoption columns are all measuring roughly the same thing: GRP = ["aiuseany", "aiuseml",…</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35/50</a:t>
            </a:r>
          </a:p>
        </p:txBody>
      </p:sp>
      <p:sp>
        <p:nvSpPr>
          <p:cNvPr id="35" name="media-matte-regularisation_comparison.png">
            <a:extLst xmlns:a="http://schemas.openxmlformats.org/drawingml/2006/main">
              <a:ext uri="{FF2B5EF4-FFF2-40B4-BE49-F238E27FC236}">
                <a16:creationId xmlns:a16="http://schemas.microsoft.com/office/drawing/2014/main" id="{C5F5BCE9-21D1-4DCC-87BF-18CADE8A5409}"/>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ac4dec8b9354cdb"/>
          <a:stretch xmlns:a="http://schemas.openxmlformats.org/drawingml/2006/main"/>
        </p:blipFill>
        <p:spPr>
          <a:xfrm xmlns:a="http://schemas.openxmlformats.org/drawingml/2006/main">
            <a:off x="457200" y="1843088"/>
            <a:ext cx="6858000" cy="3857625"/>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D265BB83-F1B8-4BDC-B874-2B9DE4239B3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PYTHON</a:t>
            </a:r>
          </a:p>
        </p:txBody>
      </p:sp>
      <p:sp>
        <p:nvSpPr>
          <p:cNvPr id="2" name="slide-title">
            <a:extLst xmlns:a="http://schemas.openxmlformats.org/drawingml/2006/main">
              <a:ext uri="{FF2B5EF4-FFF2-40B4-BE49-F238E27FC236}">
                <a16:creationId xmlns:a16="http://schemas.microsoft.com/office/drawing/2014/main" id="{53F75BA3-90FD-4863-BCE5-6692E8373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estimator</a:t>
            </a:r>
          </a:p>
        </p:txBody>
      </p:sp>
      <p:sp>
        <p:nvSpPr>
          <p:cNvPr id="3" name="rule-48-137">
            <a:extLst xmlns:a="http://schemas.openxmlformats.org/drawingml/2006/main">
              <a:ext uri="{FF2B5EF4-FFF2-40B4-BE49-F238E27FC236}">
                <a16:creationId xmlns:a16="http://schemas.microsoft.com/office/drawing/2014/main" id="{92EE19D2-9919-4F0E-8E33-AF8EDFA276BB}"/>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code-location-title">
            <a:extLst xmlns:a="http://schemas.openxmlformats.org/drawingml/2006/main">
              <a:ext uri="{FF2B5EF4-FFF2-40B4-BE49-F238E27FC236}">
                <a16:creationId xmlns:a16="http://schemas.microsoft.com/office/drawing/2014/main" id="{C87787FD-A427-4748-A6C3-58F3F7D6284B}"/>
              </a:ext>
            </a:extLst>
          </p:cNvPr>
          <p:cNvSpPr>
            <a:spLocks xmlns:a="http://schemas.openxmlformats.org/drawingml/2006/main" noGrp="1"/>
          </p:cNvSpPr>
          <p:nvPr/>
        </p:nvSpPr>
        <p:spPr>
          <a:xfrm xmlns:a="http://schemas.openxmlformats.org/drawingml/2006/main">
            <a:off x="457200" y="16573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START FROM THE DESKTOP CLONE</a:t>
            </a:r>
          </a:p>
        </p:txBody>
      </p:sp>
      <p:sp>
        <p:nvSpPr>
          <p:cNvPr id="5" name="code-location">
            <a:extLst xmlns:a="http://schemas.openxmlformats.org/drawingml/2006/main">
              <a:ext uri="{FF2B5EF4-FFF2-40B4-BE49-F238E27FC236}">
                <a16:creationId xmlns:a16="http://schemas.microsoft.com/office/drawing/2014/main" id="{491146B4-C834-4DF2-A1FA-8F7CB3B94ADE}"/>
              </a:ext>
            </a:extLst>
          </p:cNvPr>
          <p:cNvSpPr>
            <a:spLocks xmlns:a="http://schemas.openxmlformats.org/drawingml/2006/main" noGrp="1"/>
          </p:cNvSpPr>
          <p:nvPr/>
        </p:nvSpPr>
        <p:spPr>
          <a:xfrm xmlns:a="http://schemas.openxmlformats.org/drawingml/2006/main">
            <a:off x="457200" y="20764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~/Desktop/quantitative-methods</a:t>
            </a:r>
          </a:p>
        </p:txBody>
      </p:sp>
      <p:sp>
        <p:nvSpPr>
          <p:cNvPr id="6" name="code-command-title">
            <a:extLst xmlns:a="http://schemas.openxmlformats.org/drawingml/2006/main">
              <a:ext uri="{FF2B5EF4-FFF2-40B4-BE49-F238E27FC236}">
                <a16:creationId xmlns:a16="http://schemas.microsoft.com/office/drawing/2014/main" id="{AC12E83B-F78A-4AAF-911E-6E391B6FE570}"/>
              </a:ext>
            </a:extLst>
          </p:cNvPr>
          <p:cNvSpPr>
            <a:spLocks xmlns:a="http://schemas.openxmlformats.org/drawingml/2006/main" noGrp="1"/>
          </p:cNvSpPr>
          <p:nvPr/>
        </p:nvSpPr>
        <p:spPr>
          <a:xfrm xmlns:a="http://schemas.openxmlformats.org/drawingml/2006/main">
            <a:off x="457200" y="2838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RUN THE COMPLETE SESSION DEMO</a:t>
            </a:r>
          </a:p>
        </p:txBody>
      </p:sp>
      <p:sp>
        <p:nvSpPr>
          <p:cNvPr id="7" name="code-command">
            <a:extLst xmlns:a="http://schemas.openxmlformats.org/drawingml/2006/main">
              <a:ext uri="{FF2B5EF4-FFF2-40B4-BE49-F238E27FC236}">
                <a16:creationId xmlns:a16="http://schemas.microsoft.com/office/drawing/2014/main" id="{14A1E7E7-4C85-4DD1-943B-12D88B761A4B}"/>
              </a:ext>
            </a:extLst>
          </p:cNvPr>
          <p:cNvSpPr>
            <a:spLocks xmlns:a="http://schemas.openxmlformats.org/drawingml/2006/main" noGrp="1"/>
          </p:cNvSpPr>
          <p:nvPr/>
        </p:nvSpPr>
        <p:spPr>
          <a:xfrm xmlns:a="http://schemas.openxmlformats.org/drawingml/2006/main">
            <a:off x="457200" y="3276600"/>
            <a:ext cx="4953000" cy="14097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33350" tIns="114300" rIns="133350" bIns="114300" anchor="t">
            <a:normAutofit fontScale="100000"/>
          </a:bodyPr>
          <a:lstStyle xmlns:a="http://schemas.openxmlformats.org/drawingml/2006/main"/>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~/Desktop/quantitative-methods</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source .venv/bin/activate</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05-ridge-lasso-elastic-net/demo</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python session05_regularisation_demo.py</a:t>
            </a:r>
          </a:p>
        </p:txBody>
      </p:sp>
      <p:sp>
        <p:nvSpPr>
          <p:cNvPr id="8" name="code-windows">
            <a:extLst xmlns:a="http://schemas.openxmlformats.org/drawingml/2006/main">
              <a:ext uri="{FF2B5EF4-FFF2-40B4-BE49-F238E27FC236}">
                <a16:creationId xmlns:a16="http://schemas.microsoft.com/office/drawing/2014/main" id="{2B832BDB-F4EF-477C-8AF7-F9AEFB62B6D4}"/>
              </a:ext>
            </a:extLst>
          </p:cNvPr>
          <p:cNvSpPr>
            <a:spLocks xmlns:a="http://schemas.openxmlformats.org/drawingml/2006/main" noGrp="1"/>
          </p:cNvSpPr>
          <p:nvPr/>
        </p:nvSpPr>
        <p:spPr>
          <a:xfrm xmlns:a="http://schemas.openxmlformats.org/drawingml/2006/main">
            <a:off x="457200" y="4819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536273"/>
                </a:solidFill>
                <a:latin typeface="Menlo"/>
                <a:ea typeface="Menlo"/>
                <a:cs typeface="Menlo"/>
              </a:defRPr>
            </a:pPr>
            <a:r>
              <a:rPr sz="1200" b="0">
                <a:solidFill>
                  <a:srgbClr val="536273"/>
                </a:solidFill>
                <a:latin typeface="Menlo"/>
                <a:ea typeface="Menlo"/>
                <a:cs typeface="Menlo"/>
              </a:rPr>
              <a:t>Windows activation: .venv\Scripts\activate</a:t>
            </a:r>
          </a:p>
        </p:txBody>
      </p:sp>
      <p:sp>
        <p:nvSpPr>
          <p:cNvPr id="9" name="code-snippet">
            <a:extLst xmlns:a="http://schemas.openxmlformats.org/drawingml/2006/main">
              <a:ext uri="{FF2B5EF4-FFF2-40B4-BE49-F238E27FC236}">
                <a16:creationId xmlns:a16="http://schemas.microsoft.com/office/drawing/2014/main" id="{99265DF0-C641-4157-A5BC-21B08C598F0D}"/>
              </a:ext>
            </a:extLst>
          </p:cNvPr>
          <p:cNvSpPr>
            <a:spLocks xmlns:a="http://schemas.openxmlformats.org/drawingml/2006/main" noGrp="1"/>
          </p:cNvSpPr>
          <p:nvPr/>
        </p:nvSpPr>
        <p:spPr>
          <a:xfrm xmlns:a="http://schemas.openxmlformats.org/drawingml/2006/main">
            <a:off x="5943600" y="1657350"/>
            <a:ext cx="5791200" cy="33909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71450" tIns="152400" rIns="171450" bIns="152400" anchor="t">
            <a:normAutofit fontScale="100000"/>
          </a:bodyPr>
          <a:lstStyle xmlns:a="http://schemas.openxmlformats.org/drawingml/2006/main"/>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import numpy as np</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sklearn.linear_model import RidgeCV</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sklearn.pipeline import make_pipeline</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sklearn.preprocessing import StandardScaler</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X = np.arange(30.).reshape(10,3); y = np.arange(10.)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m = make_pipeline(StandardScaler(), RidgeCV([.1,1,10])).fit(X,y)</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print(m[-1].alpha_, m.predict(X[:2]))</a:t>
            </a:r>
          </a:p>
        </p:txBody>
      </p:sp>
      <p:sp>
        <p:nvSpPr>
          <p:cNvPr id="10" name="code-caption">
            <a:extLst xmlns:a="http://schemas.openxmlformats.org/drawingml/2006/main">
              <a:ext uri="{FF2B5EF4-FFF2-40B4-BE49-F238E27FC236}">
                <a16:creationId xmlns:a16="http://schemas.microsoft.com/office/drawing/2014/main" id="{78289761-A279-4315-A997-8383071B2C4C}"/>
              </a:ext>
            </a:extLst>
          </p:cNvPr>
          <p:cNvSpPr>
            <a:spLocks xmlns:a="http://schemas.openxmlformats.org/drawingml/2006/main" noGrp="1"/>
          </p:cNvSpPr>
          <p:nvPr/>
        </p:nvSpPr>
        <p:spPr>
          <a:xfrm xmlns:a="http://schemas.openxmlformats.org/drawingml/2006/main">
            <a:off x="5943600" y="5257800"/>
            <a:ext cx="579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Copy/paste the terminal block exactly. The full demo imports everything it needs, sets its seed, and saves the figure locally.</a:t>
            </a:r>
          </a:p>
        </p:txBody>
      </p:sp>
      <p:sp>
        <p:nvSpPr>
          <p:cNvPr id="11" name="rule-48-674">
            <a:extLst xmlns:a="http://schemas.openxmlformats.org/drawingml/2006/main">
              <a:ext uri="{FF2B5EF4-FFF2-40B4-BE49-F238E27FC236}">
                <a16:creationId xmlns:a16="http://schemas.microsoft.com/office/drawing/2014/main" id="{7EDA6DC4-E18A-4C38-A441-1FC099BE88B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2" name="footer-left">
            <a:extLst xmlns:a="http://schemas.openxmlformats.org/drawingml/2006/main">
              <a:ext uri="{FF2B5EF4-FFF2-40B4-BE49-F238E27FC236}">
                <a16:creationId xmlns:a16="http://schemas.microsoft.com/office/drawing/2014/main" id="{8A5543C0-ECCF-4613-9DDB-DF2CC736ED61}"/>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3" name="footer-right">
            <a:extLst xmlns:a="http://schemas.openxmlformats.org/drawingml/2006/main">
              <a:ext uri="{FF2B5EF4-FFF2-40B4-BE49-F238E27FC236}">
                <a16:creationId xmlns:a16="http://schemas.microsoft.com/office/drawing/2014/main" id="{DD8BF317-E931-4DAD-8D22-ED6F7BDC9F26}"/>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36/50</a:t>
            </a:r>
          </a:p>
        </p:txBody>
      </p:sp>
    </p:spTree>
    <p:extLst>
      <p:ext uri="{BB962C8B-B14F-4D97-AF65-F5344CB8AC3E}">
        <p14:creationId xmlns:p14="http://schemas.microsoft.com/office/powerpoint/2010/main" val="206568300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A7FCBC34-3ADA-4F3D-A67E-7B4F390009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CONCEPT</a:t>
            </a:r>
          </a:p>
        </p:txBody>
      </p:sp>
      <p:sp>
        <p:nvSpPr>
          <p:cNvPr id="2" name="slide-title">
            <a:extLst xmlns:a="http://schemas.openxmlformats.org/drawingml/2006/main">
              <a:ext uri="{FF2B5EF4-FFF2-40B4-BE49-F238E27FC236}">
                <a16:creationId xmlns:a16="http://schemas.microsoft.com/office/drawing/2014/main" id="{CED8EE5E-D9DC-4927-93A4-086D2A718E99}"/>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grouping effect, measured</a:t>
            </a:r>
          </a:p>
        </p:txBody>
      </p:sp>
      <p:sp>
        <p:nvSpPr>
          <p:cNvPr id="3" name="rule-48-137">
            <a:extLst xmlns:a="http://schemas.openxmlformats.org/drawingml/2006/main">
              <a:ext uri="{FF2B5EF4-FFF2-40B4-BE49-F238E27FC236}">
                <a16:creationId xmlns:a16="http://schemas.microsoft.com/office/drawing/2014/main" id="{0C1EC8C7-5606-4238-9546-69CBA9C7FA2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C657BB0B-D025-4398-98B9-996A671B113A}"/>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Lasso: min ||y−Xβ||² + λ||β||₁</a:t>
            </a:r>
          </a:p>
        </p:txBody>
      </p:sp>
      <p:sp>
        <p:nvSpPr>
          <p:cNvPr id="5" name="equation-reading">
            <a:extLst xmlns:a="http://schemas.openxmlformats.org/drawingml/2006/main">
              <a:ext uri="{FF2B5EF4-FFF2-40B4-BE49-F238E27FC236}">
                <a16:creationId xmlns:a16="http://schemas.microsoft.com/office/drawing/2014/main" id="{714B80FE-9AF8-401C-92AB-082201BF4482}"/>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def selfreq(l1ratio, alpha=0.03, B=300, seed=11): """How often is each group member selected, across bootstrap resamples?""" idx = [XCOLS.index(c) for c in GRP]</a:t>
            </a:r>
          </a:p>
        </p:txBody>
      </p:sp>
      <p:sp>
        <p:nvSpPr>
          <p:cNvPr id="6" name="equation-prompt">
            <a:extLst xmlns:a="http://schemas.openxmlformats.org/drawingml/2006/main">
              <a:ext uri="{FF2B5EF4-FFF2-40B4-BE49-F238E27FC236}">
                <a16:creationId xmlns:a16="http://schemas.microsoft.com/office/drawing/2014/main" id="{A9F294A1-C407-436C-AAC6-01F92C2F39B6}"/>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8DC9B53F-030D-4720-B264-6C0B22DC2484}"/>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def selfreq(l1ratio, alpha=0.03, B=300, seed=11): """How often is each group member selected,…</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3cec10bcd0884938"/>
          </a:graphicData>
        </a:graphic>
      </p:graphicFrame>
      <p:sp>
        <p:nvSpPr>
          <p:cNvPr id="9" name="rule-48-674">
            <a:extLst xmlns:a="http://schemas.openxmlformats.org/drawingml/2006/main">
              <a:ext uri="{FF2B5EF4-FFF2-40B4-BE49-F238E27FC236}">
                <a16:creationId xmlns:a16="http://schemas.microsoft.com/office/drawing/2014/main" id="{F1129F64-421B-4DD7-BBD8-606313F1BDB6}"/>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A89C2CB-2EB7-40CD-A29F-40299CACE7A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C47D3986-0C78-4300-9AA7-F583673D21A8}"/>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37/50</a:t>
            </a:r>
          </a:p>
        </p:txBody>
      </p:sp>
    </p:spTree>
    <p:extLst>
      <p:ext uri="{BB962C8B-B14F-4D97-AF65-F5344CB8AC3E}">
        <p14:creationId xmlns:p14="http://schemas.microsoft.com/office/powerpoint/2010/main" val="202921194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14CB035E-CCD8-4A3B-A6BE-26B691065951}"/>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CODE</a:t>
            </a:r>
          </a:p>
        </p:txBody>
      </p:sp>
      <p:sp>
        <p:nvSpPr>
          <p:cNvPr id="2" name="slide-title">
            <a:extLst xmlns:a="http://schemas.openxmlformats.org/drawingml/2006/main">
              <a:ext uri="{FF2B5EF4-FFF2-40B4-BE49-F238E27FC236}">
                <a16:creationId xmlns:a16="http://schemas.microsoft.com/office/drawing/2014/main" id="{F64E5443-A695-44DC-9C9B-9C0C714DDFD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grouping effect, measured · Python</a:t>
            </a:r>
          </a:p>
        </p:txBody>
      </p:sp>
      <p:sp>
        <p:nvSpPr>
          <p:cNvPr id="3" name="rule-48-137">
            <a:extLst xmlns:a="http://schemas.openxmlformats.org/drawingml/2006/main">
              <a:ext uri="{FF2B5EF4-FFF2-40B4-BE49-F238E27FC236}">
                <a16:creationId xmlns:a16="http://schemas.microsoft.com/office/drawing/2014/main" id="{FD5A2F72-BE27-40E4-ACC4-EA19C0BA21D0}"/>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D66350E3-0AF2-4D03-A9C9-1CDA6751CC2B}"/>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Elastic net = loss + λ[α||β||₁ +(1−α)||β||²₂]</a:t>
            </a:r>
          </a:p>
        </p:txBody>
      </p:sp>
      <p:sp>
        <p:nvSpPr>
          <p:cNvPr id="5" name="equation-reading">
            <a:extLst xmlns:a="http://schemas.openxmlformats.org/drawingml/2006/main">
              <a:ext uri="{FF2B5EF4-FFF2-40B4-BE49-F238E27FC236}">
                <a16:creationId xmlns:a16="http://schemas.microsoft.com/office/drawing/2014/main" id="{FF9CB8B1-81E5-4609-9EB8-DC2F0B0E5FB0}"/>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def selfreq(l1ratio, alpha=0.03, B=300, seed=11): """How often is each group member selected, across bootstrap resamples?""" idx = [XCOLS.index(c) for c in GRP]</a:t>
            </a:r>
          </a:p>
        </p:txBody>
      </p:sp>
      <p:sp>
        <p:nvSpPr>
          <p:cNvPr id="6" name="equation-prompt">
            <a:extLst xmlns:a="http://schemas.openxmlformats.org/drawingml/2006/main">
              <a:ext uri="{FF2B5EF4-FFF2-40B4-BE49-F238E27FC236}">
                <a16:creationId xmlns:a16="http://schemas.microsoft.com/office/drawing/2014/main" id="{0FA2A665-22F2-4545-AA88-545C481ECC9A}"/>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636E2140-82E5-4477-8DAF-174ADF36A1F6}"/>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def selfreq(l1ratio, alpha=0.03, B=300, seed=11): """How often is each group member selected,…</a:t>
            </a:r>
          </a:p>
        </p:txBody>
      </p:sp>
      <p:sp>
        <p:nvSpPr>
          <p:cNvPr id="8" name="lasso-field">
            <a:extLst xmlns:a="http://schemas.openxmlformats.org/drawingml/2006/main">
              <a:ext uri="{FF2B5EF4-FFF2-40B4-BE49-F238E27FC236}">
                <a16:creationId xmlns:a16="http://schemas.microsoft.com/office/drawing/2014/main" id="{3AEA489D-5572-4871-8843-3CD39BB4665D}"/>
              </a:ext>
            </a:extLst>
          </p:cNvPr>
          <p:cNvSpPr>
            <a:spLocks xmlns:a="http://schemas.openxmlformats.org/drawingml/2006/main" noGrp="1"/>
          </p:cNvSpPr>
          <p:nvPr/>
        </p:nvSpPr>
        <p:spPr>
          <a:xfrm xmlns:a="http://schemas.openxmlformats.org/drawingml/2006/main">
            <a:off x="5924550" y="1657350"/>
            <a:ext cx="58102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9" name="lasso-title">
            <a:extLst xmlns:a="http://schemas.openxmlformats.org/drawingml/2006/main">
              <a:ext uri="{FF2B5EF4-FFF2-40B4-BE49-F238E27FC236}">
                <a16:creationId xmlns:a16="http://schemas.microsoft.com/office/drawing/2014/main" id="{9535E93E-1CCE-422C-AD13-048209596BEB}"/>
              </a:ext>
            </a:extLst>
          </p:cNvPr>
          <p:cNvSpPr>
            <a:spLocks xmlns:a="http://schemas.openxmlformats.org/drawingml/2006/main" noGrp="1"/>
          </p:cNvSpPr>
          <p:nvPr/>
        </p:nvSpPr>
        <p:spPr>
          <a:xfrm xmlns:a="http://schemas.openxmlformats.org/drawingml/2006/main">
            <a:off x="6248400" y="1885950"/>
            <a:ext cx="5162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10" name="lasso-label-0">
            <a:extLst xmlns:a="http://schemas.openxmlformats.org/drawingml/2006/main">
              <a:ext uri="{FF2B5EF4-FFF2-40B4-BE49-F238E27FC236}">
                <a16:creationId xmlns:a16="http://schemas.microsoft.com/office/drawing/2014/main" id="{5C9C2215-E736-453D-AB74-55E441EFDC64}"/>
              </a:ext>
            </a:extLst>
          </p:cNvPr>
          <p:cNvSpPr>
            <a:spLocks xmlns:a="http://schemas.openxmlformats.org/drawingml/2006/main" noGrp="1"/>
          </p:cNvSpPr>
          <p:nvPr/>
        </p:nvSpPr>
        <p:spPr>
          <a:xfrm xmlns:a="http://schemas.openxmlformats.org/drawingml/2006/main">
            <a:off x="6248400" y="24955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11" name="lasso-track-0">
            <a:extLst xmlns:a="http://schemas.openxmlformats.org/drawingml/2006/main">
              <a:ext uri="{FF2B5EF4-FFF2-40B4-BE49-F238E27FC236}">
                <a16:creationId xmlns:a16="http://schemas.microsoft.com/office/drawing/2014/main" id="{EB3C20BF-E1F6-42E2-886E-AE6E49EC800D}"/>
              </a:ext>
            </a:extLst>
          </p:cNvPr>
          <p:cNvSpPr>
            <a:spLocks xmlns:a="http://schemas.openxmlformats.org/drawingml/2006/main" noGrp="1"/>
          </p:cNvSpPr>
          <p:nvPr/>
        </p:nvSpPr>
        <p:spPr>
          <a:xfrm xmlns:a="http://schemas.openxmlformats.org/drawingml/2006/main">
            <a:off x="6838950" y="25908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2" name="lasso-bar-0">
            <a:extLst xmlns:a="http://schemas.openxmlformats.org/drawingml/2006/main">
              <a:ext uri="{FF2B5EF4-FFF2-40B4-BE49-F238E27FC236}">
                <a16:creationId xmlns:a16="http://schemas.microsoft.com/office/drawing/2014/main" id="{E3DD2267-E857-40C1-9D6C-6DCF45D0582A}"/>
              </a:ext>
            </a:extLst>
          </p:cNvPr>
          <p:cNvSpPr>
            <a:spLocks xmlns:a="http://schemas.openxmlformats.org/drawingml/2006/main" noGrp="1"/>
          </p:cNvSpPr>
          <p:nvPr/>
        </p:nvSpPr>
        <p:spPr>
          <a:xfrm xmlns:a="http://schemas.openxmlformats.org/drawingml/2006/main">
            <a:off x="6838950" y="255270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3" name="lasso-label-1">
            <a:extLst xmlns:a="http://schemas.openxmlformats.org/drawingml/2006/main">
              <a:ext uri="{FF2B5EF4-FFF2-40B4-BE49-F238E27FC236}">
                <a16:creationId xmlns:a16="http://schemas.microsoft.com/office/drawing/2014/main" id="{0521DD6E-BB33-460C-81BF-842ED7FF8D63}"/>
              </a:ext>
            </a:extLst>
          </p:cNvPr>
          <p:cNvSpPr>
            <a:spLocks xmlns:a="http://schemas.openxmlformats.org/drawingml/2006/main" noGrp="1"/>
          </p:cNvSpPr>
          <p:nvPr/>
        </p:nvSpPr>
        <p:spPr>
          <a:xfrm xmlns:a="http://schemas.openxmlformats.org/drawingml/2006/main">
            <a:off x="6248400" y="30480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4" name="lasso-track-1">
            <a:extLst xmlns:a="http://schemas.openxmlformats.org/drawingml/2006/main">
              <a:ext uri="{FF2B5EF4-FFF2-40B4-BE49-F238E27FC236}">
                <a16:creationId xmlns:a16="http://schemas.microsoft.com/office/drawing/2014/main" id="{0B5613AB-DFA2-4B52-920C-1A1928421738}"/>
              </a:ext>
            </a:extLst>
          </p:cNvPr>
          <p:cNvSpPr>
            <a:spLocks xmlns:a="http://schemas.openxmlformats.org/drawingml/2006/main" noGrp="1"/>
          </p:cNvSpPr>
          <p:nvPr/>
        </p:nvSpPr>
        <p:spPr>
          <a:xfrm xmlns:a="http://schemas.openxmlformats.org/drawingml/2006/main">
            <a:off x="6838950" y="31432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5" name="lasso-bar-1">
            <a:extLst xmlns:a="http://schemas.openxmlformats.org/drawingml/2006/main">
              <a:ext uri="{FF2B5EF4-FFF2-40B4-BE49-F238E27FC236}">
                <a16:creationId xmlns:a16="http://schemas.microsoft.com/office/drawing/2014/main" id="{FC318E9C-653B-4A97-A08F-CC361FE10E1D}"/>
              </a:ext>
            </a:extLst>
          </p:cNvPr>
          <p:cNvSpPr>
            <a:spLocks xmlns:a="http://schemas.openxmlformats.org/drawingml/2006/main" noGrp="1"/>
          </p:cNvSpPr>
          <p:nvPr/>
        </p:nvSpPr>
        <p:spPr>
          <a:xfrm xmlns:a="http://schemas.openxmlformats.org/drawingml/2006/main">
            <a:off x="6838950" y="310515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6" name="lasso-label-2">
            <a:extLst xmlns:a="http://schemas.openxmlformats.org/drawingml/2006/main">
              <a:ext uri="{FF2B5EF4-FFF2-40B4-BE49-F238E27FC236}">
                <a16:creationId xmlns:a16="http://schemas.microsoft.com/office/drawing/2014/main" id="{BB85B417-FD35-4D35-BFE8-6CF064394C60}"/>
              </a:ext>
            </a:extLst>
          </p:cNvPr>
          <p:cNvSpPr>
            <a:spLocks xmlns:a="http://schemas.openxmlformats.org/drawingml/2006/main" noGrp="1"/>
          </p:cNvSpPr>
          <p:nvPr/>
        </p:nvSpPr>
        <p:spPr>
          <a:xfrm xmlns:a="http://schemas.openxmlformats.org/drawingml/2006/main">
            <a:off x="6248400" y="36004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7" name="lasso-track-2">
            <a:extLst xmlns:a="http://schemas.openxmlformats.org/drawingml/2006/main">
              <a:ext uri="{FF2B5EF4-FFF2-40B4-BE49-F238E27FC236}">
                <a16:creationId xmlns:a16="http://schemas.microsoft.com/office/drawing/2014/main" id="{792FDFAD-74F1-4037-BECE-5398B27EC5BD}"/>
              </a:ext>
            </a:extLst>
          </p:cNvPr>
          <p:cNvSpPr>
            <a:spLocks xmlns:a="http://schemas.openxmlformats.org/drawingml/2006/main" noGrp="1"/>
          </p:cNvSpPr>
          <p:nvPr/>
        </p:nvSpPr>
        <p:spPr>
          <a:xfrm xmlns:a="http://schemas.openxmlformats.org/drawingml/2006/main">
            <a:off x="6838950" y="36957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8" name="lasso-bar-2">
            <a:extLst xmlns:a="http://schemas.openxmlformats.org/drawingml/2006/main">
              <a:ext uri="{FF2B5EF4-FFF2-40B4-BE49-F238E27FC236}">
                <a16:creationId xmlns:a16="http://schemas.microsoft.com/office/drawing/2014/main" id="{1C0C9592-85A2-4C08-9CF9-094AE63CD9B3}"/>
              </a:ext>
            </a:extLst>
          </p:cNvPr>
          <p:cNvSpPr>
            <a:spLocks xmlns:a="http://schemas.openxmlformats.org/drawingml/2006/main" noGrp="1"/>
          </p:cNvSpPr>
          <p:nvPr/>
        </p:nvSpPr>
        <p:spPr>
          <a:xfrm xmlns:a="http://schemas.openxmlformats.org/drawingml/2006/main">
            <a:off x="6838950" y="365760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9" name="lasso-label-3">
            <a:extLst xmlns:a="http://schemas.openxmlformats.org/drawingml/2006/main">
              <a:ext uri="{FF2B5EF4-FFF2-40B4-BE49-F238E27FC236}">
                <a16:creationId xmlns:a16="http://schemas.microsoft.com/office/drawing/2014/main" id="{B2F67AD9-47AF-4C6C-8C9F-B47E96302F88}"/>
              </a:ext>
            </a:extLst>
          </p:cNvPr>
          <p:cNvSpPr>
            <a:spLocks xmlns:a="http://schemas.openxmlformats.org/drawingml/2006/main" noGrp="1"/>
          </p:cNvSpPr>
          <p:nvPr/>
        </p:nvSpPr>
        <p:spPr>
          <a:xfrm xmlns:a="http://schemas.openxmlformats.org/drawingml/2006/main">
            <a:off x="6248400" y="41529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20" name="lasso-track-3">
            <a:extLst xmlns:a="http://schemas.openxmlformats.org/drawingml/2006/main">
              <a:ext uri="{FF2B5EF4-FFF2-40B4-BE49-F238E27FC236}">
                <a16:creationId xmlns:a16="http://schemas.microsoft.com/office/drawing/2014/main" id="{91AAC046-5415-473B-8CD9-DEDB45A14A32}"/>
              </a:ext>
            </a:extLst>
          </p:cNvPr>
          <p:cNvSpPr>
            <a:spLocks xmlns:a="http://schemas.openxmlformats.org/drawingml/2006/main" noGrp="1"/>
          </p:cNvSpPr>
          <p:nvPr/>
        </p:nvSpPr>
        <p:spPr>
          <a:xfrm xmlns:a="http://schemas.openxmlformats.org/drawingml/2006/main">
            <a:off x="6838950" y="424815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3">
            <a:extLst xmlns:a="http://schemas.openxmlformats.org/drawingml/2006/main">
              <a:ext uri="{FF2B5EF4-FFF2-40B4-BE49-F238E27FC236}">
                <a16:creationId xmlns:a16="http://schemas.microsoft.com/office/drawing/2014/main" id="{1FA6A086-9ED5-46BD-9812-051E4F05C994}"/>
              </a:ext>
            </a:extLst>
          </p:cNvPr>
          <p:cNvSpPr>
            <a:spLocks xmlns:a="http://schemas.openxmlformats.org/drawingml/2006/main" noGrp="1"/>
          </p:cNvSpPr>
          <p:nvPr/>
        </p:nvSpPr>
        <p:spPr>
          <a:xfrm xmlns:a="http://schemas.openxmlformats.org/drawingml/2006/main">
            <a:off x="6800850" y="41910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3">
            <a:extLst xmlns:a="http://schemas.openxmlformats.org/drawingml/2006/main">
              <a:ext uri="{FF2B5EF4-FFF2-40B4-BE49-F238E27FC236}">
                <a16:creationId xmlns:a16="http://schemas.microsoft.com/office/drawing/2014/main" id="{58941E9C-0899-4766-BDDB-AF6FA586EB23}"/>
              </a:ext>
            </a:extLst>
          </p:cNvPr>
          <p:cNvSpPr>
            <a:spLocks xmlns:a="http://schemas.openxmlformats.org/drawingml/2006/main" noGrp="1"/>
          </p:cNvSpPr>
          <p:nvPr/>
        </p:nvSpPr>
        <p:spPr>
          <a:xfrm xmlns:a="http://schemas.openxmlformats.org/drawingml/2006/main">
            <a:off x="7124700" y="41529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label-4">
            <a:extLst xmlns:a="http://schemas.openxmlformats.org/drawingml/2006/main">
              <a:ext uri="{FF2B5EF4-FFF2-40B4-BE49-F238E27FC236}">
                <a16:creationId xmlns:a16="http://schemas.microsoft.com/office/drawing/2014/main" id="{D7FA3C5B-457E-4DE5-B8E2-D9C0E926AE6D}"/>
              </a:ext>
            </a:extLst>
          </p:cNvPr>
          <p:cNvSpPr>
            <a:spLocks xmlns:a="http://schemas.openxmlformats.org/drawingml/2006/main" noGrp="1"/>
          </p:cNvSpPr>
          <p:nvPr/>
        </p:nvSpPr>
        <p:spPr>
          <a:xfrm xmlns:a="http://schemas.openxmlformats.org/drawingml/2006/main">
            <a:off x="6248400" y="47053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4" name="lasso-track-4">
            <a:extLst xmlns:a="http://schemas.openxmlformats.org/drawingml/2006/main">
              <a:ext uri="{FF2B5EF4-FFF2-40B4-BE49-F238E27FC236}">
                <a16:creationId xmlns:a16="http://schemas.microsoft.com/office/drawing/2014/main" id="{25071342-E231-41F3-8012-FC94D8025270}"/>
              </a:ext>
            </a:extLst>
          </p:cNvPr>
          <p:cNvSpPr>
            <a:spLocks xmlns:a="http://schemas.openxmlformats.org/drawingml/2006/main" noGrp="1"/>
          </p:cNvSpPr>
          <p:nvPr/>
        </p:nvSpPr>
        <p:spPr>
          <a:xfrm xmlns:a="http://schemas.openxmlformats.org/drawingml/2006/main">
            <a:off x="6838950" y="4800600"/>
            <a:ext cx="441960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5" name="lasso-zero-4">
            <a:extLst xmlns:a="http://schemas.openxmlformats.org/drawingml/2006/main">
              <a:ext uri="{FF2B5EF4-FFF2-40B4-BE49-F238E27FC236}">
                <a16:creationId xmlns:a16="http://schemas.microsoft.com/office/drawing/2014/main" id="{9CD7EEA9-EA5C-45D0-95FA-66D0C49F9B9E}"/>
              </a:ext>
            </a:extLst>
          </p:cNvPr>
          <p:cNvSpPr>
            <a:spLocks xmlns:a="http://schemas.openxmlformats.org/drawingml/2006/main" noGrp="1"/>
          </p:cNvSpPr>
          <p:nvPr/>
        </p:nvSpPr>
        <p:spPr>
          <a:xfrm xmlns:a="http://schemas.openxmlformats.org/drawingml/2006/main">
            <a:off x="6800850" y="47434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6" name="lasso-zero-label-4">
            <a:extLst xmlns:a="http://schemas.openxmlformats.org/drawingml/2006/main">
              <a:ext uri="{FF2B5EF4-FFF2-40B4-BE49-F238E27FC236}">
                <a16:creationId xmlns:a16="http://schemas.microsoft.com/office/drawing/2014/main" id="{ABFB3F04-14F9-45E8-B0DD-BFFAA13ACE41}"/>
              </a:ext>
            </a:extLst>
          </p:cNvPr>
          <p:cNvSpPr>
            <a:spLocks xmlns:a="http://schemas.openxmlformats.org/drawingml/2006/main" noGrp="1"/>
          </p:cNvSpPr>
          <p:nvPr/>
        </p:nvSpPr>
        <p:spPr>
          <a:xfrm xmlns:a="http://schemas.openxmlformats.org/drawingml/2006/main">
            <a:off x="7124700" y="47053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7" name="lasso-caption">
            <a:extLst xmlns:a="http://schemas.openxmlformats.org/drawingml/2006/main">
              <a:ext uri="{FF2B5EF4-FFF2-40B4-BE49-F238E27FC236}">
                <a16:creationId xmlns:a16="http://schemas.microsoft.com/office/drawing/2014/main" id="{841C1741-7165-46DB-ADC1-9D91428800CA}"/>
              </a:ext>
            </a:extLst>
          </p:cNvPr>
          <p:cNvSpPr>
            <a:spLocks xmlns:a="http://schemas.openxmlformats.org/drawingml/2006/main" noGrp="1"/>
          </p:cNvSpPr>
          <p:nvPr/>
        </p:nvSpPr>
        <p:spPr>
          <a:xfrm xmlns:a="http://schemas.openxmlformats.org/drawingml/2006/main">
            <a:off x="6248400" y="5257800"/>
            <a:ext cx="516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8" name="rule-48-674">
            <a:extLst xmlns:a="http://schemas.openxmlformats.org/drawingml/2006/main">
              <a:ext uri="{FF2B5EF4-FFF2-40B4-BE49-F238E27FC236}">
                <a16:creationId xmlns:a16="http://schemas.microsoft.com/office/drawing/2014/main" id="{9CB94CE9-8FE1-49E7-9622-3DF93FE7D903}"/>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footer-left">
            <a:extLst xmlns:a="http://schemas.openxmlformats.org/drawingml/2006/main">
              <a:ext uri="{FF2B5EF4-FFF2-40B4-BE49-F238E27FC236}">
                <a16:creationId xmlns:a16="http://schemas.microsoft.com/office/drawing/2014/main" id="{CFC81144-E0DA-422C-ADB6-32D3E98C9D2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0" name="footer-right">
            <a:extLst xmlns:a="http://schemas.openxmlformats.org/drawingml/2006/main">
              <a:ext uri="{FF2B5EF4-FFF2-40B4-BE49-F238E27FC236}">
                <a16:creationId xmlns:a16="http://schemas.microsoft.com/office/drawing/2014/main" id="{79782731-636A-4A2F-A481-236828BFEDD1}"/>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38/50</a:t>
            </a:r>
          </a:p>
        </p:txBody>
      </p:sp>
    </p:spTree>
    <p:extLst>
      <p:ext uri="{BB962C8B-B14F-4D97-AF65-F5344CB8AC3E}">
        <p14:creationId xmlns:p14="http://schemas.microsoft.com/office/powerpoint/2010/main" val="127273204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3A82BB33-3433-4725-AF0D-3D7371A3384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FORMULA</a:t>
            </a:r>
          </a:p>
        </p:txBody>
      </p:sp>
      <p:sp>
        <p:nvSpPr>
          <p:cNvPr id="2" name="slide-title">
            <a:extLst xmlns:a="http://schemas.openxmlformats.org/drawingml/2006/main">
              <a:ext uri="{FF2B5EF4-FFF2-40B4-BE49-F238E27FC236}">
                <a16:creationId xmlns:a16="http://schemas.microsoft.com/office/drawing/2014/main" id="{927817A7-B234-405D-B140-1D1BC16E6980}"/>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Why this matters for a paper · read the mathematics</a:t>
            </a:r>
          </a:p>
        </p:txBody>
      </p:sp>
      <p:sp>
        <p:nvSpPr>
          <p:cNvPr id="3" name="rule-48-137">
            <a:extLst xmlns:a="http://schemas.openxmlformats.org/drawingml/2006/main">
              <a:ext uri="{FF2B5EF4-FFF2-40B4-BE49-F238E27FC236}">
                <a16:creationId xmlns:a16="http://schemas.microsoft.com/office/drawing/2014/main" id="{F59326B4-182F-4269-91BA-9F6A3039A28C}"/>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equation">
            <a:extLst xmlns:a="http://schemas.openxmlformats.org/drawingml/2006/main">
              <a:ext uri="{FF2B5EF4-FFF2-40B4-BE49-F238E27FC236}">
                <a16:creationId xmlns:a16="http://schemas.microsoft.com/office/drawing/2014/main" id="{AE73B7AF-3BBA-4183-9620-2CA6155854B4}"/>
              </a:ext>
            </a:extLst>
          </p:cNvPr>
          <p:cNvSpPr>
            <a:spLocks xmlns:a="http://schemas.openxmlformats.org/drawingml/2006/main" noGrp="1"/>
          </p:cNvSpPr>
          <p:nvPr/>
        </p:nvSpPr>
        <p:spPr>
          <a:xfrm xmlns:a="http://schemas.openxmlformats.org/drawingml/2006/main">
            <a:off x="457200" y="1733550"/>
            <a:ext cx="4953000" cy="1143000"/>
          </a:xfrm>
          <a:prstGeom xmlns:a="http://schemas.openxmlformats.org/drawingml/2006/main" prst="rect">
            <a:avLst/>
          </a:prstGeom>
          <a:solidFill xmlns:a="http://schemas.openxmlformats.org/drawingml/2006/main">
            <a:srgbClr val="DDF2FC"/>
          </a:solidFill>
          <a:ln xmlns:a="http://schemas.openxmlformats.org/drawingml/2006/main" w="9525">
            <a:solidFill>
              <a:srgbClr val="B8C0CA"/>
            </a:solid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β̂_j = fracS_λα(ρ_j)1 + λ(1-α)</a:t>
            </a:r>
          </a:p>
        </p:txBody>
      </p:sp>
      <p:sp>
        <p:nvSpPr>
          <p:cNvPr id="5" name="equation-reading">
            <a:extLst xmlns:a="http://schemas.openxmlformats.org/drawingml/2006/main">
              <a:ext uri="{FF2B5EF4-FFF2-40B4-BE49-F238E27FC236}">
                <a16:creationId xmlns:a16="http://schemas.microsoft.com/office/drawing/2014/main" id="{E2BE2A49-C508-4541-A66D-7E19F273B5A7}"/>
              </a:ext>
            </a:extLst>
          </p:cNvPr>
          <p:cNvSpPr>
            <a:spLocks xmlns:a="http://schemas.openxmlformats.org/drawingml/2006/main" noGrp="1"/>
          </p:cNvSpPr>
          <p:nvPr/>
        </p:nvSpPr>
        <p:spPr>
          <a:xfrm xmlns:a="http://schemas.openxmlformats.org/drawingml/2006/main">
            <a:off x="457200" y="3200400"/>
            <a:ext cx="4953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304"/>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For a macro panel where a dozen series measure one construct, this is the difference between a model that says "AI adoption matters" and one that says "industrial production of durable goods excluding motor vehicles, specifically."</a:t>
            </a:r>
          </a:p>
        </p:txBody>
      </p:sp>
      <p:sp>
        <p:nvSpPr>
          <p:cNvPr id="6" name="equation-prompt">
            <a:extLst xmlns:a="http://schemas.openxmlformats.org/drawingml/2006/main">
              <a:ext uri="{FF2B5EF4-FFF2-40B4-BE49-F238E27FC236}">
                <a16:creationId xmlns:a16="http://schemas.microsoft.com/office/drawing/2014/main" id="{7A752CCC-F70A-494B-955B-258578088B7E}"/>
              </a:ext>
            </a:extLst>
          </p:cNvPr>
          <p:cNvSpPr>
            <a:spLocks xmlns:a="http://schemas.openxmlformats.org/drawingml/2006/main" noGrp="1"/>
          </p:cNvSpPr>
          <p:nvPr/>
        </p:nvSpPr>
        <p:spPr>
          <a:xfrm xmlns:a="http://schemas.openxmlformats.org/drawingml/2006/main">
            <a:off x="457200" y="51054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97362"/>
                </a:solidFill>
                <a:latin typeface="Helvetica Neue"/>
                <a:ea typeface="Helvetica Neue"/>
                <a:cs typeface="Helvetica Neue"/>
              </a:defRPr>
            </a:pPr>
            <a:r>
              <a:rPr sz="1125" b="1">
                <a:solidFill>
                  <a:srgbClr val="F97362"/>
                </a:solidFill>
                <a:latin typeface="Helvetica Neue"/>
                <a:ea typeface="Helvetica Neue"/>
                <a:cs typeface="Helvetica Neue"/>
              </a:rPr>
              <a:t>READ IT AS</a:t>
            </a:r>
          </a:p>
        </p:txBody>
      </p:sp>
      <p:sp>
        <p:nvSpPr>
          <p:cNvPr id="7" name="equation-prompt-copy">
            <a:extLst xmlns:a="http://schemas.openxmlformats.org/drawingml/2006/main">
              <a:ext uri="{FF2B5EF4-FFF2-40B4-BE49-F238E27FC236}">
                <a16:creationId xmlns:a16="http://schemas.microsoft.com/office/drawing/2014/main" id="{5D75F2BE-4280-4C6B-AC66-06EAB4B6B957}"/>
              </a:ext>
            </a:extLst>
          </p:cNvPr>
          <p:cNvSpPr>
            <a:spLocks xmlns:a="http://schemas.openxmlformats.org/drawingml/2006/main" noGrp="1"/>
          </p:cNvSpPr>
          <p:nvPr/>
        </p:nvSpPr>
        <p:spPr>
          <a:xfrm xmlns:a="http://schemas.openxmlformats.org/drawingml/2006/main">
            <a:off x="457200" y="5448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For a macro panel where a dozen series measure one construct, this is the difference between a…</a:t>
            </a:r>
          </a:p>
        </p:txBody>
      </p:sp>
      <p:graphicFrame>
        <p:nvGraphicFramePr>
          <p:cNvPr id="21" name="Chart"/>
          <p:cNvGraphicFramePr/>
          <p:nvPr/>
        </p:nvGraphicFramePr>
        <p:xfrm>
          <a:off xmlns:a="http://schemas.openxmlformats.org/drawingml/2006/main" x="5924550" y="1657350"/>
          <a:ext xmlns:a="http://schemas.openxmlformats.org/drawingml/2006/main" cx="5810250" cy="4286250"/>
        </p:xfrm>
        <a:graphic xmlns:a="http://schemas.openxmlformats.org/drawingml/2006/main">
          <a:graphicData uri="http://schemas.openxmlformats.org/drawingml/2006/chart">
            <c:chart xmlns:r="http://schemas.openxmlformats.org/officeDocument/2006/relationships" xmlns:c="http://schemas.openxmlformats.org/drawingml/2006/chart" r:id="Rb48928d31e7f440b"/>
          </a:graphicData>
        </a:graphic>
      </p:graphicFrame>
      <p:sp>
        <p:nvSpPr>
          <p:cNvPr id="9" name="rule-48-674">
            <a:extLst xmlns:a="http://schemas.openxmlformats.org/drawingml/2006/main">
              <a:ext uri="{FF2B5EF4-FFF2-40B4-BE49-F238E27FC236}">
                <a16:creationId xmlns:a16="http://schemas.microsoft.com/office/drawing/2014/main" id="{695149F7-EBDA-477E-93D0-60542A77980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0" name="footer-left">
            <a:extLst xmlns:a="http://schemas.openxmlformats.org/drawingml/2006/main">
              <a:ext uri="{FF2B5EF4-FFF2-40B4-BE49-F238E27FC236}">
                <a16:creationId xmlns:a16="http://schemas.microsoft.com/office/drawing/2014/main" id="{87CD8645-B3E3-4976-9327-DB92CF059E2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1" name="footer-right">
            <a:extLst xmlns:a="http://schemas.openxmlformats.org/drawingml/2006/main">
              <a:ext uri="{FF2B5EF4-FFF2-40B4-BE49-F238E27FC236}">
                <a16:creationId xmlns:a16="http://schemas.microsoft.com/office/drawing/2014/main" id="{688301DE-9EEC-4CD8-8BF3-C0D83587000B}"/>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39/50</a:t>
            </a:r>
          </a:p>
        </p:txBody>
      </p:sp>
    </p:spTree>
    <p:extLst>
      <p:ext uri="{BB962C8B-B14F-4D97-AF65-F5344CB8AC3E}">
        <p14:creationId xmlns:p14="http://schemas.microsoft.com/office/powerpoint/2010/main" val="17045924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8EC660AD-E8E7-4FF5-BDA1-0D614CBF5328}"/>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ASSUMPTIONS</a:t>
            </a:r>
          </a:p>
        </p:txBody>
      </p:sp>
      <p:sp>
        <p:nvSpPr>
          <p:cNvPr id="2" name="slide-title">
            <a:extLst xmlns:a="http://schemas.openxmlformats.org/drawingml/2006/main">
              <a:ext uri="{FF2B5EF4-FFF2-40B4-BE49-F238E27FC236}">
                <a16:creationId xmlns:a16="http://schemas.microsoft.com/office/drawing/2014/main" id="{6BE1177A-D573-418B-8EE5-2C6E39AEA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6 · Choosing λ</a:t>
            </a:r>
          </a:p>
        </p:txBody>
      </p:sp>
      <p:sp>
        <p:nvSpPr>
          <p:cNvPr id="3" name="rule-48-137">
            <a:extLst xmlns:a="http://schemas.openxmlformats.org/drawingml/2006/main">
              <a:ext uri="{FF2B5EF4-FFF2-40B4-BE49-F238E27FC236}">
                <a16:creationId xmlns:a16="http://schemas.microsoft.com/office/drawing/2014/main" id="{74FD44A5-45BB-4756-8BB1-48730F2F9455}"/>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assumption-lead">
            <a:extLst xmlns:a="http://schemas.openxmlformats.org/drawingml/2006/main">
              <a:ext uri="{FF2B5EF4-FFF2-40B4-BE49-F238E27FC236}">
                <a16:creationId xmlns:a16="http://schemas.microsoft.com/office/drawing/2014/main" id="{D4AF6FBE-6BB0-4A9C-B571-FE4B5884634B}"/>
              </a:ext>
            </a:extLst>
          </p:cNvPr>
          <p:cNvSpPr>
            <a:spLocks xmlns:a="http://schemas.openxmlformats.org/drawingml/2006/main" noGrp="1"/>
          </p:cNvSpPr>
          <p:nvPr/>
        </p:nvSpPr>
        <p:spPr>
          <a:xfrm xmlns:a="http://schemas.openxmlformats.org/drawingml/2006/main">
            <a:off x="457200" y="1657350"/>
            <a:ext cx="581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2563EB"/>
                </a:solidFill>
                <a:latin typeface="Helvetica Neue"/>
                <a:ea typeface="Helvetica Neue"/>
                <a:cs typeface="Helvetica Neue"/>
              </a:defRPr>
            </a:pPr>
            <a:r>
              <a:rPr sz="2025" b="1">
                <a:solidFill>
                  <a:srgbClr val="2563EB"/>
                </a:solidFill>
                <a:latin typeface="Helvetica Neue"/>
                <a:ea typeface="Helvetica Neue"/>
                <a:cs typeface="Helvetica Neue"/>
              </a:rPr>
              <a:t>6 · Choosing λ</a:t>
            </a:r>
          </a:p>
        </p:txBody>
      </p:sp>
      <p:sp>
        <p:nvSpPr>
          <p:cNvPr id="5" name="assumption-dot-0">
            <a:extLst xmlns:a="http://schemas.openxmlformats.org/drawingml/2006/main">
              <a:ext uri="{FF2B5EF4-FFF2-40B4-BE49-F238E27FC236}">
                <a16:creationId xmlns:a16="http://schemas.microsoft.com/office/drawing/2014/main" id="{C74D3213-AB06-4FF3-AEBD-B2A04B7482E9}"/>
              </a:ext>
            </a:extLst>
          </p:cNvPr>
          <p:cNvSpPr>
            <a:spLocks xmlns:a="http://schemas.openxmlformats.org/drawingml/2006/main" noGrp="1"/>
          </p:cNvSpPr>
          <p:nvPr/>
        </p:nvSpPr>
        <p:spPr>
          <a:xfrm xmlns:a="http://schemas.openxmlformats.org/drawingml/2006/main">
            <a:off x="6762750" y="17907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6" name="assumption-0">
            <a:extLst xmlns:a="http://schemas.openxmlformats.org/drawingml/2006/main">
              <a:ext uri="{FF2B5EF4-FFF2-40B4-BE49-F238E27FC236}">
                <a16:creationId xmlns:a16="http://schemas.microsoft.com/office/drawing/2014/main" id="{69DD163B-A3DB-400D-97CD-432ECE135561}"/>
              </a:ext>
            </a:extLst>
          </p:cNvPr>
          <p:cNvSpPr>
            <a:spLocks xmlns:a="http://schemas.openxmlformats.org/drawingml/2006/main" noGrp="1"/>
          </p:cNvSpPr>
          <p:nvPr/>
        </p:nvSpPr>
        <p:spPr>
          <a:xfrm xmlns:a="http://schemas.openxmlformats.org/drawingml/2006/main">
            <a:off x="7181850" y="16954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6 · Choosing λ</a:t>
            </a:r>
          </a:p>
        </p:txBody>
      </p:sp>
      <p:sp>
        <p:nvSpPr>
          <p:cNvPr id="7" name="rule-710-254">
            <a:extLst xmlns:a="http://schemas.openxmlformats.org/drawingml/2006/main">
              <a:ext uri="{FF2B5EF4-FFF2-40B4-BE49-F238E27FC236}">
                <a16:creationId xmlns:a16="http://schemas.microsoft.com/office/drawing/2014/main" id="{3A46FC59-6D50-4B86-88EA-E140411EB314}"/>
              </a:ext>
            </a:extLst>
          </p:cNvPr>
          <p:cNvSpPr>
            <a:spLocks xmlns:a="http://schemas.openxmlformats.org/drawingml/2006/main" noGrp="1"/>
          </p:cNvSpPr>
          <p:nvPr/>
        </p:nvSpPr>
        <p:spPr>
          <a:xfrm xmlns:a="http://schemas.openxmlformats.org/drawingml/2006/main">
            <a:off x="6762750" y="24193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8" name="assumption-dot-1">
            <a:extLst xmlns:a="http://schemas.openxmlformats.org/drawingml/2006/main">
              <a:ext uri="{FF2B5EF4-FFF2-40B4-BE49-F238E27FC236}">
                <a16:creationId xmlns:a16="http://schemas.microsoft.com/office/drawing/2014/main" id="{C5249663-8E9D-4047-B1E5-937C72C4FB55}"/>
              </a:ext>
            </a:extLst>
          </p:cNvPr>
          <p:cNvSpPr>
            <a:spLocks xmlns:a="http://schemas.openxmlformats.org/drawingml/2006/main" noGrp="1"/>
          </p:cNvSpPr>
          <p:nvPr/>
        </p:nvSpPr>
        <p:spPr>
          <a:xfrm xmlns:a="http://schemas.openxmlformats.org/drawingml/2006/main">
            <a:off x="6762750" y="27051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9" name="assumption-1">
            <a:extLst xmlns:a="http://schemas.openxmlformats.org/drawingml/2006/main">
              <a:ext uri="{FF2B5EF4-FFF2-40B4-BE49-F238E27FC236}">
                <a16:creationId xmlns:a16="http://schemas.microsoft.com/office/drawing/2014/main" id="{000AE48E-E4F3-4F73-BD2C-169FE21C5333}"/>
              </a:ext>
            </a:extLst>
          </p:cNvPr>
          <p:cNvSpPr>
            <a:spLocks xmlns:a="http://schemas.openxmlformats.org/drawingml/2006/main" noGrp="1"/>
          </p:cNvSpPr>
          <p:nvPr/>
        </p:nvSpPr>
        <p:spPr>
          <a:xfrm xmlns:a="http://schemas.openxmlformats.org/drawingml/2006/main">
            <a:off x="7181850" y="26098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10" name="rule-710-350">
            <a:extLst xmlns:a="http://schemas.openxmlformats.org/drawingml/2006/main">
              <a:ext uri="{FF2B5EF4-FFF2-40B4-BE49-F238E27FC236}">
                <a16:creationId xmlns:a16="http://schemas.microsoft.com/office/drawing/2014/main" id="{BFF5DE9F-1237-4974-8DE2-F81B0DB6418D}"/>
              </a:ext>
            </a:extLst>
          </p:cNvPr>
          <p:cNvSpPr>
            <a:spLocks xmlns:a="http://schemas.openxmlformats.org/drawingml/2006/main" noGrp="1"/>
          </p:cNvSpPr>
          <p:nvPr/>
        </p:nvSpPr>
        <p:spPr>
          <a:xfrm xmlns:a="http://schemas.openxmlformats.org/drawingml/2006/main">
            <a:off x="6762750" y="33337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assumption-dot-2">
            <a:extLst xmlns:a="http://schemas.openxmlformats.org/drawingml/2006/main">
              <a:ext uri="{FF2B5EF4-FFF2-40B4-BE49-F238E27FC236}">
                <a16:creationId xmlns:a16="http://schemas.microsoft.com/office/drawing/2014/main" id="{6450A870-D914-4829-93A4-ADABD3C1A926}"/>
              </a:ext>
            </a:extLst>
          </p:cNvPr>
          <p:cNvSpPr>
            <a:spLocks xmlns:a="http://schemas.openxmlformats.org/drawingml/2006/main" noGrp="1"/>
          </p:cNvSpPr>
          <p:nvPr/>
        </p:nvSpPr>
        <p:spPr>
          <a:xfrm xmlns:a="http://schemas.openxmlformats.org/drawingml/2006/main">
            <a:off x="6762750" y="36195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2" name="assumption-2">
            <a:extLst xmlns:a="http://schemas.openxmlformats.org/drawingml/2006/main">
              <a:ext uri="{FF2B5EF4-FFF2-40B4-BE49-F238E27FC236}">
                <a16:creationId xmlns:a16="http://schemas.microsoft.com/office/drawing/2014/main" id="{0EA19C9A-FFF7-49F8-9838-B65AB79762B0}"/>
              </a:ext>
            </a:extLst>
          </p:cNvPr>
          <p:cNvSpPr>
            <a:spLocks xmlns:a="http://schemas.openxmlformats.org/drawingml/2006/main" noGrp="1"/>
          </p:cNvSpPr>
          <p:nvPr/>
        </p:nvSpPr>
        <p:spPr>
          <a:xfrm xmlns:a="http://schemas.openxmlformats.org/drawingml/2006/main">
            <a:off x="7181850" y="35242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Fit a path of λ values</a:t>
            </a:r>
          </a:p>
        </p:txBody>
      </p:sp>
      <p:sp>
        <p:nvSpPr>
          <p:cNvPr id="13" name="rule-710-446">
            <a:extLst xmlns:a="http://schemas.openxmlformats.org/drawingml/2006/main">
              <a:ext uri="{FF2B5EF4-FFF2-40B4-BE49-F238E27FC236}">
                <a16:creationId xmlns:a16="http://schemas.microsoft.com/office/drawing/2014/main" id="{5A3ABF52-F6A1-4968-A4B7-9ECBF9AA13DF}"/>
              </a:ext>
            </a:extLst>
          </p:cNvPr>
          <p:cNvSpPr>
            <a:spLocks xmlns:a="http://schemas.openxmlformats.org/drawingml/2006/main" noGrp="1"/>
          </p:cNvSpPr>
          <p:nvPr/>
        </p:nvSpPr>
        <p:spPr>
          <a:xfrm xmlns:a="http://schemas.openxmlformats.org/drawingml/2006/main">
            <a:off x="6762750" y="42481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assumption-dot-3">
            <a:extLst xmlns:a="http://schemas.openxmlformats.org/drawingml/2006/main">
              <a:ext uri="{FF2B5EF4-FFF2-40B4-BE49-F238E27FC236}">
                <a16:creationId xmlns:a16="http://schemas.microsoft.com/office/drawing/2014/main" id="{FDAAE2F1-57D8-493B-9782-36DA49AB2577}"/>
              </a:ext>
            </a:extLst>
          </p:cNvPr>
          <p:cNvSpPr>
            <a:spLocks xmlns:a="http://schemas.openxmlformats.org/drawingml/2006/main" noGrp="1"/>
          </p:cNvSpPr>
          <p:nvPr/>
        </p:nvSpPr>
        <p:spPr>
          <a:xfrm xmlns:a="http://schemas.openxmlformats.org/drawingml/2006/main">
            <a:off x="6762750" y="4533900"/>
            <a:ext cx="228600" cy="2286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5" name="assumption-3">
            <a:extLst xmlns:a="http://schemas.openxmlformats.org/drawingml/2006/main">
              <a:ext uri="{FF2B5EF4-FFF2-40B4-BE49-F238E27FC236}">
                <a16:creationId xmlns:a16="http://schemas.microsoft.com/office/drawing/2014/main" id="{D364FFDA-5E48-4783-B8F9-7CD803CBC014}"/>
              </a:ext>
            </a:extLst>
          </p:cNvPr>
          <p:cNvSpPr>
            <a:spLocks xmlns:a="http://schemas.openxmlformats.org/drawingml/2006/main" noGrp="1"/>
          </p:cNvSpPr>
          <p:nvPr/>
        </p:nvSpPr>
        <p:spPr>
          <a:xfrm xmlns:a="http://schemas.openxmlformats.org/drawingml/2006/main">
            <a:off x="7181850" y="44386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Choose by nested or held-out validation</a:t>
            </a:r>
          </a:p>
        </p:txBody>
      </p:sp>
      <p:sp>
        <p:nvSpPr>
          <p:cNvPr id="16" name="assumption-callout">
            <a:extLst xmlns:a="http://schemas.openxmlformats.org/drawingml/2006/main">
              <a:ext uri="{FF2B5EF4-FFF2-40B4-BE49-F238E27FC236}">
                <a16:creationId xmlns:a16="http://schemas.microsoft.com/office/drawing/2014/main" id="{C37DF882-234C-4590-92EC-078B6E918153}"/>
              </a:ext>
            </a:extLst>
          </p:cNvPr>
          <p:cNvSpPr>
            <a:spLocks xmlns:a="http://schemas.openxmlformats.org/drawingml/2006/main" noGrp="1"/>
          </p:cNvSpPr>
          <p:nvPr/>
        </p:nvSpPr>
        <p:spPr>
          <a:xfrm xmlns:a="http://schemas.openxmlformats.org/drawingml/2006/main">
            <a:off x="457200" y="4057650"/>
            <a:ext cx="542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Ask which assumption is most fragile in your article replication—and what observable evidence would reveal the failure.</a:t>
            </a:r>
          </a:p>
        </p:txBody>
      </p:sp>
      <p:sp>
        <p:nvSpPr>
          <p:cNvPr id="17" name="rule-48-674">
            <a:extLst xmlns:a="http://schemas.openxmlformats.org/drawingml/2006/main">
              <a:ext uri="{FF2B5EF4-FFF2-40B4-BE49-F238E27FC236}">
                <a16:creationId xmlns:a16="http://schemas.microsoft.com/office/drawing/2014/main" id="{BAAE104D-3257-43E4-911B-474CAB2A6434}"/>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A1955895-4284-4432-8553-0DDE4D6FA1F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6823EF8C-D383-40EE-8488-CE8824082C8C}"/>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40/50</a:t>
            </a:r>
          </a:p>
        </p:txBody>
      </p:sp>
    </p:spTree>
    <p:extLst>
      <p:ext uri="{BB962C8B-B14F-4D97-AF65-F5344CB8AC3E}">
        <p14:creationId xmlns:p14="http://schemas.microsoft.com/office/powerpoint/2010/main" val="100608594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FC80C528-1474-405D-9C90-DF81DDD43E55}"/>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VOCABULARY</a:t>
            </a:r>
          </a:p>
        </p:txBody>
      </p:sp>
      <p:sp>
        <p:nvSpPr>
          <p:cNvPr id="2" name="slide-title">
            <a:extLst xmlns:a="http://schemas.openxmlformats.org/drawingml/2006/main">
              <a:ext uri="{FF2B5EF4-FFF2-40B4-BE49-F238E27FC236}">
                <a16:creationId xmlns:a16="http://schemas.microsoft.com/office/drawing/2014/main" id="{32CF42EB-3729-49E9-8055-C03019AE6F5B}"/>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The path, and where it starts · read the mathematics</a:t>
            </a:r>
          </a:p>
        </p:txBody>
      </p:sp>
      <p:sp>
        <p:nvSpPr>
          <p:cNvPr id="3" name="rule-48-137">
            <a:extLst xmlns:a="http://schemas.openxmlformats.org/drawingml/2006/main">
              <a:ext uri="{FF2B5EF4-FFF2-40B4-BE49-F238E27FC236}">
                <a16:creationId xmlns:a16="http://schemas.microsoft.com/office/drawing/2014/main" id="{D1EEFB01-4024-4D4F-85BC-DDECF0CA954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term-number-0">
            <a:extLst xmlns:a="http://schemas.openxmlformats.org/drawingml/2006/main">
              <a:ext uri="{FF2B5EF4-FFF2-40B4-BE49-F238E27FC236}">
                <a16:creationId xmlns:a16="http://schemas.microsoft.com/office/drawing/2014/main" id="{7338BD65-F7FE-4651-AF04-274443A68BC4}"/>
              </a:ext>
            </a:extLst>
          </p:cNvPr>
          <p:cNvSpPr>
            <a:spLocks xmlns:a="http://schemas.openxmlformats.org/drawingml/2006/main" noGrp="1"/>
          </p:cNvSpPr>
          <p:nvPr/>
        </p:nvSpPr>
        <p:spPr>
          <a:xfrm xmlns:a="http://schemas.openxmlformats.org/drawingml/2006/main">
            <a:off x="4572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01</a:t>
            </a:r>
          </a:p>
        </p:txBody>
      </p:sp>
      <p:sp>
        <p:nvSpPr>
          <p:cNvPr id="5" name="term-title-0">
            <a:extLst xmlns:a="http://schemas.openxmlformats.org/drawingml/2006/main">
              <a:ext uri="{FF2B5EF4-FFF2-40B4-BE49-F238E27FC236}">
                <a16:creationId xmlns:a16="http://schemas.microsoft.com/office/drawing/2014/main" id="{F01754AE-2F8B-477A-8B8B-F186A806271F}"/>
              </a:ext>
            </a:extLst>
          </p:cNvPr>
          <p:cNvSpPr>
            <a:spLocks xmlns:a="http://schemas.openxmlformats.org/drawingml/2006/main" noGrp="1"/>
          </p:cNvSpPr>
          <p:nvPr/>
        </p:nvSpPr>
        <p:spPr>
          <a:xfrm xmlns:a="http://schemas.openxmlformats.org/drawingml/2006/main">
            <a:off x="4572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The path, and where it…</a:t>
            </a:r>
          </a:p>
        </p:txBody>
      </p:sp>
      <p:sp>
        <p:nvSpPr>
          <p:cNvPr id="6" name="rule-48-316">
            <a:extLst xmlns:a="http://schemas.openxmlformats.org/drawingml/2006/main">
              <a:ext uri="{FF2B5EF4-FFF2-40B4-BE49-F238E27FC236}">
                <a16:creationId xmlns:a16="http://schemas.microsoft.com/office/drawing/2014/main" id="{716702AF-1287-4D7F-8496-1CA5C2E0C404}"/>
              </a:ext>
            </a:extLst>
          </p:cNvPr>
          <p:cNvSpPr>
            <a:spLocks xmlns:a="http://schemas.openxmlformats.org/drawingml/2006/main" noGrp="1"/>
          </p:cNvSpPr>
          <p:nvPr/>
        </p:nvSpPr>
        <p:spPr>
          <a:xfrm xmlns:a="http://schemas.openxmlformats.org/drawingml/2006/main">
            <a:off x="4572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term-body-0">
            <a:extLst xmlns:a="http://schemas.openxmlformats.org/drawingml/2006/main">
              <a:ext uri="{FF2B5EF4-FFF2-40B4-BE49-F238E27FC236}">
                <a16:creationId xmlns:a16="http://schemas.microsoft.com/office/drawing/2014/main" id="{E3972F18-A2EB-47F0-8106-2F5D03C26627}"/>
              </a:ext>
            </a:extLst>
          </p:cNvPr>
          <p:cNvSpPr>
            <a:spLocks xmlns:a="http://schemas.openxmlformats.org/drawingml/2006/main" noGrp="1"/>
          </p:cNvSpPr>
          <p:nvPr/>
        </p:nvSpPr>
        <p:spPr>
          <a:xfrm xmlns:a="http://schemas.openxmlformats.org/drawingml/2006/main">
            <a:off x="4572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Fit over a decreasing grid from — the smallest penalty that still gives the null model — down to…</a:t>
            </a:r>
          </a:p>
        </p:txBody>
      </p:sp>
      <p:sp>
        <p:nvSpPr>
          <p:cNvPr id="8" name="term-number-1">
            <a:extLst xmlns:a="http://schemas.openxmlformats.org/drawingml/2006/main">
              <a:ext uri="{FF2B5EF4-FFF2-40B4-BE49-F238E27FC236}">
                <a16:creationId xmlns:a16="http://schemas.microsoft.com/office/drawing/2014/main" id="{005594F1-755F-458A-8559-7C8E9144F924}"/>
              </a:ext>
            </a:extLst>
          </p:cNvPr>
          <p:cNvSpPr>
            <a:spLocks xmlns:a="http://schemas.openxmlformats.org/drawingml/2006/main" noGrp="1"/>
          </p:cNvSpPr>
          <p:nvPr/>
        </p:nvSpPr>
        <p:spPr>
          <a:xfrm xmlns:a="http://schemas.openxmlformats.org/drawingml/2006/main">
            <a:off x="424815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02</a:t>
            </a:r>
          </a:p>
        </p:txBody>
      </p:sp>
      <p:sp>
        <p:nvSpPr>
          <p:cNvPr id="9" name="term-title-1">
            <a:extLst xmlns:a="http://schemas.openxmlformats.org/drawingml/2006/main">
              <a:ext uri="{FF2B5EF4-FFF2-40B4-BE49-F238E27FC236}">
                <a16:creationId xmlns:a16="http://schemas.microsoft.com/office/drawing/2014/main" id="{7805FB6D-5B4F-44D6-B108-C5C40F0C3A6E}"/>
              </a:ext>
            </a:extLst>
          </p:cNvPr>
          <p:cNvSpPr>
            <a:spLocks xmlns:a="http://schemas.openxmlformats.org/drawingml/2006/main" noGrp="1"/>
          </p:cNvSpPr>
          <p:nvPr/>
        </p:nvSpPr>
        <p:spPr>
          <a:xfrm xmlns:a="http://schemas.openxmlformats.org/drawingml/2006/main">
            <a:off x="424815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Shrinkage</a:t>
            </a:r>
          </a:p>
        </p:txBody>
      </p:sp>
      <p:sp>
        <p:nvSpPr>
          <p:cNvPr id="10" name="rule-446-316">
            <a:extLst xmlns:a="http://schemas.openxmlformats.org/drawingml/2006/main">
              <a:ext uri="{FF2B5EF4-FFF2-40B4-BE49-F238E27FC236}">
                <a16:creationId xmlns:a16="http://schemas.microsoft.com/office/drawing/2014/main" id="{00FB1CC3-E5B4-4416-B665-45C9D71B49F6}"/>
              </a:ext>
            </a:extLst>
          </p:cNvPr>
          <p:cNvSpPr>
            <a:spLocks xmlns:a="http://schemas.openxmlformats.org/drawingml/2006/main" noGrp="1"/>
          </p:cNvSpPr>
          <p:nvPr/>
        </p:nvSpPr>
        <p:spPr>
          <a:xfrm xmlns:a="http://schemas.openxmlformats.org/drawingml/2006/main">
            <a:off x="4248150" y="3009900"/>
            <a:ext cx="3143250" cy="38100"/>
          </a:xfrm>
          <a:prstGeom xmlns:a="http://schemas.openxmlformats.org/drawingml/2006/main" prst="rect">
            <a:avLst/>
          </a:prstGeom>
          <a:solidFill xmlns:a="http://schemas.openxmlformats.org/drawingml/2006/main">
            <a:srgbClr val="2563EB"/>
          </a:solidFill>
          <a:ln xmlns:a="http://schemas.openxmlformats.org/drawingml/2006/main" w="0">
            <a:noFill/>
            <a:prstDash val="solid"/>
          </a:ln>
        </p:spPr>
      </p:sp>
      <p:sp>
        <p:nvSpPr>
          <p:cNvPr id="11" name="term-body-1">
            <a:extLst xmlns:a="http://schemas.openxmlformats.org/drawingml/2006/main">
              <a:ext uri="{FF2B5EF4-FFF2-40B4-BE49-F238E27FC236}">
                <a16:creationId xmlns:a16="http://schemas.microsoft.com/office/drawing/2014/main" id="{059316DC-5928-4A81-B7B7-E763B018742A}"/>
              </a:ext>
            </a:extLst>
          </p:cNvPr>
          <p:cNvSpPr>
            <a:spLocks xmlns:a="http://schemas.openxmlformats.org/drawingml/2006/main" noGrp="1"/>
          </p:cNvSpPr>
          <p:nvPr/>
        </p:nvSpPr>
        <p:spPr>
          <a:xfrm xmlns:a="http://schemas.openxmlformats.org/drawingml/2006/main">
            <a:off x="424815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Not sequentially: the best λ</a:t>
            </a:r>
          </a:p>
        </p:txBody>
      </p:sp>
      <p:sp>
        <p:nvSpPr>
          <p:cNvPr id="12" name="term-number-2">
            <a:extLst xmlns:a="http://schemas.openxmlformats.org/drawingml/2006/main">
              <a:ext uri="{FF2B5EF4-FFF2-40B4-BE49-F238E27FC236}">
                <a16:creationId xmlns:a16="http://schemas.microsoft.com/office/drawing/2014/main" id="{6E07A6F4-CDBF-4E01-8BB0-297F8C6DBD54}"/>
              </a:ext>
            </a:extLst>
          </p:cNvPr>
          <p:cNvSpPr>
            <a:spLocks xmlns:a="http://schemas.openxmlformats.org/drawingml/2006/main" noGrp="1"/>
          </p:cNvSpPr>
          <p:nvPr/>
        </p:nvSpPr>
        <p:spPr>
          <a:xfrm xmlns:a="http://schemas.openxmlformats.org/drawingml/2006/main">
            <a:off x="8039100" y="18669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03</a:t>
            </a:r>
          </a:p>
        </p:txBody>
      </p:sp>
      <p:sp>
        <p:nvSpPr>
          <p:cNvPr id="13" name="term-title-2">
            <a:extLst xmlns:a="http://schemas.openxmlformats.org/drawingml/2006/main">
              <a:ext uri="{FF2B5EF4-FFF2-40B4-BE49-F238E27FC236}">
                <a16:creationId xmlns:a16="http://schemas.microsoft.com/office/drawing/2014/main" id="{F4A2BCEF-5119-4B1A-9864-6A99D56BAC29}"/>
              </a:ext>
            </a:extLst>
          </p:cNvPr>
          <p:cNvSpPr>
            <a:spLocks xmlns:a="http://schemas.openxmlformats.org/drawingml/2006/main" noGrp="1"/>
          </p:cNvSpPr>
          <p:nvPr/>
        </p:nvSpPr>
        <p:spPr>
          <a:xfrm xmlns:a="http://schemas.openxmlformats.org/drawingml/2006/main">
            <a:off x="8039100" y="23431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Sparsity</a:t>
            </a:r>
          </a:p>
        </p:txBody>
      </p:sp>
      <p:sp>
        <p:nvSpPr>
          <p:cNvPr id="14" name="rule-844-316">
            <a:extLst xmlns:a="http://schemas.openxmlformats.org/drawingml/2006/main">
              <a:ext uri="{FF2B5EF4-FFF2-40B4-BE49-F238E27FC236}">
                <a16:creationId xmlns:a16="http://schemas.microsoft.com/office/drawing/2014/main" id="{DAB5D43D-6D70-4305-AC58-DFC22D0252C3}"/>
              </a:ext>
            </a:extLst>
          </p:cNvPr>
          <p:cNvSpPr>
            <a:spLocks xmlns:a="http://schemas.openxmlformats.org/drawingml/2006/main" noGrp="1"/>
          </p:cNvSpPr>
          <p:nvPr/>
        </p:nvSpPr>
        <p:spPr>
          <a:xfrm xmlns:a="http://schemas.openxmlformats.org/drawingml/2006/main">
            <a:off x="8039100" y="3009900"/>
            <a:ext cx="314325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5" name="term-body-2">
            <a:extLst xmlns:a="http://schemas.openxmlformats.org/drawingml/2006/main">
              <a:ext uri="{FF2B5EF4-FFF2-40B4-BE49-F238E27FC236}">
                <a16:creationId xmlns:a16="http://schemas.microsoft.com/office/drawing/2014/main" id="{FF48416B-E5CE-4B16-9704-0F78DC32D588}"/>
              </a:ext>
            </a:extLst>
          </p:cNvPr>
          <p:cNvSpPr>
            <a:spLocks xmlns:a="http://schemas.openxmlformats.org/drawingml/2006/main" noGrp="1"/>
          </p:cNvSpPr>
          <p:nvPr/>
        </p:nvSpPr>
        <p:spPr>
          <a:xfrm xmlns:a="http://schemas.openxmlformats.org/drawingml/2006/main">
            <a:off x="8039100" y="3295650"/>
            <a:ext cx="314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111827"/>
                </a:solidFill>
                <a:latin typeface="Helvetica Neue"/>
                <a:ea typeface="Helvetica Neue"/>
                <a:cs typeface="Helvetica Neue"/>
              </a:defRPr>
            </a:pPr>
            <a:r>
              <a:rPr sz="1650" b="0">
                <a:solidFill>
                  <a:srgbClr val="111827"/>
                </a:solidFill>
                <a:latin typeface="Helvetica Neue"/>
                <a:ea typeface="Helvetica Neue"/>
                <a:cs typeface="Helvetica Neue"/>
              </a:rPr>
              <a:t>Fit over a decreasing grid from — the smallest penalty that still gives the null model — down to ελmax,…</a:t>
            </a:r>
          </a:p>
        </p:txBody>
      </p:sp>
      <p:sp>
        <p:nvSpPr>
          <p:cNvPr id="16" name="definition-footer">
            <a:extLst xmlns:a="http://schemas.openxmlformats.org/drawingml/2006/main">
              <a:ext uri="{FF2B5EF4-FFF2-40B4-BE49-F238E27FC236}">
                <a16:creationId xmlns:a16="http://schemas.microsoft.com/office/drawing/2014/main" id="{4AABB398-75BA-48E7-BE04-A6E55D7E9824}"/>
              </a:ext>
            </a:extLst>
          </p:cNvPr>
          <p:cNvSpPr>
            <a:spLocks xmlns:a="http://schemas.openxmlformats.org/drawingml/2006/main" noGrp="1"/>
          </p:cNvSpPr>
          <p:nvPr/>
        </p:nvSpPr>
        <p:spPr>
          <a:xfrm xmlns:a="http://schemas.openxmlformats.org/drawingml/2006/main">
            <a:off x="457200" y="55054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2563EB"/>
                </a:solidFill>
                <a:latin typeface="Helvetica Neue"/>
                <a:ea typeface="Helvetica Neue"/>
                <a:cs typeface="Helvetica Neue"/>
              </a:defRPr>
            </a:pPr>
            <a:r>
              <a:rPr sz="1575" b="1">
                <a:solidFill>
                  <a:srgbClr val="2563EB"/>
                </a:solidFill>
                <a:latin typeface="Helvetica Neue"/>
                <a:ea typeface="Helvetica Neue"/>
                <a:cs typeface="Helvetica Neue"/>
              </a:rPr>
              <a:t>A definition becomes useful when it changes what you compute or what you are allowed to claim.</a:t>
            </a:r>
          </a:p>
        </p:txBody>
      </p:sp>
      <p:sp>
        <p:nvSpPr>
          <p:cNvPr id="17" name="rule-48-674">
            <a:extLst xmlns:a="http://schemas.openxmlformats.org/drawingml/2006/main">
              <a:ext uri="{FF2B5EF4-FFF2-40B4-BE49-F238E27FC236}">
                <a16:creationId xmlns:a16="http://schemas.microsoft.com/office/drawing/2014/main" id="{2ACC8367-FA52-47E9-B5E8-8EE1E910C888}"/>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B07CDD74-6159-4192-BE71-6BCA29BEE82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32856D94-272E-475F-87D8-01F6F8E0BC83}"/>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41/50</a:t>
            </a:r>
          </a:p>
        </p:txBody>
      </p:sp>
    </p:spTree>
    <p:extLst>
      <p:ext uri="{BB962C8B-B14F-4D97-AF65-F5344CB8AC3E}">
        <p14:creationId xmlns:p14="http://schemas.microsoft.com/office/powerpoint/2010/main" val="183008060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yebrow">
            <a:extLst xmlns:a="http://schemas.openxmlformats.org/drawingml/2006/main">
              <a:ext uri="{FF2B5EF4-FFF2-40B4-BE49-F238E27FC236}">
                <a16:creationId xmlns:a16="http://schemas.microsoft.com/office/drawing/2014/main" id="{094792E9-4AC1-4B1E-8CFC-30B14903DD83}"/>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HOW</a:t>
            </a:r>
          </a:p>
        </p:txBody>
      </p:sp>
      <p:sp>
        <p:nvSpPr>
          <p:cNvPr id="2" name="slide-title">
            <a:extLst xmlns:a="http://schemas.openxmlformats.org/drawingml/2006/main">
              <a:ext uri="{FF2B5EF4-FFF2-40B4-BE49-F238E27FC236}">
                <a16:creationId xmlns:a16="http://schemas.microsoft.com/office/drawing/2014/main" id="{2E4584E0-1552-4F21-90F6-4580AAFAF33E}"/>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CV curve · Python</a:t>
            </a:r>
          </a:p>
        </p:txBody>
      </p:sp>
      <p:sp>
        <p:nvSpPr>
          <p:cNvPr id="3" name="rule-48-137">
            <a:extLst xmlns:a="http://schemas.openxmlformats.org/drawingml/2006/main">
              <a:ext uri="{FF2B5EF4-FFF2-40B4-BE49-F238E27FC236}">
                <a16:creationId xmlns:a16="http://schemas.microsoft.com/office/drawing/2014/main" id="{D1938B0D-545A-4C55-8EE3-5F0ED89F2AC6}"/>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cxnSp>
        <p:nvCxnSpPr>
          <p:cNvPr id="29" name="workflow-edge-0"/>
          <p:cNvCxnSpPr/>
          <p:nvPr/>
        </p:nvCxnSpPr>
        <p:spPr>
          <a:xfrm xmlns:a="http://schemas.openxmlformats.org/drawingml/2006/main">
            <a:off x="401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cxnSp>
        <p:nvCxnSpPr>
          <p:cNvPr id="30" name="workflow-edge-1"/>
          <p:cNvCxnSpPr/>
          <p:nvPr/>
        </p:nvCxnSpPr>
        <p:spPr>
          <a:xfrm xmlns:a="http://schemas.openxmlformats.org/drawingml/2006/main">
            <a:off x="7829550" y="3238500"/>
            <a:ext cx="342900" cy="19050"/>
          </a:xfrm>
          <a:prstGeom xmlns:a="http://schemas.openxmlformats.org/drawingml/2006/main" prst="straightConnector1">
            <a:avLst/>
          </a:prstGeom>
          <a:ln xmlns:a="http://schemas.openxmlformats.org/drawingml/2006/main" w="19050">
            <a:solidFill>
              <a:srgbClr val="B8C0CA"/>
            </a:solidFill>
            <a:prstDash val="solid"/>
          </a:ln>
        </p:spPr>
      </p:cxnSp>
      <p:sp>
        <p:nvSpPr>
          <p:cNvPr id="6" name="workflow-node-0">
            <a:extLst xmlns:a="http://schemas.openxmlformats.org/drawingml/2006/main">
              <a:ext uri="{FF2B5EF4-FFF2-40B4-BE49-F238E27FC236}">
                <a16:creationId xmlns:a16="http://schemas.microsoft.com/office/drawing/2014/main" id="{F7C0816E-C4AF-4E56-821D-26ED0B208B87}"/>
              </a:ext>
            </a:extLst>
          </p:cNvPr>
          <p:cNvSpPr>
            <a:spLocks xmlns:a="http://schemas.openxmlformats.org/drawingml/2006/main" noGrp="1"/>
          </p:cNvSpPr>
          <p:nvPr/>
        </p:nvSpPr>
        <p:spPr>
          <a:xfrm xmlns:a="http://schemas.openxmlformats.org/drawingml/2006/main">
            <a:off x="552450" y="1981200"/>
            <a:ext cx="3467100" cy="2514600"/>
          </a:xfrm>
          <a:prstGeom xmlns:a="http://schemas.openxmlformats.org/drawingml/2006/main" prst="roundRect">
            <a:avLst>
              <a:gd name="adj" fmla="val 3030"/>
            </a:avLst>
          </a:prstGeom>
          <a:solidFill xmlns:a="http://schemas.openxmlformats.org/drawingml/2006/main">
            <a:srgbClr val="DDF2FC"/>
          </a:solidFill>
          <a:ln xmlns:a="http://schemas.openxmlformats.org/drawingml/2006/main" w="9525">
            <a:solidFill>
              <a:srgbClr val="B8C0CA"/>
            </a:solidFill>
            <a:prstDash val="solid"/>
          </a:ln>
        </p:spPr>
      </p:sp>
      <p:sp>
        <p:nvSpPr>
          <p:cNvPr id="7" name="workflow-text-0">
            <a:extLst xmlns:a="http://schemas.openxmlformats.org/drawingml/2006/main">
              <a:ext uri="{FF2B5EF4-FFF2-40B4-BE49-F238E27FC236}">
                <a16:creationId xmlns:a16="http://schemas.microsoft.com/office/drawing/2014/main" id="{3388C77B-47EE-43E3-B1BD-86C92C5375BF}"/>
              </a:ext>
            </a:extLst>
          </p:cNvPr>
          <p:cNvSpPr>
            <a:spLocks xmlns:a="http://schemas.openxmlformats.org/drawingml/2006/main" noGrp="1"/>
          </p:cNvSpPr>
          <p:nvPr/>
        </p:nvSpPr>
        <p:spPr>
          <a:xfrm xmlns:a="http://schemas.openxmlformats.org/drawingml/2006/main">
            <a:off x="64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folds = KFold(nsplits=5, shuffle=True, randomstate=0) grid2 = np.logspace(-3, 0.2, 60) lc =…</a:t>
            </a:r>
          </a:p>
        </p:txBody>
      </p:sp>
      <p:sp>
        <p:nvSpPr>
          <p:cNvPr id="8" name="workflow-node-1">
            <a:extLst xmlns:a="http://schemas.openxmlformats.org/drawingml/2006/main">
              <a:ext uri="{FF2B5EF4-FFF2-40B4-BE49-F238E27FC236}">
                <a16:creationId xmlns:a16="http://schemas.microsoft.com/office/drawing/2014/main" id="{B33F3CEF-E8EF-449C-B2F1-035FAE82A54C}"/>
              </a:ext>
            </a:extLst>
          </p:cNvPr>
          <p:cNvSpPr>
            <a:spLocks xmlns:a="http://schemas.openxmlformats.org/drawingml/2006/main" noGrp="1"/>
          </p:cNvSpPr>
          <p:nvPr/>
        </p:nvSpPr>
        <p:spPr>
          <a:xfrm xmlns:a="http://schemas.openxmlformats.org/drawingml/2006/main">
            <a:off x="4362450" y="1981200"/>
            <a:ext cx="3467100" cy="2514600"/>
          </a:xfrm>
          <a:prstGeom xmlns:a="http://schemas.openxmlformats.org/drawingml/2006/main" prst="roundRect">
            <a:avLst>
              <a:gd name="adj" fmla="val 3030"/>
            </a:avLst>
          </a:prstGeom>
          <a:solidFill xmlns:a="http://schemas.openxmlformats.org/drawingml/2006/main">
            <a:srgbClr val="EDF1F5"/>
          </a:solidFill>
          <a:ln xmlns:a="http://schemas.openxmlformats.org/drawingml/2006/main" w="9525">
            <a:solidFill>
              <a:srgbClr val="B8C0CA"/>
            </a:solidFill>
            <a:prstDash val="solid"/>
          </a:ln>
        </p:spPr>
      </p:sp>
      <p:sp>
        <p:nvSpPr>
          <p:cNvPr id="9" name="workflow-text-1">
            <a:extLst xmlns:a="http://schemas.openxmlformats.org/drawingml/2006/main">
              <a:ext uri="{FF2B5EF4-FFF2-40B4-BE49-F238E27FC236}">
                <a16:creationId xmlns:a16="http://schemas.microsoft.com/office/drawing/2014/main" id="{654B43AF-3E84-4187-B37F-F66015A87E2B}"/>
              </a:ext>
            </a:extLst>
          </p:cNvPr>
          <p:cNvSpPr>
            <a:spLocks xmlns:a="http://schemas.openxmlformats.org/drawingml/2006/main" noGrp="1"/>
          </p:cNvSpPr>
          <p:nvPr/>
        </p:nvSpPr>
        <p:spPr>
          <a:xfrm xmlns:a="http://schemas.openxmlformats.org/drawingml/2006/main">
            <a:off x="445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Standardise inside the pipeline</a:t>
            </a:r>
          </a:p>
        </p:txBody>
      </p:sp>
      <p:sp>
        <p:nvSpPr>
          <p:cNvPr id="10" name="workflow-node-2">
            <a:extLst xmlns:a="http://schemas.openxmlformats.org/drawingml/2006/main">
              <a:ext uri="{FF2B5EF4-FFF2-40B4-BE49-F238E27FC236}">
                <a16:creationId xmlns:a16="http://schemas.microsoft.com/office/drawing/2014/main" id="{DDFBA83C-847A-45B6-AE0D-7B48C64450BC}"/>
              </a:ext>
            </a:extLst>
          </p:cNvPr>
          <p:cNvSpPr>
            <a:spLocks xmlns:a="http://schemas.openxmlformats.org/drawingml/2006/main" noGrp="1"/>
          </p:cNvSpPr>
          <p:nvPr/>
        </p:nvSpPr>
        <p:spPr>
          <a:xfrm xmlns:a="http://schemas.openxmlformats.org/drawingml/2006/main">
            <a:off x="8172450" y="1981200"/>
            <a:ext cx="3467100" cy="2514600"/>
          </a:xfrm>
          <a:prstGeom xmlns:a="http://schemas.openxmlformats.org/drawingml/2006/main" prst="roundRect">
            <a:avLst>
              <a:gd name="adj" fmla="val 3030"/>
            </a:avLst>
          </a:prstGeom>
          <a:solidFill xmlns:a="http://schemas.openxmlformats.org/drawingml/2006/main">
            <a:srgbClr val="FDEAE5"/>
          </a:solidFill>
          <a:ln xmlns:a="http://schemas.openxmlformats.org/drawingml/2006/main" w="9525">
            <a:solidFill>
              <a:srgbClr val="B8C0CA"/>
            </a:solidFill>
            <a:prstDash val="solid"/>
          </a:ln>
        </p:spPr>
      </p:sp>
      <p:sp>
        <p:nvSpPr>
          <p:cNvPr id="11" name="workflow-text-2">
            <a:extLst xmlns:a="http://schemas.openxmlformats.org/drawingml/2006/main">
              <a:ext uri="{FF2B5EF4-FFF2-40B4-BE49-F238E27FC236}">
                <a16:creationId xmlns:a16="http://schemas.microsoft.com/office/drawing/2014/main" id="{E98AB71C-253D-4929-B03B-504F378A410D}"/>
              </a:ext>
            </a:extLst>
          </p:cNvPr>
          <p:cNvSpPr>
            <a:spLocks xmlns:a="http://schemas.openxmlformats.org/drawingml/2006/main" noGrp="1"/>
          </p:cNvSpPr>
          <p:nvPr/>
        </p:nvSpPr>
        <p:spPr>
          <a:xfrm xmlns:a="http://schemas.openxmlformats.org/drawingml/2006/main">
            <a:off x="8267700" y="2095500"/>
            <a:ext cx="32766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111827"/>
                </a:solidFill>
                <a:latin typeface="Helvetica Neue"/>
                <a:ea typeface="Helvetica Neue"/>
                <a:cs typeface="Helvetica Neue"/>
              </a:defRPr>
            </a:pPr>
            <a:r>
              <a:rPr sz="1725" b="1">
                <a:solidFill>
                  <a:srgbClr val="111827"/>
                </a:solidFill>
                <a:latin typeface="Helvetica Neue"/>
                <a:ea typeface="Helvetica Neue"/>
                <a:cs typeface="Helvetica Neue"/>
              </a:rPr>
              <a:t>Fit a path of λ values</a:t>
            </a:r>
          </a:p>
        </p:txBody>
      </p:sp>
      <p:sp>
        <p:nvSpPr>
          <p:cNvPr id="12" name="workflow-warning">
            <a:extLst xmlns:a="http://schemas.openxmlformats.org/drawingml/2006/main">
              <a:ext uri="{FF2B5EF4-FFF2-40B4-BE49-F238E27FC236}">
                <a16:creationId xmlns:a16="http://schemas.microsoft.com/office/drawing/2014/main" id="{BCD6138A-7035-48C7-AE19-AAF4B92BA856}"/>
              </a:ext>
            </a:extLst>
          </p:cNvPr>
          <p:cNvSpPr>
            <a:spLocks xmlns:a="http://schemas.openxmlformats.org/drawingml/2006/main" noGrp="1"/>
          </p:cNvSpPr>
          <p:nvPr/>
        </p:nvSpPr>
        <p:spPr>
          <a:xfrm xmlns:a="http://schemas.openxmlformats.org/drawingml/2006/main">
            <a:off x="1524000" y="521970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a:solidFill>
                  <a:srgbClr val="F97362"/>
                </a:solidFill>
                <a:latin typeface="Helvetica Neue"/>
                <a:ea typeface="Helvetica Neue"/>
                <a:cs typeface="Helvetica Neue"/>
              </a:defRPr>
            </a:pPr>
            <a:r>
              <a:rPr sz="1725" b="1">
                <a:solidFill>
                  <a:srgbClr val="F97362"/>
                </a:solidFill>
                <a:latin typeface="Helvetica Neue"/>
                <a:ea typeface="Helvetica Neue"/>
                <a:cs typeface="Helvetica Neue"/>
              </a:rPr>
              <a:t>Choose by nested or held-out validation</a:t>
            </a:r>
          </a:p>
        </p:txBody>
      </p:sp>
      <p:sp>
        <p:nvSpPr>
          <p:cNvPr id="13" name="rule-48-674">
            <a:extLst xmlns:a="http://schemas.openxmlformats.org/drawingml/2006/main">
              <a:ext uri="{FF2B5EF4-FFF2-40B4-BE49-F238E27FC236}">
                <a16:creationId xmlns:a16="http://schemas.microsoft.com/office/drawing/2014/main" id="{4C7765F6-8830-4E39-85E0-5539C7205E15}"/>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footer-left">
            <a:extLst xmlns:a="http://schemas.openxmlformats.org/drawingml/2006/main">
              <a:ext uri="{FF2B5EF4-FFF2-40B4-BE49-F238E27FC236}">
                <a16:creationId xmlns:a16="http://schemas.microsoft.com/office/drawing/2014/main" id="{C7BE1A2B-4FB6-45C7-871D-16703F899EF0}"/>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5" name="footer-right">
            <a:extLst xmlns:a="http://schemas.openxmlformats.org/drawingml/2006/main">
              <a:ext uri="{FF2B5EF4-FFF2-40B4-BE49-F238E27FC236}">
                <a16:creationId xmlns:a16="http://schemas.microsoft.com/office/drawing/2014/main" id="{365C5D4F-77D1-4CC5-8D72-BED64C20460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42/50</a:t>
            </a:r>
          </a:p>
        </p:txBody>
      </p:sp>
    </p:spTree>
    <p:extLst>
      <p:ext uri="{BB962C8B-B14F-4D97-AF65-F5344CB8AC3E}">
        <p14:creationId xmlns:p14="http://schemas.microsoft.com/office/powerpoint/2010/main" val="208211410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D79F4C42-46B6-40E4-AA5F-39B51ED5A54C}"/>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VISUAL EXPLANATION</a:t>
            </a:r>
          </a:p>
        </p:txBody>
      </p:sp>
      <p:sp>
        <p:nvSpPr>
          <p:cNvPr id="2" name="slide-title">
            <a:extLst xmlns:a="http://schemas.openxmlformats.org/drawingml/2006/main">
              <a:ext uri="{FF2B5EF4-FFF2-40B4-BE49-F238E27FC236}">
                <a16:creationId xmlns:a16="http://schemas.microsoft.com/office/drawing/2014/main" id="{74D3DE3C-B2F4-4332-BA52-E6EF4D8473E1}"/>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Two conventions, and when to use which</a:t>
            </a:r>
          </a:p>
        </p:txBody>
      </p:sp>
      <p:sp>
        <p:nvSpPr>
          <p:cNvPr id="3" name="rule-48-137">
            <a:extLst xmlns:a="http://schemas.openxmlformats.org/drawingml/2006/main">
              <a:ext uri="{FF2B5EF4-FFF2-40B4-BE49-F238E27FC236}">
                <a16:creationId xmlns:a16="http://schemas.microsoft.com/office/drawing/2014/main" id="{0F00B84D-C5BF-477F-A1F5-7FA42B1C25CA}"/>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lasso-field">
            <a:extLst xmlns:a="http://schemas.openxmlformats.org/drawingml/2006/main">
              <a:ext uri="{FF2B5EF4-FFF2-40B4-BE49-F238E27FC236}">
                <a16:creationId xmlns:a16="http://schemas.microsoft.com/office/drawing/2014/main" id="{BA5D11F1-DEBE-4C97-AABB-2D0044D8B3D2}"/>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9525">
            <a:solidFill>
              <a:srgbClr val="B8C0CA"/>
            </a:solidFill>
            <a:prstDash val="solid"/>
          </a:ln>
        </p:spPr>
      </p:sp>
      <p:sp>
        <p:nvSpPr>
          <p:cNvPr id="5" name="lasso-title">
            <a:extLst xmlns:a="http://schemas.openxmlformats.org/drawingml/2006/main">
              <a:ext uri="{FF2B5EF4-FFF2-40B4-BE49-F238E27FC236}">
                <a16:creationId xmlns:a16="http://schemas.microsoft.com/office/drawing/2014/main" id="{AC00F030-0125-4F08-BD6A-3A1765ADDFFC}"/>
              </a:ext>
            </a:extLst>
          </p:cNvPr>
          <p:cNvSpPr>
            <a:spLocks xmlns:a="http://schemas.openxmlformats.org/drawingml/2006/main" noGrp="1"/>
          </p:cNvSpPr>
          <p:nvPr/>
        </p:nvSpPr>
        <p:spPr>
          <a:xfrm xmlns:a="http://schemas.openxmlformats.org/drawingml/2006/main">
            <a:off x="781050" y="1828800"/>
            <a:ext cx="621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111827"/>
                </a:solidFill>
                <a:latin typeface="Helvetica Neue"/>
                <a:ea typeface="Helvetica Neue"/>
                <a:cs typeface="Helvetica Neue"/>
              </a:defRPr>
            </a:pPr>
            <a:r>
              <a:rPr sz="1800" b="1">
                <a:solidFill>
                  <a:srgbClr val="111827"/>
                </a:solidFill>
                <a:latin typeface="Helvetica Neue"/>
                <a:ea typeface="Helvetica Neue"/>
                <a:cs typeface="Helvetica Neue"/>
              </a:rPr>
              <a:t>Coefficients after the Lasso penalty</a:t>
            </a:r>
          </a:p>
        </p:txBody>
      </p:sp>
      <p:sp>
        <p:nvSpPr>
          <p:cNvPr id="6" name="lasso-label-0">
            <a:extLst xmlns:a="http://schemas.openxmlformats.org/drawingml/2006/main">
              <a:ext uri="{FF2B5EF4-FFF2-40B4-BE49-F238E27FC236}">
                <a16:creationId xmlns:a16="http://schemas.microsoft.com/office/drawing/2014/main" id="{AF8A4354-E55A-4F63-899B-77BFA59D921F}"/>
              </a:ext>
            </a:extLst>
          </p:cNvPr>
          <p:cNvSpPr>
            <a:spLocks xmlns:a="http://schemas.openxmlformats.org/drawingml/2006/main" noGrp="1"/>
          </p:cNvSpPr>
          <p:nvPr/>
        </p:nvSpPr>
        <p:spPr>
          <a:xfrm xmlns:a="http://schemas.openxmlformats.org/drawingml/2006/main">
            <a:off x="781050" y="24384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x₁</a:t>
            </a:r>
          </a:p>
        </p:txBody>
      </p:sp>
      <p:sp>
        <p:nvSpPr>
          <p:cNvPr id="7" name="lasso-track-0">
            <a:extLst xmlns:a="http://schemas.openxmlformats.org/drawingml/2006/main">
              <a:ext uri="{FF2B5EF4-FFF2-40B4-BE49-F238E27FC236}">
                <a16:creationId xmlns:a16="http://schemas.microsoft.com/office/drawing/2014/main" id="{70BF428E-482B-4830-ADC9-B98CD25DCA8C}"/>
              </a:ext>
            </a:extLst>
          </p:cNvPr>
          <p:cNvSpPr>
            <a:spLocks xmlns:a="http://schemas.openxmlformats.org/drawingml/2006/main" noGrp="1"/>
          </p:cNvSpPr>
          <p:nvPr/>
        </p:nvSpPr>
        <p:spPr>
          <a:xfrm xmlns:a="http://schemas.openxmlformats.org/drawingml/2006/main">
            <a:off x="1371600" y="25336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8" name="lasso-bar-0">
            <a:extLst xmlns:a="http://schemas.openxmlformats.org/drawingml/2006/main">
              <a:ext uri="{FF2B5EF4-FFF2-40B4-BE49-F238E27FC236}">
                <a16:creationId xmlns:a16="http://schemas.microsoft.com/office/drawing/2014/main" id="{3567171D-1B06-41BA-BA35-8C454CA0AB1C}"/>
              </a:ext>
            </a:extLst>
          </p:cNvPr>
          <p:cNvSpPr>
            <a:spLocks xmlns:a="http://schemas.openxmlformats.org/drawingml/2006/main" noGrp="1"/>
          </p:cNvSpPr>
          <p:nvPr/>
        </p:nvSpPr>
        <p:spPr>
          <a:xfrm xmlns:a="http://schemas.openxmlformats.org/drawingml/2006/main">
            <a:off x="1371600" y="2495550"/>
            <a:ext cx="304609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9" name="lasso-label-1">
            <a:extLst xmlns:a="http://schemas.openxmlformats.org/drawingml/2006/main">
              <a:ext uri="{FF2B5EF4-FFF2-40B4-BE49-F238E27FC236}">
                <a16:creationId xmlns:a16="http://schemas.microsoft.com/office/drawing/2014/main" id="{E7FD3BCF-D50B-4C37-846C-A4E5C0F1648C}"/>
              </a:ext>
            </a:extLst>
          </p:cNvPr>
          <p:cNvSpPr>
            <a:spLocks xmlns:a="http://schemas.openxmlformats.org/drawingml/2006/main" noGrp="1"/>
          </p:cNvSpPr>
          <p:nvPr/>
        </p:nvSpPr>
        <p:spPr>
          <a:xfrm xmlns:a="http://schemas.openxmlformats.org/drawingml/2006/main">
            <a:off x="781050" y="29908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x₂</a:t>
            </a:r>
          </a:p>
        </p:txBody>
      </p:sp>
      <p:sp>
        <p:nvSpPr>
          <p:cNvPr id="10" name="lasso-track-1">
            <a:extLst xmlns:a="http://schemas.openxmlformats.org/drawingml/2006/main">
              <a:ext uri="{FF2B5EF4-FFF2-40B4-BE49-F238E27FC236}">
                <a16:creationId xmlns:a16="http://schemas.microsoft.com/office/drawing/2014/main" id="{099E766A-70D6-4FCC-B814-B60E422D4F8F}"/>
              </a:ext>
            </a:extLst>
          </p:cNvPr>
          <p:cNvSpPr>
            <a:spLocks xmlns:a="http://schemas.openxmlformats.org/drawingml/2006/main" noGrp="1"/>
          </p:cNvSpPr>
          <p:nvPr/>
        </p:nvSpPr>
        <p:spPr>
          <a:xfrm xmlns:a="http://schemas.openxmlformats.org/drawingml/2006/main">
            <a:off x="1371600" y="30861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1" name="lasso-bar-1">
            <a:extLst xmlns:a="http://schemas.openxmlformats.org/drawingml/2006/main">
              <a:ext uri="{FF2B5EF4-FFF2-40B4-BE49-F238E27FC236}">
                <a16:creationId xmlns:a16="http://schemas.microsoft.com/office/drawing/2014/main" id="{739EB7A0-B927-4850-AEF5-03168F0330FD}"/>
              </a:ext>
            </a:extLst>
          </p:cNvPr>
          <p:cNvSpPr>
            <a:spLocks xmlns:a="http://schemas.openxmlformats.org/drawingml/2006/main" noGrp="1"/>
          </p:cNvSpPr>
          <p:nvPr/>
        </p:nvSpPr>
        <p:spPr>
          <a:xfrm xmlns:a="http://schemas.openxmlformats.org/drawingml/2006/main">
            <a:off x="1371600" y="3048000"/>
            <a:ext cx="2108835"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2" name="lasso-label-2">
            <a:extLst xmlns:a="http://schemas.openxmlformats.org/drawingml/2006/main">
              <a:ext uri="{FF2B5EF4-FFF2-40B4-BE49-F238E27FC236}">
                <a16:creationId xmlns:a16="http://schemas.microsoft.com/office/drawing/2014/main" id="{1C450293-A664-4D07-9541-3F5F7708AD75}"/>
              </a:ext>
            </a:extLst>
          </p:cNvPr>
          <p:cNvSpPr>
            <a:spLocks xmlns:a="http://schemas.openxmlformats.org/drawingml/2006/main" noGrp="1"/>
          </p:cNvSpPr>
          <p:nvPr/>
        </p:nvSpPr>
        <p:spPr>
          <a:xfrm xmlns:a="http://schemas.openxmlformats.org/drawingml/2006/main">
            <a:off x="781050" y="35433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x₃</a:t>
            </a:r>
          </a:p>
        </p:txBody>
      </p:sp>
      <p:sp>
        <p:nvSpPr>
          <p:cNvPr id="13" name="lasso-track-2">
            <a:extLst xmlns:a="http://schemas.openxmlformats.org/drawingml/2006/main">
              <a:ext uri="{FF2B5EF4-FFF2-40B4-BE49-F238E27FC236}">
                <a16:creationId xmlns:a16="http://schemas.microsoft.com/office/drawing/2014/main" id="{11B63843-8A5C-4628-9318-C76411F45012}"/>
              </a:ext>
            </a:extLst>
          </p:cNvPr>
          <p:cNvSpPr>
            <a:spLocks xmlns:a="http://schemas.openxmlformats.org/drawingml/2006/main" noGrp="1"/>
          </p:cNvSpPr>
          <p:nvPr/>
        </p:nvSpPr>
        <p:spPr>
          <a:xfrm xmlns:a="http://schemas.openxmlformats.org/drawingml/2006/main">
            <a:off x="1371600" y="36385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4" name="lasso-bar-2">
            <a:extLst xmlns:a="http://schemas.openxmlformats.org/drawingml/2006/main">
              <a:ext uri="{FF2B5EF4-FFF2-40B4-BE49-F238E27FC236}">
                <a16:creationId xmlns:a16="http://schemas.microsoft.com/office/drawing/2014/main" id="{F27674C5-04FC-436B-8B67-1057F2ACB0AD}"/>
              </a:ext>
            </a:extLst>
          </p:cNvPr>
          <p:cNvSpPr>
            <a:spLocks xmlns:a="http://schemas.openxmlformats.org/drawingml/2006/main" noGrp="1"/>
          </p:cNvSpPr>
          <p:nvPr/>
        </p:nvSpPr>
        <p:spPr>
          <a:xfrm xmlns:a="http://schemas.openxmlformats.org/drawingml/2006/main">
            <a:off x="1371600" y="3600450"/>
            <a:ext cx="937260" cy="1524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0">
            <a:noFill/>
            <a:prstDash val="solid"/>
          </a:ln>
        </p:spPr>
      </p:sp>
      <p:sp>
        <p:nvSpPr>
          <p:cNvPr id="15" name="lasso-label-3">
            <a:extLst xmlns:a="http://schemas.openxmlformats.org/drawingml/2006/main">
              <a:ext uri="{FF2B5EF4-FFF2-40B4-BE49-F238E27FC236}">
                <a16:creationId xmlns:a16="http://schemas.microsoft.com/office/drawing/2014/main" id="{CD9F2207-6759-4B56-9945-346FDEEFFCD6}"/>
              </a:ext>
            </a:extLst>
          </p:cNvPr>
          <p:cNvSpPr>
            <a:spLocks xmlns:a="http://schemas.openxmlformats.org/drawingml/2006/main" noGrp="1"/>
          </p:cNvSpPr>
          <p:nvPr/>
        </p:nvSpPr>
        <p:spPr>
          <a:xfrm xmlns:a="http://schemas.openxmlformats.org/drawingml/2006/main">
            <a:off x="781050" y="40957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x₄</a:t>
            </a:r>
          </a:p>
        </p:txBody>
      </p:sp>
      <p:sp>
        <p:nvSpPr>
          <p:cNvPr id="16" name="lasso-track-3">
            <a:extLst xmlns:a="http://schemas.openxmlformats.org/drawingml/2006/main">
              <a:ext uri="{FF2B5EF4-FFF2-40B4-BE49-F238E27FC236}">
                <a16:creationId xmlns:a16="http://schemas.microsoft.com/office/drawing/2014/main" id="{F82836DD-43A2-4C19-A62A-582128E685E0}"/>
              </a:ext>
            </a:extLst>
          </p:cNvPr>
          <p:cNvSpPr>
            <a:spLocks xmlns:a="http://schemas.openxmlformats.org/drawingml/2006/main" noGrp="1"/>
          </p:cNvSpPr>
          <p:nvPr/>
        </p:nvSpPr>
        <p:spPr>
          <a:xfrm xmlns:a="http://schemas.openxmlformats.org/drawingml/2006/main">
            <a:off x="1371600" y="419100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17" name="lasso-zero-3">
            <a:extLst xmlns:a="http://schemas.openxmlformats.org/drawingml/2006/main">
              <a:ext uri="{FF2B5EF4-FFF2-40B4-BE49-F238E27FC236}">
                <a16:creationId xmlns:a16="http://schemas.microsoft.com/office/drawing/2014/main" id="{01F23FB7-9424-4F65-9709-0C6FA4EB7B14}"/>
              </a:ext>
            </a:extLst>
          </p:cNvPr>
          <p:cNvSpPr>
            <a:spLocks xmlns:a="http://schemas.openxmlformats.org/drawingml/2006/main" noGrp="1"/>
          </p:cNvSpPr>
          <p:nvPr/>
        </p:nvSpPr>
        <p:spPr>
          <a:xfrm xmlns:a="http://schemas.openxmlformats.org/drawingml/2006/main">
            <a:off x="1333500" y="413385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8" name="lasso-zero-label-3">
            <a:extLst xmlns:a="http://schemas.openxmlformats.org/drawingml/2006/main">
              <a:ext uri="{FF2B5EF4-FFF2-40B4-BE49-F238E27FC236}">
                <a16:creationId xmlns:a16="http://schemas.microsoft.com/office/drawing/2014/main" id="{BB2A7932-B24C-41B4-BE83-B2148CA1408E}"/>
              </a:ext>
            </a:extLst>
          </p:cNvPr>
          <p:cNvSpPr>
            <a:spLocks xmlns:a="http://schemas.openxmlformats.org/drawingml/2006/main" noGrp="1"/>
          </p:cNvSpPr>
          <p:nvPr/>
        </p:nvSpPr>
        <p:spPr>
          <a:xfrm xmlns:a="http://schemas.openxmlformats.org/drawingml/2006/main">
            <a:off x="1657350" y="40957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19" name="lasso-label-4">
            <a:extLst xmlns:a="http://schemas.openxmlformats.org/drawingml/2006/main">
              <a:ext uri="{FF2B5EF4-FFF2-40B4-BE49-F238E27FC236}">
                <a16:creationId xmlns:a16="http://schemas.microsoft.com/office/drawing/2014/main" id="{3FF186D3-896F-47DB-B597-2BC1BEBDDC02}"/>
              </a:ext>
            </a:extLst>
          </p:cNvPr>
          <p:cNvSpPr>
            <a:spLocks xmlns:a="http://schemas.openxmlformats.org/drawingml/2006/main" noGrp="1"/>
          </p:cNvSpPr>
          <p:nvPr/>
        </p:nvSpPr>
        <p:spPr>
          <a:xfrm xmlns:a="http://schemas.openxmlformats.org/drawingml/2006/main">
            <a:off x="781050" y="464820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x₅</a:t>
            </a:r>
          </a:p>
        </p:txBody>
      </p:sp>
      <p:sp>
        <p:nvSpPr>
          <p:cNvPr id="20" name="lasso-track-4">
            <a:extLst xmlns:a="http://schemas.openxmlformats.org/drawingml/2006/main">
              <a:ext uri="{FF2B5EF4-FFF2-40B4-BE49-F238E27FC236}">
                <a16:creationId xmlns:a16="http://schemas.microsoft.com/office/drawing/2014/main" id="{3A60D226-9005-4ED7-A87C-178AB360F4D5}"/>
              </a:ext>
            </a:extLst>
          </p:cNvPr>
          <p:cNvSpPr>
            <a:spLocks xmlns:a="http://schemas.openxmlformats.org/drawingml/2006/main" noGrp="1"/>
          </p:cNvSpPr>
          <p:nvPr/>
        </p:nvSpPr>
        <p:spPr>
          <a:xfrm xmlns:a="http://schemas.openxmlformats.org/drawingml/2006/main">
            <a:off x="1371600" y="4743450"/>
            <a:ext cx="5467350" cy="76200"/>
          </a:xfrm>
          <a:prstGeom xmlns:a="http://schemas.openxmlformats.org/drawingml/2006/main" prst="roundRect">
            <a:avLst>
              <a:gd name="adj" fmla="val 50000"/>
            </a:avLst>
          </a:prstGeom>
          <a:solidFill xmlns:a="http://schemas.openxmlformats.org/drawingml/2006/main">
            <a:srgbClr val="EDF1F5"/>
          </a:solidFill>
          <a:ln xmlns:a="http://schemas.openxmlformats.org/drawingml/2006/main" w="0">
            <a:noFill/>
            <a:prstDash val="solid"/>
          </a:ln>
        </p:spPr>
      </p:sp>
      <p:sp>
        <p:nvSpPr>
          <p:cNvPr id="21" name="lasso-zero-4">
            <a:extLst xmlns:a="http://schemas.openxmlformats.org/drawingml/2006/main">
              <a:ext uri="{FF2B5EF4-FFF2-40B4-BE49-F238E27FC236}">
                <a16:creationId xmlns:a16="http://schemas.microsoft.com/office/drawing/2014/main" id="{004D790B-CC5B-4FB1-94E5-D70CCE03CA75}"/>
              </a:ext>
            </a:extLst>
          </p:cNvPr>
          <p:cNvSpPr>
            <a:spLocks xmlns:a="http://schemas.openxmlformats.org/drawingml/2006/main" noGrp="1"/>
          </p:cNvSpPr>
          <p:nvPr/>
        </p:nvSpPr>
        <p:spPr>
          <a:xfrm xmlns:a="http://schemas.openxmlformats.org/drawingml/2006/main">
            <a:off x="1333500" y="4686300"/>
            <a:ext cx="190500" cy="1905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22" name="lasso-zero-label-4">
            <a:extLst xmlns:a="http://schemas.openxmlformats.org/drawingml/2006/main">
              <a:ext uri="{FF2B5EF4-FFF2-40B4-BE49-F238E27FC236}">
                <a16:creationId xmlns:a16="http://schemas.microsoft.com/office/drawing/2014/main" id="{11EBC7DB-4382-48BD-9BD9-A9F061F4557A}"/>
              </a:ext>
            </a:extLst>
          </p:cNvPr>
          <p:cNvSpPr>
            <a:spLocks xmlns:a="http://schemas.openxmlformats.org/drawingml/2006/main" noGrp="1"/>
          </p:cNvSpPr>
          <p:nvPr/>
        </p:nvSpPr>
        <p:spPr>
          <a:xfrm xmlns:a="http://schemas.openxmlformats.org/drawingml/2006/main">
            <a:off x="1657350" y="46482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exactly 0</a:t>
            </a:r>
          </a:p>
        </p:txBody>
      </p:sp>
      <p:sp>
        <p:nvSpPr>
          <p:cNvPr id="23" name="lasso-caption">
            <a:extLst xmlns:a="http://schemas.openxmlformats.org/drawingml/2006/main">
              <a:ext uri="{FF2B5EF4-FFF2-40B4-BE49-F238E27FC236}">
                <a16:creationId xmlns:a16="http://schemas.microsoft.com/office/drawing/2014/main" id="{2A1D92F1-0526-4ADE-AE42-6DE7144A6FF3}"/>
              </a:ext>
            </a:extLst>
          </p:cNvPr>
          <p:cNvSpPr>
            <a:spLocks xmlns:a="http://schemas.openxmlformats.org/drawingml/2006/main" noGrp="1"/>
          </p:cNvSpPr>
          <p:nvPr/>
        </p:nvSpPr>
        <p:spPr>
          <a:xfrm xmlns:a="http://schemas.openxmlformats.org/drawingml/2006/main">
            <a:off x="781050" y="5257800"/>
            <a:ext cx="6210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536273"/>
                </a:solidFill>
                <a:latin typeface="Helvetica Neue"/>
                <a:ea typeface="Helvetica Neue"/>
                <a:cs typeface="Helvetica Neue"/>
              </a:defRPr>
            </a:pPr>
            <a:r>
              <a:rPr sz="1350" b="0">
                <a:solidFill>
                  <a:srgbClr val="536273"/>
                </a:solidFill>
                <a:latin typeface="Helvetica Neue"/>
                <a:ea typeface="Helvetica Neue"/>
                <a:cs typeface="Helvetica Neue"/>
              </a:rPr>
              <a:t>Corners make exact zeros possible; the remaining bars are shrunken, not causal effects.</a:t>
            </a:r>
          </a:p>
        </p:txBody>
      </p:sp>
      <p:sp>
        <p:nvSpPr>
          <p:cNvPr id="24" name="evidence-rail-title">
            <a:extLst xmlns:a="http://schemas.openxmlformats.org/drawingml/2006/main">
              <a:ext uri="{FF2B5EF4-FFF2-40B4-BE49-F238E27FC236}">
                <a16:creationId xmlns:a16="http://schemas.microsoft.com/office/drawing/2014/main" id="{1978B8BE-6D7C-4B55-A00D-CCEFACC38C3F}"/>
              </a:ext>
            </a:extLst>
          </p:cNvPr>
          <p:cNvSpPr>
            <a:spLocks xmlns:a="http://schemas.openxmlformats.org/drawingml/2006/main" noGrp="1"/>
          </p:cNvSpPr>
          <p:nvPr/>
        </p:nvSpPr>
        <p:spPr>
          <a:xfrm xmlns:a="http://schemas.openxmlformats.org/drawingml/2006/main">
            <a:off x="7848600" y="17335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a:solidFill>
                  <a:srgbClr val="2563EB"/>
                </a:solidFill>
                <a:latin typeface="Helvetica Neue"/>
                <a:ea typeface="Helvetica Neue"/>
                <a:cs typeface="Helvetica Neue"/>
              </a:defRPr>
            </a:pPr>
            <a:r>
              <a:rPr sz="1800" b="1">
                <a:solidFill>
                  <a:srgbClr val="2563EB"/>
                </a:solidFill>
                <a:latin typeface="Helvetica Neue"/>
                <a:ea typeface="Helvetica Neue"/>
                <a:cs typeface="Helvetica Neue"/>
              </a:rPr>
              <a:t>READ THE FIGURE</a:t>
            </a:r>
          </a:p>
        </p:txBody>
      </p:sp>
      <p:sp>
        <p:nvSpPr>
          <p:cNvPr id="25" name="evidence-q-0">
            <a:extLst xmlns:a="http://schemas.openxmlformats.org/drawingml/2006/main">
              <a:ext uri="{FF2B5EF4-FFF2-40B4-BE49-F238E27FC236}">
                <a16:creationId xmlns:a16="http://schemas.microsoft.com/office/drawing/2014/main" id="{D1BF5427-DCDB-43F2-9633-A0DD63CC644F}"/>
              </a:ext>
            </a:extLst>
          </p:cNvPr>
          <p:cNvSpPr>
            <a:spLocks xmlns:a="http://schemas.openxmlformats.org/drawingml/2006/main" noGrp="1"/>
          </p:cNvSpPr>
          <p:nvPr/>
        </p:nvSpPr>
        <p:spPr>
          <a:xfrm xmlns:a="http://schemas.openxmlformats.org/drawingml/2006/main">
            <a:off x="7848600" y="2533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397"/>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λ1se costs you nothing detectable in accuracy and buys a much smaller model.</a:t>
            </a:r>
          </a:p>
        </p:txBody>
      </p:sp>
      <p:sp>
        <p:nvSpPr>
          <p:cNvPr id="26" name="rule-824-312">
            <a:extLst xmlns:a="http://schemas.openxmlformats.org/drawingml/2006/main">
              <a:ext uri="{FF2B5EF4-FFF2-40B4-BE49-F238E27FC236}">
                <a16:creationId xmlns:a16="http://schemas.microsoft.com/office/drawing/2014/main" id="{DF8FEC48-E947-46EB-8900-6A156A9ED2B5}"/>
              </a:ext>
            </a:extLst>
          </p:cNvPr>
          <p:cNvSpPr>
            <a:spLocks xmlns:a="http://schemas.openxmlformats.org/drawingml/2006/main" noGrp="1"/>
          </p:cNvSpPr>
          <p:nvPr/>
        </p:nvSpPr>
        <p:spPr>
          <a:xfrm xmlns:a="http://schemas.openxmlformats.org/drawingml/2006/main">
            <a:off x="7848600" y="29718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7" name="evidence-q-1">
            <a:extLst xmlns:a="http://schemas.openxmlformats.org/drawingml/2006/main">
              <a:ext uri="{FF2B5EF4-FFF2-40B4-BE49-F238E27FC236}">
                <a16:creationId xmlns:a16="http://schemas.microsoft.com/office/drawing/2014/main" id="{299B3921-250F-4AB4-A469-2E5EC0B6C29F}"/>
              </a:ext>
            </a:extLst>
          </p:cNvPr>
          <p:cNvSpPr>
            <a:spLocks xmlns:a="http://schemas.openxmlformats.org/drawingml/2006/main" noGrp="1"/>
          </p:cNvSpPr>
          <p:nvPr/>
        </p:nvSpPr>
        <p:spPr>
          <a:xfrm xmlns:a="http://schemas.openxmlformats.org/drawingml/2006/main">
            <a:off x="7848600" y="350520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774"/>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Prefer it whenever a human has to read the coefficient table — which, in this course, is always.</a:t>
            </a:r>
          </a:p>
        </p:txBody>
      </p:sp>
      <p:sp>
        <p:nvSpPr>
          <p:cNvPr id="28" name="rule-824-414">
            <a:extLst xmlns:a="http://schemas.openxmlformats.org/drawingml/2006/main">
              <a:ext uri="{FF2B5EF4-FFF2-40B4-BE49-F238E27FC236}">
                <a16:creationId xmlns:a16="http://schemas.microsoft.com/office/drawing/2014/main" id="{62D92623-16CB-488A-A3F6-E2AF3C7979CF}"/>
              </a:ext>
            </a:extLst>
          </p:cNvPr>
          <p:cNvSpPr>
            <a:spLocks xmlns:a="http://schemas.openxmlformats.org/drawingml/2006/main" noGrp="1"/>
          </p:cNvSpPr>
          <p:nvPr/>
        </p:nvSpPr>
        <p:spPr>
          <a:xfrm xmlns:a="http://schemas.openxmlformats.org/drawingml/2006/main">
            <a:off x="7848600" y="394335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29" name="evidence-q-2">
            <a:extLst xmlns:a="http://schemas.openxmlformats.org/drawingml/2006/main">
              <a:ext uri="{FF2B5EF4-FFF2-40B4-BE49-F238E27FC236}">
                <a16:creationId xmlns:a16="http://schemas.microsoft.com/office/drawing/2014/main" id="{1E01859A-1193-41C2-853E-9AE43E6C3BB1}"/>
              </a:ext>
            </a:extLst>
          </p:cNvPr>
          <p:cNvSpPr>
            <a:spLocks xmlns:a="http://schemas.openxmlformats.org/drawingml/2006/main" noGrp="1"/>
          </p:cNvSpPr>
          <p:nvPr/>
        </p:nvSpPr>
        <p:spPr>
          <a:xfrm xmlns:a="http://schemas.openxmlformats.org/drawingml/2006/main">
            <a:off x="7848600" y="44767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Standardise inside the pipeline</a:t>
            </a:r>
          </a:p>
        </p:txBody>
      </p:sp>
      <p:sp>
        <p:nvSpPr>
          <p:cNvPr id="30" name="rule-824-516">
            <a:extLst xmlns:a="http://schemas.openxmlformats.org/drawingml/2006/main">
              <a:ext uri="{FF2B5EF4-FFF2-40B4-BE49-F238E27FC236}">
                <a16:creationId xmlns:a16="http://schemas.microsoft.com/office/drawing/2014/main" id="{446F8C23-8ACB-4978-8405-46B87B3C503A}"/>
              </a:ext>
            </a:extLst>
          </p:cNvPr>
          <p:cNvSpPr>
            <a:spLocks xmlns:a="http://schemas.openxmlformats.org/drawingml/2006/main" noGrp="1"/>
          </p:cNvSpPr>
          <p:nvPr/>
        </p:nvSpPr>
        <p:spPr>
          <a:xfrm xmlns:a="http://schemas.openxmlformats.org/drawingml/2006/main">
            <a:off x="7848600" y="4914900"/>
            <a:ext cx="3429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1" name="rule-48-674">
            <a:extLst xmlns:a="http://schemas.openxmlformats.org/drawingml/2006/main">
              <a:ext uri="{FF2B5EF4-FFF2-40B4-BE49-F238E27FC236}">
                <a16:creationId xmlns:a16="http://schemas.microsoft.com/office/drawing/2014/main" id="{810859A7-B761-4868-BF5F-9B81CE241EB9}"/>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32" name="footer-left">
            <a:extLst xmlns:a="http://schemas.openxmlformats.org/drawingml/2006/main">
              <a:ext uri="{FF2B5EF4-FFF2-40B4-BE49-F238E27FC236}">
                <a16:creationId xmlns:a16="http://schemas.microsoft.com/office/drawing/2014/main" id="{7A32DFFE-70E3-42B3-9B7A-C15FF0FDC2F9}"/>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33" name="footer-right">
            <a:extLst xmlns:a="http://schemas.openxmlformats.org/drawingml/2006/main">
              <a:ext uri="{FF2B5EF4-FFF2-40B4-BE49-F238E27FC236}">
                <a16:creationId xmlns:a16="http://schemas.microsoft.com/office/drawing/2014/main" id="{17CB9C4D-1114-4DE1-AD39-BB7E6255B36A}"/>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43/50</a:t>
            </a:r>
          </a:p>
        </p:txBody>
      </p:sp>
      <p:sp>
        <p:nvSpPr>
          <p:cNvPr id="35" name="media-matte-regularisation_comparison.png">
            <a:extLst xmlns:a="http://schemas.openxmlformats.org/drawingml/2006/main">
              <a:ext uri="{FF2B5EF4-FFF2-40B4-BE49-F238E27FC236}">
                <a16:creationId xmlns:a16="http://schemas.microsoft.com/office/drawing/2014/main" id="{EAA05E25-A064-4571-9942-C7117FF99F47}"/>
              </a:ext>
            </a:extLst>
          </p:cNvPr>
          <p:cNvSpPr>
            <a:spLocks xmlns:a="http://schemas.openxmlformats.org/drawingml/2006/main" noGrp="1"/>
          </p:cNvSpPr>
          <p:nvPr/>
        </p:nvSpPr>
        <p:spPr>
          <a:xfrm xmlns:a="http://schemas.openxmlformats.org/drawingml/2006/main">
            <a:off x="457200" y="1600200"/>
            <a:ext cx="6858000" cy="43434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ffbcf69a68ec4443"/>
          <a:stretch xmlns:a="http://schemas.openxmlformats.org/drawingml/2006/main"/>
        </p:blipFill>
        <p:spPr>
          <a:xfrm xmlns:a="http://schemas.openxmlformats.org/drawingml/2006/main">
            <a:off x="457200" y="1843088"/>
            <a:ext cx="6858000" cy="3857625"/>
          </a:xfrm>
          <a:prstGeom xmlns:a="http://schemas.openxmlformats.org/drawingml/2006/main" prst="roundRect">
            <a:avLst>
              <a:gd name="adj" fmla="val 2632"/>
            </a:avLst>
          </a:prstGeom>
        </p:spPr>
      </p:pic>
    </p:spTree>
    <p:extLst>
      <p:ext uri="{BB962C8B-B14F-4D97-AF65-F5344CB8AC3E}">
        <p14:creationId xmlns:p14="http://schemas.microsoft.com/office/powerpoint/2010/main" val="156879221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yebrow">
            <a:extLst xmlns:a="http://schemas.openxmlformats.org/drawingml/2006/main">
              <a:ext uri="{FF2B5EF4-FFF2-40B4-BE49-F238E27FC236}">
                <a16:creationId xmlns:a16="http://schemas.microsoft.com/office/drawing/2014/main" id="{D265BB83-F1B8-4BDC-B874-2B9DE4239B37}"/>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PYTHON</a:t>
            </a:r>
          </a:p>
        </p:txBody>
      </p:sp>
      <p:sp>
        <p:nvSpPr>
          <p:cNvPr id="2" name="slide-title">
            <a:extLst xmlns:a="http://schemas.openxmlformats.org/drawingml/2006/main">
              <a:ext uri="{FF2B5EF4-FFF2-40B4-BE49-F238E27FC236}">
                <a16:creationId xmlns:a16="http://schemas.microsoft.com/office/drawing/2014/main" id="{53F75BA3-90FD-4863-BCE5-6692E8373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7 · Takeaways</a:t>
            </a:r>
          </a:p>
        </p:txBody>
      </p:sp>
      <p:sp>
        <p:nvSpPr>
          <p:cNvPr id="3" name="rule-48-137">
            <a:extLst xmlns:a="http://schemas.openxmlformats.org/drawingml/2006/main">
              <a:ext uri="{FF2B5EF4-FFF2-40B4-BE49-F238E27FC236}">
                <a16:creationId xmlns:a16="http://schemas.microsoft.com/office/drawing/2014/main" id="{92EE19D2-9919-4F0E-8E33-AF8EDFA276BB}"/>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code-location-title">
            <a:extLst xmlns:a="http://schemas.openxmlformats.org/drawingml/2006/main">
              <a:ext uri="{FF2B5EF4-FFF2-40B4-BE49-F238E27FC236}">
                <a16:creationId xmlns:a16="http://schemas.microsoft.com/office/drawing/2014/main" id="{C87787FD-A427-4748-A6C3-58F3F7D6284B}"/>
              </a:ext>
            </a:extLst>
          </p:cNvPr>
          <p:cNvSpPr>
            <a:spLocks xmlns:a="http://schemas.openxmlformats.org/drawingml/2006/main" noGrp="1"/>
          </p:cNvSpPr>
          <p:nvPr/>
        </p:nvSpPr>
        <p:spPr>
          <a:xfrm xmlns:a="http://schemas.openxmlformats.org/drawingml/2006/main">
            <a:off x="457200" y="16573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2563EB"/>
                </a:solidFill>
                <a:latin typeface="Helvetica Neue"/>
                <a:ea typeface="Helvetica Neue"/>
                <a:cs typeface="Helvetica Neue"/>
              </a:defRPr>
            </a:pPr>
            <a:r>
              <a:rPr sz="1275" b="1">
                <a:solidFill>
                  <a:srgbClr val="2563EB"/>
                </a:solidFill>
                <a:latin typeface="Helvetica Neue"/>
                <a:ea typeface="Helvetica Neue"/>
                <a:cs typeface="Helvetica Neue"/>
              </a:rPr>
              <a:t>START FROM THE DESKTOP CLONE</a:t>
            </a:r>
          </a:p>
        </p:txBody>
      </p:sp>
      <p:sp>
        <p:nvSpPr>
          <p:cNvPr id="5" name="code-location">
            <a:extLst xmlns:a="http://schemas.openxmlformats.org/drawingml/2006/main">
              <a:ext uri="{FF2B5EF4-FFF2-40B4-BE49-F238E27FC236}">
                <a16:creationId xmlns:a16="http://schemas.microsoft.com/office/drawing/2014/main" id="{491146B4-C834-4DF2-A1FA-8F7CB3B94ADE}"/>
              </a:ext>
            </a:extLst>
          </p:cNvPr>
          <p:cNvSpPr>
            <a:spLocks xmlns:a="http://schemas.openxmlformats.org/drawingml/2006/main" noGrp="1"/>
          </p:cNvSpPr>
          <p:nvPr/>
        </p:nvSpPr>
        <p:spPr>
          <a:xfrm xmlns:a="http://schemas.openxmlformats.org/drawingml/2006/main">
            <a:off x="457200" y="20764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2563EB"/>
                </a:solidFill>
                <a:latin typeface="Menlo"/>
                <a:ea typeface="Menlo"/>
                <a:cs typeface="Menlo"/>
              </a:defRPr>
            </a:pPr>
            <a:r>
              <a:rPr sz="1500" b="1">
                <a:solidFill>
                  <a:srgbClr val="2563EB"/>
                </a:solidFill>
                <a:latin typeface="Menlo"/>
                <a:ea typeface="Menlo"/>
                <a:cs typeface="Menlo"/>
              </a:rPr>
              <a:t>~/Desktop/quantitative-methods</a:t>
            </a:r>
          </a:p>
        </p:txBody>
      </p:sp>
      <p:sp>
        <p:nvSpPr>
          <p:cNvPr id="6" name="code-command-title">
            <a:extLst xmlns:a="http://schemas.openxmlformats.org/drawingml/2006/main">
              <a:ext uri="{FF2B5EF4-FFF2-40B4-BE49-F238E27FC236}">
                <a16:creationId xmlns:a16="http://schemas.microsoft.com/office/drawing/2014/main" id="{AC12E83B-F78A-4AAF-911E-6E391B6FE570}"/>
              </a:ext>
            </a:extLst>
          </p:cNvPr>
          <p:cNvSpPr>
            <a:spLocks xmlns:a="http://schemas.openxmlformats.org/drawingml/2006/main" noGrp="1"/>
          </p:cNvSpPr>
          <p:nvPr/>
        </p:nvSpPr>
        <p:spPr>
          <a:xfrm xmlns:a="http://schemas.openxmlformats.org/drawingml/2006/main">
            <a:off x="457200" y="28384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RUN THE COMPLETE SESSION DEMO</a:t>
            </a:r>
          </a:p>
        </p:txBody>
      </p:sp>
      <p:sp>
        <p:nvSpPr>
          <p:cNvPr id="7" name="code-command">
            <a:extLst xmlns:a="http://schemas.openxmlformats.org/drawingml/2006/main">
              <a:ext uri="{FF2B5EF4-FFF2-40B4-BE49-F238E27FC236}">
                <a16:creationId xmlns:a16="http://schemas.microsoft.com/office/drawing/2014/main" id="{14A1E7E7-4C85-4DD1-943B-12D88B761A4B}"/>
              </a:ext>
            </a:extLst>
          </p:cNvPr>
          <p:cNvSpPr>
            <a:spLocks xmlns:a="http://schemas.openxmlformats.org/drawingml/2006/main" noGrp="1"/>
          </p:cNvSpPr>
          <p:nvPr/>
        </p:nvSpPr>
        <p:spPr>
          <a:xfrm xmlns:a="http://schemas.openxmlformats.org/drawingml/2006/main">
            <a:off x="457200" y="3276600"/>
            <a:ext cx="4953000" cy="14097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33350" tIns="114300" rIns="133350" bIns="114300" anchor="t">
            <a:normAutofit fontScale="100000"/>
          </a:bodyPr>
          <a:lstStyle xmlns:a="http://schemas.openxmlformats.org/drawingml/2006/main"/>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~/Desktop/quantitative-methods</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source .venv/bin/activate</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cd 05-ridge-lasso-elastic-net/demo</a:t>
            </a:r>
          </a:p>
          <a:p xmlns:a="http://schemas.openxmlformats.org/drawingml/2006/main">
            <a:pPr algn="l">
              <a:lnSpc>
                <a:spcPct val="100000"/>
              </a:lnSpc>
              <a:buNone/>
              <a:defRPr sz="1125" b="0">
                <a:solidFill>
                  <a:srgbClr val="FFFFFF"/>
                </a:solidFill>
                <a:latin typeface="Menlo"/>
                <a:ea typeface="Menlo"/>
                <a:cs typeface="Menlo"/>
              </a:defRPr>
            </a:pPr>
            <a:r>
              <a:rPr sz="1125" b="0">
                <a:solidFill>
                  <a:srgbClr val="FFFFFF"/>
                </a:solidFill>
                <a:latin typeface="Menlo"/>
                <a:ea typeface="Menlo"/>
                <a:cs typeface="Menlo"/>
              </a:rPr>
              <a:t>python session05_regularisation_demo.py</a:t>
            </a:r>
          </a:p>
        </p:txBody>
      </p:sp>
      <p:sp>
        <p:nvSpPr>
          <p:cNvPr id="8" name="code-windows">
            <a:extLst xmlns:a="http://schemas.openxmlformats.org/drawingml/2006/main">
              <a:ext uri="{FF2B5EF4-FFF2-40B4-BE49-F238E27FC236}">
                <a16:creationId xmlns:a16="http://schemas.microsoft.com/office/drawing/2014/main" id="{2B832BDB-F4EF-477C-8AF7-F9AEFB62B6D4}"/>
              </a:ext>
            </a:extLst>
          </p:cNvPr>
          <p:cNvSpPr>
            <a:spLocks xmlns:a="http://schemas.openxmlformats.org/drawingml/2006/main" noGrp="1"/>
          </p:cNvSpPr>
          <p:nvPr/>
        </p:nvSpPr>
        <p:spPr>
          <a:xfrm xmlns:a="http://schemas.openxmlformats.org/drawingml/2006/main">
            <a:off x="457200" y="48196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0">
                <a:solidFill>
                  <a:srgbClr val="536273"/>
                </a:solidFill>
                <a:latin typeface="Menlo"/>
                <a:ea typeface="Menlo"/>
                <a:cs typeface="Menlo"/>
              </a:defRPr>
            </a:pPr>
            <a:r>
              <a:rPr sz="1200" b="0">
                <a:solidFill>
                  <a:srgbClr val="536273"/>
                </a:solidFill>
                <a:latin typeface="Menlo"/>
                <a:ea typeface="Menlo"/>
                <a:cs typeface="Menlo"/>
              </a:rPr>
              <a:t>Windows activation: .venv\Scripts\activate</a:t>
            </a:r>
          </a:p>
        </p:txBody>
      </p:sp>
      <p:sp>
        <p:nvSpPr>
          <p:cNvPr id="9" name="code-snippet">
            <a:extLst xmlns:a="http://schemas.openxmlformats.org/drawingml/2006/main">
              <a:ext uri="{FF2B5EF4-FFF2-40B4-BE49-F238E27FC236}">
                <a16:creationId xmlns:a16="http://schemas.microsoft.com/office/drawing/2014/main" id="{99265DF0-C641-4157-A5BC-21B08C598F0D}"/>
              </a:ext>
            </a:extLst>
          </p:cNvPr>
          <p:cNvSpPr>
            <a:spLocks xmlns:a="http://schemas.openxmlformats.org/drawingml/2006/main" noGrp="1"/>
          </p:cNvSpPr>
          <p:nvPr/>
        </p:nvSpPr>
        <p:spPr>
          <a:xfrm xmlns:a="http://schemas.openxmlformats.org/drawingml/2006/main">
            <a:off x="5943600" y="1657350"/>
            <a:ext cx="5791200" cy="3390900"/>
          </a:xfrm>
          <a:prstGeom xmlns:a="http://schemas.openxmlformats.org/drawingml/2006/main" prst="rect">
            <a:avLst/>
          </a:prstGeom>
          <a:solidFill xmlns:a="http://schemas.openxmlformats.org/drawingml/2006/main">
            <a:srgbClr val="101820"/>
          </a:solidFill>
          <a:ln xmlns:a="http://schemas.openxmlformats.org/drawingml/2006/main" w="0">
            <a:noFill/>
            <a:prstDash val="solid"/>
          </a:ln>
        </p:spPr>
        <p:txBody>
          <a:bodyPr xmlns:a="http://schemas.openxmlformats.org/drawingml/2006/main" wrap="square" lIns="171450" tIns="152400" rIns="171450" bIns="152400" anchor="t">
            <a:normAutofit fontScale="100000"/>
          </a:bodyPr>
          <a:lstStyle xmlns:a="http://schemas.openxmlformats.org/drawingml/2006/main"/>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import numpy as np</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sklearn.linear_model import RidgeCV</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sklearn.pipeline import make_pipeline</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from sklearn.preprocessing import StandardScaler</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X = np.arange(30.).reshape(10,3); y = np.arange(10.)</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m = make_pipeline(StandardScaler(), RidgeCV([.1,1,10])).fit(X,y)</a:t>
            </a:r>
          </a:p>
          <a:p xmlns:a="http://schemas.openxmlformats.org/drawingml/2006/main">
            <a:pPr algn="l">
              <a:lnSpc>
                <a:spcPct val="100000"/>
              </a:lnSpc>
              <a:buNone/>
              <a:defRPr sz="1200" b="0">
                <a:solidFill>
                  <a:srgbClr val="FFFFFF"/>
                </a:solidFill>
                <a:latin typeface="Menlo"/>
                <a:ea typeface="Menlo"/>
                <a:cs typeface="Menlo"/>
              </a:defRPr>
            </a:pPr>
            <a:r>
              <a:rPr sz="1200" b="0">
                <a:solidFill>
                  <a:srgbClr val="FFFFFF"/>
                </a:solidFill>
                <a:latin typeface="Menlo"/>
                <a:ea typeface="Menlo"/>
                <a:cs typeface="Menlo"/>
              </a:rPr>
              <a:t>print(m[-1].alpha_, m.predict(X[:2]))</a:t>
            </a:r>
          </a:p>
        </p:txBody>
      </p:sp>
      <p:sp>
        <p:nvSpPr>
          <p:cNvPr id="10" name="code-caption">
            <a:extLst xmlns:a="http://schemas.openxmlformats.org/drawingml/2006/main">
              <a:ext uri="{FF2B5EF4-FFF2-40B4-BE49-F238E27FC236}">
                <a16:creationId xmlns:a16="http://schemas.microsoft.com/office/drawing/2014/main" id="{78289761-A279-4315-A997-8383071B2C4C}"/>
              </a:ext>
            </a:extLst>
          </p:cNvPr>
          <p:cNvSpPr>
            <a:spLocks xmlns:a="http://schemas.openxmlformats.org/drawingml/2006/main" noGrp="1"/>
          </p:cNvSpPr>
          <p:nvPr/>
        </p:nvSpPr>
        <p:spPr>
          <a:xfrm xmlns:a="http://schemas.openxmlformats.org/drawingml/2006/main">
            <a:off x="5943600" y="5257800"/>
            <a:ext cx="5791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Copy/paste the terminal block exactly. The full demo imports everything it needs, sets its seed, and saves the figure locally.</a:t>
            </a:r>
          </a:p>
        </p:txBody>
      </p:sp>
      <p:sp>
        <p:nvSpPr>
          <p:cNvPr id="11" name="rule-48-674">
            <a:extLst xmlns:a="http://schemas.openxmlformats.org/drawingml/2006/main">
              <a:ext uri="{FF2B5EF4-FFF2-40B4-BE49-F238E27FC236}">
                <a16:creationId xmlns:a16="http://schemas.microsoft.com/office/drawing/2014/main" id="{7EDA6DC4-E18A-4C38-A441-1FC099BE88B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2" name="footer-left">
            <a:extLst xmlns:a="http://schemas.openxmlformats.org/drawingml/2006/main">
              <a:ext uri="{FF2B5EF4-FFF2-40B4-BE49-F238E27FC236}">
                <a16:creationId xmlns:a16="http://schemas.microsoft.com/office/drawing/2014/main" id="{8A5543C0-ECCF-4613-9DDB-DF2CC736ED61}"/>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3" name="footer-right">
            <a:extLst xmlns:a="http://schemas.openxmlformats.org/drawingml/2006/main">
              <a:ext uri="{FF2B5EF4-FFF2-40B4-BE49-F238E27FC236}">
                <a16:creationId xmlns:a16="http://schemas.microsoft.com/office/drawing/2014/main" id="{DD8BF317-E931-4DAD-8D22-ED6F7BDC9F26}"/>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44/50</a:t>
            </a:r>
          </a:p>
        </p:txBody>
      </p:sp>
    </p:spTree>
    <p:extLst>
      <p:ext uri="{BB962C8B-B14F-4D97-AF65-F5344CB8AC3E}">
        <p14:creationId xmlns:p14="http://schemas.microsoft.com/office/powerpoint/2010/main" val="2065683009"/>
      </p:ext>
    </p:extLst>
  </p:cSld>
</p:sld>
</file>

<file path=ppt/slides/slide4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11" name="failure-kicker">
            <a:extLst xmlns:a="http://schemas.openxmlformats.org/drawingml/2006/main">
              <a:ext uri="{FF2B5EF4-FFF2-40B4-BE49-F238E27FC236}">
                <a16:creationId xmlns:a16="http://schemas.microsoft.com/office/drawing/2014/main" id="{94FD110D-668C-4506-8BF9-B79984AB032C}"/>
              </a:ext>
            </a:extLst>
          </p:cNvPr>
          <p:cNvSpPr>
            <a:spLocks xmlns:a="http://schemas.openxmlformats.org/drawingml/2006/main" noGrp="1"/>
          </p:cNvSpPr>
          <p:nvPr/>
        </p:nvSpPr>
        <p:spPr>
          <a:xfrm xmlns:a="http://schemas.openxmlformats.org/drawingml/2006/main">
            <a:off x="457200" y="3619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75" b="1">
                <a:solidFill>
                  <a:srgbClr val="F97362"/>
                </a:solidFill>
                <a:latin typeface="Helvetica Neue"/>
                <a:ea typeface="Helvetica Neue"/>
                <a:cs typeface="Helvetica Neue"/>
              </a:defRPr>
            </a:pPr>
            <a:r>
              <a:rPr sz="1275" b="1">
                <a:solidFill>
                  <a:srgbClr val="F97362"/>
                </a:solidFill>
                <a:latin typeface="Helvetica Neue"/>
                <a:ea typeface="Helvetica Neue"/>
                <a:cs typeface="Helvetica Neue"/>
              </a:rPr>
              <a:t>LECTURE · FAILURE MODE</a:t>
            </a:r>
          </a:p>
        </p:txBody>
      </p:sp>
      <p:sp>
        <p:nvSpPr>
          <p:cNvPr id="2" name="failure-title">
            <a:extLst xmlns:a="http://schemas.openxmlformats.org/drawingml/2006/main">
              <a:ext uri="{FF2B5EF4-FFF2-40B4-BE49-F238E27FC236}">
                <a16:creationId xmlns:a16="http://schemas.microsoft.com/office/drawing/2014/main" id="{A994D625-983E-4EC8-B71A-0B76542CED4B}"/>
              </a:ext>
            </a:extLst>
          </p:cNvPr>
          <p:cNvSpPr>
            <a:spLocks xmlns:a="http://schemas.openxmlformats.org/drawingml/2006/main" noGrp="1"/>
          </p:cNvSpPr>
          <p:nvPr/>
        </p:nvSpPr>
        <p:spPr>
          <a:xfrm xmlns:a="http://schemas.openxmlformats.org/drawingml/2006/main">
            <a:off x="457200" y="11430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750" b="1">
                <a:solidFill>
                  <a:srgbClr val="FFFFFF"/>
                </a:solidFill>
                <a:latin typeface="Helvetica Neue"/>
                <a:ea typeface="Helvetica Neue"/>
                <a:cs typeface="Helvetica Neue"/>
              </a:defRPr>
            </a:pPr>
            <a:r>
              <a:rPr sz="3750" b="1">
                <a:solidFill>
                  <a:srgbClr val="FFFFFF"/>
                </a:solidFill>
                <a:latin typeface="Helvetica Neue"/>
                <a:ea typeface="Helvetica Neue"/>
                <a:cs typeface="Helvetica Neue"/>
              </a:rPr>
              <a:t>Key takeaways</a:t>
            </a:r>
          </a:p>
        </p:txBody>
      </p:sp>
      <p:sp>
        <p:nvSpPr>
          <p:cNvPr id="3" name="rule-48-350">
            <a:extLst xmlns:a="http://schemas.openxmlformats.org/drawingml/2006/main">
              <a:ext uri="{FF2B5EF4-FFF2-40B4-BE49-F238E27FC236}">
                <a16:creationId xmlns:a16="http://schemas.microsoft.com/office/drawing/2014/main" id="{771A2286-730E-4279-A0F2-FD9E55AD84DB}"/>
              </a:ext>
            </a:extLst>
          </p:cNvPr>
          <p:cNvSpPr>
            <a:spLocks xmlns:a="http://schemas.openxmlformats.org/drawingml/2006/main" noGrp="1"/>
          </p:cNvSpPr>
          <p:nvPr/>
        </p:nvSpPr>
        <p:spPr>
          <a:xfrm xmlns:a="http://schemas.openxmlformats.org/drawingml/2006/main">
            <a:off x="457200" y="3333750"/>
            <a:ext cx="11277600" cy="9525"/>
          </a:xfrm>
          <a:prstGeom xmlns:a="http://schemas.openxmlformats.org/drawingml/2006/main" prst="rect">
            <a:avLst/>
          </a:prstGeom>
          <a:solidFill xmlns:a="http://schemas.openxmlformats.org/drawingml/2006/main">
            <a:srgbClr val="3A4652"/>
          </a:solidFill>
          <a:ln xmlns:a="http://schemas.openxmlformats.org/drawingml/2006/main" w="0">
            <a:noFill/>
            <a:prstDash val="solid"/>
          </a:ln>
        </p:spPr>
      </p:sp>
      <p:sp>
        <p:nvSpPr>
          <p:cNvPr id="4" name="failure-left-title">
            <a:extLst xmlns:a="http://schemas.openxmlformats.org/drawingml/2006/main">
              <a:ext uri="{FF2B5EF4-FFF2-40B4-BE49-F238E27FC236}">
                <a16:creationId xmlns:a16="http://schemas.microsoft.com/office/drawing/2014/main" id="{9335A70E-1F73-4121-A801-563107996647}"/>
              </a:ext>
            </a:extLst>
          </p:cNvPr>
          <p:cNvSpPr>
            <a:spLocks xmlns:a="http://schemas.openxmlformats.org/drawingml/2006/main" noGrp="1"/>
          </p:cNvSpPr>
          <p:nvPr/>
        </p:nvSpPr>
        <p:spPr>
          <a:xfrm xmlns:a="http://schemas.openxmlformats.org/drawingml/2006/main">
            <a:off x="457200" y="37909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60A5FA"/>
                </a:solidFill>
                <a:latin typeface="Helvetica Neue"/>
                <a:ea typeface="Helvetica Neue"/>
                <a:cs typeface="Helvetica Neue"/>
              </a:defRPr>
            </a:pPr>
            <a:r>
              <a:rPr sz="1350" b="1">
                <a:solidFill>
                  <a:srgbClr val="60A5FA"/>
                </a:solidFill>
                <a:latin typeface="Helvetica Neue"/>
                <a:ea typeface="Helvetica Neue"/>
                <a:cs typeface="Helvetica Neue"/>
              </a:rPr>
              <a:t>WHAT BREAKS</a:t>
            </a:r>
          </a:p>
        </p:txBody>
      </p:sp>
      <p:sp>
        <p:nvSpPr>
          <p:cNvPr id="5" name="failure-left">
            <a:extLst xmlns:a="http://schemas.openxmlformats.org/drawingml/2006/main">
              <a:ext uri="{FF2B5EF4-FFF2-40B4-BE49-F238E27FC236}">
                <a16:creationId xmlns:a16="http://schemas.microsoft.com/office/drawing/2014/main" id="{D6F8B1FD-5A77-456A-85D1-D2D21B83453E}"/>
              </a:ext>
            </a:extLst>
          </p:cNvPr>
          <p:cNvSpPr>
            <a:spLocks xmlns:a="http://schemas.openxmlformats.org/drawingml/2006/main" noGrp="1"/>
          </p:cNvSpPr>
          <p:nvPr/>
        </p:nvSpPr>
        <p:spPr>
          <a:xfrm xmlns:a="http://schemas.openxmlformats.org/drawingml/2006/main">
            <a:off x="457200" y="43243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Lasso can select one arbitrary member of a correlated group and make instability look like importance.</a:t>
            </a:r>
          </a:p>
        </p:txBody>
      </p:sp>
      <p:sp>
        <p:nvSpPr>
          <p:cNvPr id="6" name="failure-right-title">
            <a:extLst xmlns:a="http://schemas.openxmlformats.org/drawingml/2006/main">
              <a:ext uri="{FF2B5EF4-FFF2-40B4-BE49-F238E27FC236}">
                <a16:creationId xmlns:a16="http://schemas.microsoft.com/office/drawing/2014/main" id="{660BA79E-49EA-412C-B81A-A787C28DE6D7}"/>
              </a:ext>
            </a:extLst>
          </p:cNvPr>
          <p:cNvSpPr>
            <a:spLocks xmlns:a="http://schemas.openxmlformats.org/drawingml/2006/main" noGrp="1"/>
          </p:cNvSpPr>
          <p:nvPr/>
        </p:nvSpPr>
        <p:spPr>
          <a:xfrm xmlns:a="http://schemas.openxmlformats.org/drawingml/2006/main">
            <a:off x="6457950" y="37909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WHY IT MATTERS</a:t>
            </a:r>
          </a:p>
        </p:txBody>
      </p:sp>
      <p:sp>
        <p:nvSpPr>
          <p:cNvPr id="7" name="failure-right">
            <a:extLst xmlns:a="http://schemas.openxmlformats.org/drawingml/2006/main">
              <a:ext uri="{FF2B5EF4-FFF2-40B4-BE49-F238E27FC236}">
                <a16:creationId xmlns:a16="http://schemas.microsoft.com/office/drawing/2014/main" id="{EB9D7924-95F7-4251-8B01-1B37030EA9C0}"/>
              </a:ext>
            </a:extLst>
          </p:cNvPr>
          <p:cNvSpPr>
            <a:spLocks xmlns:a="http://schemas.openxmlformats.org/drawingml/2006/main" noGrp="1"/>
          </p:cNvSpPr>
          <p:nvPr/>
        </p:nvSpPr>
        <p:spPr>
          <a:xfrm xmlns:a="http://schemas.openxmlformats.org/drawingml/2006/main">
            <a:off x="6457950" y="43243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λ is selected without test-set reuse</a:t>
            </a:r>
          </a:p>
        </p:txBody>
      </p:sp>
      <p:sp>
        <p:nvSpPr>
          <p:cNvPr id="8" name="rule-48-674">
            <a:extLst xmlns:a="http://schemas.openxmlformats.org/drawingml/2006/main">
              <a:ext uri="{FF2B5EF4-FFF2-40B4-BE49-F238E27FC236}">
                <a16:creationId xmlns:a16="http://schemas.microsoft.com/office/drawing/2014/main" id="{3BFE8C1D-08AD-465F-8C65-B6B98955447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465564"/>
          </a:solidFill>
          <a:ln xmlns:a="http://schemas.openxmlformats.org/drawingml/2006/main" w="0">
            <a:noFill/>
            <a:prstDash val="solid"/>
          </a:ln>
        </p:spPr>
      </p:sp>
      <p:sp>
        <p:nvSpPr>
          <p:cNvPr id="9" name="footer-left">
            <a:extLst xmlns:a="http://schemas.openxmlformats.org/drawingml/2006/main">
              <a:ext uri="{FF2B5EF4-FFF2-40B4-BE49-F238E27FC236}">
                <a16:creationId xmlns:a16="http://schemas.microsoft.com/office/drawing/2014/main" id="{3DBEA6F7-6B05-4747-8DD6-F01CEDAACED2}"/>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C7D2DE"/>
                </a:solidFill>
                <a:latin typeface="Helvetica Neue"/>
                <a:ea typeface="Helvetica Neue"/>
                <a:cs typeface="Helvetica Neue"/>
              </a:defRPr>
            </a:pPr>
            <a:r>
              <a:rPr sz="1050" b="0">
                <a:solidFill>
                  <a:srgbClr val="C7D2DE"/>
                </a:solidFill>
                <a:latin typeface="Helvetica Neue"/>
                <a:ea typeface="Helvetica Neue"/>
                <a:cs typeface="Helvetica Neue"/>
              </a:rPr>
              <a:t>MATH60033A · Thierry Warin · Session 05</a:t>
            </a:r>
          </a:p>
        </p:txBody>
      </p:sp>
      <p:sp>
        <p:nvSpPr>
          <p:cNvPr id="10" name="footer-right">
            <a:extLst xmlns:a="http://schemas.openxmlformats.org/drawingml/2006/main">
              <a:ext uri="{FF2B5EF4-FFF2-40B4-BE49-F238E27FC236}">
                <a16:creationId xmlns:a16="http://schemas.microsoft.com/office/drawing/2014/main" id="{B952E2D6-D1F2-4BB0-AEE3-27E567294EA4}"/>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C7D2DE"/>
                </a:solidFill>
                <a:latin typeface="Helvetica Neue"/>
                <a:ea typeface="Helvetica Neue"/>
                <a:cs typeface="Helvetica Neue"/>
              </a:defRPr>
            </a:pPr>
            <a:r>
              <a:rPr sz="1050" b="0">
                <a:solidFill>
                  <a:srgbClr val="C7D2DE"/>
                </a:solidFill>
                <a:latin typeface="Helvetica Neue"/>
                <a:ea typeface="Helvetica Neue"/>
                <a:cs typeface="Helvetica Neue"/>
              </a:rPr>
              <a:t>Lecture · 45/50</a:t>
            </a:r>
          </a:p>
        </p:txBody>
      </p:sp>
    </p:spTree>
    <p:extLst>
      <p:ext uri="{BB962C8B-B14F-4D97-AF65-F5344CB8AC3E}">
        <p14:creationId xmlns:p14="http://schemas.microsoft.com/office/powerpoint/2010/main" val="129185160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60CD8E74-36F0-4281-80AB-0411FFF72D7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INTERPRETATION</a:t>
            </a:r>
          </a:p>
        </p:txBody>
      </p:sp>
      <p:sp>
        <p:nvSpPr>
          <p:cNvPr id="2" name="slide-title">
            <a:extLst xmlns:a="http://schemas.openxmlformats.org/drawingml/2006/main">
              <a:ext uri="{FF2B5EF4-FFF2-40B4-BE49-F238E27FC236}">
                <a16:creationId xmlns:a16="http://schemas.microsoft.com/office/drawing/2014/main" id="{6578191D-E938-47D6-A5F8-7D38C1E0C605}"/>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Now, the practice</a:t>
            </a:r>
          </a:p>
        </p:txBody>
      </p:sp>
      <p:sp>
        <p:nvSpPr>
          <p:cNvPr id="3" name="rule-48-137">
            <a:extLst xmlns:a="http://schemas.openxmlformats.org/drawingml/2006/main">
              <a:ext uri="{FF2B5EF4-FFF2-40B4-BE49-F238E27FC236}">
                <a16:creationId xmlns:a16="http://schemas.microsoft.com/office/drawing/2014/main" id="{C9D725E8-FC7B-4641-A66A-C11D5EA8608E}"/>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say-label">
            <a:extLst xmlns:a="http://schemas.openxmlformats.org/drawingml/2006/main">
              <a:ext uri="{FF2B5EF4-FFF2-40B4-BE49-F238E27FC236}">
                <a16:creationId xmlns:a16="http://schemas.microsoft.com/office/drawing/2014/main" id="{628557C3-0CA3-4977-BD85-98E1330AE427}"/>
              </a:ext>
            </a:extLst>
          </p:cNvPr>
          <p:cNvSpPr>
            <a:spLocks xmlns:a="http://schemas.openxmlformats.org/drawingml/2006/main" noGrp="1"/>
          </p:cNvSpPr>
          <p:nvPr/>
        </p:nvSpPr>
        <p:spPr>
          <a:xfrm xmlns:a="http://schemas.openxmlformats.org/drawingml/2006/main">
            <a:off x="457200" y="18478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SAY</a:t>
            </a:r>
          </a:p>
        </p:txBody>
      </p:sp>
      <p:sp>
        <p:nvSpPr>
          <p:cNvPr id="5" name="say-copy">
            <a:extLst xmlns:a="http://schemas.openxmlformats.org/drawingml/2006/main">
              <a:ext uri="{FF2B5EF4-FFF2-40B4-BE49-F238E27FC236}">
                <a16:creationId xmlns:a16="http://schemas.microsoft.com/office/drawing/2014/main" id="{C62767ED-9EB6-4A66-B9C0-B2881F181C9C}"/>
              </a:ext>
            </a:extLst>
          </p:cNvPr>
          <p:cNvSpPr>
            <a:spLocks xmlns:a="http://schemas.openxmlformats.org/drawingml/2006/main" noGrp="1"/>
          </p:cNvSpPr>
          <p:nvPr/>
        </p:nvSpPr>
        <p:spPr>
          <a:xfrm xmlns:a="http://schemas.openxmlformats.org/drawingml/2006/main">
            <a:off x="457200" y="2362200"/>
            <a:ext cx="5095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856"/>
          </a:bodyPr>
          <a:lstStyle xmlns:a="http://schemas.openxmlformats.org/drawingml/2006/main"/>
          <a:p xmlns:a="http://schemas.openxmlformats.org/drawingml/2006/main">
            <a:pPr algn="l">
              <a:lnSpc>
                <a:spcPct val="100000"/>
              </a:lnSpc>
              <a:buNone/>
              <a:defRPr sz="2325" b="1">
                <a:solidFill>
                  <a:srgbClr val="111827"/>
                </a:solidFill>
                <a:latin typeface="Helvetica Neue"/>
                <a:ea typeface="Helvetica Neue"/>
                <a:cs typeface="Helvetica Neue"/>
              </a:defRPr>
            </a:pPr>
            <a:r>
              <a:rPr sz="2325" b="1">
                <a:solidFill>
                  <a:srgbClr val="111827"/>
                </a:solidFill>
                <a:latin typeface="Helvetica Neue"/>
                <a:ea typeface="Helvetica Neue"/>
                <a:cs typeface="Helvetica Neue"/>
              </a:rPr>
              <a:t>Ninety minutes, in your groups. You will fit a full elastic-net path on a wide panel, choose (alpha, λ) honestly, and report what survives — and what that does and does not license you Notes: 01-lecture/README.md · practice brief:</a:t>
            </a:r>
          </a:p>
        </p:txBody>
      </p:sp>
      <p:sp>
        <p:nvSpPr>
          <p:cNvPr id="6" name="interpretation-divider">
            <a:extLst xmlns:a="http://schemas.openxmlformats.org/drawingml/2006/main">
              <a:ext uri="{FF2B5EF4-FFF2-40B4-BE49-F238E27FC236}">
                <a16:creationId xmlns:a16="http://schemas.microsoft.com/office/drawing/2014/main" id="{EFF3F60B-3F3D-41DA-A83D-44343467E8F3}"/>
              </a:ext>
            </a:extLst>
          </p:cNvPr>
          <p:cNvSpPr>
            <a:spLocks xmlns:a="http://schemas.openxmlformats.org/drawingml/2006/main" noGrp="1"/>
          </p:cNvSpPr>
          <p:nvPr/>
        </p:nvSpPr>
        <p:spPr>
          <a:xfrm xmlns:a="http://schemas.openxmlformats.org/drawingml/2006/main">
            <a:off x="5905500" y="1752600"/>
            <a:ext cx="19050" cy="4000500"/>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avoid-label">
            <a:extLst xmlns:a="http://schemas.openxmlformats.org/drawingml/2006/main">
              <a:ext uri="{FF2B5EF4-FFF2-40B4-BE49-F238E27FC236}">
                <a16:creationId xmlns:a16="http://schemas.microsoft.com/office/drawing/2014/main" id="{9051EC30-059C-479F-9B7E-3E514D386AC9}"/>
              </a:ext>
            </a:extLst>
          </p:cNvPr>
          <p:cNvSpPr>
            <a:spLocks xmlns:a="http://schemas.openxmlformats.org/drawingml/2006/main" noGrp="1"/>
          </p:cNvSpPr>
          <p:nvPr/>
        </p:nvSpPr>
        <p:spPr>
          <a:xfrm xmlns:a="http://schemas.openxmlformats.org/drawingml/2006/main">
            <a:off x="6457950" y="18478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AVOID</a:t>
            </a:r>
          </a:p>
        </p:txBody>
      </p:sp>
      <p:sp>
        <p:nvSpPr>
          <p:cNvPr id="8" name="avoid-copy">
            <a:extLst xmlns:a="http://schemas.openxmlformats.org/drawingml/2006/main">
              <a:ext uri="{FF2B5EF4-FFF2-40B4-BE49-F238E27FC236}">
                <a16:creationId xmlns:a16="http://schemas.microsoft.com/office/drawing/2014/main" id="{D194CFAA-E4E9-4B6F-BF8B-82634B235A46}"/>
              </a:ext>
            </a:extLst>
          </p:cNvPr>
          <p:cNvSpPr>
            <a:spLocks xmlns:a="http://schemas.openxmlformats.org/drawingml/2006/main" noGrp="1"/>
          </p:cNvSpPr>
          <p:nvPr/>
        </p:nvSpPr>
        <p:spPr>
          <a:xfrm xmlns:a="http://schemas.openxmlformats.org/drawingml/2006/main">
            <a:off x="6457950" y="2362200"/>
            <a:ext cx="4857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Lasso can select one arbitrary member of a correlated group and make instability look like importance.</a:t>
            </a:r>
          </a:p>
        </p:txBody>
      </p:sp>
      <p:sp>
        <p:nvSpPr>
          <p:cNvPr id="9" name="interpretation-rule">
            <a:extLst xmlns:a="http://schemas.openxmlformats.org/drawingml/2006/main">
              <a:ext uri="{FF2B5EF4-FFF2-40B4-BE49-F238E27FC236}">
                <a16:creationId xmlns:a16="http://schemas.microsoft.com/office/drawing/2014/main" id="{9AF941CA-1628-4D64-B91A-073E53AE7929}"/>
              </a:ext>
            </a:extLst>
          </p:cNvPr>
          <p:cNvSpPr>
            <a:spLocks xmlns:a="http://schemas.openxmlformats.org/drawingml/2006/main" noGrp="1"/>
          </p:cNvSpPr>
          <p:nvPr/>
        </p:nvSpPr>
        <p:spPr>
          <a:xfrm xmlns:a="http://schemas.openxmlformats.org/drawingml/2006/main">
            <a:off x="6457950" y="4762500"/>
            <a:ext cx="485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2563EB"/>
                </a:solidFill>
                <a:latin typeface="Helvetica Neue"/>
                <a:ea typeface="Helvetica Neue"/>
                <a:cs typeface="Helvetica Neue"/>
              </a:defRPr>
            </a:pPr>
            <a:r>
              <a:rPr sz="1650" b="1">
                <a:solidFill>
                  <a:srgbClr val="2563EB"/>
                </a:solidFill>
                <a:latin typeface="Helvetica Neue"/>
                <a:ea typeface="Helvetica Neue"/>
                <a:cs typeface="Helvetica Neue"/>
              </a:rPr>
              <a:t>Estimate + comparison + uncertainty + assumption + limitation.</a:t>
            </a:r>
          </a:p>
        </p:txBody>
      </p:sp>
      <p:sp>
        <p:nvSpPr>
          <p:cNvPr id="10" name="rule-48-674">
            <a:extLst xmlns:a="http://schemas.openxmlformats.org/drawingml/2006/main">
              <a:ext uri="{FF2B5EF4-FFF2-40B4-BE49-F238E27FC236}">
                <a16:creationId xmlns:a16="http://schemas.microsoft.com/office/drawing/2014/main" id="{892650C5-E71D-42DF-898C-F2678FA5664D}"/>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footer-left">
            <a:extLst xmlns:a="http://schemas.openxmlformats.org/drawingml/2006/main">
              <a:ext uri="{FF2B5EF4-FFF2-40B4-BE49-F238E27FC236}">
                <a16:creationId xmlns:a16="http://schemas.microsoft.com/office/drawing/2014/main" id="{B61B53D6-74ED-4C14-AA45-0D31F2A05E1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2" name="footer-right">
            <a:extLst xmlns:a="http://schemas.openxmlformats.org/drawingml/2006/main">
              <a:ext uri="{FF2B5EF4-FFF2-40B4-BE49-F238E27FC236}">
                <a16:creationId xmlns:a16="http://schemas.microsoft.com/office/drawing/2014/main" id="{BF998C5B-6627-4D21-9AA0-0D8DE936A1F9}"/>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46/50</a:t>
            </a:r>
          </a:p>
        </p:txBody>
      </p:sp>
    </p:spTree>
    <p:extLst>
      <p:ext uri="{BB962C8B-B14F-4D97-AF65-F5344CB8AC3E}">
        <p14:creationId xmlns:p14="http://schemas.microsoft.com/office/powerpoint/2010/main" val="101387792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EB6E6B27-76E8-4E93-BF5E-032DBBB21D1F}"/>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REQUIRED READING</a:t>
            </a:r>
          </a:p>
        </p:txBody>
      </p:sp>
      <p:sp>
        <p:nvSpPr>
          <p:cNvPr id="2" name="slide-title">
            <a:extLst xmlns:a="http://schemas.openxmlformats.org/drawingml/2006/main">
              <a:ext uri="{FF2B5EF4-FFF2-40B4-BE49-F238E27FC236}">
                <a16:creationId xmlns:a16="http://schemas.microsoft.com/office/drawing/2014/main" id="{9F25BEE8-464D-436D-B733-7D1AC5D86B84}"/>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The article becomes the practice challenge</a:t>
            </a:r>
          </a:p>
        </p:txBody>
      </p:sp>
      <p:sp>
        <p:nvSpPr>
          <p:cNvPr id="3" name="rule-48-137">
            <a:extLst xmlns:a="http://schemas.openxmlformats.org/drawingml/2006/main">
              <a:ext uri="{FF2B5EF4-FFF2-40B4-BE49-F238E27FC236}">
                <a16:creationId xmlns:a16="http://schemas.microsoft.com/office/drawing/2014/main" id="{911695D5-301A-4344-A097-ADBB3CA42807}"/>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reading-status-0">
            <a:extLst xmlns:a="http://schemas.openxmlformats.org/drawingml/2006/main">
              <a:ext uri="{FF2B5EF4-FFF2-40B4-BE49-F238E27FC236}">
                <a16:creationId xmlns:a16="http://schemas.microsoft.com/office/drawing/2014/main" id="{845C6703-0027-4CA3-A8EE-9A078C078499}"/>
              </a:ext>
            </a:extLst>
          </p:cNvPr>
          <p:cNvSpPr>
            <a:spLocks xmlns:a="http://schemas.openxmlformats.org/drawingml/2006/main" noGrp="1"/>
          </p:cNvSpPr>
          <p:nvPr/>
        </p:nvSpPr>
        <p:spPr>
          <a:xfrm xmlns:a="http://schemas.openxmlformats.org/drawingml/2006/main">
            <a:off x="457200" y="1504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F97362"/>
                </a:solidFill>
                <a:latin typeface="Helvetica Neue"/>
                <a:ea typeface="Helvetica Neue"/>
                <a:cs typeface="Helvetica Neue"/>
              </a:defRPr>
            </a:pPr>
            <a:r>
              <a:rPr sz="1050" b="1">
                <a:solidFill>
                  <a:srgbClr val="F97362"/>
                </a:solidFill>
                <a:latin typeface="Helvetica Neue"/>
                <a:ea typeface="Helvetica Neue"/>
                <a:cs typeface="Helvetica Neue"/>
              </a:rPr>
              <a:t>READ BEFORE CLASS</a:t>
            </a:r>
          </a:p>
        </p:txBody>
      </p:sp>
      <p:sp>
        <p:nvSpPr>
          <p:cNvPr id="5" name="reading-title-0">
            <a:extLst xmlns:a="http://schemas.openxmlformats.org/drawingml/2006/main">
              <a:ext uri="{FF2B5EF4-FFF2-40B4-BE49-F238E27FC236}">
                <a16:creationId xmlns:a16="http://schemas.microsoft.com/office/drawing/2014/main" id="{6D73A7B5-9BF2-4802-92DA-186D1E67FBEB}"/>
              </a:ext>
            </a:extLst>
          </p:cNvPr>
          <p:cNvSpPr>
            <a:spLocks xmlns:a="http://schemas.openxmlformats.org/drawingml/2006/main" noGrp="1"/>
          </p:cNvSpPr>
          <p:nvPr/>
        </p:nvSpPr>
        <p:spPr>
          <a:xfrm xmlns:a="http://schemas.openxmlformats.org/drawingml/2006/main">
            <a:off x="457200" y="17335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Frandi et al. (2016) — Fast and Scalable Lasso</a:t>
            </a:r>
          </a:p>
        </p:txBody>
      </p:sp>
      <p:sp>
        <p:nvSpPr>
          <p:cNvPr id="6" name="reading-why-0">
            <a:extLst xmlns:a="http://schemas.openxmlformats.org/drawingml/2006/main">
              <a:ext uri="{FF2B5EF4-FFF2-40B4-BE49-F238E27FC236}">
                <a16:creationId xmlns:a16="http://schemas.microsoft.com/office/drawing/2014/main" id="{E0E69ED0-4580-48B9-BD7E-77ED63825150}"/>
              </a:ext>
            </a:extLst>
          </p:cNvPr>
          <p:cNvSpPr>
            <a:spLocks xmlns:a="http://schemas.openxmlformats.org/drawingml/2006/main" noGrp="1"/>
          </p:cNvSpPr>
          <p:nvPr/>
        </p:nvSpPr>
        <p:spPr>
          <a:xfrm xmlns:a="http://schemas.openxmlformats.org/drawingml/2006/main">
            <a:off x="457200" y="22288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536273"/>
                </a:solidFill>
                <a:latin typeface="Helvetica Neue"/>
                <a:ea typeface="Helvetica Neue"/>
                <a:cs typeface="Helvetica Neue"/>
              </a:defRPr>
            </a:pPr>
            <a:r>
              <a:rPr sz="1425" b="1">
                <a:solidFill>
                  <a:srgbClr val="536273"/>
                </a:solidFill>
                <a:latin typeface="Helvetica Neue"/>
                <a:ea typeface="Helvetica Neue"/>
                <a:cs typeface="Helvetica Neue"/>
              </a:rPr>
              <a:t>Required article: sparse estimation and regularization paths at scale</a:t>
            </a:r>
          </a:p>
        </p:txBody>
      </p:sp>
      <p:sp>
        <p:nvSpPr>
          <p:cNvPr id="7" name="reading-url-0">
            <a:extLst xmlns:a="http://schemas.openxmlformats.org/drawingml/2006/main">
              <a:ext uri="{FF2B5EF4-FFF2-40B4-BE49-F238E27FC236}">
                <a16:creationId xmlns:a16="http://schemas.microsoft.com/office/drawing/2014/main" id="{D67C8197-A293-4FD2-ADF6-268744B4EA6C}"/>
              </a:ext>
            </a:extLst>
          </p:cNvPr>
          <p:cNvSpPr>
            <a:spLocks xmlns:a="http://schemas.openxmlformats.org/drawingml/2006/main" noGrp="1"/>
          </p:cNvSpPr>
          <p:nvPr/>
        </p:nvSpPr>
        <p:spPr>
          <a:xfrm xmlns:a="http://schemas.openxmlformats.org/drawingml/2006/main">
            <a:off x="457200" y="29337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2563EB"/>
                </a:solidFill>
                <a:latin typeface="Menlo"/>
                <a:ea typeface="Menlo"/>
                <a:cs typeface="Menlo"/>
              </a:defRPr>
            </a:pPr>
            <a:r>
              <a:rPr sz="1050" b="0">
                <a:solidFill>
                  <a:srgbClr val="2563EB"/>
                </a:solidFill>
                <a:latin typeface="Menlo"/>
                <a:ea typeface="Menlo"/>
                <a:cs typeface="Menlo"/>
              </a:rPr>
              <a:t>https://doi.org/10.1007/s10994-016-5578-4</a:t>
            </a:r>
          </a:p>
        </p:txBody>
      </p:sp>
      <p:sp>
        <p:nvSpPr>
          <p:cNvPr id="8" name="rule-48-348">
            <a:extLst xmlns:a="http://schemas.openxmlformats.org/drawingml/2006/main">
              <a:ext uri="{FF2B5EF4-FFF2-40B4-BE49-F238E27FC236}">
                <a16:creationId xmlns:a16="http://schemas.microsoft.com/office/drawing/2014/main" id="{14E77441-D11E-4277-AE48-04B823EC0079}"/>
              </a:ext>
            </a:extLst>
          </p:cNvPr>
          <p:cNvSpPr>
            <a:spLocks xmlns:a="http://schemas.openxmlformats.org/drawingml/2006/main" noGrp="1"/>
          </p:cNvSpPr>
          <p:nvPr/>
        </p:nvSpPr>
        <p:spPr>
          <a:xfrm xmlns:a="http://schemas.openxmlformats.org/drawingml/2006/main">
            <a:off x="457200" y="3314700"/>
            <a:ext cx="10668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9" name="reading-status-1">
            <a:extLst xmlns:a="http://schemas.openxmlformats.org/drawingml/2006/main">
              <a:ext uri="{FF2B5EF4-FFF2-40B4-BE49-F238E27FC236}">
                <a16:creationId xmlns:a16="http://schemas.microsoft.com/office/drawing/2014/main" id="{3731BF43-FFB6-4BCB-9C43-1CF09A2815C7}"/>
              </a:ext>
            </a:extLst>
          </p:cNvPr>
          <p:cNvSpPr>
            <a:spLocks xmlns:a="http://schemas.openxmlformats.org/drawingml/2006/main" noGrp="1"/>
          </p:cNvSpPr>
          <p:nvPr/>
        </p:nvSpPr>
        <p:spPr>
          <a:xfrm xmlns:a="http://schemas.openxmlformats.org/drawingml/2006/main">
            <a:off x="457200" y="32004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2563EB"/>
                </a:solidFill>
                <a:latin typeface="Helvetica Neue"/>
                <a:ea typeface="Helvetica Neue"/>
                <a:cs typeface="Helvetica Neue"/>
              </a:defRPr>
            </a:pPr>
            <a:r>
              <a:rPr sz="1050" b="1">
                <a:solidFill>
                  <a:srgbClr val="2563EB"/>
                </a:solidFill>
                <a:latin typeface="Helvetica Neue"/>
                <a:ea typeface="Helvetica Neue"/>
                <a:cs typeface="Helvetica Neue"/>
              </a:rPr>
              <a:t>DATAVERSE PACKAGE</a:t>
            </a:r>
          </a:p>
        </p:txBody>
      </p:sp>
      <p:sp>
        <p:nvSpPr>
          <p:cNvPr id="10" name="reading-title-1">
            <a:extLst xmlns:a="http://schemas.openxmlformats.org/drawingml/2006/main">
              <a:ext uri="{FF2B5EF4-FFF2-40B4-BE49-F238E27FC236}">
                <a16:creationId xmlns:a16="http://schemas.microsoft.com/office/drawing/2014/main" id="{1A9D2DED-9306-4B34-A95B-C88F24A6ADF9}"/>
              </a:ext>
            </a:extLst>
          </p:cNvPr>
          <p:cNvSpPr>
            <a:spLocks xmlns:a="http://schemas.openxmlformats.org/drawingml/2006/main" noGrp="1"/>
          </p:cNvSpPr>
          <p:nvPr/>
        </p:nvSpPr>
        <p:spPr>
          <a:xfrm xmlns:a="http://schemas.openxmlformats.org/drawingml/2006/main">
            <a:off x="457200" y="34290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Harvard Dataverse 10.7910/DVN/QJEUKR</a:t>
            </a:r>
          </a:p>
        </p:txBody>
      </p:sp>
      <p:sp>
        <p:nvSpPr>
          <p:cNvPr id="11" name="reading-why-1">
            <a:extLst xmlns:a="http://schemas.openxmlformats.org/drawingml/2006/main">
              <a:ext uri="{FF2B5EF4-FFF2-40B4-BE49-F238E27FC236}">
                <a16:creationId xmlns:a16="http://schemas.microsoft.com/office/drawing/2014/main" id="{499B06FA-8BA6-4E4C-A782-871CC88C55ED}"/>
              </a:ext>
            </a:extLst>
          </p:cNvPr>
          <p:cNvSpPr>
            <a:spLocks xmlns:a="http://schemas.openxmlformats.org/drawingml/2006/main" noGrp="1"/>
          </p:cNvSpPr>
          <p:nvPr/>
        </p:nvSpPr>
        <p:spPr>
          <a:xfrm xmlns:a="http://schemas.openxmlformats.org/drawingml/2006/main">
            <a:off x="457200" y="3924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536273"/>
                </a:solidFill>
                <a:latin typeface="Helvetica Neue"/>
                <a:ea typeface="Helvetica Neue"/>
                <a:cs typeface="Helvetica Neue"/>
              </a:defRPr>
            </a:pPr>
            <a:r>
              <a:rPr sz="1425" b="1">
                <a:solidFill>
                  <a:srgbClr val="536273"/>
                </a:solidFill>
                <a:latin typeface="Helvetica Neue"/>
                <a:ea typeface="Helvetica Neue"/>
                <a:cs typeface="Helvetica Neue"/>
              </a:rPr>
              <a:t>Required package: use only the selected classroom train/test pair</a:t>
            </a:r>
          </a:p>
        </p:txBody>
      </p:sp>
      <p:sp>
        <p:nvSpPr>
          <p:cNvPr id="12" name="reading-url-1">
            <a:extLst xmlns:a="http://schemas.openxmlformats.org/drawingml/2006/main">
              <a:ext uri="{FF2B5EF4-FFF2-40B4-BE49-F238E27FC236}">
                <a16:creationId xmlns:a16="http://schemas.microsoft.com/office/drawing/2014/main" id="{91F6FD54-9CAB-4E58-BA98-A2E3CC5C1CAC}"/>
              </a:ext>
            </a:extLst>
          </p:cNvPr>
          <p:cNvSpPr>
            <a:spLocks xmlns:a="http://schemas.openxmlformats.org/drawingml/2006/main" noGrp="1"/>
          </p:cNvSpPr>
          <p:nvPr/>
        </p:nvSpPr>
        <p:spPr>
          <a:xfrm xmlns:a="http://schemas.openxmlformats.org/drawingml/2006/main">
            <a:off x="457200" y="46291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2563EB"/>
                </a:solidFill>
                <a:latin typeface="Menlo"/>
                <a:ea typeface="Menlo"/>
                <a:cs typeface="Menlo"/>
              </a:defRPr>
            </a:pPr>
            <a:r>
              <a:rPr sz="1050" b="0">
                <a:solidFill>
                  <a:srgbClr val="2563EB"/>
                </a:solidFill>
                <a:latin typeface="Menlo"/>
                <a:ea typeface="Menlo"/>
                <a:cs typeface="Menlo"/>
              </a:rPr>
              <a:t>https://doi.org/10.7910/DVN/QJEUKR</a:t>
            </a:r>
          </a:p>
        </p:txBody>
      </p:sp>
      <p:sp>
        <p:nvSpPr>
          <p:cNvPr id="13" name="rule-48-526">
            <a:extLst xmlns:a="http://schemas.openxmlformats.org/drawingml/2006/main">
              <a:ext uri="{FF2B5EF4-FFF2-40B4-BE49-F238E27FC236}">
                <a16:creationId xmlns:a16="http://schemas.microsoft.com/office/drawing/2014/main" id="{6539DF11-32EB-419B-A8D7-28645DEFCE3D}"/>
              </a:ext>
            </a:extLst>
          </p:cNvPr>
          <p:cNvSpPr>
            <a:spLocks xmlns:a="http://schemas.openxmlformats.org/drawingml/2006/main" noGrp="1"/>
          </p:cNvSpPr>
          <p:nvPr/>
        </p:nvSpPr>
        <p:spPr>
          <a:xfrm xmlns:a="http://schemas.openxmlformats.org/drawingml/2006/main">
            <a:off x="457200" y="5010150"/>
            <a:ext cx="106680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reading-status-2">
            <a:extLst xmlns:a="http://schemas.openxmlformats.org/drawingml/2006/main">
              <a:ext uri="{FF2B5EF4-FFF2-40B4-BE49-F238E27FC236}">
                <a16:creationId xmlns:a16="http://schemas.microsoft.com/office/drawing/2014/main" id="{CF4F217E-582F-4B5A-8CBE-996EFF817137}"/>
              </a:ext>
            </a:extLst>
          </p:cNvPr>
          <p:cNvSpPr>
            <a:spLocks xmlns:a="http://schemas.openxmlformats.org/drawingml/2006/main" noGrp="1"/>
          </p:cNvSpPr>
          <p:nvPr/>
        </p:nvSpPr>
        <p:spPr>
          <a:xfrm xmlns:a="http://schemas.openxmlformats.org/drawingml/2006/main">
            <a:off x="457200" y="48958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2563EB"/>
                </a:solidFill>
                <a:latin typeface="Helvetica Neue"/>
                <a:ea typeface="Helvetica Neue"/>
                <a:cs typeface="Helvetica Neue"/>
              </a:defRPr>
            </a:pPr>
            <a:r>
              <a:rPr sz="1050" b="1">
                <a:solidFill>
                  <a:srgbClr val="2563EB"/>
                </a:solidFill>
                <a:latin typeface="Helvetica Neue"/>
                <a:ea typeface="Helvetica Neue"/>
                <a:cs typeface="Helvetica Neue"/>
              </a:rPr>
              <a:t>OPTIONAL · ISLR</a:t>
            </a:r>
          </a:p>
        </p:txBody>
      </p:sp>
      <p:sp>
        <p:nvSpPr>
          <p:cNvPr id="15" name="reading-title-2">
            <a:extLst xmlns:a="http://schemas.openxmlformats.org/drawingml/2006/main">
              <a:ext uri="{FF2B5EF4-FFF2-40B4-BE49-F238E27FC236}">
                <a16:creationId xmlns:a16="http://schemas.microsoft.com/office/drawing/2014/main" id="{3AA53191-2726-4A2C-9677-1C3AB8EA8032}"/>
              </a:ext>
            </a:extLst>
          </p:cNvPr>
          <p:cNvSpPr>
            <a:spLocks xmlns:a="http://schemas.openxmlformats.org/drawingml/2006/main" noGrp="1"/>
          </p:cNvSpPr>
          <p:nvPr/>
        </p:nvSpPr>
        <p:spPr>
          <a:xfrm xmlns:a="http://schemas.openxmlformats.org/drawingml/2006/main">
            <a:off x="457200" y="51244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ISLR, regularization chapter</a:t>
            </a:r>
          </a:p>
        </p:txBody>
      </p:sp>
      <p:sp>
        <p:nvSpPr>
          <p:cNvPr id="16" name="reading-why-2">
            <a:extLst xmlns:a="http://schemas.openxmlformats.org/drawingml/2006/main">
              <a:ext uri="{FF2B5EF4-FFF2-40B4-BE49-F238E27FC236}">
                <a16:creationId xmlns:a16="http://schemas.microsoft.com/office/drawing/2014/main" id="{2CE382BA-629E-426D-909B-EE6404CD4603}"/>
              </a:ext>
            </a:extLst>
          </p:cNvPr>
          <p:cNvSpPr>
            <a:spLocks xmlns:a="http://schemas.openxmlformats.org/drawingml/2006/main" noGrp="1"/>
          </p:cNvSpPr>
          <p:nvPr/>
        </p:nvSpPr>
        <p:spPr>
          <a:xfrm xmlns:a="http://schemas.openxmlformats.org/drawingml/2006/main">
            <a:off x="457200" y="56197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536273"/>
                </a:solidFill>
                <a:latin typeface="Helvetica Neue"/>
                <a:ea typeface="Helvetica Neue"/>
                <a:cs typeface="Helvetica Neue"/>
              </a:defRPr>
            </a:pPr>
            <a:r>
              <a:rPr sz="1425" b="1">
                <a:solidFill>
                  <a:srgbClr val="536273"/>
                </a:solidFill>
                <a:latin typeface="Helvetica Neue"/>
                <a:ea typeface="Helvetica Neue"/>
                <a:cs typeface="Helvetica Neue"/>
              </a:rPr>
              <a:t>Optional explanation of ridge, lasso, and elastic net</a:t>
            </a:r>
          </a:p>
        </p:txBody>
      </p:sp>
      <p:sp>
        <p:nvSpPr>
          <p:cNvPr id="17" name="reading-url-2">
            <a:extLst xmlns:a="http://schemas.openxmlformats.org/drawingml/2006/main">
              <a:ext uri="{FF2B5EF4-FFF2-40B4-BE49-F238E27FC236}">
                <a16:creationId xmlns:a16="http://schemas.microsoft.com/office/drawing/2014/main" id="{D5C34554-925A-40BD-8EAC-31D3F769A1D6}"/>
              </a:ext>
            </a:extLst>
          </p:cNvPr>
          <p:cNvSpPr>
            <a:spLocks xmlns:a="http://schemas.openxmlformats.org/drawingml/2006/main" noGrp="1"/>
          </p:cNvSpPr>
          <p:nvPr/>
        </p:nvSpPr>
        <p:spPr>
          <a:xfrm xmlns:a="http://schemas.openxmlformats.org/drawingml/2006/main">
            <a:off x="457200" y="63246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buNone/>
              <a:defRPr sz="1125" b="0">
                <a:solidFill>
                  <a:srgbClr val="536273"/>
                </a:solidFill>
                <a:latin typeface="Helvetica Neue"/>
                <a:ea typeface="Helvetica Neue"/>
                <a:cs typeface="Helvetica Neue"/>
              </a:defRPr>
            </a:pPr>
            <a:r>
              <a:rPr sz="1125" b="0">
                <a:solidFill>
                  <a:srgbClr val="536273"/>
                </a:solidFill>
                <a:latin typeface="Helvetica Neue"/>
                <a:ea typeface="Helvetica Neue"/>
                <a:cs typeface="Helvetica Neue"/>
              </a:rPr>
              <a:t/>
            </a:r>
          </a:p>
        </p:txBody>
      </p:sp>
      <p:sp>
        <p:nvSpPr>
          <p:cNvPr id="18" name="rule-48-674">
            <a:extLst xmlns:a="http://schemas.openxmlformats.org/drawingml/2006/main">
              <a:ext uri="{FF2B5EF4-FFF2-40B4-BE49-F238E27FC236}">
                <a16:creationId xmlns:a16="http://schemas.microsoft.com/office/drawing/2014/main" id="{FFDE2307-F127-4857-A1D6-2598ECE64432}"/>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9" name="footer-left">
            <a:extLst xmlns:a="http://schemas.openxmlformats.org/drawingml/2006/main">
              <a:ext uri="{FF2B5EF4-FFF2-40B4-BE49-F238E27FC236}">
                <a16:creationId xmlns:a16="http://schemas.microsoft.com/office/drawing/2014/main" id="{9E21EE23-1670-4127-BBEB-6AEE668EE035}"/>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20" name="footer-right">
            <a:extLst xmlns:a="http://schemas.openxmlformats.org/drawingml/2006/main">
              <a:ext uri="{FF2B5EF4-FFF2-40B4-BE49-F238E27FC236}">
                <a16:creationId xmlns:a16="http://schemas.microsoft.com/office/drawing/2014/main" id="{65037580-AB18-49B4-B31B-AD35666A9F2C}"/>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47/50</a:t>
            </a:r>
          </a:p>
        </p:txBody>
      </p:sp>
    </p:spTree>
    <p:extLst>
      <p:ext uri="{BB962C8B-B14F-4D97-AF65-F5344CB8AC3E}">
        <p14:creationId xmlns:p14="http://schemas.microsoft.com/office/powerpoint/2010/main" val="38606176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60CD8E74-36F0-4281-80AB-0411FFF72D7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INTERPRETATION</a:t>
            </a:r>
          </a:p>
        </p:txBody>
      </p:sp>
      <p:sp>
        <p:nvSpPr>
          <p:cNvPr id="2" name="slide-title">
            <a:extLst xmlns:a="http://schemas.openxmlformats.org/drawingml/2006/main">
              <a:ext uri="{FF2B5EF4-FFF2-40B4-BE49-F238E27FC236}">
                <a16:creationId xmlns:a16="http://schemas.microsoft.com/office/drawing/2014/main" id="{6578191D-E938-47D6-A5F8-7D38C1E0C605}"/>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Turn output into a defensible sentence</a:t>
            </a:r>
          </a:p>
        </p:txBody>
      </p:sp>
      <p:sp>
        <p:nvSpPr>
          <p:cNvPr id="3" name="rule-48-137">
            <a:extLst xmlns:a="http://schemas.openxmlformats.org/drawingml/2006/main">
              <a:ext uri="{FF2B5EF4-FFF2-40B4-BE49-F238E27FC236}">
                <a16:creationId xmlns:a16="http://schemas.microsoft.com/office/drawing/2014/main" id="{C9D725E8-FC7B-4641-A66A-C11D5EA8608E}"/>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say-label">
            <a:extLst xmlns:a="http://schemas.openxmlformats.org/drawingml/2006/main">
              <a:ext uri="{FF2B5EF4-FFF2-40B4-BE49-F238E27FC236}">
                <a16:creationId xmlns:a16="http://schemas.microsoft.com/office/drawing/2014/main" id="{628557C3-0CA3-4977-BD85-98E1330AE427}"/>
              </a:ext>
            </a:extLst>
          </p:cNvPr>
          <p:cNvSpPr>
            <a:spLocks xmlns:a="http://schemas.openxmlformats.org/drawingml/2006/main" noGrp="1"/>
          </p:cNvSpPr>
          <p:nvPr/>
        </p:nvSpPr>
        <p:spPr>
          <a:xfrm xmlns:a="http://schemas.openxmlformats.org/drawingml/2006/main">
            <a:off x="457200" y="18478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2563EB"/>
                </a:solidFill>
                <a:latin typeface="Helvetica Neue"/>
                <a:ea typeface="Helvetica Neue"/>
                <a:cs typeface="Helvetica Neue"/>
              </a:defRPr>
            </a:pPr>
            <a:r>
              <a:rPr sz="1350" b="1">
                <a:solidFill>
                  <a:srgbClr val="2563EB"/>
                </a:solidFill>
                <a:latin typeface="Helvetica Neue"/>
                <a:ea typeface="Helvetica Neue"/>
                <a:cs typeface="Helvetica Neue"/>
              </a:rPr>
              <a:t>SAY</a:t>
            </a:r>
          </a:p>
        </p:txBody>
      </p:sp>
      <p:sp>
        <p:nvSpPr>
          <p:cNvPr id="5" name="say-copy">
            <a:extLst xmlns:a="http://schemas.openxmlformats.org/drawingml/2006/main">
              <a:ext uri="{FF2B5EF4-FFF2-40B4-BE49-F238E27FC236}">
                <a16:creationId xmlns:a16="http://schemas.microsoft.com/office/drawing/2014/main" id="{C62767ED-9EB6-4A66-B9C0-B2881F181C9C}"/>
              </a:ext>
            </a:extLst>
          </p:cNvPr>
          <p:cNvSpPr>
            <a:spLocks xmlns:a="http://schemas.openxmlformats.org/drawingml/2006/main" noGrp="1"/>
          </p:cNvSpPr>
          <p:nvPr/>
        </p:nvSpPr>
        <p:spPr>
          <a:xfrm xmlns:a="http://schemas.openxmlformats.org/drawingml/2006/main">
            <a:off x="457200" y="2362200"/>
            <a:ext cx="5095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Regularisation changes the estimand: explain the prediction gain and the interpretive price together.</a:t>
            </a:r>
          </a:p>
        </p:txBody>
      </p:sp>
      <p:sp>
        <p:nvSpPr>
          <p:cNvPr id="6" name="interpretation-divider">
            <a:extLst xmlns:a="http://schemas.openxmlformats.org/drawingml/2006/main">
              <a:ext uri="{FF2B5EF4-FFF2-40B4-BE49-F238E27FC236}">
                <a16:creationId xmlns:a16="http://schemas.microsoft.com/office/drawing/2014/main" id="{EFF3F60B-3F3D-41DA-A83D-44343467E8F3}"/>
              </a:ext>
            </a:extLst>
          </p:cNvPr>
          <p:cNvSpPr>
            <a:spLocks xmlns:a="http://schemas.openxmlformats.org/drawingml/2006/main" noGrp="1"/>
          </p:cNvSpPr>
          <p:nvPr/>
        </p:nvSpPr>
        <p:spPr>
          <a:xfrm xmlns:a="http://schemas.openxmlformats.org/drawingml/2006/main">
            <a:off x="5905500" y="1752600"/>
            <a:ext cx="19050" cy="4000500"/>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7" name="avoid-label">
            <a:extLst xmlns:a="http://schemas.openxmlformats.org/drawingml/2006/main">
              <a:ext uri="{FF2B5EF4-FFF2-40B4-BE49-F238E27FC236}">
                <a16:creationId xmlns:a16="http://schemas.microsoft.com/office/drawing/2014/main" id="{9051EC30-059C-479F-9B7E-3E514D386AC9}"/>
              </a:ext>
            </a:extLst>
          </p:cNvPr>
          <p:cNvSpPr>
            <a:spLocks xmlns:a="http://schemas.openxmlformats.org/drawingml/2006/main" noGrp="1"/>
          </p:cNvSpPr>
          <p:nvPr/>
        </p:nvSpPr>
        <p:spPr>
          <a:xfrm xmlns:a="http://schemas.openxmlformats.org/drawingml/2006/main">
            <a:off x="6457950" y="1847850"/>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AVOID</a:t>
            </a:r>
          </a:p>
        </p:txBody>
      </p:sp>
      <p:sp>
        <p:nvSpPr>
          <p:cNvPr id="8" name="avoid-copy">
            <a:extLst xmlns:a="http://schemas.openxmlformats.org/drawingml/2006/main">
              <a:ext uri="{FF2B5EF4-FFF2-40B4-BE49-F238E27FC236}">
                <a16:creationId xmlns:a16="http://schemas.microsoft.com/office/drawing/2014/main" id="{D194CFAA-E4E9-4B6F-BF8B-82634B235A46}"/>
              </a:ext>
            </a:extLst>
          </p:cNvPr>
          <p:cNvSpPr>
            <a:spLocks xmlns:a="http://schemas.openxmlformats.org/drawingml/2006/main" noGrp="1"/>
          </p:cNvSpPr>
          <p:nvPr/>
        </p:nvSpPr>
        <p:spPr>
          <a:xfrm xmlns:a="http://schemas.openxmlformats.org/drawingml/2006/main">
            <a:off x="6457950" y="2362200"/>
            <a:ext cx="4857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a:solidFill>
                  <a:srgbClr val="111827"/>
                </a:solidFill>
                <a:latin typeface="Helvetica Neue"/>
                <a:ea typeface="Helvetica Neue"/>
                <a:cs typeface="Helvetica Neue"/>
              </a:defRPr>
            </a:pPr>
            <a:r>
              <a:rPr sz="2025" b="1">
                <a:solidFill>
                  <a:srgbClr val="111827"/>
                </a:solidFill>
                <a:latin typeface="Helvetica Neue"/>
                <a:ea typeface="Helvetica Neue"/>
                <a:cs typeface="Helvetica Neue"/>
              </a:rPr>
              <a:t>Lasso can select one arbitrary member of a correlated group and make instability look like importance.</a:t>
            </a:r>
          </a:p>
        </p:txBody>
      </p:sp>
      <p:sp>
        <p:nvSpPr>
          <p:cNvPr id="9" name="interpretation-rule">
            <a:extLst xmlns:a="http://schemas.openxmlformats.org/drawingml/2006/main">
              <a:ext uri="{FF2B5EF4-FFF2-40B4-BE49-F238E27FC236}">
                <a16:creationId xmlns:a16="http://schemas.microsoft.com/office/drawing/2014/main" id="{9AF941CA-1628-4D64-B91A-073E53AE7929}"/>
              </a:ext>
            </a:extLst>
          </p:cNvPr>
          <p:cNvSpPr>
            <a:spLocks xmlns:a="http://schemas.openxmlformats.org/drawingml/2006/main" noGrp="1"/>
          </p:cNvSpPr>
          <p:nvPr/>
        </p:nvSpPr>
        <p:spPr>
          <a:xfrm xmlns:a="http://schemas.openxmlformats.org/drawingml/2006/main">
            <a:off x="6457950" y="4762500"/>
            <a:ext cx="4857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2563EB"/>
                </a:solidFill>
                <a:latin typeface="Helvetica Neue"/>
                <a:ea typeface="Helvetica Neue"/>
                <a:cs typeface="Helvetica Neue"/>
              </a:defRPr>
            </a:pPr>
            <a:r>
              <a:rPr sz="1650" b="1">
                <a:solidFill>
                  <a:srgbClr val="2563EB"/>
                </a:solidFill>
                <a:latin typeface="Helvetica Neue"/>
                <a:ea typeface="Helvetica Neue"/>
                <a:cs typeface="Helvetica Neue"/>
              </a:rPr>
              <a:t>Name the unit, estimate, benchmark, uncertainty, assumption, and limitation.</a:t>
            </a:r>
          </a:p>
        </p:txBody>
      </p:sp>
      <p:sp>
        <p:nvSpPr>
          <p:cNvPr id="10" name="rule-48-674">
            <a:extLst xmlns:a="http://schemas.openxmlformats.org/drawingml/2006/main">
              <a:ext uri="{FF2B5EF4-FFF2-40B4-BE49-F238E27FC236}">
                <a16:creationId xmlns:a16="http://schemas.microsoft.com/office/drawing/2014/main" id="{892650C5-E71D-42DF-898C-F2678FA5664D}"/>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footer-left">
            <a:extLst xmlns:a="http://schemas.openxmlformats.org/drawingml/2006/main">
              <a:ext uri="{FF2B5EF4-FFF2-40B4-BE49-F238E27FC236}">
                <a16:creationId xmlns:a16="http://schemas.microsoft.com/office/drawing/2014/main" id="{B61B53D6-74ED-4C14-AA45-0D31F2A05E1B}"/>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2" name="footer-right">
            <a:extLst xmlns:a="http://schemas.openxmlformats.org/drawingml/2006/main">
              <a:ext uri="{FF2B5EF4-FFF2-40B4-BE49-F238E27FC236}">
                <a16:creationId xmlns:a16="http://schemas.microsoft.com/office/drawing/2014/main" id="{BF998C5B-6627-4D21-9AA0-0D8DE936A1F9}"/>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48/50</a:t>
            </a:r>
          </a:p>
        </p:txBody>
      </p:sp>
    </p:spTree>
    <p:extLst>
      <p:ext uri="{BB962C8B-B14F-4D97-AF65-F5344CB8AC3E}">
        <p14:creationId xmlns:p14="http://schemas.microsoft.com/office/powerpoint/2010/main" val="101387792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
            <a:extLst xmlns:a="http://schemas.openxmlformats.org/drawingml/2006/main">
              <a:ext uri="{FF2B5EF4-FFF2-40B4-BE49-F238E27FC236}">
                <a16:creationId xmlns:a16="http://schemas.microsoft.com/office/drawing/2014/main" id="{8EC660AD-E8E7-4FF5-BDA1-0D614CBF5328}"/>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LIMITATIONS</a:t>
            </a:r>
          </a:p>
        </p:txBody>
      </p:sp>
      <p:sp>
        <p:nvSpPr>
          <p:cNvPr id="2" name="slide-title">
            <a:extLst xmlns:a="http://schemas.openxmlformats.org/drawingml/2006/main">
              <a:ext uri="{FF2B5EF4-FFF2-40B4-BE49-F238E27FC236}">
                <a16:creationId xmlns:a16="http://schemas.microsoft.com/office/drawing/2014/main" id="{6BE1177A-D573-418B-8EE5-2C6E39AEAE43}"/>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What this method does not give you for free</a:t>
            </a:r>
          </a:p>
        </p:txBody>
      </p:sp>
      <p:sp>
        <p:nvSpPr>
          <p:cNvPr id="3" name="rule-48-137">
            <a:extLst xmlns:a="http://schemas.openxmlformats.org/drawingml/2006/main">
              <a:ext uri="{FF2B5EF4-FFF2-40B4-BE49-F238E27FC236}">
                <a16:creationId xmlns:a16="http://schemas.microsoft.com/office/drawing/2014/main" id="{74FD44A5-45BB-4756-8BB1-48730F2F9455}"/>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assumption-lead">
            <a:extLst xmlns:a="http://schemas.openxmlformats.org/drawingml/2006/main">
              <a:ext uri="{FF2B5EF4-FFF2-40B4-BE49-F238E27FC236}">
                <a16:creationId xmlns:a16="http://schemas.microsoft.com/office/drawing/2014/main" id="{D4AF6FBE-6BB0-4A9C-B571-FE4B5884634B}"/>
              </a:ext>
            </a:extLst>
          </p:cNvPr>
          <p:cNvSpPr>
            <a:spLocks xmlns:a="http://schemas.openxmlformats.org/drawingml/2006/main" noGrp="1"/>
          </p:cNvSpPr>
          <p:nvPr/>
        </p:nvSpPr>
        <p:spPr>
          <a:xfrm xmlns:a="http://schemas.openxmlformats.org/drawingml/2006/main">
            <a:off x="457200" y="1657350"/>
            <a:ext cx="5810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380"/>
          </a:bodyPr>
          <a:lstStyle xmlns:a="http://schemas.openxmlformats.org/drawingml/2006/main"/>
          <a:p xmlns:a="http://schemas.openxmlformats.org/drawingml/2006/main">
            <a:pPr algn="l">
              <a:lnSpc>
                <a:spcPct val="100000"/>
              </a:lnSpc>
              <a:buNone/>
              <a:defRPr sz="2025" b="1">
                <a:solidFill>
                  <a:srgbClr val="2563EB"/>
                </a:solidFill>
                <a:latin typeface="Helvetica Neue"/>
                <a:ea typeface="Helvetica Neue"/>
                <a:cs typeface="Helvetica Neue"/>
              </a:defRPr>
            </a:pPr>
            <a:r>
              <a:rPr sz="2025" b="1">
                <a:solidFill>
                  <a:srgbClr val="2563EB"/>
                </a:solidFill>
                <a:latin typeface="Helvetica Neue"/>
                <a:ea typeface="Helvetica Neue"/>
                <a:cs typeface="Helvetica Neue"/>
              </a:rPr>
              <a:t>Lasso can select one arbitrary member of a correlated group and make instability look like importance.</a:t>
            </a:r>
          </a:p>
        </p:txBody>
      </p:sp>
      <p:sp>
        <p:nvSpPr>
          <p:cNvPr id="5" name="assumption-dot-0">
            <a:extLst xmlns:a="http://schemas.openxmlformats.org/drawingml/2006/main">
              <a:ext uri="{FF2B5EF4-FFF2-40B4-BE49-F238E27FC236}">
                <a16:creationId xmlns:a16="http://schemas.microsoft.com/office/drawing/2014/main" id="{C74D3213-AB06-4FF3-AEBD-B2A04B7482E9}"/>
              </a:ext>
            </a:extLst>
          </p:cNvPr>
          <p:cNvSpPr>
            <a:spLocks xmlns:a="http://schemas.openxmlformats.org/drawingml/2006/main" noGrp="1"/>
          </p:cNvSpPr>
          <p:nvPr/>
        </p:nvSpPr>
        <p:spPr>
          <a:xfrm xmlns:a="http://schemas.openxmlformats.org/drawingml/2006/main">
            <a:off x="6762750" y="17907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6" name="assumption-0">
            <a:extLst xmlns:a="http://schemas.openxmlformats.org/drawingml/2006/main">
              <a:ext uri="{FF2B5EF4-FFF2-40B4-BE49-F238E27FC236}">
                <a16:creationId xmlns:a16="http://schemas.microsoft.com/office/drawing/2014/main" id="{69DD163B-A3DB-400D-97CD-432ECE135561}"/>
              </a:ext>
            </a:extLst>
          </p:cNvPr>
          <p:cNvSpPr>
            <a:spLocks xmlns:a="http://schemas.openxmlformats.org/drawingml/2006/main" noGrp="1"/>
          </p:cNvSpPr>
          <p:nvPr/>
        </p:nvSpPr>
        <p:spPr>
          <a:xfrm xmlns:a="http://schemas.openxmlformats.org/drawingml/2006/main">
            <a:off x="7181850" y="16954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Scaling happens within each training fold</a:t>
            </a:r>
          </a:p>
        </p:txBody>
      </p:sp>
      <p:sp>
        <p:nvSpPr>
          <p:cNvPr id="7" name="rule-710-254">
            <a:extLst xmlns:a="http://schemas.openxmlformats.org/drawingml/2006/main">
              <a:ext uri="{FF2B5EF4-FFF2-40B4-BE49-F238E27FC236}">
                <a16:creationId xmlns:a16="http://schemas.microsoft.com/office/drawing/2014/main" id="{3A46FC59-6D50-4B86-88EA-E140411EB314}"/>
              </a:ext>
            </a:extLst>
          </p:cNvPr>
          <p:cNvSpPr>
            <a:spLocks xmlns:a="http://schemas.openxmlformats.org/drawingml/2006/main" noGrp="1"/>
          </p:cNvSpPr>
          <p:nvPr/>
        </p:nvSpPr>
        <p:spPr>
          <a:xfrm xmlns:a="http://schemas.openxmlformats.org/drawingml/2006/main">
            <a:off x="6762750" y="24193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8" name="assumption-dot-1">
            <a:extLst xmlns:a="http://schemas.openxmlformats.org/drawingml/2006/main">
              <a:ext uri="{FF2B5EF4-FFF2-40B4-BE49-F238E27FC236}">
                <a16:creationId xmlns:a16="http://schemas.microsoft.com/office/drawing/2014/main" id="{C5249663-8E9D-4047-B1E5-937C72C4FB55}"/>
              </a:ext>
            </a:extLst>
          </p:cNvPr>
          <p:cNvSpPr>
            <a:spLocks xmlns:a="http://schemas.openxmlformats.org/drawingml/2006/main" noGrp="1"/>
          </p:cNvSpPr>
          <p:nvPr/>
        </p:nvSpPr>
        <p:spPr>
          <a:xfrm xmlns:a="http://schemas.openxmlformats.org/drawingml/2006/main">
            <a:off x="6762750" y="27051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9" name="assumption-1">
            <a:extLst xmlns:a="http://schemas.openxmlformats.org/drawingml/2006/main">
              <a:ext uri="{FF2B5EF4-FFF2-40B4-BE49-F238E27FC236}">
                <a16:creationId xmlns:a16="http://schemas.microsoft.com/office/drawing/2014/main" id="{000AE48E-E4F3-4F73-BD2C-169FE21C5333}"/>
              </a:ext>
            </a:extLst>
          </p:cNvPr>
          <p:cNvSpPr>
            <a:spLocks xmlns:a="http://schemas.openxmlformats.org/drawingml/2006/main" noGrp="1"/>
          </p:cNvSpPr>
          <p:nvPr/>
        </p:nvSpPr>
        <p:spPr>
          <a:xfrm xmlns:a="http://schemas.openxmlformats.org/drawingml/2006/main">
            <a:off x="7181850" y="26098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The penalty matches the scientific goal</a:t>
            </a:r>
          </a:p>
        </p:txBody>
      </p:sp>
      <p:sp>
        <p:nvSpPr>
          <p:cNvPr id="10" name="rule-710-350">
            <a:extLst xmlns:a="http://schemas.openxmlformats.org/drawingml/2006/main">
              <a:ext uri="{FF2B5EF4-FFF2-40B4-BE49-F238E27FC236}">
                <a16:creationId xmlns:a16="http://schemas.microsoft.com/office/drawing/2014/main" id="{BFF5DE9F-1237-4974-8DE2-F81B0DB6418D}"/>
              </a:ext>
            </a:extLst>
          </p:cNvPr>
          <p:cNvSpPr>
            <a:spLocks xmlns:a="http://schemas.openxmlformats.org/drawingml/2006/main" noGrp="1"/>
          </p:cNvSpPr>
          <p:nvPr/>
        </p:nvSpPr>
        <p:spPr>
          <a:xfrm xmlns:a="http://schemas.openxmlformats.org/drawingml/2006/main">
            <a:off x="6762750" y="33337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1" name="assumption-dot-2">
            <a:extLst xmlns:a="http://schemas.openxmlformats.org/drawingml/2006/main">
              <a:ext uri="{FF2B5EF4-FFF2-40B4-BE49-F238E27FC236}">
                <a16:creationId xmlns:a16="http://schemas.microsoft.com/office/drawing/2014/main" id="{6450A870-D914-4829-93A4-ADABD3C1A926}"/>
              </a:ext>
            </a:extLst>
          </p:cNvPr>
          <p:cNvSpPr>
            <a:spLocks xmlns:a="http://schemas.openxmlformats.org/drawingml/2006/main" noGrp="1"/>
          </p:cNvSpPr>
          <p:nvPr/>
        </p:nvSpPr>
        <p:spPr>
          <a:xfrm xmlns:a="http://schemas.openxmlformats.org/drawingml/2006/main">
            <a:off x="6762750" y="3619500"/>
            <a:ext cx="228600" cy="228600"/>
          </a:xfrm>
          <a:prstGeom xmlns:a="http://schemas.openxmlformats.org/drawingml/2006/main" prst="ellipse">
            <a:avLst/>
          </a:prstGeom>
          <a:solidFill xmlns:a="http://schemas.openxmlformats.org/drawingml/2006/main">
            <a:srgbClr val="2563EB"/>
          </a:solidFill>
          <a:ln xmlns:a="http://schemas.openxmlformats.org/drawingml/2006/main" w="0">
            <a:noFill/>
            <a:prstDash val="solid"/>
          </a:ln>
        </p:spPr>
      </p:sp>
      <p:sp>
        <p:nvSpPr>
          <p:cNvPr id="12" name="assumption-2">
            <a:extLst xmlns:a="http://schemas.openxmlformats.org/drawingml/2006/main">
              <a:ext uri="{FF2B5EF4-FFF2-40B4-BE49-F238E27FC236}">
                <a16:creationId xmlns:a16="http://schemas.microsoft.com/office/drawing/2014/main" id="{0EA19C9A-FFF7-49F8-9838-B65AB79762B0}"/>
              </a:ext>
            </a:extLst>
          </p:cNvPr>
          <p:cNvSpPr>
            <a:spLocks xmlns:a="http://schemas.openxmlformats.org/drawingml/2006/main" noGrp="1"/>
          </p:cNvSpPr>
          <p:nvPr/>
        </p:nvSpPr>
        <p:spPr>
          <a:xfrm xmlns:a="http://schemas.openxmlformats.org/drawingml/2006/main">
            <a:off x="7181850" y="35242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λ is selected without test-set reuse</a:t>
            </a:r>
          </a:p>
        </p:txBody>
      </p:sp>
      <p:sp>
        <p:nvSpPr>
          <p:cNvPr id="13" name="rule-710-446">
            <a:extLst xmlns:a="http://schemas.openxmlformats.org/drawingml/2006/main">
              <a:ext uri="{FF2B5EF4-FFF2-40B4-BE49-F238E27FC236}">
                <a16:creationId xmlns:a16="http://schemas.microsoft.com/office/drawing/2014/main" id="{5A3ABF52-F6A1-4968-A4B7-9ECBF9AA13DF}"/>
              </a:ext>
            </a:extLst>
          </p:cNvPr>
          <p:cNvSpPr>
            <a:spLocks xmlns:a="http://schemas.openxmlformats.org/drawingml/2006/main" noGrp="1"/>
          </p:cNvSpPr>
          <p:nvPr/>
        </p:nvSpPr>
        <p:spPr>
          <a:xfrm xmlns:a="http://schemas.openxmlformats.org/drawingml/2006/main">
            <a:off x="6762750" y="4248150"/>
            <a:ext cx="46101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4" name="assumption-dot-3">
            <a:extLst xmlns:a="http://schemas.openxmlformats.org/drawingml/2006/main">
              <a:ext uri="{FF2B5EF4-FFF2-40B4-BE49-F238E27FC236}">
                <a16:creationId xmlns:a16="http://schemas.microsoft.com/office/drawing/2014/main" id="{FDAAE2F1-57D8-493B-9782-36DA49AB2577}"/>
              </a:ext>
            </a:extLst>
          </p:cNvPr>
          <p:cNvSpPr>
            <a:spLocks xmlns:a="http://schemas.openxmlformats.org/drawingml/2006/main" noGrp="1"/>
          </p:cNvSpPr>
          <p:nvPr/>
        </p:nvSpPr>
        <p:spPr>
          <a:xfrm xmlns:a="http://schemas.openxmlformats.org/drawingml/2006/main">
            <a:off x="6762750" y="4533900"/>
            <a:ext cx="228600" cy="228600"/>
          </a:xfrm>
          <a:prstGeom xmlns:a="http://schemas.openxmlformats.org/drawingml/2006/main" prst="ellipse">
            <a:avLst/>
          </a:prstGeom>
          <a:solidFill xmlns:a="http://schemas.openxmlformats.org/drawingml/2006/main">
            <a:srgbClr val="F97362"/>
          </a:solidFill>
          <a:ln xmlns:a="http://schemas.openxmlformats.org/drawingml/2006/main" w="0">
            <a:noFill/>
            <a:prstDash val="solid"/>
          </a:ln>
        </p:spPr>
      </p:sp>
      <p:sp>
        <p:nvSpPr>
          <p:cNvPr id="15" name="assumption-3">
            <a:extLst xmlns:a="http://schemas.openxmlformats.org/drawingml/2006/main">
              <a:ext uri="{FF2B5EF4-FFF2-40B4-BE49-F238E27FC236}">
                <a16:creationId xmlns:a16="http://schemas.microsoft.com/office/drawing/2014/main" id="{D364FFDA-5E48-4783-B8F9-7CD803CBC014}"/>
              </a:ext>
            </a:extLst>
          </p:cNvPr>
          <p:cNvSpPr>
            <a:spLocks xmlns:a="http://schemas.openxmlformats.org/drawingml/2006/main" noGrp="1"/>
          </p:cNvSpPr>
          <p:nvPr/>
        </p:nvSpPr>
        <p:spPr>
          <a:xfrm xmlns:a="http://schemas.openxmlformats.org/drawingml/2006/main">
            <a:off x="7181850" y="4438650"/>
            <a:ext cx="4191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Selected variables are not treated as certain discoveries</a:t>
            </a:r>
          </a:p>
        </p:txBody>
      </p:sp>
      <p:sp>
        <p:nvSpPr>
          <p:cNvPr id="16" name="assumption-callout">
            <a:extLst xmlns:a="http://schemas.openxmlformats.org/drawingml/2006/main">
              <a:ext uri="{FF2B5EF4-FFF2-40B4-BE49-F238E27FC236}">
                <a16:creationId xmlns:a16="http://schemas.microsoft.com/office/drawing/2014/main" id="{C37DF882-234C-4590-92EC-078B6E918153}"/>
              </a:ext>
            </a:extLst>
          </p:cNvPr>
          <p:cNvSpPr>
            <a:spLocks xmlns:a="http://schemas.openxmlformats.org/drawingml/2006/main" noGrp="1"/>
          </p:cNvSpPr>
          <p:nvPr/>
        </p:nvSpPr>
        <p:spPr>
          <a:xfrm xmlns:a="http://schemas.openxmlformats.org/drawingml/2006/main">
            <a:off x="457200" y="4057650"/>
            <a:ext cx="5429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 limitation is not a disclaimer at the end. It determines the design, diagnostic, and wording of the result.</a:t>
            </a:r>
          </a:p>
        </p:txBody>
      </p:sp>
      <p:sp>
        <p:nvSpPr>
          <p:cNvPr id="17" name="rule-48-674">
            <a:extLst xmlns:a="http://schemas.openxmlformats.org/drawingml/2006/main">
              <a:ext uri="{FF2B5EF4-FFF2-40B4-BE49-F238E27FC236}">
                <a16:creationId xmlns:a16="http://schemas.microsoft.com/office/drawing/2014/main" id="{BAAE104D-3257-43E4-911B-474CAB2A6434}"/>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8" name="footer-left">
            <a:extLst xmlns:a="http://schemas.openxmlformats.org/drawingml/2006/main">
              <a:ext uri="{FF2B5EF4-FFF2-40B4-BE49-F238E27FC236}">
                <a16:creationId xmlns:a16="http://schemas.microsoft.com/office/drawing/2014/main" id="{A1955895-4284-4432-8553-0DDE4D6FA1F6}"/>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19" name="footer-right">
            <a:extLst xmlns:a="http://schemas.openxmlformats.org/drawingml/2006/main">
              <a:ext uri="{FF2B5EF4-FFF2-40B4-BE49-F238E27FC236}">
                <a16:creationId xmlns:a16="http://schemas.microsoft.com/office/drawing/2014/main" id="{6823EF8C-D383-40EE-8488-CE8824082C8C}"/>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49/50</a:t>
            </a:r>
          </a:p>
        </p:txBody>
      </p:sp>
    </p:spTree>
    <p:extLst>
      <p:ext uri="{BB962C8B-B14F-4D97-AF65-F5344CB8AC3E}">
        <p14:creationId xmlns:p14="http://schemas.microsoft.com/office/powerpoint/2010/main" val="100608594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F4D622D2-C8DD-44E6-9E5E-AC39221962B4}"/>
              </a:ext>
            </a:extLst>
          </p:cNvPr>
          <p:cNvSpPr>
            <a:spLocks xmlns:a="http://schemas.openxmlformats.org/drawingml/2006/main" noGrp="1"/>
          </p:cNvSpPr>
          <p:nvPr/>
        </p:nvSpPr>
        <p:spPr>
          <a:xfrm xmlns:a="http://schemas.openxmlformats.org/drawingml/2006/main">
            <a:off x="45720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2563EB"/>
                </a:solidFill>
                <a:latin typeface="Helvetica Neue"/>
                <a:ea typeface="Helvetica Neue"/>
                <a:cs typeface="Helvetica Neue"/>
              </a:defRPr>
            </a:pPr>
            <a:r>
              <a:rPr sz="1125" b="1">
                <a:solidFill>
                  <a:srgbClr val="2563EB"/>
                </a:solidFill>
                <a:latin typeface="Helvetica Neue"/>
                <a:ea typeface="Helvetica Neue"/>
                <a:cs typeface="Helvetica Neue"/>
              </a:rPr>
              <a:t>LECTURE · NEXT 90 MINUTES</a:t>
            </a:r>
          </a:p>
        </p:txBody>
      </p:sp>
      <p:sp>
        <p:nvSpPr>
          <p:cNvPr id="2" name="slide-title">
            <a:extLst xmlns:a="http://schemas.openxmlformats.org/drawingml/2006/main">
              <a:ext uri="{FF2B5EF4-FFF2-40B4-BE49-F238E27FC236}">
                <a16:creationId xmlns:a16="http://schemas.microsoft.com/office/drawing/2014/main" id="{21C05DF8-1A66-4F48-BDAB-D9CA51C2254F}"/>
              </a:ext>
            </a:extLst>
          </p:cNvPr>
          <p:cNvSpPr>
            <a:spLocks xmlns:a="http://schemas.openxmlformats.org/drawingml/2006/main" noGrp="1"/>
          </p:cNvSpPr>
          <p:nvPr/>
        </p:nvSpPr>
        <p:spPr>
          <a:xfrm xmlns:a="http://schemas.openxmlformats.org/drawingml/2006/main">
            <a:off x="457200" y="628650"/>
            <a:ext cx="11277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300" b="1">
                <a:solidFill>
                  <a:srgbClr val="111827"/>
                </a:solidFill>
                <a:latin typeface="Helvetica Neue"/>
                <a:ea typeface="Helvetica Neue"/>
                <a:cs typeface="Helvetica Neue"/>
              </a:defRPr>
            </a:pPr>
            <a:r>
              <a:rPr sz="3300" b="1">
                <a:solidFill>
                  <a:srgbClr val="111827"/>
                </a:solidFill>
                <a:latin typeface="Helvetica Neue"/>
                <a:ea typeface="Helvetica Neue"/>
                <a:cs typeface="Helvetica Neue"/>
              </a:rPr>
              <a:t>Replicate a lasso benchmark, then challenge it</a:t>
            </a:r>
          </a:p>
        </p:txBody>
      </p:sp>
      <p:sp>
        <p:nvSpPr>
          <p:cNvPr id="3" name="rule-48-137">
            <a:extLst xmlns:a="http://schemas.openxmlformats.org/drawingml/2006/main">
              <a:ext uri="{FF2B5EF4-FFF2-40B4-BE49-F238E27FC236}">
                <a16:creationId xmlns:a16="http://schemas.microsoft.com/office/drawing/2014/main" id="{4931BCD0-CAD5-4303-A2A0-D0D50748D349}"/>
              </a:ext>
            </a:extLst>
          </p:cNvPr>
          <p:cNvSpPr>
            <a:spLocks xmlns:a="http://schemas.openxmlformats.org/drawingml/2006/main" noGrp="1"/>
          </p:cNvSpPr>
          <p:nvPr/>
        </p:nvSpPr>
        <p:spPr>
          <a:xfrm xmlns:a="http://schemas.openxmlformats.org/drawingml/2006/main">
            <a:off x="457200" y="1304925"/>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4" name="practice-title">
            <a:extLst xmlns:a="http://schemas.openxmlformats.org/drawingml/2006/main">
              <a:ext uri="{FF2B5EF4-FFF2-40B4-BE49-F238E27FC236}">
                <a16:creationId xmlns:a16="http://schemas.microsoft.com/office/drawing/2014/main" id="{1B374030-7F1D-4245-986E-28CE37847ECD}"/>
              </a:ext>
            </a:extLst>
          </p:cNvPr>
          <p:cNvSpPr>
            <a:spLocks xmlns:a="http://schemas.openxmlformats.org/drawingml/2006/main" noGrp="1"/>
          </p:cNvSpPr>
          <p:nvPr/>
        </p:nvSpPr>
        <p:spPr>
          <a:xfrm xmlns:a="http://schemas.openxmlformats.org/drawingml/2006/main">
            <a:off x="457200" y="1657350"/>
            <a:ext cx="6477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algn="l">
              <a:lnSpc>
                <a:spcPct val="100000"/>
              </a:lnSpc>
              <a:buNone/>
              <a:defRPr sz="2550" b="1">
                <a:solidFill>
                  <a:srgbClr val="2563EB"/>
                </a:solidFill>
                <a:latin typeface="Helvetica Neue"/>
                <a:ea typeface="Helvetica Neue"/>
                <a:cs typeface="Helvetica Neue"/>
              </a:defRPr>
            </a:pPr>
            <a:r>
              <a:rPr sz="2550" b="1">
                <a:solidFill>
                  <a:srgbClr val="2563EB"/>
                </a:solidFill>
                <a:latin typeface="Helvetica Neue"/>
                <a:ea typeface="Helvetica Neue"/>
                <a:cs typeface="Helvetica Neue"/>
              </a:rPr>
              <a:t>Reproduce the article benchmark and compare prediction, stability, and sparsity under one evaluation.</a:t>
            </a:r>
          </a:p>
        </p:txBody>
      </p:sp>
      <p:sp>
        <p:nvSpPr>
          <p:cNvPr id="5" name="practice-step-0">
            <a:extLst xmlns:a="http://schemas.openxmlformats.org/drawingml/2006/main">
              <a:ext uri="{FF2B5EF4-FFF2-40B4-BE49-F238E27FC236}">
                <a16:creationId xmlns:a16="http://schemas.microsoft.com/office/drawing/2014/main" id="{432EEA6A-8306-4337-AE2B-769E2F4B7DBF}"/>
              </a:ext>
            </a:extLst>
          </p:cNvPr>
          <p:cNvSpPr>
            <a:spLocks xmlns:a="http://schemas.openxmlformats.org/drawingml/2006/main" noGrp="1"/>
          </p:cNvSpPr>
          <p:nvPr/>
        </p:nvSpPr>
        <p:spPr>
          <a:xfrm xmlns:a="http://schemas.openxmlformats.org/drawingml/2006/main">
            <a:off x="666750" y="31432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6" name="practice-task-0">
            <a:extLst xmlns:a="http://schemas.openxmlformats.org/drawingml/2006/main">
              <a:ext uri="{FF2B5EF4-FFF2-40B4-BE49-F238E27FC236}">
                <a16:creationId xmlns:a16="http://schemas.microsoft.com/office/drawing/2014/main" id="{B53AAE32-0FD1-4C59-B904-2ADED96113E0}"/>
              </a:ext>
            </a:extLst>
          </p:cNvPr>
          <p:cNvSpPr>
            <a:spLocks xmlns:a="http://schemas.openxmlformats.org/drawingml/2006/main" noGrp="1"/>
          </p:cNvSpPr>
          <p:nvPr/>
        </p:nvSpPr>
        <p:spPr>
          <a:xfrm xmlns:a="http://schemas.openxmlformats.org/drawingml/2006/main">
            <a:off x="1200150" y="31242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Identify the article's benchmark data and loss</a:t>
            </a:r>
          </a:p>
        </p:txBody>
      </p:sp>
      <p:sp>
        <p:nvSpPr>
          <p:cNvPr id="7" name="practice-step-1">
            <a:extLst xmlns:a="http://schemas.openxmlformats.org/drawingml/2006/main">
              <a:ext uri="{FF2B5EF4-FFF2-40B4-BE49-F238E27FC236}">
                <a16:creationId xmlns:a16="http://schemas.microsoft.com/office/drawing/2014/main" id="{D540B9B3-A17C-4B6D-A007-24CB38C8EF16}"/>
              </a:ext>
            </a:extLst>
          </p:cNvPr>
          <p:cNvSpPr>
            <a:spLocks xmlns:a="http://schemas.openxmlformats.org/drawingml/2006/main" noGrp="1"/>
          </p:cNvSpPr>
          <p:nvPr/>
        </p:nvSpPr>
        <p:spPr>
          <a:xfrm xmlns:a="http://schemas.openxmlformats.org/drawingml/2006/main">
            <a:off x="666750" y="36766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8" name="practice-task-1">
            <a:extLst xmlns:a="http://schemas.openxmlformats.org/drawingml/2006/main">
              <a:ext uri="{FF2B5EF4-FFF2-40B4-BE49-F238E27FC236}">
                <a16:creationId xmlns:a16="http://schemas.microsoft.com/office/drawing/2014/main" id="{9C7E958E-FDE3-4D6C-8671-29100EED7527}"/>
              </a:ext>
            </a:extLst>
          </p:cNvPr>
          <p:cNvSpPr>
            <a:spLocks xmlns:a="http://schemas.openxmlformats.org/drawingml/2006/main" noGrp="1"/>
          </p:cNvSpPr>
          <p:nvPr/>
        </p:nvSpPr>
        <p:spPr>
          <a:xfrm xmlns:a="http://schemas.openxmlformats.org/drawingml/2006/main">
            <a:off x="1200150" y="36576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Reproduce one lasso result</a:t>
            </a:r>
          </a:p>
        </p:txBody>
      </p:sp>
      <p:sp>
        <p:nvSpPr>
          <p:cNvPr id="9" name="practice-step-2">
            <a:extLst xmlns:a="http://schemas.openxmlformats.org/drawingml/2006/main">
              <a:ext uri="{FF2B5EF4-FFF2-40B4-BE49-F238E27FC236}">
                <a16:creationId xmlns:a16="http://schemas.microsoft.com/office/drawing/2014/main" id="{029F17D6-61D2-4684-978E-66A66F23970B}"/>
              </a:ext>
            </a:extLst>
          </p:cNvPr>
          <p:cNvSpPr>
            <a:spLocks xmlns:a="http://schemas.openxmlformats.org/drawingml/2006/main" noGrp="1"/>
          </p:cNvSpPr>
          <p:nvPr/>
        </p:nvSpPr>
        <p:spPr>
          <a:xfrm xmlns:a="http://schemas.openxmlformats.org/drawingml/2006/main">
            <a:off x="666750" y="42100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0" name="practice-task-2">
            <a:extLst xmlns:a="http://schemas.openxmlformats.org/drawingml/2006/main">
              <a:ext uri="{FF2B5EF4-FFF2-40B4-BE49-F238E27FC236}">
                <a16:creationId xmlns:a16="http://schemas.microsoft.com/office/drawing/2014/main" id="{72B36D91-0D8F-4C8B-9BB4-AF62F6CAF70F}"/>
              </a:ext>
            </a:extLst>
          </p:cNvPr>
          <p:cNvSpPr>
            <a:spLocks xmlns:a="http://schemas.openxmlformats.org/drawingml/2006/main" noGrp="1"/>
          </p:cNvSpPr>
          <p:nvPr/>
        </p:nvSpPr>
        <p:spPr>
          <a:xfrm xmlns:a="http://schemas.openxmlformats.org/drawingml/2006/main">
            <a:off x="1200150" y="41910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Compare ridge, lasso, and elastic net</a:t>
            </a:r>
          </a:p>
        </p:txBody>
      </p:sp>
      <p:sp>
        <p:nvSpPr>
          <p:cNvPr id="11" name="practice-step-3">
            <a:extLst xmlns:a="http://schemas.openxmlformats.org/drawingml/2006/main">
              <a:ext uri="{FF2B5EF4-FFF2-40B4-BE49-F238E27FC236}">
                <a16:creationId xmlns:a16="http://schemas.microsoft.com/office/drawing/2014/main" id="{FC97351F-E08B-434D-9CE9-7B146DAA7772}"/>
              </a:ext>
            </a:extLst>
          </p:cNvPr>
          <p:cNvSpPr>
            <a:spLocks xmlns:a="http://schemas.openxmlformats.org/drawingml/2006/main" noGrp="1"/>
          </p:cNvSpPr>
          <p:nvPr/>
        </p:nvSpPr>
        <p:spPr>
          <a:xfrm xmlns:a="http://schemas.openxmlformats.org/drawingml/2006/main">
            <a:off x="666750" y="47434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12" name="practice-task-3">
            <a:extLst xmlns:a="http://schemas.openxmlformats.org/drawingml/2006/main">
              <a:ext uri="{FF2B5EF4-FFF2-40B4-BE49-F238E27FC236}">
                <a16:creationId xmlns:a16="http://schemas.microsoft.com/office/drawing/2014/main" id="{E3D09507-1D15-494F-AB28-F9795839AE98}"/>
              </a:ext>
            </a:extLst>
          </p:cNvPr>
          <p:cNvSpPr>
            <a:spLocks xmlns:a="http://schemas.openxmlformats.org/drawingml/2006/main" noGrp="1"/>
          </p:cNvSpPr>
          <p:nvPr/>
        </p:nvSpPr>
        <p:spPr>
          <a:xfrm xmlns:a="http://schemas.openxmlformats.org/drawingml/2006/main">
            <a:off x="1200150" y="47244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Repeat across resamples</a:t>
            </a:r>
          </a:p>
        </p:txBody>
      </p:sp>
      <p:sp>
        <p:nvSpPr>
          <p:cNvPr id="13" name="practice-step-4">
            <a:extLst xmlns:a="http://schemas.openxmlformats.org/drawingml/2006/main">
              <a:ext uri="{FF2B5EF4-FFF2-40B4-BE49-F238E27FC236}">
                <a16:creationId xmlns:a16="http://schemas.microsoft.com/office/drawing/2014/main" id="{A0DDFA76-17B3-43EE-AF1C-4B6175869527}"/>
              </a:ext>
            </a:extLst>
          </p:cNvPr>
          <p:cNvSpPr>
            <a:spLocks xmlns:a="http://schemas.openxmlformats.org/drawingml/2006/main" noGrp="1"/>
          </p:cNvSpPr>
          <p:nvPr/>
        </p:nvSpPr>
        <p:spPr>
          <a:xfrm xmlns:a="http://schemas.openxmlformats.org/drawingml/2006/main">
            <a:off x="666750" y="52768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5</a:t>
            </a:r>
          </a:p>
        </p:txBody>
      </p:sp>
      <p:sp>
        <p:nvSpPr>
          <p:cNvPr id="14" name="practice-task-4">
            <a:extLst xmlns:a="http://schemas.openxmlformats.org/drawingml/2006/main">
              <a:ext uri="{FF2B5EF4-FFF2-40B4-BE49-F238E27FC236}">
                <a16:creationId xmlns:a16="http://schemas.microsoft.com/office/drawing/2014/main" id="{EFDF9B88-1769-4B62-8FDE-105A8C8CA8AC}"/>
              </a:ext>
            </a:extLst>
          </p:cNvPr>
          <p:cNvSpPr>
            <a:spLocks xmlns:a="http://schemas.openxmlformats.org/drawingml/2006/main" noGrp="1"/>
          </p:cNvSpPr>
          <p:nvPr/>
        </p:nvSpPr>
        <p:spPr>
          <a:xfrm xmlns:a="http://schemas.openxmlformats.org/drawingml/2006/main">
            <a:off x="1200150" y="52578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a:solidFill>
                  <a:srgbClr val="111827"/>
                </a:solidFill>
                <a:latin typeface="Helvetica Neue"/>
                <a:ea typeface="Helvetica Neue"/>
                <a:cs typeface="Helvetica Neue"/>
              </a:defRPr>
            </a:pPr>
            <a:r>
              <a:rPr sz="1650" b="1">
                <a:solidFill>
                  <a:srgbClr val="111827"/>
                </a:solidFill>
                <a:latin typeface="Helvetica Neue"/>
                <a:ea typeface="Helvetica Neue"/>
                <a:cs typeface="Helvetica Neue"/>
              </a:rPr>
              <a:t>Report stable groups and one limitation</a:t>
            </a:r>
          </a:p>
        </p:txBody>
      </p:sp>
      <p:sp>
        <p:nvSpPr>
          <p:cNvPr id="15" name="practice-callout-bg">
            <a:extLst xmlns:a="http://schemas.openxmlformats.org/drawingml/2006/main">
              <a:ext uri="{FF2B5EF4-FFF2-40B4-BE49-F238E27FC236}">
                <a16:creationId xmlns:a16="http://schemas.microsoft.com/office/drawing/2014/main" id="{23789C96-BD82-43B7-A076-009992BF9909}"/>
              </a:ext>
            </a:extLst>
          </p:cNvPr>
          <p:cNvSpPr>
            <a:spLocks xmlns:a="http://schemas.openxmlformats.org/drawingml/2006/main" noGrp="1"/>
          </p:cNvSpPr>
          <p:nvPr/>
        </p:nvSpPr>
        <p:spPr>
          <a:xfrm xmlns:a="http://schemas.openxmlformats.org/drawingml/2006/main">
            <a:off x="7848600" y="1752600"/>
            <a:ext cx="3505200" cy="3714750"/>
          </a:xfrm>
          <a:prstGeom xmlns:a="http://schemas.openxmlformats.org/drawingml/2006/main" prst="roundRect">
            <a:avLst>
              <a:gd name="adj" fmla="val 2174"/>
            </a:avLst>
          </a:prstGeom>
          <a:solidFill xmlns:a="http://schemas.openxmlformats.org/drawingml/2006/main">
            <a:srgbClr val="DDF2FC"/>
          </a:solidFill>
          <a:ln xmlns:a="http://schemas.openxmlformats.org/drawingml/2006/main" w="9525">
            <a:solidFill>
              <a:srgbClr val="B8C0CA"/>
            </a:solidFill>
            <a:prstDash val="solid"/>
          </a:ln>
        </p:spPr>
      </p:sp>
      <p:sp>
        <p:nvSpPr>
          <p:cNvPr id="16" name="practice-callout-label">
            <a:extLst xmlns:a="http://schemas.openxmlformats.org/drawingml/2006/main">
              <a:ext uri="{FF2B5EF4-FFF2-40B4-BE49-F238E27FC236}">
                <a16:creationId xmlns:a16="http://schemas.microsoft.com/office/drawing/2014/main" id="{8F2889E8-39C3-40D1-B9FF-BB15049CD192}"/>
              </a:ext>
            </a:extLst>
          </p:cNvPr>
          <p:cNvSpPr>
            <a:spLocks xmlns:a="http://schemas.openxmlformats.org/drawingml/2006/main" noGrp="1"/>
          </p:cNvSpPr>
          <p:nvPr/>
        </p:nvSpPr>
        <p:spPr>
          <a:xfrm xmlns:a="http://schemas.openxmlformats.org/drawingml/2006/main">
            <a:off x="8172450" y="2152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97362"/>
                </a:solidFill>
                <a:latin typeface="Helvetica Neue"/>
                <a:ea typeface="Helvetica Neue"/>
                <a:cs typeface="Helvetica Neue"/>
              </a:defRPr>
            </a:pPr>
            <a:r>
              <a:rPr sz="1350" b="1">
                <a:solidFill>
                  <a:srgbClr val="F97362"/>
                </a:solidFill>
                <a:latin typeface="Helvetica Neue"/>
                <a:ea typeface="Helvetica Neue"/>
                <a:cs typeface="Helvetica Neue"/>
              </a:rPr>
              <a:t>AIM FOR</a:t>
            </a:r>
          </a:p>
        </p:txBody>
      </p:sp>
      <p:sp>
        <p:nvSpPr>
          <p:cNvPr id="17" name="practice-callout">
            <a:extLst xmlns:a="http://schemas.openxmlformats.org/drawingml/2006/main">
              <a:ext uri="{FF2B5EF4-FFF2-40B4-BE49-F238E27FC236}">
                <a16:creationId xmlns:a16="http://schemas.microsoft.com/office/drawing/2014/main" id="{BB136587-7F7F-438E-8DC1-BC34A7338FE5}"/>
              </a:ext>
            </a:extLst>
          </p:cNvPr>
          <p:cNvSpPr>
            <a:spLocks xmlns:a="http://schemas.openxmlformats.org/drawingml/2006/main" noGrp="1"/>
          </p:cNvSpPr>
          <p:nvPr/>
        </p:nvSpPr>
        <p:spPr>
          <a:xfrm xmlns:a="http://schemas.openxmlformats.org/drawingml/2006/main">
            <a:off x="8172450" y="2686050"/>
            <a:ext cx="2857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89"/>
          </a:bodyPr>
          <a:lstStyle xmlns:a="http://schemas.openxmlformats.org/drawingml/2006/main"/>
          <a:p xmlns:a="http://schemas.openxmlformats.org/drawingml/2006/main">
            <a:pPr algn="l">
              <a:lnSpc>
                <a:spcPct val="100000"/>
              </a:lnSpc>
              <a:buNone/>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One reproducible result.</a:t>
            </a:r>
          </a:p>
          <a:p xmlns:a="http://schemas.openxmlformats.org/drawingml/2006/main">
            <a:pPr algn="l">
              <a:lnSpc>
                <a:spcPct val="100000"/>
              </a:lnSpc>
              <a:buNone/>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One comparison.</a:t>
            </a:r>
          </a:p>
          <a:p xmlns:a="http://schemas.openxmlformats.org/drawingml/2006/main">
            <a:pPr algn="l">
              <a:lnSpc>
                <a:spcPct val="100000"/>
              </a:lnSpc>
              <a:buNone/>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One stressed assumption.</a:t>
            </a:r>
          </a:p>
          <a:p xmlns:a="http://schemas.openxmlformats.org/drawingml/2006/main">
            <a:pPr algn="l">
              <a:lnSpc>
                <a:spcPct val="100000"/>
              </a:lnSpc>
              <a:buNone/>
              <a:defRPr sz="2100" b="1">
                <a:solidFill>
                  <a:srgbClr val="111827"/>
                </a:solidFill>
                <a:latin typeface="Helvetica Neue"/>
                <a:ea typeface="Helvetica Neue"/>
                <a:cs typeface="Helvetica Neue"/>
              </a:defRPr>
            </a:pPr>
            <a:r>
              <a:rPr sz="2100" b="1">
                <a:solidFill>
                  <a:srgbClr val="111827"/>
                </a:solidFill>
                <a:latin typeface="Helvetica Neue"/>
                <a:ea typeface="Helvetica Neue"/>
                <a:cs typeface="Helvetica Neue"/>
              </a:rPr>
              <a:t>One short group presentation.</a:t>
            </a:r>
          </a:p>
        </p:txBody>
      </p:sp>
      <p:sp>
        <p:nvSpPr>
          <p:cNvPr id="18" name="rule-48-674">
            <a:extLst xmlns:a="http://schemas.openxmlformats.org/drawingml/2006/main">
              <a:ext uri="{FF2B5EF4-FFF2-40B4-BE49-F238E27FC236}">
                <a16:creationId xmlns:a16="http://schemas.microsoft.com/office/drawing/2014/main" id="{37F1EAB1-233A-4E44-B7B1-58C1E8FFF90B}"/>
              </a:ext>
            </a:extLst>
          </p:cNvPr>
          <p:cNvSpPr>
            <a:spLocks xmlns:a="http://schemas.openxmlformats.org/drawingml/2006/main" noGrp="1"/>
          </p:cNvSpPr>
          <p:nvPr/>
        </p:nvSpPr>
        <p:spPr>
          <a:xfrm xmlns:a="http://schemas.openxmlformats.org/drawingml/2006/main">
            <a:off x="457200" y="6419850"/>
            <a:ext cx="11277600" cy="9525"/>
          </a:xfrm>
          <a:prstGeom xmlns:a="http://schemas.openxmlformats.org/drawingml/2006/main" prst="rect">
            <a:avLst/>
          </a:prstGeom>
          <a:solidFill xmlns:a="http://schemas.openxmlformats.org/drawingml/2006/main">
            <a:srgbClr val="B8C0CA"/>
          </a:solidFill>
          <a:ln xmlns:a="http://schemas.openxmlformats.org/drawingml/2006/main" w="0">
            <a:noFill/>
            <a:prstDash val="solid"/>
          </a:ln>
        </p:spPr>
      </p:sp>
      <p:sp>
        <p:nvSpPr>
          <p:cNvPr id="19" name="footer-left">
            <a:extLst xmlns:a="http://schemas.openxmlformats.org/drawingml/2006/main">
              <a:ext uri="{FF2B5EF4-FFF2-40B4-BE49-F238E27FC236}">
                <a16:creationId xmlns:a16="http://schemas.microsoft.com/office/drawing/2014/main" id="{71094C7D-F307-426F-9A69-55A09FE910AD}"/>
              </a:ext>
            </a:extLst>
          </p:cNvPr>
          <p:cNvSpPr>
            <a:spLocks xmlns:a="http://schemas.openxmlformats.org/drawingml/2006/main" noGrp="1"/>
          </p:cNvSpPr>
          <p:nvPr/>
        </p:nvSpPr>
        <p:spPr>
          <a:xfrm xmlns:a="http://schemas.openxmlformats.org/drawingml/2006/main">
            <a:off x="457200" y="65151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MATH60033A · Thierry Warin · Session 05</a:t>
            </a:r>
          </a:p>
        </p:txBody>
      </p:sp>
      <p:sp>
        <p:nvSpPr>
          <p:cNvPr id="20" name="footer-right">
            <a:extLst xmlns:a="http://schemas.openxmlformats.org/drawingml/2006/main">
              <a:ext uri="{FF2B5EF4-FFF2-40B4-BE49-F238E27FC236}">
                <a16:creationId xmlns:a16="http://schemas.microsoft.com/office/drawing/2014/main" id="{AF4E256D-8C1A-4005-B42D-87C847AB6F20}"/>
              </a:ext>
            </a:extLst>
          </p:cNvPr>
          <p:cNvSpPr>
            <a:spLocks xmlns:a="http://schemas.openxmlformats.org/drawingml/2006/main" noGrp="1"/>
          </p:cNvSpPr>
          <p:nvPr/>
        </p:nvSpPr>
        <p:spPr>
          <a:xfrm xmlns:a="http://schemas.openxmlformats.org/drawingml/2006/main">
            <a:off x="9163050" y="651510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050" b="0">
                <a:solidFill>
                  <a:srgbClr val="536273"/>
                </a:solidFill>
                <a:latin typeface="Helvetica Neue"/>
                <a:ea typeface="Helvetica Neue"/>
                <a:cs typeface="Helvetica Neue"/>
              </a:defRPr>
            </a:pPr>
            <a:r>
              <a:rPr sz="1050" b="0">
                <a:solidFill>
                  <a:srgbClr val="536273"/>
                </a:solidFill>
                <a:latin typeface="Helvetica Neue"/>
                <a:ea typeface="Helvetica Neue"/>
                <a:cs typeface="Helvetica Neue"/>
              </a:rPr>
              <a:t>Lecture · 50/50</a:t>
            </a:r>
          </a:p>
        </p:txBody>
      </p:sp>
    </p:spTree>
    <p:extLst>
      <p:ext uri="{BB962C8B-B14F-4D97-AF65-F5344CB8AC3E}">
        <p14:creationId xmlns:p14="http://schemas.microsoft.com/office/powerpoint/2010/main" val="2041829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Thierry Warin</dc:creator>
  <lastModifiedBy>Thierry Warin</lastModifiedBy>
  <dc:title>MATH60033A Session 05 Lecture</dc:title>
  <dcterms:created xsi:type="dcterms:W3CDTF">2026-08-23T23:37:44.1790000Z</dcterms:created>
  <dcterms:modified xsi:type="dcterms:W3CDTF">2026-08-23T23:37:44.1790000Z</dcterms:modified>
</coreProperties>
</file>