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85ef349d174e09" /><Relationship Type="http://schemas.openxmlformats.org/officeDocument/2006/relationships/extended-properties" Target="/docProps/app.xml" Id="R450269ba733443a9" /><Relationship Type="http://schemas.openxmlformats.org/officeDocument/2006/relationships/officeDocument" Target="/ppt/presentation.xml" Id="R4af9b9af6f86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f83d5d996a4185"/>
  </p:sldMasterIdLst>
  <p:notesMasterIdLst>
    <p:notesMasterId xmlns:r="http://schemas.openxmlformats.org/officeDocument/2006/relationships" r:id="R4a1d185411474e1e"/>
  </p:notesMasterIdLst>
  <p:sldIdLst>
    <p:sldId xmlns:r="http://schemas.openxmlformats.org/officeDocument/2006/relationships" id="256" r:id="R0390cbe11b2a45d1"/>
    <p:sldId xmlns:r="http://schemas.openxmlformats.org/officeDocument/2006/relationships" id="257" r:id="R7cfc83bd545142bd"/>
    <p:sldId xmlns:r="http://schemas.openxmlformats.org/officeDocument/2006/relationships" id="258" r:id="R052a7616f64d4cc0"/>
    <p:sldId xmlns:r="http://schemas.openxmlformats.org/officeDocument/2006/relationships" id="259" r:id="R4241f2fd507647d0"/>
    <p:sldId xmlns:r="http://schemas.openxmlformats.org/officeDocument/2006/relationships" id="260" r:id="R4d47af65e0fa47a0"/>
    <p:sldId xmlns:r="http://schemas.openxmlformats.org/officeDocument/2006/relationships" id="261" r:id="Rfdd82fdb4a9b46b9"/>
    <p:sldId xmlns:r="http://schemas.openxmlformats.org/officeDocument/2006/relationships" id="262" r:id="Rcfee55a99fff4ceb"/>
    <p:sldId xmlns:r="http://schemas.openxmlformats.org/officeDocument/2006/relationships" id="263" r:id="Re19eb9a1281445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c1d636a13247e4" /><Relationship Type="http://schemas.openxmlformats.org/officeDocument/2006/relationships/slideMaster" Target="/ppt/slideMasters/slideMaster1.xml" Id="Raff83d5d996a4185" /><Relationship Type="http://schemas.openxmlformats.org/officeDocument/2006/relationships/notesMaster" Target="/ppt/notesMasters/notesMaster1.xml" Id="R4a1d185411474e1e" /><Relationship Type="http://schemas.openxmlformats.org/officeDocument/2006/relationships/presProps" Target="/ppt/presProps.xml" Id="R4379fc6900a4409b" /><Relationship Type="http://schemas.openxmlformats.org/officeDocument/2006/relationships/tableStyles" Target="/ppt/tableStyles.xml" Id="R51c0132bae444c3a" /><Relationship Type="http://schemas.openxmlformats.org/officeDocument/2006/relationships/slide" Target="/ppt/slides/slide1.xml" Id="R0390cbe11b2a45d1" /><Relationship Type="http://schemas.openxmlformats.org/officeDocument/2006/relationships/slide" Target="/ppt/slides/slide2.xml" Id="R7cfc83bd545142bd" /><Relationship Type="http://schemas.openxmlformats.org/officeDocument/2006/relationships/slide" Target="/ppt/slides/slide3.xml" Id="R052a7616f64d4cc0" /><Relationship Type="http://schemas.openxmlformats.org/officeDocument/2006/relationships/slide" Target="/ppt/slides/slide4.xml" Id="R4241f2fd507647d0" /><Relationship Type="http://schemas.openxmlformats.org/officeDocument/2006/relationships/slide" Target="/ppt/slides/slide5.xml" Id="R4d47af65e0fa47a0" /><Relationship Type="http://schemas.openxmlformats.org/officeDocument/2006/relationships/slide" Target="/ppt/slides/slide6.xml" Id="Rfdd82fdb4a9b46b9" /><Relationship Type="http://schemas.openxmlformats.org/officeDocument/2006/relationships/slide" Target="/ppt/slides/slide7.xml" Id="Rcfee55a99fff4ceb" /><Relationship Type="http://schemas.openxmlformats.org/officeDocument/2006/relationships/slide" Target="/ppt/slides/slide8.xml" Id="Re19eb9a1281445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75bf99b7e542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8d0b2bfe804862" /><Relationship Type="http://schemas.openxmlformats.org/officeDocument/2006/relationships/notesMaster" Target="/ppt/notesMasters/notesMaster1.xml" Id="R03c600dd87704b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616182086c4709" /><Relationship Type="http://schemas.openxmlformats.org/officeDocument/2006/relationships/notesMaster" Target="/ppt/notesMasters/notesMaster1.xml" Id="R2aa7d8986f5d4c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3e5ab6722f485a" /><Relationship Type="http://schemas.openxmlformats.org/officeDocument/2006/relationships/notesMaster" Target="/ppt/notesMasters/notesMaster1.xml" Id="Re49b2236aab2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d9915634944e17" /><Relationship Type="http://schemas.openxmlformats.org/officeDocument/2006/relationships/notesMaster" Target="/ppt/notesMasters/notesMaster1.xml" Id="R3442efa6b96f4c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e3fdaee2e14502" /><Relationship Type="http://schemas.openxmlformats.org/officeDocument/2006/relationships/notesMaster" Target="/ppt/notesMasters/notesMaster1.xml" Id="R06a18a73a13443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eea36c14224ecb" /><Relationship Type="http://schemas.openxmlformats.org/officeDocument/2006/relationships/notesMaster" Target="/ppt/notesMasters/notesMaster1.xml" Id="Rbe417f9ae8924e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8cfdb662a44e54" /><Relationship Type="http://schemas.openxmlformats.org/officeDocument/2006/relationships/notesMaster" Target="/ppt/notesMasters/notesMaster1.xml" Id="R3477c646d7d54a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4a5a2793e24370" /><Relationship Type="http://schemas.openxmlformats.org/officeDocument/2006/relationships/notesMaster" Target="/ppt/notesMasters/notesMaster1.xml" Id="Ra85fe576678449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90 minutes in groups: Reproduce the article benchmark and compare prediction, stability, and sparsity under one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05-ridge-lasso-elastic-net/slides.qmd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Groups work collaboratively. Assign a driver, a checker, and a narrator, then rotate roles halfway through.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05-ridge-lasso-elastic-net/02-practice/README.md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time at each transition. The one-slide presentation is the in-class product, not homework.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05-ridge-lasso-elastic-net/02-practice/README.md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the demo fails, fix the environment before starting the research task.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05-ridge-lasso-elastic-net/02-practice/README.md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member to narrate why each transition exists while another types.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05-ridge-lasso-elastic-net/02-practice/README.md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failure is the learning objective. Do not let groups skip it after obtaining a clean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05-ridge-lasso-elastic-net/02-practice/README.md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the presenter after the group is called. This makes shared understanding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05-ridge-lasso-elastic-net/02-practice/README.md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QMIB Lab App is an optional post-class knowledge check. Completion can count toward participation; it is not preparation for the next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QMIB Lab App: /Users/thierrywarin/Desktop/QMIB-lab-app/README.md</a:t>
            </a:r>
          </a:p>
          <a:p xmlns:a="http://schemas.openxmlformats.org/drawingml/2006/main">
            <a:r>
              <a:t>- Course source: 05-ridge-lasso-elastic-net/02-practice/README.md</a:t>
            </a:r>
          </a:p>
          <a:p xmlns:a="http://schemas.openxmlformats.org/drawingml/2006/main">
            <a:r>
              <a:t>- Frandi et al. (2016) — Fast and Scalable Lasso — https://doi.org/10.1007/s10994-016-5578-4</a:t>
            </a:r>
          </a:p>
          <a:p xmlns:a="http://schemas.openxmlformats.org/drawingml/2006/main">
            <a:r>
              <a:t>- Harvard Dataverse 10.7910/DVN/QJEUKR — https://doi.org/10.7910/DVN/QJEUKR</a:t>
            </a:r>
          </a:p>
          <a:p xmlns:a="http://schemas.openxmlformats.org/drawingml/2006/main">
            <a:r>
              <a:t>- ISLR, regularization chapter — https://www.statlearning.com/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132605237e4e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fb48433f24413f" /><Relationship Type="http://schemas.openxmlformats.org/officeDocument/2006/relationships/slideLayout" Target="/ppt/slideLayouts/slideLayout1.xml" Id="Rb68578aef5464f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8578aef5464f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41c4617aa49bc" /><Relationship Type="http://schemas.openxmlformats.org/officeDocument/2006/relationships/chart" Target="/ppt/slides/charts/chart1.xml" Id="R3647d90f01284368" /><Relationship Type="http://schemas.openxmlformats.org/officeDocument/2006/relationships/notesSlide" Target="/ppt/notesSlides/notesSlide1.xml" Id="R066889ef37d94e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a4d6c69aa4642" /><Relationship Type="http://schemas.openxmlformats.org/officeDocument/2006/relationships/notesSlide" Target="/ppt/notesSlides/notesSlide2.xml" Id="Rccc7c6396dcc4c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98f1d72f247d5" /><Relationship Type="http://schemas.openxmlformats.org/officeDocument/2006/relationships/notesSlide" Target="/ppt/notesSlides/notesSlide3.xml" Id="Ra06c9cb3339e4d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bede8edb140aa" /><Relationship Type="http://schemas.openxmlformats.org/officeDocument/2006/relationships/notesSlide" Target="/ppt/notesSlides/notesSlide4.xml" Id="R641e82e0195d40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689d0ddbf4ece" /><Relationship Type="http://schemas.openxmlformats.org/officeDocument/2006/relationships/notesSlide" Target="/ppt/notesSlides/notesSlide5.xml" Id="Rd9453886a97c4f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87fec82894ba8" /><Relationship Type="http://schemas.openxmlformats.org/officeDocument/2006/relationships/notesSlide" Target="/ppt/notesSlides/notesSlide6.xml" Id="Rbf0db149f70345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e5b74eca24a0f" /><Relationship Type="http://schemas.openxmlformats.org/officeDocument/2006/relationships/notesSlide" Target="/ppt/notesSlides/notesSlide7.xml" Id="Rf27cc985f5874c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79304fd03481f" /><Relationship Type="http://schemas.openxmlformats.org/officeDocument/2006/relationships/notesSlide" Target="/ppt/notesSlides/notesSlide8.xml" Id="R811100bf97724bf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60A5FA"/>
            </a:solidFill>
          </c:spPr>
          <c:cat>
            <c:strLit>
              <c:ptCount val="5"/>
              <c:pt idx="0">
                <c:v>x₁</c:v>
              </c:pt>
              <c:pt idx="1">
                <c:v>x₂</c:v>
              </c:pt>
              <c:pt idx="2">
                <c:v>x₃</c:v>
              </c:pt>
              <c:pt idx="3">
                <c:v>x₄</c:v>
              </c:pt>
              <c:pt idx="4">
                <c:v>x₅</c:v>
              </c:pt>
            </c:strLit>
          </c:cat>
          <c:val>
            <c:numLit>
              <c:formatCode>General</c:formatCode>
              <c:ptCount val="5"/>
              <c:pt idx="0">
                <c:v>5</c:v>
              </c:pt>
              <c:pt idx="1">
                <c:v>4</c:v>
              </c:pt>
              <c:pt idx="2">
                <c:v>3</c:v>
              </c:pt>
              <c:pt idx="3">
                <c:v>2</c:v>
              </c:pt>
              <c:pt idx="4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0C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1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3627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3D81E4D-578C-4AF3-BC79-DE0CF42D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05 · IN-CLASS PRACTICE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B082E2B-E65E-440E-97FE-3F50FB26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 a lasso benchmark, then challenge it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F0759BAC-74A9-4DE9-AF94-78BE1CE9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90 minutes in groups: Reproduce the article benchmark and compare prediction, stability, and sparsity under one evaluation.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5EBD0099-4815-4D3B-90E9-6709F1E9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0C633330-859A-48C2-B5AC-297878B0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57975" y="685800"/>
          <a:ext xmlns:a="http://schemas.openxmlformats.org/drawingml/2006/main" cx="4752975" cy="5086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47d90f01284368"/>
          </a:graphicData>
        </a:graphic>
      </p:graphicFrame>
      <p:sp>
        <p:nvSpPr>
          <p:cNvPr id="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F35209E-3320-41AD-9996-D7A421AD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3365A9C-56DC-4AB2-BA89-773DE479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639A6A69-2A8F-4AF7-B443-F25C1D1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1</a:t>
            </a:r>
          </a:p>
        </p:txBody>
      </p:sp>
    </p:spTree>
    <p:extLst>
      <p:ext uri="{BB962C8B-B14F-4D97-AF65-F5344CB8AC3E}">
        <p14:creationId xmlns:p14="http://schemas.microsoft.com/office/powerpoint/2010/main" val="16958456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DF1A8628-4F7F-4ADB-A0BE-48F4587F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13392A-7229-4459-9E91-861B12A8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Turn the method into a defensible group result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AC8D719A-FD3B-47A7-9DFE-4EC1AD0D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allenge-label">
            <a:extLst xmlns:a="http://schemas.openxmlformats.org/drawingml/2006/main">
              <a:ext uri="{FF2B5EF4-FFF2-40B4-BE49-F238E27FC236}">
                <a16:creationId xmlns:a16="http://schemas.microsoft.com/office/drawing/2014/main" id="{60EE197C-8672-4B5C-B1CD-19521C99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CHALLENGE</a:t>
            </a:r>
          </a:p>
        </p:txBody>
      </p:sp>
      <p:sp>
        <p:nvSpPr>
          <p:cNvPr id="5" name="challenge-copy">
            <a:extLst xmlns:a="http://schemas.openxmlformats.org/drawingml/2006/main">
              <a:ext uri="{FF2B5EF4-FFF2-40B4-BE49-F238E27FC236}">
                <a16:creationId xmlns:a16="http://schemas.microsoft.com/office/drawing/2014/main" id="{D06F377F-F1B2-44CF-B435-6073CB0A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59055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Reproduce the article benchmark and compare prediction, stability, and sparsity under one evaluation.</a:t>
            </a:r>
          </a:p>
        </p:txBody>
      </p:sp>
      <p:sp>
        <p:nvSpPr>
          <p:cNvPr id="6" name="challenge-result-label">
            <a:extLst xmlns:a="http://schemas.openxmlformats.org/drawingml/2006/main">
              <a:ext uri="{FF2B5EF4-FFF2-40B4-BE49-F238E27FC236}">
                <a16:creationId xmlns:a16="http://schemas.microsoft.com/office/drawing/2014/main" id="{63D4BC0A-4418-4B40-95DD-A462C5E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RESULT AT MINUTE 70</a:t>
            </a:r>
          </a:p>
        </p:txBody>
      </p:sp>
      <p:sp>
        <p:nvSpPr>
          <p:cNvPr id="7" name="challenge-result">
            <a:extLst xmlns:a="http://schemas.openxmlformats.org/drawingml/2006/main">
              <a:ext uri="{FF2B5EF4-FFF2-40B4-BE49-F238E27FC236}">
                <a16:creationId xmlns:a16="http://schemas.microsoft.com/office/drawing/2014/main" id="{4ABC473B-692D-46AD-B33D-14B271DA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590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lasso benchmark on the selected small pair, then compare ridge, lasso, and elastic net under the same split.</a:t>
            </a:r>
          </a:p>
        </p:txBody>
      </p:sp>
      <p:sp>
        <p:nvSpPr>
          <p:cNvPr id="8" name="objective-bg">
            <a:extLst xmlns:a="http://schemas.openxmlformats.org/drawingml/2006/main">
              <a:ext uri="{FF2B5EF4-FFF2-40B4-BE49-F238E27FC236}">
                <a16:creationId xmlns:a16="http://schemas.microsoft.com/office/drawing/2014/main" id="{DAF16248-B5AA-4C09-BE84-B1D348BA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419100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9" name="objective-title">
            <a:extLst xmlns:a="http://schemas.openxmlformats.org/drawingml/2006/main">
              <a:ext uri="{FF2B5EF4-FFF2-40B4-BE49-F238E27FC236}">
                <a16:creationId xmlns:a16="http://schemas.microsoft.com/office/drawing/2014/main" id="{1CDD831E-B713-4A87-86F7-1EEAAE79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By the end, your group can…</a:t>
            </a:r>
          </a:p>
        </p:txBody>
      </p:sp>
      <p:sp>
        <p:nvSpPr>
          <p:cNvPr id="10" name="objective-num-0">
            <a:extLst xmlns:a="http://schemas.openxmlformats.org/drawingml/2006/main">
              <a:ext uri="{FF2B5EF4-FFF2-40B4-BE49-F238E27FC236}">
                <a16:creationId xmlns:a16="http://schemas.microsoft.com/office/drawing/2014/main" id="{789E2C82-6731-464E-8F7A-68D7C7C3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81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1" name="objective-item-0">
            <a:extLst xmlns:a="http://schemas.openxmlformats.org/drawingml/2006/main">
              <a:ext uri="{FF2B5EF4-FFF2-40B4-BE49-F238E27FC236}">
                <a16:creationId xmlns:a16="http://schemas.microsoft.com/office/drawing/2014/main" id="{A3B88B84-737E-4AB9-8413-C500B265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336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an article result</a:t>
            </a:r>
          </a:p>
        </p:txBody>
      </p:sp>
      <p:sp>
        <p:nvSpPr>
          <p:cNvPr id="12" name="objective-num-1">
            <a:extLst xmlns:a="http://schemas.openxmlformats.org/drawingml/2006/main">
              <a:ext uri="{FF2B5EF4-FFF2-40B4-BE49-F238E27FC236}">
                <a16:creationId xmlns:a16="http://schemas.microsoft.com/office/drawing/2014/main" id="{EE070C4E-8006-4312-BAAC-D8293060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objective-item-1">
            <a:extLst xmlns:a="http://schemas.openxmlformats.org/drawingml/2006/main">
              <a:ext uri="{FF2B5EF4-FFF2-40B4-BE49-F238E27FC236}">
                <a16:creationId xmlns:a16="http://schemas.microsoft.com/office/drawing/2014/main" id="{F9E49386-F24D-46AC-9A3D-8857D0D3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with a benchmark</a:t>
            </a:r>
          </a:p>
        </p:txBody>
      </p:sp>
      <p:sp>
        <p:nvSpPr>
          <p:cNvPr id="14" name="objective-num-2">
            <a:extLst xmlns:a="http://schemas.openxmlformats.org/drawingml/2006/main">
              <a:ext uri="{FF2B5EF4-FFF2-40B4-BE49-F238E27FC236}">
                <a16:creationId xmlns:a16="http://schemas.microsoft.com/office/drawing/2014/main" id="{595FBE57-E773-4C6A-89A5-D39BA24F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38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objective-item-2">
            <a:extLst xmlns:a="http://schemas.openxmlformats.org/drawingml/2006/main">
              <a:ext uri="{FF2B5EF4-FFF2-40B4-BE49-F238E27FC236}">
                <a16:creationId xmlns:a16="http://schemas.microsoft.com/office/drawing/2014/main" id="{6D2AFC1E-14CA-4D50-B6FF-D929D011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909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 one assumption</a:t>
            </a:r>
          </a:p>
        </p:txBody>
      </p:sp>
      <p:sp>
        <p:nvSpPr>
          <p:cNvPr id="16" name="objective-num-3">
            <a:extLst xmlns:a="http://schemas.openxmlformats.org/drawingml/2006/main">
              <a:ext uri="{FF2B5EF4-FFF2-40B4-BE49-F238E27FC236}">
                <a16:creationId xmlns:a16="http://schemas.microsoft.com/office/drawing/2014/main" id="{6367A45F-F8E8-4A59-84E2-ECF82A13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objective-item-3">
            <a:extLst xmlns:a="http://schemas.openxmlformats.org/drawingml/2006/main">
              <a:ext uri="{FF2B5EF4-FFF2-40B4-BE49-F238E27FC236}">
                <a16:creationId xmlns:a16="http://schemas.microsoft.com/office/drawing/2014/main" id="{EE4AA6AF-A5B5-4F42-99D2-DB065AF3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Explain the supported claim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B9DB675-4C22-4359-9AC1-D2CC6296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860C66A-AACF-4AAB-85E2-43FD2CC5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0FC4D36-660D-4053-9892-68DD6EDE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2</a:t>
            </a:r>
          </a:p>
        </p:txBody>
      </p:sp>
    </p:spTree>
    <p:extLst>
      <p:ext uri="{BB962C8B-B14F-4D97-AF65-F5344CB8AC3E}">
        <p14:creationId xmlns:p14="http://schemas.microsoft.com/office/powerpoint/2010/main" val="1050927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A14607A4-5AB7-4FF0-9EEE-9A9F457E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90-MINUTE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EB25F8-1398-4AF2-9CD4-707E681F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Protect the final 20 minutes for presentations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8BD01CD-D49A-43A5-A11B-44FB58B6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ming-time-0">
            <a:extLst xmlns:a="http://schemas.openxmlformats.org/drawingml/2006/main">
              <a:ext uri="{FF2B5EF4-FFF2-40B4-BE49-F238E27FC236}">
                <a16:creationId xmlns:a16="http://schemas.microsoft.com/office/drawing/2014/main" id="{E0CA8C13-5AE9-4A2B-B630-86362B62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00–10</a:t>
            </a:r>
          </a:p>
        </p:txBody>
      </p:sp>
      <p:sp>
        <p:nvSpPr>
          <p:cNvPr id="5" name="timing-name-0">
            <a:extLst xmlns:a="http://schemas.openxmlformats.org/drawingml/2006/main">
              <a:ext uri="{FF2B5EF4-FFF2-40B4-BE49-F238E27FC236}">
                <a16:creationId xmlns:a16="http://schemas.microsoft.com/office/drawing/2014/main" id="{CB7640DD-A102-430D-833D-32A502FE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57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Locate</a:t>
            </a:r>
          </a:p>
        </p:txBody>
      </p:sp>
      <p:sp>
        <p:nvSpPr>
          <p:cNvPr id="6" name="timing-copy-0">
            <a:extLst xmlns:a="http://schemas.openxmlformats.org/drawingml/2006/main">
              <a:ext uri="{FF2B5EF4-FFF2-40B4-BE49-F238E27FC236}">
                <a16:creationId xmlns:a16="http://schemas.microsoft.com/office/drawing/2014/main" id="{80691FAE-4003-431B-9705-7BAD7968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57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Choose roles and locate the exact article result to reproduce.</a:t>
            </a:r>
          </a:p>
        </p:txBody>
      </p:sp>
      <p:sp>
        <p:nvSpPr>
          <p:cNvPr id="7" name="rule-184-226">
            <a:extLst xmlns:a="http://schemas.openxmlformats.org/drawingml/2006/main">
              <a:ext uri="{FF2B5EF4-FFF2-40B4-BE49-F238E27FC236}">
                <a16:creationId xmlns:a16="http://schemas.microsoft.com/office/drawing/2014/main" id="{C519F851-1CAA-4018-B207-285C8087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1526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ing-time-1">
            <a:extLst xmlns:a="http://schemas.openxmlformats.org/drawingml/2006/main">
              <a:ext uri="{FF2B5EF4-FFF2-40B4-BE49-F238E27FC236}">
                <a16:creationId xmlns:a16="http://schemas.microsoft.com/office/drawing/2014/main" id="{6F62D539-F624-4B64-BD08-267F28A7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10–30</a:t>
            </a:r>
          </a:p>
        </p:txBody>
      </p:sp>
      <p:sp>
        <p:nvSpPr>
          <p:cNvPr id="9" name="timing-name-1">
            <a:extLst xmlns:a="http://schemas.openxmlformats.org/drawingml/2006/main">
              <a:ext uri="{FF2B5EF4-FFF2-40B4-BE49-F238E27FC236}">
                <a16:creationId xmlns:a16="http://schemas.microsoft.com/office/drawing/2014/main" id="{EBF4D37F-1294-4860-9BC0-BA6E068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Replicate</a:t>
            </a:r>
          </a:p>
        </p:txBody>
      </p:sp>
      <p:sp>
        <p:nvSpPr>
          <p:cNvPr id="10" name="timing-copy-1">
            <a:extLst xmlns:a="http://schemas.openxmlformats.org/drawingml/2006/main">
              <a:ext uri="{FF2B5EF4-FFF2-40B4-BE49-F238E27FC236}">
                <a16:creationId xmlns:a16="http://schemas.microsoft.com/office/drawing/2014/main" id="{C62004C1-477A-418C-94BD-F80D0E9C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431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Run the authors' data or prepared file and reproduce the target.</a:t>
            </a:r>
          </a:p>
        </p:txBody>
      </p:sp>
      <p:sp>
        <p:nvSpPr>
          <p:cNvPr id="11" name="rule-184-298">
            <a:extLst xmlns:a="http://schemas.openxmlformats.org/drawingml/2006/main">
              <a:ext uri="{FF2B5EF4-FFF2-40B4-BE49-F238E27FC236}">
                <a16:creationId xmlns:a16="http://schemas.microsoft.com/office/drawing/2014/main" id="{B57D6296-D4A6-45F1-8F89-E395E2C9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384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ing-time-2">
            <a:extLst xmlns:a="http://schemas.openxmlformats.org/drawingml/2006/main">
              <a:ext uri="{FF2B5EF4-FFF2-40B4-BE49-F238E27FC236}">
                <a16:creationId xmlns:a16="http://schemas.microsoft.com/office/drawing/2014/main" id="{529B040E-1005-43B0-9CED-75121BB8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30–45</a:t>
            </a:r>
          </a:p>
        </p:txBody>
      </p:sp>
      <p:sp>
        <p:nvSpPr>
          <p:cNvPr id="13" name="timing-name-2">
            <a:extLst xmlns:a="http://schemas.openxmlformats.org/drawingml/2006/main">
              <a:ext uri="{FF2B5EF4-FFF2-40B4-BE49-F238E27FC236}">
                <a16:creationId xmlns:a16="http://schemas.microsoft.com/office/drawing/2014/main" id="{E2D44BDA-1227-4EED-8408-1E645ED7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</a:t>
            </a:r>
          </a:p>
        </p:txBody>
      </p:sp>
      <p:sp>
        <p:nvSpPr>
          <p:cNvPr id="14" name="timing-copy-2">
            <a:extLst xmlns:a="http://schemas.openxmlformats.org/drawingml/2006/main">
              <a:ext uri="{FF2B5EF4-FFF2-40B4-BE49-F238E27FC236}">
                <a16:creationId xmlns:a16="http://schemas.microsoft.com/office/drawing/2014/main" id="{A43B8984-17FC-4D15-AB81-1D2832CE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28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Apply the session method or benchmark on the same sample.</a:t>
            </a:r>
          </a:p>
        </p:txBody>
      </p:sp>
      <p:sp>
        <p:nvSpPr>
          <p:cNvPr id="15" name="rule-184-370">
            <a:extLst xmlns:a="http://schemas.openxmlformats.org/drawingml/2006/main">
              <a:ext uri="{FF2B5EF4-FFF2-40B4-BE49-F238E27FC236}">
                <a16:creationId xmlns:a16="http://schemas.microsoft.com/office/drawing/2014/main" id="{4AFD3C13-094E-4240-A8BF-20018621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ing-time-3">
            <a:extLst xmlns:a="http://schemas.openxmlformats.org/drawingml/2006/main">
              <a:ext uri="{FF2B5EF4-FFF2-40B4-BE49-F238E27FC236}">
                <a16:creationId xmlns:a16="http://schemas.microsoft.com/office/drawing/2014/main" id="{5AC90310-D136-4325-B2EE-C137020F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45–60</a:t>
            </a:r>
          </a:p>
        </p:txBody>
      </p:sp>
      <p:sp>
        <p:nvSpPr>
          <p:cNvPr id="17" name="timing-name-3">
            <a:extLst xmlns:a="http://schemas.openxmlformats.org/drawingml/2006/main">
              <a:ext uri="{FF2B5EF4-FFF2-40B4-BE49-F238E27FC236}">
                <a16:creationId xmlns:a16="http://schemas.microsoft.com/office/drawing/2014/main" id="{9F81282E-004B-421B-9BC4-7D5CBA4C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Break</a:t>
            </a:r>
          </a:p>
        </p:txBody>
      </p:sp>
      <p:sp>
        <p:nvSpPr>
          <p:cNvPr id="18" name="timing-copy-3">
            <a:extLst xmlns:a="http://schemas.openxmlformats.org/drawingml/2006/main">
              <a:ext uri="{FF2B5EF4-FFF2-40B4-BE49-F238E27FC236}">
                <a16:creationId xmlns:a16="http://schemas.microsoft.com/office/drawing/2014/main" id="{F3C00EEC-DAF4-4531-B4AE-1DF28612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Stress one assumption and save before/after evidence.</a:t>
            </a:r>
          </a:p>
        </p:txBody>
      </p:sp>
      <p:sp>
        <p:nvSpPr>
          <p:cNvPr id="19" name="rule-184-442">
            <a:extLst xmlns:a="http://schemas.openxmlformats.org/drawingml/2006/main">
              <a:ext uri="{FF2B5EF4-FFF2-40B4-BE49-F238E27FC236}">
                <a16:creationId xmlns:a16="http://schemas.microsoft.com/office/drawing/2014/main" id="{349A090E-DA5C-4DC7-80FA-D0286DCA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100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ing-time-4">
            <a:extLst xmlns:a="http://schemas.openxmlformats.org/drawingml/2006/main">
              <a:ext uri="{FF2B5EF4-FFF2-40B4-BE49-F238E27FC236}">
                <a16:creationId xmlns:a16="http://schemas.microsoft.com/office/drawing/2014/main" id="{3CEB38A7-5BE4-464A-A38A-7B5B9A52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60–70</a:t>
            </a:r>
          </a:p>
        </p:txBody>
      </p:sp>
      <p:sp>
        <p:nvSpPr>
          <p:cNvPr id="21" name="timing-name-4">
            <a:extLst xmlns:a="http://schemas.openxmlformats.org/drawingml/2006/main">
              <a:ext uri="{FF2B5EF4-FFF2-40B4-BE49-F238E27FC236}">
                <a16:creationId xmlns:a16="http://schemas.microsoft.com/office/drawing/2014/main" id="{2FD00DF1-F7A6-4FBA-BAD0-A753608B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Synthesize</a:t>
            </a:r>
          </a:p>
        </p:txBody>
      </p:sp>
      <p:sp>
        <p:nvSpPr>
          <p:cNvPr id="22" name="timing-copy-4">
            <a:extLst xmlns:a="http://schemas.openxmlformats.org/drawingml/2006/main">
              <a:ext uri="{FF2B5EF4-FFF2-40B4-BE49-F238E27FC236}">
                <a16:creationId xmlns:a16="http://schemas.microsoft.com/office/drawing/2014/main" id="{D356F476-99E0-4115-B13B-32CA2A38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005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Create one slide: article, replication, catch.</a:t>
            </a:r>
          </a:p>
        </p:txBody>
      </p:sp>
      <p:sp>
        <p:nvSpPr>
          <p:cNvPr id="23" name="rule-184-514">
            <a:extLst xmlns:a="http://schemas.openxmlformats.org/drawingml/2006/main">
              <a:ext uri="{FF2B5EF4-FFF2-40B4-BE49-F238E27FC236}">
                <a16:creationId xmlns:a16="http://schemas.microsoft.com/office/drawing/2014/main" id="{D4BF3397-8EB4-4BDB-86B4-E01C6030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9585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ing-time-5">
            <a:extLst xmlns:a="http://schemas.openxmlformats.org/drawingml/2006/main">
              <a:ext uri="{FF2B5EF4-FFF2-40B4-BE49-F238E27FC236}">
                <a16:creationId xmlns:a16="http://schemas.microsoft.com/office/drawing/2014/main" id="{8635D710-FFFA-46CC-A8CA-88EC3E8C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6350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70–90</a:t>
            </a:r>
          </a:p>
        </p:txBody>
      </p:sp>
      <p:sp>
        <p:nvSpPr>
          <p:cNvPr id="25" name="timing-name-5">
            <a:extLst xmlns:a="http://schemas.openxmlformats.org/drawingml/2006/main">
              <a:ext uri="{FF2B5EF4-FFF2-40B4-BE49-F238E27FC236}">
                <a16:creationId xmlns:a16="http://schemas.microsoft.com/office/drawing/2014/main" id="{E0621639-D359-4A40-A51D-CF7267E1C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Present</a:t>
            </a:r>
          </a:p>
        </p:txBody>
      </p:sp>
      <p:sp>
        <p:nvSpPr>
          <p:cNvPr id="26" name="timing-copy-5">
            <a:extLst xmlns:a="http://schemas.openxmlformats.org/drawingml/2006/main">
              <a:ext uri="{FF2B5EF4-FFF2-40B4-BE49-F238E27FC236}">
                <a16:creationId xmlns:a16="http://schemas.microsoft.com/office/drawing/2014/main" id="{97F6084C-E1A9-4A11-84E6-37922DE5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863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Two minutes per group; presenter chosen at random.</a:t>
            </a:r>
          </a:p>
        </p:txBody>
      </p:sp>
      <p:sp>
        <p:nvSpPr>
          <p:cNvPr id="2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DDD1E46-7435-4B0F-B59D-8E70357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B25F2D-C9A0-4ADE-9D37-6FCE30A4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2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B2CE54F-7443-42B5-8BF6-EBFF916E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3</a:t>
            </a:r>
          </a:p>
        </p:txBody>
      </p:sp>
    </p:spTree>
    <p:extLst>
      <p:ext uri="{BB962C8B-B14F-4D97-AF65-F5344CB8AC3E}">
        <p14:creationId xmlns:p14="http://schemas.microsoft.com/office/powerpoint/2010/main" val="236425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842AC907-FC9C-4656-AED4-B7A5401C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START HERE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4F3F221-19BC-4ECB-86AB-088D1EC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Open the Desktop clone in VS Codium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237400FC-6FD8-4D28-9277-17151282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actice-path">
            <a:extLst xmlns:a="http://schemas.openxmlformats.org/drawingml/2006/main">
              <a:ext uri="{FF2B5EF4-FFF2-40B4-BE49-F238E27FC236}">
                <a16:creationId xmlns:a16="http://schemas.microsoft.com/office/drawing/2014/main" id="{D1350EC8-7660-436D-AFD6-5C0DCCF9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practice-commands">
            <a:extLst xmlns:a="http://schemas.openxmlformats.org/drawingml/2006/main">
              <a:ext uri="{FF2B5EF4-FFF2-40B4-BE49-F238E27FC236}">
                <a16:creationId xmlns:a16="http://schemas.microsoft.com/office/drawing/2014/main" id="{1498D94B-A500-4CA8-BD02-2113A0CF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524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05-ridge-lasso-elastic-net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demo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session05_regularisation_demo.py</a:t>
            </a:r>
          </a:p>
        </p:txBody>
      </p:sp>
      <p:sp>
        <p:nvSpPr>
          <p:cNvPr id="6" name="practice-local">
            <a:extLst xmlns:a="http://schemas.openxmlformats.org/drawingml/2006/main">
              <a:ext uri="{FF2B5EF4-FFF2-40B4-BE49-F238E27FC236}">
                <a16:creationId xmlns:a16="http://schemas.microsoft.com/office/drawing/2014/main" id="{C8C4CC4D-A83C-4083-B9D9-9D902240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Package: 10.7910/DVN/QJEUKR. Keep the article result and your comparison separate.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5282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6F7750CA-7234-4AAD-A0D8-CD23577D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B646900F-65A5-4437-85DE-8F529334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3527D1D3-FD34-4109-AC68-BD201259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5850EF7F-9EE9-45D1-8074-905AC8A8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Course demo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C19EFAF1-7F84-4D40-8D48-ECE4CBCB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6215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020A7E03-0AC1-4AC9-AF1A-76783E5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7645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replication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A63F5A2-4831-4598-80B3-8F16A361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B45C50C-A57B-44FD-8AC5-46F3EF2C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A73E72EC-229B-4402-AFEB-59417935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4</a:t>
            </a:r>
          </a:p>
        </p:txBody>
      </p:sp>
    </p:spTree>
    <p:extLst>
      <p:ext uri="{BB962C8B-B14F-4D97-AF65-F5344CB8AC3E}">
        <p14:creationId xmlns:p14="http://schemas.microsoft.com/office/powerpoint/2010/main" val="1215675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D5A2510F-BC54-4504-9BCC-08A28819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WORK SEQUENCE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9FAED3-84F3-48EB-B41F-840EA29B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Complete all five moves before presenting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EC9E3DB9-7156-45E6-85E6-3B3CAE07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1DC97522-9576-4E0F-BB22-08F5E2DB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1</a:t>
            </a:r>
          </a:p>
        </p:txBody>
      </p:sp>
      <p:sp>
        <p:nvSpPr>
          <p:cNvPr id="5" name="task-body-0">
            <a:extLst xmlns:a="http://schemas.openxmlformats.org/drawingml/2006/main">
              <a:ext uri="{FF2B5EF4-FFF2-40B4-BE49-F238E27FC236}">
                <a16:creationId xmlns:a16="http://schemas.microsoft.com/office/drawing/2014/main" id="{6A5CACFE-1358-46FB-97C9-2A71EFEB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097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Identify the article's benchmark data and loss</a:t>
            </a:r>
          </a:p>
        </p:txBody>
      </p:sp>
      <p:sp>
        <p:nvSpPr>
          <p:cNvPr id="6" name="rule-196-228">
            <a:extLst xmlns:a="http://schemas.openxmlformats.org/drawingml/2006/main">
              <a:ext uri="{FF2B5EF4-FFF2-40B4-BE49-F238E27FC236}">
                <a16:creationId xmlns:a16="http://schemas.microsoft.com/office/drawing/2014/main" id="{B8E2C532-2851-4986-A416-208215E5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1717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FB4C5A52-D0DF-4F7A-9BBD-D26D140F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2</a:t>
            </a:r>
          </a:p>
        </p:txBody>
      </p:sp>
      <p:sp>
        <p:nvSpPr>
          <p:cNvPr id="8" name="task-body-1">
            <a:extLst xmlns:a="http://schemas.openxmlformats.org/drawingml/2006/main">
              <a:ext uri="{FF2B5EF4-FFF2-40B4-BE49-F238E27FC236}">
                <a16:creationId xmlns:a16="http://schemas.microsoft.com/office/drawing/2014/main" id="{98C9A8DA-95F0-46AF-8447-97D0201F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Reproduce one lasso result</a:t>
            </a:r>
          </a:p>
        </p:txBody>
      </p:sp>
      <p:sp>
        <p:nvSpPr>
          <p:cNvPr id="9" name="rule-196-312">
            <a:extLst xmlns:a="http://schemas.openxmlformats.org/drawingml/2006/main">
              <a:ext uri="{FF2B5EF4-FFF2-40B4-BE49-F238E27FC236}">
                <a16:creationId xmlns:a16="http://schemas.microsoft.com/office/drawing/2014/main" id="{ADC8BA7E-5F40-449D-B863-1DFB2F8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718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C1EE0E68-A573-4CB4-BC68-33C7BBFA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3</a:t>
            </a:r>
          </a:p>
        </p:txBody>
      </p:sp>
      <p:sp>
        <p:nvSpPr>
          <p:cNvPr id="11" name="task-body-2">
            <a:extLst xmlns:a="http://schemas.openxmlformats.org/drawingml/2006/main">
              <a:ext uri="{FF2B5EF4-FFF2-40B4-BE49-F238E27FC236}">
                <a16:creationId xmlns:a16="http://schemas.microsoft.com/office/drawing/2014/main" id="{7AC1B802-696A-4C80-A391-7A7270ED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99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Compare ridge, lasso, and elastic net</a:t>
            </a:r>
          </a:p>
        </p:txBody>
      </p:sp>
      <p:sp>
        <p:nvSpPr>
          <p:cNvPr id="12" name="rule-196-396">
            <a:extLst xmlns:a="http://schemas.openxmlformats.org/drawingml/2006/main">
              <a:ext uri="{FF2B5EF4-FFF2-40B4-BE49-F238E27FC236}">
                <a16:creationId xmlns:a16="http://schemas.microsoft.com/office/drawing/2014/main" id="{875EE5DF-6C53-4743-BD47-B2F2510F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7719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E16BED69-6DEA-424C-B987-C96F4702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STEP 4</a:t>
            </a:r>
          </a:p>
        </p:txBody>
      </p:sp>
      <p:sp>
        <p:nvSpPr>
          <p:cNvPr id="14" name="task-body-3">
            <a:extLst xmlns:a="http://schemas.openxmlformats.org/drawingml/2006/main">
              <a:ext uri="{FF2B5EF4-FFF2-40B4-BE49-F238E27FC236}">
                <a16:creationId xmlns:a16="http://schemas.microsoft.com/office/drawing/2014/main" id="{257C4844-D462-4F5F-BBB9-8405EB28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10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Repeat across resamples</a:t>
            </a:r>
          </a:p>
        </p:txBody>
      </p:sp>
      <p:sp>
        <p:nvSpPr>
          <p:cNvPr id="15" name="rule-196-480">
            <a:extLst xmlns:a="http://schemas.openxmlformats.org/drawingml/2006/main">
              <a:ext uri="{FF2B5EF4-FFF2-40B4-BE49-F238E27FC236}">
                <a16:creationId xmlns:a16="http://schemas.microsoft.com/office/drawing/2014/main" id="{DE326FF5-C190-4D67-9814-8910D5B4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72000"/>
            <a:ext cx="922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94BB8504-8156-4845-B6C7-03181637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STEP 5</a:t>
            </a:r>
          </a:p>
        </p:txBody>
      </p:sp>
      <p:sp>
        <p:nvSpPr>
          <p:cNvPr id="17" name="task-body-4">
            <a:extLst xmlns:a="http://schemas.openxmlformats.org/drawingml/2006/main">
              <a:ext uri="{FF2B5EF4-FFF2-40B4-BE49-F238E27FC236}">
                <a16:creationId xmlns:a16="http://schemas.microsoft.com/office/drawing/2014/main" id="{BD2D3A1B-0E5B-4B83-B0D3-75E5AB2F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101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Report stable groups and one limitation</a:t>
            </a:r>
          </a:p>
        </p:txBody>
      </p:sp>
      <p:sp>
        <p:nvSpPr>
          <p:cNvPr id="18" name="rule-48-674">
            <a:extLst xmlns:a="http://schemas.openxmlformats.org/drawingml/2006/main">
              <a:ext uri="{FF2B5EF4-FFF2-40B4-BE49-F238E27FC236}">
                <a16:creationId xmlns:a16="http://schemas.microsoft.com/office/drawing/2014/main" id="{70F25D34-EEF0-4B30-B966-D6BE9211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685A39B-F056-450A-B17C-B06C724F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20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FD5BFD4-C93F-4E62-AB77-B090F59E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5</a:t>
            </a:r>
          </a:p>
        </p:txBody>
      </p:sp>
    </p:spTree>
    <p:extLst>
      <p:ext uri="{BB962C8B-B14F-4D97-AF65-F5344CB8AC3E}">
        <p14:creationId xmlns:p14="http://schemas.microsoft.com/office/powerpoint/2010/main" val="1933565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reak-kicker">
            <a:extLst xmlns:a="http://schemas.openxmlformats.org/drawingml/2006/main">
              <a:ext uri="{FF2B5EF4-FFF2-40B4-BE49-F238E27FC236}">
                <a16:creationId xmlns:a16="http://schemas.microsoft.com/office/drawing/2014/main" id="{5A9ADD52-1D2C-4F8F-B0E4-B765813B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PRACTICE · BREAK IT DELIBERATELY</a:t>
            </a:r>
          </a:p>
        </p:txBody>
      </p:sp>
      <p:sp>
        <p:nvSpPr>
          <p:cNvPr id="2" name="break-title">
            <a:extLst xmlns:a="http://schemas.openxmlformats.org/drawingml/2006/main">
              <a:ext uri="{FF2B5EF4-FFF2-40B4-BE49-F238E27FC236}">
                <a16:creationId xmlns:a16="http://schemas.microsoft.com/office/drawing/2014/main" id="{F3577C51-4A5A-4AF2-B0B3-6720D24B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Lasso can select one arbitrary member of a correlated group and make instability look like importance.</a:t>
            </a:r>
          </a:p>
        </p:txBody>
      </p:sp>
      <p:sp>
        <p:nvSpPr>
          <p:cNvPr id="3" name="break-instruction">
            <a:extLst xmlns:a="http://schemas.openxmlformats.org/drawingml/2006/main">
              <a:ext uri="{FF2B5EF4-FFF2-40B4-BE49-F238E27FC236}">
                <a16:creationId xmlns:a16="http://schemas.microsoft.com/office/drawing/2014/main" id="{C3388D34-4770-44A5-865A-8EE07B2E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Create the failure. Save the before/after evidence. Explain the mechanism without blaming the software.</a:t>
            </a:r>
          </a:p>
        </p:txBody>
      </p:sp>
      <p:sp>
        <p:nvSpPr>
          <p:cNvPr id="4" name="break-llm">
            <a:extLst xmlns:a="http://schemas.openxmlformats.org/drawingml/2006/main">
              <a:ext uri="{FF2B5EF4-FFF2-40B4-BE49-F238E27FC236}">
                <a16:creationId xmlns:a16="http://schemas.microsoft.com/office/drawing/2014/main" id="{DF3E24FF-D1BE-43F1-87EF-D1820A70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Required: record one LLM claim you found wrong, unverifiable, or misleading—and how you checked it.</a:t>
            </a:r>
          </a:p>
        </p:txBody>
      </p:sp>
      <p:sp>
        <p:nvSpPr>
          <p:cNvPr id="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FE8C2A53-8650-49CC-839B-C4471294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9E746B2-CD05-4FC8-A113-C4D9DEAA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C2B69FE-EFAB-4D7D-9C18-6761C674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6</a:t>
            </a:r>
          </a:p>
        </p:txBody>
      </p:sp>
    </p:spTree>
    <p:extLst>
      <p:ext uri="{BB962C8B-B14F-4D97-AF65-F5344CB8AC3E}">
        <p14:creationId xmlns:p14="http://schemas.microsoft.com/office/powerpoint/2010/main" val="1347931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3ECF9002-68E3-4AE9-B547-7744D9F7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PRACTICE · GROUP PRESENTATION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2F5132-4EBC-4EE8-8A3F-B73450F7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slide. Two minutes. Random presenter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A312DD0-F537-48EA-A0F5-96DDB7C3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port-label-0">
            <a:extLst xmlns:a="http://schemas.openxmlformats.org/drawingml/2006/main">
              <a:ext uri="{FF2B5EF4-FFF2-40B4-BE49-F238E27FC236}">
                <a16:creationId xmlns:a16="http://schemas.microsoft.com/office/drawing/2014/main" id="{AD7D3E7D-E0E8-4D28-A7F3-3A9227A7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ARTICLE RESULT</a:t>
            </a:r>
          </a:p>
        </p:txBody>
      </p:sp>
      <p:sp>
        <p:nvSpPr>
          <p:cNvPr id="5" name="report-body-0">
            <a:extLst xmlns:a="http://schemas.openxmlformats.org/drawingml/2006/main">
              <a:ext uri="{FF2B5EF4-FFF2-40B4-BE49-F238E27FC236}">
                <a16:creationId xmlns:a16="http://schemas.microsoft.com/office/drawing/2014/main" id="{B8F803CF-706C-442A-8ABA-E594D958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6954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published estimate or figure your group targeted.</a:t>
            </a:r>
          </a:p>
        </p:txBody>
      </p:sp>
      <p:sp>
        <p:nvSpPr>
          <p:cNvPr id="6" name="rule-278-272">
            <a:extLst xmlns:a="http://schemas.openxmlformats.org/drawingml/2006/main">
              <a:ext uri="{FF2B5EF4-FFF2-40B4-BE49-F238E27FC236}">
                <a16:creationId xmlns:a16="http://schemas.microsoft.com/office/drawing/2014/main" id="{E42CAA50-FD26-4964-93A0-655C73A5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908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port-label-1">
            <a:extLst xmlns:a="http://schemas.openxmlformats.org/drawingml/2006/main">
              <a:ext uri="{FF2B5EF4-FFF2-40B4-BE49-F238E27FC236}">
                <a16:creationId xmlns:a16="http://schemas.microsoft.com/office/drawing/2014/main" id="{FB9C7741-539D-463B-8813-BC179AA8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OUR REPLICATION</a:t>
            </a:r>
          </a:p>
        </p:txBody>
      </p:sp>
      <p:sp>
        <p:nvSpPr>
          <p:cNvPr id="8" name="report-body-1">
            <a:extLst xmlns:a="http://schemas.openxmlformats.org/drawingml/2006/main">
              <a:ext uri="{FF2B5EF4-FFF2-40B4-BE49-F238E27FC236}">
                <a16:creationId xmlns:a16="http://schemas.microsoft.com/office/drawing/2014/main" id="{83A32D19-0ADD-4CB8-BC9D-81213B35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52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matched, what differed, and the comparison you added.</a:t>
            </a:r>
          </a:p>
        </p:txBody>
      </p:sp>
      <p:sp>
        <p:nvSpPr>
          <p:cNvPr id="9" name="rule-278-404">
            <a:extLst xmlns:a="http://schemas.openxmlformats.org/drawingml/2006/main">
              <a:ext uri="{FF2B5EF4-FFF2-40B4-BE49-F238E27FC236}">
                <a16:creationId xmlns:a16="http://schemas.microsoft.com/office/drawing/2014/main" id="{A2DE4923-747B-4D80-94DD-A614E22A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port-label-2">
            <a:extLst xmlns:a="http://schemas.openxmlformats.org/drawingml/2006/main">
              <a:ext uri="{FF2B5EF4-FFF2-40B4-BE49-F238E27FC236}">
                <a16:creationId xmlns:a16="http://schemas.microsoft.com/office/drawing/2014/main" id="{23268873-6360-452F-A0C4-97C68E14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THE CATCH</a:t>
            </a:r>
          </a:p>
        </p:txBody>
      </p:sp>
      <p:sp>
        <p:nvSpPr>
          <p:cNvPr id="11" name="report-body-2">
            <a:extLst xmlns:a="http://schemas.openxmlformats.org/drawingml/2006/main">
              <a:ext uri="{FF2B5EF4-FFF2-40B4-BE49-F238E27FC236}">
                <a16:creationId xmlns:a16="http://schemas.microsoft.com/office/drawing/2014/main" id="{5A1276D4-4903-4A16-9C93-971DAE48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00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assumption, data choice, or limitation that changes the claim.</a:t>
            </a:r>
          </a:p>
        </p:txBody>
      </p:sp>
      <p:sp>
        <p:nvSpPr>
          <p:cNvPr id="12" name="rule-278-536">
            <a:extLst xmlns:a="http://schemas.openxmlformats.org/drawingml/2006/main">
              <a:ext uri="{FF2B5EF4-FFF2-40B4-BE49-F238E27FC236}">
                <a16:creationId xmlns:a16="http://schemas.microsoft.com/office/drawing/2014/main" id="{D5578017-D6B3-4256-B1AB-D532F25F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05400"/>
            <a:ext cx="819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port-rule">
            <a:extLst xmlns:a="http://schemas.openxmlformats.org/drawingml/2006/main">
              <a:ext uri="{FF2B5EF4-FFF2-40B4-BE49-F238E27FC236}">
                <a16:creationId xmlns:a16="http://schemas.microsoft.com/office/drawing/2014/main" id="{F71F3C7F-AC07-4B05-94A8-6AE20D27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Finish the presentation in class. Nothing carries over as required homework.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F17B51B-934C-4726-A30A-8A99605C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BE1E893-EE47-4CA6-B991-EC4CB047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F6227F78-2B98-4183-BEB7-D0AC4BC4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Practice · 7</a:t>
            </a:r>
          </a:p>
        </p:txBody>
      </p:sp>
    </p:spTree>
    <p:extLst>
      <p:ext uri="{BB962C8B-B14F-4D97-AF65-F5344CB8AC3E}">
        <p14:creationId xmlns:p14="http://schemas.microsoft.com/office/powerpoint/2010/main" val="2893259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-kicker">
            <a:extLst xmlns:a="http://schemas.openxmlformats.org/drawingml/2006/main">
              <a:ext uri="{FF2B5EF4-FFF2-40B4-BE49-F238E27FC236}">
                <a16:creationId xmlns:a16="http://schemas.microsoft.com/office/drawing/2014/main" id="{B7F95992-7D65-4FB9-A8B2-0AAB49DC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AFTER CLASS · OPTIONAL PARTICIPATION LAB</a:t>
            </a:r>
          </a:p>
        </p:txBody>
      </p:sp>
      <p:sp>
        <p:nvSpPr>
          <p:cNvPr id="2" name="lab-title">
            <a:extLst xmlns:a="http://schemas.openxmlformats.org/drawingml/2006/main">
              <a:ext uri="{FF2B5EF4-FFF2-40B4-BE49-F238E27FC236}">
                <a16:creationId xmlns:a16="http://schemas.microsoft.com/office/drawing/2014/main" id="{9FED241F-2170-4F14-8896-DB148C71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Class ends with the group presentations.</a:t>
            </a:r>
          </a:p>
        </p:txBody>
      </p:sp>
      <p:sp>
        <p:nvSpPr>
          <p:cNvPr id="3" name="lab-availability">
            <a:extLst xmlns:a="http://schemas.openxmlformats.org/drawingml/2006/main">
              <a:ext uri="{FF2B5EF4-FFF2-40B4-BE49-F238E27FC236}">
                <a16:creationId xmlns:a16="http://schemas.microsoft.com/office/drawing/2014/main" id="{50858473-E2CC-433C-82C2-E0C57F82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QMIB Lab 05 is a short at-home knowledge check.</a:t>
            </a:r>
          </a:p>
        </p:txBody>
      </p:sp>
      <p:sp>
        <p:nvSpPr>
          <p:cNvPr id="4" name="lab-policy">
            <a:extLst xmlns:a="http://schemas.openxmlformats.org/drawingml/2006/main">
              <a:ext uri="{FF2B5EF4-FFF2-40B4-BE49-F238E27FC236}">
                <a16:creationId xmlns:a16="http://schemas.microsoft.com/office/drawing/2014/main" id="{CC30766B-BC88-480E-93EF-DFAC0D76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6572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lab is optional. A completed app report counts toward participation; it is separate from the next pre-session reading and data preparation.</a:t>
            </a:r>
          </a:p>
        </p:txBody>
      </p:sp>
      <p:sp>
        <p:nvSpPr>
          <p:cNvPr id="5" name="lab-steps-bg">
            <a:extLst xmlns:a="http://schemas.openxmlformats.org/drawingml/2006/main">
              <a:ext uri="{FF2B5EF4-FFF2-40B4-BE49-F238E27FC236}">
                <a16:creationId xmlns:a16="http://schemas.microsoft.com/office/drawing/2014/main" id="{E39882C0-DC06-4E1D-9A37-90421D73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71700"/>
            <a:ext cx="36766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E2A34"/>
          </a:solidFill>
          <a:ln xmlns:a="http://schemas.openxmlformats.org/drawingml/2006/main" w="9525">
            <a:solidFill>
              <a:srgbClr val="3A4652"/>
            </a:solidFill>
            <a:prstDash val="solid"/>
          </a:ln>
        </p:spPr>
      </p:sp>
      <p:sp>
        <p:nvSpPr>
          <p:cNvPr id="6" name="lab-steps-title">
            <a:extLst xmlns:a="http://schemas.openxmlformats.org/drawingml/2006/main">
              <a:ext uri="{FF2B5EF4-FFF2-40B4-BE49-F238E27FC236}">
                <a16:creationId xmlns:a16="http://schemas.microsoft.com/office/drawing/2014/main" id="{A652921C-F9BF-480D-82FB-D0EB5ECA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If you choose the lab</a:t>
            </a:r>
          </a:p>
        </p:txBody>
      </p:sp>
      <p:sp>
        <p:nvSpPr>
          <p:cNvPr id="7" name="lab-step-num-0">
            <a:extLst xmlns:a="http://schemas.openxmlformats.org/drawingml/2006/main">
              <a:ext uri="{FF2B5EF4-FFF2-40B4-BE49-F238E27FC236}">
                <a16:creationId xmlns:a16="http://schemas.microsoft.com/office/drawing/2014/main" id="{B29E62F3-91C9-4455-BB11-604BCD7E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lab-step-0">
            <a:extLst xmlns:a="http://schemas.openxmlformats.org/drawingml/2006/main">
              <a:ext uri="{FF2B5EF4-FFF2-40B4-BE49-F238E27FC236}">
                <a16:creationId xmlns:a16="http://schemas.microsoft.com/office/drawing/2014/main" id="{EFAD78E7-D964-473F-A101-8B790D94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Open the session check in the web app</a:t>
            </a:r>
          </a:p>
        </p:txBody>
      </p:sp>
      <p:sp>
        <p:nvSpPr>
          <p:cNvPr id="9" name="lab-step-num-1">
            <a:extLst xmlns:a="http://schemas.openxmlformats.org/drawingml/2006/main">
              <a:ext uri="{FF2B5EF4-FFF2-40B4-BE49-F238E27FC236}">
                <a16:creationId xmlns:a16="http://schemas.microsoft.com/office/drawing/2014/main" id="{8E4EDCCC-DB2F-43AD-9CC6-04E73E49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76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lab-step-1">
            <a:extLst xmlns:a="http://schemas.openxmlformats.org/drawingml/2006/main">
              <a:ext uri="{FF2B5EF4-FFF2-40B4-BE49-F238E27FC236}">
                <a16:creationId xmlns:a16="http://schemas.microsoft.com/office/drawing/2014/main" id="{0B08A8C3-99D2-45FA-8C36-8AEBA91E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385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6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 once without your notes</a:t>
            </a:r>
          </a:p>
        </p:txBody>
      </p:sp>
      <p:sp>
        <p:nvSpPr>
          <p:cNvPr id="11" name="lab-step-num-2">
            <a:extLst xmlns:a="http://schemas.openxmlformats.org/drawingml/2006/main">
              <a:ext uri="{FF2B5EF4-FFF2-40B4-BE49-F238E27FC236}">
                <a16:creationId xmlns:a16="http://schemas.microsoft.com/office/drawing/2014/main" id="{C45826C7-5808-40A7-97AC-A7554A32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719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lab-step-2">
            <a:extLst xmlns:a="http://schemas.openxmlformats.org/drawingml/2006/main">
              <a:ext uri="{FF2B5EF4-FFF2-40B4-BE49-F238E27FC236}">
                <a16:creationId xmlns:a16="http://schemas.microsoft.com/office/drawing/2014/main" id="{2A53642A-D9B0-4AEE-B749-3DE55962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338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0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Retry and explain missed concepts</a:t>
            </a:r>
          </a:p>
        </p:txBody>
      </p:sp>
      <p:sp>
        <p:nvSpPr>
          <p:cNvPr id="13" name="lab-step-num-3">
            <a:extLst xmlns:a="http://schemas.openxmlformats.org/drawingml/2006/main">
              <a:ext uri="{FF2B5EF4-FFF2-40B4-BE49-F238E27FC236}">
                <a16:creationId xmlns:a16="http://schemas.microsoft.com/office/drawing/2014/main" id="{634021D7-B9FE-4082-8126-D081A711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67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4" name="lab-step-3">
            <a:extLst xmlns:a="http://schemas.openxmlformats.org/drawingml/2006/main">
              <a:ext uri="{FF2B5EF4-FFF2-40B4-BE49-F238E27FC236}">
                <a16:creationId xmlns:a16="http://schemas.microsoft.com/office/drawing/2014/main" id="{03756C41-7EB7-496D-BDD4-5D6CA4C1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Save and submit the report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B86EBBF7-AA32-4DB9-A435-CCD6951C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8A3C72B-0D16-4736-A0C9-890F4F0E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05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AC7E41F-1A34-45D0-839B-00759D1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Practice · 8</a:t>
            </a:r>
          </a:p>
        </p:txBody>
      </p:sp>
    </p:spTree>
    <p:extLst>
      <p:ext uri="{BB962C8B-B14F-4D97-AF65-F5344CB8AC3E}">
        <p14:creationId xmlns:p14="http://schemas.microsoft.com/office/powerpoint/2010/main" val="2041267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2026-08-23T21:43:11.9390000Z</dcterms:created>
  <dcterms:modified xsi:type="dcterms:W3CDTF">2026-08-23T21:43:11.9390000Z</dcterms:modified>
</coreProperties>
</file>