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40" Type="http://schemas.openxmlformats.org/officeDocument/2006/relationships/viewProps" Target="viewProps.xml" /><Relationship Id="rId3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2" Type="http://schemas.openxmlformats.org/officeDocument/2006/relationships/tableStyles" Target="tableStyles.xml" /><Relationship Id="rId4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185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95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8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7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300"/>
            </a:lvl1pPr>
            <a:lvl2pPr>
              <a:defRPr sz="1100"/>
            </a:lvl2pPr>
            <a:lvl3pPr>
              <a:defRPr sz="950"/>
            </a:lvl3pPr>
            <a:lvl4pPr>
              <a:defRPr sz="850"/>
            </a:lvl4pPr>
            <a:lvl5pPr>
              <a:defRPr sz="850"/>
            </a:lvl5pPr>
            <a:lvl6pPr>
              <a:defRPr sz="850"/>
            </a:lvl6pPr>
            <a:lvl7pPr>
              <a:defRPr sz="850"/>
            </a:lvl7pPr>
            <a:lvl8pPr>
              <a:defRPr sz="850"/>
            </a:lvl8pPr>
            <a:lvl9pPr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300"/>
            </a:lvl1pPr>
            <a:lvl2pPr>
              <a:defRPr sz="1100"/>
            </a:lvl2pPr>
            <a:lvl3pPr>
              <a:defRPr sz="950"/>
            </a:lvl3pPr>
            <a:lvl4pPr>
              <a:defRPr sz="850"/>
            </a:lvl4pPr>
            <a:lvl5pPr>
              <a:defRPr sz="850"/>
            </a:lvl5pPr>
            <a:lvl6pPr>
              <a:defRPr sz="850"/>
            </a:lvl6pPr>
            <a:lvl7pPr>
              <a:defRPr sz="850"/>
            </a:lvl7pPr>
            <a:lvl8pPr>
              <a:defRPr sz="850"/>
            </a:lvl8pPr>
            <a:lvl9pPr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100" b="1"/>
            </a:lvl1pPr>
            <a:lvl2pPr marL="342900" indent="0">
              <a:buNone/>
              <a:defRPr sz="950" b="1"/>
            </a:lvl2pPr>
            <a:lvl3pPr marL="685800" indent="0">
              <a:buNone/>
              <a:defRPr sz="850" b="1"/>
            </a:lvl3pPr>
            <a:lvl4pPr marL="1028700" indent="0">
              <a:buNone/>
              <a:defRPr sz="750" b="1"/>
            </a:lvl4pPr>
            <a:lvl5pPr marL="1371600" indent="0">
              <a:buNone/>
              <a:defRPr sz="750" b="1"/>
            </a:lvl5pPr>
            <a:lvl6pPr marL="1714500" indent="0">
              <a:buNone/>
              <a:defRPr sz="750" b="1"/>
            </a:lvl6pPr>
            <a:lvl7pPr marL="2057400" indent="0">
              <a:buNone/>
              <a:defRPr sz="750" b="1"/>
            </a:lvl7pPr>
            <a:lvl8pPr marL="2400300" indent="0">
              <a:buNone/>
              <a:defRPr sz="750" b="1"/>
            </a:lvl8pPr>
            <a:lvl9pPr marL="2743200" indent="0">
              <a:buNone/>
              <a:defRPr sz="7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100"/>
            </a:lvl1pPr>
            <a:lvl2pPr>
              <a:defRPr sz="950"/>
            </a:lvl2pPr>
            <a:lvl3pPr>
              <a:defRPr sz="850"/>
            </a:lvl3pPr>
            <a:lvl4pPr>
              <a:defRPr sz="750"/>
            </a:lvl4pPr>
            <a:lvl5pPr>
              <a:defRPr sz="750"/>
            </a:lvl5pPr>
            <a:lvl6pPr>
              <a:defRPr sz="750"/>
            </a:lvl6pPr>
            <a:lvl7pPr>
              <a:defRPr sz="750"/>
            </a:lvl7pPr>
            <a:lvl8pPr>
              <a:defRPr sz="750"/>
            </a:lvl8pPr>
            <a:lvl9pPr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100" b="1"/>
            </a:lvl1pPr>
            <a:lvl2pPr marL="342900" indent="0">
              <a:buNone/>
              <a:defRPr sz="950" b="1"/>
            </a:lvl2pPr>
            <a:lvl3pPr marL="685800" indent="0">
              <a:buNone/>
              <a:defRPr sz="850" b="1"/>
            </a:lvl3pPr>
            <a:lvl4pPr marL="1028700" indent="0">
              <a:buNone/>
              <a:defRPr sz="750" b="1"/>
            </a:lvl4pPr>
            <a:lvl5pPr marL="1371600" indent="0">
              <a:buNone/>
              <a:defRPr sz="750" b="1"/>
            </a:lvl5pPr>
            <a:lvl6pPr marL="1714500" indent="0">
              <a:buNone/>
              <a:defRPr sz="750" b="1"/>
            </a:lvl6pPr>
            <a:lvl7pPr marL="2057400" indent="0">
              <a:buNone/>
              <a:defRPr sz="750" b="1"/>
            </a:lvl7pPr>
            <a:lvl8pPr marL="2400300" indent="0">
              <a:buNone/>
              <a:defRPr sz="750" b="1"/>
            </a:lvl8pPr>
            <a:lvl9pPr marL="2743200" indent="0">
              <a:buNone/>
              <a:defRPr sz="7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100"/>
            </a:lvl1pPr>
            <a:lvl2pPr>
              <a:defRPr sz="950"/>
            </a:lvl2pPr>
            <a:lvl3pPr>
              <a:defRPr sz="850"/>
            </a:lvl3pPr>
            <a:lvl4pPr>
              <a:defRPr sz="750"/>
            </a:lvl4pPr>
            <a:lvl5pPr>
              <a:defRPr sz="750"/>
            </a:lvl5pPr>
            <a:lvl6pPr>
              <a:defRPr sz="750"/>
            </a:lvl6pPr>
            <a:lvl7pPr>
              <a:defRPr sz="750"/>
            </a:lvl7pPr>
            <a:lvl8pPr>
              <a:defRPr sz="750"/>
            </a:lvl8pPr>
            <a:lvl9pPr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9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1500"/>
            </a:lvl1pPr>
            <a:lvl2pPr>
              <a:defRPr sz="1300"/>
            </a:lvl2pPr>
            <a:lvl3pPr>
              <a:defRPr sz="1100"/>
            </a:lvl3pPr>
            <a:lvl4pPr>
              <a:defRPr sz="950"/>
            </a:lvl4pPr>
            <a:lvl5pPr>
              <a:defRPr sz="950"/>
            </a:lvl5pPr>
            <a:lvl6pPr>
              <a:defRPr sz="950"/>
            </a:lvl6pPr>
            <a:lvl7pPr>
              <a:defRPr sz="950"/>
            </a:lvl7pPr>
            <a:lvl8pPr>
              <a:defRPr sz="950"/>
            </a:lvl8pPr>
            <a:lvl9pPr>
              <a:defRPr sz="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650"/>
            </a:lvl1pPr>
            <a:lvl2pPr marL="342900" indent="0">
              <a:buNone/>
              <a:defRPr sz="550"/>
            </a:lvl2pPr>
            <a:lvl3pPr marL="685800" indent="0">
              <a:buNone/>
              <a:defRPr sz="550"/>
            </a:lvl3pPr>
            <a:lvl4pPr marL="1028700" indent="0">
              <a:buNone/>
              <a:defRPr sz="550"/>
            </a:lvl4pPr>
            <a:lvl5pPr marL="1371600" indent="0">
              <a:buNone/>
              <a:defRPr sz="550"/>
            </a:lvl5pPr>
            <a:lvl6pPr marL="1714500" indent="0">
              <a:buNone/>
              <a:defRPr sz="550"/>
            </a:lvl6pPr>
            <a:lvl7pPr marL="2057400" indent="0">
              <a:buNone/>
              <a:defRPr sz="550"/>
            </a:lvl7pPr>
            <a:lvl8pPr marL="2400300" indent="0">
              <a:buNone/>
              <a:defRPr sz="550"/>
            </a:lvl8pPr>
            <a:lvl9pPr marL="2743200" indent="0">
              <a:buNone/>
              <a:defRPr sz="5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9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00"/>
            </a:lvl2pPr>
            <a:lvl3pPr marL="685800" indent="0">
              <a:buNone/>
              <a:defRPr sz="1100"/>
            </a:lvl3pPr>
            <a:lvl4pPr marL="1028700" indent="0">
              <a:buNone/>
              <a:defRPr sz="950"/>
            </a:lvl4pPr>
            <a:lvl5pPr marL="1371600" indent="0">
              <a:buNone/>
              <a:defRPr sz="950"/>
            </a:lvl5pPr>
            <a:lvl6pPr marL="1714500" indent="0">
              <a:buNone/>
              <a:defRPr sz="950"/>
            </a:lvl6pPr>
            <a:lvl7pPr marL="2057400" indent="0">
              <a:buNone/>
              <a:defRPr sz="950"/>
            </a:lvl7pPr>
            <a:lvl8pPr marL="2400300" indent="0">
              <a:buNone/>
              <a:defRPr sz="950"/>
            </a:lvl8pPr>
            <a:lvl9pPr marL="2743200" indent="0">
              <a:buNone/>
              <a:defRPr sz="95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650"/>
            </a:lvl1pPr>
            <a:lvl2pPr marL="342900" indent="0">
              <a:buNone/>
              <a:defRPr sz="550"/>
            </a:lvl2pPr>
            <a:lvl3pPr marL="685800" indent="0">
              <a:buNone/>
              <a:defRPr sz="550"/>
            </a:lvl3pPr>
            <a:lvl4pPr marL="1028700" indent="0">
              <a:buNone/>
              <a:defRPr sz="550"/>
            </a:lvl4pPr>
            <a:lvl5pPr marL="1371600" indent="0">
              <a:buNone/>
              <a:defRPr sz="550"/>
            </a:lvl5pPr>
            <a:lvl6pPr marL="1714500" indent="0">
              <a:buNone/>
              <a:defRPr sz="550"/>
            </a:lvl6pPr>
            <a:lvl7pPr marL="2057400" indent="0">
              <a:buNone/>
              <a:defRPr sz="550"/>
            </a:lvl7pPr>
            <a:lvl8pPr marL="2400300" indent="0">
              <a:buNone/>
              <a:defRPr sz="550"/>
            </a:lvl8pPr>
            <a:lvl9pPr marL="2743200" indent="0">
              <a:buNone/>
              <a:defRPr sz="5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5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5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5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uthor Footer"/>
          <p:cNvSpPr txBox="1"/>
          <p:nvPr/>
        </p:nvSpPr>
        <p:spPr>
          <a:xfrm>
            <a:off x="457200" y="4735000"/>
            <a:ext cx="5000000" cy="260000"/>
          </a:xfrm>
          <a:prstGeom prst="rect">
            <a:avLst/>
          </a:prstGeom>
          <a:noFill/>
        </p:spPr>
        <p:txBody>
          <a:bodyPr anchor="ctr" bIns="0" lIns="0" rIns="0" tIns="0" wrap="square"/>
          <a:lstStyle/>
          <a:p>
            <a:pPr algn="l"/>
            <a:r>
              <a:rPr dirty="0" lang="en-US" sz="900">
                <a:solidFill>
                  <a:srgbClr val="6E7275"/>
                </a:solidFill>
                <a:latin typeface="+mn-lt"/>
              </a:rPr>
              <a:t>Thierry Warin, PhD</a:t>
            </a:r>
          </a:p>
        </p:txBody>
      </p:sp>
      <p:sp>
        <p:nvSpPr>
          <p:cNvPr id="8" name="Slide Number Footer"/>
          <p:cNvSpPr txBox="1"/>
          <p:nvPr/>
        </p:nvSpPr>
        <p:spPr>
          <a:xfrm>
            <a:off x="7200000" y="4735000"/>
            <a:ext cx="1486800" cy="260000"/>
          </a:xfrm>
          <a:prstGeom prst="rect">
            <a:avLst/>
          </a:prstGeom>
          <a:noFill/>
        </p:spPr>
        <p:txBody>
          <a:bodyPr anchor="ctr" bIns="0" lIns="0" rIns="0" tIns="0" wrap="square"/>
          <a:lstStyle/>
          <a:p>
            <a:pPr algn="r"/>
            <a:fld id="{9B1A2C3D-4E5F-6A7B-8C9D-0E1F2A3B4C5D}" type="slidenum">
              <a:rPr dirty="0" lang="en-US" sz="900">
                <a:solidFill>
                  <a:srgbClr val="6E7275"/>
                </a:solidFill>
                <a:latin typeface="+mn-lt"/>
              </a:rPr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20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13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1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9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9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Ridge, Lasso, and the Elastic Net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05 · Choosing among many correlated predictors, and admitting how unstable that choice is</a:t>
            </a:r>
            <a:br/>
            <a:br/>
            <a:r>
              <a:rPr/>
              <a:t>Thierry Warin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19 August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are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90 minutes ahead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0–10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Why OLS breaks when predictors multiply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10–30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Ridge: shrinking without choosing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30–55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Lasso: choosing, and what it costs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55–70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Elastic net: the correlated case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70–85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instability nobody reports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85–90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Handoff to the lab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class you 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Wang, Zhu &amp; Yu</a:t>
            </a:r>
            <a:r>
              <a:rPr/>
              <a:t>, </a:t>
            </a:r>
            <a:r>
              <a:rPr i="1"/>
              <a:t>Variable Selection in Macroeconomic Forecasting with Many Predictors</a:t>
            </a:r>
            <a:r>
              <a:rPr/>
              <a:t>, </a:t>
            </a:r>
            <a:r>
              <a:rPr b="1"/>
              <a:t>Econometrics and Statistics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DOI: 10.1016/j.ecosta.2023.01.003</a:t>
            </a:r>
          </a:p>
          <a:p>
            <a:pPr lvl="0" indent="0" marL="0">
              <a:buNone/>
            </a:pPr>
            <a:r>
              <a:rPr/>
              <a:t>The finding to hold on to:</a:t>
            </a:r>
          </a:p>
          <a:p>
            <a:pPr lvl="0" indent="0" marL="1270000">
              <a:buNone/>
            </a:pPr>
            <a:r>
              <a:rPr sz="2000"/>
              <a:t>Across their comparisons, </a:t>
            </a:r>
            <a:r>
              <a:rPr sz="2000" b="1"/>
              <a:t>classical forward selection was competitive with far more sophisticated methods.</a:t>
            </a:r>
            <a:r>
              <a:rPr sz="2000"/>
              <a:t> Sophistication is not the point. Knowing what your selection is sensitive to is the point.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question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Thirty European countries. Eleven years. And </a:t>
            </a:r>
            <a:r>
              <a:rPr b="1"/>
              <a:t>thirty-odd candidate predictors</a:t>
            </a:r>
            <a:r>
              <a:rPr/>
              <a:t> of whether a country’s AI adoption translates into anything measurable.</a:t>
            </a:r>
          </a:p>
          <a:p>
            <a:pPr lvl="0"/>
            <a:r>
              <a:rPr/>
              <a:t>Which predictors matter?</a:t>
            </a:r>
          </a:p>
          <a:p>
            <a:pPr lvl="0"/>
            <a:r>
              <a:rPr/>
              <a:t>How confident are you in that list?</a:t>
            </a:r>
          </a:p>
          <a:p>
            <a:pPr lvl="0"/>
            <a:r>
              <a:rPr/>
              <a:t>Would a slightly different sample give you a different list?</a:t>
            </a:r>
          </a:p>
          <a:p>
            <a:pPr lvl="0" indent="0" marL="0">
              <a:buNone/>
            </a:pPr>
            <a:r>
              <a:rPr/>
              <a:t>That last question is the one this session is really about, and it is the one almost never asked in published work.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Why OLS breaks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β</m:t>
                        </m:r>
                      </m:e>
                    </m:acc>
                  </m:oMath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Var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m:t>β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OLS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sSup>
                        <m:e>
                          <m:r>
                            <m:t>σ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′</m:t>
                              </m:r>
                              <m:r>
                                <m:t>X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p>
                      </m:sSup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As predictors become numerous or correlated, </a:t>
                </a:r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′</m:t>
                    </m:r>
                    <m:r>
                      <m:t>X</m:t>
                    </m:r>
                  </m:oMath>
                </a14:m>
                <a:r>
                  <a:rPr/>
                  <a:t> approaches singularity, its inverse explodes, and so does the variance.</a:t>
                </a:r>
              </a:p>
              <a:p>
                <a:pPr lvl="0"/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n</m:t>
                    </m:r>
                  </m:oMath>
                </a14:m>
                <a:r>
                  <a:rPr/>
                  <a:t>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</m:dPr>
                          <m:e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′</m:t>
                            </m:r>
                            <m:r>
                              <m:t>X</m:t>
                            </m:r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  <a:r>
                  <a:rPr/>
                  <a:t> does not exist at all</a:t>
                </a:r>
              </a:p>
              <a:p>
                <a:pPr lvl="0"/>
                <a14:m>
                  <m:oMath xmlns:m="http://schemas.openxmlformats.org/officeDocument/2006/math">
                    <m:r>
                      <m:t>p</m:t>
                    </m:r>
                  </m:oMath>
                </a14:m>
                <a:r>
                  <a:rPr/>
                  <a:t> close to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: it exists and is useless</a:t>
                </a:r>
              </a:p>
              <a:p>
                <a:pPr lvl="0"/>
                <a:r>
                  <a:rPr/>
                  <a:t>Correlated columns: individually unidentified, jointly fine</a:t>
                </a:r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that looks like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You get coefficients that are:</a:t>
                </a:r>
              </a:p>
              <a:p>
                <a:pPr lvl="0"/>
                <a:r>
                  <a:rPr b="1"/>
                  <a:t>large</a:t>
                </a:r>
                <a:r>
                  <a:rPr/>
                  <a:t>, with alternating signs</a:t>
                </a:r>
              </a:p>
              <a:p>
                <a:pPr lvl="0"/>
                <a:r>
                  <a:rPr b="1"/>
                  <a:t>unstable</a:t>
                </a:r>
                <a:r>
                  <a:rPr/>
                  <a:t> — drop three rows and they move substantially</a:t>
                </a:r>
              </a:p>
              <a:p>
                <a:pPr lvl="0"/>
                <a:r>
                  <a:rPr b="1"/>
                  <a:t>individually insignificant</a:t>
                </a:r>
                <a:r>
                  <a:rPr/>
                  <a:t> while the model as a whole fits well</a:t>
                </a:r>
              </a:p>
              <a:p>
                <a:pPr lvl="0" indent="0" marL="0">
                  <a:buNone/>
                </a:pPr>
                <a:r>
                  <a:rPr/>
                  <a:t>That last combination is the classic signature. An </a:t>
                </a:r>
                <a14:m>
                  <m:oMath xmlns:m="http://schemas.openxmlformats.org/officeDocument/2006/math">
                    <m:r>
                      <m:t>F</m:t>
                    </m:r>
                  </m:oMath>
                </a14:m>
                <a:r>
                  <a:rPr/>
                  <a:t>-test that rejects while no single 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/>
                  <a:t>-test does means your predictors are fighting over the same variance.</a:t>
                </a:r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bias–variance bargain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OLS is the </a:t>
                </a:r>
                <a:r>
                  <a:rPr b="1"/>
                  <a:t>best linear unbiased</a:t>
                </a:r>
                <a:r>
                  <a:rPr/>
                  <a:t> estimator. Note the middle word.</a:t>
                </a:r>
              </a:p>
              <a:p>
                <a:pPr lvl="0" indent="0" marL="0">
                  <a:buNone/>
                </a:pPr>
                <a:r>
                  <a:rPr/>
                  <a:t>If we accept a little bias, we can buy a lot of variance reduction: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  <m:scr m:val="double-struck"/>
                        </m:rPr>
                        <m:t>E</m:t>
                      </m:r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acc>
                                    <m:accPr>
                                      <m:chr m:val="̂"/>
                                    </m:accPr>
                                    <m:e>
                                      <m:r>
                                        <m:t>β</m:t>
                                      </m:r>
                                    </m:e>
                                  </m:acc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r>
                                    <m:t>β</m:t>
                                  </m:r>
                                </m:e>
                              </m:d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m:t>Bias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Var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Every method today deliberately introduces bias. That is not a flaw being tolerated — it is the mechanism.</a:t>
                </a:r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Ridge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ridge 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β</m:t>
                              </m:r>
                            </m:e>
                          </m:acc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ridge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arg</m:t>
                      </m:r>
                      <m:limLow>
                        <m:e>
                          <m:r>
                            <m:rPr>
                              <m:sty m:val="p"/>
                            </m:rPr>
                            <m:t>min</m:t>
                          </m:r>
                        </m:e>
                        <m:lim>
                          <m:r>
                            <m:t>β</m:t>
                          </m:r>
                        </m:lim>
                      </m:limLow>
                      <m:r>
                        <m:t> </m:t>
                      </m:r>
                      <m:r>
                        <m:rPr>
                          <m:sty m:val="p"/>
                        </m:rPr>
                        <m:t>∥</m:t>
                      </m:r>
                      <m:r>
                        <m:t>y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X</m:t>
                      </m:r>
                      <m:r>
                        <m:t>β</m:t>
                      </m:r>
                      <m:sSubSup>
                        <m:e>
                          <m:r>
                            <m:rPr>
                              <m:sty m:val="p"/>
                            </m:rPr>
                            <m:t>∥</m:t>
                          </m:r>
                        </m:e>
                        <m:sub>
                          <m:r>
                            <m:t>2</m:t>
                          </m:r>
                        </m:sub>
                        <m:sup>
                          <m: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m:t>+</m:t>
                      </m:r>
                      <m:r>
                        <m:t>λ</m:t>
                      </m:r>
                      <m:r>
                        <m:rPr>
                          <m:sty m:val="p"/>
                        </m:rPr>
                        <m:t>∥</m:t>
                      </m:r>
                      <m:r>
                        <m:t>β</m:t>
                      </m:r>
                      <m:sSubSup>
                        <m:e>
                          <m:r>
                            <m:rPr>
                              <m:sty m:val="p"/>
                            </m:rPr>
                            <m:t>∥</m:t>
                          </m:r>
                        </m:e>
                        <m:sub>
                          <m:r>
                            <m:t>2</m:t>
                          </m:r>
                        </m:sub>
                        <m:sup>
                          <m:r>
                            <m:t>2</m:t>
                          </m:r>
                        </m:sup>
                      </m:sSubSup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which has a closed form: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β</m:t>
                              </m:r>
                            </m:e>
                          </m:acc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ridge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′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r>
                                <m:t>λ</m:t>
                              </m:r>
                              <m:r>
                                <m:t>I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p>
                      </m:sSup>
                      <m:r>
                        <m:t>X</m:t>
                      </m:r>
                      <m:r>
                        <m:rPr>
                          <m:sty m:val="p"/>
                        </m:rPr>
                        <m:t>′</m:t>
                      </m:r>
                      <m:r>
                        <m:t>y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Adding </a:t>
                </a:r>
                <a14:m>
                  <m:oMath xmlns:m="http://schemas.openxmlformats.org/officeDocument/2006/math">
                    <m:r>
                      <m:t>λ</m:t>
                    </m:r>
                  </m:oMath>
                </a14:m>
                <a:r>
                  <a:rPr/>
                  <a:t> down the diagonal makes the matrix invertible </a:t>
                </a:r>
                <a:r>
                  <a:rPr b="1"/>
                  <a:t>by construction</a:t>
                </a:r>
                <a:r>
                  <a:rPr/>
                  <a:t>. Ridge works when 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n</m:t>
                    </m:r>
                  </m:oMath>
                </a14:m>
                <a:r>
                  <a:rPr/>
                  <a:t>; OLS does not exist there.</a:t>
                </a:r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ridge does to correlated predictors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Ridge </a:t>
            </a:r>
            <a:r>
              <a:rPr b="1"/>
              <a:t>shares</a:t>
            </a:r>
            <a:r>
              <a:rPr/>
              <a:t> a coefficient among correlated predictors rather than picking one.</a:t>
            </a:r>
          </a:p>
          <a:p>
            <a:pPr lvl="0"/>
            <a:r>
              <a:rPr/>
              <a:t>Two identical columns → each gets half the coefficient</a:t>
            </a:r>
          </a:p>
          <a:p>
            <a:pPr lvl="0"/>
            <a:r>
              <a:rPr/>
              <a:t>Nothing is ever set exactly to zero</a:t>
            </a:r>
          </a:p>
          <a:p>
            <a:pPr lvl="0"/>
            <a:r>
              <a:rPr/>
              <a:t>Every predictor stays in the model</a:t>
            </a:r>
          </a:p>
          <a:p>
            <a:pPr lvl="0" indent="0" marL="0">
              <a:buNone/>
            </a:pPr>
            <a:r>
              <a:rPr/>
              <a:t>This is the right behaviour when you believe many small effects exist, and the wrong behaviour when you want a short list.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Ridge shrinks unevenly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In the basis of the singular vectors of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, ridge multiplies each direction by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sSubSup>
                            <m:e>
                              <m:r>
                                <m:t>d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  <m:sup>
                              <m: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e>
                              <m:r>
                                <m:t>d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  <m:sup>
                              <m:r>
                                <m:t>2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λ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 </a:t>
                </a:r>
                <a14:m>
                  <m:oMath xmlns:m="http://schemas.openxmlformats.org/officeDocument/2006/math">
                    <m:sSub>
                      <m:e>
                        <m:r>
                          <m:t>d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is the </a:t>
                </a:r>
                <a14:m>
                  <m:oMath xmlns:m="http://schemas.openxmlformats.org/officeDocument/2006/math">
                    <m:r>
                      <m:t>j</m:t>
                    </m:r>
                  </m:oMath>
                </a14:m>
                <a:r>
                  <a:rPr/>
                  <a:t>-th singular value.</a:t>
                </a:r>
              </a:p>
              <a:p>
                <a:pPr lvl="0"/>
                <a:r>
                  <a:rPr/>
                  <a:t>Large </a:t>
                </a:r>
                <a14:m>
                  <m:oMath xmlns:m="http://schemas.openxmlformats.org/officeDocument/2006/math">
                    <m:sSub>
                      <m:e>
                        <m:r>
                          <m:t>d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— high-variance directions — barely shrink</a:t>
                </a:r>
              </a:p>
              <a:p>
                <a:pPr lvl="0"/>
                <a:r>
                  <a:rPr/>
                  <a:t>Small </a:t>
                </a:r>
                <a14:m>
                  <m:oMath xmlns:m="http://schemas.openxmlformats.org/officeDocument/2006/math">
                    <m:sSub>
                      <m:e>
                        <m:r>
                          <m:t>d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— the poorly determined directions — shrink hard</a:t>
                </a:r>
              </a:p>
              <a:p>
                <a:pPr lvl="0" indent="0" marL="0">
                  <a:buNone/>
                </a:pPr>
                <a:r>
                  <a:rPr/>
                  <a:t>Ridge shrinks </a:t>
                </a:r>
                <a:r>
                  <a:rPr i="1"/>
                  <a:t>exactly where the data are least informative</a:t>
                </a:r>
                <a:r>
                  <a:rPr/>
                  <a:t>. That is why it works, and it is the same decomposition you will meet again in Session 08.</a:t>
                </a:r>
              </a:p>
            </p:txBody>
          </p:sp>
        </mc:Choice>
      </mc:AlternateContent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Scaling is not optional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penalty </a:t>
                </a:r>
                <a14:m>
                  <m:oMath xmlns:m="http://schemas.openxmlformats.org/officeDocument/2006/math">
                    <m:r>
                      <m:t>λ</m:t>
                    </m:r>
                    <m:r>
                      <m:rPr>
                        <m:sty m:val="p"/>
                      </m:rPr>
                      <m:t>∥</m:t>
                    </m:r>
                    <m:r>
                      <m:t>β</m:t>
                    </m:r>
                    <m:sSubSup>
                      <m:e>
                        <m:r>
                          <m:rPr>
                            <m:sty m:val="p"/>
                          </m:rPr>
                          <m:t>∥</m:t>
                        </m:r>
                      </m:e>
                      <m:sub>
                        <m:r>
                          <m:t>2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</m:oMath>
                </a14:m>
                <a:r>
                  <a:rPr/>
                  <a:t> treats every coefficient identically.</a:t>
                </a:r>
              </a:p>
              <a:p>
                <a:pPr lvl="0" indent="0" marL="0">
                  <a:buNone/>
                </a:pPr>
                <a:r>
                  <a:rPr/>
                  <a:t>A predictor measured in euros and one measured in shares get the same penalty for wildly different economic magnitudes.</a:t>
                </a:r>
              </a:p>
              <a:p>
                <a:pPr lvl="0" indent="0" marL="0">
                  <a:buNone/>
                </a:pPr>
                <a:r>
                  <a:rPr b="1"/>
                  <a:t>Always standardise before penalising</a:t>
                </a:r>
                <a:r>
                  <a:rPr/>
                  <a:t> — and do it </a:t>
                </a:r>
                <a:r>
                  <a:rPr i="1"/>
                  <a:t>inside</a:t>
                </a:r>
                <a:r>
                  <a:rPr/>
                  <a:t> the cross-validation pipeline, or you have leaked the test fold’s mean and variance into training. Session 04’s rule applies with full force here.</a:t>
                </a:r>
              </a:p>
            </p:txBody>
          </p:sp>
        </mc:Choice>
      </mc:AlternateContent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Lasso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lasso 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β</m:t>
                              </m:r>
                            </m:e>
                          </m:acc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lasso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arg</m:t>
                      </m:r>
                      <m:limLow>
                        <m:e>
                          <m:r>
                            <m:rPr>
                              <m:sty m:val="p"/>
                            </m:rPr>
                            <m:t>min</m:t>
                          </m:r>
                        </m:e>
                        <m:lim>
                          <m:r>
                            <m:t>β</m:t>
                          </m:r>
                        </m:lim>
                      </m:limLow>
                      <m:r>
                        <m:t> </m:t>
                      </m:r>
                      <m:r>
                        <m:rPr>
                          <m:sty m:val="p"/>
                        </m:rPr>
                        <m:t>∥</m:t>
                      </m:r>
                      <m:r>
                        <m:t>y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X</m:t>
                      </m:r>
                      <m:r>
                        <m:t>β</m:t>
                      </m:r>
                      <m:sSubSup>
                        <m:e>
                          <m:r>
                            <m:rPr>
                              <m:sty m:val="p"/>
                            </m:rPr>
                            <m:t>∥</m:t>
                          </m:r>
                        </m:e>
                        <m:sub>
                          <m:r>
                            <m:t>2</m:t>
                          </m:r>
                        </m:sub>
                        <m:sup>
                          <m: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m:t>+</m:t>
                      </m:r>
                      <m:r>
                        <m:t>λ</m:t>
                      </m:r>
                      <m:r>
                        <m:rPr>
                          <m:sty m:val="p"/>
                        </m:rPr>
                        <m:t>∥</m:t>
                      </m:r>
                      <m:r>
                        <m:t>β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m:t>∥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One character changed —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∥</m:t>
                    </m:r>
                    <m:r>
                      <m:rPr>
                        <m:sty m:val="p"/>
                      </m:rPr>
                      <m:t>⋅</m:t>
                    </m:r>
                    <m:sSubSup>
                      <m:e>
                        <m:r>
                          <m:rPr>
                            <m:sty m:val="p"/>
                          </m:rPr>
                          <m:t>∥</m:t>
                        </m:r>
                      </m:e>
                      <m:sub>
                        <m:r>
                          <m:t>2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</m:oMath>
                </a14:m>
                <a:r>
                  <a:rPr/>
                  <a:t> became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∥</m:t>
                    </m:r>
                    <m:r>
                      <m:rPr>
                        <m:sty m:val="p"/>
                      </m:rPr>
                      <m:t>⋅</m:t>
                    </m:r>
                    <m:sSub>
                      <m:e>
                        <m:r>
                          <m:rPr>
                            <m:sty m:val="p"/>
                          </m:rPr>
                          <m:t>∥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 — and the behaviour changes completely.</a:t>
                </a:r>
              </a:p>
              <a:p>
                <a:pPr lvl="0" indent="0" marL="0">
                  <a:buNone/>
                </a:pPr>
                <a:r>
                  <a:rPr/>
                  <a:t>There is </a:t>
                </a:r>
                <a:r>
                  <a:rPr b="1"/>
                  <a:t>no closed form</a:t>
                </a:r>
                <a:r>
                  <a:rPr/>
                  <a:t>. Coefficients are found by coordinate descent, and some arrive at exactly zero.</a:t>
                </a:r>
              </a:p>
            </p:txBody>
          </p:sp>
        </mc:Choice>
      </mc:AlternateContent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Why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ℓ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 sets things to zero</a:t>
                </a: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Picture the constraint region: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ℓ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 is a </a:t>
                </a:r>
                <a:r>
                  <a:rPr b="1"/>
                  <a:t>sphere</a:t>
                </a:r>
                <a:r>
                  <a:rPr/>
                  <a:t> — smooth, no corners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ℓ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 is a </a:t>
                </a:r>
                <a:r>
                  <a:rPr b="1"/>
                  <a:t>diamond</a:t>
                </a:r>
                <a:r>
                  <a:rPr/>
                  <a:t> — corners on the axes</a:t>
                </a:r>
              </a:p>
              <a:p>
                <a:pPr lvl="0" indent="0" marL="0">
                  <a:buNone/>
                </a:pPr>
                <a:r>
                  <a:rPr/>
                  <a:t>The solution is where the residual contours first touch the region. A diamond is most likely to be touched </a:t>
                </a:r>
                <a:r>
                  <a:rPr b="1"/>
                  <a:t>at a corner</a:t>
                </a:r>
                <a:r>
                  <a:rPr/>
                  <a:t>, and a corner is a point where some coefficients are exactly zero.</a:t>
                </a:r>
              </a:p>
              <a:p>
                <a:pPr lvl="0" indent="0" marL="0">
                  <a:buNone/>
                </a:pPr>
                <a:r>
                  <a:rPr/>
                  <a:t>Sparsity is a geometric accident of the shape of the constraint, not a statistical principle.</a:t>
                </a:r>
              </a:p>
            </p:txBody>
          </p:sp>
        </mc:Choice>
      </mc:AlternateContent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Soft thresholding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With orthonormal predictors the lasso has a clean form: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β</m:t>
                              </m:r>
                            </m:e>
                          </m:acc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sign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Sup>
                            <m:e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m:t>β</m:t>
                                  </m:r>
                                </m:e>
                              </m:acc>
                            </m:e>
                            <m:sub>
                              <m:r>
                                <m:t>j</m:t>
                              </m:r>
                            </m:sub>
                            <m:sup>
                              <m:r>
                                <m:rPr>
                                  <m:nor/>
                                  <m:sty m:val="p"/>
                                </m:rPr>
                                <m:t>OLS</m:t>
                              </m:r>
                            </m:sup>
                          </m:sSubSup>
                        </m:e>
                      </m:d>
                      <m:sSub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d>
                                <m:dPr>
                                  <m:begChr m:val="|"/>
                                  <m:sepChr m:val=""/>
                                  <m:endChr m:val="|"/>
                                  <m:grow/>
                                </m:dPr>
                                <m:e>
                                  <m:sSubSup>
                                    <m:e>
                                      <m:acc>
                                        <m:accPr>
                                          <m:chr m:val="̂"/>
                                        </m:accPr>
                                        <m:e>
                                          <m:r>
                                            <m:t>β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m:t>j</m:t>
                                      </m:r>
                                    </m:sub>
                                    <m:sup>
                                      <m:r>
                                        <m:rPr>
                                          <m:nor/>
                                          <m:sty m:val="p"/>
                                        </m:rPr>
                                        <m:t>OLS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λ</m:t>
                              </m:r>
                            </m:e>
                          </m:d>
                        </m:e>
                        <m:sub>
                          <m:r>
                            <m:rPr>
                              <m:sty m:val="p"/>
                            </m:rPr>
                            <m:t>+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:r>
                  <a:rPr/>
                  <a:t>Below </a:t>
                </a:r>
                <a14:m>
                  <m:oMath xmlns:m="http://schemas.openxmlformats.org/officeDocument/2006/math">
                    <m:r>
                      <m:t>λ</m:t>
                    </m:r>
                  </m:oMath>
                </a14:m>
                <a:r>
                  <a:rPr/>
                  <a:t> → set to </a:t>
                </a:r>
                <a:r>
                  <a:rPr b="1"/>
                  <a:t>exactly zero</a:t>
                </a:r>
              </a:p>
              <a:p>
                <a:pPr lvl="0"/>
                <a:r>
                  <a:rPr/>
                  <a:t>Above </a:t>
                </a:r>
                <a14:m>
                  <m:oMath xmlns:m="http://schemas.openxmlformats.org/officeDocument/2006/math">
                    <m:r>
                      <m:t>λ</m:t>
                    </m:r>
                  </m:oMath>
                </a14:m>
                <a:r>
                  <a:rPr/>
                  <a:t> → shrunk </a:t>
                </a:r>
                <a:r>
                  <a:rPr b="1"/>
                  <a:t>toward</a:t>
                </a:r>
                <a:r>
                  <a:rPr/>
                  <a:t> zero by </a:t>
                </a:r>
                <a14:m>
                  <m:oMath xmlns:m="http://schemas.openxmlformats.org/officeDocument/2006/math">
                    <m:r>
                      <m:t>λ</m:t>
                    </m:r>
                  </m:oMath>
                </a14:m>
              </a:p>
              <a:p>
                <a:pPr lvl="0" indent="0" marL="0">
                  <a:buNone/>
                </a:pPr>
                <a:r>
                  <a:rPr/>
                  <a:t>Note the second line. Surviving coefficients are still biased toward zero. The lasso is a selector </a:t>
                </a:r>
                <a:r>
                  <a:rPr i="1"/>
                  <a:t>and</a:t>
                </a:r>
                <a:r>
                  <a:rPr/>
                  <a:t> a shrinker, and people routinely forget the second part when interpreting magnitudes.</a:t>
                </a:r>
              </a:p>
            </p:txBody>
          </p:sp>
        </mc:Choice>
      </mc:AlternateContent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the lasso does badly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-342900" marL="342900">
                  <a:buAutoNum type="arabicPeriod"/>
                </a:pPr>
                <a:r>
                  <a:rPr b="1"/>
                  <a:t>Correlated groups.</a:t>
                </a:r>
                <a:r>
                  <a:rPr/>
                  <a:t> Among ten correlated predictors it picks roughly one, near-arbitrarily, and zeroes the rest.</a:t>
                </a:r>
              </a:p>
              <a:p>
                <a:pPr lvl="0" indent="-342900" marL="342900">
                  <a:buAutoNum type="arabicPeriod"/>
                </a:pP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n</m:t>
                    </m:r>
                  </m:oMath>
                </a14:m>
                <a:r>
                  <a:rPr b="1"/>
                  <a:t>.</a:t>
                </a:r>
                <a:r>
                  <a:rPr/>
                  <a:t> It selects at most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predictors, whatever the truth.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Inference.</a:t>
                </a:r>
                <a:r>
                  <a:rPr/>
                  <a:t> Standard errors after selection are not valid — the data chose the model, and the usual formulas do not know that.</a:t>
                </a:r>
              </a:p>
              <a:p>
                <a:pPr lvl="0" indent="0" marL="0">
                  <a:buNone/>
                </a:pPr>
                <a:r>
                  <a:rPr/>
                  <a:t>“The lasso selected these six variables, and here are their p-values” is not a sentence you may write. Session 10 is where valid post-selection inference appears.</a:t>
                </a:r>
              </a:p>
            </p:txBody>
          </p:sp>
        </mc:Choice>
      </mc:AlternateContent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Elastic net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Both penalties at once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β</m:t>
                              </m:r>
                            </m:e>
                          </m:acc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EN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arg</m:t>
                      </m:r>
                      <m:limLow>
                        <m:e>
                          <m:r>
                            <m:rPr>
                              <m:sty m:val="p"/>
                            </m:rPr>
                            <m:t>min</m:t>
                          </m:r>
                        </m:e>
                        <m:lim>
                          <m:r>
                            <m:t>β</m:t>
                          </m:r>
                        </m:lim>
                      </m:limLow>
                      <m:r>
                        <m:rPr>
                          <m:sty m:val="p"/>
                        </m:rPr>
                        <m:t>∥</m:t>
                      </m:r>
                      <m:r>
                        <m:t>y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X</m:t>
                      </m:r>
                      <m:r>
                        <m:t>β</m:t>
                      </m:r>
                      <m:sSubSup>
                        <m:e>
                          <m:r>
                            <m:rPr>
                              <m:sty m:val="p"/>
                            </m:rPr>
                            <m:t>∥</m:t>
                          </m:r>
                        </m:e>
                        <m:sub>
                          <m:r>
                            <m:t>2</m:t>
                          </m:r>
                        </m:sub>
                        <m:sup>
                          <m: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m:t>+</m:t>
                      </m:r>
                      <m:r>
                        <m:t>λ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α</m:t>
                          </m:r>
                          <m:r>
                            <m:rPr>
                              <m:sty m:val="p"/>
                            </m:rPr>
                            <m:t>∥</m:t>
                          </m:r>
                          <m:r>
                            <m:t>β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m:t>∥</m:t>
                              </m:r>
                            </m:e>
                            <m:sub>
                              <m: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+</m:t>
                          </m:r>
                          <m:f>
                            <m:fPr>
                              <m:type m:val="lin"/>
                            </m:fPr>
                            <m:num>
                              <m: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α</m:t>
                              </m:r>
                            </m:num>
                            <m:den>
                              <m:r>
                                <m:t>2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m:t>∥</m:t>
                          </m:r>
                          <m:r>
                            <m:t>β</m:t>
                          </m:r>
                          <m:sSubSup>
                            <m:e>
                              <m:r>
                                <m:rPr>
                                  <m:sty m:val="p"/>
                                </m:rPr>
                                <m:t>∥</m:t>
                              </m:r>
                            </m:e>
                            <m:sub>
                              <m:r>
                                <m:t>2</m:t>
                              </m:r>
                            </m:sub>
                            <m:sup>
                              <m: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</a:p>
              <a:p>
                <a:pPr lvl="0"/>
                <a14:m>
                  <m:oMath xmlns:m="http://schemas.openxmlformats.org/officeDocument/2006/math">
                    <m:r>
                      <m:t>α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</m:oMath>
                </a14:m>
                <a:r>
                  <a:rPr/>
                  <a:t> → lasso</a:t>
                </a:r>
              </a:p>
              <a:p>
                <a:pPr lvl="0"/>
                <a14:m>
                  <m:oMath xmlns:m="http://schemas.openxmlformats.org/officeDocument/2006/math">
                    <m:r>
                      <m:t>α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  <a:r>
                  <a:rPr/>
                  <a:t> → ridge</a:t>
                </a:r>
              </a:p>
              <a:p>
                <a:pPr lvl="0"/>
                <a:r>
                  <a:rPr/>
                  <a:t>in between → both</a:t>
                </a:r>
              </a:p>
              <a:p>
                <a:pPr lvl="0" indent="0" marL="0">
                  <a:buNone/>
                </a:pPr>
                <a:r>
                  <a:rPr/>
                  <a:t>The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ℓ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 part restores the </a:t>
                </a:r>
                <a:r>
                  <a:rPr b="1"/>
                  <a:t>grouping effect</a:t>
                </a:r>
                <a:r>
                  <a:rPr/>
                  <a:t>: correlated predictors are selected or dropped </a:t>
                </a:r>
                <a:r>
                  <a:rPr i="1"/>
                  <a:t>together</a:t>
                </a:r>
                <a:r>
                  <a:rPr/>
                  <a:t> rather than arbitrarily one-of-ten.</a:t>
                </a:r>
              </a:p>
            </p:txBody>
          </p:sp>
        </mc:Choice>
      </mc:AlternateContent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parameters to choose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You are now cross-validating over a </a:t>
                </a:r>
                <a:r>
                  <a:rPr b="1"/>
                  <a:t>grid</a:t>
                </a:r>
                <a:r>
                  <a:rPr/>
                  <a:t>: </a:t>
                </a:r>
                <a14:m>
                  <m:oMath xmlns:m="http://schemas.openxmlformats.org/officeDocument/2006/math">
                    <m:r>
                      <m:t>λ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t>α</m:t>
                    </m:r>
                  </m:oMath>
                </a14:m>
                <a:r>
                  <a:rPr/>
                  <a:t> together.</a:t>
                </a:r>
              </a:p>
              <a:p>
                <a:pPr lvl="0"/>
                <a:r>
                  <a:rPr/>
                  <a:t>Do it in one pipeline, one CV scheme</a:t>
                </a:r>
              </a:p>
              <a:p>
                <a:pPr lvl="0"/>
                <a:r>
                  <a:rPr/>
                  <a:t>Report the chosen pair, not just </a:t>
                </a:r>
                <a14:m>
                  <m:oMath xmlns:m="http://schemas.openxmlformats.org/officeDocument/2006/math">
                    <m:r>
                      <m:t>λ</m:t>
                    </m:r>
                  </m:oMath>
                </a14:m>
              </a:p>
              <a:p>
                <a:pPr lvl="0"/>
                <a:r>
                  <a:rPr/>
                  <a:t>Expect a flat region rather than a sharp optimum</a:t>
                </a:r>
              </a:p>
              <a:p>
                <a:pPr lvl="0" indent="0" marL="0">
                  <a:buNone/>
                </a:pPr>
                <a:r>
                  <a:rPr/>
                  <a:t>A flat CV surface is information: it means the data do not strongly prefer one degree of sparsity. Say so.</a:t>
                </a:r>
              </a:p>
            </p:txBody>
          </p:sp>
        </mc:Choice>
      </mc:AlternateContent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data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you are working with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pandas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pd</a:t>
            </a:r>
            <a:br/>
            <a:br/>
            <a:r>
              <a:rPr>
                <a:latin typeface="Courier"/>
              </a:rPr>
              <a:t>c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pd.read_parquet(</a:t>
            </a:r>
            <a:r>
              <a:rPr>
                <a:solidFill>
                  <a:srgbClr val="4070A0"/>
                </a:solidFill>
                <a:latin typeface="Courier"/>
              </a:rPr>
              <a:t>"data/spine/angle_c_country.parquet"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(c.shape)        </a:t>
            </a:r>
            <a:r>
              <a:rPr i="1">
                <a:solidFill>
                  <a:srgbClr val="60A0B0"/>
                </a:solidFill>
                <a:latin typeface="Courier"/>
              </a:rPr>
              <a:t># (330, 33) — 30 countries x 11 years, 2014-2024</a:t>
            </a:r>
          </a:p>
          <a:p>
            <a:pPr lvl="0"/>
            <a:r>
              <a:rPr>
                <a:latin typeface="Courier"/>
              </a:rPr>
              <a:t>ai_use_any</a:t>
            </a:r>
            <a:r>
              <a:rPr/>
              <a:t>, </a:t>
            </a:r>
            <a:r>
              <a:rPr>
                <a:latin typeface="Courier"/>
              </a:rPr>
              <a:t>ai_use_ml</a:t>
            </a:r>
            <a:r>
              <a:rPr/>
              <a:t>, </a:t>
            </a:r>
            <a:r>
              <a:rPr>
                <a:latin typeface="Courier"/>
              </a:rPr>
              <a:t>cloud_use</a:t>
            </a:r>
            <a:r>
              <a:rPr/>
              <a:t>, </a:t>
            </a:r>
            <a:r>
              <a:rPr>
                <a:latin typeface="Courier"/>
              </a:rPr>
              <a:t>ict_specialists</a:t>
            </a:r>
            <a:r>
              <a:rPr/>
              <a:t>, </a:t>
            </a:r>
            <a:r>
              <a:rPr>
                <a:latin typeface="Courier"/>
              </a:rPr>
              <a:t>digital_intensity</a:t>
            </a:r>
          </a:p>
          <a:p>
            <a:pPr lvl="0"/>
            <a:r>
              <a:rPr>
                <a:latin typeface="Courier"/>
              </a:rPr>
              <a:t>barrier_cost</a:t>
            </a:r>
            <a:r>
              <a:rPr/>
              <a:t>, </a:t>
            </a:r>
            <a:r>
              <a:rPr>
                <a:latin typeface="Courier"/>
              </a:rPr>
              <a:t>barrier_skills</a:t>
            </a:r>
            <a:r>
              <a:rPr/>
              <a:t>, </a:t>
            </a:r>
            <a:r>
              <a:rPr>
                <a:latin typeface="Courier"/>
              </a:rPr>
              <a:t>barrier_data</a:t>
            </a:r>
            <a:r>
              <a:rPr/>
              <a:t>, </a:t>
            </a:r>
            <a:r>
              <a:rPr>
                <a:latin typeface="Courier"/>
              </a:rPr>
              <a:t>barrier_legal</a:t>
            </a:r>
          </a:p>
          <a:p>
            <a:pPr lvl="0"/>
            <a:r>
              <a:rPr>
                <a:latin typeface="Courier"/>
              </a:rPr>
              <a:t>rd_pct_gdp</a:t>
            </a:r>
            <a:r>
              <a:rPr/>
              <a:t>, </a:t>
            </a:r>
            <a:r>
              <a:rPr>
                <a:latin typeface="Courier"/>
              </a:rPr>
              <a:t>has_ai_strategy</a:t>
            </a:r>
          </a:p>
          <a:p>
            <a:pPr lvl="0"/>
            <a:r>
              <a:rPr b="1">
                <a:latin typeface="Courier"/>
              </a:rPr>
              <a:t>aux_00</a:t>
            </a:r>
            <a:r>
              <a:rPr b="1"/>
              <a:t> … </a:t>
            </a:r>
            <a:r>
              <a:rPr b="1">
                <a:latin typeface="Courier"/>
              </a:rPr>
              <a:t>aux_14</a:t>
            </a:r>
            <a:r>
              <a:rPr/>
              <a:t> — fifteen further candidate predictors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trap, stated plainly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>
                <a:latin typeface="Courier"/>
              </a:rPr>
              <a:t>ai_use_any</a:t>
            </a:r>
            <a:r>
              <a:rPr b="1"/>
              <a:t> does not exist before 2021.</a:t>
            </a:r>
            <a:r>
              <a:rPr/>
              <a:t> Not “is missing” — </a:t>
            </a:r>
            <a:r>
              <a:rPr i="1"/>
              <a:t>does not exist</a:t>
            </a:r>
            <a:r>
              <a:rPr/>
              <a:t>. The survey module did not run.</a:t>
            </a:r>
          </a:p>
          <a:p>
            <a:pPr lvl="0" indent="0">
              <a:buNone/>
            </a:pPr>
            <a:r>
              <a:rPr>
                <a:latin typeface="Courier"/>
              </a:rPr>
              <a:t>c.groupby(</a:t>
            </a:r>
            <a:r>
              <a:rPr>
                <a:solidFill>
                  <a:srgbClr val="4070A0"/>
                </a:solidFill>
                <a:latin typeface="Courier"/>
              </a:rPr>
              <a:t>"time"</a:t>
            </a:r>
            <a:r>
              <a:rPr>
                <a:latin typeface="Courier"/>
              </a:rPr>
              <a:t>).ai_use_any.</a:t>
            </a:r>
            <a:r>
              <a:rPr>
                <a:solidFill>
                  <a:srgbClr val="008000"/>
                </a:solidFill>
                <a:latin typeface="Courier"/>
              </a:rPr>
              <a:t>apply</a:t>
            </a:r>
            <a:r>
              <a:rPr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lambda</a:t>
            </a:r>
            <a:r>
              <a:rPr>
                <a:latin typeface="Courier"/>
              </a:rPr>
              <a:t> s: s.notna().</a:t>
            </a:r>
            <a:r>
              <a:rPr>
                <a:solidFill>
                  <a:srgbClr val="008000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())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2014-2020: 0    2021: 28    2022: 28    2023: 27    2024: 29</a:t>
            </a:r>
          </a:p>
          <a:p>
            <a:pPr lvl="0" indent="0" marL="0">
              <a:buNone/>
            </a:pPr>
            <a:r>
              <a:rPr/>
              <a:t>Seven years of your panel have no outcome. A method that silently drops them has quietly changed your research question from 2014–2024 to 2021–2024.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second trap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>
                <a:latin typeface="Courier"/>
              </a:rPr>
              <a:t>aux_*</a:t>
            </a:r>
            <a:r>
              <a:rPr/>
              <a:t> columns are </a:t>
            </a:r>
            <a:r>
              <a:rPr b="1"/>
              <a:t>correlated with each other and with the real predictors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That is the situation the whole session is about:</a:t>
            </a:r>
          </a:p>
          <a:p>
            <a:pPr lvl="0"/>
            <a:r>
              <a:rPr/>
              <a:t>The lasso will pick a handful</a:t>
            </a:r>
          </a:p>
          <a:p>
            <a:pPr lvl="0"/>
            <a:r>
              <a:rPr/>
              <a:t>A slightly different sample will make it pick a </a:t>
            </a:r>
            <a:r>
              <a:rPr i="1"/>
              <a:t>different</a:t>
            </a:r>
            <a:r>
              <a:rPr/>
              <a:t> handful</a:t>
            </a:r>
          </a:p>
          <a:p>
            <a:pPr lvl="0"/>
            <a:r>
              <a:rPr/>
              <a:t>Both lists will look convincing in a table</a:t>
            </a:r>
          </a:p>
          <a:p>
            <a:pPr lvl="0" indent="0" marL="0">
              <a:buNone/>
            </a:pPr>
            <a:r>
              <a:rPr/>
              <a:t>Nobody publishes the second list. You are going to compute it.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Doing it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 the design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numpy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np</a:t>
            </a:r>
            <a:br/>
            <a:br/>
            <a:r>
              <a:rPr>
                <a:latin typeface="Courier"/>
              </a:rPr>
              <a:t>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c[c.time </a:t>
            </a:r>
            <a:r>
              <a:rPr>
                <a:solidFill>
                  <a:srgbClr val="666666"/>
                </a:solidFill>
                <a:latin typeface="Courier"/>
              </a:rPr>
              <a:t>&gt;=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2021</a:t>
            </a:r>
            <a:r>
              <a:rPr>
                <a:latin typeface="Courier"/>
              </a:rPr>
              <a:t>].dropna(subset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"ai_use_any"</a:t>
            </a:r>
            <a:r>
              <a:rPr>
                <a:latin typeface="Courier"/>
              </a:rPr>
              <a:t>]).copy()</a:t>
            </a:r>
            <a:br/>
            <a:br/>
            <a:r>
              <a:rPr>
                <a:latin typeface="Courier"/>
              </a:rPr>
              <a:t>drop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70A0"/>
                </a:solidFill>
                <a:latin typeface="Courier"/>
              </a:rPr>
              <a:t>"geo"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"time"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"flag"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"ai_use_any"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"ai_use_ml"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"ai_use_ge3"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d.drop(columns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drop).fillna(d.median(numeric_only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))</a:t>
            </a:r>
            <a:br/>
            <a:r>
              <a:rPr>
                <a:latin typeface="Courier"/>
              </a:rPr>
              <a:t>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d[</a:t>
            </a:r>
            <a:r>
              <a:rPr>
                <a:solidFill>
                  <a:srgbClr val="4070A0"/>
                </a:solidFill>
                <a:latin typeface="Courier"/>
              </a:rPr>
              <a:t>"ai_use_any"</a:t>
            </a:r>
            <a:r>
              <a:rPr>
                <a:latin typeface="Courier"/>
              </a:rPr>
              <a:t>]</a:t>
            </a:r>
            <a:br/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(X.shape, y.shape)     </a:t>
            </a:r>
            <a:r>
              <a:rPr i="1">
                <a:solidFill>
                  <a:srgbClr val="60A0B0"/>
                </a:solidFill>
                <a:latin typeface="Courier"/>
              </a:rPr>
              <a:t># about 112 rows, 27 predictors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n</a:t>
            </a:r>
            <a:r>
              <a:rPr/>
              <a:t> is now roughly </a:t>
            </a:r>
            <a:r>
              <a:rPr b="1"/>
              <a:t>112</a:t>
            </a:r>
            <a:r>
              <a:rPr/>
              <a:t> with </a:t>
            </a:r>
            <a:r>
              <a:rPr b="1"/>
              <a:t>27</a:t>
            </a:r>
            <a:r>
              <a:rPr/>
              <a:t> predictors. That ratio is the whole problem — and it was 330 rows before the outcome’s availability was checked.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Ridge and lasso, cross-validated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sklearn.linear_model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RidgeCV, LassoCV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sklearn.pipeline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make_pipeline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sklearn.preprocessing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StandardScaler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sklearn.model_selection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GroupKFold</a:t>
            </a:r>
            <a:br/>
            <a:br/>
            <a:r>
              <a:rPr>
                <a:latin typeface="Courier"/>
              </a:rPr>
              <a:t>cv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GroupKFold(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g 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d[</a:t>
            </a:r>
            <a:r>
              <a:rPr>
                <a:solidFill>
                  <a:srgbClr val="4070A0"/>
                </a:solidFill>
                <a:latin typeface="Courier"/>
              </a:rPr>
              <a:t>"geo"</a:t>
            </a:r>
            <a:r>
              <a:rPr>
                <a:latin typeface="Courier"/>
              </a:rPr>
              <a:t>]</a:t>
            </a:r>
            <a:br/>
            <a:br/>
            <a:r>
              <a:rPr>
                <a:latin typeface="Courier"/>
              </a:rPr>
              <a:t>ridge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make_pipeline(StandardScaler(), RidgeCV(alphas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np.logspace(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60</a:t>
            </a:r>
            <a:r>
              <a:rPr>
                <a:latin typeface="Courier"/>
              </a:rPr>
              <a:t>)))</a:t>
            </a:r>
            <a:br/>
            <a:r>
              <a:rPr>
                <a:latin typeface="Courier"/>
              </a:rPr>
              <a:t>lasso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make_pipeline(StandardScaler(),</a:t>
            </a:r>
            <a:br/>
            <a:r>
              <a:rPr>
                <a:latin typeface="Courier"/>
              </a:rPr>
              <a:t>                      LassoCV(cv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008000"/>
                </a:solidFill>
                <a:latin typeface="Courier"/>
              </a:rPr>
              <a:t>list</a:t>
            </a:r>
            <a:r>
              <a:rPr>
                <a:latin typeface="Courier"/>
              </a:rPr>
              <a:t>(cv.split(X, y, g)), max_iter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50_000</a:t>
            </a:r>
            <a:r>
              <a:rPr>
                <a:latin typeface="Courier"/>
              </a:rPr>
              <a:t>))</a:t>
            </a:r>
            <a:br/>
            <a:br/>
            <a:r>
              <a:rPr>
                <a:latin typeface="Courier"/>
              </a:rPr>
              <a:t>ridge.fit(X, y)</a:t>
            </a:r>
            <a:br/>
            <a:r>
              <a:rPr>
                <a:latin typeface="Courier"/>
              </a:rPr>
              <a:t>lasso.fit(X, y)</a:t>
            </a:r>
          </a:p>
          <a:p>
            <a:pPr lvl="0" indent="0" marL="0">
              <a:buNone/>
            </a:pPr>
            <a:r>
              <a:rPr/>
              <a:t>Grouped by country, because two years of the same country are not independent. Session 04’s argument has not gone away.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Who survived?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coef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pd.Series(lasso[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].coef_, index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X.columns)</a:t>
            </a:r>
            <a:br/>
            <a:r>
              <a:rPr>
                <a:latin typeface="Courier"/>
              </a:rPr>
              <a:t>kept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coef[coef </a:t>
            </a:r>
            <a:r>
              <a:rPr>
                <a:solidFill>
                  <a:srgbClr val="666666"/>
                </a:solidFill>
                <a:latin typeface="Courier"/>
              </a:rPr>
              <a:t>!=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].sort_values(key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008000"/>
                </a:solidFill>
                <a:latin typeface="Courier"/>
              </a:rPr>
              <a:t>abs</a:t>
            </a:r>
            <a:r>
              <a:rPr>
                <a:latin typeface="Courier"/>
              </a:rPr>
              <a:t>, ascending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False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(coef </a:t>
            </a:r>
            <a:r>
              <a:rPr>
                <a:solidFill>
                  <a:srgbClr val="666666"/>
                </a:solidFill>
                <a:latin typeface="Courier"/>
              </a:rPr>
              <a:t>!=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4070A0"/>
                </a:solidFill>
                <a:latin typeface="Courier"/>
              </a:rPr>
              <a:t>.</a:t>
            </a:r>
            <a:r>
              <a:rPr>
                <a:solidFill>
                  <a:srgbClr val="008000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()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 of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(coef)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 predictors kept"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(kept.</a:t>
            </a:r>
            <a:r>
              <a:rPr>
                <a:solidFill>
                  <a:srgbClr val="008000"/>
                </a:solidFill>
                <a:latin typeface="Courier"/>
              </a:rPr>
              <a:t>round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))</a:t>
            </a:r>
          </a:p>
          <a:p>
            <a:pPr lvl="0" indent="0" marL="0">
              <a:buNone/>
            </a:pPr>
            <a:r>
              <a:rPr/>
              <a:t>Look at whether any </a:t>
            </a:r>
            <a:r>
              <a:rPr>
                <a:latin typeface="Courier"/>
              </a:rPr>
              <a:t>aux_*</a:t>
            </a:r>
            <a:r>
              <a:rPr/>
              <a:t> columns are in that list. They are noise-adjacent by construction — if they beat a real predictor, that tells you something about how much evidence 112 rows contains.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Elastic net over a grid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sklearn.linear_model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ElasticNetCV</a:t>
            </a:r>
            <a:br/>
            <a:br/>
            <a:r>
              <a:rPr>
                <a:latin typeface="Courier"/>
              </a:rPr>
              <a:t>en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make_pipeline(</a:t>
            </a:r>
            <a:br/>
            <a:r>
              <a:rPr>
                <a:latin typeface="Courier"/>
              </a:rPr>
              <a:t>    StandardScaler(),</a:t>
            </a:r>
            <a:br/>
            <a:r>
              <a:rPr>
                <a:latin typeface="Courier"/>
              </a:rPr>
              <a:t>    ElasticNetCV(l1_ratio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0.1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0.3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0.5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0.7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0.9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0.95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latin typeface="Courier"/>
              </a:rPr>
              <a:t>],</a:t>
            </a:r>
            <a:br/>
            <a:r>
              <a:rPr>
                <a:latin typeface="Courier"/>
              </a:rPr>
              <a:t>                 cv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008000"/>
                </a:solidFill>
                <a:latin typeface="Courier"/>
              </a:rPr>
              <a:t>list</a:t>
            </a:r>
            <a:r>
              <a:rPr>
                <a:latin typeface="Courier"/>
              </a:rPr>
              <a:t>(GroupKFold(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).split(X, y, g)), max_iter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50_000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en.fit(X, y)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"chosen l1_ratio:"</a:t>
            </a:r>
            <a:r>
              <a:rPr>
                <a:latin typeface="Courier"/>
              </a:rPr>
              <a:t>, en[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].l1_ratio_, </a:t>
            </a:r>
            <a:r>
              <a:rPr>
                <a:solidFill>
                  <a:srgbClr val="4070A0"/>
                </a:solidFill>
                <a:latin typeface="Courier"/>
              </a:rPr>
              <a:t>"| alpha:"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008000"/>
                </a:solidFill>
                <a:latin typeface="Courier"/>
              </a:rPr>
              <a:t>round</a:t>
            </a:r>
            <a:r>
              <a:rPr>
                <a:latin typeface="Courier"/>
              </a:rPr>
              <a:t>(en[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].alpha_,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))</a:t>
            </a:r>
          </a:p>
          <a:p>
            <a:pPr lvl="0" indent="0" marL="0">
              <a:buNone/>
            </a:pPr>
            <a:r>
              <a:rPr/>
              <a:t>Report both chosen values. A chosen </a:t>
            </a:r>
            <a:r>
              <a:rPr>
                <a:latin typeface="Courier"/>
              </a:rPr>
              <a:t>l1_ratio</a:t>
            </a:r>
            <a:r>
              <a:rPr/>
              <a:t> near 1 says the data wanted sparsity; near 0 says they wanted sharing.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part nobody reports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Selection stability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Resample the data. Refit. Record which predictors survive. Repeat.</a:t>
            </a:r>
          </a:p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sklearn.linear_model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LassoCV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collections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Counter</a:t>
            </a:r>
            <a:br/>
            <a:br/>
            <a:r>
              <a:rPr>
                <a:latin typeface="Courier"/>
              </a:rPr>
              <a:t>rng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np.random.default_rng(</a:t>
            </a:r>
            <a:r>
              <a:rPr>
                <a:solidFill>
                  <a:srgbClr val="40A070"/>
                </a:solidFill>
                <a:latin typeface="Courier"/>
              </a:rPr>
              <a:t>60033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counts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Counter()</a:t>
            </a:r>
            <a:br/>
            <a:r>
              <a:rPr>
                <a:latin typeface="Courier"/>
              </a:rPr>
              <a:t>B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200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_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(B):</a:t>
            </a:r>
            <a:br/>
            <a:r>
              <a:rPr>
                <a:latin typeface="Courier"/>
              </a:rPr>
              <a:t>    idx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rng.choice(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(X),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(X), replace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m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make_pipeline(StandardScaler(), LassoCV(cv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, max_iter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50_000</a:t>
            </a:r>
            <a:r>
              <a:rPr>
                <a:latin typeface="Courier"/>
              </a:rPr>
              <a:t>))</a:t>
            </a:r>
            <a:br/>
            <a:r>
              <a:rPr>
                <a:latin typeface="Courier"/>
              </a:rPr>
              <a:t>    m.fit(X.iloc[idx], y.iloc[idx])</a:t>
            </a:r>
            <a:br/>
            <a:r>
              <a:rPr>
                <a:latin typeface="Courier"/>
              </a:rPr>
              <a:t>    counts.update(X.columns[m[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].coef_ </a:t>
            </a:r>
            <a:r>
              <a:rPr>
                <a:solidFill>
                  <a:srgbClr val="666666"/>
                </a:solidFill>
                <a:latin typeface="Courier"/>
              </a:rPr>
              <a:t>!=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])</a:t>
            </a:r>
            <a:br/>
            <a:br/>
            <a:r>
              <a:rPr>
                <a:latin typeface="Courier"/>
              </a:rPr>
              <a:t>freq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pd.Series(counts).reindex(X.columns).fillna(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B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(freq.sort_values(ascending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False</a:t>
            </a:r>
            <a:r>
              <a:rPr>
                <a:latin typeface="Courier"/>
              </a:rPr>
              <a:t>).head(</a:t>
            </a:r>
            <a:r>
              <a:rPr>
                <a:solidFill>
                  <a:srgbClr val="40A070"/>
                </a:solidFill>
                <a:latin typeface="Courier"/>
              </a:rPr>
              <a:t>12</a:t>
            </a:r>
            <a:r>
              <a:rPr>
                <a:latin typeface="Courier"/>
              </a:rPr>
              <a:t>).</a:t>
            </a:r>
            <a:r>
              <a:rPr>
                <a:solidFill>
                  <a:srgbClr val="008000"/>
                </a:solidFill>
                <a:latin typeface="Courier"/>
              </a:rPr>
              <a:t>round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))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 the selection frequencies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&gt; 0.90</a:t>
            </a:r>
            <a:r>
              <a:rPr/>
              <a:t> — robust. Reportable as “selected”.</a:t>
            </a:r>
          </a:p>
          <a:p>
            <a:pPr lvl="0"/>
            <a:r>
              <a:rPr b="1"/>
              <a:t>0.40–0.90</a:t>
            </a:r>
            <a:r>
              <a:rPr/>
              <a:t> — genuinely uncertain. Say so.</a:t>
            </a:r>
          </a:p>
          <a:p>
            <a:pPr lvl="0"/>
            <a:r>
              <a:rPr b="1"/>
              <a:t>&lt; 0.40</a:t>
            </a:r>
            <a:r>
              <a:rPr/>
              <a:t> — appeared in your one fit by luck.</a:t>
            </a:r>
          </a:p>
          <a:p>
            <a:pPr lvl="0" indent="0" marL="0">
              <a:buNone/>
            </a:pPr>
            <a:r>
              <a:rPr/>
              <a:t>If your headline predictor is selected in 55% of bootstrap replicates, then a different sample would have given you a different paper. That belongs in your results, not in a footnote.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to report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The </a:t>
                </a:r>
                <a:r>
                  <a:rPr b="1"/>
                  <a:t>CV scheme</a:t>
                </a:r>
                <a:r>
                  <a:rPr/>
                  <a:t> and why it is grouped</a:t>
                </a:r>
              </a:p>
              <a:p>
                <a:pPr lvl="0"/>
                <a:r>
                  <a:rPr/>
                  <a:t>The chosen </a:t>
                </a:r>
                <a14:m>
                  <m:oMath xmlns:m="http://schemas.openxmlformats.org/officeDocument/2006/math">
                    <m:r>
                      <m:t>λ</m:t>
                    </m:r>
                  </m:oMath>
                </a14:m>
                <a:r>
                  <a:rPr/>
                  <a:t>, and </a:t>
                </a:r>
                <a14:m>
                  <m:oMath xmlns:m="http://schemas.openxmlformats.org/officeDocument/2006/math">
                    <m:r>
                      <m:t>α</m:t>
                    </m:r>
                  </m:oMath>
                </a14:m>
                <a:r>
                  <a:rPr/>
                  <a:t> if elastic net</a:t>
                </a:r>
              </a:p>
              <a:p>
                <a:pPr lvl="0"/>
                <a:r>
                  <a:rPr/>
                  <a:t>The selected set, </a:t>
                </a:r>
                <a:r>
                  <a:rPr b="1"/>
                  <a:t>with selection frequencies</a:t>
                </a:r>
              </a:p>
              <a:p>
                <a:pPr lvl="0"/>
                <a:r>
                  <a:rPr/>
                  <a:t>That coefficients are shrunk, so magnitudes are biased toward zero</a:t>
                </a:r>
              </a:p>
              <a:p>
                <a:pPr lvl="0"/>
                <a:r>
                  <a:rPr/>
                  <a:t>That the outcome does not exist before 2021, and what that did to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</a:p>
              <a:p>
                <a:pPr lvl="0" indent="0" marL="0">
                  <a:buNone/>
                </a:pPr>
                <a:r>
                  <a:rPr/>
                  <a:t>No p-values on lasso-selected coefficients. The data chose the model; the standard formulas assume you did.</a:t>
                </a:r>
              </a:p>
            </p:txBody>
          </p:sp>
        </mc:Choice>
      </mc:AlternateContent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Common mistakes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Mistake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Consequence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standardising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penalty tracks units, not importance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Scaling outside the CV fold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Leakage; CV error too low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Random K-fold on this panel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Optimistic, for Session 04’s reason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Reporting one selected set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Hides that it was near-arbitrary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p-values after selection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Invalid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Ignoring the pre-2021 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Silently changes the question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the 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Rebuild the design matrix and </a:t>
            </a:r>
            <a:r>
              <a:rPr b="1"/>
              <a:t>confirm the 2021 cliff yourself</a:t>
            </a:r>
          </a:p>
          <a:p>
            <a:pPr lvl="0" indent="-342900" marL="342900">
              <a:buAutoNum type="arabicPeriod"/>
            </a:pPr>
            <a:r>
              <a:rPr/>
              <a:t>Fit ridge, lasso and elastic net under grouped CV</a:t>
            </a:r>
          </a:p>
          <a:p>
            <a:pPr lvl="0" indent="-342900" marL="342900">
              <a:buAutoNum type="arabicPeriod"/>
            </a:pPr>
            <a:r>
              <a:rPr/>
              <a:t>Run the bootstrap and produce the selection-frequency table</a:t>
            </a:r>
          </a:p>
          <a:p>
            <a:pPr lvl="0" indent="-342900" marL="342900">
              <a:buAutoNum type="arabicPeriod"/>
            </a:pPr>
            <a:r>
              <a:rPr/>
              <a:t>Compare against Wang, Zhu &amp; Yu: does forward selection do as well here?</a:t>
            </a:r>
          </a:p>
          <a:p>
            <a:pPr lvl="0" indent="-342900" marL="342900">
              <a:buAutoNum type="arabicPeriod"/>
            </a:pPr>
            <a:r>
              <a:rPr/>
              <a:t>Three sentences on what your selected set does and does not license</a:t>
            </a:r>
          </a:p>
          <a:p>
            <a:pPr lvl="0" indent="0" marL="0">
              <a:buNone/>
            </a:pPr>
            <a:r>
              <a:rPr/>
              <a:t>The deliverable is the </a:t>
            </a:r>
            <a:r>
              <a:rPr b="1"/>
              <a:t>frequency table</a:t>
            </a:r>
            <a:r>
              <a:rPr/>
              <a:t>, not the coefficient table. Anyone can produce the second one.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Ridge, Lasso, and the Elastic Net</dc:title>
  <dc:creator>Thierry Warin</dc:creator>
  <cp:keywords/>
  <dcterms:created xsi:type="dcterms:W3CDTF">2026-08-19T20:03:00Z</dcterms:created>
  <dcterms:modified xsi:type="dcterms:W3CDTF">2026-08-19T20:03:00Z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date">
    <vt:lpwstr>19 August 2026</vt:lpwstr>
  </property>
  <property fmtid="{D5CDD505-2E9C-101B-9397-08002B2CF9AE}" pid="8" name="date-format">
    <vt:lpwstr>D MMMM YYYY</vt:lpwstr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institute">
    <vt:lpwstr>HEC Montréal</vt:lpwstr>
  </property>
  <property fmtid="{D5CDD505-2E9C-101B-9397-08002B2CF9AE}" pid="13" name="institutes">
    <vt:lpwstr/>
  </property>
  <property fmtid="{D5CDD505-2E9C-101B-9397-08002B2CF9AE}" pid="14" name="labels">
    <vt:lpwstr/>
  </property>
  <property fmtid="{D5CDD505-2E9C-101B-9397-08002B2CF9AE}" pid="15" name="subtitle">
    <vt:lpwstr>Session 05 · Choosing among many correlated predictors, and admitting how unstable that choice is</vt:lpwstr>
  </property>
  <property fmtid="{D5CDD505-2E9C-101B-9397-08002B2CF9AE}" pid="16" name="toc-title">
    <vt:lpwstr>Table of contents</vt:lpwstr>
  </property>
</Properties>
</file>