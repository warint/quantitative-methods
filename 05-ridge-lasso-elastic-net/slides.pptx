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nchor="t"/>
          <a:lstStyle>
            <a:lvl1pPr algn="l">
              <a:defRPr sz="2800" b="1" cap="none"/>
            </a:lvl1pPr>
          </a:lstStyle>
          <a:p>
            <a:r>
              <a:rPr lang="en-US"/>
              <a:t>Click to edit Master title style</a:t>
            </a:r>
          </a:p>
        </p:txBody>
      </p:sp>
      <p:sp>
        <p:nvSpPr>
          <p:cNvPr id="3" name="Text Placeholder 2"/>
          <p:cNvSpPr>
            <a:spLocks noGrp="1"/>
          </p:cNvSpPr>
          <p:nvPr>
            <p:ph type="body" idx="1"/>
          </p:nvPr>
        </p:nvSpPr>
        <p:spPr>
          <a:xfrm>
            <a:off x="722313" y="3250000"/>
            <a:ext cx="7772400" cy="70000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01-lecture/README.md" TargetMode="External" /><Relationship Id="rId3" Type="http://schemas.openxmlformats.org/officeDocument/2006/relationships/hyperlink" Target="02-practice/README.md"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Regularisation: Ridge, Lasso, and the Elastic Net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05 · Lecture, first half</a:t>
            </a:r>
            <a:br/>
            <a:br/>
            <a:r>
              <a:rPr/>
              <a:t>Thierry Warin</a:t>
            </a:r>
          </a:p>
        </p:txBody>
      </p:sp>
      <p:sp>
        <p:nvSpPr>
          <p:cNvPr id="4" name="Date Placeholder 3"/>
          <p:cNvSpPr>
            <a:spLocks noGrp="1"/>
          </p:cNvSpPr>
          <p:nvPr>
            <p:ph idx="10" sz="half" type="dt"/>
          </p:nvPr>
        </p:nvSpPr>
        <p:spPr/>
        <p:txBody>
          <a:bodyPr/>
          <a:lstStyle/>
          <a:p>
            <a:pPr lvl="0" indent="0" marL="0">
              <a:buNone/>
            </a:pPr>
            <a:r>
              <a:rPr/>
              <a:t>21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is a deliberately biased estimator the better one?</a:t>
            </a:r>
          </a:p>
        </p:txBody>
      </p:sp>
    </p:spTree>
  </p:cSld>
</p:sld>
</file>

<file path=ppt/slides/slide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Outline</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0" bandRow="1"><a:tableStyleId>{5C22544A-7EE6-4342-B048-85BDC9FD1C3A}</a:tableStyleId></a:tblPr><a:tblGrid><a:gridCol w="4114800" /><a:gridCol w="4114800" /></a:tblGrid><a:tr h="0"><a:tc><a:txBody><a:bodyPr /><a:lstStyle /><a:p><a:pPr lvl="0" indent="0" marL="0"><a:buNone /></a:pPr><a:r><a:rPr b="1" /><a:t>1</a:t></a:r></a:p></a:txBody></a:tc><a:tc><a:txBody><a:bodyPr /><a:lstStyle /><a:p><a:pPr lvl="0" indent="0" marL="0"><a:buNone /></a:pPr><a:r><a:rPr /><a:t>Where we are, and what this adds</a:t></a:r></a:p></a:txBody></a:tc></a:tr><a:tr h="0"><a:tc><a:txBody><a:bodyPr /><a:lstStyle /><a:p><a:pPr lvl="0" indent="0" marL="0"><a:buNone /></a:pPr><a:r><a:rPr b="1" /><a:t>2</a:t></a:r></a:p></a:txBody></a:tc><a:tc><a:txBody><a:bodyPr /><a:lstStyle /><a:p><a:pPr lvl="0" indent="0" marL="0"><a:buNone /></a:pPr><a:r><a:rPr /><a:t>The problem, on real data</a:t></a:r></a:p></a:txBody></a:tc></a:tr><a:tr h="0"><a:tc><a:txBody><a:bodyPr /><a:lstStyle /><a:p><a:pPr lvl="0" indent="0" marL="0"><a:buNone /></a:pPr><a:r><a:rPr b="1" /><a:t>3</a:t></a:r></a:p></a:txBody></a:tc><a:tc><a:txBody><a:bodyPr /><a:lstStyle /><a:p><a:pPr lvl="0" indent="0" marL="0"><a:buNone /></a:pPr><a:r><a:rPr /><a:t>Ridge — shrink everything, a little</a:t></a:r></a:p></a:txBody></a:tc></a:tr><a:tr h="0"><a:tc><a:txBody><a:bodyPr /><a:lstStyle /><a:p><a:pPr lvl="0" indent="0" marL="0"><a:buNone /></a:pPr><a:r><a:rPr b="1" /><a:t>4</a:t></a:r></a:p></a:txBody></a:tc><a:tc><a:txBody><a:bodyPr /><a:lstStyle /><a:p><a:pPr lvl="0" indent="0" marL="0"><a:buNone /></a:pPr><a:r><a:rPr /><a:t>Lasso — shrink some things to nothing</a:t></a:r></a:p></a:txBody></a:tc></a:tr><a:tr h="0"><a:tc><a:txBody><a:bodyPr /><a:lstStyle /><a:p><a:pPr lvl="0" indent="0" marL="0"><a:buNone /></a:pPr><a:r><a:rPr b="1" /><a:t>5</a:t></a:r></a:p></a:txBody></a:tc><a:tc><a:txBody><a:bodyPr /><a:lstStyle /><a:p><a:pPr lvl="0" indent="0" marL="0"><a:buNone /></a:pPr><a:r><a:rPr /><a:t>Elastic net — when predictors come in families</a:t></a:r></a:p></a:txBody></a:tc></a:tr><a:tr h="0"><a:tc><a:txBody><a:bodyPr /><a:lstStyle /><a:p><a:pPr lvl="0" indent="0" marL="0"><a:buNone /></a:pPr><a:r><a:rPr b="1" /><a:t>6</a:t></a:r></a:p></a:txBody></a:tc><a:tc><a:txBody><a:bodyPr /><a:lstStyle /><a:p><a:pPr lvl="0" indent="0" marL="0"><a:buNone /></a:pPr><a:r><a:rPr /><a:t>Choosing </a:t></a:r><a14:m><m:oMath xmlns:m="http://schemas.openxmlformats.org/officeDocument/2006/math"><m:r><m:t>λ</m:t></m:r></m:oMath></a14:m><a:r><a:rPr /><a:t> honestly</a:t></a:r></a:p></a:txBody></a:tc></a:tr><a:tr h="0"><a:tc><a:txBody><a:bodyPr /><a:lstStyle /><a:p><a:pPr lvl="0" indent="0" marL="0"><a:buNone /></a:pPr><a:r><a:rPr b="1" /><a:t>7</a:t></a:r></a:p></a:txBody></a:tc><a:tc><a:txBody><a:bodyPr /><a:lstStyle /><a:p><a:pPr lvl="0" indent="0" marL="0"><a:buNone /></a:pPr><a:r><a:rPr /><a:t>Key takeaways</a:t></a:r></a:p></a:txBody></a:tc></a:tr></a:tbl></a:graphicData></a:graphic></p:graphicFrame></p:spTree></p:cSld></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State the ridge and lasso objectives and say </a:t>
                </a:r>
                <a:r>
                  <a:rPr b="1"/>
                  <a:t>what each penalty buys</a:t>
                </a:r>
              </a:p>
              <a:p>
                <a:pPr lvl="0"/>
                <a:r>
                  <a:rPr/>
                  <a:t>Explain, in the SVD basis, why ridge shrinkage is </a:t>
                </a:r>
                <a:r>
                  <a:rPr b="1"/>
                  <a:t>targeted</a:t>
                </a:r>
                <a:r>
                  <a:rPr/>
                  <a:t> rather than blunt</a:t>
                </a:r>
              </a:p>
              <a:p>
                <a:pPr lvl="0"/>
                <a:r>
                  <a:rPr/>
                  <a:t>Derive </a:t>
                </a:r>
                <a:r>
                  <a:rPr b="1"/>
                  <a:t>soft-thresholding</a:t>
                </a:r>
                <a:r>
                  <a:rPr/>
                  <a:t> and use it to explain why the lasso produces exact zeros</a:t>
                </a:r>
              </a:p>
              <a:p>
                <a:pPr lvl="0"/>
                <a:r>
                  <a:rPr/>
                  <a:t>Choose between lasso and elastic net by looking at the </a:t>
                </a:r>
                <a:r>
                  <a:rPr b="1"/>
                  <a:t>correlation structure</a:t>
                </a:r>
              </a:p>
              <a:p>
                <a:pPr lvl="0"/>
                <a:r>
                  <a:rPr/>
                  <a:t>Report </a:t>
                </a:r>
                <a14:m>
                  <m:oMath xmlns:m="http://schemas.openxmlformats.org/officeDocument/2006/math">
                    <m:r>
                      <m:t>λ</m:t>
                    </m:r>
                  </m:oMath>
                </a14:m>
                <a:r>
                  <a:rPr/>
                  <a:t> by cross-validation, and know why the standard errors afterwards are </a:t>
                </a:r>
                <a:r>
                  <a:rPr b="1"/>
                  <a:t>not valid</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1 · What this adds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we are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Session</a:t>
                      </a:r>
                    </a:p>
                  </a:txBody>
                  <a:tcPr/>
                </a:tc>
                <a:tc>
                  <a:txBody>
                    <a:bodyPr/>
                    <a:lstStyle/>
                    <a:p>
                      <a:pPr lvl="0" indent="0" marL="0">
                        <a:buNone/>
                      </a:pPr>
                      <a:r>
                        <a:rPr/>
                        <a:t>What it gave you</a:t>
                      </a:r>
                    </a:p>
                  </a:txBody>
                  <a:tcPr/>
                </a:tc>
              </a:tr>
              <a:tr h="0">
                <a:tc>
                  <a:txBody>
                    <a:bodyPr/>
                    <a:lstStyle/>
                    <a:p>
                      <a:pPr lvl="0" indent="0" marL="0">
                        <a:buNone/>
                      </a:pPr>
                      <a:r>
                        <a:rPr b="1"/>
                        <a:t>02</a:t>
                      </a:r>
                    </a:p>
                  </a:txBody>
                </a:tc>
                <a:tc>
                  <a:txBody>
                    <a:bodyPr/>
                    <a:lstStyle/>
                    <a:p>
                      <a:pPr lvl="0" indent="0" marL="0">
                        <a:buNone/>
                      </a:pPr>
                      <a:r>
                        <a:rPr/>
                        <a:t>The least-squares fit, and the geometry that produces it</a:t>
                      </a:r>
                    </a:p>
                  </a:txBody>
                </a:tc>
              </a:tr>
              <a:tr h="0">
                <a:tc>
                  <a:txBody>
                    <a:bodyPr/>
                    <a:lstStyle/>
                    <a:p>
                      <a:pPr lvl="0" indent="0" marL="0">
                        <a:buNone/>
                      </a:pPr>
                      <a:r>
                        <a:rPr b="1"/>
                        <a:t>03</a:t>
                      </a:r>
                    </a:p>
                  </a:txBody>
                </a:tc>
                <a:tc>
                  <a:txBody>
                    <a:bodyPr/>
                    <a:lstStyle/>
                    <a:p>
                      <a:pPr lvl="0" indent="0" marL="0">
                        <a:buNone/>
                      </a:pPr>
                      <a:r>
                        <a:rPr/>
                        <a:t>An honest interval, and the diagnostics that decide which one</a:t>
                      </a:r>
                    </a:p>
                  </a:txBody>
                </a:tc>
              </a:tr>
              <a:tr h="0">
                <a:tc>
                  <a:txBody>
                    <a:bodyPr/>
                    <a:lstStyle/>
                    <a:p>
                      <a:pPr lvl="0" indent="0" marL="0">
                        <a:buNone/>
                      </a:pPr>
                      <a:r>
                        <a:rPr b="1"/>
                        <a:t>04</a:t>
                      </a:r>
                    </a:p>
                  </a:txBody>
                </a:tc>
                <a:tc>
                  <a:txBody>
                    <a:bodyPr/>
                    <a:lstStyle/>
                    <a:p>
                      <a:pPr lvl="0" indent="0" marL="0">
                        <a:buNone/>
                      </a:pPr>
                      <a:r>
                        <a:rPr/>
                        <a:t>A number for out-of-sample error, and how to get it honestly</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Session 04 gave you a </a:t>
            </a:r>
            <a:r>
              <a:rPr b="1"/>
              <a:t>measuring instrument</a:t>
            </a:r>
            <a:r>
              <a:rPr/>
              <a:t>. It did not give you a way to </a:t>
            </a:r>
            <a:r>
              <a:rPr i="1"/>
              <a:t>improve</a:t>
            </a:r>
            <a:r>
              <a:rPr/>
              <a:t> the number it measures. Today is the first session that does.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opening claim, and why it is wrong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a:t>OLS is the </a:t>
                </a:r>
                <a:r>
                  <a:rPr sz="2000" b="1"/>
                  <a:t>best linear unbiased</a:t>
                </a:r>
                <a:r>
                  <a:rPr sz="2000"/>
                  <a:t> estimator.</a:t>
                </a:r>
              </a:p>
              <a:p>
                <a:pPr lvl="0" indent="0" marL="0">
                  <a:buNone/>
                </a:pPr>
                <a:r>
                  <a:rPr/>
                  <a:t>True. And useless, when the variance of “best unbiased” is enormous.</a:t>
                </a:r>
              </a:p>
              <a:p>
                <a:pPr lvl="0" indent="0" marL="0">
                  <a:buNone/>
                </a:pPr>
                <a:r>
                  <a:rPr/>
                  <a:t>Session 04’s decomposition says total error is </a:t>
                </a:r>
                <a14:m>
                  <m:oMath xmlns:m="http://schemas.openxmlformats.org/officeDocument/2006/math">
                    <m:sSup>
                      <m:e>
                        <m:r>
                          <m:rPr>
                            <m:nor/>
                            <m:sty m:val="p"/>
                          </m:rPr>
                          <m:t>bias</m:t>
                        </m:r>
                      </m:e>
                      <m:sup>
                        <m:r>
                          <m:t>2</m:t>
                        </m:r>
                      </m:sup>
                    </m:sSup>
                    <m:r>
                      <m:rPr>
                        <m:sty m:val="p"/>
                      </m:rPr>
                      <m:t>+</m:t>
                    </m:r>
                    <m:r>
                      <m:rPr>
                        <m:nor/>
                        <m:sty m:val="p"/>
                      </m:rPr>
                      <m:t>variance</m:t>
                    </m:r>
                    <m:r>
                      <m:rPr>
                        <m:sty m:val="p"/>
                      </m:rPr>
                      <m:t>+</m:t>
                    </m:r>
                    <m:sSup>
                      <m:e>
                        <m:r>
                          <m:t>σ</m:t>
                        </m:r>
                      </m:e>
                      <m:sup>
                        <m:r>
                          <m:t>2</m:t>
                        </m:r>
                      </m:sup>
                    </m:sSup>
                  </m:oMath>
                </a14:m>
                <a:r>
                  <a:rPr/>
                  <a:t>. Gauss–Markov fixes </a:t>
                </a:r>
                <a14:m>
                  <m:oMath xmlns:m="http://schemas.openxmlformats.org/officeDocument/2006/math">
                    <m:r>
                      <m:rPr>
                        <m:nor/>
                        <m:sty m:val="p"/>
                      </m:rPr>
                      <m:t>bias</m:t>
                    </m:r>
                    <m:r>
                      <m:rPr>
                        <m:sty m:val="p"/>
                      </m:rPr>
                      <m:t>=</m:t>
                    </m:r>
                    <m:r>
                      <m:t>0</m:t>
                    </m:r>
                  </m:oMath>
                </a14:m>
                <a:r>
                  <a:rPr/>
                  <a:t> and then minimises variance </a:t>
                </a:r>
                <a:r>
                  <a:rPr b="1"/>
                  <a:t>within that constraint</a:t>
                </a:r>
                <a:r>
                  <a:rPr/>
                  <a:t>.</a:t>
                </a:r>
              </a:p>
              <a:p>
                <a:pPr lvl="0" indent="0" marL="0">
                  <a:buNone/>
                </a:pPr>
                <a:r>
                  <a:rPr/>
                  <a:t>Nobody asked whether </a:t>
                </a:r>
                <a14:m>
                  <m:oMath xmlns:m="http://schemas.openxmlformats.org/officeDocument/2006/math">
                    <m:r>
                      <m:rPr>
                        <m:nor/>
                        <m:sty m:val="p"/>
                      </m:rPr>
                      <m:t>bias</m:t>
                    </m:r>
                    <m:r>
                      <m:rPr>
                        <m:sty m:val="p"/>
                      </m:rPr>
                      <m:t>=</m:t>
                    </m:r>
                    <m:r>
                      <m:t>0</m:t>
                    </m:r>
                  </m:oMath>
                </a14:m>
                <a:r>
                  <a:rPr/>
                  <a:t> was the right constraint. Accept a little bias, buy a large reduction in variance, and total error falls. That trade is what regularisation is.</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today adds, in one line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a:t>
                </a:r>
                <a:r>
                  <a:rPr b="1"/>
                  <a:t>dial</a:t>
                </a:r>
                <a:r>
                  <a:rPr/>
                  <a:t> — </a:t>
                </a:r>
                <a14:m>
                  <m:oMath xmlns:m="http://schemas.openxmlformats.org/officeDocument/2006/math">
                    <m:r>
                      <m:t>λ</m:t>
                    </m:r>
                  </m:oMath>
                </a14:m>
                <a:r>
                  <a:rPr/>
                  <a:t> — that moves you along the bias–variance curve of Session 04 </a:t>
                </a:r>
                <a:r>
                  <a:rPr i="1"/>
                  <a:t>on purpose</a:t>
                </a:r>
              </a:p>
              <a:p>
                <a:pPr lvl="0"/>
                <a:r>
                  <a:rPr/>
                  <a:t>A method that still works when </a:t>
                </a:r>
                <a14:m>
                  <m:oMath xmlns:m="http://schemas.openxmlformats.org/officeDocument/2006/math">
                    <m:r>
                      <m:t>p</m:t>
                    </m:r>
                    <m:r>
                      <m:rPr>
                        <m:sty m:val="p"/>
                      </m:rPr>
                      <m:t>&gt;</m:t>
                    </m:r>
                    <m:r>
                      <m:t>n</m:t>
                    </m:r>
                  </m:oMath>
                </a14:m>
                <a:r>
                  <a:rPr/>
                  <a:t>, where OLS has </a:t>
                </a:r>
                <a:r>
                  <a:rPr b="1"/>
                  <a:t>no unique solution at all</a:t>
                </a:r>
              </a:p>
              <a:p>
                <a:pPr lvl="0"/>
                <a:r>
                  <a:rPr/>
                  <a:t>A method that performs </a:t>
                </a:r>
                <a:r>
                  <a:rPr b="1"/>
                  <a:t>variable selection</a:t>
                </a:r>
                <a:r>
                  <a:rPr/>
                  <a:t> as part of fitting, not as a separate ritual</a:t>
                </a:r>
              </a:p>
              <a:p>
                <a:pPr lvl="0" indent="0" marL="0">
                  <a:buNone/>
                </a:pPr>
                <a:r>
                  <a:rPr/>
                  <a:t>Sessions 06 through 11 all reuse this dial. Penalised logistic regression, tree depth, the number of principal components, the number of clusters — every one of them is a </a:t>
                </a:r>
                <a14:m>
                  <m:oMath xmlns:m="http://schemas.openxmlformats.org/officeDocument/2006/math">
                    <m:r>
                      <m:t>λ</m:t>
                    </m:r>
                  </m:oMath>
                </a14:m>
                <a:r>
                  <a:rPr/>
                  <a:t> under another name.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2 · The problem, on real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situation you will actually meet</a:t>
            </a:r>
          </a:p>
        </p:txBody>
      </p:sp>
      <p:sp>
        <p:nvSpPr>
          <p:cNvPr id="3" name="Content Placeholder 2"/>
          <p:cNvSpPr>
            <a:spLocks noGrp="1"/>
          </p:cNvSpPr>
          <p:nvPr>
            <p:ph idx="1"/>
          </p:nvPr>
        </p:nvSpPr>
        <p:spPr/>
        <p:txBody>
          <a:bodyPr/>
          <a:lstStyle/>
          <a:p>
            <a:pPr lvl="0" indent="0" marL="0">
              <a:buNone/>
            </a:pPr>
            <a:r>
              <a:rPr/>
              <a:t>We want to explain </a:t>
            </a:r>
            <a:r>
              <a:rPr b="1"/>
              <a:t>R&amp;D intensity</a:t>
            </a:r>
            <a:r>
              <a:rPr/>
              <a:t> (R&amp;D as % of GDP) across European countries from digital and AI-adoption indicators.</a:t>
            </a:r>
          </a:p>
          <a:p>
            <a:pPr lvl="0"/>
            <a:r>
              <a:rPr/>
              <a:t>30 countries × 11 years in the file</a:t>
            </a:r>
          </a:p>
          <a:p>
            <a:pPr lvl="0"/>
            <a:r>
              <a:rPr/>
              <a:t>but the AI-use survey </a:t>
            </a:r>
            <a:r>
              <a:rPr b="1"/>
              <a:t>only exists from 2021</a:t>
            </a:r>
            <a:r>
              <a:rPr/>
              <a:t>, so those columns are two-thirds missing</a:t>
            </a:r>
          </a:p>
          <a:p>
            <a:pPr lvl="0"/>
            <a:r>
              <a:rPr/>
              <a:t>15 of the columns are auxiliary series of unknown value — nobody has vetted them</a:t>
            </a:r>
          </a:p>
          <a:p>
            <a:pPr lvl="0" indent="0" marL="0">
              <a:buNone/>
            </a:pPr>
            <a:r>
              <a:rPr/>
              <a:t>This is the ordinary condition of applied macro work: a wide table, a short usable window, and no prior about which columns matter.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complete-case analysis leaves you</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raw </a:t>
                </a:r>
                <a:r>
                  <a:rPr>
                    <a:solidFill>
                      <a:srgbClr val="666666"/>
                    </a:solidFill>
                    <a:latin typeface="Courier"/>
                  </a:rPr>
                  <a:t>=</a:t>
                </a:r>
                <a:r>
                  <a:rPr>
                    <a:latin typeface="Courier"/>
                  </a:rPr>
                  <a:t> pd.read_parquet(</a:t>
                </a:r>
                <a:r>
                  <a:rPr>
                    <a:solidFill>
                      <a:srgbClr val="4070A0"/>
                    </a:solidFill>
                    <a:latin typeface="Courier"/>
                  </a:rPr>
                  <a:t>"../data/spine/angle_c_country.parquet"</a:t>
                </a:r>
                <a:r>
                  <a:rPr>
                    <a:latin typeface="Courier"/>
                  </a:rPr>
                  <a:t>)</a:t>
                </a:r>
                <a:br/>
                <a:r>
                  <a:rPr>
                    <a:latin typeface="Courier"/>
                  </a:rPr>
                  <a:t>YCOL  </a:t>
                </a:r>
                <a:r>
                  <a:rPr>
                    <a:solidFill>
                      <a:srgbClr val="666666"/>
                    </a:solidFill>
                    <a:latin typeface="Courier"/>
                  </a:rPr>
                  <a:t>=</a:t>
                </a:r>
                <a:r>
                  <a:rPr>
                    <a:latin typeface="Courier"/>
                  </a:rPr>
                  <a:t> </a:t>
                </a:r>
                <a:r>
                  <a:rPr>
                    <a:solidFill>
                      <a:srgbClr val="4070A0"/>
                    </a:solidFill>
                    <a:latin typeface="Courier"/>
                  </a:rPr>
                  <a:t>"rd_pct_gdp"</a:t>
                </a:r>
                <a:br/>
                <a:r>
                  <a:rPr>
                    <a:latin typeface="Courier"/>
                  </a:rPr>
                  <a:t>XCOLS </a:t>
                </a:r>
                <a:r>
                  <a:rPr>
                    <a:solidFill>
                      <a:srgbClr val="666666"/>
                    </a:solidFill>
                    <a:latin typeface="Courier"/>
                  </a:rPr>
                  <a:t>=</a:t>
                </a:r>
                <a:r>
                  <a:rPr>
                    <a:latin typeface="Courier"/>
                  </a:rPr>
                  <a:t> [c </a:t>
                </a:r>
                <a:r>
                  <a:rPr b="1">
                    <a:solidFill>
                      <a:srgbClr val="007020"/>
                    </a:solidFill>
                    <a:latin typeface="Courier"/>
                  </a:rPr>
                  <a:t>for</a:t>
                </a:r>
                <a:r>
                  <a:rPr>
                    <a:latin typeface="Courier"/>
                  </a:rPr>
                  <a:t> c </a:t>
                </a:r>
                <a:r>
                  <a:rPr b="1">
                    <a:solidFill>
                      <a:srgbClr val="007020"/>
                    </a:solidFill>
                    <a:latin typeface="Courier"/>
                  </a:rPr>
                  <a:t>in</a:t>
                </a:r>
                <a:r>
                  <a:rPr>
                    <a:latin typeface="Courier"/>
                  </a:rPr>
                  <a:t> raw.columns </a:t>
                </a:r>
                <a:r>
                  <a:rPr b="1">
                    <a:solidFill>
                      <a:srgbClr val="007020"/>
                    </a:solidFill>
                    <a:latin typeface="Courier"/>
                  </a:rPr>
                  <a:t>if</a:t>
                </a:r>
                <a:r>
                  <a:rPr>
                    <a:latin typeface="Courier"/>
                  </a:rPr>
                  <a:t> c </a:t>
                </a:r>
                <a:r>
                  <a:rPr b="1">
                    <a:solidFill>
                      <a:srgbClr val="007020"/>
                    </a:solidFill>
                    <a:latin typeface="Courier"/>
                  </a:rPr>
                  <a:t>not</a:t>
                </a:r>
                <a:r>
                  <a:rPr>
                    <a:latin typeface="Courier"/>
                  </a:rPr>
                  <a:t> </a:t>
                </a:r>
                <a:r>
                  <a:rPr b="1">
                    <a:solidFill>
                      <a:srgbClr val="007020"/>
                    </a:solidFill>
                    <a:latin typeface="Courier"/>
                  </a:rPr>
                  <a:t>in</a:t>
                </a:r>
                <a:r>
                  <a:rPr>
                    <a:latin typeface="Courier"/>
                  </a:rPr>
                  <a:t> (</a:t>
                </a:r>
                <a:r>
                  <a:rPr>
                    <a:solidFill>
                      <a:srgbClr val="4070A0"/>
                    </a:solidFill>
                    <a:latin typeface="Courier"/>
                  </a:rPr>
                  <a:t>"geo"</a:t>
                </a:r>
                <a:r>
                  <a:rPr>
                    <a:latin typeface="Courier"/>
                  </a:rPr>
                  <a:t>, </a:t>
                </a:r>
                <a:r>
                  <a:rPr>
                    <a:solidFill>
                      <a:srgbClr val="4070A0"/>
                    </a:solidFill>
                    <a:latin typeface="Courier"/>
                  </a:rPr>
                  <a:t>"time"</a:t>
                </a:r>
                <a:r>
                  <a:rPr>
                    <a:latin typeface="Courier"/>
                  </a:rPr>
                  <a:t>, </a:t>
                </a:r>
                <a:r>
                  <a:rPr>
                    <a:solidFill>
                      <a:srgbClr val="4070A0"/>
                    </a:solidFill>
                    <a:latin typeface="Courier"/>
                  </a:rPr>
                  <a:t>"flag"</a:t>
                </a:r>
                <a:r>
                  <a:rPr>
                    <a:latin typeface="Courier"/>
                  </a:rPr>
                  <a:t>, YCOL)]</a:t>
                </a:r>
                <a:br/>
                <a:br/>
                <a:r>
                  <a:rPr>
                    <a:latin typeface="Courier"/>
                  </a:rPr>
                  <a:t>d </a:t>
                </a:r>
                <a:r>
                  <a:rPr>
                    <a:solidFill>
                      <a:srgbClr val="666666"/>
                    </a:solidFill>
                    <a:latin typeface="Courier"/>
                  </a:rPr>
                  <a:t>=</a:t>
                </a:r>
                <a:r>
                  <a:rPr>
                    <a:latin typeface="Courier"/>
                  </a:rPr>
                  <a:t> raw.dropna(subset</a:t>
                </a:r>
                <a:r>
                  <a:rPr>
                    <a:solidFill>
                      <a:srgbClr val="666666"/>
                    </a:solidFill>
                    <a:latin typeface="Courier"/>
                  </a:rPr>
                  <a:t>=</a:t>
                </a:r>
                <a:r>
                  <a:rPr>
                    <a:latin typeface="Courier"/>
                  </a:rPr>
                  <a:t>[YCOL] </a:t>
                </a:r>
                <a:r>
                  <a:rPr>
                    <a:solidFill>
                      <a:srgbClr val="666666"/>
                    </a:solidFill>
                    <a:latin typeface="Courier"/>
                  </a:rPr>
                  <a:t>+</a:t>
                </a:r>
                <a:r>
                  <a:rPr>
                    <a:latin typeface="Courier"/>
                  </a:rPr>
                  <a:t> XCOLS)          </a:t>
                </a:r>
                <a:r>
                  <a:rPr i="1">
                    <a:solidFill>
                      <a:srgbClr val="60A0B0"/>
                    </a:solidFill>
                    <a:latin typeface="Courier"/>
                  </a:rPr>
                  <a:t># keep only fully observed rows</a:t>
                </a:r>
                <a:br/>
                <a:r>
                  <a:rPr>
                    <a:solidFill>
                      <a:srgbClr val="008000"/>
                    </a:solidFill>
                    <a:latin typeface="Courier"/>
                  </a:rPr>
                  <a:t>print</a:t>
                </a:r>
                <a:r>
                  <a:rPr>
                    <a:latin typeface="Courier"/>
                  </a:rPr>
                  <a:t>(</a:t>
                </a:r>
                <a:r>
                  <a:rPr>
                    <a:solidFill>
                      <a:srgbClr val="BB6688"/>
                    </a:solidFill>
                    <a:latin typeface="Courier"/>
                  </a:rPr>
                  <a:t>f"usable rows n = </a:t>
                </a:r>
                <a:r>
                  <a:rPr>
                    <a:solidFill>
                      <a:srgbClr val="4070A0"/>
                    </a:solidFill>
                    <a:latin typeface="Courier"/>
                  </a:rPr>
                  <a:t>{</a:t>
                </a:r>
                <a:r>
                  <a:rPr>
                    <a:solidFill>
                      <a:srgbClr val="008000"/>
                    </a:solidFill>
                    <a:latin typeface="Courier"/>
                  </a:rPr>
                  <a:t>len</a:t>
                </a:r>
                <a:r>
                  <a:rPr>
                    <a:latin typeface="Courier"/>
                  </a:rPr>
                  <a:t>(d)</a:t>
                </a:r>
                <a:r>
                  <a:rPr>
                    <a:solidFill>
                      <a:srgbClr val="4070A0"/>
                    </a:solidFill>
                    <a:latin typeface="Courier"/>
                  </a:rPr>
                  <a:t>}</a:t>
                </a:r>
                <a:r>
                  <a:rPr>
                    <a:solidFill>
                      <a:srgbClr val="BB6688"/>
                    </a:solidFill>
                    <a:latin typeface="Courier"/>
                  </a:rPr>
                  <a:t>,  candidate predictors p = </a:t>
                </a:r>
                <a:r>
                  <a:rPr>
                    <a:solidFill>
                      <a:srgbClr val="4070A0"/>
                    </a:solidFill>
                    <a:latin typeface="Courier"/>
                  </a:rPr>
                  <a:t>{</a:t>
                </a:r>
                <a:r>
                  <a:rPr>
                    <a:solidFill>
                      <a:srgbClr val="008000"/>
                    </a:solidFill>
                    <a:latin typeface="Courier"/>
                  </a:rPr>
                  <a:t>len</a:t>
                </a:r>
                <a:r>
                  <a:rPr>
                    <a:latin typeface="Courier"/>
                  </a:rPr>
                  <a:t>(XCOLS)</a:t>
                </a:r>
                <a:r>
                  <a:rPr>
                    <a:solidFill>
                      <a:srgbClr val="4070A0"/>
                    </a:solidFill>
                    <a:latin typeface="Courier"/>
                  </a:rPr>
                  <a:t>}</a:t>
                </a:r>
                <a:r>
                  <a:rPr>
                    <a:solidFill>
                      <a:srgbClr val="BB6688"/>
                    </a:solidFill>
                    <a:latin typeface="Courier"/>
                  </a:rPr>
                  <a:t>"</a:t>
                </a:r>
                <a:r>
                  <a:rPr>
                    <a:latin typeface="Courier"/>
                  </a:rPr>
                  <a:t>)</a:t>
                </a:r>
              </a:p>
              <a:p>
                <a:pPr lvl="0" indent="0">
                  <a:buNone/>
                </a:pPr>
                <a:r>
                  <a:rPr>
                    <a:latin typeface="Courier"/>
                  </a:rPr>
                  <a:t>usable rows n = 37,  candidate predictors p = 29</a:t>
                </a:r>
              </a:p>
              <a:p>
                <a:pPr lvl="0" indent="0" marL="0">
                  <a:buNone/>
                </a:pPr>
                <a14:m>
                  <m:oMath xmlns:m="http://schemas.openxmlformats.org/officeDocument/2006/math">
                    <m:r>
                      <m:t>n</m:t>
                    </m:r>
                    <m:r>
                      <m:rPr>
                        <m:sty m:val="p"/>
                      </m:rPr>
                      <m:t>=</m:t>
                    </m:r>
                    <m:r>
                      <m:t>37</m:t>
                    </m:r>
                  </m:oMath>
                </a14:m>
                <a:r>
                  <a:rPr/>
                  <a:t>, </a:t>
                </a:r>
                <a14:m>
                  <m:oMath xmlns:m="http://schemas.openxmlformats.org/officeDocument/2006/math">
                    <m:r>
                      <m:t>p</m:t>
                    </m:r>
                    <m:r>
                      <m:rPr>
                        <m:sty m:val="p"/>
                      </m:rPr>
                      <m:t>=</m:t>
                    </m:r>
                    <m:r>
                      <m:t>29</m:t>
                    </m:r>
                  </m:oMath>
                </a14:m>
                <a:r>
                  <a:rPr/>
                  <a:t>. Eight degrees of freedom. This is not an exotic case — it is what happens every time a new survey wave meets an old panel.</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OLS cannot cope here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solidFill>
                      <a:srgbClr val="008000"/>
                    </a:solidFill>
                    <a:latin typeface="Courier"/>
                  </a:rPr>
                  <a:t>print</a:t>
                </a:r>
                <a:r>
                  <a:rPr>
                    <a:latin typeface="Courier"/>
                  </a:rPr>
                  <a:t>(</a:t>
                </a:r>
                <a:r>
                  <a:rPr>
                    <a:solidFill>
                      <a:srgbClr val="BB6688"/>
                    </a:solidFill>
                    <a:latin typeface="Courier"/>
                  </a:rPr>
                  <a:t>f"condition number of the standardised design: </a:t>
                </a:r>
                <a:r>
                  <a:rPr>
                    <a:solidFill>
                      <a:srgbClr val="4070A0"/>
                    </a:solidFill>
                    <a:latin typeface="Courier"/>
                  </a:rPr>
                  <a:t>{</a:t>
                </a:r>
                <a:r>
                  <a:rPr>
                    <a:latin typeface="Courier"/>
                  </a:rPr>
                  <a:t>np</a:t>
                </a:r>
                <a:r>
                  <a:rPr>
                    <a:solidFill>
                      <a:srgbClr val="4070A0"/>
                    </a:solidFill>
                    <a:latin typeface="Courier"/>
                  </a:rPr>
                  <a:t>.</a:t>
                </a:r>
                <a:r>
                  <a:rPr>
                    <a:latin typeface="Courier"/>
                  </a:rPr>
                  <a:t>linalg</a:t>
                </a:r>
                <a:r>
                  <a:rPr>
                    <a:solidFill>
                      <a:srgbClr val="4070A0"/>
                    </a:solidFill>
                    <a:latin typeface="Courier"/>
                  </a:rPr>
                  <a:t>.</a:t>
                </a:r>
                <a:r>
                  <a:rPr>
                    <a:latin typeface="Courier"/>
                  </a:rPr>
                  <a:t>cond(Ztr)</a:t>
                </a:r>
                <a:r>
                  <a:rPr>
                    <a:solidFill>
                      <a:srgbClr val="4070A0"/>
                    </a:solidFill>
                    <a:latin typeface="Courier"/>
                  </a:rPr>
                  <a:t>:.1e}</a:t>
                </a:r>
                <a:r>
                  <a:rPr>
                    <a:solidFill>
                      <a:srgbClr val="BB6688"/>
                    </a:solidFill>
                    <a:latin typeface="Courier"/>
                  </a:rPr>
                  <a:t>"</a:t>
                </a:r>
                <a:r>
                  <a:rPr>
                    <a:latin typeface="Courier"/>
                  </a:rPr>
                  <a:t>)</a:t>
                </a:r>
              </a:p>
              <a:p>
                <a:pPr lvl="0" indent="0">
                  <a:buNone/>
                </a:pPr>
                <a:r>
                  <a:rPr>
                    <a:latin typeface="Courier"/>
                  </a:rPr>
                  <a:t>condition number of the standardised design: 5.0e+15</a:t>
                </a:r>
              </a:p>
              <a:p>
                <a:pPr lvl="0"/>
                <a:r>
                  <a:rPr/>
                  <a:t>Session 02: </a:t>
                </a:r>
                <a14:m>
                  <m:oMath xmlns:m="http://schemas.openxmlformats.org/officeDocument/2006/math">
                    <m:r>
                      <m:t>κ</m:t>
                    </m:r>
                    <m:d>
                      <m:dPr>
                        <m:begChr m:val="("/>
                        <m:sepChr m:val=""/>
                        <m:endChr m:val=")"/>
                        <m:grow/>
                      </m:dPr>
                      <m:e>
                        <m:r>
                          <m:t>X</m:t>
                        </m:r>
                      </m:e>
                    </m:d>
                  </m:oMath>
                </a14:m>
                <a:r>
                  <a:rPr/>
                  <a:t> near </a:t>
                </a:r>
                <a14:m>
                  <m:oMath xmlns:m="http://schemas.openxmlformats.org/officeDocument/2006/math">
                    <m:sSup>
                      <m:e>
                        <m:r>
                          <m:t>10</m:t>
                        </m:r>
                      </m:e>
                      <m:sup>
                        <m:r>
                          <m:t>16</m:t>
                        </m:r>
                      </m:sup>
                    </m:sSup>
                  </m:oMath>
                </a14:m>
                <a:r>
                  <a:rPr/>
                  <a:t> means the design is </a:t>
                </a:r>
                <a:r>
                  <a:rPr b="1"/>
                  <a:t>numerically singular</a:t>
                </a:r>
              </a:p>
              <a:p>
                <a:pPr lvl="0"/>
                <a:r>
                  <a:rPr/>
                  <a:t>Session 03: the variance of </a:t>
                </a:r>
                <a14:m>
                  <m:oMath xmlns:m="http://schemas.openxmlformats.org/officeDocument/2006/math">
                    <m:sSub>
                      <m:e>
                        <m:acc>
                          <m:accPr>
                            <m:chr m:val="̂"/>
                          </m:accPr>
                          <m:e>
                            <m:r>
                              <m:t>β</m:t>
                            </m:r>
                          </m:e>
                        </m:acc>
                      </m:e>
                      <m:sub>
                        <m:r>
                          <m:t>j</m:t>
                        </m:r>
                      </m:sub>
                    </m:sSub>
                  </m:oMath>
                </a14:m>
                <a:r>
                  <a:rPr/>
                  <a:t> is </a:t>
                </a:r>
                <a14:m>
                  <m:oMath xmlns:m="http://schemas.openxmlformats.org/officeDocument/2006/math">
                    <m:sSup>
                      <m:e>
                        <m:r>
                          <m:t>σ</m:t>
                        </m:r>
                      </m:e>
                      <m:sup>
                        <m:r>
                          <m:t>2</m:t>
                        </m:r>
                      </m:sup>
                    </m:sSup>
                    <m:r>
                      <m:rPr>
                        <m:sty m:val="p"/>
                      </m:rPr>
                      <m:t>/</m:t>
                    </m:r>
                    <m:d>
                      <m:dPr>
                        <m:begChr m:val="["/>
                        <m:sepChr m:val=""/>
                        <m:endChr m:val="]"/>
                        <m:grow/>
                      </m:dPr>
                      <m:e>
                        <m:d>
                          <m:dPr>
                            <m:begChr m:val="("/>
                            <m:sepChr m:val=""/>
                            <m:endChr m:val=")"/>
                            <m:grow/>
                          </m:dPr>
                          <m:e>
                            <m:r>
                              <m:t>1</m:t>
                            </m:r>
                            <m:r>
                              <m:rPr>
                                <m:sty m:val="p"/>
                              </m:rPr>
                              <m:t>−</m:t>
                            </m:r>
                            <m:sSubSup>
                              <m:e>
                                <m:r>
                                  <m:t>R</m:t>
                                </m:r>
                              </m:e>
                              <m:sub>
                                <m:r>
                                  <m:t>j</m:t>
                                </m:r>
                              </m:sub>
                              <m:sup>
                                <m:r>
                                  <m:t>2</m:t>
                                </m:r>
                              </m:sup>
                            </m:sSubSup>
                          </m:e>
                        </m:d>
                        <m:r>
                          <m:t> </m:t>
                        </m:r>
                        <m:sSub>
                          <m:e>
                            <m:r>
                              <m:rPr>
                                <m:sty m:val="p"/>
                              </m:rPr>
                              <m:t>S</m:t>
                            </m:r>
                            <m:r>
                              <m:rPr>
                                <m:sty m:val="p"/>
                              </m:rPr>
                              <m:t>S</m:t>
                            </m:r>
                          </m:e>
                          <m:sub>
                            <m:r>
                              <m:t>j</m:t>
                            </m:r>
                          </m:sub>
                        </m:sSub>
                      </m:e>
                    </m:d>
                  </m:oMath>
                </a14:m>
                <a:r>
                  <a:rPr/>
                  <a:t> — and </a:t>
                </a:r>
                <a14:m>
                  <m:oMath xmlns:m="http://schemas.openxmlformats.org/officeDocument/2006/math">
                    <m:sSubSup>
                      <m:e>
                        <m:r>
                          <m:t>R</m:t>
                        </m:r>
                      </m:e>
                      <m:sub>
                        <m:r>
                          <m:t>j</m:t>
                        </m:r>
                      </m:sub>
                      <m:sup>
                        <m:r>
                          <m:t>2</m:t>
                        </m:r>
                      </m:sup>
                    </m:sSubSup>
                    <m:r>
                      <m:rPr>
                        <m:sty m:val="p"/>
                      </m:rPr>
                      <m:t>→</m:t>
                    </m:r>
                    <m:r>
                      <m:t>1</m:t>
                    </m:r>
                  </m:oMath>
                </a14:m>
                <a:r>
                  <a:rPr/>
                  <a:t> here</a:t>
                </a:r>
              </a:p>
              <a:p>
                <a:pPr lvl="0"/>
                <a:r>
                  <a:rPr/>
                  <a:t>So the coefficients exist, but they are noise amplified</a:t>
                </a:r>
              </a:p>
              <a:p>
                <a:pPr lvl="0" indent="0" marL="0">
                  <a:buNone/>
                </a:pPr>
                <a:r>
                  <a:rPr/>
                  <a:t>The diagnostic you learned in Session 03 does not just warn you. It tells you </a:t>
                </a:r>
                <a:r>
                  <a:rPr b="1"/>
                  <a:t>which tool to reach for next</a:t>
                </a:r>
                <a:r>
                  <a:rPr/>
                  <a:t>.</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Four estimators, one held-out test set</a:t>
            </a:r>
          </a:p>
        </p:txBody>
      </p:sp>
      <p:sp>
        <p:nvSpPr>
          <p:cNvPr id="3" name="Content Placeholder 2"/>
          <p:cNvSpPr>
            <a:spLocks noGrp="1"/>
          </p:cNvSpPr>
          <p:nvPr>
            <p:ph idx="1"/>
          </p:nvPr>
        </p:nvSpPr>
        <p:spPr/>
        <p:txBody>
          <a:bodyPr/>
          <a:lstStyle/>
          <a:p>
            <a:pPr lvl="0" indent="0">
              <a:buNone/>
            </a:pPr>
            <a:r>
              <a:rPr b="1">
                <a:solidFill>
                  <a:srgbClr val="007020"/>
                </a:solidFill>
                <a:latin typeface="Courier"/>
              </a:rPr>
              <a:t>def</a:t>
            </a:r>
            <a:r>
              <a:rPr>
                <a:latin typeface="Courier"/>
              </a:rPr>
              <a:t> test_rmse(model):</a:t>
            </a:r>
            <a:br/>
            <a:r>
              <a:rPr>
                <a:latin typeface="Courier"/>
              </a:rPr>
              <a:t>    </a:t>
            </a:r>
            <a:r>
              <a:rPr i="1">
                <a:solidFill>
                  <a:srgbClr val="60A0B0"/>
                </a:solidFill>
                <a:latin typeface="Courier"/>
              </a:rPr>
              <a:t>"""Fit on the training split, score on the untouched 30%."""</a:t>
            </a:r>
            <a:br/>
            <a:r>
              <a:rPr>
                <a:latin typeface="Courier"/>
              </a:rPr>
              <a:t>    model.fit(Xtr, ytr)</a:t>
            </a:r>
            <a:br/>
            <a:r>
              <a:rPr>
                <a:latin typeface="Courier"/>
              </a:rPr>
              <a:t>    </a:t>
            </a:r>
            <a:r>
              <a:rPr b="1">
                <a:solidFill>
                  <a:srgbClr val="007020"/>
                </a:solidFill>
                <a:latin typeface="Courier"/>
              </a:rPr>
              <a:t>return</a:t>
            </a:r>
            <a:r>
              <a:rPr>
                <a:latin typeface="Courier"/>
              </a:rPr>
              <a:t> np.sqrt(mean_squared_error(yte, model.predict(Xte)))</a:t>
            </a:r>
            <a:br/>
            <a:br/>
            <a:r>
              <a:rPr>
                <a:latin typeface="Courier"/>
              </a:rPr>
              <a:t>ALPHAS </a:t>
            </a:r>
            <a:r>
              <a:rPr>
                <a:solidFill>
                  <a:srgbClr val="666666"/>
                </a:solidFill>
                <a:latin typeface="Courier"/>
              </a:rPr>
              <a:t>=</a:t>
            </a:r>
            <a:r>
              <a:rPr>
                <a:latin typeface="Courier"/>
              </a:rPr>
              <a:t> np.logspace(</a:t>
            </a:r>
            <a:r>
              <a:rPr>
                <a:solidFill>
                  <a:srgbClr val="666666"/>
                </a:solidFill>
                <a:latin typeface="Courier"/>
              </a:rPr>
              <a:t>-</a:t>
            </a:r>
            <a:r>
              <a:rPr>
                <a:solidFill>
                  <a:srgbClr val="40A070"/>
                </a:solidFill>
                <a:latin typeface="Courier"/>
              </a:rPr>
              <a:t>3</a:t>
            </a:r>
            <a:r>
              <a:rPr>
                <a:latin typeface="Courier"/>
              </a:rPr>
              <a:t>, </a:t>
            </a:r>
            <a:r>
              <a:rPr>
                <a:solidFill>
                  <a:srgbClr val="40A070"/>
                </a:solidFill>
                <a:latin typeface="Courier"/>
              </a:rPr>
              <a:t>3</a:t>
            </a:r>
            <a:r>
              <a:rPr>
                <a:latin typeface="Courier"/>
              </a:rPr>
              <a:t>, </a:t>
            </a:r>
            <a:r>
              <a:rPr>
                <a:solidFill>
                  <a:srgbClr val="40A070"/>
                </a:solidFill>
                <a:latin typeface="Courier"/>
              </a:rPr>
              <a:t>60</a:t>
            </a:r>
            <a:r>
              <a:rPr>
                <a:latin typeface="Courier"/>
              </a:rPr>
              <a:t>)</a:t>
            </a:r>
            <a:br/>
            <a:r>
              <a:rPr>
                <a:latin typeface="Courier"/>
              </a:rPr>
              <a:t>L1S    </a:t>
            </a:r>
            <a:r>
              <a:rPr>
                <a:solidFill>
                  <a:srgbClr val="666666"/>
                </a:solidFill>
                <a:latin typeface="Courier"/>
              </a:rPr>
              <a:t>=</a:t>
            </a:r>
            <a:r>
              <a:rPr>
                <a:latin typeface="Courier"/>
              </a:rPr>
              <a:t> [</a:t>
            </a:r>
            <a:r>
              <a:rPr>
                <a:solidFill>
                  <a:srgbClr val="40A070"/>
                </a:solidFill>
                <a:latin typeface="Courier"/>
              </a:rPr>
              <a:t>0.1</a:t>
            </a:r>
            <a:r>
              <a:rPr>
                <a:latin typeface="Courier"/>
              </a:rPr>
              <a:t>, </a:t>
            </a:r>
            <a:r>
              <a:rPr>
                <a:solidFill>
                  <a:srgbClr val="40A070"/>
                </a:solidFill>
                <a:latin typeface="Courier"/>
              </a:rPr>
              <a:t>0.5</a:t>
            </a:r>
            <a:r>
              <a:rPr>
                <a:latin typeface="Courier"/>
              </a:rPr>
              <a:t>, </a:t>
            </a:r>
            <a:r>
              <a:rPr>
                <a:solidFill>
                  <a:srgbClr val="40A070"/>
                </a:solidFill>
                <a:latin typeface="Courier"/>
              </a:rPr>
              <a:t>0.7</a:t>
            </a:r>
            <a:r>
              <a:rPr>
                <a:latin typeface="Courier"/>
              </a:rPr>
              <a:t>, </a:t>
            </a:r>
            <a:r>
              <a:rPr>
                <a:solidFill>
                  <a:srgbClr val="40A070"/>
                </a:solidFill>
                <a:latin typeface="Courier"/>
              </a:rPr>
              <a:t>0.9</a:t>
            </a:r>
            <a:r>
              <a:rPr>
                <a:latin typeface="Courier"/>
              </a:rPr>
              <a:t>, </a:t>
            </a:r>
            <a:r>
              <a:rPr>
                <a:solidFill>
                  <a:srgbClr val="40A070"/>
                </a:solidFill>
                <a:latin typeface="Courier"/>
              </a:rPr>
              <a:t>0.95</a:t>
            </a:r>
            <a:r>
              <a:rPr>
                <a:latin typeface="Courier"/>
              </a:rPr>
              <a:t>, </a:t>
            </a:r>
            <a:r>
              <a:rPr>
                <a:solidFill>
                  <a:srgbClr val="40A070"/>
                </a:solidFill>
                <a:latin typeface="Courier"/>
              </a:rPr>
              <a:t>1.0</a:t>
            </a:r>
            <a:r>
              <a:rPr>
                <a:latin typeface="Courier"/>
              </a:rPr>
              <a:t>]</a:t>
            </a:r>
            <a:br/>
            <a:br/>
            <a:r>
              <a:rPr>
                <a:latin typeface="Courier"/>
              </a:rPr>
              <a:t>scores </a:t>
            </a:r>
            <a:r>
              <a:rPr>
                <a:solidFill>
                  <a:srgbClr val="666666"/>
                </a:solidFill>
                <a:latin typeface="Courier"/>
              </a:rPr>
              <a:t>=</a:t>
            </a:r>
            <a:r>
              <a:rPr>
                <a:latin typeface="Courier"/>
              </a:rPr>
              <a:t> {</a:t>
            </a:r>
            <a:br/>
            <a:r>
              <a:rPr>
                <a:latin typeface="Courier"/>
              </a:rPr>
              <a:t>    </a:t>
            </a:r>
            <a:r>
              <a:rPr>
                <a:solidFill>
                  <a:srgbClr val="4070A0"/>
                </a:solidFill>
                <a:latin typeface="Courier"/>
              </a:rPr>
              <a:t>"predict the mean"</a:t>
            </a:r>
            <a:r>
              <a:rPr>
                <a:latin typeface="Courier"/>
              </a:rPr>
              <a:t>: np.sqrt(mean_squared_error(yte, np.full_like(yte, ytr.mean()))),</a:t>
            </a:r>
            <a:br/>
            <a:r>
              <a:rPr>
                <a:latin typeface="Courier"/>
              </a:rPr>
              <a:t>    </a:t>
            </a:r>
            <a:r>
              <a:rPr>
                <a:solidFill>
                  <a:srgbClr val="4070A0"/>
                </a:solidFill>
                <a:latin typeface="Courier"/>
              </a:rPr>
              <a:t>"OLS"</a:t>
            </a:r>
            <a:r>
              <a:rPr>
                <a:latin typeface="Courier"/>
              </a:rPr>
              <a:t>:         test_rmse(make_pipeline(StandardScaler(), LinearRegression())),</a:t>
            </a:r>
            <a:br/>
            <a:r>
              <a:rPr>
                <a:latin typeface="Courier"/>
              </a:rPr>
              <a:t>    </a:t>
            </a:r>
            <a:r>
              <a:rPr>
                <a:solidFill>
                  <a:srgbClr val="4070A0"/>
                </a:solidFill>
                <a:latin typeface="Courier"/>
              </a:rPr>
              <a:t>"ridge (CV)"</a:t>
            </a:r>
            <a:r>
              <a:rPr>
                <a:latin typeface="Courier"/>
              </a:rPr>
              <a:t>:  test_rmse(make_pipeline(StandardScaler(), RidgeCV(alphas</a:t>
            </a:r>
            <a:r>
              <a:rPr>
                <a:solidFill>
                  <a:srgbClr val="666666"/>
                </a:solidFill>
                <a:latin typeface="Courier"/>
              </a:rPr>
              <a:t>=</a:t>
            </a:r>
            <a:r>
              <a:rPr>
                <a:latin typeface="Courier"/>
              </a:rPr>
              <a:t>ALPHAS))),</a:t>
            </a:r>
            <a:br/>
            <a:r>
              <a:rPr>
                <a:latin typeface="Courier"/>
              </a:rPr>
              <a:t>    </a:t>
            </a:r>
            <a:r>
              <a:rPr>
                <a:solidFill>
                  <a:srgbClr val="4070A0"/>
                </a:solidFill>
                <a:latin typeface="Courier"/>
              </a:rPr>
              <a:t>"lasso (CV)"</a:t>
            </a:r>
            <a:r>
              <a:rPr>
                <a:latin typeface="Courier"/>
              </a:rPr>
              <a:t>:  test_rmse(make_pipeline(StandardScaler(), LassoCV(cv</a:t>
            </a:r>
            <a:r>
              <a:rPr>
                <a:solidFill>
                  <a:srgbClr val="666666"/>
                </a:solidFill>
                <a:latin typeface="Courier"/>
              </a:rPr>
              <a:t>=</a:t>
            </a:r>
            <a:r>
              <a:rPr>
                <a:solidFill>
                  <a:srgbClr val="40A070"/>
                </a:solidFill>
                <a:latin typeface="Courier"/>
              </a:rPr>
              <a:t>5</a:t>
            </a:r>
            <a:r>
              <a:rPr>
                <a:latin typeface="Courier"/>
              </a:rPr>
              <a:t>, random_state</a:t>
            </a:r>
            <a:r>
              <a:rPr>
                <a:solidFill>
                  <a:srgbClr val="666666"/>
                </a:solidFill>
                <a:latin typeface="Courier"/>
              </a:rPr>
              <a:t>=</a:t>
            </a:r>
            <a:r>
              <a:rPr>
                <a:solidFill>
                  <a:srgbClr val="40A070"/>
                </a:solidFill>
                <a:latin typeface="Courier"/>
              </a:rPr>
              <a:t>0</a:t>
            </a:r>
            <a:r>
              <a:rPr>
                <a:latin typeface="Courier"/>
              </a:rPr>
              <a:t>, max_iter</a:t>
            </a:r>
            <a:r>
              <a:rPr>
                <a:solidFill>
                  <a:srgbClr val="666666"/>
                </a:solidFill>
                <a:latin typeface="Courier"/>
              </a:rPr>
              <a:t>=</a:t>
            </a:r>
            <a:r>
              <a:rPr>
                <a:solidFill>
                  <a:srgbClr val="40A070"/>
                </a:solidFill>
                <a:latin typeface="Courier"/>
              </a:rPr>
              <a:t>50_000</a:t>
            </a:r>
            <a:r>
              <a:rPr>
                <a:latin typeface="Courier"/>
              </a:rPr>
              <a:t>))),</a:t>
            </a:r>
            <a:br/>
            <a:r>
              <a:rPr>
                <a:latin typeface="Courier"/>
              </a:rPr>
              <a:t>    </a:t>
            </a:r>
            <a:r>
              <a:rPr>
                <a:solidFill>
                  <a:srgbClr val="4070A0"/>
                </a:solidFill>
                <a:latin typeface="Courier"/>
              </a:rPr>
              <a:t>"elastic net"</a:t>
            </a:r>
            <a:r>
              <a:rPr>
                <a:latin typeface="Courier"/>
              </a:rPr>
              <a:t>: test_rmse(make_pipeline(StandardScaler(), ElasticNetCV(l1_ratio</a:t>
            </a:r>
            <a:r>
              <a:rPr>
                <a:solidFill>
                  <a:srgbClr val="666666"/>
                </a:solidFill>
                <a:latin typeface="Courier"/>
              </a:rPr>
              <a:t>=</a:t>
            </a:r>
            <a:r>
              <a:rPr>
                <a:latin typeface="Courier"/>
              </a:rPr>
              <a:t>L1S, cv</a:t>
            </a:r>
            <a:r>
              <a:rPr>
                <a:solidFill>
                  <a:srgbClr val="666666"/>
                </a:solidFill>
                <a:latin typeface="Courier"/>
              </a:rPr>
              <a:t>=</a:t>
            </a:r>
            <a:r>
              <a:rPr>
                <a:solidFill>
                  <a:srgbClr val="40A070"/>
                </a:solidFill>
                <a:latin typeface="Courier"/>
              </a:rPr>
              <a:t>5</a:t>
            </a:r>
            <a:r>
              <a:rPr>
                <a:latin typeface="Courier"/>
              </a:rPr>
              <a:t>, random_state</a:t>
            </a:r>
            <a:r>
              <a:rPr>
                <a:solidFill>
                  <a:srgbClr val="666666"/>
                </a:solidFill>
                <a:latin typeface="Courier"/>
              </a:rPr>
              <a:t>=</a:t>
            </a:r>
            <a:r>
              <a:rPr>
                <a:solidFill>
                  <a:srgbClr val="40A070"/>
                </a:solidFill>
                <a:latin typeface="Courier"/>
              </a:rPr>
              <a:t>0</a:t>
            </a:r>
            <a:r>
              <a:rPr>
                <a:latin typeface="Courier"/>
              </a:rPr>
              <a:t>, max_iter</a:t>
            </a:r>
            <a:r>
              <a:rPr>
                <a:solidFill>
                  <a:srgbClr val="666666"/>
                </a:solidFill>
                <a:latin typeface="Courier"/>
              </a:rPr>
              <a:t>=</a:t>
            </a:r>
            <a:r>
              <a:rPr>
                <a:solidFill>
                  <a:srgbClr val="40A070"/>
                </a:solidFill>
                <a:latin typeface="Courier"/>
              </a:rPr>
              <a:t>50_000</a:t>
            </a:r>
            <a:r>
              <a:rPr>
                <a:latin typeface="Courier"/>
              </a:rPr>
              <a:t>))),</a:t>
            </a:r>
            <a:br/>
            <a:r>
              <a:rPr>
                <a:latin typeface="Courier"/>
              </a:rPr>
              <a:t>}</a:t>
            </a:r>
          </a:p>
          <a:p>
            <a:pPr lvl="0" indent="0" marL="0">
              <a:buNone/>
            </a:pPr>
            <a:r>
              <a:rPr>
                <a:latin typeface="Courier"/>
              </a:rPr>
              <a:t>make_pipeline(StandardScaler(), …)</a:t>
            </a:r>
            <a:r>
              <a:rPr/>
              <a:t> matters: the scaler is refitted </a:t>
            </a:r>
            <a:r>
              <a:rPr b="1"/>
              <a:t>inside</a:t>
            </a:r>
            <a:r>
              <a:rPr/>
              <a:t> each CV fold, so no test-fold information leaks into the standardisation. Session 04, leakage #1.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result</a:t>
            </a:r>
          </a:p>
        </p:txBody>
      </p:sp>
      <p:pic>
        <p:nvPicPr>
          <p:cNvPr descr="slides_files/figure-pptx/cell-6-output-1.png" id="0" name="Picture 1"/>
          <p:cNvPicPr>
            <a:picLocks noGrp="1" noChangeAspect="1"/>
          </p:cNvPicPr>
          <p:nvPr/>
        </p:nvPicPr>
        <p:blipFill>
          <a:blip r:embed="rId2"/>
          <a:stretch>
            <a:fillRect/>
          </a:stretch>
        </p:blipFill>
        <p:spPr bwMode="auto">
          <a:xfrm>
            <a:off x="584200" y="1193800"/>
            <a:ext cx="79883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OLS beats </a:t>
            </a:r>
            <a:r>
              <a:rPr i="1"/>
              <a:t>predicting the mean</a:t>
            </a:r>
            <a:r>
              <a:rPr/>
              <a:t> by 9%. Ridge beats it by 57%.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 that again</a:t>
            </a:r>
          </a:p>
        </p:txBody>
      </p:sp>
      <p:sp>
        <p:nvSpPr>
          <p:cNvPr id="3" name="Content Placeholder 2"/>
          <p:cNvSpPr>
            <a:spLocks noGrp="1"/>
          </p:cNvSpPr>
          <p:nvPr>
            <p:ph idx="1"/>
          </p:nvPr>
        </p:nvSpPr>
        <p:spPr/>
        <p:txBody>
          <a:bodyPr/>
          <a:lstStyle/>
          <a:p>
            <a:pPr lvl="0"/>
            <a:r>
              <a:rPr/>
              <a:t>With 29 predictors and 37 rows, </a:t>
            </a:r>
            <a:r>
              <a:rPr b="1"/>
              <a:t>OLS is worth almost nothing</a:t>
            </a:r>
            <a:r>
              <a:rPr/>
              <a:t> — it is fitting noise</a:t>
            </a:r>
          </a:p>
          <a:p>
            <a:pPr lvl="0"/>
            <a:r>
              <a:rPr/>
              <a:t>The penalised fits cut the error by </a:t>
            </a:r>
            <a:r>
              <a:rPr b="1"/>
              <a:t>more than half</a:t>
            </a:r>
            <a:r>
              <a:rPr/>
              <a:t>, using the </a:t>
            </a:r>
            <a:r>
              <a:rPr i="1"/>
              <a:t>same</a:t>
            </a:r>
            <a:r>
              <a:rPr/>
              <a:t> columns</a:t>
            </a:r>
          </a:p>
          <a:p>
            <a:pPr lvl="0"/>
            <a:r>
              <a:rPr/>
              <a:t>Nothing was added. Something was </a:t>
            </a:r>
            <a:r>
              <a:rPr b="1"/>
              <a:t>restrained</a:t>
            </a:r>
          </a:p>
          <a:p>
            <a:pPr lvl="0" indent="0" marL="0">
              <a:buNone/>
            </a:pPr>
            <a:r>
              <a:rPr/>
              <a:t>This is the entire argument for regularisation, and it took four lines of code to make. The rest of the session is about </a:t>
            </a:r>
            <a:r>
              <a:rPr i="1"/>
              <a:t>why</a:t>
            </a:r>
            <a:r>
              <a:rPr/>
              <a:t> it works and </a:t>
            </a:r>
            <a:r>
              <a:rPr i="1"/>
              <a:t>how</a:t>
            </a:r>
            <a:r>
              <a:rPr/>
              <a:t> to set the dial.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3 · Ridge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estimator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sSup>
                        <m:e>
                          <m:acc>
                            <m:accPr>
                              <m:chr m:val="̂"/>
                            </m:accPr>
                            <m:e>
                              <m:r>
                                <m:t>β</m:t>
                              </m:r>
                            </m:e>
                          </m:acc>
                        </m:e>
                        <m:sup>
                          <m:r>
                            <m:rPr>
                              <m:nor/>
                              <m:sty m:val="p"/>
                            </m:rPr>
                            <m:t>ridge</m:t>
                          </m:r>
                        </m:sup>
                      </m:sSup>
                      <m:r>
                        <m:rPr>
                          <m:sty m:val="p"/>
                        </m:rPr>
                        <m:t>=</m:t>
                      </m:r>
                      <m:r>
                        <m:rPr>
                          <m:sty m:val="p"/>
                        </m:rPr>
                        <m:t>arg</m:t>
                      </m:r>
                      <m:limLow>
                        <m:e>
                          <m:r>
                            <m:rPr>
                              <m:sty m:val="p"/>
                            </m:rPr>
                            <m:t>min</m:t>
                          </m:r>
                        </m:e>
                        <m:lim>
                          <m:r>
                            <m:t>β</m:t>
                          </m:r>
                        </m:lim>
                      </m:limLow>
                      <m:d>
                        <m:dPr>
                          <m:begChr m:val="{"/>
                          <m:sepChr m:val=""/>
                          <m:endChr m:val="}"/>
                          <m:grow/>
                        </m:dPr>
                        <m:e>
                          <m:r>
                            <m:rPr>
                              <m:sty m:val="p"/>
                            </m:rPr>
                            <m:t>∥</m:t>
                          </m:r>
                          <m:r>
                            <m:t>y</m:t>
                          </m:r>
                          <m:r>
                            <m:rPr>
                              <m:sty m:val="p"/>
                            </m:rPr>
                            <m:t>−</m:t>
                          </m:r>
                          <m:r>
                            <m:t>X</m:t>
                          </m:r>
                          <m:r>
                            <m:t>β</m:t>
                          </m:r>
                          <m:sSubSup>
                            <m:e>
                              <m:r>
                                <m:rPr>
                                  <m:sty m:val="p"/>
                                </m:rPr>
                                <m:t>∥</m:t>
                              </m:r>
                            </m:e>
                            <m:sub>
                              <m:r>
                                <m:t>2</m:t>
                              </m:r>
                            </m:sub>
                            <m:sup>
                              <m:r>
                                <m:t>2</m:t>
                              </m:r>
                            </m:sup>
                          </m:sSubSup>
                          <m:r>
                            <m:rPr>
                              <m:sty m:val="p"/>
                            </m:rPr>
                            <m:t>+</m:t>
                          </m:r>
                          <m:r>
                            <m:t>λ</m:t>
                          </m:r>
                          <m:r>
                            <m:rPr>
                              <m:sty m:val="p"/>
                            </m:rPr>
                            <m:t>∥</m:t>
                          </m:r>
                          <m:r>
                            <m:t>β</m:t>
                          </m:r>
                          <m:sSubSup>
                            <m:e>
                              <m:r>
                                <m:rPr>
                                  <m:sty m:val="p"/>
                                </m:rPr>
                                <m:t>∥</m:t>
                              </m:r>
                            </m:e>
                            <m:sub>
                              <m:r>
                                <m:t>2</m:t>
                              </m:r>
                            </m:sub>
                            <m:sup>
                              <m:r>
                                <m:t>2</m:t>
                              </m:r>
                            </m:sup>
                          </m:sSubSup>
                        </m:e>
                      </m:d>
                      <m:r>
                        <m:rPr>
                          <m:sty m:val="p"/>
                        </m:rPr>
                        <m:t>=</m:t>
                      </m:r>
                      <m:sSup>
                        <m:e>
                          <m:d>
                            <m:dPr>
                              <m:begChr m:val="("/>
                              <m:sepChr m:val=""/>
                              <m:endChr m:val=")"/>
                              <m:grow/>
                            </m:dPr>
                            <m:e>
                              <m:sSup>
                                <m:e>
                                  <m:r>
                                    <m:t>X</m:t>
                                  </m:r>
                                </m:e>
                                <m:sup>
                                  <m:r>
                                    <m:rPr>
                                      <m:sty m:val="p"/>
                                    </m:rPr>
                                    <m:t>⊤</m:t>
                                  </m:r>
                                </m:sup>
                              </m:sSup>
                              <m:r>
                                <m:t>X</m:t>
                              </m:r>
                              <m:r>
                                <m:rPr>
                                  <m:sty m:val="p"/>
                                </m:rPr>
                                <m:t>+</m:t>
                              </m:r>
                              <m:r>
                                <m:t>λ</m:t>
                              </m:r>
                              <m:r>
                                <m:t>I</m:t>
                              </m:r>
                            </m:e>
                          </m:d>
                        </m:e>
                        <m:sup>
                          <m:r>
                            <m:rPr>
                              <m:sty m:val="p"/>
                            </m:rPr>
                            <m:t>−</m:t>
                          </m:r>
                          <m:r>
                            <m:t>1</m:t>
                          </m:r>
                        </m:sup>
                      </m:sSup>
                      <m:sSup>
                        <m:e>
                          <m:r>
                            <m:t>X</m:t>
                          </m:r>
                        </m:e>
                        <m:sup>
                          <m:r>
                            <m:rPr>
                              <m:sty m:val="p"/>
                            </m:rPr>
                            <m:t>⊤</m:t>
                          </m:r>
                        </m:sup>
                      </m:sSup>
                      <m:r>
                        <m:t>y</m:t>
                      </m:r>
                    </m:oMath>
                  </m:oMathPara>
                </a14:m>
              </a:p>
              <a:p>
                <a:pPr lvl="0" indent="0" marL="0">
                  <a:buNone/>
                </a:pPr>
                <a:r>
                  <a:rPr/>
                  <a:t>Adding </a:t>
                </a:r>
                <a14:m>
                  <m:oMath xmlns:m="http://schemas.openxmlformats.org/officeDocument/2006/math">
                    <m:r>
                      <m:t>λ</m:t>
                    </m:r>
                    <m:r>
                      <m:t>I</m:t>
                    </m:r>
                  </m:oMath>
                </a14:m>
                <a:r>
                  <a:rPr/>
                  <a:t> lifts every eigenvalue of </a:t>
                </a:r>
                <a14:m>
                  <m:oMath xmlns:m="http://schemas.openxmlformats.org/officeDocument/2006/math">
                    <m:sSup>
                      <m:e>
                        <m:r>
                          <m:t>X</m:t>
                        </m:r>
                      </m:e>
                      <m:sup>
                        <m:r>
                          <m:rPr>
                            <m:sty m:val="p"/>
                          </m:rPr>
                          <m:t>⊤</m:t>
                        </m:r>
                      </m:sup>
                    </m:sSup>
                    <m:r>
                      <m:t>X</m:t>
                    </m:r>
                  </m:oMath>
                </a14:m>
                <a:r>
                  <a:rPr/>
                  <a:t> by </a:t>
                </a:r>
                <a14:m>
                  <m:oMath xmlns:m="http://schemas.openxmlformats.org/officeDocument/2006/math">
                    <m:r>
                      <m:t>λ</m:t>
                    </m:r>
                  </m:oMath>
                </a14:m>
                <a:r>
                  <a:rPr/>
                  <a:t>. A matrix with all eigenvalues positive is invertible — </a:t>
                </a:r>
                <a:r>
                  <a:rPr b="1"/>
                  <a:t>for any</a:t>
                </a:r>
                <a:r>
                  <a:rPr/>
                  <a:t> </a:t>
                </a:r>
                <a14:m>
                  <m:oMath xmlns:m="http://schemas.openxmlformats.org/officeDocument/2006/math">
                    <m:r>
                      <m:t>λ</m:t>
                    </m:r>
                    <m:r>
                      <m:rPr>
                        <m:sty m:val="p"/>
                      </m:rPr>
                      <m:t>&gt;</m:t>
                    </m:r>
                    <m:r>
                      <m:t>0</m:t>
                    </m:r>
                  </m:oMath>
                </a14:m>
                <a:r>
                  <a:rPr/>
                  <a:t>, </a:t>
                </a:r>
                <a:r>
                  <a:rPr b="1"/>
                  <a:t>even when</a:t>
                </a:r>
                <a:r>
                  <a:rPr/>
                  <a:t> </a:t>
                </a:r>
                <a14:m>
                  <m:oMath xmlns:m="http://schemas.openxmlformats.org/officeDocument/2006/math">
                    <m:r>
                      <m:t>p</m:t>
                    </m:r>
                    <m:r>
                      <m:rPr>
                        <m:sty m:val="p"/>
                      </m:rPr>
                      <m:t>&gt;</m:t>
                    </m:r>
                    <m:r>
                      <m:t>n</m:t>
                    </m:r>
                  </m:oMath>
                </a14:m>
                <a:r>
                  <a:rPr/>
                  <a:t>.</a:t>
                </a:r>
              </a:p>
              <a:p>
                <a:pPr lvl="0" indent="0" marL="0">
                  <a:buNone/>
                </a:pPr>
                <a:r>
                  <a:rPr/>
                  <a:t>Regularisation is not only a bias–variance device. It is what makes the problem </a:t>
                </a:r>
                <a:r>
                  <a:rPr b="1"/>
                  <a:t>well-posed at all</a:t>
                </a:r>
                <a:r>
                  <a:rPr/>
                  <a:t>. That is why it appears in every high-dimensional method you will meet.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Ridge in the SVD basis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With </a:t>
                </a:r>
                <a14:m>
                  <m:oMath xmlns:m="http://schemas.openxmlformats.org/officeDocument/2006/math">
                    <m:r>
                      <m:t>X</m:t>
                    </m:r>
                    <m:r>
                      <m:rPr>
                        <m:sty m:val="p"/>
                      </m:rPr>
                      <m:t>=</m:t>
                    </m:r>
                    <m:r>
                      <m:t>U</m:t>
                    </m:r>
                    <m:r>
                      <m:t>D</m:t>
                    </m:r>
                    <m:sSup>
                      <m:e>
                        <m:r>
                          <m:t>V</m:t>
                        </m:r>
                      </m:e>
                      <m:sup>
                        <m:r>
                          <m:rPr>
                            <m:sty m:val="p"/>
                          </m:rPr>
                          <m:t>⊤</m:t>
                        </m:r>
                      </m:sup>
                    </m:sSup>
                  </m:oMath>
                </a14:m>
                <a:r>
                  <a:rPr/>
                  <a:t> — Session 02’s singular value decomposition:</a:t>
                </a:r>
              </a:p>
              <a:p>
                <a:pPr lvl="0" indent="0" marL="0">
                  <a:buNone/>
                </a:pPr>
                <a14:m>
                  <m:oMathPara xmlns:m="http://schemas.openxmlformats.org/officeDocument/2006/math">
                    <m:oMathParaPr>
                      <m:jc m:val="center"/>
                    </m:oMathParaPr>
                    <m:oMath>
                      <m:sSup>
                        <m:e>
                          <m:acc>
                            <m:accPr>
                              <m:chr m:val="̂"/>
                            </m:accPr>
                            <m:e>
                              <m:r>
                                <m:t>y</m:t>
                              </m:r>
                            </m:e>
                          </m:acc>
                        </m:e>
                        <m:sup>
                          <m:r>
                            <m:rPr>
                              <m:nor/>
                              <m:sty m:val="p"/>
                            </m:rPr>
                            <m:t>ridge</m:t>
                          </m:r>
                        </m:sup>
                      </m:sSup>
                      <m:r>
                        <m:rPr>
                          <m:sty m:val="p"/>
                        </m:rPr>
                        <m:t>=</m:t>
                      </m:r>
                      <m:nary>
                        <m:naryPr>
                          <m:chr m:val="∑"/>
                          <m:limLoc m:val="undOvr"/>
                          <m:subHide m:val="off"/>
                          <m:supHide m:val="off"/>
                        </m:naryPr>
                        <m:sub>
                          <m:r>
                            <m:t>j</m:t>
                          </m:r>
                          <m:r>
                            <m:rPr>
                              <m:sty m:val="p"/>
                            </m:rPr>
                            <m:t>=</m:t>
                          </m:r>
                          <m:r>
                            <m:t>1</m:t>
                          </m:r>
                        </m:sub>
                        <m:sup>
                          <m:r>
                            <m:t>p</m:t>
                          </m:r>
                        </m:sup>
                        <m:e>
                          <m:sSub>
                            <m:e>
                              <m:r>
                                <m:t>u</m:t>
                              </m:r>
                            </m:e>
                            <m:sub>
                              <m:r>
                                <m:t>j</m:t>
                              </m:r>
                            </m:sub>
                          </m:sSub>
                        </m:e>
                      </m:nary>
                      <m:r>
                        <m:t> </m:t>
                      </m:r>
                      <m:f>
                        <m:fPr>
                          <m:type m:val="bar"/>
                        </m:fPr>
                        <m:num>
                          <m:sSubSup>
                            <m:e>
                              <m:r>
                                <m:t>d</m:t>
                              </m:r>
                            </m:e>
                            <m:sub>
                              <m:r>
                                <m:t>j</m:t>
                              </m:r>
                            </m:sub>
                            <m:sup>
                              <m:r>
                                <m:t>2</m:t>
                              </m:r>
                            </m:sup>
                          </m:sSubSup>
                        </m:num>
                        <m:den>
                          <m:sSubSup>
                            <m:e>
                              <m:r>
                                <m:t>d</m:t>
                              </m:r>
                            </m:e>
                            <m:sub>
                              <m:r>
                                <m:t>j</m:t>
                              </m:r>
                            </m:sub>
                            <m:sup>
                              <m:r>
                                <m:t>2</m:t>
                              </m:r>
                            </m:sup>
                          </m:sSubSup>
                          <m:r>
                            <m:rPr>
                              <m:sty m:val="p"/>
                            </m:rPr>
                            <m:t>+</m:t>
                          </m:r>
                          <m:r>
                            <m:t>λ</m:t>
                          </m:r>
                        </m:den>
                      </m:f>
                      <m:r>
                        <m:t> </m:t>
                      </m:r>
                      <m:sSubSup>
                        <m:e>
                          <m:r>
                            <m:t>u</m:t>
                          </m:r>
                        </m:e>
                        <m:sub>
                          <m:r>
                            <m:t>j</m:t>
                          </m:r>
                        </m:sub>
                        <m:sup>
                          <m:r>
                            <m:rPr>
                              <m:sty m:val="p"/>
                            </m:rPr>
                            <m:t>⊤</m:t>
                          </m:r>
                        </m:sup>
                      </m:sSubSup>
                      <m:r>
                        <m:t>y</m:t>
                      </m:r>
                    </m:oMath>
                  </m:oMathPara>
                </a14:m>
              </a:p>
              <a:p>
                <a:pPr lvl="0" indent="0" marL="0">
                  <a:buNone/>
                </a:pPr>
                <a:r>
                  <a:rPr/>
                  <a:t>OLS is the same sum with </a:t>
                </a:r>
                <a:r>
                  <a:rPr b="1"/>
                  <a:t>every factor equal to 1</a:t>
                </a:r>
                <a:r>
                  <a:rPr/>
                  <a:t>.</a:t>
                </a:r>
              </a:p>
              <a:p>
                <a:pPr lvl="0" indent="0" marL="0">
                  <a:buNone/>
                </a:pPr>
                <a:r>
                  <a:rPr/>
                  <a:t>So ridge does not scale coefficients down uniformly. It multiplies the </a:t>
                </a:r>
                <a14:m>
                  <m:oMath xmlns:m="http://schemas.openxmlformats.org/officeDocument/2006/math">
                    <m:r>
                      <m:t>j</m:t>
                    </m:r>
                  </m:oMath>
                </a14:m>
                <a:r>
                  <a:rPr/>
                  <a:t>-th principal direction of the design by a factor that depends on </a:t>
                </a:r>
                <a:r>
                  <a:rPr b="1"/>
                  <a:t>how much the data vary in that direction</a:t>
                </a:r>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shrinkage factor, drawn</a:t>
            </a:r>
          </a:p>
        </p:txBody>
      </p:sp>
      <p:pic>
        <p:nvPicPr>
          <p:cNvPr descr="slides_files/figure-pptx/cell-7-output-1.pn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Left: the same </a:t>
                </a:r>
                <a14:m>
                  <m:oMath xmlns:m="http://schemas.openxmlformats.org/officeDocument/2006/math">
                    <m:r>
                      <m:t>λ</m:t>
                    </m:r>
                  </m:oMath>
                </a14:m>
                <a:r>
                  <a:rPr/>
                  <a:t> barely touches a well-measured direction and crushes a collinear one. Right: on our actual design, effective df slides smoothly from 29 down toward 0.</a:t>
                </a:r>
              </a:p>
            </p:txBody>
          </p:sp>
        </mc:Choice>
      </mc:AlternateContent>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that shape is the whole point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Directions where the data </a:t>
                </a:r>
                <a:r>
                  <a:rPr b="1"/>
                  <a:t>vary a lot</a:t>
                </a:r>
                <a:r>
                  <a:rPr/>
                  <a:t> carry real information — ridge leaves them alone. Directions where the data are </a:t>
                </a:r>
                <a:r>
                  <a:rPr b="1"/>
                  <a:t>nearly collinear</a:t>
                </a:r>
                <a:r>
                  <a:rPr/>
                  <a:t> are where OLS goes insane — ridge crushes them.</a:t>
                </a:r>
              </a:p>
              <a:p>
                <a:pPr lvl="0" indent="0" marL="0">
                  <a:buNone/>
                </a:pPr>
                <a14:m>
                  <m:oMathPara xmlns:m="http://schemas.openxmlformats.org/officeDocument/2006/math">
                    <m:oMathParaPr>
                      <m:jc m:val="center"/>
                    </m:oMathParaPr>
                    <m:oMath>
                      <m:r>
                        <m:rPr>
                          <m:sty m:val="p"/>
                        </m:rPr>
                        <m:t>d</m:t>
                      </m:r>
                      <m:r>
                        <m:rPr>
                          <m:sty m:val="p"/>
                        </m:rPr>
                        <m:t>f</m:t>
                      </m:r>
                      <m:d>
                        <m:dPr>
                          <m:begChr m:val="("/>
                          <m:sepChr m:val=""/>
                          <m:endChr m:val=")"/>
                          <m:grow/>
                        </m:dPr>
                        <m:e>
                          <m:r>
                            <m:t>λ</m:t>
                          </m:r>
                        </m:e>
                      </m:d>
                      <m:r>
                        <m:rPr>
                          <m:sty m:val="p"/>
                        </m:rPr>
                        <m:t>=</m:t>
                      </m:r>
                      <m:nary>
                        <m:naryPr>
                          <m:chr m:val="∑"/>
                          <m:limLoc m:val="undOvr"/>
                          <m:subHide m:val="off"/>
                          <m:supHide m:val="on"/>
                        </m:naryPr>
                        <m:sub>
                          <m:r>
                            <m:t>j</m:t>
                          </m:r>
                        </m:sub>
                        <m:sup>
                          <m:r>
                            <m:t>​</m:t>
                          </m:r>
                        </m:sup>
                        <m:e>
                          <m:f>
                            <m:fPr>
                              <m:type m:val="bar"/>
                            </m:fPr>
                            <m:num>
                              <m:sSubSup>
                                <m:e>
                                  <m:r>
                                    <m:t>d</m:t>
                                  </m:r>
                                </m:e>
                                <m:sub>
                                  <m:r>
                                    <m:t>j</m:t>
                                  </m:r>
                                </m:sub>
                                <m:sup>
                                  <m:r>
                                    <m:t>2</m:t>
                                  </m:r>
                                </m:sup>
                              </m:sSubSup>
                            </m:num>
                            <m:den>
                              <m:sSubSup>
                                <m:e>
                                  <m:r>
                                    <m:t>d</m:t>
                                  </m:r>
                                </m:e>
                                <m:sub>
                                  <m:r>
                                    <m:t>j</m:t>
                                  </m:r>
                                </m:sub>
                                <m:sup>
                                  <m:r>
                                    <m:t>2</m:t>
                                  </m:r>
                                </m:sup>
                              </m:sSubSup>
                              <m:r>
                                <m:rPr>
                                  <m:sty m:val="p"/>
                                </m:rPr>
                                <m:t>+</m:t>
                              </m:r>
                              <m:r>
                                <m:t>λ</m:t>
                              </m:r>
                            </m:den>
                          </m:f>
                        </m:e>
                      </m:nary>
                      <m:r>
                        <m:t> </m:t>
                      </m:r>
                      <m:r>
                        <m:rPr>
                          <m:nor/>
                          <m:sty m:val="p"/>
                        </m:rPr>
                        <m:t>falls smoothly from </m:t>
                      </m:r>
                      <m:r>
                        <m:t>p</m:t>
                      </m:r>
                      <m:r>
                        <m:rPr>
                          <m:nor/>
                          <m:sty m:val="p"/>
                        </m:rPr>
                        <m:t> to </m:t>
                      </m:r>
                      <m:r>
                        <m:t>0</m:t>
                      </m:r>
                    </m:oMath>
                  </m:oMathPara>
                </a14:m>
              </a:p>
              <a:p>
                <a:pPr lvl="0" indent="0" marL="0">
                  <a:buNone/>
                </a:pPr>
                <a:r>
                  <a:rPr/>
                  <a:t>Ridge is a </a:t>
                </a:r>
                <a:r>
                  <a:rPr b="1"/>
                  <a:t>targeted damping of exactly the directions in which your data carry least information</a:t>
                </a:r>
                <a:r>
                  <a:rPr/>
                  <a:t>. It is not a blunt instrument, and describing it as “shrinking the coefficients” undersells it.</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Ridge in three lines,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mod </a:t>
                </a:r>
                <a:r>
                  <a:rPr>
                    <a:solidFill>
                      <a:srgbClr val="666666"/>
                    </a:solidFill>
                    <a:latin typeface="Courier"/>
                  </a:rPr>
                  <a:t>=</a:t>
                </a:r>
                <a:r>
                  <a:rPr>
                    <a:latin typeface="Courier"/>
                  </a:rPr>
                  <a:t> make_pipeline(</a:t>
                </a:r>
                <a:br/>
                <a:r>
                  <a:rPr>
                    <a:latin typeface="Courier"/>
                  </a:rPr>
                  <a:t>    StandardScaler(),                       </a:t>
                </a:r>
                <a:r>
                  <a:rPr i="1">
                    <a:solidFill>
                      <a:srgbClr val="60A0B0"/>
                    </a:solidFill>
                    <a:latin typeface="Courier"/>
                  </a:rPr>
                  <a:t># 1. penalty is scale-dependent: standardise first</a:t>
                </a:r>
                <a:br/>
                <a:r>
                  <a:rPr>
                    <a:latin typeface="Courier"/>
                  </a:rPr>
                  <a:t>    RidgeCV(alphas</a:t>
                </a:r>
                <a:r>
                  <a:rPr>
                    <a:solidFill>
                      <a:srgbClr val="666666"/>
                    </a:solidFill>
                    <a:latin typeface="Courier"/>
                  </a:rPr>
                  <a:t>=</a:t>
                </a:r>
                <a:r>
                  <a:rPr>
                    <a:latin typeface="Courier"/>
                  </a:rPr>
                  <a:t>np.logspace(</a:t>
                </a:r>
                <a:r>
                  <a:rPr>
                    <a:solidFill>
                      <a:srgbClr val="666666"/>
                    </a:solidFill>
                    <a:latin typeface="Courier"/>
                  </a:rPr>
                  <a:t>-</a:t>
                </a:r>
                <a:r>
                  <a:rPr>
                    <a:solidFill>
                      <a:srgbClr val="40A070"/>
                    </a:solidFill>
                    <a:latin typeface="Courier"/>
                  </a:rPr>
                  <a:t>3</a:t>
                </a:r>
                <a:r>
                  <a:rPr>
                    <a:latin typeface="Courier"/>
                  </a:rPr>
                  <a:t>, </a:t>
                </a:r>
                <a:r>
                  <a:rPr>
                    <a:solidFill>
                      <a:srgbClr val="40A070"/>
                    </a:solidFill>
                    <a:latin typeface="Courier"/>
                  </a:rPr>
                  <a:t>3</a:t>
                </a:r>
                <a:r>
                  <a:rPr>
                    <a:latin typeface="Courier"/>
                  </a:rPr>
                  <a:t>, </a:t>
                </a:r>
                <a:r>
                  <a:rPr>
                    <a:solidFill>
                      <a:srgbClr val="40A070"/>
                    </a:solidFill>
                    <a:latin typeface="Courier"/>
                  </a:rPr>
                  <a:t>60</a:t>
                </a:r>
                <a:r>
                  <a:rPr>
                    <a:latin typeface="Courier"/>
                  </a:rPr>
                  <a:t>))  </a:t>
                </a:r>
                <a:r>
                  <a:rPr i="1">
                    <a:solidFill>
                      <a:srgbClr val="60A0B0"/>
                    </a:solidFill>
                    <a:latin typeface="Courier"/>
                  </a:rPr>
                  <a:t># 2. pick lambda by leave-one-out CV over a log grid</a:t>
                </a:r>
                <a:br/>
                <a:r>
                  <a:rPr>
                    <a:latin typeface="Courier"/>
                  </a:rPr>
                  <a:t>).fit(Xtr, ytr)                             </a:t>
                </a:r>
                <a:r>
                  <a:rPr i="1">
                    <a:solidFill>
                      <a:srgbClr val="60A0B0"/>
                    </a:solidFill>
                    <a:latin typeface="Courier"/>
                  </a:rPr>
                  <a:t># 3. refit on all training rows at the chosen lambda</a:t>
                </a:r>
                <a:br/>
                <a:br/>
                <a:r>
                  <a:rPr>
                    <a:solidFill>
                      <a:srgbClr val="008000"/>
                    </a:solidFill>
                    <a:latin typeface="Courier"/>
                  </a:rPr>
                  <a:t>print</a:t>
                </a:r>
                <a:r>
                  <a:rPr>
                    <a:latin typeface="Courier"/>
                  </a:rPr>
                  <a:t>(</a:t>
                </a:r>
                <a:r>
                  <a:rPr>
                    <a:solidFill>
                      <a:srgbClr val="BB6688"/>
                    </a:solidFill>
                    <a:latin typeface="Courier"/>
                  </a:rPr>
                  <a:t>f"chosen lambda = </a:t>
                </a:r>
                <a:r>
                  <a:rPr>
                    <a:solidFill>
                      <a:srgbClr val="4070A0"/>
                    </a:solidFill>
                    <a:latin typeface="Courier"/>
                  </a:rPr>
                  <a:t>{</a:t>
                </a:r>
                <a:r>
                  <a:rPr>
                    <a:latin typeface="Courier"/>
                  </a:rPr>
                  <a:t>mod[</a:t>
                </a:r>
                <a:r>
                  <a:rPr>
                    <a:solidFill>
                      <a:srgbClr val="666666"/>
                    </a:solidFill>
                    <a:latin typeface="Courier"/>
                  </a:rPr>
                  <a:t>-</a:t>
                </a:r>
                <a:r>
                  <a:rPr>
                    <a:solidFill>
                      <a:srgbClr val="40A070"/>
                    </a:solidFill>
                    <a:latin typeface="Courier"/>
                  </a:rPr>
                  <a:t>1</a:t>
                </a:r>
                <a:r>
                  <a:rPr>
                    <a:latin typeface="Courier"/>
                  </a:rPr>
                  <a:t>]</a:t>
                </a:r>
                <a:r>
                  <a:rPr>
                    <a:solidFill>
                      <a:srgbClr val="4070A0"/>
                    </a:solidFill>
                    <a:latin typeface="Courier"/>
                  </a:rPr>
                  <a:t>.</a:t>
                </a:r>
                <a:r>
                  <a:rPr>
                    <a:latin typeface="Courier"/>
                  </a:rPr>
                  <a:t>alpha_</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f"largest |coef|:  OLS </a:t>
                </a:r>
                <a:r>
                  <a:rPr>
                    <a:solidFill>
                      <a:srgbClr val="4070A0"/>
                    </a:solidFill>
                    <a:latin typeface="Courier"/>
                  </a:rPr>
                  <a:t>{</a:t>
                </a:r>
                <a:r>
                  <a:rPr>
                    <a:latin typeface="Courier"/>
                  </a:rPr>
                  <a:t>np</a:t>
                </a:r>
                <a:r>
                  <a:rPr>
                    <a:solidFill>
                      <a:srgbClr val="4070A0"/>
                    </a:solidFill>
                    <a:latin typeface="Courier"/>
                  </a:rPr>
                  <a:t>.</a:t>
                </a:r>
                <a:r>
                  <a:rPr>
                    <a:solidFill>
                      <a:srgbClr val="008000"/>
                    </a:solidFill>
                    <a:latin typeface="Courier"/>
                  </a:rPr>
                  <a:t>abs</a:t>
                </a:r>
                <a:r>
                  <a:rPr>
                    <a:latin typeface="Courier"/>
                  </a:rPr>
                  <a:t>(LinearRegression().fit(Ztr, ytr).coef_)</a:t>
                </a:r>
                <a:r>
                  <a:rPr>
                    <a:solidFill>
                      <a:srgbClr val="4070A0"/>
                    </a:solidFill>
                    <a:latin typeface="Courier"/>
                  </a:rPr>
                  <a:t>.</a:t>
                </a:r>
                <a:r>
                  <a:rPr>
                    <a:solidFill>
                      <a:srgbClr val="008000"/>
                    </a:solidFill>
                    <a:latin typeface="Courier"/>
                  </a:rPr>
                  <a:t>max</a:t>
                </a:r>
                <a:r>
                  <a:rPr>
                    <a:latin typeface="Courier"/>
                  </a:rPr>
                  <a:t>()</a:t>
                </a:r>
                <a:r>
                  <a:rPr>
                    <a:solidFill>
                      <a:srgbClr val="4070A0"/>
                    </a:solidFill>
                    <a:latin typeface="Courier"/>
                  </a:rPr>
                  <a:t>:.3f}</a:t>
                </a:r>
                <a:r>
                  <a:rPr>
                    <a:solidFill>
                      <a:srgbClr val="BB6688"/>
                    </a:solidFill>
                    <a:latin typeface="Courier"/>
                  </a:rPr>
                  <a:t>"</a:t>
                </a:r>
                <a:br/>
                <a:r>
                  <a:rPr>
                    <a:latin typeface="Courier"/>
                  </a:rPr>
                  <a:t>      </a:t>
                </a:r>
                <a:r>
                  <a:rPr>
                    <a:solidFill>
                      <a:srgbClr val="BB6688"/>
                    </a:solidFill>
                    <a:latin typeface="Courier"/>
                  </a:rPr>
                  <a:t>f"   ridge </a:t>
                </a:r>
                <a:r>
                  <a:rPr>
                    <a:solidFill>
                      <a:srgbClr val="4070A0"/>
                    </a:solidFill>
                    <a:latin typeface="Courier"/>
                  </a:rPr>
                  <a:t>{</a:t>
                </a:r>
                <a:r>
                  <a:rPr>
                    <a:latin typeface="Courier"/>
                  </a:rPr>
                  <a:t>np</a:t>
                </a:r>
                <a:r>
                  <a:rPr>
                    <a:solidFill>
                      <a:srgbClr val="4070A0"/>
                    </a:solidFill>
                    <a:latin typeface="Courier"/>
                  </a:rPr>
                  <a:t>.</a:t>
                </a:r>
                <a:r>
                  <a:rPr>
                    <a:solidFill>
                      <a:srgbClr val="008000"/>
                    </a:solidFill>
                    <a:latin typeface="Courier"/>
                  </a:rPr>
                  <a:t>abs</a:t>
                </a:r>
                <a:r>
                  <a:rPr>
                    <a:latin typeface="Courier"/>
                  </a:rPr>
                  <a:t>(mod[</a:t>
                </a:r>
                <a:r>
                  <a:rPr>
                    <a:solidFill>
                      <a:srgbClr val="666666"/>
                    </a:solidFill>
                    <a:latin typeface="Courier"/>
                  </a:rPr>
                  <a:t>-</a:t>
                </a:r>
                <a:r>
                  <a:rPr>
                    <a:solidFill>
                      <a:srgbClr val="40A070"/>
                    </a:solidFill>
                    <a:latin typeface="Courier"/>
                  </a:rPr>
                  <a:t>1</a:t>
                </a:r>
                <a:r>
                  <a:rPr>
                    <a:latin typeface="Courier"/>
                  </a:rPr>
                  <a:t>].coef_)</a:t>
                </a:r>
                <a:r>
                  <a:rPr>
                    <a:solidFill>
                      <a:srgbClr val="4070A0"/>
                    </a:solidFill>
                    <a:latin typeface="Courier"/>
                  </a:rPr>
                  <a:t>.</a:t>
                </a:r>
                <a:r>
                  <a:rPr>
                    <a:solidFill>
                      <a:srgbClr val="008000"/>
                    </a:solidFill>
                    <a:latin typeface="Courier"/>
                  </a:rPr>
                  <a:t>max</a:t>
                </a:r>
                <a:r>
                  <a:rPr>
                    <a:latin typeface="Courier"/>
                  </a:rPr>
                  <a:t>()</a:t>
                </a:r>
                <a:r>
                  <a:rPr>
                    <a:solidFill>
                      <a:srgbClr val="4070A0"/>
                    </a:solidFill>
                    <a:latin typeface="Courier"/>
                  </a:rPr>
                  <a:t>:.3f}</a:t>
                </a:r>
                <a:r>
                  <a:rPr>
                    <a:solidFill>
                      <a:srgbClr val="BB6688"/>
                    </a:solidFill>
                    <a:latin typeface="Courier"/>
                  </a:rPr>
                  <a:t>"</a:t>
                </a:r>
                <a:r>
                  <a:rPr>
                    <a:latin typeface="Courier"/>
                  </a:rPr>
                  <a:t>)</a:t>
                </a:r>
              </a:p>
              <a:p>
                <a:pPr lvl="0" indent="0">
                  <a:buNone/>
                </a:pPr>
                <a:r>
                  <a:rPr>
                    <a:latin typeface="Courier"/>
                  </a:rPr>
                  <a:t>chosen lambda = 23.598
largest |coef|:  OLS 0.396   ridge 0.055</a:t>
                </a:r>
              </a:p>
              <a:p>
                <a:pPr lvl="0" indent="0" marL="0">
                  <a:buNone/>
                </a:pPr>
                <a:r>
                  <a:rPr/>
                  <a:t>Line 1 is not optional. A penalty on </a:t>
                </a:r>
                <a14:m>
                  <m:oMath xmlns:m="http://schemas.openxmlformats.org/officeDocument/2006/math">
                    <m:r>
                      <m:rPr>
                        <m:sty m:val="p"/>
                      </m:rPr>
                      <m:t>∥</m:t>
                    </m:r>
                    <m:r>
                      <m:t>β</m:t>
                    </m:r>
                    <m:sSubSup>
                      <m:e>
                        <m:r>
                          <m:rPr>
                            <m:sty m:val="p"/>
                          </m:rPr>
                          <m:t>∥</m:t>
                        </m:r>
                      </m:e>
                      <m:sub>
                        <m:r>
                          <m:t>2</m:t>
                        </m:r>
                      </m:sub>
                      <m:sup>
                        <m:r>
                          <m:t>2</m:t>
                        </m:r>
                      </m:sup>
                    </m:sSubSup>
                  </m:oMath>
                </a14:m>
                <a:r>
                  <a:rPr/>
                  <a:t> punishes a coefficient measured in euros differently from one measured in thousands of euros. </a:t>
                </a:r>
                <a:r>
                  <a:rPr b="1"/>
                  <a:t>Standardise, or the penalty is arbitrary.</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Bias–variance, explicitly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14:m>
                  <m:oMath xmlns:m="http://schemas.openxmlformats.org/officeDocument/2006/math">
                    <m:r>
                      <m:rPr>
                        <m:sty m:val="p"/>
                      </m:rPr>
                      <m:t>V</m:t>
                    </m:r>
                    <m:r>
                      <m:rPr>
                        <m:sty m:val="p"/>
                      </m:rPr>
                      <m:t>a</m:t>
                    </m:r>
                    <m:r>
                      <m:rPr>
                        <m:sty m:val="p"/>
                      </m:rPr>
                      <m:t>r</m:t>
                    </m:r>
                    <m:d>
                      <m:dPr>
                        <m:begChr m:val="("/>
                        <m:sepChr m:val=""/>
                        <m:endChr m:val=")"/>
                        <m:grow/>
                      </m:dPr>
                      <m:e>
                        <m:sSup>
                          <m:e>
                            <m:acc>
                              <m:accPr>
                                <m:chr m:val="̂"/>
                              </m:accPr>
                              <m:e>
                                <m:r>
                                  <m:t>β</m:t>
                                </m:r>
                              </m:e>
                            </m:acc>
                          </m:e>
                          <m:sup>
                            <m:r>
                              <m:rPr>
                                <m:nor/>
                                <m:sty m:val="p"/>
                              </m:rPr>
                              <m:t>ridge</m:t>
                            </m:r>
                          </m:sup>
                        </m:sSup>
                      </m:e>
                    </m:d>
                  </m:oMath>
                </a14:m>
                <a:r>
                  <a:rPr/>
                  <a:t> is </a:t>
                </a:r>
                <a:r>
                  <a:rPr b="1"/>
                  <a:t>decreasing</a:t>
                </a:r>
                <a:r>
                  <a:rPr/>
                  <a:t> in </a:t>
                </a:r>
                <a14:m>
                  <m:oMath xmlns:m="http://schemas.openxmlformats.org/officeDocument/2006/math">
                    <m:r>
                      <m:t>λ</m:t>
                    </m:r>
                  </m:oMath>
                </a14:m>
              </a:p>
              <a:p>
                <a:pPr lvl="0"/>
                <a14:m>
                  <m:oMath xmlns:m="http://schemas.openxmlformats.org/officeDocument/2006/math">
                    <m:sSup>
                      <m:e>
                        <m:r>
                          <m:rPr>
                            <m:nor/>
                            <m:sty m:val="p"/>
                          </m:rPr>
                          <m:t>Bias</m:t>
                        </m:r>
                      </m:e>
                      <m:sup>
                        <m:r>
                          <m:t>2</m:t>
                        </m:r>
                      </m:sup>
                    </m:sSup>
                  </m:oMath>
                </a14:m>
                <a:r>
                  <a:rPr/>
                  <a:t> is </a:t>
                </a:r>
                <a:r>
                  <a:rPr b="1"/>
                  <a:t>increasing</a:t>
                </a:r>
                <a:r>
                  <a:rPr/>
                  <a:t> in </a:t>
                </a:r>
                <a14:m>
                  <m:oMath xmlns:m="http://schemas.openxmlformats.org/officeDocument/2006/math">
                    <m:r>
                      <m:t>λ</m:t>
                    </m:r>
                  </m:oMath>
                </a14:m>
              </a:p>
              <a:p>
                <a:pPr lvl="0"/>
                <a:r>
                  <a:rPr/>
                  <a:t>There always exists some </a:t>
                </a:r>
                <a14:m>
                  <m:oMath xmlns:m="http://schemas.openxmlformats.org/officeDocument/2006/math">
                    <m:r>
                      <m:t>λ</m:t>
                    </m:r>
                    <m:r>
                      <m:rPr>
                        <m:sty m:val="p"/>
                      </m:rPr>
                      <m:t>&gt;</m:t>
                    </m:r>
                    <m:r>
                      <m:t>0</m:t>
                    </m:r>
                  </m:oMath>
                </a14:m>
                <a:r>
                  <a:rPr/>
                  <a:t> whose MSE is </a:t>
                </a:r>
                <a:r>
                  <a:rPr b="1"/>
                  <a:t>strictly lower</a:t>
                </a:r>
                <a:r>
                  <a:rPr/>
                  <a:t> than OLS</a:t>
                </a:r>
              </a:p>
              <a:p>
                <a:pPr lvl="0" indent="0" marL="0">
                  <a:buNone/>
                </a:pPr>
                <a:r>
                  <a:rPr/>
                  <a:t>That last line is Hoerl and Kennard, 1970, and it genuinely surprised the profession. It should change how you hear the phrase “best unbiased estimator” for the rest of your career.</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4 · Lasso</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estimator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sSup>
                        <m:e>
                          <m:acc>
                            <m:accPr>
                              <m:chr m:val="̂"/>
                            </m:accPr>
                            <m:e>
                              <m:r>
                                <m:t>β</m:t>
                              </m:r>
                            </m:e>
                          </m:acc>
                        </m:e>
                        <m:sup>
                          <m:r>
                            <m:rPr>
                              <m:nor/>
                              <m:sty m:val="p"/>
                            </m:rPr>
                            <m:t>lasso</m:t>
                          </m:r>
                        </m:sup>
                      </m:sSup>
                      <m:r>
                        <m:rPr>
                          <m:sty m:val="p"/>
                        </m:rPr>
                        <m:t>=</m:t>
                      </m:r>
                      <m:r>
                        <m:rPr>
                          <m:sty m:val="p"/>
                        </m:rPr>
                        <m:t>arg</m:t>
                      </m:r>
                      <m:limLow>
                        <m:e>
                          <m:r>
                            <m:rPr>
                              <m:sty m:val="p"/>
                            </m:rPr>
                            <m:t>min</m:t>
                          </m:r>
                        </m:e>
                        <m:lim>
                          <m:r>
                            <m:t>β</m:t>
                          </m:r>
                        </m:lim>
                      </m:limLow>
                      <m:d>
                        <m:dPr>
                          <m:begChr m:val="{"/>
                          <m:sepChr m:val=""/>
                          <m:endChr m:val="}"/>
                          <m:grow/>
                        </m:dPr>
                        <m:e>
                          <m:f>
                            <m:fPr>
                              <m:type m:val="lin"/>
                            </m:fPr>
                            <m:num>
                              <m:r>
                                <m:t>1</m:t>
                              </m:r>
                            </m:num>
                            <m:den>
                              <m:r>
                                <m:t>2</m:t>
                              </m:r>
                              <m:r>
                                <m:t>n</m:t>
                              </m:r>
                            </m:den>
                          </m:f>
                          <m:r>
                            <m:rPr>
                              <m:sty m:val="p"/>
                            </m:rPr>
                            <m:t>∥</m:t>
                          </m:r>
                          <m:r>
                            <m:t>y</m:t>
                          </m:r>
                          <m:r>
                            <m:rPr>
                              <m:sty m:val="p"/>
                            </m:rPr>
                            <m:t>−</m:t>
                          </m:r>
                          <m:r>
                            <m:t>X</m:t>
                          </m:r>
                          <m:r>
                            <m:t>β</m:t>
                          </m:r>
                          <m:sSubSup>
                            <m:e>
                              <m:r>
                                <m:rPr>
                                  <m:sty m:val="p"/>
                                </m:rPr>
                                <m:t>∥</m:t>
                              </m:r>
                            </m:e>
                            <m:sub>
                              <m:r>
                                <m:t>2</m:t>
                              </m:r>
                            </m:sub>
                            <m:sup>
                              <m:r>
                                <m:t>2</m:t>
                              </m:r>
                            </m:sup>
                          </m:sSubSup>
                          <m:r>
                            <m:rPr>
                              <m:sty m:val="p"/>
                            </m:rPr>
                            <m:t>+</m:t>
                          </m:r>
                          <m:r>
                            <m:t>λ</m:t>
                          </m:r>
                          <m:r>
                            <m:rPr>
                              <m:sty m:val="p"/>
                            </m:rPr>
                            <m:t>∥</m:t>
                          </m:r>
                          <m:r>
                            <m:t>β</m:t>
                          </m:r>
                          <m:sSub>
                            <m:e>
                              <m:r>
                                <m:rPr>
                                  <m:sty m:val="p"/>
                                </m:rPr>
                                <m:t>∥</m:t>
                              </m:r>
                            </m:e>
                            <m:sub>
                              <m:r>
                                <m:t>1</m:t>
                              </m:r>
                            </m:sub>
                          </m:sSub>
                        </m:e>
                      </m:d>
                    </m:oMath>
                  </m:oMathPara>
                </a14:m>
              </a:p>
              <a:p>
                <a:pPr lvl="0" indent="0" marL="0">
                  <a:buNone/>
                </a:pPr>
                <a:r>
                  <a:rPr/>
                  <a:t>One change from ridge: </a:t>
                </a:r>
                <a14:m>
                  <m:oMath xmlns:m="http://schemas.openxmlformats.org/officeDocument/2006/math">
                    <m:r>
                      <m:rPr>
                        <m:sty m:val="p"/>
                      </m:rPr>
                      <m:t>∥</m:t>
                    </m:r>
                    <m:r>
                      <m:t>β</m:t>
                    </m:r>
                    <m:sSub>
                      <m:e>
                        <m:r>
                          <m:rPr>
                            <m:sty m:val="p"/>
                          </m:rPr>
                          <m:t>∥</m:t>
                        </m:r>
                      </m:e>
                      <m:sub>
                        <m:r>
                          <m:t>1</m:t>
                        </m:r>
                      </m:sub>
                    </m:sSub>
                    <m:r>
                      <m:rPr>
                        <m:sty m:val="p"/>
                      </m:rPr>
                      <m:t>=</m:t>
                    </m:r>
                    <m:nary>
                      <m:naryPr>
                        <m:chr m:val="∑"/>
                        <m:limLoc m:val="undOvr"/>
                        <m:subHide m:val="off"/>
                        <m:supHide m:val="on"/>
                      </m:naryPr>
                      <m:sub>
                        <m:r>
                          <m:t>j</m:t>
                        </m:r>
                      </m:sub>
                      <m:sup>
                        <m:r>
                          <m:t>​</m:t>
                        </m:r>
                      </m:sup>
                      <m:e>
                        <m:d>
                          <m:dPr>
                            <m:begChr m:val="|"/>
                            <m:sepChr m:val=""/>
                            <m:endChr m:val="|"/>
                            <m:grow/>
                          </m:dPr>
                          <m:e>
                            <m:sSub>
                              <m:e>
                                <m:r>
                                  <m:t>β</m:t>
                                </m:r>
                              </m:e>
                              <m:sub>
                                <m:r>
                                  <m:t>j</m:t>
                                </m:r>
                              </m:sub>
                            </m:sSub>
                          </m:e>
                        </m:d>
                      </m:e>
                    </m:nary>
                  </m:oMath>
                </a14:m>
                <a:r>
                  <a:rPr/>
                  <a:t> instead of </a:t>
                </a:r>
                <a14:m>
                  <m:oMath xmlns:m="http://schemas.openxmlformats.org/officeDocument/2006/math">
                    <m:nary>
                      <m:naryPr>
                        <m:chr m:val="∑"/>
                        <m:limLoc m:val="undOvr"/>
                        <m:subHide m:val="off"/>
                        <m:supHide m:val="on"/>
                      </m:naryPr>
                      <m:sub>
                        <m:r>
                          <m:t>j</m:t>
                        </m:r>
                      </m:sub>
                      <m:sup>
                        <m:r>
                          <m:t>​</m:t>
                        </m:r>
                      </m:sup>
                      <m:e>
                        <m:sSubSup>
                          <m:e>
                            <m:r>
                              <m:t>β</m:t>
                            </m:r>
                          </m:e>
                          <m:sub>
                            <m:r>
                              <m:t>j</m:t>
                            </m:r>
                          </m:sub>
                          <m:sup>
                            <m:r>
                              <m:t>2</m:t>
                            </m:r>
                          </m:sup>
                        </m:sSubSup>
                      </m:e>
                    </m:nary>
                  </m:oMath>
                </a14:m>
                <a:r>
                  <a:rPr/>
                  <a:t>.</a:t>
                </a:r>
              </a:p>
              <a:p>
                <a:pPr lvl="0" indent="0" marL="0">
                  <a:buNone/>
                </a:pPr>
                <a:r>
                  <a:rPr/>
                  <a:t>No closed form. But that single change makes some coefficients </a:t>
                </a:r>
                <a:r>
                  <a:rPr b="1"/>
                  <a:t>exactly zero</a:t>
                </a:r>
                <a:r>
                  <a:rPr/>
                  <a:t> — not small, zero — and that is a qualitative difference, not a quantitative one.</a:t>
                </a:r>
              </a:p>
              <a:p>
                <a:pPr lvl="0" indent="0" marL="0">
                  <a:buNone/>
                </a:pPr>
                <a:r>
                  <a:rPr/>
                  <a:t>To see why, look at the equivalent constrained problem: minimise RSS subject to </a:t>
                </a:r>
                <a14:m>
                  <m:oMath xmlns:m="http://schemas.openxmlformats.org/officeDocument/2006/math">
                    <m:r>
                      <m:rPr>
                        <m:sty m:val="p"/>
                      </m:rPr>
                      <m:t>∥</m:t>
                    </m:r>
                    <m:r>
                      <m:t>β</m:t>
                    </m:r>
                    <m:sSub>
                      <m:e>
                        <m:r>
                          <m:rPr>
                            <m:sty m:val="p"/>
                          </m:rPr>
                          <m:t>∥</m:t>
                        </m:r>
                      </m:e>
                      <m:sub>
                        <m:r>
                          <m:t>1</m:t>
                        </m:r>
                      </m:sub>
                    </m:sSub>
                    <m:r>
                      <m:rPr>
                        <m:sty m:val="p"/>
                      </m:rPr>
                      <m:t>≤</m:t>
                    </m:r>
                    <m:r>
                      <m:t>t</m:t>
                    </m:r>
                  </m:oMath>
                </a14:m>
                <a:r>
                  <a:rPr/>
                  <a:t>.</a:t>
                </a:r>
              </a:p>
            </p:txBody>
          </p:sp>
        </mc:Choice>
      </mc:AlternateContent>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picture that explains the zeros</a:t>
            </a:r>
          </a:p>
        </p:txBody>
      </p:sp>
      <p:pic>
        <p:nvPicPr>
          <p:cNvPr descr="slides_files/figure-pptx/cell-9-output-1.png" id="0" name="Picture 1"/>
          <p:cNvPicPr>
            <a:picLocks noGrp="1" noChangeAspect="1"/>
          </p:cNvPicPr>
          <p:nvPr/>
        </p:nvPicPr>
        <p:blipFill>
          <a:blip r:embed="rId2"/>
          <a:stretch>
            <a:fillRect/>
          </a:stretch>
        </p:blipFill>
        <p:spPr bwMode="auto">
          <a:xfrm>
            <a:off x="774700" y="1193800"/>
            <a:ext cx="7581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Grey ellipses: contours of equal RSS, expanding from the OLS solution. Shaded region: what the budget </a:t>
                </a:r>
                <a14:m>
                  <m:oMath xmlns:m="http://schemas.openxmlformats.org/officeDocument/2006/math">
                    <m:r>
                      <m:t>t</m:t>
                    </m:r>
                  </m:oMath>
                </a14:m>
                <a:r>
                  <a:rPr/>
                  <a:t> allows. The estimate is where they first touch.</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Corners produce zeros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a:t>
                </a:r>
                <a14:m>
                  <m:oMath xmlns:m="http://schemas.openxmlformats.org/officeDocument/2006/math">
                    <m:sSub>
                      <m:e>
                        <m:r>
                          <m:rPr>
                            <m:sty m:val="p"/>
                          </m:rPr>
                          <m:t>ℓ</m:t>
                        </m:r>
                      </m:e>
                      <m:sub>
                        <m:r>
                          <m:t>1</m:t>
                        </m:r>
                      </m:sub>
                    </m:sSub>
                  </m:oMath>
                </a14:m>
                <a:r>
                  <a:rPr/>
                  <a:t> region is a </a:t>
                </a:r>
                <a:r>
                  <a:rPr b="1"/>
                  <a:t>diamond</a:t>
                </a:r>
                <a:r>
                  <a:rPr/>
                  <a:t>: it has corners, and every corner sits </a:t>
                </a:r>
                <a:r>
                  <a:rPr b="1"/>
                  <a:t>on an axis</a:t>
                </a:r>
                <a:r>
                  <a:rPr/>
                  <a:t>, where one coordinate is exactly zero. Ellipses expanding from an arbitrary direction generically hit a corner.</a:t>
                </a:r>
              </a:p>
              <a:p>
                <a:pPr lvl="0" indent="0" marL="0">
                  <a:buNone/>
                </a:pPr>
                <a:r>
                  <a:rPr/>
                  <a:t>The </a:t>
                </a:r>
                <a14:m>
                  <m:oMath xmlns:m="http://schemas.openxmlformats.org/officeDocument/2006/math">
                    <m:sSub>
                      <m:e>
                        <m:r>
                          <m:rPr>
                            <m:sty m:val="p"/>
                          </m:rPr>
                          <m:t>ℓ</m:t>
                        </m:r>
                      </m:e>
                      <m:sub>
                        <m:r>
                          <m:t>2</m:t>
                        </m:r>
                      </m:sub>
                    </m:sSub>
                  </m:oMath>
                </a14:m>
                <a:r>
                  <a:rPr/>
                  <a:t> region is a </a:t>
                </a:r>
                <a:r>
                  <a:rPr b="1"/>
                  <a:t>disc</a:t>
                </a:r>
                <a:r>
                  <a:rPr/>
                  <a:t>: perfectly smooth, no corners. The touch point almost never has a zero coordinate. Ridge shrinks; it never selects.</a:t>
                </a:r>
              </a:p>
              <a:p>
                <a:pPr lvl="0" indent="0" marL="0">
                  <a:buNone/>
                </a:pPr>
                <a:r>
                  <a:rPr/>
                  <a:t>In </a:t>
                </a:r>
                <a14:m>
                  <m:oMath xmlns:m="http://schemas.openxmlformats.org/officeDocument/2006/math">
                    <m:r>
                      <m:t>p</m:t>
                    </m:r>
                  </m:oMath>
                </a14:m>
                <a:r>
                  <a:rPr/>
                  <a:t> dimensions the diamond has </a:t>
                </a:r>
                <a14:m>
                  <m:oMath xmlns:m="http://schemas.openxmlformats.org/officeDocument/2006/math">
                    <m:sSup>
                      <m:e>
                        <m:r>
                          <m:t>2</m:t>
                        </m:r>
                      </m:e>
                      <m:sup>
                        <m:r>
                          <m:t>p</m:t>
                        </m:r>
                      </m:sup>
                    </m:sSup>
                  </m:oMath>
                </a14:m>
                <a:r>
                  <a:rPr/>
                  <a:t> vertices and a whole lattice of edges and faces, each with some coordinates zero. Sparsity is not a trick — it is the </a:t>
                </a:r>
                <a:r>
                  <a:rPr b="1"/>
                  <a:t>shape of the constraint</a:t>
                </a:r>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zeros come from, algebraically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Hold every </a:t>
                </a:r>
                <a14:m>
                  <m:oMath xmlns:m="http://schemas.openxmlformats.org/officeDocument/2006/math">
                    <m:sSub>
                      <m:e>
                        <m:r>
                          <m:t>β</m:t>
                        </m:r>
                      </m:e>
                      <m:sub>
                        <m:r>
                          <m:t>k</m:t>
                        </m:r>
                      </m:sub>
                    </m:sSub>
                  </m:oMath>
                </a14:m>
                <a:r>
                  <a:rPr/>
                  <a:t>, </a:t>
                </a:r>
                <a14:m>
                  <m:oMath xmlns:m="http://schemas.openxmlformats.org/officeDocument/2006/math">
                    <m:r>
                      <m:t>k</m:t>
                    </m:r>
                    <m:r>
                      <m:rPr>
                        <m:sty m:val="p"/>
                      </m:rPr>
                      <m:t>≠</m:t>
                    </m:r>
                    <m:r>
                      <m:t>j</m:t>
                    </m:r>
                  </m:oMath>
                </a14:m>
                <a:r>
                  <a:rPr/>
                  <a:t>, fixed. With standardised columns the univariate problem is</a:t>
                </a:r>
              </a:p>
              <a:p>
                <a:pPr lvl="0" indent="0" marL="0">
                  <a:buNone/>
                </a:pPr>
                <a14:m>
                  <m:oMathPara xmlns:m="http://schemas.openxmlformats.org/officeDocument/2006/math">
                    <m:oMathParaPr>
                      <m:jc m:val="center"/>
                    </m:oMathParaPr>
                    <m:oMath>
                      <m:limLow>
                        <m:e>
                          <m:r>
                            <m:rPr>
                              <m:sty m:val="p"/>
                            </m:rPr>
                            <m:t>min</m:t>
                          </m:r>
                        </m:e>
                        <m:lim>
                          <m:sSub>
                            <m:e>
                              <m:r>
                                <m:t>β</m:t>
                              </m:r>
                            </m:e>
                            <m:sub>
                              <m:r>
                                <m:t>j</m:t>
                              </m:r>
                            </m:sub>
                          </m:sSub>
                        </m:lim>
                      </m:limLow>
                      <m:f>
                        <m:fPr>
                          <m:type m:val="lin"/>
                        </m:fPr>
                        <m:num>
                          <m:r>
                            <m:t>1</m:t>
                          </m:r>
                        </m:num>
                        <m:den>
                          <m:r>
                            <m:t>2</m:t>
                          </m:r>
                        </m:den>
                      </m:f>
                      <m:sSup>
                        <m:e>
                          <m:d>
                            <m:dPr>
                              <m:begChr m:val="("/>
                              <m:sepChr m:val=""/>
                              <m:endChr m:val=")"/>
                              <m:grow/>
                            </m:dPr>
                            <m:e>
                              <m:sSub>
                                <m:e>
                                  <m:r>
                                    <m:t>β</m:t>
                                  </m:r>
                                </m:e>
                                <m:sub>
                                  <m:r>
                                    <m:t>j</m:t>
                                  </m:r>
                                </m:sub>
                              </m:sSub>
                              <m:r>
                                <m:rPr>
                                  <m:sty m:val="p"/>
                                </m:rPr>
                                <m:t>−</m:t>
                              </m:r>
                              <m:sSub>
                                <m:e>
                                  <m:r>
                                    <m:t>ρ</m:t>
                                  </m:r>
                                </m:e>
                                <m:sub>
                                  <m:r>
                                    <m:t>j</m:t>
                                  </m:r>
                                </m:sub>
                              </m:sSub>
                            </m:e>
                          </m:d>
                        </m:e>
                        <m:sup>
                          <m:r>
                            <m:t>2</m:t>
                          </m:r>
                        </m:sup>
                      </m:sSup>
                      <m:r>
                        <m:rPr>
                          <m:sty m:val="p"/>
                        </m:rPr>
                        <m:t>+</m:t>
                      </m:r>
                      <m:r>
                        <m:t>λ</m:t>
                      </m:r>
                      <m:d>
                        <m:dPr>
                          <m:begChr m:val="|"/>
                          <m:sepChr m:val=""/>
                          <m:endChr m:val="|"/>
                          <m:grow/>
                        </m:dPr>
                        <m:e>
                          <m:sSub>
                            <m:e>
                              <m:r>
                                <m:t>β</m:t>
                              </m:r>
                            </m:e>
                            <m:sub>
                              <m:r>
                                <m:t>j</m:t>
                              </m:r>
                            </m:sub>
                          </m:sSub>
                        </m:e>
                      </m:d>
                      <m:r>
                        <m:rPr>
                          <m:sty m:val="p"/>
                        </m:rPr>
                        <m:t>,</m:t>
                      </m:r>
                      <m:r>
                        <m:t>  </m:t>
                      </m:r>
                      <m:sSub>
                        <m:e>
                          <m:r>
                            <m:t>ρ</m:t>
                          </m:r>
                        </m:e>
                        <m:sub>
                          <m:r>
                            <m:t>j</m:t>
                          </m:r>
                        </m:sub>
                      </m:sSub>
                      <m:r>
                        <m:rPr>
                          <m:sty m:val="p"/>
                        </m:rPr>
                        <m:t>=</m:t>
                      </m:r>
                      <m:f>
                        <m:fPr>
                          <m:type m:val="lin"/>
                        </m:fPr>
                        <m:num>
                          <m:r>
                            <m:t>1</m:t>
                          </m:r>
                        </m:num>
                        <m:den>
                          <m:r>
                            <m:t>n</m:t>
                          </m:r>
                        </m:den>
                      </m:f>
                      <m:nary>
                        <m:naryPr>
                          <m:chr m:val="∑"/>
                          <m:limLoc m:val="undOvr"/>
                          <m:subHide m:val="off"/>
                          <m:supHide m:val="on"/>
                        </m:naryPr>
                        <m:sub>
                          <m:r>
                            <m:t>i</m:t>
                          </m:r>
                        </m:sub>
                        <m:sup>
                          <m:r>
                            <m:t>​</m:t>
                          </m:r>
                        </m:sup>
                        <m:e>
                          <m:sSub>
                            <m:e>
                              <m:r>
                                <m:t>x</m:t>
                              </m:r>
                            </m:e>
                            <m:sub>
                              <m:r>
                                <m:t>i</m:t>
                              </m:r>
                              <m:r>
                                <m:t>j</m:t>
                              </m:r>
                            </m:sub>
                          </m:sSub>
                        </m:e>
                      </m:nary>
                      <m:d>
                        <m:dPr>
                          <m:begChr m:val="("/>
                          <m:sepChr m:val=""/>
                          <m:endChr m:val=")"/>
                          <m:grow/>
                        </m:dPr>
                        <m:e>
                          <m:sSub>
                            <m:e>
                              <m:r>
                                <m:t>y</m:t>
                              </m:r>
                            </m:e>
                            <m:sub>
                              <m:r>
                                <m:t>i</m:t>
                              </m:r>
                            </m:sub>
                          </m:sSub>
                          <m:r>
                            <m:rPr>
                              <m:sty m:val="p"/>
                            </m:rPr>
                            <m:t>−</m:t>
                          </m:r>
                          <m:nary>
                            <m:naryPr>
                              <m:chr m:val="∑"/>
                              <m:limLoc m:val="undOvr"/>
                              <m:subHide m:val="off"/>
                              <m:supHide m:val="on"/>
                            </m:naryPr>
                            <m:sub>
                              <m:r>
                                <m:t>k</m:t>
                              </m:r>
                              <m:r>
                                <m:rPr>
                                  <m:sty m:val="p"/>
                                </m:rPr>
                                <m:t>≠</m:t>
                              </m:r>
                              <m:r>
                                <m:t>j</m:t>
                              </m:r>
                            </m:sub>
                            <m:sup>
                              <m:r>
                                <m:t>​</m:t>
                              </m:r>
                            </m:sup>
                            <m:e>
                              <m:sSub>
                                <m:e>
                                  <m:r>
                                    <m:t>x</m:t>
                                  </m:r>
                                </m:e>
                                <m:sub>
                                  <m:r>
                                    <m:t>i</m:t>
                                  </m:r>
                                  <m:r>
                                    <m:t>k</m:t>
                                  </m:r>
                                </m:sub>
                              </m:sSub>
                            </m:e>
                          </m:nary>
                          <m:sSub>
                            <m:e>
                              <m:r>
                                <m:t>β</m:t>
                              </m:r>
                            </m:e>
                            <m:sub>
                              <m:r>
                                <m:t>k</m:t>
                              </m:r>
                            </m:sub>
                          </m:sSub>
                        </m:e>
                      </m:d>
                    </m:oMath>
                  </m:oMathPara>
                </a14:m>
              </a:p>
              <a:p>
                <a:pPr lvl="0" indent="0" marL="0">
                  <a:buNone/>
                </a:pPr>
                <a14:m>
                  <m:oMath xmlns:m="http://schemas.openxmlformats.org/officeDocument/2006/math">
                    <m:sSub>
                      <m:e>
                        <m:r>
                          <m:t>ρ</m:t>
                        </m:r>
                      </m:e>
                      <m:sub>
                        <m:r>
                          <m:t>j</m:t>
                        </m:r>
                      </m:sub>
                    </m:sSub>
                  </m:oMath>
                </a14:m>
                <a:r>
                  <a:rPr/>
                  <a:t> is just the correlation of </a:t>
                </a:r>
                <a14:m>
                  <m:oMath xmlns:m="http://schemas.openxmlformats.org/officeDocument/2006/math">
                    <m:sSub>
                      <m:e>
                        <m:r>
                          <m:t>x</m:t>
                        </m:r>
                      </m:e>
                      <m:sub>
                        <m:r>
                          <m:t>j</m:t>
                        </m:r>
                      </m:sub>
                    </m:sSub>
                  </m:oMath>
                </a14:m>
                <a:r>
                  <a:rPr/>
                  <a:t> with </a:t>
                </a:r>
                <a:r>
                  <a:rPr b="1"/>
                  <a:t>what the other predictors have not explained</a:t>
                </a:r>
                <a:r>
                  <a:rPr/>
                  <a:t>.</a:t>
                </a:r>
              </a:p>
              <a:p>
                <a:pPr lvl="0" indent="0" marL="0">
                  <a:buNone/>
                </a:pPr>
                <a:r>
                  <a:rPr/>
                  <a:t>Convex, but not differentiable at </a:t>
                </a:r>
                <a14:m>
                  <m:oMath xmlns:m="http://schemas.openxmlformats.org/officeDocument/2006/math">
                    <m:r>
                      <m:t>0</m:t>
                    </m:r>
                  </m:oMath>
                </a14:m>
                <a:r>
                  <a:rPr/>
                  <a:t>. The subgradient of </a:t>
                </a:r>
                <a14:m>
                  <m:oMath xmlns:m="http://schemas.openxmlformats.org/officeDocument/2006/math">
                    <m:d>
                      <m:dPr>
                        <m:begChr m:val="|"/>
                        <m:sepChr m:val=""/>
                        <m:endChr m:val="|"/>
                        <m:grow/>
                      </m:dPr>
                      <m:e>
                        <m:sSub>
                          <m:e>
                            <m:r>
                              <m:t>β</m:t>
                            </m:r>
                          </m:e>
                          <m:sub>
                            <m:r>
                              <m:t>j</m:t>
                            </m:r>
                          </m:sub>
                        </m:sSub>
                      </m:e>
                    </m:d>
                  </m:oMath>
                </a14:m>
                <a:r>
                  <a:rPr/>
                  <a:t> there is the whole interval </a:t>
                </a:r>
                <a14:m>
                  <m:oMath xmlns:m="http://schemas.openxmlformats.org/officeDocument/2006/math">
                    <m:d>
                      <m:dPr>
                        <m:begChr m:val="["/>
                        <m:sepChr m:val=""/>
                        <m:endChr m:val="]"/>
                        <m:grow/>
                      </m:dPr>
                      <m:e>
                        <m:r>
                          <m:rPr>
                            <m:sty m:val="p"/>
                          </m:rPr>
                          <m:t>−</m:t>
                        </m:r>
                        <m:r>
                          <m:t>1</m:t>
                        </m:r>
                        <m:r>
                          <m:rPr>
                            <m:sty m:val="p"/>
                          </m:rPr>
                          <m:t>,</m:t>
                        </m:r>
                        <m:r>
                          <m:t>1</m:t>
                        </m:r>
                      </m:e>
                    </m:d>
                  </m:oMath>
                </a14:m>
                <a:r>
                  <a:rPr/>
                  <a:t> — which is exactly what allows a </a:t>
                </a:r>
                <a:r>
                  <a:rPr i="1"/>
                  <a:t>flat spot</a:t>
                </a:r>
                <a:r>
                  <a:rPr/>
                  <a:t> at zero.</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Soft-thresholding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sSub>
                        <m:e>
                          <m:acc>
                            <m:accPr>
                              <m:chr m:val="̂"/>
                            </m:accPr>
                            <m:e>
                              <m:r>
                                <m:t>β</m:t>
                              </m:r>
                            </m:e>
                          </m:acc>
                        </m:e>
                        <m:sub>
                          <m:r>
                            <m:t>j</m:t>
                          </m:r>
                        </m:sub>
                      </m:sSub>
                      <m:r>
                        <m:rPr>
                          <m:sty m:val="p"/>
                        </m:rPr>
                        <m:t>=</m:t>
                      </m:r>
                      <m:sSub>
                        <m:e>
                          <m:r>
                            <m:t>S</m:t>
                          </m:r>
                        </m:e>
                        <m:sub>
                          <m:r>
                            <m:t>λ</m:t>
                          </m:r>
                        </m:sub>
                      </m:sSub>
                      <m:d>
                        <m:dPr>
                          <m:begChr m:val="("/>
                          <m:sepChr m:val=""/>
                          <m:endChr m:val=")"/>
                          <m:grow/>
                        </m:dPr>
                        <m:e>
                          <m:sSub>
                            <m:e>
                              <m:r>
                                <m:t>ρ</m:t>
                              </m:r>
                            </m:e>
                            <m:sub>
                              <m:r>
                                <m:t>j</m:t>
                              </m:r>
                            </m:sub>
                          </m:sSub>
                        </m:e>
                      </m:d>
                      <m:r>
                        <m:rPr>
                          <m:sty m:val="p"/>
                        </m:rPr>
                        <m:t>=</m:t>
                      </m:r>
                      <m:r>
                        <m:rPr>
                          <m:sty m:val="p"/>
                        </m:rPr>
                        <m:t>s</m:t>
                      </m:r>
                      <m:r>
                        <m:rPr>
                          <m:sty m:val="p"/>
                        </m:rPr>
                        <m:t>i</m:t>
                      </m:r>
                      <m:r>
                        <m:rPr>
                          <m:sty m:val="p"/>
                        </m:rPr>
                        <m:t>g</m:t>
                      </m:r>
                      <m:r>
                        <m:rPr>
                          <m:sty m:val="p"/>
                        </m:rPr>
                        <m:t>n</m:t>
                      </m:r>
                      <m:d>
                        <m:dPr>
                          <m:begChr m:val="("/>
                          <m:sepChr m:val=""/>
                          <m:endChr m:val=")"/>
                          <m:grow/>
                        </m:dPr>
                        <m:e>
                          <m:sSub>
                            <m:e>
                              <m:r>
                                <m:t>ρ</m:t>
                              </m:r>
                            </m:e>
                            <m:sub>
                              <m:r>
                                <m:t>j</m:t>
                              </m:r>
                            </m:sub>
                          </m:sSub>
                        </m:e>
                      </m:d>
                      <m:r>
                        <m:rPr>
                          <m:sty m:val="p"/>
                        </m:rPr>
                        <m:t>(</m:t>
                      </m:r>
                      <m:d>
                        <m:dPr>
                          <m:begChr m:val="|"/>
                          <m:sepChr m:val=""/>
                          <m:endChr m:val="|"/>
                          <m:grow/>
                        </m:dPr>
                        <m:e>
                          <m:sSub>
                            <m:e>
                              <m:r>
                                <m:t>ρ</m:t>
                              </m:r>
                            </m:e>
                            <m:sub>
                              <m:r>
                                <m:t>j</m:t>
                              </m:r>
                            </m:sub>
                          </m:sSub>
                        </m:e>
                      </m:d>
                      <m:r>
                        <m:rPr>
                          <m:sty m:val="p"/>
                        </m:rPr>
                        <m:t>−</m:t>
                      </m:r>
                      <m:r>
                        <m:t>λ</m:t>
                      </m:r>
                      <m:sSub>
                        <m:e>
                          <m:r>
                            <m:rPr>
                              <m:sty m:val="p"/>
                            </m:rPr>
                            <m:t>)</m:t>
                          </m:r>
                        </m:e>
                        <m:sub>
                          <m:r>
                            <m:rPr>
                              <m:sty m:val="p"/>
                            </m:rPr>
                            <m:t>+</m:t>
                          </m:r>
                        </m:sub>
                      </m:sSub>
                    </m:oMath>
                  </m:oMathPara>
                </a14:m>
              </a:p>
              <a:p>
                <a:pPr lvl="0" indent="0" marL="0">
                  <a:buNone/>
                </a:pPr>
                <a:r>
                  <a:rPr/>
                  <a:t>Read it in words:</a:t>
                </a:r>
              </a:p>
              <a:p>
                <a:pPr lvl="0" indent="0" marL="1270000">
                  <a:buNone/>
                </a:pPr>
                <a:r>
                  <a:rPr sz="2000"/>
                  <a:t>if the partial correlation of </a:t>
                </a:r>
                <a14:m>
                  <m:oMath xmlns:m="http://schemas.openxmlformats.org/officeDocument/2006/math">
                    <m:sSub>
                      <m:e>
                        <m:r>
                          <m:t>x</m:t>
                        </m:r>
                      </m:e>
                      <m:sub>
                        <m:r>
                          <m:t>j</m:t>
                        </m:r>
                      </m:sub>
                    </m:sSub>
                  </m:oMath>
                </a14:m>
                <a:r>
                  <a:rPr sz="2000"/>
                  <a:t> with the residual is </a:t>
                </a:r>
                <a:r>
                  <a:rPr sz="2000" b="1"/>
                  <a:t>smaller in magnitude than</a:t>
                </a:r>
                <a:r>
                  <a:rPr sz="2000"/>
                  <a:t> </a:t>
                </a:r>
                <a14:m>
                  <m:oMath xmlns:m="http://schemas.openxmlformats.org/officeDocument/2006/math">
                    <m:r>
                      <m:t>λ</m:t>
                    </m:r>
                  </m:oMath>
                </a14:m>
                <a:r>
                  <a:rPr sz="2000"/>
                  <a:t>, set the coefficient to </a:t>
                </a:r>
                <a:r>
                  <a:rPr sz="2000" b="1"/>
                  <a:t>exactly zero</a:t>
                </a:r>
                <a:r>
                  <a:rPr sz="2000"/>
                  <a:t>; otherwise shrink it toward zero </a:t>
                </a:r>
                <a:r>
                  <a:rPr sz="2000" b="1"/>
                  <a:t>by</a:t>
                </a:r>
                <a:r>
                  <a:rPr sz="2000"/>
                  <a:t> </a:t>
                </a:r>
                <a14:m>
                  <m:oMath xmlns:m="http://schemas.openxmlformats.org/officeDocument/2006/math">
                    <m:r>
                      <m:t>λ</m:t>
                    </m:r>
                  </m:oMath>
                </a14:m>
                <a:r>
                  <a:rPr sz="2000"/>
                  <a:t>.</a:t>
                </a:r>
              </a:p>
              <a:p>
                <a:pPr lvl="0" indent="0" marL="0">
                  <a:buNone/>
                </a:pPr>
                <a:r>
                  <a:rPr/>
                  <a:t>Cycling this update over </a:t>
                </a:r>
                <a14:m>
                  <m:oMath xmlns:m="http://schemas.openxmlformats.org/officeDocument/2006/math">
                    <m:r>
                      <m:t>j</m:t>
                    </m:r>
                  </m:oMath>
                </a14:m>
                <a:r>
                  <a:rPr/>
                  <a:t> until convergence is </a:t>
                </a:r>
                <a:r>
                  <a:rPr i="1"/>
                  <a:t>coordinate descent</a:t>
                </a:r>
                <a:r>
                  <a:rPr/>
                  <a:t>. It is why </a:t>
                </a:r>
                <a:r>
                  <a:rPr>
                    <a:latin typeface="Courier"/>
                  </a:rPr>
                  <a:t>scikit-learn</a:t>
                </a:r>
                <a:r>
                  <a:rPr/>
                  <a:t> fits a 200-predictor lasso path faster than you can type the command.</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operator, drawn</a:t>
            </a:r>
          </a:p>
        </p:txBody>
      </p:sp>
      <p:pic>
        <p:nvPicPr>
          <p:cNvPr descr="slides_files/figure-pptx/cell-10-output-1.png" id="0" name="Picture 1"/>
          <p:cNvPicPr>
            <a:picLocks noGrp="1" noChangeAspect="1"/>
          </p:cNvPicPr>
          <p:nvPr/>
        </p:nvPicPr>
        <p:blipFill>
          <a:blip r:embed="rId2"/>
          <a:stretch>
            <a:fillRect/>
          </a:stretch>
        </p:blipFill>
        <p:spPr bwMode="auto">
          <a:xfrm>
            <a:off x="2514600" y="1193800"/>
            <a:ext cx="41148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Ridge (dash-dot) passes through the origin with a shallower slope — it approaches zero but reaches it only when </a:t>
                </a:r>
                <a14:m>
                  <m:oMath xmlns:m="http://schemas.openxmlformats.org/officeDocument/2006/math">
                    <m:r>
                      <m:t>λ</m:t>
                    </m:r>
                    <m:r>
                      <m:rPr>
                        <m:sty m:val="p"/>
                      </m:rPr>
                      <m:t>=</m:t>
                    </m:r>
                    <m:r>
                      <m:rPr>
                        <m:sty m:val="p"/>
                      </m:rPr>
                      <m:t>∞</m:t>
                    </m:r>
                  </m:oMath>
                </a14:m>
                <a:r>
                  <a:rPr/>
                  <a:t>. The lasso (solid) has a flat interval </a:t>
                </a:r>
                <a:r>
                  <a:rPr b="1"/>
                  <a:t>at</a:t>
                </a:r>
                <a:r>
                  <a:rPr/>
                  <a:t> zero.</a:t>
                </a:r>
              </a:p>
            </p:txBody>
          </p:sp>
        </mc:Choice>
      </mc:AlternateContent>
    </p:spTree>
  </p:cSld>
</p:sld>
</file>

<file path=ppt/slides/slide3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Do it by hand, once</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Soft-threshold </a:t></a:r><a14:m><m:oMath xmlns:m="http://schemas.openxmlformats.org/officeDocument/2006/math"><m:r><m:t>ρ</m:t></m:r><m:r><m:rPr><m:sty m:val="p" /></m:rPr><m:t>=</m:t></m:r><m:d><m:dPr><m:begChr m:val="(" /><m:sepChr m:val="" /><m:endChr m:val=")" /><m:grow /></m:dPr><m:e><m:r><m:t>0.42</m:t></m:r><m:r><m:rPr><m:sty m:val="p" /></m:rPr><m:t>,</m:t></m:r><m:r><m:t> </m:t></m:r><m:r><m:rPr><m:sty m:val="p" /></m:rPr><m:t>−</m:t></m:r><m:r><m:t>0.18</m:t></m:r><m:r><m:rPr><m:sty m:val="p" /></m:rPr><m:t>,</m:t></m:r><m:r><m:t> </m:t></m:r><m:r><m:t>0.09</m:t></m:r><m:r><m:rPr><m:sty m:val="p" /></m:rPr><m:t>,</m:t></m:r><m:r><m:t> </m:t></m:r><m:r><m:t>0.31</m:t></m:r></m:e></m:d></m:oMath></a14:m><a:r><a:rPr /><a:t> at </a:t></a:r><a14:m><m:oMath xmlns:m="http://schemas.openxmlformats.org/officeDocument/2006/math"><m:r><m:t>λ</m:t></m:r><m:r><m:rPr><m:sty m:val="p" /></m:rPr><m:t>=</m:t></m:r><m:r><m:t>0.20</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a:buNone /></a:pPr><a14:m><m:oMath xmlns:m="http://schemas.openxmlformats.org/officeDocument/2006/math"><m:sSub><m:e><m:r><m:t>ρ</m:t></m:r></m:e><m:sub><m:r><m:t>j</m:t></m:r></m:sub></m:sSub></m:oMath></a14:m></a:p></a:txBody><a:tcPr /></a:tc><a:tc><a:txBody><a:bodyPr /><a:lstStyle /><a:p><a:pPr lvl="0" indent="0" marL="0"><a:buNone /></a:pPr><a14:m><m:oMath xmlns:m="http://schemas.openxmlformats.org/officeDocument/2006/math"><m:r><m:rPr><m:sty m:val="p" /></m:rPr><m:t>|</m:t></m:r><m:sSub><m:e><m:r><m:t>ρ</m:t></m:r></m:e><m:sub><m:r><m:t>j</m:t></m:r></m:sub></m:sSub><m:r><m:rPr><m:sty m:val="p" /></m:rPr><m:t>|</m:t></m:r><m:r><m:rPr><m:sty m:val="p" /></m:rPr><m:t>−</m:t></m:r><m:r><m:t>λ</m:t></m:r></m:oMath></a14:m></a:p></a:txBody><a:tcPr /></a:tc><a:tc><a:txBody><a:bodyPr /><a:lstStyle /><a:p><a:pPr lvl="0" indent="0" marL="0"><a:buNone /></a:pPr><a14:m><m:oMath xmlns:m="http://schemas.openxmlformats.org/officeDocument/2006/math"><m:sSub><m:e><m:acc><m:accPr><m:chr m:val="̂" /></m:accPr><m:e><m:r><m:t>β</m:t></m:r></m:e></m:acc></m:e><m:sub><m:r><m:t>j</m:t></m:r></m:sub></m:sSub></m:oMath></a14:m></a:p></a:txBody><a:tcPr /></a:tc></a:tr><a:tr h="0"><a:tc><a:txBody><a:bodyPr /><a:lstStyle /><a:p><a:pPr lvl="0" indent="0" marL="0"><a:buNone /></a:pPr><a14:m><m:oMath xmlns:m="http://schemas.openxmlformats.org/officeDocument/2006/math"><m:r><m:t>0.42</m:t></m:r></m:oMath></a14:m></a:p></a:txBody></a:tc><a:tc><a:txBody><a:bodyPr /><a:lstStyle /><a:p><a:pPr lvl="0" indent="0" marL="0"><a:buNone /></a:pPr><a14:m><m:oMath xmlns:m="http://schemas.openxmlformats.org/officeDocument/2006/math"><m:r><m:t>0.22</m:t></m:r></m:oMath></a14:m></a:p></a:txBody></a:tc><a:tc><a:txBody><a:bodyPr /><a:lstStyle /><a:p><a:pPr lvl="0" indent="0" marL="0"><a:buNone /></a:pPr><a14:m><m:oMath xmlns:m="http://schemas.openxmlformats.org/officeDocument/2006/math"><m:r><m:rPr><m:sty m:val="b" /></m:rPr><m:t>0.22</m:t></m:r></m:oMath></a14:m></a:p></a:txBody></a:tc></a:tr><a:tr h="0"><a:tc><a:txBody><a:bodyPr /><a:lstStyle /><a:p><a:pPr lvl="0" indent="0" marL="0"><a:buNone /></a:pPr><a14:m><m:oMath xmlns:m="http://schemas.openxmlformats.org/officeDocument/2006/math"><m:r><m:rPr><m:sty m:val="p" /></m:rPr><m:t>−</m:t></m:r><m:r><m:t>0.18</m:t></m:r></m:oMath></a14:m></a:p></a:txBody></a:tc><a:tc><a:txBody><a:bodyPr /><a:lstStyle /><a:p><a:pPr lvl="0" indent="0" marL="0"><a:buNone /></a:pPr><a14:m><m:oMath xmlns:m="http://schemas.openxmlformats.org/officeDocument/2006/math"><m:r><m:rPr><m:sty m:val="p" /></m:rPr><m:t>−</m:t></m:r><m:r><m:t>0.02</m:t></m:r><m:r><m:rPr><m:sty m:val="p" /></m:rPr><m:t>→</m:t></m:r><m:r><m:t>0</m:t></m:r></m:oMath></a14:m></a:p></a:txBody></a:tc><a:tc><a:txBody><a:bodyPr /><a:lstStyle /><a:p><a:pPr lvl="0" indent="0" marL="0"><a:buNone /></a:pPr><a14:m><m:oMath xmlns:m="http://schemas.openxmlformats.org/officeDocument/2006/math"><m:r><m:rPr><m:sty m:val="b" /></m:rPr><m:t>0</m:t></m:r></m:oMath></a14:m></a:p></a:txBody></a:tc></a:tr><a:tr h="0"><a:tc><a:txBody><a:bodyPr /><a:lstStyle /><a:p><a:pPr lvl="0" indent="0" marL="0"><a:buNone /></a:pPr><a14:m><m:oMath xmlns:m="http://schemas.openxmlformats.org/officeDocument/2006/math"><m:r><m:t>0.09</m:t></m:r></m:oMath></a14:m></a:p></a:txBody></a:tc><a:tc><a:txBody><a:bodyPr /><a:lstStyle /><a:p><a:pPr lvl="0" indent="0" marL="0"><a:buNone /></a:pPr><a14:m><m:oMath xmlns:m="http://schemas.openxmlformats.org/officeDocument/2006/math"><m:r><m:rPr><m:sty m:val="p" /></m:rPr><m:t>−</m:t></m:r><m:r><m:t>0.11</m:t></m:r><m:r><m:rPr><m:sty m:val="p" /></m:rPr><m:t>→</m:t></m:r><m:r><m:t>0</m:t></m:r></m:oMath></a14:m></a:p></a:txBody></a:tc><a:tc><a:txBody><a:bodyPr /><a:lstStyle /><a:p><a:pPr lvl="0" indent="0" marL="0"><a:buNone /></a:pPr><a14:m><m:oMath xmlns:m="http://schemas.openxmlformats.org/officeDocument/2006/math"><m:r><m:rPr><m:sty m:val="b" /></m:rPr><m:t>0</m:t></m:r></m:oMath></a14:m></a:p></a:txBody></a:tc></a:tr><a:tr h="0"><a:tc><a:txBody><a:bodyPr /><a:lstStyle /><a:p><a:pPr lvl="0" indent="0" marL="0"><a:buNone /></a:pPr><a14:m><m:oMath xmlns:m="http://schemas.openxmlformats.org/officeDocument/2006/math"><m:r><m:t>0.31</m:t></m:r></m:oMath></a14:m></a:p></a:txBody></a:tc><a:tc><a:txBody><a:bodyPr /><a:lstStyle /><a:p><a:pPr lvl="0" indent="0" marL="0"><a:buNone /></a:pPr><a14:m><m:oMath xmlns:m="http://schemas.openxmlformats.org/officeDocument/2006/math"><m:r><m:t>0.11</m:t></m:r></m:oMath></a14:m></a:p></a:txBody></a:tc><a:tc><a:txBody><a:bodyPr /><a:lstStyle /><a:p><a:pPr lvl="0" indent="0" marL="0"><a:buNone /></a:pPr><a14:m><m:oMath xmlns:m="http://schemas.openxmlformats.org/officeDocument/2006/math"><m:r><m:rPr><m:sty m:val="b" /></m:rPr><m:t>0.11</m:t></m:r></m:oMath></a14:m></a:p></a:txBody></a:tc></a:tr></a:tbl></a:graphicData></a:graphic></p:graphicFrame></p:spTree></p:cSld></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Two of four survive. </a:t>
            </a:r>
            <a:r>
              <a:rPr b="1"/>
              <a:t>You can compute a lasso solution with a pen</a:t>
            </a:r>
            <a:r>
              <a:rPr/>
              <a:t> — and you will be asked to on the midterm.</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coefficient path</a:t>
            </a:r>
          </a:p>
        </p:txBody>
      </p:sp>
      <p:pic>
        <p:nvPicPr>
          <p:cNvPr descr="slides_files/figure-pptx/cell-11-output-1.png" id="0" name="Picture 1"/>
          <p:cNvPicPr>
            <a:picLocks noGrp="1" noChangeAspect="1"/>
          </p:cNvPicPr>
          <p:nvPr/>
        </p:nvPicPr>
        <p:blipFill>
          <a:blip r:embed="rId2"/>
          <a:stretch>
            <a:fillRect/>
          </a:stretch>
        </p:blipFill>
        <p:spPr bwMode="auto">
          <a:xfrm>
            <a:off x="457200" y="1333500"/>
            <a:ext cx="8229600" cy="3098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Blue: the 14 named indicators. Grey: the 15 unvetted auxiliary series. Read right to left — increasing penalty.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survived, on our data</a:t>
            </a:r>
          </a:p>
        </p:txBody>
      </p:sp>
      <p:sp>
        <p:nvSpPr>
          <p:cNvPr id="3" name="Content Placeholder 2"/>
          <p:cNvSpPr>
            <a:spLocks noGrp="1"/>
          </p:cNvSpPr>
          <p:nvPr>
            <p:ph idx="1"/>
          </p:nvPr>
        </p:nvSpPr>
        <p:spPr/>
        <p:txBody>
          <a:bodyPr/>
          <a:lstStyle/>
          <a:p>
            <a:pPr lvl="0" indent="0">
              <a:buNone/>
            </a:pPr>
            <a:r>
              <a:rPr>
                <a:latin typeface="Courier"/>
              </a:rPr>
              <a:t>lcv </a:t>
            </a:r>
            <a:r>
              <a:rPr>
                <a:solidFill>
                  <a:srgbClr val="666666"/>
                </a:solidFill>
                <a:latin typeface="Courier"/>
              </a:rPr>
              <a:t>=</a:t>
            </a:r>
            <a:r>
              <a:rPr>
                <a:latin typeface="Courier"/>
              </a:rPr>
              <a:t> LassoCV(cv</a:t>
            </a:r>
            <a:r>
              <a:rPr>
                <a:solidFill>
                  <a:srgbClr val="666666"/>
                </a:solidFill>
                <a:latin typeface="Courier"/>
              </a:rPr>
              <a:t>=</a:t>
            </a:r>
            <a:r>
              <a:rPr>
                <a:solidFill>
                  <a:srgbClr val="40A070"/>
                </a:solidFill>
                <a:latin typeface="Courier"/>
              </a:rPr>
              <a:t>5</a:t>
            </a:r>
            <a:r>
              <a:rPr>
                <a:latin typeface="Courier"/>
              </a:rPr>
              <a:t>, random_state</a:t>
            </a:r>
            <a:r>
              <a:rPr>
                <a:solidFill>
                  <a:srgbClr val="666666"/>
                </a:solidFill>
                <a:latin typeface="Courier"/>
              </a:rPr>
              <a:t>=</a:t>
            </a:r>
            <a:r>
              <a:rPr>
                <a:solidFill>
                  <a:srgbClr val="40A070"/>
                </a:solidFill>
                <a:latin typeface="Courier"/>
              </a:rPr>
              <a:t>0</a:t>
            </a:r>
            <a:r>
              <a:rPr>
                <a:latin typeface="Courier"/>
              </a:rPr>
              <a:t>, max_iter</a:t>
            </a:r>
            <a:r>
              <a:rPr>
                <a:solidFill>
                  <a:srgbClr val="666666"/>
                </a:solidFill>
                <a:latin typeface="Courier"/>
              </a:rPr>
              <a:t>=</a:t>
            </a:r>
            <a:r>
              <a:rPr>
                <a:solidFill>
                  <a:srgbClr val="40A070"/>
                </a:solidFill>
                <a:latin typeface="Courier"/>
              </a:rPr>
              <a:t>50_000</a:t>
            </a:r>
            <a:r>
              <a:rPr>
                <a:latin typeface="Courier"/>
              </a:rPr>
              <a:t>).fit(Ztr, ytr)</a:t>
            </a:r>
            <a:br/>
            <a:r>
              <a:rPr>
                <a:latin typeface="Courier"/>
              </a:rPr>
              <a:t>kept </a:t>
            </a:r>
            <a:r>
              <a:rPr>
                <a:solidFill>
                  <a:srgbClr val="666666"/>
                </a:solidFill>
                <a:latin typeface="Courier"/>
              </a:rPr>
              <a:t>=</a:t>
            </a:r>
            <a:r>
              <a:rPr>
                <a:latin typeface="Courier"/>
              </a:rPr>
              <a:t> [(c, b) </a:t>
            </a:r>
            <a:r>
              <a:rPr b="1">
                <a:solidFill>
                  <a:srgbClr val="007020"/>
                </a:solidFill>
                <a:latin typeface="Courier"/>
              </a:rPr>
              <a:t>for</a:t>
            </a:r>
            <a:r>
              <a:rPr>
                <a:latin typeface="Courier"/>
              </a:rPr>
              <a:t> c, b </a:t>
            </a:r>
            <a:r>
              <a:rPr b="1">
                <a:solidFill>
                  <a:srgbClr val="007020"/>
                </a:solidFill>
                <a:latin typeface="Courier"/>
              </a:rPr>
              <a:t>in</a:t>
            </a:r>
            <a:r>
              <a:rPr>
                <a:latin typeface="Courier"/>
              </a:rPr>
              <a:t> </a:t>
            </a:r>
            <a:r>
              <a:rPr>
                <a:solidFill>
                  <a:srgbClr val="008000"/>
                </a:solidFill>
                <a:latin typeface="Courier"/>
              </a:rPr>
              <a:t>zip</a:t>
            </a:r>
            <a:r>
              <a:rPr>
                <a:latin typeface="Courier"/>
              </a:rPr>
              <a:t>(XCOLS, lcv.coef_) </a:t>
            </a:r>
            <a:r>
              <a:rPr b="1">
                <a:solidFill>
                  <a:srgbClr val="007020"/>
                </a:solidFill>
                <a:latin typeface="Courier"/>
              </a:rPr>
              <a:t>if</a:t>
            </a:r>
            <a:r>
              <a:rPr>
                <a:latin typeface="Courier"/>
              </a:rPr>
              <a:t> </a:t>
            </a:r>
            <a:r>
              <a:rPr>
                <a:solidFill>
                  <a:srgbClr val="008000"/>
                </a:solidFill>
                <a:latin typeface="Courier"/>
              </a:rPr>
              <a:t>abs</a:t>
            </a:r>
            <a:r>
              <a:rPr>
                <a:latin typeface="Courier"/>
              </a:rPr>
              <a:t>(b) </a:t>
            </a:r>
            <a:r>
              <a:rPr>
                <a:solidFill>
                  <a:srgbClr val="666666"/>
                </a:solidFill>
                <a:latin typeface="Courier"/>
              </a:rPr>
              <a:t>&gt;</a:t>
            </a:r>
            <a:r>
              <a:rPr>
                <a:latin typeface="Courier"/>
              </a:rPr>
              <a:t> </a:t>
            </a:r>
            <a:r>
              <a:rPr>
                <a:solidFill>
                  <a:srgbClr val="40A070"/>
                </a:solidFill>
                <a:latin typeface="Courier"/>
              </a:rPr>
              <a:t>1e-8</a:t>
            </a:r>
            <a:r>
              <a:rPr>
                <a:latin typeface="Courier"/>
              </a:rPr>
              <a:t>]</a:t>
            </a:r>
            <a:br/>
            <a:br/>
            <a:r>
              <a:rPr>
                <a:solidFill>
                  <a:srgbClr val="008000"/>
                </a:solidFill>
                <a:latin typeface="Courier"/>
              </a:rPr>
              <a:t>print</a:t>
            </a:r>
            <a:r>
              <a:rPr>
                <a:latin typeface="Courier"/>
              </a:rPr>
              <a:t>(</a:t>
            </a:r>
            <a:r>
              <a:rPr>
                <a:solidFill>
                  <a:srgbClr val="BB6688"/>
                </a:solidFill>
                <a:latin typeface="Courier"/>
              </a:rPr>
              <a:t>f"lambda = </a:t>
            </a:r>
            <a:r>
              <a:rPr>
                <a:solidFill>
                  <a:srgbClr val="4070A0"/>
                </a:solidFill>
                <a:latin typeface="Courier"/>
              </a:rPr>
              <a:t>{</a:t>
            </a:r>
            <a:r>
              <a:rPr>
                <a:latin typeface="Courier"/>
              </a:rPr>
              <a:t>lcv</a:t>
            </a:r>
            <a:r>
              <a:rPr>
                <a:solidFill>
                  <a:srgbClr val="4070A0"/>
                </a:solidFill>
                <a:latin typeface="Courier"/>
              </a:rPr>
              <a:t>.</a:t>
            </a:r>
            <a:r>
              <a:rPr>
                <a:latin typeface="Courier"/>
              </a:rPr>
              <a:t>alpha_</a:t>
            </a:r>
            <a:r>
              <a:rPr>
                <a:solidFill>
                  <a:srgbClr val="4070A0"/>
                </a:solidFill>
                <a:latin typeface="Courier"/>
              </a:rPr>
              <a:t>:.4f}</a:t>
            </a:r>
            <a:r>
              <a:rPr>
                <a:solidFill>
                  <a:srgbClr val="BB6688"/>
                </a:solidFill>
                <a:latin typeface="Courier"/>
              </a:rPr>
              <a:t>   kept </a:t>
            </a:r>
            <a:r>
              <a:rPr>
                <a:solidFill>
                  <a:srgbClr val="4070A0"/>
                </a:solidFill>
                <a:latin typeface="Courier"/>
              </a:rPr>
              <a:t>{</a:t>
            </a:r>
            <a:r>
              <a:rPr>
                <a:solidFill>
                  <a:srgbClr val="008000"/>
                </a:solidFill>
                <a:latin typeface="Courier"/>
              </a:rPr>
              <a:t>len</a:t>
            </a:r>
            <a:r>
              <a:rPr>
                <a:latin typeface="Courier"/>
              </a:rPr>
              <a:t>(kept)</a:t>
            </a:r>
            <a:r>
              <a:rPr>
                <a:solidFill>
                  <a:srgbClr val="4070A0"/>
                </a:solidFill>
                <a:latin typeface="Courier"/>
              </a:rPr>
              <a:t>}</a:t>
            </a:r>
            <a:r>
              <a:rPr>
                <a:solidFill>
                  <a:srgbClr val="BB6688"/>
                </a:solidFill>
                <a:latin typeface="Courier"/>
              </a:rPr>
              <a:t> of </a:t>
            </a:r>
            <a:r>
              <a:rPr>
                <a:solidFill>
                  <a:srgbClr val="4070A0"/>
                </a:solidFill>
                <a:latin typeface="Courier"/>
              </a:rPr>
              <a:t>{</a:t>
            </a:r>
            <a:r>
              <a:rPr>
                <a:latin typeface="Courier"/>
              </a:rPr>
              <a:t>P</a:t>
            </a:r>
            <a:r>
              <a:rPr>
                <a:solidFill>
                  <a:srgbClr val="4070A0"/>
                </a:solidFill>
                <a:latin typeface="Courier"/>
              </a:rPr>
              <a:t>}</a:t>
            </a:r>
            <a:r>
              <a:rPr>
                <a:solidFill>
                  <a:srgbClr val="BB6688"/>
                </a:solidFill>
                <a:latin typeface="Courier"/>
              </a:rPr>
              <a:t>"</a:t>
            </a:r>
            <a:r>
              <a:rPr>
                <a:latin typeface="Courier"/>
              </a:rPr>
              <a:t>)</a:t>
            </a:r>
            <a:br/>
            <a:r>
              <a:rPr b="1">
                <a:solidFill>
                  <a:srgbClr val="007020"/>
                </a:solidFill>
                <a:latin typeface="Courier"/>
              </a:rPr>
              <a:t>for</a:t>
            </a:r>
            <a:r>
              <a:rPr>
                <a:latin typeface="Courier"/>
              </a:rPr>
              <a:t> c, b </a:t>
            </a:r>
            <a:r>
              <a:rPr b="1">
                <a:solidFill>
                  <a:srgbClr val="007020"/>
                </a:solidFill>
                <a:latin typeface="Courier"/>
              </a:rPr>
              <a:t>in</a:t>
            </a:r>
            <a:r>
              <a:rPr>
                <a:latin typeface="Courier"/>
              </a:rPr>
              <a:t> </a:t>
            </a:r>
            <a:r>
              <a:rPr>
                <a:solidFill>
                  <a:srgbClr val="008000"/>
                </a:solidFill>
                <a:latin typeface="Courier"/>
              </a:rPr>
              <a:t>sorted</a:t>
            </a:r>
            <a:r>
              <a:rPr>
                <a:latin typeface="Courier"/>
              </a:rPr>
              <a:t>(kept, key</a:t>
            </a:r>
            <a:r>
              <a:rPr>
                <a:solidFill>
                  <a:srgbClr val="666666"/>
                </a:solidFill>
                <a:latin typeface="Courier"/>
              </a:rPr>
              <a:t>=</a:t>
            </a:r>
            <a:r>
              <a:rPr b="1">
                <a:solidFill>
                  <a:srgbClr val="007020"/>
                </a:solidFill>
                <a:latin typeface="Courier"/>
              </a:rPr>
              <a:t>lambda</a:t>
            </a:r>
            <a:r>
              <a:rPr>
                <a:latin typeface="Courier"/>
              </a:rPr>
              <a:t> t: </a:t>
            </a:r>
            <a:r>
              <a:rPr>
                <a:solidFill>
                  <a:srgbClr val="666666"/>
                </a:solidFill>
                <a:latin typeface="Courier"/>
              </a:rPr>
              <a:t>-</a:t>
            </a:r>
            <a:r>
              <a:rPr>
                <a:solidFill>
                  <a:srgbClr val="008000"/>
                </a:solidFill>
                <a:latin typeface="Courier"/>
              </a:rPr>
              <a:t>abs</a:t>
            </a:r>
            <a:r>
              <a:rPr>
                <a:latin typeface="Courier"/>
              </a:rPr>
              <a:t>(t[</a:t>
            </a:r>
            <a:r>
              <a:rPr>
                <a:solidFill>
                  <a:srgbClr val="40A070"/>
                </a:solidFill>
                <a:latin typeface="Courier"/>
              </a:rPr>
              <a:t>1</a:t>
            </a:r>
            <a:r>
              <a:rPr>
                <a:latin typeface="Courier"/>
              </a:rPr>
              <a:t>])):</a:t>
            </a:r>
            <a:br/>
            <a:r>
              <a:rPr>
                <a:latin typeface="Courier"/>
              </a:rPr>
              <a:t>    </a:t>
            </a:r>
            <a:r>
              <a:rPr>
                <a:solidFill>
                  <a:srgbClr val="008000"/>
                </a:solidFill>
                <a:latin typeface="Courier"/>
              </a:rPr>
              <a:t>print</a:t>
            </a:r>
            <a:r>
              <a:rPr>
                <a:latin typeface="Courier"/>
              </a:rPr>
              <a:t>(</a:t>
            </a:r>
            <a:r>
              <a:rPr>
                <a:solidFill>
                  <a:srgbClr val="BB6688"/>
                </a:solidFill>
                <a:latin typeface="Courier"/>
              </a:rPr>
              <a:t>f"   </a:t>
            </a:r>
            <a:r>
              <a:rPr>
                <a:solidFill>
                  <a:srgbClr val="4070A0"/>
                </a:solidFill>
                <a:latin typeface="Courier"/>
              </a:rPr>
              <a:t>{</a:t>
            </a:r>
            <a:r>
              <a:rPr>
                <a:latin typeface="Courier"/>
              </a:rPr>
              <a:t>c</a:t>
            </a:r>
            <a:r>
              <a:rPr>
                <a:solidFill>
                  <a:srgbClr val="4070A0"/>
                </a:solidFill>
                <a:latin typeface="Courier"/>
              </a:rPr>
              <a:t>:&lt;20s}</a:t>
            </a:r>
            <a:r>
              <a:rPr>
                <a:solidFill>
                  <a:srgbClr val="BB6688"/>
                </a:solidFill>
                <a:latin typeface="Courier"/>
              </a:rPr>
              <a:t> </a:t>
            </a:r>
            <a:r>
              <a:rPr>
                <a:solidFill>
                  <a:srgbClr val="4070A0"/>
                </a:solidFill>
                <a:latin typeface="Courier"/>
              </a:rPr>
              <a:t>{</a:t>
            </a:r>
            <a:r>
              <a:rPr>
                <a:latin typeface="Courier"/>
              </a:rPr>
              <a:t>b</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f"auxiliary series kept: </a:t>
            </a:r>
            <a:r>
              <a:rPr>
                <a:solidFill>
                  <a:srgbClr val="4070A0"/>
                </a:solidFill>
                <a:latin typeface="Courier"/>
              </a:rPr>
              <a:t>{</a:t>
            </a:r>
            <a:r>
              <a:rPr>
                <a:solidFill>
                  <a:srgbClr val="008000"/>
                </a:solidFill>
                <a:latin typeface="Courier"/>
              </a:rPr>
              <a:t>sum</a:t>
            </a:r>
            <a:r>
              <a:rPr>
                <a:latin typeface="Courier"/>
              </a:rPr>
              <a:t>(c.startswith(</a:t>
            </a:r>
            <a:r>
              <a:rPr>
                <a:solidFill>
                  <a:srgbClr val="4070A0"/>
                </a:solidFill>
                <a:latin typeface="Courier"/>
              </a:rPr>
              <a:t>'aux'</a:t>
            </a:r>
            <a:r>
              <a:rPr>
                <a:latin typeface="Courier"/>
              </a:rPr>
              <a:t>) </a:t>
            </a:r>
            <a:r>
              <a:rPr b="1">
                <a:solidFill>
                  <a:srgbClr val="007020"/>
                </a:solidFill>
                <a:latin typeface="Courier"/>
              </a:rPr>
              <a:t>for</a:t>
            </a:r>
            <a:r>
              <a:rPr>
                <a:latin typeface="Courier"/>
              </a:rPr>
              <a:t> c, _ </a:t>
            </a:r>
            <a:r>
              <a:rPr b="1">
                <a:solidFill>
                  <a:srgbClr val="007020"/>
                </a:solidFill>
                <a:latin typeface="Courier"/>
              </a:rPr>
              <a:t>in</a:t>
            </a:r>
            <a:r>
              <a:rPr>
                <a:latin typeface="Courier"/>
              </a:rPr>
              <a:t> kept)</a:t>
            </a:r>
            <a:r>
              <a:rPr>
                <a:solidFill>
                  <a:srgbClr val="4070A0"/>
                </a:solidFill>
                <a:latin typeface="Courier"/>
              </a:rPr>
              <a:t>}</a:t>
            </a:r>
            <a:r>
              <a:rPr>
                <a:solidFill>
                  <a:srgbClr val="BB6688"/>
                </a:solidFill>
                <a:latin typeface="Courier"/>
              </a:rPr>
              <a:t> of 15"</a:t>
            </a:r>
            <a:r>
              <a:rPr>
                <a:latin typeface="Courier"/>
              </a:rPr>
              <a:t>)</a:t>
            </a:r>
          </a:p>
          <a:p>
            <a:pPr lvl="0" indent="0">
              <a:buNone/>
            </a:pPr>
            <a:r>
              <a:rPr>
                <a:latin typeface="Courier"/>
              </a:rPr>
              <a:t>lambda = 0.0520   kept 6 of 29
   ai_use_any           +0.182
   digital_intensity    +0.168
   ict_specialists      +0.058
   barrier_cost         -0.041
   barrier_legal        -0.035
   cloud_use            +0.002
auxiliary series kept: 0 of 15</a:t>
            </a:r>
          </a:p>
          <a:p>
            <a:pPr lvl="0" indent="0" marL="0">
              <a:buNone/>
            </a:pPr>
            <a:r>
              <a:rPr/>
              <a:t>Every one of the 15 unvetted series was set to zero. The lasso did the screening you would otherwise have done by hand, by eye, and by prejudice.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limitations you must state out loud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a:t>With </a:t>
                </a:r>
                <a14:m>
                  <m:oMath xmlns:m="http://schemas.openxmlformats.org/officeDocument/2006/math">
                    <m:r>
                      <m:t>p</m:t>
                    </m:r>
                    <m:r>
                      <m:rPr>
                        <m:sty m:val="p"/>
                      </m:rPr>
                      <m:t>&gt;</m:t>
                    </m:r>
                    <m:r>
                      <m:t>n</m:t>
                    </m:r>
                  </m:oMath>
                </a14:m>
                <a:r>
                  <a:rPr/>
                  <a:t>, the lasso can select </a:t>
                </a:r>
                <a:r>
                  <a:rPr b="1"/>
                  <a:t>at most </a:t>
                </a:r>
                <a14:m>
                  <m:oMath xmlns:m="http://schemas.openxmlformats.org/officeDocument/2006/math">
                    <m:r>
                      <m:t>n</m:t>
                    </m:r>
                  </m:oMath>
                </a14:m>
                <a:r>
                  <a:rPr/>
                  <a:t> variables — a hard ceiling, not a finding</a:t>
                </a:r>
              </a:p>
              <a:p>
                <a:pPr lvl="0" indent="-342900" marL="342900">
                  <a:buAutoNum type="arabicPeriod"/>
                </a:pPr>
                <a:r>
                  <a:rPr/>
                  <a:t>Among </a:t>
                </a:r>
                <a:r>
                  <a:rPr b="1"/>
                  <a:t>highly correlated</a:t>
                </a:r>
                <a:r>
                  <a:rPr/>
                  <a:t> predictors it picks one and zeroes the rest, near-arbitrarily</a:t>
                </a:r>
              </a:p>
              <a:p>
                <a:pPr lvl="0" indent="-342900" marL="342900">
                  <a:buAutoNum type="arabicPeriod"/>
                </a:pPr>
                <a:r>
                  <a:rPr/>
                  <a:t>Its selected set is consistent only under strong conditions (the </a:t>
                </a:r>
                <a:r>
                  <a:rPr i="1"/>
                  <a:t>irrepresentable condition</a:t>
                </a:r>
                <a:r>
                  <a:rPr/>
                  <a:t>)</a:t>
                </a:r>
              </a:p>
              <a:p>
                <a:pPr lvl="0" indent="0" marL="0">
                  <a:buNone/>
                </a:pPr>
                <a:r>
                  <a:rPr/>
                  <a:t>So do </a:t>
                </a:r>
                <a:r>
                  <a:rPr b="1"/>
                  <a:t>not</a:t>
                </a:r>
                <a:r>
                  <a:rPr/>
                  <a:t> present a lasso path as if it had identified the true model. It identified </a:t>
                </a:r>
                <a:r>
                  <a:rPr i="1"/>
                  <a:t>a</a:t>
                </a:r>
                <a:r>
                  <a:rPr/>
                  <a:t> set of columns that predicts well at one value of </a:t>
                </a:r>
                <a14:m>
                  <m:oMath xmlns:m="http://schemas.openxmlformats.org/officeDocument/2006/math">
                    <m:r>
                      <m:t>λ</m:t>
                    </m:r>
                  </m:oMath>
                </a14:m>
                <a:r>
                  <a:rPr/>
                  <a:t>, on one sample.</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5 · Elastic net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Limitation 2 is not academic</a:t>
            </a:r>
          </a:p>
        </p:txBody>
      </p:sp>
      <p:sp>
        <p:nvSpPr>
          <p:cNvPr id="3" name="Content Placeholder 2"/>
          <p:cNvSpPr>
            <a:spLocks noGrp="1"/>
          </p:cNvSpPr>
          <p:nvPr>
            <p:ph idx="1"/>
          </p:nvPr>
        </p:nvSpPr>
        <p:spPr/>
        <p:txBody>
          <a:bodyPr/>
          <a:lstStyle/>
          <a:p>
            <a:pPr lvl="0" indent="0" marL="0">
              <a:buNone/>
            </a:pPr>
            <a:r>
              <a:rPr/>
              <a:t>Our five AI-adoption columns are all measuring roughly the same thing:</a:t>
            </a:r>
          </a:p>
          <a:p>
            <a:pPr lvl="0" indent="0">
              <a:buNone/>
            </a:pPr>
            <a:r>
              <a:rPr>
                <a:latin typeface="Courier"/>
              </a:rPr>
              <a:t>GRP </a:t>
            </a:r>
            <a:r>
              <a:rPr>
                <a:solidFill>
                  <a:srgbClr val="666666"/>
                </a:solidFill>
                <a:latin typeface="Courier"/>
              </a:rPr>
              <a:t>=</a:t>
            </a:r>
            <a:r>
              <a:rPr>
                <a:latin typeface="Courier"/>
              </a:rPr>
              <a:t> [</a:t>
            </a:r>
            <a:r>
              <a:rPr>
                <a:solidFill>
                  <a:srgbClr val="4070A0"/>
                </a:solidFill>
                <a:latin typeface="Courier"/>
              </a:rPr>
              <a:t>"ai_use_any"</a:t>
            </a:r>
            <a:r>
              <a:rPr>
                <a:latin typeface="Courier"/>
              </a:rPr>
              <a:t>, </a:t>
            </a:r>
            <a:r>
              <a:rPr>
                <a:solidFill>
                  <a:srgbClr val="4070A0"/>
                </a:solidFill>
                <a:latin typeface="Courier"/>
              </a:rPr>
              <a:t>"ai_use_ml"</a:t>
            </a:r>
            <a:r>
              <a:rPr>
                <a:latin typeface="Courier"/>
              </a:rPr>
              <a:t>, </a:t>
            </a:r>
            <a:r>
              <a:rPr>
                <a:solidFill>
                  <a:srgbClr val="4070A0"/>
                </a:solidFill>
                <a:latin typeface="Courier"/>
              </a:rPr>
              <a:t>"ai_use_ge3"</a:t>
            </a:r>
            <a:r>
              <a:rPr>
                <a:latin typeface="Courier"/>
              </a:rPr>
              <a:t>, </a:t>
            </a:r>
            <a:r>
              <a:rPr>
                <a:solidFill>
                  <a:srgbClr val="4070A0"/>
                </a:solidFill>
                <a:latin typeface="Courier"/>
              </a:rPr>
              <a:t>"ai_text_mining"</a:t>
            </a:r>
            <a:r>
              <a:rPr>
                <a:latin typeface="Courier"/>
              </a:rPr>
              <a:t>, </a:t>
            </a:r>
            <a:r>
              <a:rPr>
                <a:solidFill>
                  <a:srgbClr val="4070A0"/>
                </a:solidFill>
                <a:latin typeface="Courier"/>
              </a:rPr>
              <a:t>"ai_image_reco"</a:t>
            </a:r>
            <a:r>
              <a:rPr>
                <a:latin typeface="Courier"/>
              </a:rPr>
              <a:t>]</a:t>
            </a:r>
            <a:br/>
            <a:r>
              <a:rPr>
                <a:latin typeface="Courier"/>
              </a:rPr>
              <a:t>C </a:t>
            </a:r>
            <a:r>
              <a:rPr>
                <a:solidFill>
                  <a:srgbClr val="666666"/>
                </a:solidFill>
                <a:latin typeface="Courier"/>
              </a:rPr>
              <a:t>=</a:t>
            </a:r>
            <a:r>
              <a:rPr>
                <a:latin typeface="Courier"/>
              </a:rPr>
              <a:t> d[GRP].corr().to_numpy()</a:t>
            </a:r>
            <a:br/>
            <a:r>
              <a:rPr>
                <a:solidFill>
                  <a:srgbClr val="008000"/>
                </a:solidFill>
                <a:latin typeface="Courier"/>
              </a:rPr>
              <a:t>print</a:t>
            </a:r>
            <a:r>
              <a:rPr>
                <a:latin typeface="Courier"/>
              </a:rPr>
              <a:t>(</a:t>
            </a:r>
            <a:r>
              <a:rPr>
                <a:solidFill>
                  <a:srgbClr val="BB6688"/>
                </a:solidFill>
                <a:latin typeface="Courier"/>
              </a:rPr>
              <a:t>f"pairwise correlations within the group: </a:t>
            </a:r>
            <a:r>
              <a:rPr>
                <a:solidFill>
                  <a:srgbClr val="4070A0"/>
                </a:solidFill>
                <a:latin typeface="Courier"/>
              </a:rPr>
              <a:t>{</a:t>
            </a:r>
            <a:r>
              <a:rPr>
                <a:latin typeface="Courier"/>
              </a:rPr>
              <a:t>C[np.triu_indices(</a:t>
            </a:r>
            <a:r>
              <a:rPr>
                <a:solidFill>
                  <a:srgbClr val="40A070"/>
                </a:solidFill>
                <a:latin typeface="Courier"/>
              </a:rPr>
              <a:t>5</a:t>
            </a:r>
            <a:r>
              <a:rPr>
                <a:latin typeface="Courier"/>
              </a:rPr>
              <a:t>, </a:t>
            </a:r>
            <a:r>
              <a:rPr>
                <a:solidFill>
                  <a:srgbClr val="40A070"/>
                </a:solidFill>
                <a:latin typeface="Courier"/>
              </a:rPr>
              <a:t>1</a:t>
            </a:r>
            <a:r>
              <a:rPr>
                <a:latin typeface="Courier"/>
              </a:rPr>
              <a:t>)]</a:t>
            </a:r>
            <a:r>
              <a:rPr>
                <a:solidFill>
                  <a:srgbClr val="4070A0"/>
                </a:solidFill>
                <a:latin typeface="Courier"/>
              </a:rPr>
              <a:t>.</a:t>
            </a:r>
            <a:r>
              <a:rPr>
                <a:solidFill>
                  <a:srgbClr val="008000"/>
                </a:solidFill>
                <a:latin typeface="Courier"/>
              </a:rPr>
              <a:t>min</a:t>
            </a:r>
            <a:r>
              <a:rPr>
                <a:latin typeface="Courier"/>
              </a:rPr>
              <a:t>()</a:t>
            </a:r>
            <a:r>
              <a:rPr>
                <a:solidFill>
                  <a:srgbClr val="4070A0"/>
                </a:solidFill>
                <a:latin typeface="Courier"/>
              </a:rPr>
              <a:t>:.2f}</a:t>
            </a:r>
            <a:r>
              <a:rPr>
                <a:solidFill>
                  <a:srgbClr val="BB6688"/>
                </a:solidFill>
                <a:latin typeface="Courier"/>
              </a:rPr>
              <a:t>"</a:t>
            </a:r>
            <a:br/>
            <a:r>
              <a:rPr>
                <a:latin typeface="Courier"/>
              </a:rPr>
              <a:t>      </a:t>
            </a:r>
            <a:r>
              <a:rPr>
                <a:solidFill>
                  <a:srgbClr val="BB6688"/>
                </a:solidFill>
                <a:latin typeface="Courier"/>
              </a:rPr>
              <a:t>f" to </a:t>
            </a:r>
            <a:r>
              <a:rPr>
                <a:solidFill>
                  <a:srgbClr val="4070A0"/>
                </a:solidFill>
                <a:latin typeface="Courier"/>
              </a:rPr>
              <a:t>{</a:t>
            </a:r>
            <a:r>
              <a:rPr>
                <a:latin typeface="Courier"/>
              </a:rPr>
              <a:t>C[np.triu_indices(</a:t>
            </a:r>
            <a:r>
              <a:rPr>
                <a:solidFill>
                  <a:srgbClr val="40A070"/>
                </a:solidFill>
                <a:latin typeface="Courier"/>
              </a:rPr>
              <a:t>5</a:t>
            </a:r>
            <a:r>
              <a:rPr>
                <a:latin typeface="Courier"/>
              </a:rPr>
              <a:t>, </a:t>
            </a:r>
            <a:r>
              <a:rPr>
                <a:solidFill>
                  <a:srgbClr val="40A070"/>
                </a:solidFill>
                <a:latin typeface="Courier"/>
              </a:rPr>
              <a:t>1</a:t>
            </a:r>
            <a:r>
              <a:rPr>
                <a:latin typeface="Courier"/>
              </a:rPr>
              <a:t>)]</a:t>
            </a:r>
            <a:r>
              <a:rPr>
                <a:solidFill>
                  <a:srgbClr val="4070A0"/>
                </a:solidFill>
                <a:latin typeface="Courier"/>
              </a:rPr>
              <a:t>.</a:t>
            </a:r>
            <a:r>
              <a:rPr>
                <a:solidFill>
                  <a:srgbClr val="008000"/>
                </a:solidFill>
                <a:latin typeface="Courier"/>
              </a:rPr>
              <a:t>max</a:t>
            </a:r>
            <a:r>
              <a:rPr>
                <a:latin typeface="Courier"/>
              </a:rPr>
              <a:t>()</a:t>
            </a:r>
            <a:r>
              <a:rPr>
                <a:solidFill>
                  <a:srgbClr val="4070A0"/>
                </a:solidFill>
                <a:latin typeface="Courier"/>
              </a:rPr>
              <a:t>:.2f}</a:t>
            </a:r>
            <a:r>
              <a:rPr>
                <a:solidFill>
                  <a:srgbClr val="BB6688"/>
                </a:solidFill>
                <a:latin typeface="Courier"/>
              </a:rPr>
              <a:t>"</a:t>
            </a:r>
            <a:r>
              <a:rPr>
                <a:latin typeface="Courier"/>
              </a:rPr>
              <a:t>)</a:t>
            </a:r>
          </a:p>
          <a:p>
            <a:pPr lvl="0" indent="0">
              <a:buNone/>
            </a:pPr>
            <a:r>
              <a:rPr>
                <a:latin typeface="Courier"/>
              </a:rPr>
              <a:t>pairwise correlations within the group: 0.93 to 0.96</a:t>
            </a:r>
          </a:p>
          <a:p>
            <a:pPr lvl="0" indent="0" marL="0">
              <a:buNone/>
            </a:pPr>
            <a:r>
              <a:rPr/>
              <a:t>The lasso must choose one. So your paper says </a:t>
            </a:r>
            <a:r>
              <a:rPr i="1"/>
              <a:t>“text mining, specifically, and none of its neighbours”</a:t>
            </a:r>
            <a:r>
              <a:rPr/>
              <a:t> — a claim the data cannot support and a referee will not believe.</a:t>
            </a:r>
          </a:p>
        </p:txBody>
      </p:sp>
    </p:spTree>
  </p:cSld>
</p:sld>
</file>

<file path=ppt/slides/slide4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The estimator</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14:m><m:oMathPara xmlns:m="http://schemas.openxmlformats.org/officeDocument/2006/math"><m:oMathParaPr><m:jc m:val="center" /></m:oMathParaPr><m:oMath><m:sSup><m:e><m:acc><m:accPr><m:chr m:val="̂" /></m:accPr><m:e><m:r><m:t>β</m:t></m:r></m:e></m:acc></m:e><m:sup><m:r><m:rPr><m:nor /><m:sty m:val="p" /></m:rPr><m:t>EN</m:t></m:r></m:sup></m:sSup><m:r><m:rPr><m:sty m:val="p" /></m:rPr><m:t>=</m:t></m:r><m:r><m:rPr><m:sty m:val="p" /></m:rPr><m:t>arg</m:t></m:r><m:limLow><m:e><m:r><m:rPr><m:sty m:val="p" /></m:rPr><m:t>min</m:t></m:r></m:e><m:lim><m:r><m:t>β</m:t></m:r></m:lim></m:limLow><m:d><m:dPr><m:begChr m:val="{" /><m:sepChr m:val="" /><m:endChr m:val="}" /><m:grow /></m:dPr><m:e><m:f><m:fPr><m:type m:val="lin" /></m:fPr><m:num><m:r><m:t>1</m:t></m:r></m:num><m:den><m:r><m:t>2</m:t></m:r><m:r><m:t>n</m:t></m:r></m:den></m:f><m:r><m:rPr><m:sty m:val="p" /></m:rPr><m:t>∥</m:t></m:r><m:r><m:t>y</m:t></m:r><m:r><m:rPr><m:sty m:val="p" /></m:rPr><m:t>−</m:t></m:r><m:r><m:t>X</m:t></m:r><m:r><m:t>β</m:t></m:r><m:sSubSup><m:e><m:r><m:rPr><m:sty m:val="p" /></m:rPr><m:t>∥</m:t></m:r></m:e><m:sub><m:r><m:t>2</m:t></m:r></m:sub><m:sup><m:r><m:t>2</m:t></m:r></m:sup></m:sSubSup><m:r><m:rPr><m:sty m:val="p" /></m:rPr><m:t>+</m:t></m:r><m:r><m:t>λ</m:t></m:r><m:d><m:dPr><m:begChr m:val="[" /><m:sepChr m:val="" /><m:endChr m:val="]" /><m:grow /></m:dPr><m:e><m:r><m:t>α</m:t></m:r><m:r><m:rPr><m:sty m:val="p" /></m:rPr><m:t>∥</m:t></m:r><m:r><m:t>β</m:t></m:r><m:sSub><m:e><m:r><m:rPr><m:sty m:val="p" /></m:rPr><m:t>∥</m:t></m:r></m:e><m:sub><m:r><m:t>1</m:t></m:r></m:sub></m:sSub><m:r><m:rPr><m:sty m:val="p" /></m:rPr><m:t>+</m:t></m:r><m:f><m:fPr><m:type m:val="lin" /></m:fPr><m:num><m:r><m:t>1</m:t></m:r><m:r><m:rPr><m:sty m:val="p" /></m:rPr><m:t>−</m:t></m:r><m:r><m:t>α</m:t></m:r></m:num><m:den><m:r><m:t>2</m:t></m:r></m:den></m:f><m:r><m:rPr><m:sty m:val="p" /></m:rPr><m:t>∥</m:t></m:r><m:r><m:t>β</m:t></m:r><m:sSubSup><m:e><m:r><m:rPr><m:sty m:val="p" /></m:rPr><m:t>∥</m:t></m:r></m:e><m:sub><m:r><m:t>2</m:t></m:r></m:sub><m:sup><m:r><m:t>2</m:t></m:r></m:sup></m:sSubSup></m:e></m:d></m:e></m:d></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2552700" /><a:gridCol w="2552700" /></a:tblGrid><a:tr h="0"><a:tc><a:txBody><a:bodyPr /><a:lstStyle /><a:p><a:pPr lvl="0" indent="0" marL="0"><a:buNone /></a:pPr><a14:m><m:oMath xmlns:m="http://schemas.openxmlformats.org/officeDocument/2006/math"><m:r><m:t>α</m:t></m:r></m:oMath></a14:m></a:p></a:txBody><a:tcPr /></a:tc><a:tc><a:txBody><a:bodyPr /><a:lstStyle /><a:p><a:pPr lvl="0" indent="0" marL="0"><a:buNone /></a:pPr><a:r><a:rPr /><a:t>what you get</a:t></a:r></a:p></a:txBody><a:tcPr /></a:tc></a:tr><a:tr h="0"><a:tc><a:txBody><a:bodyPr /><a:lstStyle /><a:p><a:pPr lvl="0" indent="0" marL="0"><a:buNone /></a:pPr><a14:m><m:oMath xmlns:m="http://schemas.openxmlformats.org/officeDocument/2006/math"><m:r><m:t>1</m:t></m:r></m:oMath></a14:m></a:p></a:txBody></a:tc><a:tc><a:txBody><a:bodyPr /><a:lstStyle /><a:p><a:pPr lvl="0" indent="0" marL="0"><a:buNone /></a:pPr><a:r><a:rPr /><a:t>the lasso</a:t></a:r></a:p></a:txBody></a:tc></a:tr><a:tr h="0"><a:tc><a:txBody><a:bodyPr /><a:lstStyle /><a:p><a:pPr lvl="0" indent="0" marL="0"><a:buNone /></a:pPr><a14:m><m:oMath xmlns:m="http://schemas.openxmlformats.org/officeDocument/2006/math"><m:r><m:t>0</m:t></m:r></m:oMath></a14:m></a:p></a:txBody></a:tc><a:tc><a:txBody><a:bodyPr /><a:lstStyle /><a:p><a:pPr lvl="0" indent="0" marL="0"><a:buNone /></a:pPr><a:r><a:rPr /><a:t>ridge</a:t></a:r></a:p></a:txBody></a:tc></a:tr><a:tr h="0"><a:tc><a:txBody><a:bodyPr /><a:lstStyle /><a:p><a:pPr lvl="0" indent="0" marL="0"><a:buNone /></a:pPr><a14:m><m:oMath xmlns:m="http://schemas.openxmlformats.org/officeDocument/2006/math"><m:d><m:dPr><m:begChr m:val="(" /><m:sepChr m:val="" /><m:endChr m:val=")" /><m:grow /></m:dPr><m:e><m:r><m:t>0</m:t></m:r><m:r><m:rPr><m:sty m:val="p" /></m:rPr><m:t>,</m:t></m:r><m:r><m:t>1</m:t></m:r></m:e></m:d></m:oMath></a14:m></a:p></a:txBody></a:tc><a:tc><a:txBody><a:bodyPr /><a:lstStyle /><a:p><a:pPr lvl="0" indent="0" marL="0"><a:buNone /></a:pPr><a:r><a:rPr /><a:t>sparse </a:t></a:r><a:r><a:rPr b="1" /><a:t>and</a:t></a:r><a:r><a:rPr /><a:t> strictly convex</a:t></a:r></a:p></a:txBody></a:tc></a:tr></a:tbl></a:graphicData></a:graphic></p:graphicFrame></p:spTree></p:cSld></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Strict convexity for any </a:t>
                </a:r>
                <a14:m>
                  <m:oMath xmlns:m="http://schemas.openxmlformats.org/officeDocument/2006/math">
                    <m:r>
                      <m:t>α</m:t>
                    </m:r>
                    <m:r>
                      <m:rPr>
                        <m:sty m:val="p"/>
                      </m:rPr>
                      <m:t>&lt;</m:t>
                    </m:r>
                    <m:r>
                      <m:t>1</m:t>
                    </m:r>
                  </m:oMath>
                </a14:m>
                <a:r>
                  <a:rPr/>
                  <a:t> is what buys the </a:t>
                </a:r>
                <a:r>
                  <a:rPr b="1"/>
                  <a:t>grouping effect</a:t>
                </a:r>
                <a:r>
                  <a:rPr/>
                  <a:t>: two identical predictors receive </a:t>
                </a:r>
                <a:r>
                  <a:rPr b="1"/>
                  <a:t>identical</a:t>
                </a:r>
                <a:r>
                  <a:rPr/>
                  <a:t> coefficients, where the lasso had to pick.</a:t>
                </a:r>
              </a:p>
            </p:txBody>
          </p:sp>
        </mc:Choice>
      </mc:AlternateContent>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grouping effect, measured</a:t>
            </a:r>
          </a:p>
        </p:txBody>
      </p:sp>
      <p:pic>
        <p:nvPicPr>
          <p:cNvPr descr="slides_files/figure-pptx/cell-14-output-1.png" id="0" name="Picture 1"/>
          <p:cNvPicPr>
            <a:picLocks noGrp="1" noChangeAspect="1"/>
          </p:cNvPicPr>
          <p:nvPr/>
        </p:nvPicPr>
        <p:blipFill>
          <a:blip r:embed="rId2"/>
          <a:stretch>
            <a:fillRect/>
          </a:stretch>
        </p:blipFill>
        <p:spPr bwMode="auto">
          <a:xfrm>
            <a:off x="457200" y="1231900"/>
            <a:ext cx="8229600" cy="33147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Same data, same </a:t>
                </a:r>
                <a14:m>
                  <m:oMath xmlns:m="http://schemas.openxmlformats.org/officeDocument/2006/math">
                    <m:r>
                      <m:t>λ</m:t>
                    </m:r>
                  </m:oMath>
                </a14:m>
                <a:r>
                  <a:rPr/>
                  <a:t>, 300 resamples. The lasso keeps the group leader and discards its neighbours; the elastic net admits them.</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matters for a paper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macro panel where a dozen series measure one construct, this is the difference between a model that says </a:t>
                </a:r>
                <a:r>
                  <a:rPr i="1"/>
                  <a:t>“AI adoption matters”</a:t>
                </a:r>
                <a:r>
                  <a:rPr/>
                  <a:t> and one that says </a:t>
                </a:r>
                <a:r>
                  <a:rPr i="1"/>
                  <a:t>“industrial production of durable goods excluding motor vehicles, specifically.”</a:t>
                </a:r>
              </a:p>
              <a:p>
                <a:pPr lvl="0" indent="0" marL="0">
                  <a:buNone/>
                </a:pPr>
                <a:r>
                  <a:rPr/>
                  <a:t>The coordinate update is soft-threshold, </a:t>
                </a:r>
                <a:r>
                  <a:rPr b="1"/>
                  <a:t>then divide</a:t>
                </a:r>
                <a:r>
                  <a:rPr/>
                  <a:t>:</a:t>
                </a:r>
              </a:p>
              <a:p>
                <a:pPr lvl="0" indent="0" marL="0">
                  <a:buNone/>
                </a:pPr>
                <a14:m>
                  <m:oMathPara xmlns:m="http://schemas.openxmlformats.org/officeDocument/2006/math">
                    <m:oMathParaPr>
                      <m:jc m:val="center"/>
                    </m:oMathParaPr>
                    <m:oMath>
                      <m:sSub>
                        <m:e>
                          <m:acc>
                            <m:accPr>
                              <m:chr m:val="̂"/>
                            </m:accPr>
                            <m:e>
                              <m:r>
                                <m:t>β</m:t>
                              </m:r>
                            </m:e>
                          </m:acc>
                        </m:e>
                        <m:sub>
                          <m:r>
                            <m:t>j</m:t>
                          </m:r>
                        </m:sub>
                      </m:sSub>
                      <m:r>
                        <m:rPr>
                          <m:sty m:val="p"/>
                        </m:rPr>
                        <m:t>=</m:t>
                      </m:r>
                      <m:f>
                        <m:fPr>
                          <m:type m:val="bar"/>
                        </m:fPr>
                        <m:num>
                          <m:sSub>
                            <m:e>
                              <m:r>
                                <m:t>S</m:t>
                              </m:r>
                            </m:e>
                            <m:sub>
                              <m:r>
                                <m:t>λ</m:t>
                              </m:r>
                              <m:r>
                                <m:t>α</m:t>
                              </m:r>
                            </m:sub>
                          </m:sSub>
                          <m:d>
                            <m:dPr>
                              <m:begChr m:val="("/>
                              <m:sepChr m:val=""/>
                              <m:endChr m:val=")"/>
                              <m:grow/>
                            </m:dPr>
                            <m:e>
                              <m:sSub>
                                <m:e>
                                  <m:r>
                                    <m:t>ρ</m:t>
                                  </m:r>
                                </m:e>
                                <m:sub>
                                  <m:r>
                                    <m:t>j</m:t>
                                  </m:r>
                                </m:sub>
                              </m:sSub>
                            </m:e>
                          </m:d>
                        </m:num>
                        <m:den>
                          <m:r>
                            <m:t>1</m:t>
                          </m:r>
                          <m:r>
                            <m:rPr>
                              <m:sty m:val="p"/>
                            </m:rPr>
                            <m:t>+</m:t>
                          </m:r>
                          <m:r>
                            <m:t>λ</m:t>
                          </m:r>
                          <m:d>
                            <m:dPr>
                              <m:begChr m:val="("/>
                              <m:sepChr m:val=""/>
                              <m:endChr m:val=")"/>
                              <m:grow/>
                            </m:dPr>
                            <m:e>
                              <m:r>
                                <m:t>1</m:t>
                              </m:r>
                              <m:r>
                                <m:rPr>
                                  <m:sty m:val="p"/>
                                </m:rPr>
                                <m:t>−</m:t>
                              </m:r>
                              <m:r>
                                <m:t>α</m:t>
                              </m:r>
                            </m:e>
                          </m:d>
                        </m:den>
                      </m:f>
                    </m:oMath>
                  </m:oMathPara>
                </a14:m>
              </a:p>
              <a:p>
                <a:pPr lvl="0" indent="0" marL="0">
                  <a:buNone/>
                </a:pPr>
                <a:r>
                  <a:rPr/>
                  <a:t>Same worked example, </a:t>
                </a:r>
                <a14:m>
                  <m:oMath xmlns:m="http://schemas.openxmlformats.org/officeDocument/2006/math">
                    <m:r>
                      <m:t>λ</m:t>
                    </m:r>
                    <m:r>
                      <m:rPr>
                        <m:sty m:val="p"/>
                      </m:rPr>
                      <m:t>=</m:t>
                    </m:r>
                    <m:r>
                      <m:t>0.2</m:t>
                    </m:r>
                  </m:oMath>
                </a14:m>
                <a:r>
                  <a:rPr/>
                  <a:t>, </a:t>
                </a:r>
                <a14:m>
                  <m:oMath xmlns:m="http://schemas.openxmlformats.org/officeDocument/2006/math">
                    <m:r>
                      <m:t>α</m:t>
                    </m:r>
                    <m:r>
                      <m:rPr>
                        <m:sty m:val="p"/>
                      </m:rPr>
                      <m:t>=</m:t>
                    </m:r>
                    <m:r>
                      <m:t>0.5</m:t>
                    </m:r>
                  </m:oMath>
                </a14:m>
                <a:r>
                  <a:rPr/>
                  <a:t>: threshold at </a:t>
                </a:r>
                <a14:m>
                  <m:oMath xmlns:m="http://schemas.openxmlformats.org/officeDocument/2006/math">
                    <m:r>
                      <m:t>0.10</m:t>
                    </m:r>
                  </m:oMath>
                </a14:m>
                <a:r>
                  <a:rPr/>
                  <a:t>, divide by </a:t>
                </a:r>
                <a14:m>
                  <m:oMath xmlns:m="http://schemas.openxmlformats.org/officeDocument/2006/math">
                    <m:r>
                      <m:t>1.10</m:t>
                    </m:r>
                  </m:oMath>
                </a14:m>
                <a:r>
                  <a:rPr/>
                  <a:t> → </a:t>
                </a:r>
                <a14:m>
                  <m:oMath xmlns:m="http://schemas.openxmlformats.org/officeDocument/2006/math">
                    <m:d>
                      <m:dPr>
                        <m:begChr m:val="("/>
                        <m:sepChr m:val=""/>
                        <m:endChr m:val=")"/>
                        <m:grow/>
                      </m:dPr>
                      <m:e>
                        <m:r>
                          <m:t>0.291</m:t>
                        </m:r>
                        <m:r>
                          <m:rPr>
                            <m:sty m:val="p"/>
                          </m:rPr>
                          <m:t>,</m:t>
                        </m:r>
                        <m:r>
                          <m:t> </m:t>
                        </m:r>
                        <m:r>
                          <m:rPr>
                            <m:sty m:val="p"/>
                          </m:rPr>
                          <m:t>−</m:t>
                        </m:r>
                        <m:r>
                          <m:t>0.073</m:t>
                        </m:r>
                        <m:r>
                          <m:rPr>
                            <m:sty m:val="p"/>
                          </m:rPr>
                          <m:t>,</m:t>
                        </m:r>
                        <m:r>
                          <m:t> </m:t>
                        </m:r>
                        <m:r>
                          <m:t>0</m:t>
                        </m:r>
                        <m:r>
                          <m:rPr>
                            <m:sty m:val="p"/>
                          </m:rPr>
                          <m:t>,</m:t>
                        </m:r>
                        <m:r>
                          <m:t> </m:t>
                        </m:r>
                        <m:r>
                          <m:t>0.191</m:t>
                        </m:r>
                      </m:e>
                    </m:d>
                  </m:oMath>
                </a14:m>
                <a:r>
                  <a:rPr/>
                  <a:t>. </a:t>
                </a:r>
                <a:r>
                  <a:rPr b="1"/>
                  <a:t>Three survive instead of two.</a:t>
                </a:r>
              </a:p>
            </p:txBody>
          </p:sp>
        </mc:Choice>
      </mc:AlternateContent>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722313" y="1850000"/>
                <a:ext cx="7772400" cy="1300000"/>
              </a:xfrm>
            </p:spPr>
            <p:txBody>
              <a:bodyPr/>
              <a:lstStyle/>
              <a:p>
                <a:pPr lvl="0" indent="0" marL="0">
                  <a:buNone/>
                </a:pPr>
                <a:r>
                  <a:rPr/>
                  <a:t>6 · Choosing </a:t>
                </a:r>
                <a14:m>
                  <m:oMath xmlns:m="http://schemas.openxmlformats.org/officeDocument/2006/math">
                    <m:r>
                      <m:t>λ</m:t>
                    </m:r>
                  </m:oMath>
                </a14:m>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path, and where it starts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Fit over a </a:t>
                </a:r>
                <a:r>
                  <a:rPr b="1"/>
                  <a:t>decreasing</a:t>
                </a:r>
                <a:r>
                  <a:rPr/>
                  <a:t> grid from</a:t>
                </a:r>
              </a:p>
              <a:p>
                <a:pPr lvl="0" indent="0" marL="0">
                  <a:buNone/>
                </a:pPr>
                <a14:m>
                  <m:oMathPara xmlns:m="http://schemas.openxmlformats.org/officeDocument/2006/math">
                    <m:oMathParaPr>
                      <m:jc m:val="center"/>
                    </m:oMathParaPr>
                    <m:oMath>
                      <m:sSub>
                        <m:e>
                          <m:r>
                            <m:t>λ</m:t>
                          </m:r>
                        </m:e>
                        <m:sub>
                          <m:r>
                            <m:rPr>
                              <m:sty m:val="p"/>
                            </m:rPr>
                            <m:t>max</m:t>
                          </m:r>
                        </m:sub>
                      </m:sSub>
                      <m:r>
                        <m:rPr>
                          <m:sty m:val="p"/>
                        </m:rPr>
                        <m:t>=</m:t>
                      </m:r>
                      <m:limLow>
                        <m:e>
                          <m:r>
                            <m:rPr>
                              <m:sty m:val="p"/>
                            </m:rPr>
                            <m:t>max</m:t>
                          </m:r>
                        </m:e>
                        <m:lim>
                          <m:r>
                            <m:t>j</m:t>
                          </m:r>
                        </m:lim>
                      </m:limLow>
                      <m:f>
                        <m:fPr>
                          <m:type m:val="bar"/>
                        </m:fPr>
                        <m:num>
                          <m:d>
                            <m:dPr>
                              <m:begChr m:val="|"/>
                              <m:sepChr m:val=""/>
                              <m:endChr m:val="|"/>
                              <m:grow/>
                            </m:dPr>
                            <m:e>
                              <m:sSubSup>
                                <m:e>
                                  <m:r>
                                    <m:t>x</m:t>
                                  </m:r>
                                </m:e>
                                <m:sub>
                                  <m:r>
                                    <m:t>j</m:t>
                                  </m:r>
                                </m:sub>
                                <m:sup>
                                  <m:r>
                                    <m:rPr>
                                      <m:sty m:val="p"/>
                                    </m:rPr>
                                    <m:t>⊤</m:t>
                                  </m:r>
                                </m:sup>
                              </m:sSubSup>
                              <m:r>
                                <m:t>y</m:t>
                              </m:r>
                            </m:e>
                          </m:d>
                        </m:num>
                        <m:den>
                          <m:r>
                            <m:t>n</m:t>
                          </m:r>
                          <m:r>
                            <m:t>α</m:t>
                          </m:r>
                        </m:den>
                      </m:f>
                    </m:oMath>
                  </m:oMathPara>
                </a14:m>
              </a:p>
              <a:p>
                <a:pPr lvl="0" indent="0" marL="0">
                  <a:buNone/>
                </a:pPr>
                <a:r>
                  <a:rPr/>
                  <a:t>— the smallest penalty that still gives the null model — down to </a:t>
                </a:r>
                <a14:m>
                  <m:oMath xmlns:m="http://schemas.openxmlformats.org/officeDocument/2006/math">
                    <m:r>
                      <m:t>ε</m:t>
                    </m:r>
                    <m:sSub>
                      <m:e>
                        <m:r>
                          <m:t>λ</m:t>
                        </m:r>
                      </m:e>
                      <m:sub>
                        <m:r>
                          <m:rPr>
                            <m:sty m:val="p"/>
                          </m:rPr>
                          <m:t>max</m:t>
                        </m:r>
                      </m:sub>
                    </m:sSub>
                  </m:oMath>
                </a14:m>
                <a:r>
                  <a:rPr/>
                  <a:t>, with </a:t>
                </a:r>
                <a:r>
                  <a:rPr b="1"/>
                  <a:t>warm starts</a:t>
                </a:r>
                <a:r>
                  <a:rPr/>
                  <a:t> (each fit begins from the previous solution).</a:t>
                </a:r>
              </a:p>
              <a:p>
                <a:pPr lvl="0" indent="0" marL="0">
                  <a:buNone/>
                </a:pPr>
                <a:r>
                  <a:rPr/>
                  <a:t>Then cross-validate </a:t>
                </a:r>
                <a:r>
                  <a:rPr b="1"/>
                  <a:t>jointly</a:t>
                </a:r>
                <a:r>
                  <a:rPr/>
                  <a:t> over </a:t>
                </a:r>
                <a14:m>
                  <m:oMath xmlns:m="http://schemas.openxmlformats.org/officeDocument/2006/math">
                    <m:d>
                      <m:dPr>
                        <m:begChr m:val="("/>
                        <m:sepChr m:val=""/>
                        <m:endChr m:val=")"/>
                        <m:grow/>
                      </m:dPr>
                      <m:e>
                        <m:r>
                          <m:t>α</m:t>
                        </m:r>
                        <m:r>
                          <m:rPr>
                            <m:sty m:val="p"/>
                          </m:rPr>
                          <m:t>,</m:t>
                        </m:r>
                        <m:r>
                          <m:t>λ</m:t>
                        </m:r>
                      </m:e>
                    </m:d>
                  </m:oMath>
                </a14:m>
                <a:r>
                  <a:rPr/>
                  <a:t>. Not sequentially: the best </a:t>
                </a:r>
                <a14:m>
                  <m:oMath xmlns:m="http://schemas.openxmlformats.org/officeDocument/2006/math">
                    <m:r>
                      <m:t>λ</m:t>
                    </m:r>
                  </m:oMath>
                </a14:m>
                <a:r>
                  <a:rPr/>
                  <a:t> depends on </a:t>
                </a:r>
                <a14:m>
                  <m:oMath xmlns:m="http://schemas.openxmlformats.org/officeDocument/2006/math">
                    <m:r>
                      <m:t>α</m:t>
                    </m:r>
                  </m:oMath>
                </a14:m>
                <a:r>
                  <a:rPr/>
                  <a:t>.</a:t>
                </a:r>
              </a:p>
            </p:txBody>
          </p:sp>
        </mc:Choice>
      </mc:AlternateContent>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CV curve</a:t>
            </a:r>
          </a:p>
        </p:txBody>
      </p:sp>
      <p:pic>
        <p:nvPicPr>
          <p:cNvPr descr="slides_files/figure-pptx/cell-15-output-1.png" id="0" name="Picture 1"/>
          <p:cNvPicPr>
            <a:picLocks noGrp="1" noChangeAspect="1"/>
          </p:cNvPicPr>
          <p:nvPr/>
        </p:nvPicPr>
        <p:blipFill>
          <a:blip r:embed="rId2"/>
          <a:stretch>
            <a:fillRect/>
          </a:stretch>
        </p:blipFill>
        <p:spPr bwMode="auto">
          <a:xfrm>
            <a:off x="457200" y="1193800"/>
            <a:ext cx="8229600" cy="3378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Dotted line: one standard error above the minimum. Everything below it is statistically indistinguishable from the best.</a:t>
            </a:r>
          </a:p>
        </p:txBody>
      </p:sp>
    </p:spTree>
  </p:cSld>
</p:sld>
</file>

<file path=ppt/slides/slide5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Two conventions, and when to use which</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a:buNone /></a:pPr><a:r><a:rPr /><a:t>definition</a:t></a:r></a:p></a:txBody><a:tcPr /></a:tc><a:tc><a:txBody><a:bodyPr /><a:lstStyle /><a:p><a:pPr lvl="0" indent="0" marL="0"><a:buNone /></a:pPr><a:r><a:rPr /><a:t>use it when</a:t></a:r></a:p></a:txBody><a:tcPr /></a:tc></a:tr><a:tr h="0"><a:tc><a:txBody><a:bodyPr /><a:lstStyle /><a:p><a:pPr lvl="0" indent="0" marL="0"><a:buNone /></a:pPr><a14:m><m:oMath xmlns:m="http://schemas.openxmlformats.org/officeDocument/2006/math"><m:sSub><m:e><m:r><m:t>λ</m:t></m:r></m:e><m:sub><m:r><m:rPr><m:sty m:val="p" /></m:rPr><m:t>min</m:t></m:r></m:sub></m:sSub></m:oMath></a14:m></a:p></a:txBody></a:tc><a:tc><a:txBody><a:bodyPr /><a:lstStyle /><a:p><a:pPr lvl="0" indent="0" marL="0"><a:buNone /></a:pPr><a:r><a:rPr /><a:t>minimises CV error</a:t></a:r></a:p></a:txBody></a:tc><a:tc><a:txBody><a:bodyPr /><a:lstStyle /><a:p><a:pPr lvl="0" indent="0" marL="0"><a:buNone /></a:pPr><a:r><a:rPr /><a:t>prediction is the deliverable</a:t></a:r></a:p></a:txBody></a:tc></a:tr><a:tr h="0"><a:tc><a:txBody><a:bodyPr /><a:lstStyle /><a:p><a:pPr lvl="0" indent="0" marL="0"><a:buNone /></a:pPr><a14:m><m:oMath xmlns:m="http://schemas.openxmlformats.org/officeDocument/2006/math"><m:sSub><m:e><m:r><m:t>λ</m:t></m:r></m:e><m:sub><m:r><m:t>1</m:t></m:r><m:r><m:t>s</m:t></m:r><m:r><m:t>e</m:t></m:r></m:sub></m:sSub></m:oMath></a14:m></a:p></a:txBody></a:tc><a:tc><a:txBody><a:bodyPr /><a:lstStyle /><a:p><a:pPr lvl="0" indent="0" marL="0"><a:buNone /></a:pPr><a:r><a:rPr b="1" /><a:t>largest</a:t></a:r><a:r><a:rPr /><a:t> </a:t></a:r><a14:m><m:oMath xmlns:m="http://schemas.openxmlformats.org/officeDocument/2006/math"><m:r><m:t>λ</m:t></m:r></m:oMath></a14:m><a:r><a:rPr /><a:t> within one SE of the minimum</a:t></a:r></a:p></a:txBody></a:tc><a:tc><a:txBody><a:bodyPr /><a:lstStyle /><a:p><a:pPr lvl="0" indent="0" marL="0"><a:buNone /></a:pPr><a:r><a:rPr /><a:t>the model must be explained</a:t></a:r></a:p></a:txBody></a:tc></a:tr></a:tbl></a:graphicData></a:graphic></p:graphicFrame></p:spTree></p:cSld></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 xmlns:m="http://schemas.openxmlformats.org/officeDocument/2006/math">
                    <m:sSub>
                      <m:e>
                        <m:r>
                          <m:t>λ</m:t>
                        </m:r>
                      </m:e>
                      <m:sub>
                        <m:r>
                          <m:t>1</m:t>
                        </m:r>
                        <m:r>
                          <m:t>s</m:t>
                        </m:r>
                        <m:r>
                          <m:t>e</m:t>
                        </m:r>
                      </m:sub>
                    </m:sSub>
                  </m:oMath>
                </a14:m>
                <a:r>
                  <a:rPr/>
                  <a:t> costs you nothing detectable in accuracy and buys a much smaller model. Prefer it whenever a human has to read the coefficient table — which, in this course, is always.</a:t>
                </a:r>
              </a:p>
            </p:txBody>
          </p:sp>
        </mc:Choice>
      </mc:AlternateContent>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warning that ends the session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Standard errors and </a:t>
                </a:r>
                <a14:m>
                  <m:oMath xmlns:m="http://schemas.openxmlformats.org/officeDocument/2006/math">
                    <m:r>
                      <m:t>p</m:t>
                    </m:r>
                  </m:oMath>
                </a14:m>
                <a:r>
                  <a:rPr/>
                  <a:t>-values reported </a:t>
                </a:r>
                <a:r>
                  <a:rPr b="1"/>
                  <a:t>after</a:t>
                </a:r>
                <a:r>
                  <a:rPr/>
                  <a:t> lasso selection are </a:t>
                </a:r>
                <a:r>
                  <a:rPr b="1"/>
                  <a:t>not valid</a:t>
                </a:r>
                <a:r>
                  <a:rPr/>
                  <a:t>. Selection used the same data that the inference then conditions on, so naive </a:t>
                </a:r>
                <a14:m>
                  <m:oMath xmlns:m="http://schemas.openxmlformats.org/officeDocument/2006/math">
                    <m:r>
                      <m:t>p</m:t>
                    </m:r>
                  </m:oMath>
                </a14:m>
                <a:r>
                  <a:rPr/>
                  <a:t>-values are badly anti-conservative.</a:t>
                </a:r>
              </a:p>
              <a:p>
                <a:pPr lvl="0"/>
                <a:r>
                  <a:rPr/>
                  <a:t>You may report the selected model and its out-of-sample error</a:t>
                </a:r>
              </a:p>
              <a:p>
                <a:pPr lvl="0"/>
                <a:r>
                  <a:rPr/>
                  <a:t>You may </a:t>
                </a:r>
                <a:r>
                  <a:rPr b="1"/>
                  <a:t>not</a:t>
                </a:r>
                <a:r>
                  <a:rPr/>
                  <a:t> report </a:t>
                </a:r>
                <a:r>
                  <a:rPr>
                    <a:latin typeface="Courier"/>
                  </a:rPr>
                  <a:t>summary()</a:t>
                </a:r>
                <a:r>
                  <a:rPr/>
                  <a:t> from an OLS refit on the selected columns as if it were an ordinary regression</a:t>
                </a:r>
              </a:p>
              <a:p>
                <a:pPr lvl="0"/>
                <a:r>
                  <a:rPr/>
                  <a:t>Honest post-selection inference needs the debiasing machinery of </a:t>
                </a:r>
                <a:r>
                  <a:rPr b="1"/>
                  <a:t>Session 10</a:t>
                </a:r>
              </a:p>
            </p:txBody>
          </p:sp>
        </mc:Choice>
      </mc:AlternateContent>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7 · Takeaways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takeaways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a:t>Leaving the unbiased class is a </a:t>
                </a:r>
                <a:r>
                  <a:rPr b="1"/>
                  <a:t>choice with a payoff</a:t>
                </a:r>
                <a:r>
                  <a:rPr/>
                  <a:t> — here, half the test error</a:t>
                </a:r>
              </a:p>
              <a:p>
                <a:pPr lvl="0" indent="-342900" marL="342900">
                  <a:buAutoNum type="arabicPeriod"/>
                </a:pPr>
                <a:r>
                  <a:rPr/>
                  <a:t>Ridge damps the directions where the data are least informative; it never selects</a:t>
                </a:r>
              </a:p>
              <a:p>
                <a:pPr lvl="0" indent="-342900" marL="342900">
                  <a:buAutoNum type="arabicPeriod"/>
                </a:pPr>
                <a:r>
                  <a:rPr/>
                  <a:t>The lasso’s zeros come from the </a:t>
                </a:r>
                <a:r>
                  <a:rPr b="1"/>
                  <a:t>corners</a:t>
                </a:r>
                <a:r>
                  <a:rPr/>
                  <a:t> of the </a:t>
                </a:r>
                <a14:m>
                  <m:oMath xmlns:m="http://schemas.openxmlformats.org/officeDocument/2006/math">
                    <m:sSub>
                      <m:e>
                        <m:r>
                          <m:rPr>
                            <m:sty m:val="p"/>
                          </m:rPr>
                          <m:t>ℓ</m:t>
                        </m:r>
                      </m:e>
                      <m:sub>
                        <m:r>
                          <m:t>1</m:t>
                        </m:r>
                      </m:sub>
                    </m:sSub>
                  </m:oMath>
                </a14:m>
                <a:r>
                  <a:rPr/>
                  <a:t> ball, and from soft-thresholding</a:t>
                </a:r>
              </a:p>
              <a:p>
                <a:pPr lvl="0" indent="-342900" marL="342900">
                  <a:buAutoNum type="arabicPeriod"/>
                </a:pPr>
                <a:r>
                  <a:rPr/>
                  <a:t>When predictors come in families, the elastic net keeps the family; the lasso keeps a member</a:t>
                </a:r>
              </a:p>
              <a:p>
                <a:pPr lvl="0" indent="-342900" marL="342900">
                  <a:buAutoNum type="arabicPeriod"/>
                </a:pPr>
                <a:r>
                  <a:rPr/>
                  <a:t>Choose </a:t>
                </a:r>
                <a14:m>
                  <m:oMath xmlns:m="http://schemas.openxmlformats.org/officeDocument/2006/math">
                    <m:r>
                      <m:t>λ</m:t>
                    </m:r>
                  </m:oMath>
                </a14:m>
                <a:r>
                  <a:rPr/>
                  <a:t> by CV — </a:t>
                </a:r>
                <a14:m>
                  <m:oMath xmlns:m="http://schemas.openxmlformats.org/officeDocument/2006/math">
                    <m:sSub>
                      <m:e>
                        <m:r>
                          <m:t>λ</m:t>
                        </m:r>
                      </m:e>
                      <m:sub>
                        <m:r>
                          <m:t>1</m:t>
                        </m:r>
                        <m:r>
                          <m:t>s</m:t>
                        </m:r>
                        <m:r>
                          <m:t>e</m:t>
                        </m:r>
                      </m:sub>
                    </m:sSub>
                  </m:oMath>
                </a14:m>
                <a:r>
                  <a:rPr/>
                  <a:t> when the model must be explained</a:t>
                </a:r>
              </a:p>
              <a:p>
                <a:pPr lvl="0" indent="-342900" marL="342900">
                  <a:buAutoNum type="arabicPeriod"/>
                </a:pPr>
                <a:r>
                  <a:rPr/>
                  <a:t>Post-selection inference is a different problem, and it is not solved by ignoring it</a:t>
                </a:r>
              </a:p>
            </p:txBody>
          </p:sp>
        </mc:Choice>
      </mc:AlternateContent>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loses marks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Penalising </a:t>
                </a:r>
                <a:r>
                  <a:rPr b="1"/>
                  <a:t>unstandardised</a:t>
                </a:r>
                <a:r>
                  <a:rPr/>
                  <a:t> predictors — the penalty is then in arbitrary units</a:t>
                </a:r>
              </a:p>
              <a:p>
                <a:pPr lvl="0"/>
                <a:r>
                  <a:rPr/>
                  <a:t>Standardising </a:t>
                </a:r>
                <a:r>
                  <a:rPr b="1"/>
                  <a:t>before</a:t>
                </a:r>
                <a:r>
                  <a:rPr/>
                  <a:t> the CV split, so the folds see test information</a:t>
                </a:r>
              </a:p>
              <a:p>
                <a:pPr lvl="0"/>
                <a:r>
                  <a:rPr/>
                  <a:t>Reporting the lasso’s selected set as “the variables that matter”</a:t>
                </a:r>
              </a:p>
              <a:p>
                <a:pPr lvl="0"/>
                <a:r>
                  <a:rPr/>
                  <a:t>Reporting post-lasso </a:t>
                </a:r>
                <a14:m>
                  <m:oMath xmlns:m="http://schemas.openxmlformats.org/officeDocument/2006/math">
                    <m:r>
                      <m:t>p</m:t>
                    </m:r>
                  </m:oMath>
                </a14:m>
                <a:r>
                  <a:rPr/>
                  <a:t>-values with no caveat</a:t>
                </a:r>
              </a:p>
              <a:p>
                <a:pPr lvl="0"/>
                <a:r>
                  <a:rPr/>
                  <a:t>Choosing </a:t>
                </a:r>
                <a14:m>
                  <m:oMath xmlns:m="http://schemas.openxmlformats.org/officeDocument/2006/math">
                    <m:r>
                      <m:t>λ</m:t>
                    </m:r>
                  </m:oMath>
                </a14:m>
                <a:r>
                  <a:rPr/>
                  <a:t> on the test set, then reporting the test error</a:t>
                </a:r>
              </a:p>
            </p:txBody>
          </p:sp>
        </mc:Choice>
      </mc:AlternateContent>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Now, the practice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Ninety minutes, in your groups. You will fit a full elastic-net path on a wide panel, choose </a:t>
                </a:r>
                <a14:m>
                  <m:oMath xmlns:m="http://schemas.openxmlformats.org/officeDocument/2006/math">
                    <m:d>
                      <m:dPr>
                        <m:begChr m:val="("/>
                        <m:sepChr m:val=""/>
                        <m:endChr m:val=")"/>
                        <m:grow/>
                      </m:dPr>
                      <m:e>
                        <m:r>
                          <m:t>α</m:t>
                        </m:r>
                        <m:r>
                          <m:rPr>
                            <m:sty m:val="p"/>
                          </m:rPr>
                          <m:t>,</m:t>
                        </m:r>
                        <m:r>
                          <m:t>λ</m:t>
                        </m:r>
                      </m:e>
                    </m:d>
                  </m:oMath>
                </a14:m>
                <a:r>
                  <a:rPr/>
                  <a:t> honestly, and report what survives — and what that does and does not license you to claim.</a:t>
                </a:r>
              </a:p>
              <a:p>
                <a:pPr lvl="0" indent="0" marL="0">
                  <a:buNone/>
                </a:pPr>
                <a:r>
                  <a:rPr/>
                  <a:t>Notes: </a:t>
                </a:r>
                <a:r>
                  <a:rPr>
                    <a:hlinkClick r:id="rId2"/>
                    <a:latin typeface="Courier"/>
                  </a:rPr>
                  <a:t>01-lecture/README.md</a:t>
                </a:r>
                <a:r>
                  <a:rPr/>
                  <a:t> · practice brief: </a:t>
                </a:r>
                <a:r>
                  <a:rPr>
                    <a:hlinkClick r:id="rId3"/>
                    <a:latin typeface="Courier"/>
                  </a:rPr>
                  <a:t>02-practice/README.md</a:t>
                </a:r>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Regularisation: Ridge, Lasso, and the Elastic Net</dc:title>
  <dc:creator>Thierry Warin</dc:creator>
  <cp:keywords/>
  <dcterms:created xsi:type="dcterms:W3CDTF">2026-08-23T15:34:58Z</dcterms:created>
  <dcterms:modified xsi:type="dcterms:W3CDTF">2026-08-23T15:34:58Z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21 August 2026</vt:lpwstr>
  </property>
  <property fmtid="{D5CDD505-2E9C-101B-9397-08002B2CF9AE}" pid="8" name="date-format">
    <vt:lpwstr>D MMMM 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e">
    <vt:lpwstr>HEC Montréal</vt:lpwstr>
  </property>
  <property fmtid="{D5CDD505-2E9C-101B-9397-08002B2CF9AE}" pid="14" name="institutes">
    <vt:lpwstr/>
  </property>
  <property fmtid="{D5CDD505-2E9C-101B-9397-08002B2CF9AE}" pid="15" name="jupyter">
    <vt:lpwstr>python3</vt:lpwstr>
  </property>
  <property fmtid="{D5CDD505-2E9C-101B-9397-08002B2CF9AE}" pid="16" name="labels">
    <vt:lpwstr/>
  </property>
  <property fmtid="{D5CDD505-2E9C-101B-9397-08002B2CF9AE}" pid="17" name="subtitle">
    <vt:lpwstr>Session 05 · Lecture, first half</vt:lpwstr>
  </property>
  <property fmtid="{D5CDD505-2E9C-101B-9397-08002B2CF9AE}" pid="18" name="toc-title">
    <vt:lpwstr>Table of contents</vt:lpwstr>
  </property>
</Properties>
</file>