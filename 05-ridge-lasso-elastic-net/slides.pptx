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Regularisation: 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is a deliberately biased estimator the better one?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lasso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elastic net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Choosing the tuning parameters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5.1 Ridge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added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t>I</m:t>
                    </m:r>
                  </m:oMath>
                </a14:m>
                <a:r>
                  <a:rPr/>
                  <a:t> makes the matrix positive definite for </a:t>
                </a:r>
                <a:r>
                  <a:rPr b="1"/>
                  <a:t>any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even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not only a bias–variance device. It is what makes the problem </a:t>
                </a:r>
                <a:r>
                  <a:rPr b="1"/>
                  <a:t>well-posed at all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does, in the SVD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sSub>
                            <m:e>
                              <m:r>
                                <m:t>u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  <m:r>
                        <m:t> </m:t>
                      </m:r>
                      <m:sSubSup>
                        <m:e>
                          <m:r>
                            <m:t>u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Compare OLS — the same sum with </a:t>
                </a:r>
                <a:r>
                  <a:rPr b="1"/>
                  <a:t>every factor equal to 1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Targeted, not blunt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multiplies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principal component of the design by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vary a lot — barely touched</a:t>
                </a:r>
              </a:p>
              <a:p>
                <a:pPr lvl="0"/>
                <a:r>
                  <a:rPr b="1"/>
                  <a:t>Small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are nearly collinear and the OLS coefficient is wildly unstable — shrunk hard</a:t>
                </a:r>
              </a:p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i="1"/>
                  <a:t>targeted</a:t>
                </a:r>
                <a:r>
                  <a:rPr/>
                  <a:t> damping of exactly the directions in which your data carry little information.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decreasing smoothly from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Session 04 quantity, made concrete. There is no “number of parameters” here — there is a dial.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Bias–variance, explicitly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β</m:t>
                                </m:r>
                              </m:e>
                            </m:acc>
                          </m:e>
                          <m:sup>
                            <m:r>
                              <m:rPr>
                                <m:nor/>
                                <m:sty m:val="p"/>
                              </m:rPr>
                              <m:t>ridge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</a:t>
                </a:r>
                <a:r>
                  <a:rPr b="1"/>
                  <a:t>decreasing</a:t>
                </a:r>
                <a:r>
                  <a:rPr/>
                  <a:t> in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while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Bias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</a:t>
                </a:r>
                <a:r>
                  <a:rPr b="1"/>
                  <a:t>increasing</a:t>
                </a:r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There always exists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 sz="2000"/>
                  <a:t> whose MSE is </a:t>
                </a:r>
                <a:r>
                  <a:rPr sz="2000" b="1"/>
                  <a:t>strictly lower than OLS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result that surprised the profession in 1970, and it should still shape how you think about Gauss–Markov. BLUE was never a promise about total error.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5.2 The lasso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closed form.</a:t>
                </a:r>
              </a:p>
              <a:p>
                <a:pPr lvl="0" indent="0" marL="0">
                  <a:buNone/>
                </a:pPr>
                <a:r>
                  <a:rPr/>
                  <a:t>Note the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  <m:r>
                          <m:t>n</m:t>
                        </m:r>
                      </m:den>
                    </m:f>
                  </m:oMath>
                </a14:m>
                <a:r>
                  <a:rPr/>
                  <a:t> scaling — it is what makes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comparable across sample sizes, and it is the convention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use.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corners matter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equivalent constrained form — minimise RSS subject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t</m:t>
                    </m:r>
                  </m:oMath>
                </a14:m>
                <a:r>
                  <a:rPr/>
                  <a:t> — the constraint region is a </a:t>
                </a:r>
                <a:r>
                  <a:rPr b="1"/>
                  <a:t>cross-polytope</a:t>
                </a:r>
                <a:r>
                  <a:rPr/>
                  <a:t> (a diamond in 2-D), which has </a:t>
                </a:r>
                <a:r>
                  <a:rPr b="1"/>
                  <a:t>corners on the axes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elliptical RSS contours expanding outward from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p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p>
                    </m:sSup>
                  </m:oMath>
                </a14:m>
                <a:r>
                  <a:rPr/>
                  <a:t> meet this region, generically, </a:t>
                </a:r>
                <a:r>
                  <a:rPr b="1"/>
                  <a:t>at a corner</a:t>
                </a:r>
                <a:r>
                  <a:rPr/>
                  <a:t> — and a corner is a point where some coordinates are exactly zero.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ball is smooth. It has no corners, so ridge shrinks but never zeroes. Sparsity is a property of the </a:t>
                </a:r>
                <a:r>
                  <a:rPr i="1"/>
                  <a:t>shape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Coordinate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Hold all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j</m:t>
                    </m:r>
                  </m:oMath>
                </a14:m>
                <a:r>
                  <a:rPr/>
                  <a:t>, fixed. With standardised columns (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), the univariate problem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ρ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≠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ρ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with the current residual.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Soft-thresholding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is convex but </a:t>
                </a:r>
                <a:r>
                  <a:rPr b="1"/>
                  <a:t>non-differentiable at 0</a:t>
                </a:r>
                <a:r>
                  <a:rPr/>
                  <a:t>. Using the subgradient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which is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at zero — the solution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λ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rPr>
                          <m:sty m:val="p"/>
                        </m:rPr>
                        <m:t>(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directly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If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 with the residual is smaller in magnitude than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, set the coefficient to </a:t>
                </a:r>
                <a:r>
                  <a:rPr sz="2000" b="1"/>
                  <a:t>exactly zero</a:t>
                </a:r>
                <a:r>
                  <a:rPr sz="2000"/>
                  <a:t>; otherwise </a:t>
                </a:r>
                <a:r>
                  <a:rPr sz="2000" b="1"/>
                  <a:t>shrink it toward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Cycling this update over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converges — and it is why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are fast.</a:t>
                </a:r>
              </a:p>
              <a:p>
                <a:pPr lvl="0" indent="0" marL="0">
                  <a:buNone/>
                </a:pPr>
                <a:r>
                  <a:rPr/>
                  <a:t>Note the second clause. Surviving coefficients are still </a:t>
                </a:r>
                <a:r>
                  <a:rPr b="1"/>
                  <a:t>biased toward zero</a:t>
                </a:r>
                <a:r>
                  <a:rPr/>
                  <a:t>. The lasso selects </a:t>
                </a:r>
                <a:r>
                  <a:rPr i="1"/>
                  <a:t>and</a:t>
                </a:r>
                <a:r>
                  <a:rPr/>
                  <a:t> shrinks, and people routinely forget the second part when reading magnitudes.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you must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, the lasso selects </a:t>
                </a:r>
                <a:r>
                  <a:rPr b="1"/>
                  <a:t>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variables.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Among a group of highly correlated predictors it tends to pick </a:t>
                </a:r>
                <a:r>
                  <a:rPr b="1"/>
                  <a:t>one arbitrarily</a:t>
                </a:r>
                <a:r>
                  <a:rPr/>
                  <a:t> and zero the rest — unstable across samples, and often economically absurd.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Its selected set is consistent only under strong conditions (the </a:t>
                </a:r>
                <a:r>
                  <a:rPr b="1"/>
                  <a:t>irrepresentable condition</a:t>
                </a:r>
                <a:r>
                  <a:rPr/>
                  <a:t>).</a:t>
                </a:r>
              </a:p>
              <a:p>
                <a:pPr lvl="0" indent="0" marL="0">
                  <a:buNone/>
                </a:pPr>
                <a:r>
                  <a:rPr b="1"/>
                  <a:t>Do not present a lasso path as if it identified the true model.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5.3 The elastic net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α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Sup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is the lasso;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is ridge.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grouping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mixed penalty is </a:t>
                </a:r>
                <a:r>
                  <a:rPr b="1"/>
                  <a:t>strictly convex</a:t>
                </a:r>
                <a:r>
                  <a:rPr/>
                  <a:t> whenever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That delivers what Zou and Hastie call the </a:t>
                </a:r>
                <a:r>
                  <a:rPr i="1"/>
                  <a:t>grouping effect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two </a:t>
                </a:r>
                <a:r>
                  <a:rPr b="1"/>
                  <a:t>identical</a:t>
                </a:r>
                <a:r>
                  <a:rPr/>
                  <a:t> predictors, the elastic net assigns them </a:t>
                </a:r>
                <a:r>
                  <a:rPr b="1"/>
                  <a:t>identical</a:t>
                </a:r>
                <a:r>
                  <a:rPr/>
                  <a:t> coefficients — the lasso must choose</a:t>
                </a:r>
              </a:p>
              <a:p>
                <a:pPr lvl="0"/>
                <a:r>
                  <a:rPr/>
                  <a:t>more generally, the difference in coefficients is bounded by a function of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corr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not a technicality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macroeconomic panels — where dozens of series measure nearly the same underlying construct — this is the difference between a model that says</a:t>
            </a:r>
          </a:p>
          <a:p>
            <a:pPr lvl="0" indent="0" marL="1270000">
              <a:buNone/>
            </a:pPr>
            <a:r>
              <a:rPr sz="2000" i="1"/>
              <a:t>“industrial production matters”</a:t>
            </a:r>
          </a:p>
          <a:p>
            <a:pPr lvl="0" indent="0" marL="0">
              <a:buNone/>
            </a:pPr>
            <a:r>
              <a:rPr/>
              <a:t>and one that says</a:t>
            </a:r>
          </a:p>
          <a:p>
            <a:pPr lvl="0" indent="0" marL="1270000">
              <a:buNone/>
            </a:pPr>
            <a:r>
              <a:rPr sz="2000" i="1"/>
              <a:t>“industrial production of durable goods excluding motor vehicles, specifically, and none of its neighbours.”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coordinate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Soft-threshold, then divide. One extra line of arithmetic over the lasso.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5.4 Choosing the tuning parameters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over a </a:t>
                </a:r>
                <a:r>
                  <a:rPr b="1"/>
                  <a:t>decreasing</a:t>
                </a:r>
                <a:r>
                  <a:rPr/>
                  <a:t> grid of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j</m:t>
                              </m:r>
                            </m:lim>
                          </m:limLow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r>
                            <m:t>n</m:t>
                          </m:r>
                          <m:r>
                            <m:t>α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— the smallest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giving the null model — down to </a:t>
                </a:r>
                <a14:m>
                  <m:oMath xmlns:m="http://schemas.openxmlformats.org/officeDocument/2006/math">
                    <m:r>
                      <m:t>ε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max</m:t>
                        </m:r>
                      </m:sub>
                    </m:sSub>
                  </m:oMath>
                </a14:m>
                <a:r>
                  <a:rPr/>
                  <a:t>, using </a:t>
                </a:r>
                <a:r>
                  <a:rPr b="1"/>
                  <a:t>warm starts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Cross-validate </a:t>
                </a:r>
                <a:r>
                  <a:rPr b="1"/>
                  <a:t>jointly</a:t>
                </a:r>
                <a:r>
                  <a:rPr/>
                  <a:t> over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Two conventions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14:m><m:oMath xmlns:m="http://schemas.openxmlformats.org/officeDocument/2006/math"><m:sSub><m:e><m:r><m:t>λ</m:t></m:r></m:e><m:sub><m:r><m:rPr><m:sty m:val="p" /></m:rPr><m:t>min</m:t></m:r></m:sub></m:sSub></m:oMath></a14:m></a:p></a:txBody></a:tc><a:tc><a:txBody><a:bodyPr /><a:lstStyle /><a:p><a:pPr lvl="0" indent="0" marL="0"><a:buNone /></a:pPr><a:r><a:rPr /><a:t>the value minimising CV error</a:t></a:r></a:p></a:txBody></a:tc></a:tr><a:tr h="0"><a:tc><a:txBody><a:bodyPr /><a:lstStyle /><a:p><a:pPr lvl="0" indent="0" marL="0"><a:buNone /></a:pPr><a14:m><m:oMath xmlns:m="http://schemas.openxmlformats.org/officeDocument/2006/math"><m:sSub><m:e><m:r><m:t>λ</m:t></m:r></m:e><m:sub><m:r><m:t>1</m:t></m:r><m:r><m:rPr><m:nor /><m:sty m:val="p" /></m:rPr><m:t>se</m:t></m:r></m:sub></m:sSub></m:oMath></a14:m></a:p></a:txBody></a:tc><a:tc><a:txBody><a:bodyPr /><a:lstStyle /><a:p><a:pPr lvl="0" indent="0" marL="0"><a:buNone /></a:pPr><a:r><a:rPr /><a:t>the </a:t></a:r><a:r><a:rPr b="1" /><a:t>largest</a:t></a:r><a:r><a:rPr /><a:t> </a:t></a:r><a14:m><m:oMath xmlns:m="http://schemas.openxmlformats.org/officeDocument/2006/math"><m:r><m:t>λ</m:t></m:r></m:oMath></a14:m><a:r><a:rPr /><a:t> within one standard error of the minimum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  <a:r>
                  <a:rPr/>
                  <a:t> gives a simpler model whose performance is statistically indistinguishable.</a:t>
                </a:r>
              </a:p>
              <a:p>
                <a:pPr lvl="0" indent="0" marL="0">
                  <a:buNone/>
                </a:pPr>
                <a:r>
                  <a:rPr b="1"/>
                  <a:t>Prefer it when the model must be explained to someone.</a:t>
                </a:r>
                <a:r>
                  <a:rPr/>
                  <a:t> Which, in this course, it must.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Inference warning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Standard errors reported </a:t>
                </a:r>
                <a:r>
                  <a:rPr b="1"/>
                  <a:t>after</a:t>
                </a:r>
                <a:r>
                  <a:rPr/>
                  <a:t> lasso selection are </a:t>
                </a:r>
                <a:r>
                  <a:rPr b="1"/>
                  <a:t>not valid</a:t>
                </a:r>
                <a:r>
                  <a:rPr/>
                  <a:t>, because selection used the same data. Naive post-selection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-values are badly anti-conservative.</a:t>
                </a:r>
              </a:p>
              <a:p>
                <a:pPr lvl="0" indent="0" marL="0">
                  <a:buNone/>
                </a:pPr>
                <a:r>
                  <a:rPr/>
                  <a:t>This is what motivates the debiased methods later in the course.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design matrix on your angle; standardise </a:t>
                </a:r>
                <a:r>
                  <a:rPr b="1"/>
                  <a:t>inside</a:t>
                </a:r>
                <a:r>
                  <a:rPr/>
                  <a:t> the pipeline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ridge, lasso and elastic net under </a:t>
                </a:r>
                <a:r>
                  <a:rPr b="1"/>
                  <a:t>grouped</a:t>
                </a:r>
                <a:r>
                  <a:rPr/>
                  <a:t> CV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chosen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, and compare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min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Bootstrap the selection: how often does each predictor survive?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selection-frequency table</a:t>
                </a:r>
                <a:r>
                  <a:rPr/>
                  <a:t> is the deliverable, not the coefficient table. Anyone can produce the second.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penalty, the CV scheme, the chosen parameters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the selected set, with selection frequencies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coefficients are shrunk, and that no p-value follows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Regularisation: Ridge, Lasso, and the Elastic Net</dc:title>
  <dc:creator>Thierry Warin</dc:creator>
  <cp:keywords/>
  <dcterms:created xsi:type="dcterms:W3CDTF">2026-08-20T17:31:14Z</dcterms:created>
  <dcterms:modified xsi:type="dcterms:W3CDTF">2026-08-20T17:31:14Z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Lecture, first half</vt:lpwstr>
  </property>
  <property fmtid="{D5CDD505-2E9C-101B-9397-08002B2CF9AE}" pid="16" name="toc-title">
    <vt:lpwstr>Table of contents</vt:lpwstr>
  </property>
</Properties>
</file>