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Choosing among many correlated predictors, and admitting how unstable that choice is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OLS breaks when predictors multiply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Ridge: shrinking without choosing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Lasso: choosing, and what it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Elastic net: the correlated case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instability nobody reports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Wang, Zhu &amp; Yu</a:t>
            </a:r>
            <a:r>
              <a:rPr/>
              <a:t>, </a:t>
            </a:r>
            <a:r>
              <a:rPr i="1"/>
              <a:t>Variable Selection in Macroeconomic Forecasting with Many Predictors</a:t>
            </a:r>
            <a:r>
              <a:rPr/>
              <a:t>, </a:t>
            </a:r>
            <a:r>
              <a:rPr b="1"/>
              <a:t>Econometrics and Statistics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DOI: 10.1016/j.ecosta.2023.01.003</a:t>
            </a:r>
          </a:p>
          <a:p>
            <a:pPr lvl="0" indent="0" marL="0">
              <a:buNone/>
            </a:pPr>
            <a:r>
              <a:rPr/>
              <a:t>The finding to hold on to:</a:t>
            </a:r>
          </a:p>
          <a:p>
            <a:pPr lvl="0" indent="0" marL="1270000">
              <a:buNone/>
            </a:pPr>
            <a:r>
              <a:rPr sz="2000"/>
              <a:t>Across their comparisons, </a:t>
            </a:r>
            <a:r>
              <a:rPr sz="2000" b="1"/>
              <a:t>classical forward selection was competitive with far more sophisticated methods.</a:t>
            </a:r>
            <a:r>
              <a:rPr sz="2000"/>
              <a:t> Sophistication is not the point. Knowing what your selection is sensitive to is the point.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Thirty European countries. Eleven years. And </a:t>
            </a:r>
            <a:r>
              <a:rPr b="1"/>
              <a:t>thirty-odd candidate predictors</a:t>
            </a:r>
            <a:r>
              <a:rPr/>
              <a:t> of whether a country’s AI adoption translates into anything measurable.</a:t>
            </a:r>
          </a:p>
          <a:p>
            <a:pPr lvl="0"/>
            <a:r>
              <a:rPr/>
              <a:t>Which predictors matter?</a:t>
            </a:r>
          </a:p>
          <a:p>
            <a:pPr lvl="0"/>
            <a:r>
              <a:rPr/>
              <a:t>How confident are you in that list?</a:t>
            </a:r>
          </a:p>
          <a:p>
            <a:pPr lvl="0"/>
            <a:r>
              <a:rPr/>
              <a:t>Would a slightly different sample give you a different list?</a:t>
            </a:r>
          </a:p>
          <a:p>
            <a:pPr lvl="0" indent="0" marL="0">
              <a:buNone/>
            </a:pPr>
            <a:r>
              <a:rPr/>
              <a:t>That last question is the one this session is really about, and it is the one almost never asked in published work.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OLS breaks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variance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As predictors become numerous or correlated,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approaches singularity, its inverse explodes, and so does the variance.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′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does not exist at all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close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: it exists and is useless</a:t>
                </a:r>
              </a:p>
              <a:p>
                <a:pPr lvl="0"/>
                <a:r>
                  <a:rPr/>
                  <a:t>Correlated columns: individually unidentified, jointly fine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that looks like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get coefficients that are: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, with alternating signs</a:t>
                </a:r>
              </a:p>
              <a:p>
                <a:pPr lvl="0"/>
                <a:r>
                  <a:rPr b="1"/>
                  <a:t>unstable</a:t>
                </a:r>
                <a:r>
                  <a:rPr/>
                  <a:t> — drop three rows and they move substantially</a:t>
                </a:r>
              </a:p>
              <a:p>
                <a:pPr lvl="0"/>
                <a:r>
                  <a:rPr b="1"/>
                  <a:t>individually insignificant</a:t>
                </a:r>
                <a:r>
                  <a:rPr/>
                  <a:t> while the model as a whole fits well</a:t>
                </a:r>
              </a:p>
              <a:p>
                <a:pPr lvl="0" indent="0" marL="0">
                  <a:buNone/>
                </a:pPr>
                <a:r>
                  <a:rPr/>
                  <a:t>That last combination is the classic signature. An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-test that rejects while no single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-test does means your predictors are fighting over the same variance.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bias–variance bargain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OLS is the </a:t>
                </a:r>
                <a:r>
                  <a:rPr b="1"/>
                  <a:t>best linear unbiased</a:t>
                </a:r>
                <a:r>
                  <a:rPr/>
                  <a:t> estimator. Note the middle word.</a:t>
                </a:r>
              </a:p>
              <a:p>
                <a:pPr lvl="0" indent="0" marL="0">
                  <a:buNone/>
                </a:pPr>
                <a:r>
                  <a:rPr/>
                  <a:t>If we accept a little bias, we can buy a lot of variance reduction: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β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β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Bias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Var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 method today deliberately introduces bias. That is not a flaw being tolerated — it is the mechanism.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ridge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has a closed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down the diagonal makes the matrix invertible </a:t>
                </a:r>
                <a:r>
                  <a:rPr b="1"/>
                  <a:t>by construction</a:t>
                </a:r>
                <a:r>
                  <a:rPr/>
                  <a:t>. Ridge works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; OLS does not exist there.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 to correlated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</a:t>
            </a:r>
            <a:r>
              <a:rPr b="1"/>
              <a:t>shares</a:t>
            </a:r>
            <a:r>
              <a:rPr/>
              <a:t> a coefficient among correlated predictors rather than picking one.</a:t>
            </a:r>
          </a:p>
          <a:p>
            <a:pPr lvl="0"/>
            <a:r>
              <a:rPr/>
              <a:t>Two identical columns → each gets half the coefficient</a:t>
            </a:r>
          </a:p>
          <a:p>
            <a:pPr lvl="0"/>
            <a:r>
              <a:rPr/>
              <a:t>Nothing is ever set exactly to zero</a:t>
            </a:r>
          </a:p>
          <a:p>
            <a:pPr lvl="0"/>
            <a:r>
              <a:rPr/>
              <a:t>Every predictor stays in the model</a:t>
            </a:r>
          </a:p>
          <a:p>
            <a:pPr lvl="0" indent="0" marL="0">
              <a:buNone/>
            </a:pPr>
            <a:r>
              <a:rPr/>
              <a:t>This is the right behaviour when you believe many small effects exist, and the wrong behaviour when you want a short list.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shrinks unevenly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basis of the singular vectors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ridge multiplies each direction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singular value.</a:t>
                </a:r>
              </a:p>
              <a:p>
                <a:pPr lvl="0"/>
                <a:r>
                  <a:rPr/>
                  <a:t>Large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high-variance directions — barely shrink</a:t>
                </a:r>
              </a:p>
              <a:p>
                <a:pPr lvl="0"/>
                <a:r>
                  <a:rPr/>
                  <a:t>Small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the poorly determined directions — shrink hard</a:t>
                </a:r>
              </a:p>
              <a:p>
                <a:pPr lvl="0" indent="0" marL="0">
                  <a:buNone/>
                </a:pPr>
                <a:r>
                  <a:rPr/>
                  <a:t>Ridge shrinks </a:t>
                </a:r>
                <a:r>
                  <a:rPr i="1"/>
                  <a:t>exactly where the data are least informative</a:t>
                </a:r>
                <a:r>
                  <a:rPr/>
                  <a:t>. That is why it works, and it is the same decomposition you will meet again in Session 08.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is not optional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penalty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treats every coefficient identically.</a:t>
                </a:r>
              </a:p>
              <a:p>
                <a:pPr lvl="0" indent="0" marL="0">
                  <a:buNone/>
                </a:pPr>
                <a:r>
                  <a:rPr/>
                  <a:t>A predictor measured in euros and one measured in shares get the same penalty for wildly different economic magnitudes.</a:t>
                </a:r>
              </a:p>
              <a:p>
                <a:pPr lvl="0" indent="0" marL="0">
                  <a:buNone/>
                </a:pPr>
                <a:r>
                  <a:rPr b="1"/>
                  <a:t>Always standardise before penalising</a:t>
                </a:r>
                <a:r>
                  <a:rPr/>
                  <a:t> — and do it </a:t>
                </a:r>
                <a:r>
                  <a:rPr i="1"/>
                  <a:t>inside</a:t>
                </a:r>
                <a:r>
                  <a:rPr/>
                  <a:t> the cross-validation pipeline, or you have leaked the test fold’s mean and variance into training. Session 04’s rule applies with full force here.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Lasso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lasso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One character changed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became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and the behaviour changes completely.</a:t>
                </a:r>
              </a:p>
              <a:p>
                <a:pPr lvl="0" indent="0" marL="0">
                  <a:buNone/>
                </a:pPr>
                <a:r>
                  <a:rPr/>
                  <a:t>There is </a:t>
                </a:r>
                <a:r>
                  <a:rPr b="1"/>
                  <a:t>no closed form</a:t>
                </a:r>
                <a:r>
                  <a:rPr/>
                  <a:t>. Coefficients are found by coordinate descent, and some arrive at exactly zero.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sets things to zero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Picture the constraint region: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sphere</a:t>
                </a:r>
                <a:r>
                  <a:rPr/>
                  <a:t> — smooth, no corners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diamond</a:t>
                </a:r>
                <a:r>
                  <a:rPr/>
                  <a:t> — corners on the axes</a:t>
                </a:r>
              </a:p>
              <a:p>
                <a:pPr lvl="0" indent="0" marL="0">
                  <a:buNone/>
                </a:pPr>
                <a:r>
                  <a:rPr/>
                  <a:t>The solution is where the residual contours first touch the region. A diamond is most likely to be touched </a:t>
                </a:r>
                <a:r>
                  <a:rPr b="1"/>
                  <a:t>at a corner</a:t>
                </a:r>
                <a:r>
                  <a:rPr/>
                  <a:t>, and a corner is a point where some coefficients are exactly zero.</a:t>
                </a:r>
              </a:p>
              <a:p>
                <a:pPr lvl="0" indent="0" marL="0">
                  <a:buNone/>
                </a:pPr>
                <a:r>
                  <a:rPr/>
                  <a:t>Sparsity is a geometric accident of the shape of the constraint, not a statistical principle.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 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orthonormal predictors the lasso has a clean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sign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p>
                          </m:sSubSup>
                        </m:e>
                      </m:d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/>
                                </m:dPr>
                                <m:e>
                                  <m:sSubSup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β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j</m:t>
                                      </m:r>
                                    </m:sub>
                                    <m:sup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m:t>OLS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λ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Below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set to </a:t>
                </a:r>
                <a:r>
                  <a:rPr b="1"/>
                  <a:t>exactly zero</a:t>
                </a:r>
              </a:p>
              <a:p>
                <a:pPr lvl="0"/>
                <a:r>
                  <a:rPr/>
                  <a:t>Above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shrunk </a:t>
                </a:r>
                <a:r>
                  <a:rPr b="1"/>
                  <a:t>toward</a:t>
                </a:r>
                <a:r>
                  <a:rPr/>
                  <a:t>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Note the second line. Surviving coefficients are still biased toward zero. The lasso is a selector </a:t>
                </a:r>
                <a:r>
                  <a:rPr i="1"/>
                  <a:t>and</a:t>
                </a:r>
                <a:r>
                  <a:rPr/>
                  <a:t> a shrinker, and people routinely forget the second part when interpreting magnitudes.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lasso does badly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Correlated groups.</a:t>
                </a:r>
                <a:r>
                  <a:rPr/>
                  <a:t> Among ten correlated predictors it picks roughly one, near-arbitrarily, and zeroes the rest.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 b="1"/>
                  <a:t>.</a:t>
                </a:r>
                <a:r>
                  <a:rPr/>
                  <a:t> It selects 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predictors, whatever the truth.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Inference.</a:t>
                </a:r>
                <a:r>
                  <a:rPr/>
                  <a:t> Standard errors after selection are not valid — the data chose the model, and the usual formulas do not know that.</a:t>
                </a:r>
              </a:p>
              <a:p>
                <a:pPr lvl="0" indent="0" marL="0">
                  <a:buNone/>
                </a:pPr>
                <a:r>
                  <a:rPr/>
                  <a:t>“The lasso selected these six variables, and here are their p-values” is not a sentence you may write. Session 10 is where valid post-selection inference appears.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Elastic net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 at once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→ lasso</a:t>
                </a:r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→ ridge</a:t>
                </a:r>
              </a:p>
              <a:p>
                <a:pPr lvl="0"/>
                <a:r>
                  <a:rPr/>
                  <a:t>in between → both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part restores the </a:t>
                </a:r>
                <a:r>
                  <a:rPr b="1"/>
                  <a:t>grouping effect</a:t>
                </a:r>
                <a:r>
                  <a:rPr/>
                  <a:t>: correlated predictors are selected or dropped </a:t>
                </a:r>
                <a:r>
                  <a:rPr i="1"/>
                  <a:t>together</a:t>
                </a:r>
                <a:r>
                  <a:rPr/>
                  <a:t> rather than arbitrarily one-of-ten.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parameters to choose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are now cross-validating over a </a:t>
                </a:r>
                <a:r>
                  <a:rPr b="1"/>
                  <a:t>grid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together.</a:t>
                </a:r>
              </a:p>
              <a:p>
                <a:pPr lvl="0"/>
                <a:r>
                  <a:rPr/>
                  <a:t>Do it in one pipeline, one CV scheme</a:t>
                </a:r>
              </a:p>
              <a:p>
                <a:pPr lvl="0"/>
                <a:r>
                  <a:rPr/>
                  <a:t>Report the chosen pair, not just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/>
                <a:r>
                  <a:rPr/>
                  <a:t>Expect a flat region rather than a sharp optimum</a:t>
                </a:r>
              </a:p>
              <a:p>
                <a:pPr lvl="0" indent="0" marL="0">
                  <a:buNone/>
                </a:pPr>
                <a:r>
                  <a:rPr/>
                  <a:t>A flat CV surface is information: it means the data do not strongly prefer one degree of sparsity. Say 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(c.shape)        </a:t>
            </a:r>
            <a:r>
              <a:rPr i="1">
                <a:solidFill>
                  <a:srgbClr val="60A0B0"/>
                </a:solidFill>
                <a:latin typeface="Courier"/>
              </a:rPr>
              <a:t># (330, 33) — 30 countries x 11 years, 2014-2024</a:t>
            </a:r>
          </a:p>
          <a:p>
            <a:pPr lvl="0"/>
            <a:r>
              <a:rPr>
                <a:latin typeface="Courier"/>
              </a:rPr>
              <a:t>ai_use_any</a:t>
            </a:r>
            <a:r>
              <a:rPr/>
              <a:t>, </a:t>
            </a:r>
            <a:r>
              <a:rPr>
                <a:latin typeface="Courier"/>
              </a:rPr>
              <a:t>ai_use_ml</a:t>
            </a:r>
            <a:r>
              <a:rPr/>
              <a:t>, </a:t>
            </a:r>
            <a:r>
              <a:rPr>
                <a:latin typeface="Courier"/>
              </a:rPr>
              <a:t>cloud_use</a:t>
            </a:r>
            <a:r>
              <a:rPr/>
              <a:t>, </a:t>
            </a:r>
            <a:r>
              <a:rPr>
                <a:latin typeface="Courier"/>
              </a:rPr>
              <a:t>ict_specialists</a:t>
            </a:r>
            <a:r>
              <a:rPr/>
              <a:t>, </a:t>
            </a:r>
            <a:r>
              <a:rPr>
                <a:latin typeface="Courier"/>
              </a:rPr>
              <a:t>digital_intensity</a:t>
            </a:r>
          </a:p>
          <a:p>
            <a:pPr lvl="0"/>
            <a:r>
              <a:rPr>
                <a:latin typeface="Courier"/>
              </a:rPr>
              <a:t>barrier_cost</a:t>
            </a:r>
            <a:r>
              <a:rPr/>
              <a:t>, </a:t>
            </a:r>
            <a:r>
              <a:rPr>
                <a:latin typeface="Courier"/>
              </a:rPr>
              <a:t>barrier_skills</a:t>
            </a:r>
            <a:r>
              <a:rPr/>
              <a:t>, </a:t>
            </a:r>
            <a:r>
              <a:rPr>
                <a:latin typeface="Courier"/>
              </a:rPr>
              <a:t>barrier_data</a:t>
            </a:r>
            <a:r>
              <a:rPr/>
              <a:t>, </a:t>
            </a:r>
            <a:r>
              <a:rPr>
                <a:latin typeface="Courier"/>
              </a:rPr>
              <a:t>barrier_legal</a:t>
            </a:r>
          </a:p>
          <a:p>
            <a:pPr lvl="0"/>
            <a:r>
              <a:rPr>
                <a:latin typeface="Courier"/>
              </a:rPr>
              <a:t>rd_pct_gdp</a:t>
            </a:r>
            <a:r>
              <a:rPr/>
              <a:t>, </a:t>
            </a:r>
            <a:r>
              <a:rPr>
                <a:latin typeface="Courier"/>
              </a:rPr>
              <a:t>has_ai_strategy</a:t>
            </a:r>
          </a:p>
          <a:p>
            <a:pPr lvl="0"/>
            <a:r>
              <a:rPr b="1">
                <a:latin typeface="Courier"/>
              </a:rPr>
              <a:t>aux_00</a:t>
            </a:r>
            <a:r>
              <a:rPr b="1"/>
              <a:t> … </a:t>
            </a:r>
            <a:r>
              <a:rPr b="1">
                <a:latin typeface="Courier"/>
              </a:rPr>
              <a:t>aux_14</a:t>
            </a:r>
            <a:r>
              <a:rPr/>
              <a:t> — fifteen further candidate predictors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stated plainly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ai_use_any</a:t>
            </a:r>
            <a:r>
              <a:rPr b="1"/>
              <a:t> does not exist before 2021.</a:t>
            </a:r>
            <a:r>
              <a:rPr/>
              <a:t> Not “is missing” — </a:t>
            </a:r>
            <a:r>
              <a:rPr i="1"/>
              <a:t>does not exist</a:t>
            </a:r>
            <a:r>
              <a:rPr/>
              <a:t>. The survey module did not run.</a:t>
            </a:r>
          </a:p>
          <a:p>
            <a:pPr lvl="0" indent="0">
              <a:buNone/>
            </a:pPr>
            <a:r>
              <a:rPr>
                <a:latin typeface="Courier"/>
              </a:rPr>
              <a:t>c.groupby(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).ai_use_any.</a:t>
            </a:r>
            <a:r>
              <a:rPr>
                <a:solidFill>
                  <a:srgbClr val="008000"/>
                </a:solidFill>
                <a:latin typeface="Courier"/>
              </a:rPr>
              <a:t>apply</a:t>
            </a:r>
            <a:r>
              <a:rPr>
                <a:latin typeface="Courier"/>
              </a:rPr>
              <a:t>(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s: s.notna().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2014-2020: 0    2021: 28    2022: 28    2023: 27    2024: 29</a:t>
            </a:r>
          </a:p>
          <a:p>
            <a:pPr lvl="0" indent="0" marL="0">
              <a:buNone/>
            </a:pPr>
            <a:r>
              <a:rPr/>
              <a:t>Seven years of your panel have no outcome. A method that silently drops them has quietly changed your research question from 2014–2024 to 2021–2024.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are </a:t>
            </a:r>
            <a:r>
              <a:rPr b="1"/>
              <a:t>correlated with each other and with the real predictors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the situation the whole session is about:</a:t>
            </a:r>
          </a:p>
          <a:p>
            <a:pPr lvl="0"/>
            <a:r>
              <a:rPr/>
              <a:t>The lasso will pick a handful</a:t>
            </a:r>
          </a:p>
          <a:p>
            <a:pPr lvl="0"/>
            <a:r>
              <a:rPr/>
              <a:t>A slightly different sample will make it pick a </a:t>
            </a:r>
            <a:r>
              <a:rPr i="1"/>
              <a:t>different</a:t>
            </a:r>
            <a:r>
              <a:rPr/>
              <a:t> handful</a:t>
            </a:r>
          </a:p>
          <a:p>
            <a:pPr lvl="0"/>
            <a:r>
              <a:rPr/>
              <a:t>Both lists will look convincing in a table</a:t>
            </a:r>
          </a:p>
          <a:p>
            <a:pPr lvl="0" indent="0" marL="0">
              <a:buNone/>
            </a:pPr>
            <a:r>
              <a:rPr/>
              <a:t>Nobody publishes the second list. You are going to compute it.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design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latin typeface="Courier"/>
              </a:rPr>
              <a:t>drop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drop).fillna(d.median(numeric_only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y.shape)     </a:t>
            </a:r>
            <a:r>
              <a:rPr i="1">
                <a:solidFill>
                  <a:srgbClr val="60A0B0"/>
                </a:solidFill>
                <a:latin typeface="Courier"/>
              </a:rPr>
              <a:t># about 112 rows, 27 predictors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</a:t>
            </a:r>
            <a:r>
              <a:rPr/>
              <a:t> is now roughly </a:t>
            </a:r>
            <a:r>
              <a:rPr b="1"/>
              <a:t>112</a:t>
            </a:r>
            <a:r>
              <a:rPr/>
              <a:t> with </a:t>
            </a:r>
            <a:r>
              <a:rPr b="1"/>
              <a:t>27</a:t>
            </a:r>
            <a:r>
              <a:rPr/>
              <a:t> predictors. That ratio is the whole problem — and it was 330 rows before the outcome’s availability was checked.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and lasso, cross-validated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RidgeCV,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g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ridge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RidgeCV(alphas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)))</a:t>
            </a:r>
            <a:br/>
            <a:r>
              <a:rPr>
                <a:latin typeface="Courier"/>
              </a:rPr>
              <a:t>lasso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</a:t>
            </a:r>
            <a:br/>
            <a:r>
              <a:rPr>
                <a:latin typeface="Courier"/>
              </a:rPr>
              <a:t>                     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(cv.split(X,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ridge.fit(X, y)</a:t>
            </a:r>
            <a:br/>
            <a:r>
              <a:rPr>
                <a:latin typeface="Courier"/>
              </a:rPr>
              <a:t>lasso.fit(X, y)</a:t>
            </a:r>
          </a:p>
          <a:p>
            <a:pPr lvl="0" indent="0" marL="0">
              <a:buNone/>
            </a:pPr>
            <a:r>
              <a:rPr/>
              <a:t>Grouped by country, because two years of the same country are not independent. Session 04’s argument has not gone away.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survived?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pd.Series(lasso[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</a:t>
            </a:r>
            <a:br/>
            <a:r>
              <a:rPr>
                <a:latin typeface="Courier"/>
              </a:rPr>
              <a:t>kept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coef[coef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].sort_values(key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abs</a:t>
            </a:r>
            <a:r>
              <a:rPr>
                <a:latin typeface="Courier"/>
              </a:rPr>
              <a:t>, 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of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(coef)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predictors kept"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(kept.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whether any </a:t>
            </a:r>
            <a:r>
              <a:rPr>
                <a:latin typeface="Courier"/>
              </a:rPr>
              <a:t>aux_*</a:t>
            </a:r>
            <a:r>
              <a:rPr/>
              <a:t> columns are in that list. They are noise-adjacent by construction — if they beat a real predictor, that tells you something about how much evidence 112 rows contains.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Elastic net over a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ElasticNetCV</a:t>
            </a:r>
            <a:br/>
            <a:br/>
            <a:r>
              <a:rPr>
                <a:latin typeface="Courier"/>
              </a:rPr>
              <a:t>en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ElasticNetCV(l1_ratio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A070"/>
                </a:solidFill>
                <a:latin typeface="Courier"/>
              </a:rPr>
              <a:t>0.1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en.fit(X, y)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"chosen l1_ratio:"</a:t>
            </a:r>
            <a:r>
              <a:rPr>
                <a:latin typeface="Courier"/>
              </a:rPr>
              <a:t>, 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].l1_ratio_, </a:t>
            </a:r>
            <a:r>
              <a:rPr>
                <a:solidFill>
                  <a:srgbClr val="4070A0"/>
                </a:solidFill>
                <a:latin typeface="Courier"/>
              </a:rPr>
              <a:t>"| alpha:"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].alpha_,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Report both chosen values. A chosen </a:t>
            </a:r>
            <a:r>
              <a:rPr>
                <a:latin typeface="Courier"/>
              </a:rPr>
              <a:t>l1_ratio</a:t>
            </a:r>
            <a:r>
              <a:rPr/>
              <a:t> near 1 says the data wanted sparsity; near 0 says they wanted sharing.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part nobody reports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Selection stability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Resample the data. Refit. Record which predictors survive. Repeat.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collections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Counter</a:t>
            </a:r>
            <a:br/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counts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Counter()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(B):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m.fit(X.iloc[idx], y.iloc[idx])</a:t>
            </a:r>
            <a:br/>
            <a:r>
              <a:rPr>
                <a:latin typeface="Courier"/>
              </a:rPr>
              <a:t>    counts.update(X.columns[m[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freq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pd.Series(counts).reindex(X.columns).fillna(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B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(freq.sort_values(ascending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selection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&gt; 0.90</a:t>
            </a:r>
            <a:r>
              <a:rPr/>
              <a:t> — robust. Reportable as “selected”.</a:t>
            </a:r>
          </a:p>
          <a:p>
            <a:pPr lvl="0"/>
            <a:r>
              <a:rPr b="1"/>
              <a:t>0.40–0.90</a:t>
            </a:r>
            <a:r>
              <a:rPr/>
              <a:t> — genuinely uncertain. Say so.</a:t>
            </a:r>
          </a:p>
          <a:p>
            <a:pPr lvl="0"/>
            <a:r>
              <a:rPr b="1"/>
              <a:t>&lt; 0.40</a:t>
            </a:r>
            <a:r>
              <a:rPr/>
              <a:t> — appeared in your one fit by luck.</a:t>
            </a:r>
          </a:p>
          <a:p>
            <a:pPr lvl="0" indent="0" marL="0">
              <a:buNone/>
            </a:pPr>
            <a:r>
              <a:rPr/>
              <a:t>If your headline predictor is selected in 55% of bootstrap replicates, then a different sample would have given you a different paper. That belongs in your results, not in a footnote.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CV scheme</a:t>
                </a:r>
                <a:r>
                  <a:rPr/>
                  <a:t> and why it is grouped</a:t>
                </a:r>
              </a:p>
              <a:p>
                <a:pPr lvl="0"/>
                <a:r>
                  <a:rPr/>
                  <a:t>The chosen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if elastic net</a:t>
                </a:r>
              </a:p>
              <a:p>
                <a:pPr lvl="0"/>
                <a:r>
                  <a:rPr/>
                  <a:t>The selected set, </a:t>
                </a:r>
                <a:r>
                  <a:rPr b="1"/>
                  <a:t>with selection frequencies</a:t>
                </a:r>
              </a:p>
              <a:p>
                <a:pPr lvl="0"/>
                <a:r>
                  <a:rPr/>
                  <a:t>That coefficients are shrunk, so magnitudes are biased toward zero</a:t>
                </a:r>
              </a:p>
              <a:p>
                <a:pPr lvl="0"/>
                <a:r>
                  <a:rPr/>
                  <a:t>That the outcome does not exist before 2021, and what that did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 p-values on lasso-selected coefficients. The data chose the model; the standard formulas assume you did.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penalty tracks units, not importance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Scaling outside the CV 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Leakage; CV error too low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 on this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Optimistic, for Session 04’s reason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one selected 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that it was near-arbitrary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p-values after selection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Invalid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the pre-2021 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Silently changes the question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Rebuild the design matrix and </a:t>
            </a:r>
            <a:r>
              <a:rPr b="1"/>
              <a:t>confirm the 2021 cliff yourself</a:t>
            </a:r>
          </a:p>
          <a:p>
            <a:pPr lvl="0" indent="-342900" marL="342900">
              <a:buAutoNum type="arabicPeriod"/>
            </a:pPr>
            <a:r>
              <a:rPr/>
              <a:t>Fit ridge, lasso and elastic net under grouped CV</a:t>
            </a:r>
          </a:p>
          <a:p>
            <a:pPr lvl="0" indent="-342900" marL="342900">
              <a:buAutoNum type="arabicPeriod"/>
            </a:pPr>
            <a:r>
              <a:rPr/>
              <a:t>Run the bootstrap and produce the selection-frequency table</a:t>
            </a:r>
          </a:p>
          <a:p>
            <a:pPr lvl="0" indent="-342900" marL="342900">
              <a:buAutoNum type="arabicPeriod"/>
            </a:pPr>
            <a:r>
              <a:rPr/>
              <a:t>Compare against Wang, Zhu &amp; Yu: does forward selection do as well here?</a:t>
            </a:r>
          </a:p>
          <a:p>
            <a:pPr lvl="0" indent="-342900" marL="342900">
              <a:buAutoNum type="arabicPeriod"/>
            </a:pPr>
            <a:r>
              <a:rPr/>
              <a:t>Three sentences on what your selected set does and does not license</a:t>
            </a:r>
          </a:p>
          <a:p>
            <a:pPr lvl="0" indent="0" marL="0">
              <a:buNone/>
            </a:pPr>
            <a:r>
              <a:rPr/>
              <a:t>The deliverable is the </a:t>
            </a:r>
            <a:r>
              <a:rPr b="1"/>
              <a:t>frequency table</a:t>
            </a:r>
            <a:r>
              <a:rPr/>
              <a:t>, not the coefficient table. Anyone can produce the second one.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Ridge, Lasso, and the Elastic Net</dc:title>
  <dc:creator>Thierry Warin</dc:creator>
  <cp:keywords/>
  <dcterms:created xsi:type="dcterms:W3CDTF">2026-08-20T15:28:38Z</dcterms:created>
  <dcterms:modified xsi:type="dcterms:W3CDTF">2026-08-20T15:28:38Z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Choosing among many correlated predictors, and admitting how unstable that choice is</vt:lpwstr>
  </property>
  <property fmtid="{D5CDD505-2E9C-101B-9397-08002B2CF9AE}" pid="16" name="toc-title">
    <vt:lpwstr>Table of contents</vt:lpwstr>
  </property>
</Properties>
</file>