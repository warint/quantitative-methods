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18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00"/>
            </a:lvl2pPr>
            <a:lvl3pPr marL="685800" indent="0">
              <a:buNone/>
              <a:defRPr sz="1100"/>
            </a:lvl3pPr>
            <a:lvl4pPr marL="1028700" indent="0">
              <a:buNone/>
              <a:defRPr sz="950"/>
            </a:lvl4pPr>
            <a:lvl5pPr marL="1371600" indent="0">
              <a:buNone/>
              <a:defRPr sz="950"/>
            </a:lvl5pPr>
            <a:lvl6pPr marL="1714500" indent="0">
              <a:buNone/>
              <a:defRPr sz="950"/>
            </a:lvl6pPr>
            <a:lvl7pPr marL="2057400" indent="0">
              <a:buNone/>
              <a:defRPr sz="950"/>
            </a:lvl7pPr>
            <a:lvl8pPr marL="2400300" indent="0">
              <a:buNone/>
              <a:defRPr sz="950"/>
            </a:lvl8pPr>
            <a:lvl9pPr marL="2743200" indent="0">
              <a:buNone/>
              <a:defRPr sz="9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uthor Footer"/>
          <p:cNvSpPr txBox="1"/>
          <p:nvPr/>
        </p:nvSpPr>
        <p:spPr>
          <a:xfrm>
            <a:off x="457200" y="4735000"/>
            <a:ext cx="50000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l"/>
            <a:r>
              <a:rPr dirty="0" lang="en-US" sz="900">
                <a:solidFill>
                  <a:srgbClr val="6E7275"/>
                </a:solidFill>
                <a:latin typeface="+mn-lt"/>
              </a:rPr>
              <a:t>Thierry Warin, PhD</a:t>
            </a:r>
          </a:p>
        </p:txBody>
      </p:sp>
      <p:sp>
        <p:nvSpPr>
          <p:cNvPr id="8" name="Slide Number Footer"/>
          <p:cNvSpPr txBox="1"/>
          <p:nvPr/>
        </p:nvSpPr>
        <p:spPr>
          <a:xfrm>
            <a:off x="7200000" y="4735000"/>
            <a:ext cx="14868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r"/>
            <a:fld id="{9B1A2C3D-4E5F-6A7B-8C9D-0E1F2A3B4C5D}" type="slidenum">
              <a:rPr dirty="0" lang="en-US" sz="900">
                <a:solidFill>
                  <a:srgbClr val="6E7275"/>
                </a:solidFill>
                <a:latin typeface="+mn-lt"/>
              </a:rPr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3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1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9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9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01-lecture/README.md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02-lab/README.md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Bias–Variance, Overfitting, Cross-Validation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04 · Lecture, first half</a:t>
            </a:r>
            <a:br/>
            <a:br/>
            <a:r>
              <a:rPr/>
              <a:t>Thierry Warin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 August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Your model fits the past perfectly. Why is that bad news?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slides follow the notes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decomposition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In-sample error is optimistic — by how much?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Cross-validation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Three ways to get cross-validation wrong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numbering and notation as </a:t>
            </a:r>
            <a:r>
              <a:rPr>
                <a:hlinkClick r:id="rId2"/>
                <a:latin typeface="Courier"/>
              </a:rPr>
              <a:t>01-lecture/README.md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This is the hinge of the course. After today, in-sample fit stops being evidence.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4.1 The decomposition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Expected squared error at a test point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Fix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; let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f</m:t>
                        </m:r>
                      </m:e>
                    </m:acc>
                  </m:oMath>
                </a14:m>
                <a:r>
                  <a:rPr/>
                  <a:t> be estimated on a random training sample. Averaging over training samples and over the new noise draw: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  <m:scr m:val="double-struck"/>
                        </m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y</m:t>
                                      </m:r>
                                    </m:e>
                                    <m:sub>
                                      <m:r>
                                        <m:t>0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</m:accPr>
                                    <m:e>
                                      <m:r>
                                        <m:t>f</m:t>
                                      </m:r>
                                    </m:e>
                                  </m:acc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sSub>
                                        <m:e>
                                          <m: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limLow>
                        <m:e>
                          <m:limLow>
                            <m:e>
                              <m:r>
                                <m:rPr>
                                  <m:sty m:val="p"/>
                                </m:rPr>
                                <m:t>Var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acc>
                                    <m:accPr>
                                      <m:chr m:val="̂"/>
                                    </m:accPr>
                                    <m:e>
                                      <m:r>
                                        <m:t>f</m:t>
                                      </m:r>
                                    </m:e>
                                  </m:acc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sSub>
                                        <m:e>
                                          <m: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m:t>variance</m:t>
                          </m:r>
                        </m:lim>
                      </m:limLow>
                      <m:r>
                        <m:rPr>
                          <m:sty m:val="p"/>
                        </m:rPr>
                        <m:t>+</m:t>
                      </m:r>
                      <m:limLow>
                        <m:e>
                          <m:limLow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rPr>
                                  <m:sty m:val="p"/>
                                  <m:scr m:val="double-struck"/>
                                </m:rPr>
                                <m:t>E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/>
                                </m:dPr>
                                <m:e>
                                  <m:acc>
                                    <m:accPr>
                                      <m:chr m:val="̂"/>
                                    </m:accPr>
                                    <m:e>
                                      <m:r>
                                        <m:t>f</m:t>
                                      </m:r>
                                    </m:e>
                                  </m:acc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sSub>
                                        <m:e>
                                          <m: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sSup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bias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lim>
                      </m:limLow>
                      <m:r>
                        <m:rPr>
                          <m:sty m:val="p"/>
                        </m:rPr>
                        <m:t>+</m:t>
                      </m:r>
                      <m:limLow>
                        <m:e>
                          <m:limLow>
                            <m:e>
                              <m:sSup>
                                <m:e>
                                  <m:r>
                                    <m:t>σ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m:t>irreducible</m:t>
                          </m:r>
                        </m:lim>
                      </m:limLow>
                    </m:oMath>
                  </m:oMathPara>
                </a14:m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derivation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Write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f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0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and add and subtract </a:t>
                </a:r>
                <a14:m>
                  <m:oMath xmlns:m="http://schemas.openxmlformats.org/officeDocument/2006/math">
                    <m:r>
                      <m:rPr>
                        <m:sty m:val="p"/>
                        <m:scr m:val="double-struck"/>
                      </m:rPr>
                      <m:t>E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</m:dPr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f</m:t>
                            </m:r>
                          </m:e>
                        </m:acc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sSub>
                              <m:e>
                                <m:r>
                                  <m:t>x</m:t>
                                </m:r>
                              </m:e>
                              <m:sub>
                                <m: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/>
                  <a:t> inside the square.</a:t>
                </a:r>
              </a:p>
              <a:p>
                <a:pPr lvl="0" indent="0" marL="0">
                  <a:buNone/>
                </a:pPr>
                <a:r>
                  <a:rPr/>
                  <a:t>Three cross terms vanish:</a:t>
                </a:r>
              </a:p>
              <a:p>
                <a:pPr lvl="0"/>
                <a:r>
                  <a:rPr/>
                  <a:t>one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  <m:scr m:val="double-struck"/>
                      </m:rPr>
                      <m:t>E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</m:dPr>
                      <m:e>
                        <m:sSub>
                          <m:e>
                            <m:r>
                              <m:t>ε</m:t>
                            </m:r>
                          </m:e>
                          <m:sub>
                            <m:r>
                              <m:t>0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is independent of the training sample</a:t>
                </a:r>
              </a:p>
              <a:p>
                <a:pPr lvl="0"/>
                <a:r>
                  <a:rPr/>
                  <a:t>two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  <m:scr m:val="double-struck"/>
                      </m:rPr>
                      <m:t>E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</m:dPr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f</m:t>
                            </m:r>
                          </m:e>
                        </m:acc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sSub>
                              <m:e>
                                <m:r>
                                  <m:t>x</m:t>
                                </m:r>
                              </m:e>
                              <m:sub>
                                <m: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m:t>−</m:t>
                        </m:r>
                        <m:r>
                          <m:rPr>
                            <m:sty m:val="p"/>
                            <m:scr m:val="double-struck"/>
                          </m:rPr>
                          <m:t>E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</m:dPr>
                          <m:e>
                            <m:acc>
                              <m:accPr>
                                <m:chr m:val="̂"/>
                              </m:accPr>
                              <m:e>
                                <m:r>
                                  <m:t>f</m:t>
                                </m:r>
                              </m:e>
                            </m:acc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◼</m:t>
                    </m:r>
                  </m:oMath>
                </a14:m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economics of this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Bias</a:t>
            </a:r>
            <a:r>
              <a:rPr/>
              <a:t> is what you get for imposing structure you believe in.</a:t>
            </a:r>
          </a:p>
          <a:p>
            <a:pPr lvl="0"/>
            <a:r>
              <a:rPr b="1"/>
              <a:t>Variance</a:t>
            </a:r>
            <a:r>
              <a:rPr/>
              <a:t> is what you pay for letting the data speak.</a:t>
            </a:r>
          </a:p>
          <a:p>
            <a:pPr lvl="0" indent="0" marL="0">
              <a:buNone/>
            </a:pPr>
            <a:r>
              <a:rPr/>
              <a:t>Flexibility trades one for the other, and there is generally an </a:t>
            </a:r>
            <a:r>
              <a:rPr b="1"/>
              <a:t>interior optimum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The rest of the course is a catalogue of ways to sit at that optimum deliberately rather than by accident.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4.2 Optimism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optimistic is training error?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err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n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i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y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acc>
                                  <m:accPr>
                                    <m:chr m:val="̂"/>
                                  </m:accPr>
                                  <m:e>
                                    <m:r>
                                      <m:t>f</m:t>
                                    </m:r>
                                  </m:e>
                                </m:acc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sSub>
                                      <m:e>
                                        <m: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/>
                  <a:t> be training error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Err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in</m:t>
                        </m:r>
                      </m:sub>
                    </m:sSub>
                  </m:oMath>
                </a14:m>
                <a:r>
                  <a:rPr/>
                  <a:t> the error on new outcomes at the </a:t>
                </a:r>
                <a:r>
                  <a:rPr i="1"/>
                  <a:t>same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. Then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  <m:scr m:val="double-struck"/>
                        </m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p"/>
                                </m:rPr>
                                <m:t>Err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in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−</m:t>
                      </m:r>
                      <m:r>
                        <m:rPr>
                          <m:sty m:val="p"/>
                          <m:scr m:val="double-struck"/>
                        </m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m:t>err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2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m:t>Cov</m:t>
                          </m:r>
                        </m:e>
                      </m:nary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y</m:t>
                                  </m:r>
                                </m:e>
                              </m:acc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that quantity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optimism</a:t>
                </a:r>
                <a:r>
                  <a:rPr/>
                  <a:t> is exactly twice the average covariance between a fitted value and its own outcome — </a:t>
                </a:r>
                <a:r>
                  <a:rPr i="1"/>
                  <a:t>the degree to which the model chases its own training labels.</a:t>
                </a:r>
              </a:p>
              <a:p>
                <a:pPr lvl="0" indent="0" marL="0">
                  <a:buNone/>
                </a:pPr>
                <a:r>
                  <a:rPr/>
                  <a:t>For a linear fit with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 parameters that covariance sum equals </a:t>
                </a:r>
                <a14:m>
                  <m:oMath xmlns:m="http://schemas.openxmlformats.org/officeDocument/2006/math">
                    <m:r>
                      <m:t>p</m:t>
                    </m:r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, giving optimism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2</m:t>
                          </m:r>
                          <m:r>
                            <m:t>p</m:t>
                          </m:r>
                          <m:sSup>
                            <m:e>
                              <m:r>
                                <m:t>σ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t>n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motivates the classical criteria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err</m:t>
                      </m:r>
                      <m:r>
                        <m:rPr>
                          <m:sty m:val="p"/>
                        </m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t>2</m:t>
                          </m:r>
                          <m:r>
                            <m:t>p</m:t>
                          </m:r>
                          <m:sSup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σ</m:t>
                                  </m:r>
                                </m:e>
                              </m:acc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t>n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A</m:t>
                      </m:r>
                      <m:r>
                        <m:rPr>
                          <m:sty m:val="p"/>
                        </m:rPr>
                        <m:t>I</m:t>
                      </m:r>
                      <m:r>
                        <m:rPr>
                          <m:sty m:val="p"/>
                        </m:rPr>
                        <m:t>C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t>2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m:t>log</m:t>
                      </m:r>
                      <m:r>
                        <m:rPr>
                          <m:sty m:val="p"/>
                          <m:scr m:val="script"/>
                        </m:rPr>
                        <m:t>L</m:t>
                      </m:r>
                      <m:r>
                        <m:rPr>
                          <m:sty m:val="p"/>
                        </m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t>2</m:t>
                          </m:r>
                          <m:r>
                            <m:t>p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rPr>
                          <m:sty m:val="p"/>
                        </m:rPr>
                        <m:t>B</m:t>
                      </m:r>
                      <m:r>
                        <m:rPr>
                          <m:sty m:val="p"/>
                        </m:rPr>
                        <m:t>I</m:t>
                      </m:r>
                      <m:r>
                        <m:rPr>
                          <m:sty m:val="p"/>
                        </m:rPr>
                        <m:t>C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2</m:t>
                      </m:r>
                      <m:r>
                        <m:rPr>
                          <m:sty m:val="p"/>
                        </m:rPr>
                        <m:t>log</m:t>
                      </m:r>
                      <m:r>
                        <m:rPr>
                          <m:sty m:val="p"/>
                          <m:scr m:val="script"/>
                        </m:rPr>
                        <m:t>L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log</m:t>
                      </m:r>
                      <m:r>
                        <m:t>n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BIC penalises more heavily once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&gt;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≈</m:t>
                    </m:r>
                    <m:r>
                      <m:t>7.4</m:t>
                    </m:r>
                  </m:oMath>
                </a14:m>
                <a:r>
                  <a:rPr/>
                  <a:t>. It is </a:t>
                </a:r>
                <a:r>
                  <a:rPr b="1"/>
                  <a:t>consistent for model selection</a:t>
                </a:r>
                <a:r>
                  <a:rPr/>
                  <a:t>; AIC is </a:t>
                </a:r>
                <a:r>
                  <a:rPr b="1"/>
                  <a:t>efficient for prediction</a:t>
                </a:r>
                <a:r>
                  <a:rPr/>
                  <a:t>. They answer different questions.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Effective degrees of freedom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d</m:t>
                      </m:r>
                      <m:r>
                        <m:rPr>
                          <m:sty m:val="p"/>
                        </m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f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sSup>
                            <m:e>
                              <m:r>
                                <m:t>σ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i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m:t>Cov</m:t>
                          </m:r>
                        </m:e>
                      </m:nary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y</m:t>
                                  </m:r>
                                </m:e>
                              </m:acc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generalises “number of parameters” to methods where counting parameters makes no sense — which we need from Session 05 onward, where a penalty makes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 meaningless.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4.3 Cross-validation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estimator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Partition into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 folds; for each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, fit on the complement and predict the held-out fold: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p"/>
                            </m:rPr>
                            <m:t>C</m:t>
                          </m:r>
                          <m:r>
                            <m:rPr>
                              <m:sty m:val="p"/>
                            </m:rPr>
                            <m:t>V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K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∈</m:t>
                              </m:r>
                              <m:sSub>
                                <m:e>
                                  <m:r>
                                    <m:rPr>
                                      <m:sty m:val="p"/>
                                      <m:scr m:val="script"/>
                                    </m:rPr>
                                    <m:t>F</m:t>
                                  </m:r>
                                </m:e>
                                <m:sub>
                                  <m:r>
                                    <m:t>k</m:t>
                                  </m:r>
                                </m:sub>
                              </m:sSub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t>L</m:t>
                              </m:r>
                            </m:e>
                          </m:nary>
                        </m:e>
                      </m:nary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sSup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f</m:t>
                                  </m:r>
                                </m:e>
                              </m:acc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k</m:t>
                              </m:r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K</m:t>
                    </m:r>
                    <m:r>
                      <m:rPr>
                        <m:sty m:val="p"/>
                      </m:rPr>
                      <m:t>=</m:t>
                    </m:r>
                    <m:r>
                      <m:t>n</m:t>
                    </m:r>
                  </m:oMath>
                </a14:m>
                <a:r>
                  <a:rPr/>
                  <a:t> — leave-one-out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Nearly </a:t>
                </a:r>
                <a:r>
                  <a:rPr b="1"/>
                  <a:t>unbiased</a:t>
                </a:r>
                <a:r>
                  <a:rPr/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Err</m:t>
                    </m:r>
                  </m:oMath>
                </a14:m>
              </a:p>
              <a:p>
                <a:pPr lvl="0"/>
                <a:r>
                  <a:rPr b="1"/>
                  <a:t>High variance</a:t>
                </a:r>
                <a:r>
                  <a:rPr/>
                  <a:t> — the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training sets are almost identical, so the errors are highly correlated</a:t>
                </a:r>
              </a:p>
              <a:p>
                <a:pPr lvl="0"/>
                <a:r>
                  <a:rPr/>
                  <a:t>Usually expensive</a:t>
                </a:r>
              </a:p>
              <a:p>
                <a:pPr lvl="0" indent="0" marL="0">
                  <a:buNone/>
                </a:pPr>
                <a:r>
                  <a:rPr/>
                  <a:t>For linear smoothers it is free once you have the hat matrix: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p"/>
                            </m:rPr>
                            <m:t>C</m:t>
                          </m:r>
                          <m:r>
                            <m:rPr>
                              <m:sty m:val="p"/>
                            </m:rPr>
                            <m:t>V</m:t>
                          </m:r>
                        </m:e>
                        <m:sub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n</m:t>
                              </m:r>
                            </m:e>
                          </m:d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i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f>
                                    <m:fPr>
                                      <m:type m:val="bar"/>
                                    </m:fPr>
                                    <m:num>
                                      <m:sSub>
                                        <m:e>
                                          <m: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sSub>
                                        <m:e>
                                          <m:acc>
                                            <m:accPr>
                                              <m:chr m:val="̂"/>
                                            </m:accPr>
                                            <m:e>
                                              <m:r>
                                                <m:t>y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m:t>i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sSub>
                                        <m:e>
                                          <m: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m:t>i</m:t>
                                          </m:r>
                                          <m:r>
                                            <m:t>i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i</m:t>
                        </m:r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is the leverage from Session 02. The pieces accumulate.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K</m:t>
                    </m:r>
                    <m:r>
                      <m:rPr>
                        <m:sty m:val="p"/>
                      </m:rPr>
                      <m:t>=</m:t>
                    </m:r>
                    <m:r>
                      <m:t>5</m:t>
                    </m:r>
                  </m:oMath>
                </a14:m>
                <a:r>
                  <a:rPr/>
                  <a:t> or </a:t>
                </a:r>
                <a14:m>
                  <m:oMath xmlns:m="http://schemas.openxmlformats.org/officeDocument/2006/math">
                    <m:r>
                      <m:t>10</m:t>
                    </m:r>
                  </m:oMath>
                </a14:m>
              </a:p>
            </p:txBody>
          </p:sp>
        </mc:Choice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standard compromise:</a:t>
            </a:r>
          </a:p>
          <a:p>
            <a:pPr lvl="0"/>
            <a:r>
              <a:rPr/>
              <a:t>some </a:t>
            </a:r>
            <a:r>
              <a:rPr b="1"/>
              <a:t>upward bias</a:t>
            </a:r>
            <a:r>
              <a:rPr/>
              <a:t> — each model trains on less data</a:t>
            </a:r>
          </a:p>
          <a:p>
            <a:pPr lvl="0"/>
            <a:r>
              <a:rPr/>
              <a:t>much </a:t>
            </a:r>
            <a:r>
              <a:rPr b="1"/>
              <a:t>lower variance</a:t>
            </a:r>
          </a:p>
          <a:p>
            <a:pPr lvl="0" indent="0" marL="0">
              <a:buNone/>
            </a:pPr>
            <a:r>
              <a:rPr/>
              <a:t>With 30 countries, </a:t>
            </a:r>
            <a:r>
              <a:rPr>
                <a:latin typeface="Courier"/>
              </a:rPr>
              <a:t>GroupKFold(5)</a:t>
            </a:r>
            <a:r>
              <a:rPr/>
              <a:t> leaves six countries out per fold. Fewer folds leaves too little to train on; more makes each estimate noisy.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4.4 Three ways to get it wrong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Leakage through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Any step using the outcome or the </a:t>
            </a:r>
            <a:r>
              <a:rPr b="1"/>
              <a:t>full</a:t>
            </a:r>
            <a:r>
              <a:rPr/>
              <a:t> feature distribution — standardisation, imputation, feature selection, target encoding — must be fitted </a:t>
            </a:r>
            <a:r>
              <a:rPr b="1"/>
              <a:t>inside</a:t>
            </a:r>
            <a:r>
              <a:rPr/>
              <a:t> each training fold.</a:t>
            </a:r>
          </a:p>
          <a:p>
            <a:pPr lvl="0" indent="0" marL="0">
              <a:buNone/>
            </a:pPr>
            <a:r>
              <a:rPr/>
              <a:t>Use a </a:t>
            </a:r>
            <a:r>
              <a:rPr>
                <a:latin typeface="Courier"/>
              </a:rPr>
              <a:t>Pipeline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The single most common serious error in applied machine learning papers. It always flatters you.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Leakage through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Choosing a model by CV and then reporting </a:t>
            </a:r>
            <a:r>
              <a:rPr b="1"/>
              <a:t>that same CV error</a:t>
            </a:r>
            <a:r>
              <a:rPr/>
              <a:t> as its performance is optimistic.</a:t>
            </a:r>
          </a:p>
          <a:p>
            <a:pPr lvl="0" indent="0" marL="0">
              <a:buNone/>
            </a:pPr>
            <a:r>
              <a:rPr/>
              <a:t>You need a </a:t>
            </a:r>
            <a:r>
              <a:rPr b="1"/>
              <a:t>nested</a:t>
            </a:r>
            <a:r>
              <a:rPr/>
              <a:t> design:</a:t>
            </a:r>
          </a:p>
          <a:p>
            <a:pPr lvl="0"/>
            <a:r>
              <a:rPr/>
              <a:t>an </a:t>
            </a:r>
            <a:r>
              <a:rPr b="1"/>
              <a:t>outer</a:t>
            </a:r>
            <a:r>
              <a:rPr/>
              <a:t> loop for evaluation</a:t>
            </a:r>
          </a:p>
          <a:p>
            <a:pPr lvl="0"/>
            <a:r>
              <a:rPr/>
              <a:t>an </a:t>
            </a:r>
            <a:r>
              <a:rPr b="1"/>
              <a:t>inner</a:t>
            </a:r>
            <a:r>
              <a:rPr/>
              <a:t> loop for tuning</a:t>
            </a:r>
          </a:p>
          <a:p>
            <a:pPr lvl="0" indent="0" marL="0">
              <a:buNone/>
            </a:pPr>
            <a:r>
              <a:rPr/>
              <a:t>Reporting the best inner-loop score is the same error as reporting training error, one level up.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3. Ignoring dependence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Random folds assume exchangeability. Economic data rarely are.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Time series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rolling-origin / expanding-window. Never train on the future.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Panel or clustered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GroupKFold</a:t>
                      </a:r>
                      <a:r>
                        <a:rPr/>
                        <a:t> — all observations of a unit stay together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Spatial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blocked CV — neighbours are correlated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that costs on this panel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Predicting </a:t>
            </a:r>
            <a:r>
              <a:rPr>
                <a:latin typeface="Courier"/>
              </a:rPr>
              <a:t>gdp_pc_eur</a:t>
            </a:r>
            <a:r>
              <a:rPr/>
              <a:t> from the other levels, 30 countries × 15 years: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RMSE (EUR)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 K-fold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~3,200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GroupKFold by country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~4,900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Grouped error is about </a:t>
            </a:r>
            <a:r>
              <a:rPr b="1"/>
              <a:t>1.5× larger</a:t>
            </a:r>
            <a:r>
              <a:rPr/>
              <a:t>. Publish the 3,200 and you have overstated the model by half without doing anything a referee would call wrong.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lab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Reproduce the three CV schemes on your project and tabulate the errors</a:t>
            </a:r>
          </a:p>
          <a:p>
            <a:pPr lvl="0" indent="-342900" marL="342900">
              <a:buAutoNum type="arabicPeriod"/>
            </a:pPr>
            <a:r>
              <a:rPr/>
              <a:t>Explain, in writing, why they differ </a:t>
            </a:r>
            <a:r>
              <a:rPr b="1"/>
              <a:t>in that direction</a:t>
            </a:r>
          </a:p>
          <a:p>
            <a:pPr lvl="0" indent="-342900" marL="342900">
              <a:buAutoNum type="arabicPeriod"/>
            </a:pPr>
            <a:r>
              <a:rPr/>
              <a:t>Draw the flexibility curve and mark where variance takes over</a:t>
            </a:r>
          </a:p>
          <a:p>
            <a:pPr lvl="0" indent="-342900" marL="342900">
              <a:buAutoNum type="arabicPeriod"/>
            </a:pPr>
            <a:r>
              <a:rPr/>
              <a:t>Build one deliberately leaking pipeline, then fix it, and report both numbers</a:t>
            </a:r>
          </a:p>
          <a:p>
            <a:pPr lvl="0" indent="0" marL="0">
              <a:buNone/>
            </a:pPr>
            <a:r>
              <a:rPr/>
              <a:t>The gap between random and grouped CV </a:t>
            </a:r>
            <a:r>
              <a:rPr b="1"/>
              <a:t>is</a:t>
            </a:r>
            <a:r>
              <a:rPr/>
              <a:t> your leakage diagnostic. Report it.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two-minute report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One slide. Three sentences.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What I did</a:t>
                </a:r>
                <a:r>
                  <a:rPr/>
                  <a:t> — the split, and the sentence it licenses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The number</a:t>
                </a:r>
                <a:r>
                  <a:rPr/>
                  <a:t> — error in the units of the outcome, not </a:t>
                </a:r>
                <a14:m>
                  <m:oMath xmlns:m="http://schemas.openxmlformats.org/officeDocument/2006/math">
                    <m:sSup>
                      <m:e>
                        <m:r>
                          <m:t>R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 b="1"/>
                  <a:t>The catch</a:t>
                </a:r>
                <a:r>
                  <a:rPr/>
                  <a:t> — what the split still cannot tell you</a:t>
                </a:r>
              </a:p>
              <a:p>
                <a:pPr lvl="0" indent="0" marL="0">
                  <a:buNone/>
                </a:pPr>
                <a:r>
                  <a:rPr/>
                  <a:t>Full brief: </a:t>
                </a:r>
                <a:r>
                  <a:rPr>
                    <a:hlinkClick r:id="rId2"/>
                    <a:latin typeface="Courier"/>
                  </a:rPr>
                  <a:t>02-lab/README.md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Bias–Variance, Overfitting, Cross-Validation</dc:title>
  <dc:creator>Thierry Warin</dc:creator>
  <cp:keywords/>
  <dcterms:created xsi:type="dcterms:W3CDTF">2026-08-20T19:40:09Z</dcterms:created>
  <dcterms:modified xsi:type="dcterms:W3CDTF">2026-08-20T19:40:09Z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20 August 2026</vt:lpwstr>
  </property>
  <property fmtid="{D5CDD505-2E9C-101B-9397-08002B2CF9AE}" pid="8" name="date-format">
    <vt:lpwstr>D MMMM YYYY</vt:lpwstr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institute">
    <vt:lpwstr>HEC Montréal</vt:lpwstr>
  </property>
  <property fmtid="{D5CDD505-2E9C-101B-9397-08002B2CF9AE}" pid="13" name="institutes">
    <vt:lpwstr/>
  </property>
  <property fmtid="{D5CDD505-2E9C-101B-9397-08002B2CF9AE}" pid="14" name="labels">
    <vt:lpwstr/>
  </property>
  <property fmtid="{D5CDD505-2E9C-101B-9397-08002B2CF9AE}" pid="15" name="subtitle">
    <vt:lpwstr>Session 04 · Lecture, first half</vt:lpwstr>
  </property>
  <property fmtid="{D5CDD505-2E9C-101B-9397-08002B2CF9AE}" pid="16" name="toc-title">
    <vt:lpwstr>Table of contents</vt:lpwstr>
  </property>
</Properties>
</file>