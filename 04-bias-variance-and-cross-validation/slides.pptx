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Bias, Variance, and Honest 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Why random K-fold is the wrong answer for a panel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questions hiding inside “how good is it?”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bias–variance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random K-fold breaks on a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splits, measured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Leakage, and where it hides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Mullainathan &amp; Spiess</a:t>
                </a:r>
                <a:r>
                  <a:rPr/>
                  <a:t>, </a:t>
                </a:r>
                <a:r>
                  <a:rPr i="1"/>
                  <a:t>Machine Learning: An Applied Econometric Approach</a:t>
                </a:r>
                <a:r>
                  <a:rPr/>
                  <a:t>, </a:t>
                </a:r>
                <a:r>
                  <a:rPr b="1"/>
                  <a:t>JEP</a:t>
                </a:r>
                <a:r>
                  <a:rPr/>
                  <a:t> 2017.</a:t>
                </a:r>
              </a:p>
              <a:p>
                <a:pPr lvl="0" indent="0" marL="0">
                  <a:buNone/>
                </a:pPr>
                <a:r>
                  <a:rPr/>
                  <a:t>DOI: 10.1257/jep.31.2.87</a:t>
                </a:r>
              </a:p>
              <a:p>
                <a:pPr lvl="0" indent="0" marL="0">
                  <a:buNone/>
                </a:pPr>
                <a:r>
                  <a:rPr/>
                  <a:t>Their framing, which organises the whole course:</a:t>
                </a:r>
              </a:p>
              <a:p>
                <a:pPr lvl="0" indent="0" marL="1270000">
                  <a:buNone/>
                </a:pPr>
                <a:r>
                  <a:rPr sz="2000"/>
                  <a:t>Machine learning solves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 sz="2000"/>
                  <a:t> problems. Economics mostly asks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 sz="2000"/>
                  <a:t> questions. Confusing the two is where the trouble starts.</a:t>
                </a:r>
              </a:p>
              <a:p>
                <a:pPr lvl="0" indent="0" marL="0">
                  <a:buNone/>
                </a:pPr>
                <a:r>
                  <a:rPr/>
                  <a:t>Today is entirely a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session. Session 10 is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one, and it needs completely different machinery.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good is your model, really?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fit a model of European productivity growth. It explains 78% of the variance.</a:t>
            </a:r>
          </a:p>
          <a:p>
            <a:pPr lvl="0" indent="0" marL="0">
              <a:buNone/>
            </a:pPr>
            <a:r>
              <a:rPr/>
              <a:t>Three different questions hide inside “how good is it?”:</a:t>
            </a:r>
          </a:p>
          <a:p>
            <a:pPr lvl="0"/>
            <a:r>
              <a:rPr/>
              <a:t>How well does it fit </a:t>
            </a:r>
            <a:r>
              <a:rPr b="1"/>
              <a:t>the data you used</a:t>
            </a:r>
            <a:r>
              <a:rPr/>
              <a:t>? (Almost meaningless.)</a:t>
            </a:r>
          </a:p>
          <a:p>
            <a:pPr lvl="0"/>
            <a:r>
              <a:rPr/>
              <a:t>How well would it do on </a:t>
            </a:r>
            <a:r>
              <a:rPr b="1"/>
              <a:t>a new country</a:t>
            </a:r>
            <a:r>
              <a:rPr/>
              <a:t>?</a:t>
            </a:r>
          </a:p>
          <a:p>
            <a:pPr lvl="0"/>
            <a:r>
              <a:rPr/>
              <a:t>How well would it do </a:t>
            </a:r>
            <a:r>
              <a:rPr b="1"/>
              <a:t>next year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Those last two are different questions, and they need </a:t>
            </a:r>
            <a:r>
              <a:rPr b="1"/>
              <a:t>different splits</a:t>
            </a:r>
            <a:r>
              <a:rPr/>
              <a:t>. Get the split wrong and every number that follows is optimistic.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squared loss, at a point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rigid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sensitive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/>
                <a:r>
                  <a:rPr b="1"/>
                  <a:t>Bias</a:t>
                </a:r>
                <a:r>
                  <a:rPr/>
                  <a:t> falls as the model gets more flexible</a:t>
                </a:r>
              </a:p>
              <a:p>
                <a:pPr lvl="0"/>
                <a:r>
                  <a:rPr b="1"/>
                  <a:t>Variance</a:t>
                </a:r>
                <a:r>
                  <a:rPr/>
                  <a:t> rises as the model gets more flexible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does not move. It is what the predictors do not observe.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random K-fold breaks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core.parquet</a:t>
            </a:r>
            <a:r>
              <a:rPr/>
              <a:t> is 30 countries observed over 15 years.</a:t>
            </a:r>
          </a:p>
          <a:p>
            <a:pPr lvl="0" indent="0" marL="0">
              <a:buNone/>
            </a:pPr>
            <a:r>
              <a:rPr/>
              <a:t>Random K-fold puts </a:t>
            </a:r>
            <a:r>
              <a:rPr b="1"/>
              <a:t>Germany 2019 in training and Germany 2020 in test</a:t>
            </a:r>
            <a:r>
              <a:rPr/>
              <a:t>.</a:t>
            </a:r>
          </a:p>
          <a:p>
            <a:pPr lvl="0"/>
            <a:r>
              <a:rPr/>
              <a:t>Countries are highly persistent — productivity this year nearly determines next year</a:t>
            </a:r>
          </a:p>
          <a:p>
            <a:pPr lvl="0"/>
            <a:r>
              <a:rPr/>
              <a:t>The model can effectively memorise the country, then “predict” it</a:t>
            </a:r>
          </a:p>
          <a:p>
            <a:pPr lvl="0"/>
            <a:r>
              <a:rPr/>
              <a:t>Your validation error measures </a:t>
            </a:r>
            <a:r>
              <a:rPr b="1"/>
              <a:t>interpolation within a country</a:t>
            </a:r>
            <a:r>
              <a:rPr/>
              <a:t>, not forecasting</a:t>
            </a:r>
          </a:p>
          <a:p>
            <a:pPr lvl="0" indent="0" marL="0">
              <a:buNone/>
            </a:pPr>
            <a:r>
              <a:rPr/>
              <a:t>This is not a subtle statistical nicety. On this panel it is the difference between a model that looks excellent and one that is useful.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splits, three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“New row from the same countries and years”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Almost never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</a:t>
                      </a:r>
                      <a:r>
                        <a:rPr b="1">
                          <a:latin typeface="Courier"/>
                        </a:rPr>
                        <a:t>geo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 country I have never seen”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across countries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TimeSeriesSplit</a:t>
                      </a:r>
                      <a:r>
                        <a:rPr/>
                        <a:t> by </a:t>
                      </a:r>
                      <a:r>
                        <a:rPr>
                          <a:latin typeface="Courier"/>
                        </a:rPr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“Next year”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— Session 11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the sentence you intend to write in your conclusion. Then say which you used.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cols).copy()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(d.shape, d.geo.nunique(), d.time.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(), d.time.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30 countries, 2010-2024</a:t>
            </a:r>
          </a:p>
          <a:p>
            <a:pPr lvl="0" indent="0" marL="0">
              <a:buNone/>
            </a:pPr>
            <a:r>
              <a:rPr/>
              <a:t>We predict </a:t>
            </a:r>
            <a:r>
              <a:rPr b="1">
                <a:latin typeface="Courier"/>
              </a:rPr>
              <a:t>gdp_pc_eur</a:t>
            </a:r>
            <a:r>
              <a:rPr b="1"/>
              <a:t> from the other levels</a:t>
            </a:r>
            <a:r>
              <a:rPr/>
              <a:t>. Levels are highly persistent within a country, which is exactly the setting where the choice of split bites.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 the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(cross_val_score, KFold,</a:t>
            </a:r>
            <a:br/>
            <a:r>
              <a:rPr>
                <a:latin typeface="Courier"/>
              </a:rPr>
              <a:t>                                     GroupKFold, TimeSeriesSplit)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d[[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rand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group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d_s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time_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X.loc[d_s.index], y.loc[d_s.index],</a:t>
            </a:r>
            <a:br/>
            <a:r>
              <a:rPr>
                <a:latin typeface="Courier"/>
              </a:rPr>
              <a:t>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TimeSeriesSplit(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n,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"random"</a:t>
            </a:r>
            <a:r>
              <a:rPr>
                <a:latin typeface="Courier"/>
              </a:rPr>
              <a:t>, rand), (</a:t>
            </a:r>
            <a:r>
              <a:rPr>
                <a:solidFill>
                  <a:srgbClr val="4070A0"/>
                </a:solidFill>
                <a:latin typeface="Courier"/>
              </a:rPr>
              <a:t>"by country"</a:t>
            </a:r>
            <a:r>
              <a:rPr>
                <a:latin typeface="Courier"/>
              </a:rPr>
              <a:t>, group), (</a:t>
            </a:r>
            <a:r>
              <a:rPr>
                <a:solidFill>
                  <a:srgbClr val="4070A0"/>
                </a:solidFill>
                <a:latin typeface="Courier"/>
              </a:rPr>
              <a:t>"by time"</a:t>
            </a:r>
            <a:r>
              <a:rPr>
                <a:latin typeface="Courier"/>
              </a:rPr>
              <a:t>, time_)]: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</a:t>
            </a:r>
            <a:r>
              <a:rPr>
                <a:solidFill>
                  <a:srgbClr val="4070A0"/>
                </a:solidFill>
                <a:latin typeface="Courier"/>
              </a:rPr>
              <a:t>:12s}</a:t>
            </a:r>
            <a:r>
              <a:rPr>
                <a:solidFill>
                  <a:srgbClr val="BB6688"/>
                </a:solidFill>
                <a:latin typeface="Courier"/>
              </a:rPr>
              <a:t>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should see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Roughly: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TimeSeriesSplit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~2,800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 than random. Same data, same model, same day — and the honest number is half again the flattering one.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ratio is a </a:t>
            </a:r>
            <a:r>
              <a:rPr b="1"/>
              <a:t>direct measure of how much the model leans on country identity</a:t>
            </a:r>
            <a:r>
              <a:rPr/>
              <a:t> rather than on the economics.</a:t>
            </a:r>
          </a:p>
          <a:p>
            <a:pPr lvl="0" indent="0" marL="0">
              <a:buNone/>
            </a:pPr>
            <a:r>
              <a:rPr/>
              <a:t>Random K-fold let it see Germany 2019 while predicting Germany 2020. It learned “this is Germany”, which is useless for a country it has never seen.</a:t>
            </a:r>
          </a:p>
          <a:p>
            <a:pPr lvl="0" indent="0" marL="0">
              <a:buNone/>
            </a:pPr>
            <a:r>
              <a:rPr/>
              <a:t>Publish the 3,200 and you have overstated your model’s usefulness by half, without doing anything a referee would call wrong.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here — but it trains on early years and tests on later ones with a growing window, so it is answering a third question again. Low is not the same as right.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Flexibility, drawn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sklearn.tree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DecisionTreeRegressor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depth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DecisionTreeRegressor(max_depth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depth,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cross_val_score(t,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t.fit(X, y)</a:t>
            </a:r>
            <a:br/>
            <a:r>
              <a:rPr>
                <a:latin typeface="Courier"/>
              </a:rPr>
              <a:t>    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t.predict(X))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>
                <a:latin typeface="Courier"/>
              </a:rPr>
              <a:t>    rows.append((depth, train, cv))</a:t>
            </a:r>
          </a:p>
          <a:p>
            <a:pPr lvl="0" indent="0" marL="0">
              <a:buNone/>
            </a:pPr>
            <a:r>
              <a:rPr/>
              <a:t>Plot both curves against depth.</a:t>
            </a:r>
          </a:p>
          <a:p>
            <a:pPr lvl="0" indent="0" marL="0">
              <a:buNone/>
            </a:pPr>
            <a:r>
              <a:rPr/>
              <a:t>Training error falls monotonically. Validation error falls, then turns. The turn is the bias–variance tradeoff, and it is the only one of the two curves that tells you anything.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Leakage, the practical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preprocessing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Any step that </a:t>
            </a:r>
            <a:r>
              <a:rPr b="1"/>
              <a:t>learns from the data</a:t>
            </a:r>
            <a:r>
              <a:rPr/>
              <a:t> — scaling, imputation, feature selection, target encoding — must live inside the pipeline. This is the single most common error in applied machine learning, and it always flatters you.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Which split</a:t>
                </a:r>
                <a:r>
                  <a:rPr/>
                  <a:t> you used, and the sentence it licenses</a:t>
                </a:r>
              </a:p>
              <a:p>
                <a:pPr lvl="0"/>
                <a:r>
                  <a:rPr/>
                  <a:t>Validation error in the </a:t>
                </a:r>
                <a:r>
                  <a:rPr b="1"/>
                  <a:t>units of the outcome</a:t>
                </a:r>
                <a:r>
                  <a:rPr/>
                  <a:t>, not just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The gap between training and validation error</a:t>
                </a:r>
              </a:p>
              <a:p>
                <a:pPr lvl="0"/>
                <a:r>
                  <a:rPr/>
                  <a:t>The gap between random and grouped CV — your leakage diagnostic</a:t>
                </a:r>
              </a:p>
              <a:p>
                <a:pPr lvl="0" indent="0" marL="0">
                  <a:buNone/>
                </a:pPr>
                <a:r>
                  <a:rPr/>
                  <a:t>Never report a number computed on data the model was fit on. If you tuned on it, it is training data, whatever you called the variable.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usual choice, and a reasonable one</a:t>
                </a:r>
              </a:p>
              <a:p>
                <a:pPr lvl="0"/>
                <a:r>
                  <a:rPr b="1"/>
                  <a:t>Small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— more bias (each model sees less data), less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(leave-one-out)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With 30 countries, </a:t>
                </a:r>
                <a:r>
                  <a:rPr>
                    <a:latin typeface="Courier"/>
                  </a:rPr>
                  <a:t>GroupKFold(5)</a:t>
                </a:r>
                <a:r>
                  <a:rPr/>
                  <a:t> leaves 6 countries out per fold. Fewer folds would leave too few countries to train on; more would make each estimate noisy.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CV, when you tune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use CV to </a:t>
            </a:r>
            <a:r>
              <a:rPr b="1"/>
              <a:t>choose</a:t>
            </a:r>
            <a:r>
              <a:rPr/>
              <a:t> a hyperparameter, that CV error is no longer an honest estimate of performance — you selected on it.</a:t>
            </a:r>
          </a:p>
          <a:p>
            <a:pPr lvl="0"/>
            <a:r>
              <a:rPr b="1"/>
              <a:t>Inner</a:t>
            </a:r>
            <a:r>
              <a:rPr/>
              <a:t> loop chooses the hyperparameter</a:t>
            </a:r>
          </a:p>
          <a:p>
            <a:pPr lvl="0"/>
            <a:r>
              <a:rPr b="1"/>
              <a:t>Outer</a:t>
            </a:r>
            <a:r>
              <a:rPr/>
              <a:t> loop estimates performance</a:t>
            </a:r>
          </a:p>
          <a:p>
            <a:pPr lvl="0" indent="0" marL="0">
              <a:buNone/>
            </a:pPr>
            <a:r>
              <a:rPr/>
              <a:t>Reporting the best inner-loop score as your result is the same error as reporting training error, one level up. It is extremely common.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one-standard-error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models within one standard error of the best CV score, take the </a:t>
            </a:r>
            <a:r>
              <a:rPr b="1"/>
              <a:t>simplest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CV curve is estimated with noise. The apparent minimum is partly luck, and the simpler model at the same score will usually generalise better.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only</a:t></a:r></a:p></a:txBody></a:tc><a:tc><a:txBody><a:bodyPr /><a:lstStyle /><a:p><a:pPr lvl="0" indent="0" marL="0"><a:buNone /></a:pPr><a:r><a:rPr /><a:t>No sense of magnitude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this direction</a:t>
            </a:r>
          </a:p>
          <a:p>
            <a:pPr lvl="0" indent="-342900" marL="342900">
              <a:buAutoNum type="arabicPeriod"/>
            </a:pPr>
            <a:r>
              <a:rPr/>
              <a:t>Draw the depth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Three sentences, naming your split and what it entitles you to claim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Bias, Variance, and Honest Validation</dc:title>
  <dc:creator>Thierry Warin</dc:creator>
  <cp:keywords/>
  <dcterms:created xsi:type="dcterms:W3CDTF">2026-08-18T20:37:07Z</dcterms:created>
  <dcterms:modified xsi:type="dcterms:W3CDTF">2026-08-18T20:37:07Z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Why random K-fold is the wrong answer for a panel</vt:lpwstr>
  </property>
  <property fmtid="{D5CDD505-2E9C-101B-9397-08002B2CF9AE}" pid="16" name="toc-title">
    <vt:lpwstr>Table of contents</vt:lpwstr>
  </property>
</Properties>
</file>