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Bias, Variance, and Honest Validation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04 · Why random K-fold is the wrong answer for a panel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19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90 minutes ahead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0–10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Three questions hiding inside “how good is it?”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10–30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bias–variance decomposition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30–50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Why random K-fold breaks on a panel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50–70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Three splits, measured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70–85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Leakage, and where it hides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85–90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Handoff to the lab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class you read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Mullainathan &amp; Spiess</a:t>
                </a:r>
                <a:r>
                  <a:rPr/>
                  <a:t>, </a:t>
                </a:r>
                <a:r>
                  <a:rPr i="1"/>
                  <a:t>Machine Learning: An Applied Econometric Approach</a:t>
                </a:r>
                <a:r>
                  <a:rPr/>
                  <a:t>, </a:t>
                </a:r>
                <a:r>
                  <a:rPr b="1"/>
                  <a:t>JEP</a:t>
                </a:r>
                <a:r>
                  <a:rPr/>
                  <a:t> 2017.</a:t>
                </a:r>
              </a:p>
              <a:p>
                <a:pPr lvl="0" indent="0" marL="0">
                  <a:buNone/>
                </a:pPr>
                <a:r>
                  <a:rPr/>
                  <a:t>DOI: 10.1257/jep.31.2.87</a:t>
                </a:r>
              </a:p>
              <a:p>
                <a:pPr lvl="0" indent="0" marL="0">
                  <a:buNone/>
                </a:pPr>
                <a:r>
                  <a:rPr/>
                  <a:t>Their framing, which organises the whole course:</a:t>
                </a:r>
              </a:p>
              <a:p>
                <a:pPr lvl="0" indent="0" marL="1270000">
                  <a:buNone/>
                </a:pPr>
                <a:r>
                  <a:rPr sz="2000"/>
                  <a:t>Machine learning solves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 sz="2000"/>
                  <a:t> problems. Economics mostly asks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β</m:t>
                        </m:r>
                      </m:e>
                    </m:acc>
                  </m:oMath>
                </a14:m>
                <a:r>
                  <a:rPr sz="2000"/>
                  <a:t> questions. Confusing the two is where the trouble starts.</a:t>
                </a:r>
              </a:p>
              <a:p>
                <a:pPr lvl="0" indent="0" marL="0">
                  <a:buNone/>
                </a:pPr>
                <a:r>
                  <a:rPr/>
                  <a:t>Today is entirely a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session. Session 10 is the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β</m:t>
                        </m:r>
                      </m:e>
                    </m:acc>
                  </m:oMath>
                </a14:m>
                <a:r>
                  <a:rPr/>
                  <a:t> one, and it needs completely different machinery.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question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good is your model, really?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fit a model of European productivity growth. It explains 78% of the variance.</a:t>
            </a:r>
          </a:p>
          <a:p>
            <a:pPr lvl="0" indent="0" marL="0">
              <a:buNone/>
            </a:pPr>
            <a:r>
              <a:rPr/>
              <a:t>Three different questions hide inside “how good is it?”:</a:t>
            </a:r>
          </a:p>
          <a:p>
            <a:pPr lvl="0"/>
            <a:r>
              <a:rPr/>
              <a:t>How well does it fit </a:t>
            </a:r>
            <a:r>
              <a:rPr b="1"/>
              <a:t>the data you used</a:t>
            </a:r>
            <a:r>
              <a:rPr/>
              <a:t>? (Almost meaningless.)</a:t>
            </a:r>
          </a:p>
          <a:p>
            <a:pPr lvl="0"/>
            <a:r>
              <a:rPr/>
              <a:t>How well would it do on </a:t>
            </a:r>
            <a:r>
              <a:rPr b="1"/>
              <a:t>a new country</a:t>
            </a:r>
            <a:r>
              <a:rPr/>
              <a:t>?</a:t>
            </a:r>
          </a:p>
          <a:p>
            <a:pPr lvl="0"/>
            <a:r>
              <a:rPr/>
              <a:t>How well would it do </a:t>
            </a:r>
            <a:r>
              <a:rPr b="1"/>
              <a:t>next year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Those last two are different questions, and they need </a:t>
            </a:r>
            <a:r>
              <a:rPr b="1"/>
              <a:t>different splits</a:t>
            </a:r>
            <a:r>
              <a:rPr/>
              <a:t>. Get the split wrong and every number that follows is optimistic.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decomposition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squared loss, at a point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y</m:t>
                                      </m:r>
                                    </m:e>
                                    <m:sub>
                                      <m:r>
                                        <m:t>0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f</m:t>
                                      </m:r>
                                    </m:e>
                                  </m:acc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limLow>
                        <m:e>
                          <m:limLow>
                            <m:e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Bias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f</m:t>
                                      </m:r>
                                    </m:e>
                                  </m:acc>
                                </m:e>
                              </m:d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too rigid</m:t>
                          </m:r>
                        </m:lim>
                      </m:limLow>
                      <m:r>
                        <m:rPr>
                          <m:sty m:val="p"/>
                        </m:rPr>
                        <m:t>+</m:t>
                      </m:r>
                      <m:limLow>
                        <m:e>
                          <m:limLow>
                            <m:e>
                              <m:r>
                                <m:rPr>
                                  <m:sty m:val="p"/>
                                </m:rPr>
                                <m:t>Var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f</m:t>
                                      </m:r>
                                    </m:e>
                                  </m:acc>
                                </m:e>
                              </m:d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too sensitive</m:t>
                          </m:r>
                        </m:lim>
                      </m:limLow>
                      <m:r>
                        <m:rPr>
                          <m:sty m:val="p"/>
                        </m:rPr>
                        <m:t>+</m:t>
                      </m:r>
                      <m:limLow>
                        <m:e>
                          <m:limLow>
                            <m:e>
                              <m:sSup>
                                <m:e>
                                  <m:r>
                                    <m:t>σ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irreducible</m:t>
                          </m:r>
                        </m:lim>
                      </m:limLow>
                    </m:oMath>
                  </m:oMathPara>
                </a14:m>
              </a:p>
              <a:p>
                <a:pPr lvl="0"/>
                <a:r>
                  <a:rPr b="1"/>
                  <a:t>Bias</a:t>
                </a:r>
                <a:r>
                  <a:rPr/>
                  <a:t> falls as the model gets more flexible</a:t>
                </a:r>
              </a:p>
              <a:p>
                <a:pPr lvl="0"/>
                <a:r>
                  <a:rPr b="1"/>
                  <a:t>Variance</a:t>
                </a:r>
                <a:r>
                  <a:rPr/>
                  <a:t> rises as the model gets more flexible</a:t>
                </a:r>
              </a:p>
              <a:p>
                <a:pPr lvl="0"/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does not move. It is what the predictors do not observe.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not a defect of your method. Reporting a validation error below it means you have leaked, not learned.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trap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random K-fold breaks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core.parquet</a:t>
            </a:r>
            <a:r>
              <a:rPr/>
              <a:t> is 30 countries observed over 15 years.</a:t>
            </a:r>
          </a:p>
          <a:p>
            <a:pPr lvl="0" indent="0" marL="0">
              <a:buNone/>
            </a:pPr>
            <a:r>
              <a:rPr/>
              <a:t>Random K-fold puts </a:t>
            </a:r>
            <a:r>
              <a:rPr b="1"/>
              <a:t>Germany 2019 in training and Germany 2020 in test</a:t>
            </a:r>
            <a:r>
              <a:rPr/>
              <a:t>.</a:t>
            </a:r>
          </a:p>
          <a:p>
            <a:pPr lvl="0"/>
            <a:r>
              <a:rPr/>
              <a:t>Countries are highly persistent — productivity this year nearly determines next year</a:t>
            </a:r>
          </a:p>
          <a:p>
            <a:pPr lvl="0"/>
            <a:r>
              <a:rPr/>
              <a:t>The model can effectively memorise the country, then “predict” it</a:t>
            </a:r>
          </a:p>
          <a:p>
            <a:pPr lvl="0"/>
            <a:r>
              <a:rPr/>
              <a:t>Your validation error measures </a:t>
            </a:r>
            <a:r>
              <a:rPr b="1"/>
              <a:t>interpolation within a country</a:t>
            </a:r>
            <a:r>
              <a:rPr/>
              <a:t>, not forecasting</a:t>
            </a:r>
          </a:p>
          <a:p>
            <a:pPr lvl="0" indent="0" marL="0">
              <a:buNone/>
            </a:pPr>
            <a:r>
              <a:rPr/>
              <a:t>This is not a subtle statistical nicety. On this panel it is the difference between a model that looks excellent and one that is useful.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splits, three questions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Answers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Random K-fold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“New row from the same countries and years”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Almost never here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GroupKFold by </a:t>
                      </a:r>
                      <a:r>
                        <a:rPr b="1">
                          <a:latin typeface="Courier"/>
                        </a:rPr>
                        <a:t>geo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“A country I have never seen”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Transfer across countries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TimeSeriesSplit</a:t>
                      </a:r>
                      <a:r>
                        <a:rPr/>
                        <a:t> by </a:t>
                      </a:r>
                      <a:r>
                        <a:rPr>
                          <a:latin typeface="Courier"/>
                        </a:rPr>
                        <a:t>time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“Next year”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 — Session 11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Choose the split that matches the sentence you intend to write in your conclusion. Then say which you used.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Doing it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</a:t>
            </a:r>
            <a:br/>
            <a:br/>
            <a:r>
              <a:rPr>
                <a:latin typeface="Courier"/>
              </a:rPr>
              <a:t>core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"data/spine/core.parquet"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cols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"population"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"employment_ths"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"gfcf_meur"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core.dropna(subset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cols).copy()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(d.shape, d.geo.nunique(), d.time.</a:t>
            </a:r>
            <a:r>
              <a:rPr>
                <a:solidFill>
                  <a:srgbClr val="008000"/>
                </a:solidFill>
                <a:latin typeface="Courier"/>
              </a:rPr>
              <a:t>min</a:t>
            </a:r>
            <a:r>
              <a:rPr>
                <a:latin typeface="Courier"/>
              </a:rPr>
              <a:t>(), d.time.</a:t>
            </a:r>
            <a:r>
              <a:rPr>
                <a:solidFill>
                  <a:srgbClr val="008000"/>
                </a:solidFill>
                <a:latin typeface="Courier"/>
              </a:rPr>
              <a:t>max</a:t>
            </a:r>
            <a:r>
              <a:rPr>
                <a:latin typeface="Courier"/>
              </a:rPr>
              <a:t>())</a:t>
            </a:r>
            <a:br/>
            <a:r>
              <a:rPr i="1">
                <a:solidFill>
                  <a:srgbClr val="60A0B0"/>
                </a:solidFill>
                <a:latin typeface="Courier"/>
              </a:rPr>
              <a:t># 30 countries, 2010-2024</a:t>
            </a:r>
          </a:p>
          <a:p>
            <a:pPr lvl="0" indent="0" marL="0">
              <a:buNone/>
            </a:pPr>
            <a:r>
              <a:rPr/>
              <a:t>We predict </a:t>
            </a:r>
            <a:r>
              <a:rPr b="1">
                <a:latin typeface="Courier"/>
              </a:rPr>
              <a:t>gdp_pc_eur</a:t>
            </a:r>
            <a:r>
              <a:rPr b="1"/>
              <a:t> from the other levels</a:t>
            </a:r>
            <a:r>
              <a:rPr/>
              <a:t>. Levels are highly persistent within a country, which is exactly the setting where the choice of split bites.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up the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sklearn.ensemble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RandomForestRegressor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sklearn.model_selection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(cross_val_score, KFold,</a:t>
            </a:r>
            <a:br/>
            <a:r>
              <a:rPr>
                <a:latin typeface="Courier"/>
              </a:rPr>
              <a:t>                                     GroupKFold, TimeSeriesSplit)</a:t>
            </a:r>
            <a:br/>
            <a:br/>
            <a:r>
              <a:rPr>
                <a:latin typeface="Courier"/>
              </a:rPr>
              <a:t>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d[[</a:t>
            </a:r>
            <a:r>
              <a:rPr>
                <a:solidFill>
                  <a:srgbClr val="4070A0"/>
                </a:solidFill>
                <a:latin typeface="Courier"/>
              </a:rPr>
              <a:t>"population"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"employment_ths"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"gfcf_meur"</a:t>
            </a:r>
            <a:r>
              <a:rPr>
                <a:latin typeface="Courier"/>
              </a:rPr>
              <a:t>]]</a:t>
            </a:r>
            <a:br/>
            <a:r>
              <a:rPr>
                <a:latin typeface="Courier"/>
              </a:rPr>
              <a:t>y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m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RandomForestRegressor(n_estimators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300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latin typeface="Courier"/>
              </a:rPr>
              <a:t>RMSE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"neg_root_mean_squared_error"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schemes, three answers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rand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cross_val_score(m, X, y, scoring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RMSE,</a:t>
            </a:r>
            <a:br/>
            <a:r>
              <a:rPr>
                <a:latin typeface="Courier"/>
              </a:rPr>
              <a:t>                       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shuffle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))</a:t>
            </a:r>
            <a:br/>
            <a:br/>
            <a:r>
              <a:rPr>
                <a:latin typeface="Courier"/>
              </a:rPr>
              <a:t>group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cross_val_score(m, X, y, scoring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RMSE,</a:t>
            </a:r>
            <a:br/>
            <a:r>
              <a:rPr>
                <a:latin typeface="Courier"/>
              </a:rPr>
              <a:t>                       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), groups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])</a:t>
            </a:r>
            <a:br/>
            <a:br/>
            <a:r>
              <a:rPr>
                <a:latin typeface="Courier"/>
              </a:rPr>
              <a:t>d_s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d.sort_values(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time_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cross_val_score(m, X.loc[d_s.index], y.loc[d_s.index],</a:t>
            </a:r>
            <a:br/>
            <a:r>
              <a:rPr>
                <a:latin typeface="Courier"/>
              </a:rPr>
              <a:t>                        scoring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RMSE,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TimeSeriesSplit(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))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n, s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[(</a:t>
            </a:r>
            <a:r>
              <a:rPr>
                <a:solidFill>
                  <a:srgbClr val="4070A0"/>
                </a:solidFill>
                <a:latin typeface="Courier"/>
              </a:rPr>
              <a:t>"random"</a:t>
            </a:r>
            <a:r>
              <a:rPr>
                <a:latin typeface="Courier"/>
              </a:rPr>
              <a:t>, rand), (</a:t>
            </a:r>
            <a:r>
              <a:rPr>
                <a:solidFill>
                  <a:srgbClr val="4070A0"/>
                </a:solidFill>
                <a:latin typeface="Courier"/>
              </a:rPr>
              <a:t>"by country"</a:t>
            </a:r>
            <a:r>
              <a:rPr>
                <a:latin typeface="Courier"/>
              </a:rPr>
              <a:t>, group), (</a:t>
            </a:r>
            <a:r>
              <a:rPr>
                <a:solidFill>
                  <a:srgbClr val="4070A0"/>
                </a:solidFill>
                <a:latin typeface="Courier"/>
              </a:rPr>
              <a:t>"by time"</a:t>
            </a:r>
            <a:r>
              <a:rPr>
                <a:latin typeface="Courier"/>
              </a:rPr>
              <a:t>, time_)]: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n</a:t>
            </a:r>
            <a:r>
              <a:rPr>
                <a:solidFill>
                  <a:srgbClr val="4070A0"/>
                </a:solidFill>
                <a:latin typeface="Courier"/>
              </a:rPr>
              <a:t>:12s}</a:t>
            </a:r>
            <a:r>
              <a:rPr>
                <a:solidFill>
                  <a:srgbClr val="BB6688"/>
                </a:solidFill>
                <a:latin typeface="Courier"/>
              </a:rPr>
              <a:t> RMSE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s</a:t>
            </a:r>
            <a:r>
              <a:rPr>
                <a:solidFill>
                  <a:srgbClr val="4070A0"/>
                </a:solidFill>
                <a:latin typeface="Courier"/>
              </a:rPr>
              <a:t>.</a:t>
            </a:r>
            <a:r>
              <a:rPr>
                <a:latin typeface="Courier"/>
              </a:rPr>
              <a:t>mean()</a:t>
            </a:r>
            <a:r>
              <a:rPr>
                <a:solidFill>
                  <a:srgbClr val="4070A0"/>
                </a:solidFill>
                <a:latin typeface="Courier"/>
              </a:rPr>
              <a:t>:.3f}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you should see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Roughly: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RMSE (EUR)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Random K-fold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~3,200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GroupKFold by country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~4,900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TimeSeriesSplit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~2,800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Grouped error is about </a:t>
            </a:r>
            <a:r>
              <a:rPr b="1"/>
              <a:t>1.5× larger</a:t>
            </a:r>
            <a:r>
              <a:rPr/>
              <a:t> than random. Same data, same model, same day — and the honest number is half again the flattering one.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gap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That ratio is a </a:t>
            </a:r>
            <a:r>
              <a:rPr b="1"/>
              <a:t>direct measure of how much the model leans on country identity</a:t>
            </a:r>
            <a:r>
              <a:rPr/>
              <a:t> rather than on the economics.</a:t>
            </a:r>
          </a:p>
          <a:p>
            <a:pPr lvl="0" indent="0" marL="0">
              <a:buNone/>
            </a:pPr>
            <a:r>
              <a:rPr/>
              <a:t>Random K-fold let it see Germany 2019 while predicting Germany 2020. It learned “this is Germany”, which is useless for a country it has never seen.</a:t>
            </a:r>
          </a:p>
          <a:p>
            <a:pPr lvl="0" indent="0" marL="0">
              <a:buNone/>
            </a:pPr>
            <a:r>
              <a:rPr/>
              <a:t>Publish the 3,200 and you have overstated your model’s usefulness by half, without doing anything a referee would call wrong.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TimeSeriesSplit</a:t>
            </a:r>
            <a:r>
              <a:rPr/>
              <a:t> looks </a:t>
            </a:r>
            <a:r>
              <a:rPr i="1"/>
              <a:t>best</a:t>
            </a:r>
            <a:r>
              <a:rPr/>
              <a:t> of the three here — but it trains on early years and tests on later ones with a growing window, so it is answering a third question again. Low is not the same as right.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Flexibility, drawn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sklearn.tree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DecisionTreeRegressor</a:t>
            </a:r>
            <a:br/>
            <a:br/>
            <a:r>
              <a:rPr>
                <a:latin typeface="Courier"/>
              </a:rPr>
              <a:t>rows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[]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depth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16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DecisionTreeRegressor(max_depth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depth,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cv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cross_val_score(t, X, y,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), groups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],</a:t>
            </a:r>
            <a:br/>
            <a:r>
              <a:rPr>
                <a:latin typeface="Courier"/>
              </a:rPr>
              <a:t>                          scoring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"neg_root_mean_squared_error"</a:t>
            </a:r>
            <a:r>
              <a:rPr>
                <a:latin typeface="Courier"/>
              </a:rPr>
              <a:t>).mean()</a:t>
            </a:r>
            <a:br/>
            <a:r>
              <a:rPr>
                <a:latin typeface="Courier"/>
              </a:rPr>
              <a:t>    t.fit(X, y)</a:t>
            </a:r>
            <a:br/>
            <a:r>
              <a:rPr>
                <a:latin typeface="Courier"/>
              </a:rPr>
              <a:t>    train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np.sqrt(((y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t.predict(X))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).mean())</a:t>
            </a:r>
            <a:br/>
            <a:r>
              <a:rPr>
                <a:latin typeface="Courier"/>
              </a:rPr>
              <a:t>    rows.append((depth, train, cv))</a:t>
            </a:r>
          </a:p>
          <a:p>
            <a:pPr lvl="0" indent="0" marL="0">
              <a:buNone/>
            </a:pPr>
            <a:r>
              <a:rPr/>
              <a:t>Plot both curves against depth.</a:t>
            </a:r>
          </a:p>
          <a:p>
            <a:pPr lvl="0" indent="0" marL="0">
              <a:buNone/>
            </a:pPr>
            <a:r>
              <a:rPr/>
              <a:t>Training error falls monotonically. Validation error falls, then turns. The turn is the bias–variance tradeoff, and it is the only one of the two curves that tells you anything.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Leakage, the practical 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sklearn.pipeline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make_pipeline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sklearn.preprocessing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StandardScaler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 WRONG — the scaler has already seen the test fold</a:t>
            </a:r>
            <a:br/>
            <a:r>
              <a:rPr>
                <a:latin typeface="Courier"/>
              </a:rPr>
              <a:t>X_scaled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StandardScaler().fit_transform(X)</a:t>
            </a:r>
            <a:br/>
            <a:r>
              <a:rPr>
                <a:latin typeface="Courier"/>
              </a:rPr>
              <a:t>cross_val_score(m, X_scaled, y,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), groups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])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 RIGHT — every preprocessing step re-fits inside each fold</a:t>
            </a:r>
            <a:br/>
            <a:r>
              <a:rPr>
                <a:latin typeface="Courier"/>
              </a:rPr>
              <a:t>pipe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make_pipeline(StandardScaler(), m)</a:t>
            </a:r>
            <a:br/>
            <a:r>
              <a:rPr>
                <a:latin typeface="Courier"/>
              </a:rPr>
              <a:t>cross_val_score(pipe, X, y,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), groups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])</a:t>
            </a:r>
          </a:p>
          <a:p>
            <a:pPr lvl="0" indent="0" marL="0">
              <a:buNone/>
            </a:pPr>
            <a:r>
              <a:rPr/>
              <a:t>Any step that </a:t>
            </a:r>
            <a:r>
              <a:rPr b="1"/>
              <a:t>learns from the data</a:t>
            </a:r>
            <a:r>
              <a:rPr/>
              <a:t> — scaling, imputation, feature selection, target encoding — must live inside the pipeline. This is the single most common error in applied machine learning, and it always flatters you.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Which split</a:t>
                </a:r>
                <a:r>
                  <a:rPr/>
                  <a:t> you used, and the sentence it licenses</a:t>
                </a:r>
              </a:p>
              <a:p>
                <a:pPr lvl="0"/>
                <a:r>
                  <a:rPr/>
                  <a:t>Validation error in the </a:t>
                </a:r>
                <a:r>
                  <a:rPr b="1"/>
                  <a:t>units of the outcome</a:t>
                </a:r>
                <a:r>
                  <a:rPr/>
                  <a:t>, not just </a:t>
                </a: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  <a:p>
                <a:pPr lvl="0"/>
                <a:r>
                  <a:rPr/>
                  <a:t>The gap between training and validation error</a:t>
                </a:r>
              </a:p>
              <a:p>
                <a:pPr lvl="0"/>
                <a:r>
                  <a:rPr/>
                  <a:t>The gap between random and grouped CV — your leakage diagnostic</a:t>
                </a:r>
              </a:p>
              <a:p>
                <a:pPr lvl="0" indent="0" marL="0">
                  <a:buNone/>
                </a:pPr>
                <a:r>
                  <a:rPr/>
                  <a:t>Never report a number computed on data the model was fit on. If you tuned on it, it is training data, whatever you called the variable.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Choosing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 b="1"/>
                  <a:t> or </a:t>
                </a:r>
                <a14:m>
                  <m:oMath xmlns:m="http://schemas.openxmlformats.org/officeDocument/2006/math">
                    <m:r>
                      <m:t>10</m:t>
                    </m:r>
                  </m:oMath>
                </a14:m>
                <a:r>
                  <a:rPr/>
                  <a:t> — the usual choice, and a reasonable one</a:t>
                </a:r>
              </a:p>
              <a:p>
                <a:pPr lvl="0"/>
                <a:r>
                  <a:rPr b="1"/>
                  <a:t>Small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— more bias (each model sees less data), less variance</a:t>
                </a:r>
              </a:p>
              <a:p>
                <a:pPr lvl="0"/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=</m:t>
                    </m:r>
                    <m:r>
                      <m:t>n</m:t>
                    </m:r>
                  </m:oMath>
                </a14:m>
                <a:r>
                  <a:rPr/>
                  <a:t> (leave-one-out) — nearly unbiased, high variance, expensive</a:t>
                </a:r>
              </a:p>
              <a:p>
                <a:pPr lvl="0" indent="0" marL="0">
                  <a:buNone/>
                </a:pPr>
                <a:r>
                  <a:rPr/>
                  <a:t>With 30 countries, </a:t>
                </a:r>
                <a:r>
                  <a:rPr>
                    <a:latin typeface="Courier"/>
                  </a:rPr>
                  <a:t>GroupKFold(5)</a:t>
                </a:r>
                <a:r>
                  <a:rPr/>
                  <a:t> leaves 6 countries out per fold. Fewer folds would leave too few countries to train on; more would make each estimate noisy.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CV, when you tune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use CV to </a:t>
            </a:r>
            <a:r>
              <a:rPr b="1"/>
              <a:t>choose</a:t>
            </a:r>
            <a:r>
              <a:rPr/>
              <a:t> a hyperparameter, that CV error is no longer an honest estimate of performance — you selected on it.</a:t>
            </a:r>
          </a:p>
          <a:p>
            <a:pPr lvl="0"/>
            <a:r>
              <a:rPr b="1"/>
              <a:t>Inner</a:t>
            </a:r>
            <a:r>
              <a:rPr/>
              <a:t> loop chooses the hyperparameter</a:t>
            </a:r>
          </a:p>
          <a:p>
            <a:pPr lvl="0"/>
            <a:r>
              <a:rPr b="1"/>
              <a:t>Outer</a:t>
            </a:r>
            <a:r>
              <a:rPr/>
              <a:t> loop estimates performance</a:t>
            </a:r>
          </a:p>
          <a:p>
            <a:pPr lvl="0" indent="0" marL="0">
              <a:buNone/>
            </a:pPr>
            <a:r>
              <a:rPr/>
              <a:t>Reporting the best inner-loop score as your result is the same error as reporting training error, one level up. It is extremely common.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one-standard-error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models within one standard error of the best CV score, take the </a:t>
            </a:r>
            <a:r>
              <a:rPr b="1"/>
              <a:t>simplest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CV curve is estimated with noise. The apparent minimum is partly luck, and the simpler model at the same score will usually generalise better.</a:t>
            </a:r>
          </a:p>
        </p:txBody>
      </p:sp>
    </p:spTree>
  </p:cSld>
</p:sld>
</file>

<file path=ppt/slides/slide2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Common mistakes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Mistake</a:t></a:r></a:p></a:txBody><a:tcPr /></a:tc><a:tc><a:txBody><a:bodyPr /><a:lstStyle /><a:p><a:pPr lvl="0" indent="0" marL="0"><a:buNone /></a:pPr><a:r><a:rPr /><a:t>Consequence</a:t></a:r></a:p></a:txBody><a:tcPr /></a:tc></a:tr><a:tr h="0"><a:tc><a:txBody><a:bodyPr /><a:lstStyle /><a:p><a:pPr lvl="0" indent="0" marL="0"><a:buNone /></a:pPr><a:r><a:rPr /><a:t>Random K-fold on a panel</a:t></a:r></a:p></a:txBody></a:tc><a:tc><a:txBody><a:bodyPr /><a:lstStyle /><a:p><a:pPr lvl="0" indent="0" marL="0"><a:buNone /></a:pPr><a:r><a:rPr /><a:t>Optimistic by a wide margin</a:t></a:r></a:p></a:txBody></a:tc></a:tr><a:tr h="0"><a:tc><a:txBody><a:bodyPr /><a:lstStyle /><a:p><a:pPr lvl="0" indent="0" marL="0"><a:buNone /></a:pPr><a:r><a:rPr /><a:t>Scaling before splitting</a:t></a:r></a:p></a:txBody></a:tc><a:tc><a:txBody><a:bodyPr /><a:lstStyle /><a:p><a:pPr lvl="0" indent="0" marL="0"><a:buNone /></a:pPr><a:r><a:rPr /><a:t>Leakage; error understated</a:t></a:r></a:p></a:txBody></a:tc></a:tr><a:tr h="0"><a:tc><a:txBody><a:bodyPr /><a:lstStyle /><a:p><a:pPr lvl="0" indent="0" marL="0"><a:buNone /></a:pPr><a:r><a:rPr /><a:t>Tuning on the test set</a:t></a:r></a:p></a:txBody></a:tc><a:tc><a:txBody><a:bodyPr /><a:lstStyle /><a:p><a:pPr lvl="0" indent="0" marL="0"><a:buNone /></a:pPr><a:r><a:rPr /><a:t>The test set is now training data</a:t></a:r></a:p></a:txBody></a:tc></a:tr><a:tr h="0"><a:tc><a:txBody><a:bodyPr /><a:lstStyle /><a:p><a:pPr lvl="0" indent="0" marL="0"><a:buNone /></a:pPr><a:r><a:rPr /><a:t>Reporting </a:t></a:r><a14:m><m:oMath xmlns:m="http://schemas.openxmlformats.org/officeDocument/2006/math"><m:sSup><m:e><m:r><m:t>R</m:t></m:r></m:e><m:sup><m:r><m:t>2</m:t></m:r></m:sup></m:sSup></m:oMath></a14:m><a:r><a:rPr /><a:t> only</a:t></a:r></a:p></a:txBody></a:tc><a:tc><a:txBody><a:bodyPr /><a:lstStyle /><a:p><a:pPr lvl="0" indent="0" marL="0"><a:buNone /></a:pPr><a:r><a:rPr /><a:t>No sense of magnitude</a:t></a:r></a:p></a:txBody></a:tc></a:tr><a:tr h="0"><a:tc><a:txBody><a:bodyPr /><a:lstStyle /><a:p><a:pPr lvl="0" indent="0" marL="0"><a:buNone /></a:pPr><a:r><a:rPr /><a:t>One split, one number</a:t></a:r></a:p></a:txBody></a:tc><a:tc><a:txBody><a:bodyPr /><a:lstStyle /><a:p><a:pPr lvl="0" indent="0" marL="0"><a:buNone /></a:pPr><a:r><a:rPr /><a:t>No sense of variability</a:t></a:r></a:p></a:txBody></a:tc></a:tr></a:tbl></a:graphicData></a:graphic></p:graphicFrame></p:spTree></p:cSld>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 through </a:t>
            </a:r>
            <a:r>
              <a:rPr>
                <a:hlinkClick r:id="rId2"/>
                <a:latin typeface="Courier"/>
              </a:rPr>
              <a:t>02-lab/README.md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Reproduce the three CV schemes and tabulate the errors</a:t>
            </a:r>
          </a:p>
          <a:p>
            <a:pPr lvl="0" indent="-342900" marL="342900">
              <a:buAutoNum type="arabicPeriod"/>
            </a:pPr>
            <a:r>
              <a:rPr/>
              <a:t>Explain, in writing, why they differ </a:t>
            </a:r>
            <a:r>
              <a:rPr b="1"/>
              <a:t>in this direction</a:t>
            </a:r>
          </a:p>
          <a:p>
            <a:pPr lvl="0" indent="-342900" marL="342900">
              <a:buAutoNum type="arabicPeriod"/>
            </a:pPr>
            <a:r>
              <a:rPr/>
              <a:t>Draw the depth curve and mark where variance takes over</a:t>
            </a:r>
          </a:p>
          <a:p>
            <a:pPr lvl="0" indent="-342900" marL="342900">
              <a:buAutoNum type="arabicPeriod"/>
            </a:pPr>
            <a:r>
              <a:rPr/>
              <a:t>Three sentences, naming your split and what it entitles you to claim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Bias, Variance, and Honest Validation</dc:title>
  <dc:creator>Thierry Warin</dc:creator>
  <cp:keywords/>
  <dcterms:created xsi:type="dcterms:W3CDTF">2026-08-19T20:02:58Z</dcterms:created>
  <dcterms:modified xsi:type="dcterms:W3CDTF">2026-08-19T20:02:58Z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19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04 · Why random K-fold is the wrong answer for a panel</vt:lpwstr>
  </property>
  <property fmtid="{D5CDD505-2E9C-101B-9397-08002B2CF9AE}" pid="16" name="toc-title">
    <vt:lpwstr>Table of contents</vt:lpwstr>
  </property>
</Properties>
</file>