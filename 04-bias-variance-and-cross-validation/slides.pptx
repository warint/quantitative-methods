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02-lab/README.md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Bias, Variance, and Honest Validation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04 · Why random K-fold is the wrong answer for a panel</a:t>
            </a:r>
            <a:br/>
            <a:br/>
            <a:r>
              <a:rPr/>
              <a:t>Thierry Warin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18 August 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question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good is your model, really?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fit a model of European productivity growth. It explains 78% of the variance.</a:t>
            </a:r>
          </a:p>
          <a:p>
            <a:pPr lvl="0" indent="0" marL="0">
              <a:buNone/>
            </a:pPr>
            <a:r>
              <a:rPr/>
              <a:t>Three different questions hide inside “how good is it?”:</a:t>
            </a:r>
          </a:p>
          <a:p>
            <a:pPr lvl="0"/>
            <a:r>
              <a:rPr/>
              <a:t>How well does it fit </a:t>
            </a:r>
            <a:r>
              <a:rPr b="1"/>
              <a:t>the data you used</a:t>
            </a:r>
            <a:r>
              <a:rPr/>
              <a:t>? (Almost meaningless.)</a:t>
            </a:r>
          </a:p>
          <a:p>
            <a:pPr lvl="0"/>
            <a:r>
              <a:rPr/>
              <a:t>How well would it do on </a:t>
            </a:r>
            <a:r>
              <a:rPr b="1"/>
              <a:t>a new country</a:t>
            </a:r>
            <a:r>
              <a:rPr/>
              <a:t>?</a:t>
            </a:r>
          </a:p>
          <a:p>
            <a:pPr lvl="0"/>
            <a:r>
              <a:rPr/>
              <a:t>How well would it do </a:t>
            </a:r>
            <a:r>
              <a:rPr b="1"/>
              <a:t>next year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Those last two are different questions, and they need </a:t>
            </a:r>
            <a:r>
              <a:rPr b="1"/>
              <a:t>different splits</a:t>
            </a:r>
            <a:r>
              <a:rPr/>
              <a:t>. Get the split wrong and every number that follows is optimistic.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decomposition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squared loss, at a point </a:t>
                </a:r>
                <a14:m>
                  <m:oMath xmlns:m="http://schemas.openxmlformats.org/officeDocument/2006/math">
                    <m:sSub>
                      <m:e>
                        <m:r>
                          <m:t>x</m:t>
                        </m:r>
                      </m:e>
                      <m:sub>
                        <m:r>
                          <m:t>0</m:t>
                        </m:r>
                      </m:sub>
                    </m:sSub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  <m:scr m:val="double-struck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sSup>
                            <m:e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sSub>
                                    <m:e>
                                      <m:r>
                                        <m:t>y</m:t>
                                      </m:r>
                                    </m:e>
                                    <m:sub>
                                      <m:r>
                                        <m:t>0</m:t>
                                      </m:r>
                                    </m:sub>
                                  </m:sSub>
                                  <m:r>
                                    <m:rPr>
                                      <m:sty m:val="p"/>
                                    </m:rPr>
                                    <m:t>−</m:t>
                                  </m:r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  <m:d>
                                    <m:dPr>
                                      <m:begChr m:val="("/>
                                      <m:sepChr m:val=""/>
                                      <m:endChr m:val=")"/>
                                      <m:grow/>
                                    </m:dPr>
                                    <m:e>
                                      <m:sSub>
                                        <m:e>
                                          <m:r>
                                            <m:t>x</m:t>
                                          </m:r>
                                        </m:e>
                                        <m:sub>
                                          <m:r>
                                            <m:t>0</m:t>
                                          </m:r>
                                        </m:sub>
                                      </m:sSub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m:t>2</m:t>
                              </m:r>
                            </m:sup>
                          </m:sSup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rPr>
                                      <m:sty m:val="p"/>
                                    </m:rPr>
                                    <m:t>Bias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rigid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r>
                                <m:rPr>
                                  <m:sty m:val="p"/>
                                </m:rPr>
                                <m:t>Var</m:t>
                              </m:r>
                              <m:d>
                                <m:dPr>
                                  <m:begChr m:val="("/>
                                  <m:sepChr m:val=""/>
                                  <m:endChr m:val=")"/>
                                  <m:grow/>
                                </m:dPr>
                                <m:e>
                                  <m:acc>
                                    <m:accPr>
                                      <m:chr m:val="̂"/>
                                    </m:accPr>
                                    <m:e>
                                      <m:r>
                                        <m:t>f</m:t>
                                      </m:r>
                                    </m:e>
                                  </m:acc>
                                </m:e>
                              </m:d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too sensitive</m:t>
                          </m:r>
                        </m:lim>
                      </m:limLow>
                      <m:r>
                        <m:rPr>
                          <m:sty m:val="p"/>
                        </m:rPr>
                        <m:t>+</m:t>
                      </m:r>
                      <m:limLow>
                        <m:e>
                          <m:limLow>
                            <m:e>
                              <m:sSup>
                                <m:e>
                                  <m:r>
                                    <m:t>σ</m:t>
                                  </m:r>
                                </m:e>
                                <m:sup>
                                  <m:r>
                                    <m:t>2</m:t>
                                  </m:r>
                                </m:sup>
                              </m:sSup>
                            </m:e>
                            <m:lim>
                              <m:r>
                                <m:rPr>
                                  <m:sty m:val="p"/>
                                </m:rPr>
                                <m:t>⏟</m:t>
                              </m:r>
                            </m:lim>
                          </m:limLow>
                        </m:e>
                        <m:lim>
                          <m:r>
                            <m:rPr>
                              <m:nor/>
                              <m:sty m:val="p"/>
                            </m:rPr>
                            <m:t>irreducible</m:t>
                          </m:r>
                        </m:lim>
                      </m:limLow>
                    </m:oMath>
                  </m:oMathPara>
                </a14:m>
              </a:p>
              <a:p>
                <a:pPr lvl="0"/>
                <a:r>
                  <a:rPr b="1"/>
                  <a:t>Bias</a:t>
                </a:r>
                <a:r>
                  <a:rPr/>
                  <a:t> falls as the model gets more flexible</a:t>
                </a:r>
              </a:p>
              <a:p>
                <a:pPr lvl="0"/>
                <a:r>
                  <a:rPr b="1"/>
                  <a:t>Variance</a:t>
                </a:r>
                <a:r>
                  <a:rPr/>
                  <a:t> rises as the model gets more flexible</a:t>
                </a:r>
              </a:p>
              <a:p>
                <a:pPr lvl="0"/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does not move. It is what the predictors do not observe.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sSup>
                      <m:e>
                        <m:r>
                          <m:t>σ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  <a:r>
                  <a:rPr/>
                  <a:t> is not a defect of your method. Reporting a validation error below it means you have leaked, not learned.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trap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random K-fold breaks here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core.parquet</a:t>
            </a:r>
            <a:r>
              <a:rPr/>
              <a:t> is 30 countries observed over 15 years.</a:t>
            </a:r>
          </a:p>
          <a:p>
            <a:pPr lvl="0" indent="0" marL="0">
              <a:buNone/>
            </a:pPr>
            <a:r>
              <a:rPr/>
              <a:t>Random K-fold puts </a:t>
            </a:r>
            <a:r>
              <a:rPr b="1"/>
              <a:t>Germany 2019 in training and Germany 2020 in test</a:t>
            </a:r>
            <a:r>
              <a:rPr/>
              <a:t>.</a:t>
            </a:r>
          </a:p>
          <a:p>
            <a:pPr lvl="0"/>
            <a:r>
              <a:rPr/>
              <a:t>Countries are highly persistent — productivity this year nearly determines next year</a:t>
            </a:r>
          </a:p>
          <a:p>
            <a:pPr lvl="0"/>
            <a:r>
              <a:rPr/>
              <a:t>The model can effectively memorise the country, then “predict” it</a:t>
            </a:r>
          </a:p>
          <a:p>
            <a:pPr lvl="0"/>
            <a:r>
              <a:rPr/>
              <a:t>Your validation error measures </a:t>
            </a:r>
            <a:r>
              <a:rPr b="1"/>
              <a:t>interpolation within a country</a:t>
            </a:r>
            <a:r>
              <a:rPr/>
              <a:t>, not forecasting</a:t>
            </a:r>
          </a:p>
          <a:p>
            <a:pPr lvl="0" indent="0" marL="0">
              <a:buNone/>
            </a:pPr>
            <a:r>
              <a:rPr/>
              <a:t>This is not a subtle statistical nicety. On this panel it is the difference between a model that looks excellent and one that is useful.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splits, three questions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Split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Answers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Use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Random K-fold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“New row from the same countries and years”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Almost never here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GroupKFold by </a:t>
                      </a:r>
                      <a:r>
                        <a:rPr b="1">
                          <a:latin typeface="Courier"/>
                        </a:rPr>
                        <a:t>geo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“A country I have never seen”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Transfer across countries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TimeSeriesSplit</a:t>
                      </a:r>
                      <a:r>
                        <a:rPr/>
                        <a:t> by </a:t>
                      </a:r>
                      <a:r>
                        <a:rPr>
                          <a:latin typeface="Courier"/>
                        </a:rPr>
                        <a:t>time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“Next year”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Forecasting — Session 11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Choose the split that matches the sentence you intend to write in your conclusion. Then say which you used.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Doing it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pandas </a:t>
            </a:r>
            <a:r>
              <a:rPr b="1">
                <a:solidFill>
                  <a:srgbClr val="008000"/>
                </a:solidFill>
                <a:latin typeface="Courier"/>
              </a:rPr>
              <a:t>as</a:t>
            </a:r>
            <a:r>
              <a:rPr>
                <a:latin typeface="Courier"/>
              </a:rPr>
              <a:t> pd</a:t>
            </a:r>
            <a:br/>
            <a:br/>
            <a:r>
              <a:rPr>
                <a:latin typeface="Courier"/>
              </a:rPr>
              <a:t>core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pd.read_parquet(</a:t>
            </a:r>
            <a:r>
              <a:rPr>
                <a:solidFill>
                  <a:srgbClr val="4070A0"/>
                </a:solidFill>
                <a:latin typeface="Courier"/>
              </a:rPr>
              <a:t>"data/spine/core.parquet"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core.dropna(subset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]).copy()</a:t>
            </a:r>
            <a:br/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(d.shape)                    </a:t>
            </a:r>
            <a:r>
              <a:rPr i="1">
                <a:solidFill>
                  <a:srgbClr val="60A0B0"/>
                </a:solidFill>
                <a:latin typeface="Courier"/>
              </a:rPr>
              <a:t># ~420 rows (first year per country has no growth)</a:t>
            </a:r>
            <a:br/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(d.geo.nunique(), d.time.</a:t>
            </a:r>
            <a:r>
              <a:rPr>
                <a:solidFill>
                  <a:srgbClr val="008000"/>
                </a:solidFill>
                <a:latin typeface="Courier"/>
              </a:rPr>
              <a:t>min</a:t>
            </a:r>
            <a:r>
              <a:rPr>
                <a:latin typeface="Courier"/>
              </a:rPr>
              <a:t>(), d.time.</a:t>
            </a:r>
            <a:r>
              <a:rPr>
                <a:solidFill>
                  <a:srgbClr val="008000"/>
                </a:solidFill>
                <a:latin typeface="Courier"/>
              </a:rPr>
              <a:t>max</a:t>
            </a:r>
            <a:r>
              <a:rPr>
                <a:latin typeface="Courier"/>
              </a:rPr>
              <a:t>())   </a:t>
            </a:r>
            <a:r>
              <a:rPr i="1">
                <a:solidFill>
                  <a:srgbClr val="60A0B0"/>
                </a:solidFill>
                <a:latin typeface="Courier"/>
              </a:rPr>
              <a:t># 30 countries, 2010-2024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prod_growth</a:t>
            </a:r>
            <a:r>
              <a:rPr/>
              <a:t> is NaN in each country’s first year. That is arithmetic, not missing data — you cannot difference what has no predecessor.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Set up the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sklearn.ensemble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RandomForestRegressor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sklearn.model_selection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(cross_val_score, KFold,</a:t>
            </a:r>
            <a:br/>
            <a:r>
              <a:rPr>
                <a:latin typeface="Courier"/>
              </a:rPr>
              <a:t>                                     GroupKFold, TimeSeriesSplit)</a:t>
            </a:r>
            <a:br/>
            <a:br/>
            <a:r>
              <a:rPr>
                <a:latin typeface="Courier"/>
              </a:rPr>
              <a:t>X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d[[</a:t>
            </a:r>
            <a:r>
              <a:rPr>
                <a:solidFill>
                  <a:srgbClr val="4070A0"/>
                </a:solidFill>
                <a:latin typeface="Courier"/>
              </a:rPr>
              <a:t>"gdp_pc_eur"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"population"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"employment_ths"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70A0"/>
                </a:solidFill>
                <a:latin typeface="Courier"/>
              </a:rPr>
              <a:t>"gfcf_meur"</a:t>
            </a:r>
            <a:r>
              <a:rPr>
                <a:latin typeface="Courier"/>
              </a:rPr>
              <a:t>]].fillna(</a:t>
            </a:r>
            <a:r>
              <a:rPr>
                <a:solidFill>
                  <a:srgbClr val="40A070"/>
                </a:solidFill>
                <a:latin typeface="Courier"/>
              </a:rPr>
              <a:t>0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y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d[</a:t>
            </a:r>
            <a:r>
              <a:rPr>
                <a:solidFill>
                  <a:srgbClr val="4070A0"/>
                </a:solidFill>
                <a:latin typeface="Courier"/>
              </a:rPr>
              <a:t>"prod_growth"</a:t>
            </a:r>
            <a:r>
              <a:rPr>
                <a:latin typeface="Courier"/>
              </a:rPr>
              <a:t>]</a:t>
            </a:r>
            <a:br/>
            <a:r>
              <a:rPr>
                <a:latin typeface="Courier"/>
              </a:rPr>
              <a:t>m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RandomForestRegressor(n_estimators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300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br/>
            <a:r>
              <a:rPr>
                <a:latin typeface="Courier"/>
              </a:rPr>
              <a:t>RMSE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schemes, three answers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rand 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, shuffle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19177C"/>
                </a:solidFill>
                <a:latin typeface="Courier"/>
              </a:rPr>
              <a:t>True</a:t>
            </a:r>
            <a:r>
              <a:rPr>
                <a:latin typeface="Courier"/>
              </a:rPr>
              <a:t>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))</a:t>
            </a:r>
            <a:br/>
            <a:br/>
            <a:r>
              <a:rPr>
                <a:latin typeface="Courier"/>
              </a:rPr>
              <a:t>group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X, y,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</a:t>
            </a:r>
            <a:br/>
            <a:r>
              <a:rPr>
                <a:latin typeface="Courier"/>
              </a:rPr>
              <a:t>                       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>
                <a:latin typeface="Courier"/>
              </a:rPr>
              <a:t>d_s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d.sort_values(</a:t>
            </a:r>
            <a:r>
              <a:rPr>
                <a:solidFill>
                  <a:srgbClr val="4070A0"/>
                </a:solidFill>
                <a:latin typeface="Courier"/>
              </a:rPr>
              <a:t>"time"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time_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cross_val_score(m, X.loc[d_s.index], y.loc[d_s.index],</a:t>
            </a:r>
            <a:br/>
            <a:r>
              <a:rPr>
                <a:latin typeface="Courier"/>
              </a:rPr>
              <a:t>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RMSE,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TimeSeriesSplit(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))</a:t>
            </a:r>
            <a:br/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n, s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[(</a:t>
            </a:r>
            <a:r>
              <a:rPr>
                <a:solidFill>
                  <a:srgbClr val="4070A0"/>
                </a:solidFill>
                <a:latin typeface="Courier"/>
              </a:rPr>
              <a:t>"random"</a:t>
            </a:r>
            <a:r>
              <a:rPr>
                <a:latin typeface="Courier"/>
              </a:rPr>
              <a:t>, rand), (</a:t>
            </a:r>
            <a:r>
              <a:rPr>
                <a:solidFill>
                  <a:srgbClr val="4070A0"/>
                </a:solidFill>
                <a:latin typeface="Courier"/>
              </a:rPr>
              <a:t>"by country"</a:t>
            </a:r>
            <a:r>
              <a:rPr>
                <a:latin typeface="Courier"/>
              </a:rPr>
              <a:t>, group), (</a:t>
            </a:r>
            <a:r>
              <a:rPr>
                <a:solidFill>
                  <a:srgbClr val="4070A0"/>
                </a:solidFill>
                <a:latin typeface="Courier"/>
              </a:rPr>
              <a:t>"by time"</a:t>
            </a:r>
            <a:r>
              <a:rPr>
                <a:latin typeface="Courier"/>
              </a:rPr>
              <a:t>, time_)]:</a:t>
            </a:r>
            <a:br/>
            <a:r>
              <a:rPr>
                <a:latin typeface="Courier"/>
              </a:rPr>
              <a:t>    </a:t>
            </a:r>
            <a:r>
              <a:rPr>
                <a:solidFill>
                  <a:srgbClr val="008000"/>
                </a:solidFill>
                <a:latin typeface="Courier"/>
              </a:rPr>
              <a:t>print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BB6688"/>
                </a:solidFill>
                <a:latin typeface="Courier"/>
              </a:rPr>
              <a:t>f"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latin typeface="Courier"/>
              </a:rPr>
              <a:t>n</a:t>
            </a:r>
            <a:r>
              <a:rPr>
                <a:solidFill>
                  <a:srgbClr val="4070A0"/>
                </a:solidFill>
                <a:latin typeface="Courier"/>
              </a:rPr>
              <a:t>:12s}</a:t>
            </a:r>
            <a:r>
              <a:rPr>
                <a:solidFill>
                  <a:srgbClr val="BB6688"/>
                </a:solidFill>
                <a:latin typeface="Courier"/>
              </a:rPr>
              <a:t> RMSE </a:t>
            </a:r>
            <a:r>
              <a:rPr>
                <a:solidFill>
                  <a:srgbClr val="4070A0"/>
                </a:solidFill>
                <a:latin typeface="Courier"/>
              </a:rPr>
              <a:t>{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s</a:t>
            </a:r>
            <a:r>
              <a:rPr>
                <a:solidFill>
                  <a:srgbClr val="4070A0"/>
                </a:solidFill>
                <a:latin typeface="Courier"/>
              </a:rPr>
              <a:t>.</a:t>
            </a:r>
            <a:r>
              <a:rPr>
                <a:latin typeface="Courier"/>
              </a:rPr>
              <a:t>mean()</a:t>
            </a:r>
            <a:r>
              <a:rPr>
                <a:solidFill>
                  <a:srgbClr val="4070A0"/>
                </a:solidFill>
                <a:latin typeface="Courier"/>
              </a:rPr>
              <a:t>:.3f}</a:t>
            </a:r>
            <a:r>
              <a:rPr>
                <a:solidFill>
                  <a:srgbClr val="BB6688"/>
                </a:solidFill>
                <a:latin typeface="Courier"/>
              </a:rPr>
              <a:t>"</a:t>
            </a:r>
            <a:r>
              <a:rPr>
                <a:latin typeface="Courier"/>
              </a:rPr>
              <a:t>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you should see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Random K-fold reports the </a:t>
            </a:r>
            <a:r>
              <a:rPr b="1"/>
              <a:t>best</a:t>
            </a:r>
            <a:r>
              <a:rPr/>
              <a:t> error. It is also the only one answering a question nobody asked.</a:t>
            </a:r>
          </a:p>
          <a:p>
            <a:pPr lvl="0" indent="0" marL="0">
              <a:buNone/>
            </a:pPr>
            <a:r>
              <a:rPr/>
              <a:t>The gap between random and grouped is a </a:t>
            </a:r>
            <a:r>
              <a:rPr b="1"/>
              <a:t>direct measure of how much your model is leaning on country identity</a:t>
            </a:r>
            <a:r>
              <a:rPr/>
              <a:t> rather than on the economics.</a:t>
            </a:r>
          </a:p>
          <a:p>
            <a:pPr lvl="0" indent="0" marL="0">
              <a:buNone/>
            </a:pPr>
            <a:r>
              <a:rPr/>
              <a:t>If grouped error is far worse, your model has learned “this is Germany”, not “this is what raises productivity”.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Flexibility, drawn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sklearn.tree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DecisionTreeRegressor</a:t>
            </a:r>
            <a:br/>
            <a:br/>
            <a:r>
              <a:rPr>
                <a:latin typeface="Courier"/>
              </a:rPr>
              <a:t>rows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[]</a:t>
            </a:r>
            <a:br/>
            <a:r>
              <a:rPr b="1">
                <a:solidFill>
                  <a:srgbClr val="007020"/>
                </a:solidFill>
                <a:latin typeface="Courier"/>
              </a:rPr>
              <a:t>for</a:t>
            </a:r>
            <a:r>
              <a:rPr>
                <a:latin typeface="Courier"/>
              </a:rPr>
              <a:t> depth </a:t>
            </a:r>
            <a:r>
              <a:rPr b="1">
                <a:solidFill>
                  <a:srgbClr val="007020"/>
                </a:solidFill>
                <a:latin typeface="Courier"/>
              </a:rPr>
              <a:t>in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008000"/>
                </a:solidFill>
                <a:latin typeface="Courier"/>
              </a:rPr>
              <a:t>range</a:t>
            </a:r>
            <a:r>
              <a:rPr>
                <a:latin typeface="Courier"/>
              </a:rPr>
              <a:t>(</a:t>
            </a:r>
            <a:r>
              <a:rPr>
                <a:solidFill>
                  <a:srgbClr val="40A070"/>
                </a:solidFill>
                <a:latin typeface="Courier"/>
              </a:rPr>
              <a:t>1</a:t>
            </a:r>
            <a:r>
              <a:rPr>
                <a:latin typeface="Courier"/>
              </a:rPr>
              <a:t>, </a:t>
            </a:r>
            <a:r>
              <a:rPr>
                <a:solidFill>
                  <a:srgbClr val="40A070"/>
                </a:solidFill>
                <a:latin typeface="Courier"/>
              </a:rPr>
              <a:t>16</a:t>
            </a:r>
            <a:r>
              <a:rPr>
                <a:latin typeface="Courier"/>
              </a:rPr>
              <a:t>):</a:t>
            </a:r>
            <a:br/>
            <a:r>
              <a:rPr>
                <a:latin typeface="Courier"/>
              </a:rPr>
              <a:t>    t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DecisionTreeRegressor(max_depth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depth, random_state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A070"/>
                </a:solidFill>
                <a:latin typeface="Courier"/>
              </a:rPr>
              <a:t>60033</a:t>
            </a:r>
            <a:r>
              <a:rPr>
                <a:latin typeface="Courier"/>
              </a:rPr>
              <a:t>)</a:t>
            </a:r>
            <a:br/>
            <a:r>
              <a:rPr>
                <a:latin typeface="Courier"/>
              </a:rPr>
              <a:t>    cv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cross_val_score(t,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],</a:t>
            </a:r>
            <a:br/>
            <a:r>
              <a:rPr>
                <a:latin typeface="Courier"/>
              </a:rPr>
              <a:t>                          scoring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solidFill>
                  <a:srgbClr val="4070A0"/>
                </a:solidFill>
                <a:latin typeface="Courier"/>
              </a:rPr>
              <a:t>"neg_root_mean_squared_error"</a:t>
            </a:r>
            <a:r>
              <a:rPr>
                <a:latin typeface="Courier"/>
              </a:rPr>
              <a:t>).mean()</a:t>
            </a:r>
            <a:br/>
            <a:r>
              <a:rPr>
                <a:latin typeface="Courier"/>
              </a:rPr>
              <a:t>    t.fit(X, y)</a:t>
            </a:r>
            <a:br/>
            <a:r>
              <a:rPr>
                <a:latin typeface="Courier"/>
              </a:rPr>
              <a:t>    train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np.sqrt(((y </a:t>
            </a:r>
            <a:r>
              <a:rPr>
                <a:solidFill>
                  <a:srgbClr val="666666"/>
                </a:solidFill>
                <a:latin typeface="Courier"/>
              </a:rPr>
              <a:t>-</a:t>
            </a:r>
            <a:r>
              <a:rPr>
                <a:latin typeface="Courier"/>
              </a:rPr>
              <a:t> t.predict(X)) </a:t>
            </a:r>
            <a:r>
              <a:rPr>
                <a:solidFill>
                  <a:srgbClr val="666666"/>
                </a:solidFill>
                <a:latin typeface="Courier"/>
              </a:rPr>
              <a:t>**</a:t>
            </a:r>
            <a:r>
              <a:rPr>
                <a:latin typeface="Courier"/>
              </a:rPr>
              <a:t> </a:t>
            </a:r>
            <a:r>
              <a:rPr>
                <a:solidFill>
                  <a:srgbClr val="40A070"/>
                </a:solidFill>
                <a:latin typeface="Courier"/>
              </a:rPr>
              <a:t>2</a:t>
            </a:r>
            <a:r>
              <a:rPr>
                <a:latin typeface="Courier"/>
              </a:rPr>
              <a:t>).mean())</a:t>
            </a:r>
            <a:br/>
            <a:r>
              <a:rPr>
                <a:latin typeface="Courier"/>
              </a:rPr>
              <a:t>    rows.append((depth, train, cv))</a:t>
            </a:r>
          </a:p>
          <a:p>
            <a:pPr lvl="0" indent="0" marL="0">
              <a:buNone/>
            </a:pPr>
            <a:r>
              <a:rPr/>
              <a:t>Plot both curves against depth.</a:t>
            </a:r>
          </a:p>
          <a:p>
            <a:pPr lvl="0" indent="0" marL="0">
              <a:buNone/>
            </a:pPr>
            <a:r>
              <a:rPr/>
              <a:t>Training error falls monotonically. Validation error falls, then turns. The turn is the bias–variance tradeoff, and it is the only one of the two curves that tells you anything.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Leakage, the practical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sklearn.pipeline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make_pipeline</a:t>
            </a:r>
            <a:br/>
            <a:r>
              <a:rPr b="1">
                <a:solidFill>
                  <a:srgbClr val="008000"/>
                </a:solidFill>
                <a:latin typeface="Courier"/>
              </a:rPr>
              <a:t>from</a:t>
            </a:r>
            <a:r>
              <a:rPr>
                <a:latin typeface="Courier"/>
              </a:rPr>
              <a:t> sklearn.preprocessing </a:t>
            </a:r>
            <a:r>
              <a:rPr b="1">
                <a:solidFill>
                  <a:srgbClr val="008000"/>
                </a:solidFill>
                <a:latin typeface="Courier"/>
              </a:rPr>
              <a:t>import</a:t>
            </a:r>
            <a:r>
              <a:rPr>
                <a:latin typeface="Courier"/>
              </a:rPr>
              <a:t> StandardScaler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WRONG — the scaler has already seen the test fold</a:t>
            </a:r>
            <a:br/>
            <a:r>
              <a:rPr>
                <a:latin typeface="Courier"/>
              </a:rPr>
              <a:t>X_scaled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StandardScaler().fit_transform(X)</a:t>
            </a:r>
            <a:br/>
            <a:r>
              <a:rPr>
                <a:latin typeface="Courier"/>
              </a:rPr>
              <a:t>cross_val_score(m, X_scaled,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  <a:br/>
            <a:br/>
            <a:r>
              <a:rPr i="1">
                <a:solidFill>
                  <a:srgbClr val="60A0B0"/>
                </a:solidFill>
                <a:latin typeface="Courier"/>
              </a:rPr>
              <a:t>#  RIGHT — every preprocessing step re-fits inside each fold</a:t>
            </a:r>
            <a:br/>
            <a:r>
              <a:rPr>
                <a:latin typeface="Courier"/>
              </a:rPr>
              <a:t>pipe 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 make_pipeline(StandardScaler(), m)</a:t>
            </a:r>
            <a:br/>
            <a:r>
              <a:rPr>
                <a:latin typeface="Courier"/>
              </a:rPr>
              <a:t>cross_val_score(pipe, X, y, cv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GroupKFold(</a:t>
            </a:r>
            <a:r>
              <a:rPr>
                <a:solidFill>
                  <a:srgbClr val="40A070"/>
                </a:solidFill>
                <a:latin typeface="Courier"/>
              </a:rPr>
              <a:t>5</a:t>
            </a:r>
            <a:r>
              <a:rPr>
                <a:latin typeface="Courier"/>
              </a:rPr>
              <a:t>), groups</a:t>
            </a:r>
            <a:r>
              <a:rPr>
                <a:solidFill>
                  <a:srgbClr val="666666"/>
                </a:solidFill>
                <a:latin typeface="Courier"/>
              </a:rPr>
              <a:t>=</a:t>
            </a:r>
            <a:r>
              <a:rPr>
                <a:latin typeface="Courier"/>
              </a:rPr>
              <a:t>d[</a:t>
            </a:r>
            <a:r>
              <a:rPr>
                <a:solidFill>
                  <a:srgbClr val="4070A0"/>
                </a:solidFill>
                <a:latin typeface="Courier"/>
              </a:rPr>
              <a:t>"geo"</a:t>
            </a:r>
            <a:r>
              <a:rPr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Any step that </a:t>
            </a:r>
            <a:r>
              <a:rPr b="1"/>
              <a:t>learns from the data</a:t>
            </a:r>
            <a:r>
              <a:rPr/>
              <a:t> — scaling, imputation, feature selection, target encoding — must live inside the pipeline. This is the single most common error in applied machine learning, and it always flatters you.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to report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Which split</a:t>
                </a:r>
                <a:r>
                  <a:rPr/>
                  <a:t> you used, and the sentence it licenses</a:t>
                </a:r>
              </a:p>
              <a:p>
                <a:pPr lvl="0"/>
                <a:r>
                  <a:rPr/>
                  <a:t>Validation error in the </a:t>
                </a:r>
                <a:r>
                  <a:rPr b="1"/>
                  <a:t>units of the outcome</a:t>
                </a:r>
                <a:r>
                  <a:rPr/>
                  <a:t>, not just </a:t>
                </a:r>
                <a14:m>
                  <m:oMath xmlns:m="http://schemas.openxmlformats.org/officeDocument/2006/math">
                    <m:sSup>
                      <m:e>
                        <m:r>
                          <m:t>R</m:t>
                        </m:r>
                      </m:e>
                      <m:sup>
                        <m:r>
                          <m:t>2</m:t>
                        </m:r>
                      </m:sup>
                    </m:sSup>
                  </m:oMath>
                </a14:m>
              </a:p>
              <a:p>
                <a:pPr lvl="0"/>
                <a:r>
                  <a:rPr/>
                  <a:t>The gap between training and validation error</a:t>
                </a:r>
              </a:p>
              <a:p>
                <a:pPr lvl="0"/>
                <a:r>
                  <a:rPr/>
                  <a:t>The gap between random and grouped CV — your leakage diagnostic</a:t>
                </a:r>
              </a:p>
              <a:p>
                <a:pPr lvl="0" indent="0" marL="0">
                  <a:buNone/>
                </a:pPr>
                <a:r>
                  <a:rPr/>
                  <a:t>Never report a number computed on data the model was fit on. If you tuned on it, it is training data, whatever you called the variable.</a:t>
                </a:r>
              </a:p>
            </p:txBody>
          </p:sp>
        </mc:Choice>
      </mc:AlternateContent>
    </p:spTree>
  </p:cSld>
</p:sld>
</file>

<file path=ppt/slides/slide17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 /><p:txBody><a:bodyPr /><a:lstStyle /><a:p><a:pPr lvl="0" indent="0" marL="0"><a:buNone /></a:pPr><a:r><a:rPr /><a:t>Common mistakes</a:t></a:r></a:p></p:txBody></p:sp><p:graphicFrame><p:nvGraphicFramePr><p:cNvPr id="6" name="Content Placeholder 5" /><p:cNvGraphicFramePr><a:graphicFrameLocks noGrp="1" /></p:cNvGraphicFramePr><p:nvPr><p:ph idx="1" /></p:nvPr></p:nvGraphicFramePr><p:xfrm><a:off x="457200" y="1193800" /><a:ext cx="8229600" cy="3390900" /></p:xfrm><a:graphic><a:graphicData uri="http://schemas.openxmlformats.org/drawingml/2006/table"><a:tbl><a:tblPr firstRow="1" bandRow="1"><a:tableStyleId>{5C22544A-7EE6-4342-B048-85BDC9FD1C3A}</a:tableStyleId></a:tblPr><a:tblGrid><a:gridCol w="4114800" /><a:gridCol w="4114800" /></a:tblGrid><a:tr h="0"><a:tc><a:txBody><a:bodyPr /><a:lstStyle /><a:p><a:pPr lvl="0" indent="0" marL="0"><a:buNone /></a:pPr><a:r><a:rPr /><a:t>Mistake</a:t></a:r></a:p></a:txBody><a:tcPr /></a:tc><a:tc><a:txBody><a:bodyPr /><a:lstStyle /><a:p><a:pPr lvl="0" indent="0" marL="0"><a:buNone /></a:pPr><a:r><a:rPr /><a:t>Consequence</a:t></a:r></a:p></a:txBody><a:tcPr /></a:tc></a:tr><a:tr h="0"><a:tc><a:txBody><a:bodyPr /><a:lstStyle /><a:p><a:pPr lvl="0" indent="0" marL="0"><a:buNone /></a:pPr><a:r><a:rPr /><a:t>Random K-fold on a panel</a:t></a:r></a:p></a:txBody></a:tc><a:tc><a:txBody><a:bodyPr /><a:lstStyle /><a:p><a:pPr lvl="0" indent="0" marL="0"><a:buNone /></a:pPr><a:r><a:rPr /><a:t>Optimistic by a wide margin</a:t></a:r></a:p></a:txBody></a:tc></a:tr><a:tr h="0"><a:tc><a:txBody><a:bodyPr /><a:lstStyle /><a:p><a:pPr lvl="0" indent="0" marL="0"><a:buNone /></a:pPr><a:r><a:rPr /><a:t>Scaling before splitting</a:t></a:r></a:p></a:txBody></a:tc><a:tc><a:txBody><a:bodyPr /><a:lstStyle /><a:p><a:pPr lvl="0" indent="0" marL="0"><a:buNone /></a:pPr><a:r><a:rPr /><a:t>Leakage; error understated</a:t></a:r></a:p></a:txBody></a:tc></a:tr><a:tr h="0"><a:tc><a:txBody><a:bodyPr /><a:lstStyle /><a:p><a:pPr lvl="0" indent="0" marL="0"><a:buNone /></a:pPr><a:r><a:rPr /><a:t>Tuning on the test set</a:t></a:r></a:p></a:txBody></a:tc><a:tc><a:txBody><a:bodyPr /><a:lstStyle /><a:p><a:pPr lvl="0" indent="0" marL="0"><a:buNone /></a:pPr><a:r><a:rPr /><a:t>The test set is now training data</a:t></a:r></a:p></a:txBody></a:tc></a:tr><a:tr h="0"><a:tc><a:txBody><a:bodyPr /><a:lstStyle /><a:p><a:pPr lvl="0" indent="0" marL="0"><a:buNone /></a:pPr><a:r><a:rPr /><a:t>Reporting </a:t></a:r><a14:m><m:oMath xmlns:m="http://schemas.openxmlformats.org/officeDocument/2006/math"><m:sSup><m:e><m:r><m:t>R</m:t></m:r></m:e><m:sup><m:r><m:t>2</m:t></m:r></m:sup></m:sSup></m:oMath></a14:m><a:r><a:rPr /><a:t> only</a:t></a:r></a:p></a:txBody></a:tc><a:tc><a:txBody><a:bodyPr /><a:lstStyle /><a:p><a:pPr lvl="0" indent="0" marL="0"><a:buNone /></a:pPr><a:r><a:rPr /><a:t>No sense of magnitude</a:t></a:r></a:p></a:txBody></a:tc></a:tr><a:tr h="0"><a:tc><a:txBody><a:bodyPr /><a:lstStyle /><a:p><a:pPr lvl="0" indent="0" marL="0"><a:buNone /></a:pPr><a:r><a:rPr /><a:t>One split, one number</a:t></a:r></a:p></a:txBody></a:tc><a:tc><a:txBody><a:bodyPr /><a:lstStyle /><a:p><a:pPr lvl="0" indent="0" marL="0"><a:buNone /></a:pPr><a:r><a:rPr /><a:t>No sense of variability</a:t></a:r></a:p></a:txBody></a:tc></a:tr></a:tbl></a:graphicData></a:graphic></p:graphicFrame></p:spTree></p:cSld>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the lab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Work through </a:t>
            </a:r>
            <a:r>
              <a:rPr>
                <a:hlinkClick r:id="rId2"/>
                <a:latin typeface="Courier"/>
              </a:rPr>
              <a:t>02-lab/README.md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Reproduce the three CV schemes and tabulate the errors</a:t>
            </a:r>
          </a:p>
          <a:p>
            <a:pPr lvl="0" indent="-342900" marL="342900">
              <a:buAutoNum type="arabicPeriod"/>
            </a:pPr>
            <a:r>
              <a:rPr/>
              <a:t>Explain, in writing, why they differ </a:t>
            </a:r>
            <a:r>
              <a:rPr b="1"/>
              <a:t>in this direction</a:t>
            </a:r>
          </a:p>
          <a:p>
            <a:pPr lvl="0" indent="-342900" marL="342900">
              <a:buAutoNum type="arabicPeriod"/>
            </a:pPr>
            <a:r>
              <a:rPr/>
              <a:t>Draw the depth curve and mark where variance takes over</a:t>
            </a:r>
          </a:p>
          <a:p>
            <a:pPr lvl="0" indent="-342900" marL="342900">
              <a:buAutoNum type="arabicPeriod"/>
            </a:pPr>
            <a:r>
              <a:rPr/>
              <a:t>Three sentences, naming your split and what it entitles you to claim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Bias, Variance, and Honest Validation</dc:title>
  <dc:creator>Thierry Warin</dc:creator>
  <cp:keywords/>
  <dcterms:created xsi:type="dcterms:W3CDTF">2026-08-18T17:01:24Z</dcterms:created>
  <dcterms:modified xsi:type="dcterms:W3CDTF">2026-08-18T17:01:24Z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date">
    <vt:lpwstr>18 August 2026</vt:lpwstr>
  </property>
  <property fmtid="{D5CDD505-2E9C-101B-9397-08002B2CF9AE}" pid="8" name="date-format">
    <vt:lpwstr>D MMMM YYYY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institute">
    <vt:lpwstr>HEC Montréal</vt:lpwstr>
  </property>
  <property fmtid="{D5CDD505-2E9C-101B-9397-08002B2CF9AE}" pid="13" name="institutes">
    <vt:lpwstr/>
  </property>
  <property fmtid="{D5CDD505-2E9C-101B-9397-08002B2CF9AE}" pid="14" name="labels">
    <vt:lpwstr/>
  </property>
  <property fmtid="{D5CDD505-2E9C-101B-9397-08002B2CF9AE}" pid="15" name="subtitle">
    <vt:lpwstr>Session 04 · Why random K-fold is the wrong answer for a panel</vt:lpwstr>
  </property>
  <property fmtid="{D5CDD505-2E9C-101B-9397-08002B2CF9AE}" pid="16" name="toc-title">
    <vt:lpwstr>Table of contents</vt:lpwstr>
  </property>
</Properties>
</file>