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practic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Bias–Variance, Overfitting, Cross-Validation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04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model fits the past perfectly. Why is that bad news?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decomposition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In-sample error is optimistic — by how much?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Cross-validation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Three ways to get cross-validation wrong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and notation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This is the hinge of the course. After today, in-sample fit stops being evidence.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4.1 The decomposition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Expected squared error at a test point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Fix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; let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f</m:t>
                        </m:r>
                      </m:e>
                    </m:acc>
                  </m:oMath>
                </a14:m>
                <a:r>
                  <a:rPr/>
                  <a:t> be estimated on a random training sample. Averaging over training samples and over the new noise draw: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y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Var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variance</m:t>
                          </m:r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rPr>
                                  <m:sty m:val="p"/>
                                  <m:scr m:val="double-struck"/>
                                </m:rPr>
                                <m:t>E</m:t>
                              </m:r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f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sSup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bias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sSup>
                                <m:e>
                                  <m:r>
                                    <m:t>σ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irreducible</m:t>
                          </m:r>
                        </m:lim>
                      </m:limLow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derivation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Write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and add and subtract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f</m:t>
                            </m:r>
                          </m:e>
                        </m:acc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/>
                  <a:t> inside the square.</a:t>
                </a:r>
              </a:p>
              <a:p>
                <a:pPr lvl="0" indent="0" marL="0">
                  <a:buNone/>
                </a:pPr>
                <a:r>
                  <a:rPr/>
                  <a:t>Three cross terms vanish:</a:t>
                </a:r>
              </a:p>
              <a:p>
                <a:pPr lvl="0"/>
                <a:r>
                  <a:rPr/>
                  <a:t>one because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sSub>
                          <m:e>
                            <m:r>
                              <m:t>ε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independent of the training sample</a:t>
                </a:r>
              </a:p>
              <a:p>
                <a:pPr lvl="0"/>
                <a:r>
                  <a:rPr/>
                  <a:t>two because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f</m:t>
                            </m:r>
                          </m:e>
                        </m:acc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0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m:t>−</m:t>
                        </m:r>
                        <m:r>
                          <m:rPr>
                            <m:sty m:val="p"/>
                            <m:scr m:val="double-struck"/>
                          </m:rP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acc>
                              <m:accPr>
                                <m:chr m:val="̂"/>
                              </m:accPr>
                              <m:e>
                                <m:r>
                                  <m:t>f</m:t>
                                </m:r>
                              </m:e>
                            </m:acc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0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◼</m:t>
                    </m:r>
                  </m:oMath>
                </a14:m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economics of this equation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Bias</a:t>
            </a:r>
            <a:r>
              <a:rPr/>
              <a:t> is what you get for imposing structure you believe in.</a:t>
            </a:r>
          </a:p>
          <a:p>
            <a:pPr lvl="0"/>
            <a:r>
              <a:rPr b="1"/>
              <a:t>Variance</a:t>
            </a:r>
            <a:r>
              <a:rPr/>
              <a:t> is what you pay for letting the data speak.</a:t>
            </a:r>
          </a:p>
          <a:p>
            <a:pPr lvl="0" indent="0" marL="0">
              <a:buNone/>
            </a:pPr>
            <a:r>
              <a:rPr/>
              <a:t>Flexibility trades one for the other, and there is generally an </a:t>
            </a:r>
            <a:r>
              <a:rPr b="1"/>
              <a:t>interior optimum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rest of the course is a catalogue of ways to sit at that optimum deliberately rather than by accident.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4.2 Optimism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optimistic is training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err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y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f</m:t>
                                    </m:r>
                                  </m:e>
                                </m:acc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m:t>i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/>
                  <a:t> be training error and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Err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in</m:t>
                        </m:r>
                      </m:sub>
                    </m:sSub>
                  </m:oMath>
                </a14:m>
                <a:r>
                  <a:rPr/>
                  <a:t> the error on new outcomes at the </a:t>
                </a:r>
                <a:r>
                  <a:rPr i="1"/>
                  <a:t>same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.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r>
                                <m:rPr>
                                  <m:sty m:val="p"/>
                                </m:rPr>
                                <m:t>Err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in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err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Cov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that quantity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optimism</a:t>
                </a:r>
                <a:r>
                  <a:rPr/>
                  <a:t> is exactly twice the average covariance between a fitted value and its own outcome — </a:t>
                </a:r>
                <a:r>
                  <a:rPr i="1"/>
                  <a:t>the degree to which the model chases its own training labels.</a:t>
                </a:r>
              </a:p>
              <a:p>
                <a:pPr lvl="0" indent="0" marL="0">
                  <a:buNone/>
                </a:pPr>
                <a:r>
                  <a:rPr/>
                  <a:t>For a linear fit with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parameters that covariance sum equals </a:t>
                </a:r>
                <a14:m>
                  <m:oMath xmlns:m="http://schemas.openxmlformats.org/officeDocument/2006/math">
                    <m:r>
                      <m:t>p</m:t>
                    </m:r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 giving optimism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t>p</m:t>
                          </m:r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Which motivates the classical criteria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err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t>p</m:t>
                          </m:r>
                          <m:s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σ</m:t>
                                  </m:r>
                                </m:e>
                              </m:acc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log</m:t>
                      </m:r>
                      <m:r>
                        <m:rPr>
                          <m:sty m:val="p"/>
                          <m:scr m:val="script"/>
                        </m:rPr>
                        <m:t>L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t>p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</m:rPr>
                        <m:t>B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log</m:t>
                      </m:r>
                      <m:r>
                        <m:rPr>
                          <m:sty m:val="p"/>
                          <m:scr m:val="script"/>
                        </m:rPr>
                        <m:t>L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log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BIC penalises more heavily once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&gt;</m:t>
                    </m:r>
                    <m:sSup>
                      <m:e>
                        <m:r>
                          <m:t>e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≈</m:t>
                    </m:r>
                    <m:r>
                      <m:t>7.4</m:t>
                    </m:r>
                  </m:oMath>
                </a14:m>
                <a:r>
                  <a:rPr/>
                  <a:t>. It is </a:t>
                </a:r>
                <a:r>
                  <a:rPr b="1"/>
                  <a:t>consistent for model selection</a:t>
                </a:r>
                <a:r>
                  <a:rPr/>
                  <a:t>; AIC is </a:t>
                </a:r>
                <a:r>
                  <a:rPr b="1"/>
                  <a:t>efficient for prediction</a:t>
                </a:r>
                <a:r>
                  <a:rPr/>
                  <a:t>. They answer different questions.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Effective degrees of freedom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d</m:t>
                      </m:r>
                      <m:r>
                        <m:rPr>
                          <m:sty m:val="p"/>
                        </m:rP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Cov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generalises “number of parameters” to methods where counting parameters makes no sense — which we need from Session 05 onward, where a penalty makes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meaningless.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4.3 Cross-validation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estimator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Partition into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folds; for each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fit on the complement and predict the held-out fold: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</m:rPr>
                            <m:t>C</m:t>
                          </m:r>
                          <m:r>
                            <m:rPr>
                              <m:sty m:val="p"/>
                            </m:rPr>
                            <m:t>V</m:t>
                          </m:r>
                        </m:e>
                        <m:sub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K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rPr>
                                      <m:sty m:val="p"/>
                                      <m:scr m:val="script"/>
                                    </m:rPr>
                                    <m:t>F</m:t>
                                  </m:r>
                                </m:e>
                                <m:sub>
                                  <m:r>
                                    <m:t>k</m:t>
                                  </m:r>
                                </m:sub>
                              </m:sSub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L</m:t>
                              </m:r>
                            </m:e>
                          </m:nary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f</m:t>
                                  </m:r>
                                </m:e>
                              </m:acc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k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n</m:t>
                    </m:r>
                  </m:oMath>
                </a14:m>
                <a:r>
                  <a:rPr/>
                  <a:t> — leave-one-out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Nearly </a:t>
                </a:r>
                <a:r>
                  <a:rPr b="1"/>
                  <a:t>unbiased</a:t>
                </a:r>
                <a:r>
                  <a:rPr/>
                  <a:t> 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Err</m:t>
                    </m:r>
                  </m:oMath>
                </a14:m>
              </a:p>
              <a:p>
                <a:pPr lvl="0"/>
                <a:r>
                  <a:rPr b="1"/>
                  <a:t>High variance</a:t>
                </a:r>
                <a:r>
                  <a:rPr/>
                  <a:t> — the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training sets are almost identical, so the errors are highly correlated</a:t>
                </a:r>
              </a:p>
              <a:p>
                <a:pPr lvl="0"/>
                <a:r>
                  <a:rPr/>
                  <a:t>Usually expensive</a:t>
                </a:r>
              </a:p>
              <a:p>
                <a:pPr lvl="0" indent="0" marL="0">
                  <a:buNone/>
                </a:pPr>
                <a:r>
                  <a:rPr/>
                  <a:t>For linear smoothers it is free once you have the hat matrix: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</m:rPr>
                            <m:t>C</m:t>
                          </m:r>
                          <m:r>
                            <m:rPr>
                              <m:sty m:val="p"/>
                            </m:rPr>
                            <m:t>V</m:t>
                          </m:r>
                        </m:e>
                        <m: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f>
                                    <m:fPr>
                                      <m:type m:val="bar"/>
                                    </m:fPr>
                                    <m:num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acc>
                                            <m:accPr>
                                              <m:chr m:val="̂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leverage from Session 02. The pieces accumulate.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10</m:t>
                    </m:r>
                  </m:oMath>
                </a14:m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compromise:</a:t>
            </a:r>
          </a:p>
          <a:p>
            <a:pPr lvl="0"/>
            <a:r>
              <a:rPr/>
              <a:t>some </a:t>
            </a:r>
            <a:r>
              <a:rPr b="1"/>
              <a:t>upward bias</a:t>
            </a:r>
            <a:r>
              <a:rPr/>
              <a:t> — each model trains on less data</a:t>
            </a:r>
          </a:p>
          <a:p>
            <a:pPr lvl="0"/>
            <a:r>
              <a:rPr/>
              <a:t>much </a:t>
            </a:r>
            <a:r>
              <a:rPr b="1"/>
              <a:t>lower variance</a:t>
            </a:r>
          </a:p>
          <a:p>
            <a:pPr lvl="0" indent="0" marL="0">
              <a:buNone/>
            </a:pPr>
            <a:r>
              <a:rPr/>
              <a:t>With 30 countries, </a:t>
            </a:r>
            <a:r>
              <a:rPr>
                <a:latin typeface="Courier"/>
              </a:rPr>
              <a:t>GroupKFold(5)</a:t>
            </a:r>
            <a:r>
              <a:rPr/>
              <a:t> leaves six countries out per fold. Fewer folds leaves too little to train on; more makes each estimate noisy.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4.4 Three ways to get it wrong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Leakage through 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step using the outcome or the </a:t>
            </a:r>
            <a:r>
              <a:rPr b="1"/>
              <a:t>full</a:t>
            </a:r>
            <a:r>
              <a:rPr/>
              <a:t> feature distribution — standardisation, imputation, feature selection, target encoding — must be fitted </a:t>
            </a:r>
            <a:r>
              <a:rPr b="1"/>
              <a:t>inside</a:t>
            </a:r>
            <a:r>
              <a:rPr/>
              <a:t> each training fold.</a:t>
            </a:r>
          </a:p>
          <a:p>
            <a:pPr lvl="0" indent="0" marL="0">
              <a:buNone/>
            </a:pPr>
            <a:r>
              <a:rPr/>
              <a:t>Use a </a:t>
            </a:r>
            <a:r>
              <a:rPr>
                <a:latin typeface="Courier"/>
              </a:rPr>
              <a:t>Pipeline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single most common serious error in applied machine learning papers. It always flatters you.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Leakage through selection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Choosing a model by CV and then reporting </a:t>
            </a:r>
            <a:r>
              <a:rPr b="1"/>
              <a:t>that same CV error</a:t>
            </a:r>
            <a:r>
              <a:rPr/>
              <a:t> as its performance is optimistic.</a:t>
            </a:r>
          </a:p>
          <a:p>
            <a:pPr lvl="0" indent="0" marL="0">
              <a:buNone/>
            </a:pPr>
            <a:r>
              <a:rPr/>
              <a:t>You need a </a:t>
            </a:r>
            <a:r>
              <a:rPr b="1"/>
              <a:t>nested</a:t>
            </a:r>
            <a:r>
              <a:rPr/>
              <a:t> design:</a:t>
            </a:r>
          </a:p>
          <a:p>
            <a:pPr lvl="0"/>
            <a:r>
              <a:rPr/>
              <a:t>an </a:t>
            </a:r>
            <a:r>
              <a:rPr b="1"/>
              <a:t>outer</a:t>
            </a:r>
            <a:r>
              <a:rPr/>
              <a:t> loop for evaluation</a:t>
            </a:r>
          </a:p>
          <a:p>
            <a:pPr lvl="0"/>
            <a:r>
              <a:rPr/>
              <a:t>an </a:t>
            </a:r>
            <a:r>
              <a:rPr b="1"/>
              <a:t>inner</a:t>
            </a:r>
            <a:r>
              <a:rPr/>
              <a:t> loop for tuning</a:t>
            </a:r>
          </a:p>
          <a:p>
            <a:pPr lvl="0" indent="0" marL="0">
              <a:buNone/>
            </a:pPr>
            <a:r>
              <a:rPr/>
              <a:t>Reporting the best inner-loop score is the same error as reporting training error, one level up.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 Ignoring dependence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 folds assume exchangeability. Economic data rarely are.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Time series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rolling-origin / expanding-window. Never train on the future.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Panel or clustered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GroupKFold</a:t>
                      </a:r>
                      <a:r>
                        <a:rPr/>
                        <a:t> — all observations of a unit stay together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blocked CV — neighbours are correlated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that costs on this panel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Predicting </a:t>
            </a:r>
            <a:r>
              <a:rPr>
                <a:latin typeface="Courier"/>
              </a:rPr>
              <a:t>gdp_pc_eur</a:t>
            </a:r>
            <a:r>
              <a:rPr/>
              <a:t> from the other levels, 30 countries × 15 years: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RMSE (EUR)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 K-fold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~3,200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GroupKFold by country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~4,900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Grouped error is about </a:t>
            </a:r>
            <a:r>
              <a:rPr b="1"/>
              <a:t>1.5× larger</a:t>
            </a:r>
            <a:r>
              <a:rPr/>
              <a:t>. Publish the 3,200 and you have overstated the model by half without doing anything a referee would call wrong.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practice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Reproduce the three CV schemes on your project and tabulate the errors</a:t>
            </a:r>
          </a:p>
          <a:p>
            <a:pPr lvl="0" indent="-342900" marL="342900">
              <a:buAutoNum type="arabicPeriod"/>
            </a:pPr>
            <a:r>
              <a:rPr/>
              <a:t>Explain, in writing, why they differ </a:t>
            </a:r>
            <a:r>
              <a:rPr b="1"/>
              <a:t>in that direction</a:t>
            </a:r>
          </a:p>
          <a:p>
            <a:pPr lvl="0" indent="-342900" marL="342900">
              <a:buAutoNum type="arabicPeriod"/>
            </a:pPr>
            <a:r>
              <a:rPr/>
              <a:t>Draw the flexibility curve and mark where variance takes over</a:t>
            </a:r>
          </a:p>
          <a:p>
            <a:pPr lvl="0" indent="-342900" marL="342900">
              <a:buAutoNum type="arabicPeriod"/>
            </a:pPr>
            <a:r>
              <a:rPr/>
              <a:t>Build one deliberately leaking pipeline, then fix it, and report both numbers</a:t>
            </a:r>
          </a:p>
          <a:p>
            <a:pPr lvl="0" indent="0" marL="0">
              <a:buNone/>
            </a:pPr>
            <a:r>
              <a:rPr/>
              <a:t>The gap between random and grouped CV </a:t>
            </a:r>
            <a:r>
              <a:rPr b="1"/>
              <a:t>is</a:t>
            </a:r>
            <a:r>
              <a:rPr/>
              <a:t> your leakage diagnostic. Report it.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One slide. Three sentences.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What I did</a:t>
                </a:r>
                <a:r>
                  <a:rPr/>
                  <a:t> — the split, and the sentence it licenses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The number</a:t>
                </a:r>
                <a:r>
                  <a:rPr/>
                  <a:t> — error in the units of the outcome, not </a:t>
                </a: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The catch</a:t>
                </a:r>
                <a:r>
                  <a:rPr/>
                  <a:t> — what the split still cannot tell you</a:t>
                </a:r>
              </a:p>
              <a:p>
                <a:pPr lvl="0" indent="0" marL="0">
                  <a:buNone/>
                </a:pPr>
                <a:r>
                  <a:rPr/>
                  <a:t>Full brief: </a:t>
                </a:r>
                <a:r>
                  <a:rPr>
                    <a:hlinkClick r:id="rId2"/>
                    <a:latin typeface="Courier"/>
                  </a:rPr>
                  <a:t>02-practice/README.md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Bias–Variance, Overfitting, Cross-Validation</dc:title>
  <dc:creator>Thierry Warin</dc:creator>
  <cp:keywords/>
  <dcterms:created xsi:type="dcterms:W3CDTF">2026-08-20T20:33:02Z</dcterms:created>
  <dcterms:modified xsi:type="dcterms:W3CDTF">2026-08-20T20:33:02Z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04 · Lecture, first half</vt:lpwstr>
  </property>
  <property fmtid="{D5CDD505-2E9C-101B-9397-08002B2CF9AE}" pid="16" name="toc-title">
    <vt:lpwstr>Table of contents</vt:lpwstr>
  </property>
</Properties>
</file>