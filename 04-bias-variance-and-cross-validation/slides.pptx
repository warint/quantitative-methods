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1" Type="http://schemas.openxmlformats.org/officeDocument/2006/relationships/viewProps" Target="viewProps.xml" /><Relationship Id="rId4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3" Type="http://schemas.openxmlformats.org/officeDocument/2006/relationships/tableStyles" Target="tableStyles.xml" /><Relationship Id="rId4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 anchor="t"/>
          <a:lstStyle>
            <a:lvl1pPr algn="l">
              <a:defRPr sz="2800" b="1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3250000"/>
            <a:ext cx="7772400" cy="70000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2-practice/README.md" TargetMode="External" /><Relationship Id="rId3" Type="http://schemas.openxmlformats.org/officeDocument/2006/relationships/hyperlink" Target="01-lecture/README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Bias–Variance, Overfitting, Cross-Validation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04 · Lecture, first half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21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Your model fits the past perfectly. Why is that bad news?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Outline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Where we are, and what this adds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decomposition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Seeing it happen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optimistic is training error?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Cross-validation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Three ways to get it wrong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costs on this panel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Key takeaways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Derive the </a:t>
            </a:r>
            <a:r>
              <a:rPr b="1"/>
              <a:t>bias–variance–noise</a:t>
            </a:r>
            <a:r>
              <a:rPr/>
              <a:t> decomposition and name what each term is</a:t>
            </a:r>
          </a:p>
          <a:p>
            <a:pPr lvl="0"/>
            <a:r>
              <a:rPr/>
              <a:t>Explain why training error is </a:t>
            </a:r>
            <a:r>
              <a:rPr b="1"/>
              <a:t>optimistic</a:t>
            </a:r>
            <a:r>
              <a:rPr/>
              <a:t>, and by exactly how much</a:t>
            </a:r>
          </a:p>
          <a:p>
            <a:pPr lvl="0"/>
            <a:r>
              <a:rPr/>
              <a:t>Choose a </a:t>
            </a:r>
            <a:r>
              <a:rPr b="1"/>
              <a:t>CV scheme that matches the claim</a:t>
            </a:r>
            <a:r>
              <a:rPr/>
              <a:t> you intend to make</a:t>
            </a:r>
          </a:p>
          <a:p>
            <a:pPr lvl="0"/>
            <a:r>
              <a:rPr/>
              <a:t>Recognise the three leakages: preprocessing, selection, dependence</a:t>
            </a:r>
          </a:p>
          <a:p>
            <a:pPr lvl="0"/>
            <a:r>
              <a:rPr/>
              <a:t>Quantify, on real data, what the wrong split costs you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 · What this adds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hinge of the course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claim it let you make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“Here is the least-squares fit, and here is what it optimises”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“Here is an honest interval around it”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are statements about </a:t>
            </a:r>
            <a:r>
              <a:rPr b="1"/>
              <a:t>the data you have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Neither says anything about data you have not seen. And every use of a model — forecasting, targeting, deciding — is about data you have not seen.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today adds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After today, in-sample fit stops being evidence.</a:t>
            </a:r>
          </a:p>
          <a:p>
            <a:pPr lvl="0"/>
            <a:r>
              <a:rPr/>
              <a:t>A vocabulary for </a:t>
            </a:r>
            <a:r>
              <a:rPr i="1"/>
              <a:t>why</a:t>
            </a:r>
            <a:r>
              <a:rPr/>
              <a:t> a flexible model can be worse: </a:t>
            </a:r>
            <a:r>
              <a:rPr b="1"/>
              <a:t>bias</a:t>
            </a:r>
            <a:r>
              <a:rPr/>
              <a:t>, </a:t>
            </a:r>
            <a:r>
              <a:rPr b="1"/>
              <a:t>variance</a:t>
            </a:r>
            <a:r>
              <a:rPr/>
              <a:t>, </a:t>
            </a:r>
            <a:r>
              <a:rPr b="1"/>
              <a:t>irreducible noise</a:t>
            </a:r>
          </a:p>
          <a:p>
            <a:pPr lvl="0"/>
            <a:r>
              <a:rPr/>
              <a:t>A number for how much training error flatters you</a:t>
            </a:r>
          </a:p>
          <a:p>
            <a:pPr lvl="0"/>
            <a:r>
              <a:rPr/>
              <a:t>A procedure — cross-validation — and the three ways it is routinely botched</a:t>
            </a:r>
          </a:p>
          <a:p>
            <a:pPr lvl="0" indent="0" marL="0">
              <a:buNone/>
            </a:pPr>
            <a:r>
              <a:rPr/>
              <a:t>Everything from Session 05 onward is a way of sitting at the bias–variance optimum </a:t>
            </a:r>
            <a:r>
              <a:rPr b="1"/>
              <a:t>on purpose</a:t>
            </a:r>
            <a:r>
              <a:rPr/>
              <a:t> rather than by accident.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2 · The decomposition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Expected squared error at a test point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y</m:t>
                                      </m:r>
                                    </m:e>
                                    <m:sub>
                                      <m:r>
                                        <m:t>0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̂"/>
                                    </m:accPr>
                                    <m:e>
                                      <m:r>
                                        <m:t>f</m:t>
                                      </m:r>
                                    </m:e>
                                  </m:acc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limLow>
                        <m:e>
                          <m:limLow>
                            <m:e>
                              <m:r>
                                <m:rPr>
                                  <m:sty m:val="p"/>
                                </m:rPr>
                                <m:t>V</m:t>
                              </m:r>
                              <m:r>
                                <m:rPr>
                                  <m:sty m:val="p"/>
                                </m:rPr>
                                <m:t>a</m:t>
                              </m:r>
                              <m:r>
                                <m:rPr>
                                  <m:sty m:val="p"/>
                                </m:rPr>
                                <m:t>r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acc>
                                    <m:accPr>
                                      <m:chr m:val="̂"/>
                                    </m:accPr>
                                    <m:e>
                                      <m:r>
                                        <m:t>f</m:t>
                                      </m:r>
                                    </m:e>
                                  </m:acc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r>
                            <m:rPr>
                              <m:nor/>
                              <m:sty m:val="p"/>
                            </m:rPr>
                            <m:t>variance</m:t>
                          </m:r>
                        </m:lim>
                      </m:limLow>
                      <m:r>
                        <m:rPr>
                          <m:sty m:val="p"/>
                        </m:rPr>
                        <m:t>+</m:t>
                      </m:r>
                      <m:limLow>
                        <m:e>
                          <m:limLow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r>
                                <m:rPr>
                                  <m:sty m:val="p"/>
                                  <m:scr m:val="double-struck"/>
                                </m:rPr>
                                <m:t>E</m:t>
                              </m:r>
                              <m:d>
                                <m:dPr>
                                  <m:begChr m:val="["/>
                                  <m:sepChr m:val=""/>
                                  <m:endChr m:val="]"/>
                                  <m:grow/>
                                </m:dPr>
                                <m:e>
                                  <m:acc>
                                    <m:accPr>
                                      <m:chr m:val="̂"/>
                                    </m:accPr>
                                    <m:e>
                                      <m:r>
                                        <m:t>f</m:t>
                                      </m:r>
                                    </m:e>
                                  </m:acc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f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0</m:t>
                                      </m:r>
                                    </m:sub>
                                  </m:sSub>
                                </m:e>
                              </m:d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sSup>
                            <m:e>
                              <m:r>
                                <m:rPr>
                                  <m:nor/>
                                  <m:sty m:val="p"/>
                                </m:rPr>
                                <m:t>bias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lim>
                      </m:limLow>
                      <m:r>
                        <m:rPr>
                          <m:sty m:val="p"/>
                        </m:rPr>
                        <m:t>+</m:t>
                      </m:r>
                      <m:limLow>
                        <m:e>
                          <m:limLow>
                            <m:e>
                              <m:sSup>
                                <m:e>
                                  <m:r>
                                    <m:t>σ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r>
                            <m:rPr>
                              <m:nor/>
                              <m:sty m:val="p"/>
                            </m:rPr>
                            <m:t>irreducible</m:t>
                          </m:r>
                        </m:lim>
                      </m:limLow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Write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f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0</m:t>
                            </m:r>
                          </m:sub>
                        </m:sSub>
                      </m:e>
                    </m:d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, add and subtract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double-struck"/>
                      </m:rP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f</m:t>
                            </m:r>
                          </m:e>
                        </m:acc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0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/>
                  <a:t> inside the square, and three cross terms vanish. Derivation in the notes, §4.1.</a:t>
                </a:r>
              </a:p>
            </p:txBody>
          </p:sp>
        </mc:Choice>
      </mc:AlternateContent>
    </p:spTree>
  </p:cSld>
</p:sld>
</file>

<file path=ppt/slides/slide11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What each term means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2743200" /><a:gridCol w="2743200" /><a:gridCol w="2743200" /></a:tblGrid><a:tr h="0"><a:tc><a:txBody><a:bodyPr /><a:lstStyle /><a:p><a:pPr lvl="0" indent="0" marL="0"><a:buNone /></a:pPr><a:r><a:rPr /><a:t>Term</a:t></a:r></a:p></a:txBody><a:tcPr /></a:tc><a:tc><a:txBody><a:bodyPr /><a:lstStyle /><a:p><a:pPr lvl="0" indent="0" marL="0"><a:buNone /></a:pPr><a:r><a:rPr /><a:t>In words</a:t></a:r></a:p></a:txBody><a:tcPr /></a:tc><a:tc><a:txBody><a:bodyPr /><a:lstStyle /><a:p><a:pPr lvl="0" indent="0" marL="0"><a:buNone /></a:pPr><a:r><a:rPr /><a:t>Falls when you…</a:t></a:r></a:p></a:txBody><a:tcPr /></a:tc></a:tr><a:tr h="0"><a:tc><a:txBody><a:bodyPr /><a:lstStyle /><a:p><a:pPr lvl="0" indent="0" marL="0"><a:buNone /></a:pPr><a:r><a:rPr b="1" /><a:t>Bias²</a:t></a:r></a:p></a:txBody></a:tc><a:tc><a:txBody><a:bodyPr /><a:lstStyle /><a:p><a:pPr lvl="0" indent="0" marL="0"><a:buNone /></a:pPr><a:r><a:rPr /><a:t>the structure you imposed is wrong</a:t></a:r></a:p></a:txBody></a:tc><a:tc><a:txBody><a:bodyPr /><a:lstStyle /><a:p><a:pPr lvl="0" indent="0" marL="0"><a:buNone /></a:pPr><a:r><a:rPr /><a:t>add flexibility</a:t></a:r></a:p></a:txBody></a:tc></a:tr><a:tr h="0"><a:tc><a:txBody><a:bodyPr /><a:lstStyle /><a:p><a:pPr lvl="0" indent="0" marL="0"><a:buNone /></a:pPr><a:r><a:rPr b="1" /><a:t>Variance</a:t></a:r></a:p></a:txBody></a:tc><a:tc><a:txBody><a:bodyPr /><a:lstStyle /><a:p><a:pPr lvl="0" indent="0" marL="0"><a:buNone /></a:pPr><a:r><a:rPr /><a:t>the fit chases this particular sample</a:t></a:r></a:p></a:txBody></a:tc><a:tc><a:txBody><a:bodyPr /><a:lstStyle /><a:p><a:pPr lvl="0" indent="0" marL="0"><a:buNone /></a:pPr><a:r><a:rPr /><a:t>remove flexibility</a:t></a:r></a:p></a:txBody></a:tc></a:tr><a:tr h="0"><a:tc><a:txBody><a:bodyPr /><a:lstStyle /><a:p><a:pPr lvl="0" indent="0" marL="0"><a:buNone /></a:pPr><a14:m><m:oMath xmlns:m="http://schemas.openxmlformats.org/officeDocument/2006/math"><m:sSup><m:e><m:r><m:t>σ</m:t></m:r></m:e><m:sup><m:r><m:t>2</m:t></m:r></m:sup></m:sSup></m:oMath></a14:m></a:p></a:txBody></a:tc><a:tc><a:txBody><a:bodyPr /><a:lstStyle /><a:p><a:pPr lvl="0" indent="0" marL="0"><a:buNone /></a:pPr><a:r><a:rPr /><a:t>what the predictors do not observe</a:t></a:r></a:p></a:txBody></a:tc><a:tc><a:txBody><a:bodyPr /><a:lstStyle /><a:p><a:pPr lvl="0" indent="0" marL="0"><a:buNone /></a:pPr><a:r><a:rPr i="1" /><a:t>never</a:t></a:r></a:p></a:txBody></a:tc></a:tr></a:tbl></a:graphicData></a:graphic></p:graphicFrame></p:spTree></p:cSld>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is not a defect of your method. </a:t>
                </a:r>
                <a:r>
                  <a:rPr b="1"/>
                  <a:t>Reporting a validation error below it means you have leaked, not learned.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3 · Seeing it happen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three curves</a:t>
            </a:r>
          </a:p>
        </p:txBody>
      </p:sp>
      <p:pic>
        <p:nvPicPr>
          <p:cNvPr descr="slides_files/figure-pptx/cell-3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178300" y="1193800"/>
            <a:ext cx="787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Bias falls monotonically. Variance rises. Their sum has an </a:t>
            </a:r>
            <a:r>
              <a:rPr b="1"/>
              <a:t>interior minimum</a:t>
            </a:r>
            <a:r>
              <a:rPr/>
              <a:t> — and that minimum is what every method after today is trying to find.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same thing, as fits</a:t>
            </a:r>
          </a:p>
        </p:txBody>
      </p:sp>
      <p:pic>
        <p:nvPicPr>
          <p:cNvPr descr="slides_files/figure-pptx/cell-4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49400"/>
            <a:ext cx="8229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Dashed line: the truth. Blue: the fit. The right-hand panel passes closer to every training point and is further from the truth almost everywhere.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4 · Optimism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Training error is biased, and by a known amount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With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e</m:t>
                    </m:r>
                    <m:r>
                      <m:rPr>
                        <m:sty m:val="p"/>
                      </m:rPr>
                      <m:t>r</m:t>
                    </m:r>
                    <m:r>
                      <m:rPr>
                        <m:sty m:val="p"/>
                      </m:rPr>
                      <m:t>r</m:t>
                    </m:r>
                  </m:oMath>
                </a14:m>
                <a:r>
                  <a:rPr/>
                  <a:t> the training error and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m:t>E</m:t>
                        </m:r>
                        <m:r>
                          <m:rPr>
                            <m:sty m:val="p"/>
                          </m:rPr>
                          <m:t>r</m:t>
                        </m:r>
                        <m:r>
                          <m:rPr>
                            <m:sty m:val="p"/>
                          </m:rPr>
                          <m:t>r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in</m:t>
                        </m:r>
                      </m:sub>
                    </m:sSub>
                  </m:oMath>
                </a14:m>
                <a:r>
                  <a:rPr/>
                  <a:t> the error on new outcomes at the same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b>
                            <m:e>
                              <m:r>
                                <m:rPr>
                                  <m:sty m:val="p"/>
                                </m:rP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r</m:t>
                              </m:r>
                              <m:r>
                                <m:rPr>
                                  <m:sty m:val="p"/>
                                </m:rPr>
                                <m:t>r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in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e</m:t>
                          </m:r>
                          <m:r>
                            <m:rPr>
                              <m:sty m:val="p"/>
                            </m:rPr>
                            <m:t>r</m:t>
                          </m:r>
                          <m:r>
                            <m:rPr>
                              <m:sty m:val="p"/>
                            </m:rPr>
                            <m:t>r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m:t>C</m:t>
                          </m:r>
                          <m:r>
                            <m:rPr>
                              <m:sty m:val="p"/>
                            </m:rPr>
                            <m:t>o</m:t>
                          </m:r>
                          <m:r>
                            <m:rPr>
                              <m:sty m:val="p"/>
                            </m:rPr>
                            <m:t>v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optimism</a:t>
                </a:r>
                <a:r>
                  <a:rPr/>
                  <a:t> is twice the average covariance between a fitted value and its own outcome — </a:t>
                </a:r>
                <a:r>
                  <a:rPr i="1"/>
                  <a:t>the degree to which the model chases its own labels.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Which gives the classical criteria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 linear fit with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parameters that covariance sum is </a:t>
                </a:r>
                <a14:m>
                  <m:oMath xmlns:m="http://schemas.openxmlformats.org/officeDocument/2006/math">
                    <m:r>
                      <m:t>p</m:t>
                    </m:r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, so the optimism is </a:t>
                </a:r>
                <a14:m>
                  <m:oMath xmlns:m="http://schemas.openxmlformats.org/officeDocument/2006/math">
                    <m:r>
                      <m:t>2</m:t>
                    </m:r>
                    <m:r>
                      <m:t>p</m:t>
                    </m:r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/</m:t>
                    </m:r>
                    <m:r>
                      <m:t>n</m:t>
                    </m:r>
                  </m:oMath>
                </a14:m>
                <a:r>
                  <a:rPr/>
                  <a:t>, motivating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C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r</m:t>
                      </m:r>
                      <m:r>
                        <m:rPr>
                          <m:sty m:val="p"/>
                        </m:rPr>
                        <m:t>r</m:t>
                      </m:r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  <m:r>
                            <m:t>p</m:t>
                          </m:r>
                          <m:sSup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σ</m:t>
                                  </m:r>
                                </m:e>
                              </m:acc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rPr>
                          <m:sty m:val="p"/>
                        </m:rPr>
                        <m:t>A</m:t>
                      </m:r>
                      <m:r>
                        <m:rPr>
                          <m:sty m:val="p"/>
                        </m:rPr>
                        <m:t>I</m:t>
                      </m:r>
                      <m:r>
                        <m:rPr>
                          <m:sty m:val="p"/>
                        </m:rPr>
                        <m:t>C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r>
                        <m:rPr>
                          <m:sty m:val="p"/>
                        </m:rPr>
                        <m:t>log</m:t>
                      </m:r>
                      <m:r>
                        <m:rPr>
                          <m:sty m:val="p"/>
                          <m:scr m:val="script"/>
                        </m:rPr>
                        <m:t>L</m:t>
                      </m:r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  <m:r>
                            <m:t>p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rPr>
                          <m:sty m:val="p"/>
                        </m:rPr>
                        <m:t>B</m:t>
                      </m:r>
                      <m:r>
                        <m:rPr>
                          <m:sty m:val="p"/>
                        </m:rPr>
                        <m:t>I</m:t>
                      </m:r>
                      <m:r>
                        <m:rPr>
                          <m:sty m:val="p"/>
                        </m:rPr>
                        <m:t>C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log</m:t>
                      </m:r>
                      <m:r>
                        <m:rPr>
                          <m:sty m:val="p"/>
                          <m:scr m:val="script"/>
                        </m:rPr>
                        <m:t>L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log</m:t>
                      </m:r>
                      <m:r>
                        <m:t>n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BIC penalises harder once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&gt;</m:t>
                    </m:r>
                    <m:sSup>
                      <m:e>
                        <m:r>
                          <m:t>e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≈</m:t>
                    </m:r>
                    <m:r>
                      <m:t>7.4</m:t>
                    </m:r>
                  </m:oMath>
                </a14:m>
                <a:r>
                  <a:rPr/>
                  <a:t>. It is </a:t>
                </a:r>
                <a:r>
                  <a:rPr b="1"/>
                  <a:t>consistent for model selection</a:t>
                </a:r>
                <a:r>
                  <a:rPr/>
                  <a:t>; AIC is </a:t>
                </a:r>
                <a:r>
                  <a:rPr b="1"/>
                  <a:t>efficient for prediction</a:t>
                </a:r>
                <a:r>
                  <a:rPr/>
                  <a:t>. Different questions.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Effective degrees of freedom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d</m:t>
                      </m:r>
                      <m:r>
                        <m:rPr>
                          <m:sty m:val="p"/>
                        </m:rPr>
                        <m:t>f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f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sSup>
                            <m:e>
                              <m:r>
                                <m:t>σ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m:t>C</m:t>
                          </m:r>
                          <m:r>
                            <m:rPr>
                              <m:sty m:val="p"/>
                            </m:rPr>
                            <m:t>o</m:t>
                          </m:r>
                          <m:r>
                            <m:rPr>
                              <m:sty m:val="p"/>
                            </m:rPr>
                            <m:t>v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generalises “number of parameters” to methods where counting them is meaningless — which is exactly what we need from Session 05, where a penalty makes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a fiction.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5 · Cross-validation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estimator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sty m:val="p"/>
                            </m:rPr>
                            <m:t>C</m:t>
                          </m:r>
                          <m:r>
                            <m:rPr>
                              <m:sty m:val="p"/>
                            </m:rPr>
                            <m:t>V</m:t>
                          </m:r>
                        </m:e>
                        <m:sub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K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∈</m:t>
                              </m:r>
                              <m:sSub>
                                <m:e>
                                  <m:r>
                                    <m:rPr>
                                      <m:sty m:val="p"/>
                                      <m:scr m:val="script"/>
                                    </m:rPr>
                                    <m:t>F</m:t>
                                  </m:r>
                                </m:e>
                                <m:sub>
                                  <m:r>
                                    <m:t>k</m:t>
                                  </m:r>
                                </m:sub>
                              </m:sSub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L</m:t>
                              </m:r>
                            </m:e>
                          </m:nary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sSup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f</m:t>
                                  </m:r>
                                </m:e>
                              </m:acc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k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Fit on the complement of each fold; predict the fold you left out.</a:t>
                </a:r>
              </a:p>
            </p:txBody>
          </p:sp>
        </mc:Choice>
      </mc:AlternateContent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schemes, three questions</a:t>
            </a:r>
          </a:p>
        </p:txBody>
      </p:sp>
      <p:pic>
        <p:nvPicPr>
          <p:cNvPr descr="slides_files/figure-pptx/cell-5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96900" y="1193800"/>
            <a:ext cx="7950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Choose the split that matches </a:t>
            </a:r>
            <a:r>
              <a:rPr b="1"/>
              <a:t>the sentence you intend to write in your conclusion.</a:t>
            </a:r>
            <a:r>
              <a:rPr/>
              <a:t> Then say which you used.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Choosing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K</m:t>
                    </m:r>
                    <m:r>
                      <m:rPr>
                        <m:sty m:val="p"/>
                      </m:rPr>
                      <m:t>=</m:t>
                    </m:r>
                    <m:r>
                      <m:t>5</m:t>
                    </m:r>
                  </m:oMath>
                </a14:m>
                <a:r>
                  <a:rPr b="1"/>
                  <a:t> or </a:t>
                </a:r>
                <a14:m>
                  <m:oMath xmlns:m="http://schemas.openxmlformats.org/officeDocument/2006/math">
                    <m:r>
                      <m:t>10</m:t>
                    </m:r>
                  </m:oMath>
                </a14:m>
                <a:r>
                  <a:rPr/>
                  <a:t> — the standard compromise: some upward bias, much lower variance</a:t>
                </a:r>
              </a:p>
              <a:p>
                <a:pPr lvl="0"/>
                <a14:m>
                  <m:oMath xmlns:m="http://schemas.openxmlformats.org/officeDocument/2006/math">
                    <m:r>
                      <m:t>K</m:t>
                    </m:r>
                    <m:r>
                      <m:rPr>
                        <m:sty m:val="p"/>
                      </m:rPr>
                      <m:t>=</m:t>
                    </m:r>
                    <m:r>
                      <m:t>n</m:t>
                    </m:r>
                  </m:oMath>
                </a14:m>
                <a:r>
                  <a:rPr/>
                  <a:t> (LOOCV) — nearly unbiased, high variance, expensive</a:t>
                </a:r>
              </a:p>
              <a:p>
                <a:pPr lvl="0" indent="0" marL="0">
                  <a:buNone/>
                </a:pPr>
                <a:r>
                  <a:rPr/>
                  <a:t>For a linear smoother LOOCV is free once you have the hat matrix: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sty m:val="p"/>
                            </m:rPr>
                            <m:t>C</m:t>
                          </m:r>
                          <m:r>
                            <m:rPr>
                              <m:sty m:val="p"/>
                            </m:rPr>
                            <m:t>V</m:t>
                          </m:r>
                        </m:e>
                        <m: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n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f>
                                    <m:fPr>
                                      <m:type m:val="bar"/>
                                    </m:fPr>
                                    <m:num>
                                      <m:sSub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sSub>
                                        <m:e>
                                          <m:acc>
                                            <m:accPr>
                                              <m:chr m:val="̂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</m:num>
                                    <m:den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sSub>
                                        <m:e>
                                          <m:r>
                                            <m:t>h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i</m:t>
                        </m:r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Session 02’s leverage. The pieces accumulate.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6 · Three ways to get it wrong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 · Leakage through preprocessing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Any step that learns from the data — scaling, imputation, feature selection, target encoding — must be fitted </a:t>
            </a:r>
            <a:r>
              <a:rPr b="1"/>
              <a:t>inside</a:t>
            </a:r>
            <a:r>
              <a:rPr/>
              <a:t> each training fold.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#  WRONG — the scaler has already seen the test fold</a:t>
            </a:r>
            <a:br/>
            <a:r>
              <a:rPr>
                <a:latin typeface="Courier"/>
              </a:rPr>
              <a:t>X_scaled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StandardScaler().fit_transform(X)</a:t>
            </a:r>
            <a:br/>
            <a:r>
              <a:rPr>
                <a:latin typeface="Courier"/>
              </a:rPr>
              <a:t>cross_val_score(model, X_scaled, y, cv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cv)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 RIGHT — every step re-fits inside each fold</a:t>
            </a:r>
            <a:br/>
            <a:r>
              <a:rPr>
                <a:latin typeface="Courier"/>
              </a:rPr>
              <a:t>pipe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make_pipeline(StandardScaler(), model)</a:t>
            </a:r>
            <a:br/>
            <a:r>
              <a:rPr>
                <a:latin typeface="Courier"/>
              </a:rPr>
              <a:t>cross_val_score(pipe, X, y, cv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cv)</a:t>
            </a:r>
          </a:p>
          <a:p>
            <a:pPr lvl="0" indent="0" marL="0">
              <a:buNone/>
            </a:pPr>
            <a:r>
              <a:rPr/>
              <a:t>The single most common serious error in applied machine learning papers. It </a:t>
            </a:r>
            <a:r>
              <a:rPr b="1"/>
              <a:t>always</a:t>
            </a:r>
            <a:r>
              <a:rPr/>
              <a:t> flatters you.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 · Leakage through selection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Choosing a model by CV and then reporting </a:t>
            </a:r>
            <a:r>
              <a:rPr b="1"/>
              <a:t>that same CV error</a:t>
            </a:r>
            <a:r>
              <a:rPr/>
              <a:t> as its performance is optimistic.</a:t>
            </a:r>
          </a:p>
          <a:p>
            <a:pPr lvl="0"/>
            <a:r>
              <a:rPr b="1"/>
              <a:t>outer</a:t>
            </a:r>
            <a:r>
              <a:rPr/>
              <a:t> loop → evaluation</a:t>
            </a:r>
          </a:p>
          <a:p>
            <a:pPr lvl="0"/>
            <a:r>
              <a:rPr b="1"/>
              <a:t>inner</a:t>
            </a:r>
            <a:r>
              <a:rPr/>
              <a:t> loop → tuning</a:t>
            </a:r>
          </a:p>
          <a:p>
            <a:pPr lvl="0" indent="0" marL="0">
              <a:buNone/>
            </a:pPr>
            <a:r>
              <a:rPr/>
              <a:t>Reporting the best inner-loop score is the same error as reporting training error, one level up.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3 · Ignoring dependence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 folds assume exchangeability. Economic data rarely are.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Time series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rolling-origin / expanding window. </a:t>
                      </a:r>
                      <a:r>
                        <a:rPr b="1"/>
                        <a:t>Never train on the future.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Panel or clustered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GroupKFold</a:t>
                      </a:r>
                      <a:r>
                        <a:rPr/>
                        <a:t> — all rows of a unit stay together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Spatial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blocked CV — neighbours are correlated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7 · What it costs here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data, same model, three splits</a:t>
            </a:r>
          </a:p>
        </p:txBody>
      </p:sp>
      <p:pic>
        <p:nvPicPr>
          <p:cNvPr descr="slides_files/figure-pptx/cell-6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46200"/>
            <a:ext cx="8229600" cy="308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ratio is the whole 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grouped / random  =  1.53x</a:t>
            </a:r>
          </a:p>
          <a:p>
            <a:pPr lvl="0" indent="0" marL="0">
              <a:buNone/>
            </a:pPr>
            <a:r>
              <a:rPr/>
              <a:t>Publish the random-K-fold number and you have overstated the model by that factor — </a:t>
            </a:r>
            <a:r>
              <a:rPr b="1"/>
              <a:t>without doing anything a referee would call wrong.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the gap as a diagnostic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ratio measures </a:t>
            </a:r>
            <a:r>
              <a:rPr b="1"/>
              <a:t>how much the model leans on country identity</a:t>
            </a:r>
            <a:r>
              <a:rPr/>
              <a:t> rather than on the economics.</a:t>
            </a:r>
          </a:p>
          <a:p>
            <a:pPr lvl="0"/>
            <a:r>
              <a:rPr/>
              <a:t>Random K-fold let it see Germany 2019 while predicting Germany 2020</a:t>
            </a:r>
          </a:p>
          <a:p>
            <a:pPr lvl="0"/>
            <a:r>
              <a:rPr/>
              <a:t>It learned “this is Germany”, which is worthless for a country it has never seen</a:t>
            </a:r>
          </a:p>
          <a:p>
            <a:pPr lvl="0"/>
            <a:r>
              <a:rPr>
                <a:latin typeface="Courier"/>
              </a:rPr>
              <a:t>TimeSeriesSplit</a:t>
            </a:r>
            <a:r>
              <a:rPr/>
              <a:t> looks </a:t>
            </a:r>
            <a:r>
              <a:rPr i="1"/>
              <a:t>best</a:t>
            </a:r>
            <a:r>
              <a:rPr/>
              <a:t> of the three — and answers a third question again</a:t>
            </a:r>
          </a:p>
          <a:p>
            <a:pPr lvl="0" indent="0" marL="0">
              <a:buNone/>
            </a:pPr>
            <a:r>
              <a:rPr b="1"/>
              <a:t>Low is not the same as right.</a:t>
            </a:r>
            <a:r>
              <a:rPr/>
              <a:t> Report the split, not just the number.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8 · Key takeaways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carry out of this session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Error = bias² + variance + </a:t>
                </a:r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 b="1"/>
                  <a:t>.</a:t>
                </a:r>
                <a:r>
                  <a:rPr/>
                  <a:t> Flexibility trades the first two; the third never moves.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Training error is optimistic by </a:t>
                </a:r>
                <a14:m>
                  <m:oMath xmlns:m="http://schemas.openxmlformats.org/officeDocument/2006/math">
                    <m:r>
                      <m:t>2</m:t>
                    </m:r>
                    <m:r>
                      <m:t>p</m:t>
                    </m:r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/</m:t>
                    </m:r>
                    <m:r>
                      <m:t>n</m:t>
                    </m:r>
                  </m:oMath>
                </a14:m>
                <a:r>
                  <a:rPr/>
                  <a:t> for a linear fit — that is where AIC and </a:t>
                </a:r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 come from.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Match the CV scheme to the claim.</a:t>
                </a:r>
                <a:r>
                  <a:rPr/>
                  <a:t> Random, grouped and time-ordered answer different questions.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Every learned step goes inside the fold.</a:t>
                </a:r>
                <a:r>
                  <a:rPr/>
                  <a:t> Use a </a:t>
                </a:r>
                <a:r>
                  <a:rPr>
                    <a:latin typeface="Courier"/>
                  </a:rPr>
                  <a:t>Pipeline</a:t>
                </a:r>
                <a:r>
                  <a:rPr/>
                  <a:t>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Tuning and evaluating on one split</a:t>
                </a:r>
                <a:r>
                  <a:rPr/>
                  <a:t> reports training error, one level up.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The random-vs-grouped gap is a leakage diagnostic.</a:t>
                </a:r>
                <a:r>
                  <a:rPr/>
                  <a:t> Report it.</a:t>
                </a:r>
              </a:p>
            </p:txBody>
          </p:sp>
        </mc:Choice>
      </mc:AlternateContent>
    </p:spTree>
  </p:cSld>
</p:sld>
</file>

<file path=ppt/slides/slide37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What loses marks reliably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0" bandRow="1"><a:tableStyleId>{5C22544A-7EE6-4342-B048-85BDC9FD1C3A}</a:tableStyleId></a:tblPr><a:tblGrid><a:gridCol w="4114800" /><a:gridCol w="4114800" /></a:tblGrid><a:tr h="0"><a:tc><a:txBody><a:bodyPr /><a:lstStyle /><a:p><a:pPr lvl="0" indent="0" marL="0"><a:buNone /></a:pPr><a:r><a:rPr /><a:t>Random K-fold on a panel</a:t></a:r></a:p></a:txBody></a:tc><a:tc><a:txBody><a:bodyPr /><a:lstStyle /><a:p><a:pPr lvl="0" indent="0" marL="0"><a:buNone /></a:pPr><a:r><a:rPr /><a:t>optimistic by a wide margin</a:t></a:r></a:p></a:txBody></a:tc></a:tr><a:tr h="0"><a:tc><a:txBody><a:bodyPr /><a:lstStyle /><a:p><a:pPr lvl="0" indent="0" marL="0"><a:buNone /></a:pPr><a:r><a:rPr /><a:t>Scaling before splitting</a:t></a:r></a:p></a:txBody></a:tc><a:tc><a:txBody><a:bodyPr /><a:lstStyle /><a:p><a:pPr lvl="0" indent="0" marL="0"><a:buNone /></a:pPr><a:r><a:rPr /><a:t>leakage; error understated</a:t></a:r></a:p></a:txBody></a:tc></a:tr><a:tr h="0"><a:tc><a:txBody><a:bodyPr /><a:lstStyle /><a:p><a:pPr lvl="0" indent="0" marL="0"><a:buNone /></a:pPr><a:r><a:rPr /><a:t>Tuning on the test set</a:t></a:r></a:p></a:txBody></a:tc><a:tc><a:txBody><a:bodyPr /><a:lstStyle /><a:p><a:pPr lvl="0" indent="0" marL="0"><a:buNone /></a:pPr><a:r><a:rPr /><a:t>the test set is now training data</a:t></a:r></a:p></a:txBody></a:tc></a:tr><a:tr h="0"><a:tc><a:txBody><a:bodyPr /><a:lstStyle /><a:p><a:pPr lvl="0" indent="0" marL="0"><a:buNone /></a:pPr><a14:m><m:oMath xmlns:m="http://schemas.openxmlformats.org/officeDocument/2006/math"><m:sSup><m:e><m:r><m:t>R</m:t></m:r></m:e><m:sup><m:r><m:t>2</m:t></m:r></m:sup></m:sSup></m:oMath></a14:m><a:r><a:rPr /><a:t> alone</a:t></a:r></a:p></a:txBody></a:tc><a:tc><a:txBody><a:bodyPr /><a:lstStyle /><a:p><a:pPr lvl="0" indent="0" marL="0"><a:buNone /></a:pPr><a:r><a:rPr /><a:t>give the error in the outcome’s units</a:t></a:r></a:p></a:txBody></a:tc></a:tr><a:tr h="0"><a:tc><a:txBody><a:bodyPr /><a:lstStyle /><a:p><a:pPr lvl="0" indent="0" marL="0"><a:buNone /></a:pPr><a:r><a:rPr /><a:t>One split, one number</a:t></a:r></a:p></a:txBody></a:tc><a:tc><a:txBody><a:bodyPr /><a:lstStyle /><a:p><a:pPr lvl="0" indent="0" marL="0"><a:buNone /></a:pPr><a:r><a:rPr /><a:t>no sense of variability</a:t></a:r></a:p></a:txBody></a:tc></a:tr></a:tbl></a:graphicData></a:graphic></p:graphicFrame></p:spTree></p:cSld>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practice session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Reproduce the three CV schemes and tabulate the errors</a:t>
            </a:r>
          </a:p>
          <a:p>
            <a:pPr lvl="0" indent="-342900" marL="342900">
              <a:buAutoNum type="arabicPeriod"/>
            </a:pPr>
            <a:r>
              <a:rPr/>
              <a:t>Explain, in writing, why they differ </a:t>
            </a:r>
            <a:r>
              <a:rPr b="1"/>
              <a:t>in that direction</a:t>
            </a:r>
          </a:p>
          <a:p>
            <a:pPr lvl="0" indent="-342900" marL="342900">
              <a:buAutoNum type="arabicPeriod"/>
            </a:pPr>
            <a:r>
              <a:rPr/>
              <a:t>Draw the flexibility curve and mark where variance takes over</a:t>
            </a:r>
          </a:p>
          <a:p>
            <a:pPr lvl="0" indent="-342900" marL="342900">
              <a:buAutoNum type="arabicPeriod"/>
            </a:pPr>
            <a:r>
              <a:rPr/>
              <a:t>Build one deliberately leaking pipeline, fix it, report both numbers</a:t>
            </a:r>
          </a:p>
          <a:p>
            <a:pPr lvl="0" indent="0" marL="0">
              <a:buNone/>
            </a:pPr>
            <a:r>
              <a:rPr/>
              <a:t>Brief: </a:t>
            </a:r>
            <a:r>
              <a:rPr>
                <a:hlinkClick r:id="rId2"/>
                <a:latin typeface="Courier"/>
              </a:rPr>
              <a:t>02-practice/README.md</a:t>
            </a:r>
            <a:r>
              <a:rPr/>
              <a:t> · derivations: </a:t>
            </a:r>
            <a:r>
              <a:rPr>
                <a:hlinkClick r:id="rId3"/>
                <a:latin typeface="Courier"/>
              </a:rPr>
              <a:t>01-lecture/README.md</a:t>
            </a:r>
            <a:r>
              <a:rPr/>
              <a:t> §4.1–4.4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Bias–Variance, Overfitting, Cross-Validation</dc:title>
  <dc:creator>Thierry Warin</dc:creator>
  <cp:keywords/>
  <dcterms:created xsi:type="dcterms:W3CDTF">2026-08-21T12:28:51Z</dcterms:created>
  <dcterms:modified xsi:type="dcterms:W3CDTF">2026-08-21T12:28:51Z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21 August 2026</vt:lpwstr>
  </property>
  <property fmtid="{D5CDD505-2E9C-101B-9397-08002B2CF9AE}" pid="8" name="date-format">
    <vt:lpwstr>D MMMM YYYY</vt:lpwstr>
  </property>
  <property fmtid="{D5CDD505-2E9C-101B-9397-08002B2CF9AE}" pid="9" name="execute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e">
    <vt:lpwstr>HEC Montréal</vt:lpwstr>
  </property>
  <property fmtid="{D5CDD505-2E9C-101B-9397-08002B2CF9AE}" pid="14" name="institutes">
    <vt:lpwstr/>
  </property>
  <property fmtid="{D5CDD505-2E9C-101B-9397-08002B2CF9AE}" pid="15" name="jupyter">
    <vt:lpwstr>python3</vt:lpwstr>
  </property>
  <property fmtid="{D5CDD505-2E9C-101B-9397-08002B2CF9AE}" pid="16" name="labels">
    <vt:lpwstr/>
  </property>
  <property fmtid="{D5CDD505-2E9C-101B-9397-08002B2CF9AE}" pid="17" name="subtitle">
    <vt:lpwstr>Session 04 · Lecture, first half</vt:lpwstr>
  </property>
  <property fmtid="{D5CDD505-2E9C-101B-9397-08002B2CF9AE}" pid="18" name="toc-title">
    <vt:lpwstr>Table of contents</vt:lpwstr>
  </property>
</Properties>
</file>