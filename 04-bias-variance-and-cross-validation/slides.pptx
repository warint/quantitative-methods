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In-sample error is optimistic — by how much?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cross-validation wrong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hinge of the course. After today, in-sample fit stops being evidence.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4.1 The decomposition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Fix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; 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be estimated on a random training sample. Averaging over training samples and over the new noise draw: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square.</a:t>
                </a:r>
              </a:p>
              <a:p>
                <a:pPr lvl="0" indent="0" marL="0">
                  <a:buNone/>
                </a:pPr>
                <a:r>
                  <a:rPr/>
                  <a:t>Three cross terms vanish:</a:t>
                </a:r>
              </a:p>
              <a:p>
                <a:pPr lvl="0"/>
                <a:r>
                  <a:rPr/>
                  <a:t>one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ε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independent of the training sample</a:t>
                </a:r>
              </a:p>
              <a:p>
                <a:pPr lvl="0"/>
                <a:r>
                  <a:rPr/>
                  <a:t>two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economics of this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Bias</a:t>
            </a:r>
            <a:r>
              <a:rPr/>
              <a:t> is what you get for imposing structure you believe in.</a:t>
            </a:r>
          </a:p>
          <a:p>
            <a:pPr lvl="0"/>
            <a:r>
              <a:rPr b="1"/>
              <a:t>Variance</a:t>
            </a:r>
            <a:r>
              <a:rPr/>
              <a:t> is what you pay for letting the data speak.</a:t>
            </a:r>
          </a:p>
          <a:p>
            <a:pPr lvl="0" indent="0" marL="0">
              <a:buNone/>
            </a:pPr>
            <a:r>
              <a:rPr/>
              <a:t>Flexibility trades one for the other, and there is generally an </a:t>
            </a:r>
            <a:r>
              <a:rPr b="1"/>
              <a:t>interior optimum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rest of the course is a catalogue of ways to sit at that optimum deliberately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4.2 Optimism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optimistic is training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f</m:t>
                                    </m:r>
                                  </m:e>
                                </m:acc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/>
                  <a:t> be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Err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</a:t>
                </a:r>
                <a:r>
                  <a:rPr i="1"/>
                  <a:t>same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Err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err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quantity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exactly twice the average covariance between a fitted value and its own outcome — </a:t>
                </a:r>
                <a:r>
                  <a:rPr i="1"/>
                  <a:t>the degree to which the model chases its own training labels.</a:t>
                </a:r>
              </a:p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equals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giving optimism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motivates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err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more heavily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They answer different questions.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parameters makes no sense — which we need from Session 05 onward,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meaningless.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4.3 Cross-validation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folds;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fit on the complement and predict the held-out fold: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— leave-one-out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Nearly </a:t>
                </a:r>
                <a:r>
                  <a:rPr b="1"/>
                  <a:t>unbiased</a:t>
                </a:r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</m:oMath>
                </a14:m>
              </a:p>
              <a:p>
                <a:pPr lvl="0"/>
                <a:r>
                  <a:rPr b="1"/>
                  <a:t>High variance</a:t>
                </a:r>
                <a:r>
                  <a:rPr/>
                  <a:t> —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training sets are almost identical, so the errors are highly correlated</a:t>
                </a:r>
              </a:p>
              <a:p>
                <a:pPr lvl="0"/>
                <a:r>
                  <a:rPr/>
                  <a:t>Usually expensive</a:t>
                </a:r>
              </a:p>
              <a:p>
                <a:pPr lvl="0" indent="0" marL="0">
                  <a:buNone/>
                </a:pPr>
                <a:r>
                  <a:rPr/>
                  <a:t>For linear smoothers it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leverage from Session 02. The pieces accumulate.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compromise:</a:t>
            </a:r>
          </a:p>
          <a:p>
            <a:pPr lvl="0"/>
            <a:r>
              <a:rPr/>
              <a:t>some </a:t>
            </a:r>
            <a:r>
              <a:rPr b="1"/>
              <a:t>upward bias</a:t>
            </a:r>
            <a:r>
              <a:rPr/>
              <a:t> — each model trains on less data</a:t>
            </a:r>
          </a:p>
          <a:p>
            <a:pPr lvl="0"/>
            <a:r>
              <a:rPr/>
              <a:t>much </a:t>
            </a:r>
            <a:r>
              <a:rPr b="1"/>
              <a:t>lower variance</a:t>
            </a:r>
          </a:p>
          <a:p>
            <a:pPr lvl="0" indent="0" marL="0">
              <a:buNone/>
            </a:pPr>
            <a:r>
              <a:rPr/>
              <a:t>With 30 countries, </a:t>
            </a:r>
            <a:r>
              <a:rPr>
                <a:latin typeface="Courier"/>
              </a:rPr>
              <a:t>GroupKFold(5)</a:t>
            </a:r>
            <a:r>
              <a:rPr/>
              <a:t> leaves six countries out per fold. Fewer folds leaves too little to train on; more makes each estimate noisy.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Three ways to get it wrong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using the outcome or the </a:t>
            </a:r>
            <a:r>
              <a:rPr b="1"/>
              <a:t>full</a:t>
            </a:r>
            <a:r>
              <a:rPr/>
              <a:t> feature distribution — standardisation,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 marL="0">
              <a:buNone/>
            </a:pPr>
            <a:r>
              <a:rPr/>
              <a:t>Use a </a:t>
            </a:r>
            <a:r>
              <a:rPr>
                <a:latin typeface="Courier"/>
              </a:rPr>
              <a:t>Pipeline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always flatters you.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 indent="0" marL="0">
              <a:buNone/>
            </a:pPr>
            <a:r>
              <a:rPr/>
              <a:t>You need a </a:t>
            </a:r>
            <a:r>
              <a:rPr b="1"/>
              <a:t>nested</a:t>
            </a:r>
            <a:r>
              <a:rPr/>
              <a:t> design:</a:t>
            </a:r>
          </a:p>
          <a:p>
            <a:pPr lvl="0"/>
            <a:r>
              <a:rPr/>
              <a:t>an </a:t>
            </a:r>
            <a:r>
              <a:rPr b="1"/>
              <a:t>outer</a:t>
            </a:r>
            <a:r>
              <a:rPr/>
              <a:t> loop for evaluation</a:t>
            </a:r>
          </a:p>
          <a:p>
            <a:pPr lvl="0"/>
            <a:r>
              <a:rPr/>
              <a:t>an </a:t>
            </a:r>
            <a:r>
              <a:rPr b="1"/>
              <a:t>inner</a:t>
            </a:r>
            <a:r>
              <a:rPr/>
              <a:t> loop for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expanding-window. 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observations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that costs on this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</a:t>
            </a:r>
            <a:r>
              <a:rPr>
                <a:latin typeface="Courier"/>
              </a:rPr>
              <a:t>gdp_pc_eur</a:t>
            </a:r>
            <a:r>
              <a:rPr/>
              <a:t> from the other levels, 30 countries × 15 years: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. Publish the 3,200 and you have overstated the model by half without doing anything a referee would call wrong.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on your project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then fix it, and report both numbers</a:t>
            </a:r>
          </a:p>
          <a:p>
            <a:pPr lvl="0" indent="0" marL="0">
              <a:buNone/>
            </a:pPr>
            <a:r>
              <a:rPr/>
              <a:t>The gap between random and grouped CV </a:t>
            </a:r>
            <a:r>
              <a:rPr b="1"/>
              <a:t>is</a:t>
            </a:r>
            <a:r>
              <a:rPr/>
              <a:t> your leakage diagnostic. Report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One slide. Three sentences.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split, and the sentence it licenses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error in the units of the outcome, not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what the split still cannot tell you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2026-08-20T19:24:11Z</dcterms:created>
  <dcterms:modified xsi:type="dcterms:W3CDTF">2026-08-20T19:24:11Z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Lecture, first half</vt:lpwstr>
  </property>
  <property fmtid="{D5CDD505-2E9C-101B-9397-08002B2CF9AE}" pid="16" name="toc-title">
    <vt:lpwstr>Table of contents</vt:lpwstr>
  </property>
</Properties>
</file>