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Seeing it happen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optimistic is training error?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it wrong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costs on this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Derive the </a:t>
            </a:r>
            <a:r>
              <a:rPr b="1"/>
              <a:t>bias–variance–noise</a:t>
            </a:r>
            <a:r>
              <a:rPr/>
              <a:t> decomposition and name what each term is</a:t>
            </a:r>
          </a:p>
          <a:p>
            <a:pPr lvl="0"/>
            <a:r>
              <a:rPr/>
              <a:t>Explain why training error is </a:t>
            </a:r>
            <a:r>
              <a:rPr b="1"/>
              <a:t>optimistic</a:t>
            </a:r>
            <a:r>
              <a:rPr/>
              <a:t>, and by exactly how much</a:t>
            </a:r>
          </a:p>
          <a:p>
            <a:pPr lvl="0"/>
            <a:r>
              <a:rPr/>
              <a:t>Choose a </a:t>
            </a:r>
            <a:r>
              <a:rPr b="1"/>
              <a:t>CV scheme that matches the claim</a:t>
            </a:r>
            <a:r>
              <a:rPr/>
              <a:t> you intend to make</a:t>
            </a:r>
          </a:p>
          <a:p>
            <a:pPr lvl="0"/>
            <a:r>
              <a:rPr/>
              <a:t>Recognise the three leakages: preprocessing, selection, dependence</a:t>
            </a:r>
          </a:p>
          <a:p>
            <a:pPr lvl="0"/>
            <a:r>
              <a:rPr/>
              <a:t>Quantify, on real data, what the wrong split costs you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hinge of the course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claim it let you make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“Here is the least-squares fit, and here is what it optimises”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“Here is an honest interval around it”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are statements about </a:t>
            </a:r>
            <a:r>
              <a:rPr b="1"/>
              <a:t>the data you have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Neither says anything about data you have not seen. And every use of a model — forecasting, targeting, deciding — is about data you have not seen.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adds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After today, in-sample fit stops being evidence.</a:t>
            </a:r>
          </a:p>
          <a:p>
            <a:pPr lvl="0"/>
            <a:r>
              <a:rPr/>
              <a:t>A vocabulary for </a:t>
            </a:r>
            <a:r>
              <a:rPr i="1"/>
              <a:t>why</a:t>
            </a:r>
            <a:r>
              <a:rPr/>
              <a:t> a flexible model can be worse: </a:t>
            </a:r>
            <a:r>
              <a:rPr b="1"/>
              <a:t>bias</a:t>
            </a:r>
            <a:r>
              <a:rPr/>
              <a:t>, </a:t>
            </a:r>
            <a:r>
              <a:rPr b="1"/>
              <a:t>variance</a:t>
            </a:r>
            <a:r>
              <a:rPr/>
              <a:t>, </a:t>
            </a:r>
            <a:r>
              <a:rPr b="1"/>
              <a:t>irreducible noise</a:t>
            </a:r>
          </a:p>
          <a:p>
            <a:pPr lvl="0"/>
            <a:r>
              <a:rPr/>
              <a:t>A number for how much training error flatters you</a:t>
            </a:r>
          </a:p>
          <a:p>
            <a:pPr lvl="0"/>
            <a:r>
              <a:rPr/>
              <a:t>A procedure — cross-validation — and the three ways it is routinely botched</a:t>
            </a:r>
          </a:p>
          <a:p>
            <a:pPr lvl="0" indent="0" marL="0">
              <a:buNone/>
            </a:pPr>
            <a:r>
              <a:rPr/>
              <a:t>Everything from Session 05 onward is a way of sitting at the bias–variance optimum </a:t>
            </a:r>
            <a:r>
              <a:rPr b="1"/>
              <a:t>on purpose</a:t>
            </a:r>
            <a:r>
              <a:rPr/>
              <a:t>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decomposition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square, and three cross terms vanish. Derivation in the notes, §4.1.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each term means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Term</a:t></a:r></a:p></a:txBody><a:tcPr /></a:tc><a:tc><a:txBody><a:bodyPr /><a:lstStyle /><a:p><a:pPr lvl="0" indent="0" marL="0"><a:buNone /></a:pPr><a:r><a:rPr /><a:t>In words</a:t></a:r></a:p></a:txBody><a:tcPr /></a:tc><a:tc><a:txBody><a:bodyPr /><a:lstStyle /><a:p><a:pPr lvl="0" indent="0" marL="0"><a:buNone /></a:pPr><a:r><a:rPr /><a:t>Falls when you…</a:t></a:r></a:p></a:txBody><a:tcPr /></a:tc></a:tr><a:tr h="0"><a:tc><a:txBody><a:bodyPr /><a:lstStyle /><a:p><a:pPr lvl="0" indent="0" marL="0"><a:buNone /></a:pPr><a:r><a:rPr b="1" /><a:t>Bias²</a:t></a:r></a:p></a:txBody></a:tc><a:tc><a:txBody><a:bodyPr /><a:lstStyle /><a:p><a:pPr lvl="0" indent="0" marL="0"><a:buNone /></a:pPr><a:r><a:rPr /><a:t>the structure you imposed is wrong</a:t></a:r></a:p></a:txBody></a:tc><a:tc><a:txBody><a:bodyPr /><a:lstStyle /><a:p><a:pPr lvl="0" indent="0" marL="0"><a:buNone /></a:pPr><a:r><a:rPr /><a:t>add flexibility</a:t></a:r></a:p></a:txBody></a:tc></a:tr><a:tr h="0"><a:tc><a:txBody><a:bodyPr /><a:lstStyle /><a:p><a:pPr lvl="0" indent="0" marL="0"><a:buNone /></a:pPr><a:r><a:rPr b="1" /><a:t>Variance</a:t></a:r></a:p></a:txBody></a:tc><a:tc><a:txBody><a:bodyPr /><a:lstStyle /><a:p><a:pPr lvl="0" indent="0" marL="0"><a:buNone /></a:pPr><a:r><a:rPr /><a:t>the fit chases this particular sample</a:t></a:r></a:p></a:txBody></a:tc><a:tc><a:txBody><a:bodyPr /><a:lstStyle /><a:p><a:pPr lvl="0" indent="0" marL="0"><a:buNone /></a:pPr><a:r><a:rPr /><a:t>remove flexibility</a:t></a:r></a:p></a:txBody></a:tc></a:tr><a:tr h="0"><a:tc><a:txBody><a:bodyPr /><a:lstStyle /><a:p><a:pPr lvl="0" indent="0" marL="0"><a:buNone /></a:pPr><a14:m><m:oMath xmlns:m="http://schemas.openxmlformats.org/officeDocument/2006/math"><m:sSup><m:e><m:r><m:t>σ</m:t></m:r></m:e><m:sup><m:r><m:t>2</m:t></m:r></m:sup></m:sSup></m:oMath></a14:m></a:p></a:txBody></a:tc><a:tc><a:txBody><a:bodyPr /><a:lstStyle /><a:p><a:pPr lvl="0" indent="0" marL="0"><a:buNone /></a:pPr><a:r><a:rPr /><a:t>what the predictors do not observe</a:t></a:r></a:p></a:txBody></a:tc><a:tc><a:txBody><a:bodyPr /><a:lstStyle /><a:p><a:pPr lvl="0" indent="0" marL="0"><a:buNone /></a:pPr><a:r><a:rPr i="1" /><a:t>never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</a:t>
                </a:r>
                <a:r>
                  <a:rPr b="1"/>
                  <a:t>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Seeing it happen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curves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 falls monotonically. Variance rises. Their sum has an </a:t>
            </a:r>
            <a:r>
              <a:rPr b="1"/>
              <a:t>interior minimum</a:t>
            </a:r>
            <a:r>
              <a:rPr/>
              <a:t> — and that minimum is what every method after today is trying to find.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thing, as fits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Dashed line: the truth. Blue: the fit. The right-hand panel passes closer to every training point and is further from the truth almost everywhere.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Optimism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error is biased, and by a known amount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</m:oMath>
                </a14:m>
                <a:r>
                  <a:rPr/>
                  <a:t> the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r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same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twice the average covariance between a fitted value and its own outcome — </a:t>
                </a:r>
                <a:r>
                  <a:rPr i="1"/>
                  <a:t>the degree to which the model chases its own labels.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the gap open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error falls </a:t>
            </a:r>
            <a:r>
              <a:rPr b="1"/>
              <a:t>below</a:t>
            </a:r>
            <a:r>
              <a:rPr/>
              <a:t> the irreducible noise floor. Any number under that dotted line is a report of how hard the model chased its own labels.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gives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is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so the optimism is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, motivating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harder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Different questions.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them is meaningless — which is exactly what we need from Session 05,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a fiction.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Cross-validation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Fit on the complement of each fold; predict the fold you left out.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questions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50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</a:t>
            </a:r>
            <a:r>
              <a:rPr b="1"/>
              <a:t>the sentence you intend to write in your conclusion.</a:t>
            </a:r>
            <a:r>
              <a:rPr/>
              <a:t> Then say which you used.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standard compromise: some upward bias, much lower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(LOOCV)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For a linear smoother LOOCV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Session 02’s leverage. The pieces accumulate.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much does the choice matter?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3600" y="1193800"/>
            <a:ext cx="7416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Bars are the spread across twelve different random fold assignments.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 is </a:t>
                </a:r>
                <a:r>
                  <a:rPr b="1"/>
                  <a:t>twice as variable</a:t>
                </a:r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, which are hard to tell apart — which is why 5 and 10 became the convention.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Three ways to get it wrong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·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that learns from the data — scaling,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cross_val_score(model,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cv)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model)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cv)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</a:t>
            </a:r>
            <a:r>
              <a:rPr b="1"/>
              <a:t>always</a:t>
            </a:r>
            <a:r>
              <a:rPr/>
              <a:t> flatters you.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 ·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/>
            <a:r>
              <a:rPr b="1"/>
              <a:t>outer</a:t>
            </a:r>
            <a:r>
              <a:rPr/>
              <a:t> loop → evaluation</a:t>
            </a:r>
          </a:p>
          <a:p>
            <a:pPr lvl="0"/>
            <a:r>
              <a:rPr b="1"/>
              <a:t>inner</a:t>
            </a:r>
            <a:r>
              <a:rPr/>
              <a:t> loop →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bad is it? Try it on pure noise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12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</a:t>
            </a:r>
            <a:r>
              <a:rPr b="1"/>
              <a:t>no signal in that data</a:t>
            </a:r>
            <a:r>
              <a:rPr/>
              <a:t>. Selecting the 20 best of 4,000 predictors before the split manufactures an 83% classifier out of a coin flip. This is the single most common serious error in applied machine learning papers.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 window. </a:t>
                      </a:r>
                      <a:r>
                        <a:rPr b="1"/>
                        <a:t>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rows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What it costs here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data, same model, three splits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ratio is the whole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grouped / random  =  1.53x</a:t>
            </a:r>
          </a:p>
          <a:p>
            <a:pPr lvl="0" indent="0" marL="0">
              <a:buNone/>
            </a:pPr>
            <a:r>
              <a:rPr/>
              <a:t>Publish the random-K-fold number and you have overstated the model by that factor — </a:t>
            </a:r>
            <a:r>
              <a:rPr b="1"/>
              <a:t>without doing anything a referee would call wrong.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 as a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ratio measures </a:t>
            </a:r>
            <a:r>
              <a:rPr b="1"/>
              <a:t>how much the model leans on country identity</a:t>
            </a:r>
            <a:r>
              <a:rPr/>
              <a:t> rather than on the economics.</a:t>
            </a:r>
          </a:p>
          <a:p>
            <a:pPr lvl="0"/>
            <a:r>
              <a:rPr/>
              <a:t>Random K-fold let it see Germany 2019 while predicting Germany 2020</a:t>
            </a:r>
          </a:p>
          <a:p>
            <a:pPr lvl="0"/>
            <a:r>
              <a:rPr/>
              <a:t>It learned “this is Germany”, which is worthless for a country it has never seen</a:t>
            </a:r>
          </a:p>
          <a:p>
            <a:pPr lvl="0"/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— and answers a third question again</a:t>
            </a:r>
          </a:p>
          <a:p>
            <a:pPr lvl="0" indent="0" marL="0">
              <a:buNone/>
            </a:pPr>
            <a:r>
              <a:rPr b="1"/>
              <a:t>Low is not the same as right.</a:t>
            </a:r>
            <a:r>
              <a:rPr/>
              <a:t> Report the split, not just the number.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Error = bias² + variance +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.</a:t>
                </a:r>
                <a:r>
                  <a:rPr/>
                  <a:t> Flexibility trades the first two; the third never moves.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Training error is optimistic by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for a linear fit — that is where AIC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come from.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Match the CV scheme to the claim.</a:t>
                </a:r>
                <a:r>
                  <a:rPr/>
                  <a:t> Random, grouped and time-ordered answer different questions.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Every learned step goes inside the fold.</a:t>
                </a:r>
                <a:r>
                  <a:rPr/>
                  <a:t> Use a </a:t>
                </a:r>
                <a:r>
                  <a:rPr>
                    <a:latin typeface="Courier"/>
                  </a:rPr>
                  <a:t>Pipeline</a:t>
                </a:r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Tuning and evaluating on one split</a:t>
                </a:r>
                <a:r>
                  <a:rPr/>
                  <a:t> reports training error, one level up.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random-vs-grouped gap is a leakage diagnostic.</a:t>
                </a:r>
                <a:r>
                  <a:rPr/>
                  <a:t> Report it.</a:t>
                </a:r>
              </a:p>
            </p:txBody>
          </p:sp>
        </mc:Choice>
      </mc:AlternateContent>
    </p:spTree>
  </p:cSld>
</p:sld>
</file>

<file path=ppt/slides/slide4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give the error in the outcome’s units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fix it, report both numbers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  <a:r>
              <a:rPr/>
              <a:t> §4.1–4.4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2026-08-22T21:58:20Z</dcterms:created>
  <dcterms:modified xsi:type="dcterms:W3CDTF">2026-08-22T21:58:20Z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04 · Lecture, first half</vt:lpwstr>
  </property>
  <property fmtid="{D5CDD505-2E9C-101B-9397-08002B2CF9AE}" pid="18" name="toc-title">
    <vt:lpwstr>Table of contents</vt:lpwstr>
  </property>
</Properties>
</file>