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7fe3ded3eb43a1" /><Relationship Type="http://schemas.openxmlformats.org/officeDocument/2006/relationships/extended-properties" Target="/docProps/app.xml" Id="R3ef7d00824294901" /><Relationship Type="http://schemas.openxmlformats.org/officeDocument/2006/relationships/officeDocument" Target="/ppt/presentation.xml" Id="Ra278ad5dcfa24b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2ffd0916a9408e"/>
  </p:sldMasterIdLst>
  <p:notesMasterIdLst>
    <p:notesMasterId xmlns:r="http://schemas.openxmlformats.org/officeDocument/2006/relationships" r:id="R4d53a9cede914901"/>
  </p:notesMasterIdLst>
  <p:sldIdLst>
    <p:sldId xmlns:r="http://schemas.openxmlformats.org/officeDocument/2006/relationships" id="256" r:id="Ra204e1a44ce84938"/>
    <p:sldId xmlns:r="http://schemas.openxmlformats.org/officeDocument/2006/relationships" id="257" r:id="Rfa4478bd015a40ff"/>
    <p:sldId xmlns:r="http://schemas.openxmlformats.org/officeDocument/2006/relationships" id="258" r:id="R1409025f2ed64e70"/>
    <p:sldId xmlns:r="http://schemas.openxmlformats.org/officeDocument/2006/relationships" id="259" r:id="R13886737095246f1"/>
    <p:sldId xmlns:r="http://schemas.openxmlformats.org/officeDocument/2006/relationships" id="260" r:id="R8ab7769573504b7b"/>
    <p:sldId xmlns:r="http://schemas.openxmlformats.org/officeDocument/2006/relationships" id="261" r:id="R0476cac30ba8407f"/>
    <p:sldId xmlns:r="http://schemas.openxmlformats.org/officeDocument/2006/relationships" id="262" r:id="Raf2574ae0e3446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bbc4ccf0ba4c9e" /><Relationship Type="http://schemas.openxmlformats.org/officeDocument/2006/relationships/slideMaster" Target="/ppt/slideMasters/slideMaster1.xml" Id="R582ffd0916a9408e" /><Relationship Type="http://schemas.openxmlformats.org/officeDocument/2006/relationships/notesMaster" Target="/ppt/notesMasters/notesMaster1.xml" Id="R4d53a9cede914901" /><Relationship Type="http://schemas.openxmlformats.org/officeDocument/2006/relationships/presProps" Target="/ppt/presProps.xml" Id="R4835f9a8402f4914" /><Relationship Type="http://schemas.openxmlformats.org/officeDocument/2006/relationships/tableStyles" Target="/ppt/tableStyles.xml" Id="Rf566173e88814370" /><Relationship Type="http://schemas.openxmlformats.org/officeDocument/2006/relationships/slide" Target="/ppt/slides/slide1.xml" Id="Ra204e1a44ce84938" /><Relationship Type="http://schemas.openxmlformats.org/officeDocument/2006/relationships/slide" Target="/ppt/slides/slide2.xml" Id="Rfa4478bd015a40ff" /><Relationship Type="http://schemas.openxmlformats.org/officeDocument/2006/relationships/slide" Target="/ppt/slides/slide3.xml" Id="R1409025f2ed64e70" /><Relationship Type="http://schemas.openxmlformats.org/officeDocument/2006/relationships/slide" Target="/ppt/slides/slide4.xml" Id="R13886737095246f1" /><Relationship Type="http://schemas.openxmlformats.org/officeDocument/2006/relationships/slide" Target="/ppt/slides/slide5.xml" Id="R8ab7769573504b7b" /><Relationship Type="http://schemas.openxmlformats.org/officeDocument/2006/relationships/slide" Target="/ppt/slides/slide6.xml" Id="R0476cac30ba8407f" /><Relationship Type="http://schemas.openxmlformats.org/officeDocument/2006/relationships/slide" Target="/ppt/slides/slide7.xml" Id="Raf2574ae0e3446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8f529efd004c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f026e80edb49bc" /><Relationship Type="http://schemas.openxmlformats.org/officeDocument/2006/relationships/notesMaster" Target="/ppt/notesMasters/notesMaster1.xml" Id="R59aa35a629a34a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e333a5cea44337" /><Relationship Type="http://schemas.openxmlformats.org/officeDocument/2006/relationships/notesMaster" Target="/ppt/notesMasters/notesMaster1.xml" Id="R96c7273a5ef44c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45d4e8a1254fe1" /><Relationship Type="http://schemas.openxmlformats.org/officeDocument/2006/relationships/notesMaster" Target="/ppt/notesMasters/notesMaster1.xml" Id="Re1c1b480ad6349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6be1090cd248a0" /><Relationship Type="http://schemas.openxmlformats.org/officeDocument/2006/relationships/notesMaster" Target="/ppt/notesMasters/notesMaster1.xml" Id="Ra982acd565cd4b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a3629d33a14e3a" /><Relationship Type="http://schemas.openxmlformats.org/officeDocument/2006/relationships/notesMaster" Target="/ppt/notesMasters/notesMaster1.xml" Id="R8662c268663a4e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ede9204984b7a" /><Relationship Type="http://schemas.openxmlformats.org/officeDocument/2006/relationships/notesMaster" Target="/ppt/notesMasters/notesMaster1.xml" Id="Rf641f646e2224c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9d962fc1bd477c" /><Relationship Type="http://schemas.openxmlformats.org/officeDocument/2006/relationships/notesMaster" Target="/ppt/notesMasters/notesMaster1.xml" Id="Ra0ed0b978b1747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Your model fits the past perfectly. Why is that bad news?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04-bias-variance-and-cross-validation/00-pre-session/README.md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  <a:p xmlns:a="http://schemas.openxmlformats.org/drawingml/2006/main">
            <a:r>
              <a:t>- ISLR, resampling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class, students read the article, download the Dataverse package, and identify this practice target: Reproduce the linear-versus-random-forest comparison, then rebuild it with an honest cross-validation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04-bias-variance-and-cross-validation/00-pre-session/README.md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  <a:p xmlns:a="http://schemas.openxmlformats.org/drawingml/2006/main">
            <a:r>
              <a:t>- ISLR, resampling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academic article and Dataverse package are required before class. ISLR is optional background.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04-bias-variance-and-cross-validation/00-pre-session/README.md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  <a:p xmlns:a="http://schemas.openxmlformats.org/drawingml/2006/main">
            <a:r>
              <a:t>- ISLR, resampling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be able to supply a concrete example of each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04-bias-variance-and-cross-validation/00-pre-session/README.md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  <a:p xmlns:a="http://schemas.openxmlformats.org/drawingml/2006/main">
            <a:r>
              <a:t>- ISLR, resampling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practice target is: Reproduce the linear-versus-random-forest comparison, then rebuild it with an honest cross-validation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04-bias-variance-and-cross-validation/00-pre-session/README.md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  <a:p xmlns:a="http://schemas.openxmlformats.org/drawingml/2006/main">
            <a:r>
              <a:t>- ISLR, resampling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reveal answers. Ask students to bring the question they could not settle.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04-bias-variance-and-cross-validation/00-pre-session/README.md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  <a:p xmlns:a="http://schemas.openxmlformats.org/drawingml/2006/main">
            <a:r>
              <a:t>- ISLR, resampling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goal is readiness, not completion theatre. Invite students to bring one unresolved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04-bias-variance-and-cross-validation/00-pre-session/README.md</a:t>
            </a:r>
          </a:p>
          <a:p xmlns:a="http://schemas.openxmlformats.org/drawingml/2006/main">
            <a:r>
              <a:t>- Amsili, van Es &amp; Schindelbeck (2024) — Pedotransfer Functions for Available Water Capacity — https://doi.org/10.1080/00103624.2024.2336573</a:t>
            </a:r>
          </a:p>
          <a:p xmlns:a="http://schemas.openxmlformats.org/drawingml/2006/main">
            <a:r>
              <a:t>- Harvard Dataverse 10.7910/DVN/U5DAEP — https://doi.org/10.7910/DVN/U5DAEP</a:t>
            </a:r>
          </a:p>
          <a:p xmlns:a="http://schemas.openxmlformats.org/drawingml/2006/main">
            <a:r>
              <a:t>- ISLR, resampling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1877ed1f041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a4dacb4ee64abd" /><Relationship Type="http://schemas.openxmlformats.org/officeDocument/2006/relationships/slideLayout" Target="/ppt/slideLayouts/slideLayout1.xml" Id="R00349393aefd4f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349393aefd4f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64cbe0c534b45" /><Relationship Type="http://schemas.openxmlformats.org/officeDocument/2006/relationships/chart" Target="/ppt/slides/charts/chart1.xml" Id="R658310c66d7a42a1" /><Relationship Type="http://schemas.openxmlformats.org/officeDocument/2006/relationships/notesSlide" Target="/ppt/notesSlides/notesSlide1.xml" Id="Rdec044c1be444b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d6d9c14904bfd" /><Relationship Type="http://schemas.openxmlformats.org/officeDocument/2006/relationships/notesSlide" Target="/ppt/notesSlides/notesSlide2.xml" Id="Rbabbd29f25c54f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1cb35908e4f43" /><Relationship Type="http://schemas.openxmlformats.org/officeDocument/2006/relationships/notesSlide" Target="/ppt/notesSlides/notesSlide3.xml" Id="Rbc31b8c40df942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217a576c44b22" /><Relationship Type="http://schemas.openxmlformats.org/officeDocument/2006/relationships/notesSlide" Target="/ppt/notesSlides/notesSlide4.xml" Id="R9afea6c87c184e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62d0653c34269" /><Relationship Type="http://schemas.openxmlformats.org/officeDocument/2006/relationships/notesSlide" Target="/ppt/notesSlides/notesSlide5.xml" Id="R90e231255a8149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45fd1ceaa47e4" /><Relationship Type="http://schemas.openxmlformats.org/officeDocument/2006/relationships/notesSlide" Target="/ppt/notesSlides/notesSlide6.xml" Id="Rb622b519e46f4d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a1eef4bc44740" /><Relationship Type="http://schemas.openxmlformats.org/officeDocument/2006/relationships/notesSlide" Target="/ppt/notesSlides/notesSlide7.xml" Id="R6024d40141694ad7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Training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7"/>
              <c:pt idx="0">
                <c:v>Low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High</c:v>
              </c:pt>
            </c:strLit>
          </c:cat>
          <c:val>
            <c:numLit>
              <c:formatCode>General</c:formatCode>
              <c:ptCount val="7"/>
              <c:pt idx="0">
                <c:v>2.4</c:v>
              </c:pt>
              <c:pt idx="1">
                <c:v>1.8</c:v>
              </c:pt>
              <c:pt idx="2">
                <c:v>1.3</c:v>
              </c:pt>
              <c:pt idx="3">
                <c:v>1</c:v>
              </c:pt>
              <c:pt idx="4">
                <c:v>0.85</c:v>
              </c:pt>
              <c:pt idx="5">
                <c:v>0.8</c:v>
              </c:pt>
              <c:pt idx="6">
                <c:v>0.78</c:v>
              </c:pt>
            </c:numLit>
          </c:val>
          <c:smooth val="1"/>
        </c:ser>
        <c:ser>
          <c:idx val="1"/>
          <c:order val="1"/>
          <c:tx>
            <c:v>Validation</c:v>
          </c:tx>
          <c:spPr>
            <a:ln xmlns:a="http://schemas.openxmlformats.org/drawingml/2006/main" w="28575">
              <a:solidFill>
                <a:srgbClr val="F97362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F97362"/>
              </a:solidFill>
            </c:spPr>
          </c:marker>
          <c:cat>
            <c:strLit>
              <c:ptCount val="7"/>
              <c:pt idx="0">
                <c:v>Low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High</c:v>
              </c:pt>
            </c:strLit>
          </c:cat>
          <c:val>
            <c:numLit>
              <c:formatCode>General</c:formatCode>
              <c:ptCount val="7"/>
              <c:pt idx="0">
                <c:v>2.5</c:v>
              </c:pt>
              <c:pt idx="1">
                <c:v>1.7</c:v>
              </c:pt>
              <c:pt idx="2">
                <c:v>1.05</c:v>
              </c:pt>
              <c:pt idx="3">
                <c:v>0.82</c:v>
              </c:pt>
              <c:pt idx="4">
                <c:v>1</c:v>
              </c:pt>
              <c:pt idx="5">
                <c:v>1.45</c:v>
              </c:pt>
              <c:pt idx="6">
                <c:v>2.1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362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6FA208F-71B5-41CE-A4FA-A6CFC7DE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04 · PRE-SESSION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94CCBDE-E47B-4602-A751-6DD4D69A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Bias–variance, overfitting, and cross-validation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9BECF20F-DD53-4B8C-A960-5543CA54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Your model fits the past perfectly. Why is that bad news?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CD8C3483-760C-4AED-A02A-28C58F99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96955AFE-4EC3-4E43-801F-E6A3C072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57975" y="685800"/>
          <a:ext xmlns:a="http://schemas.openxmlformats.org/drawingml/2006/main" cx="4752975" cy="5086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8310c66d7a42a1"/>
          </a:graphicData>
        </a:graphic>
      </p:graphicFrame>
      <p:sp>
        <p:nvSpPr>
          <p:cNvPr id="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069A63F-47F2-4E9C-8C3B-307183DC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6847FC5-BCD9-44A5-9E55-D118C8E7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D9196F4-256E-48CD-94AF-608F43D5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1</a:t>
            </a:r>
          </a:p>
        </p:txBody>
      </p:sp>
    </p:spTree>
    <p:extLst>
      <p:ext uri="{BB962C8B-B14F-4D97-AF65-F5344CB8AC3E}">
        <p14:creationId xmlns:p14="http://schemas.microsoft.com/office/powerpoint/2010/main" val="1014190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54BF13A5-03FF-481B-9983-F86383A8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REQUIRED BEFORE CLASS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B53CCC-8DD1-478B-8782-5803EAF9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the article; download the package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6077223D-094F-426D-B6F7-547AF200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required-label">
            <a:extLst xmlns:a="http://schemas.openxmlformats.org/drawingml/2006/main">
              <a:ext uri="{FF2B5EF4-FFF2-40B4-BE49-F238E27FC236}">
                <a16:creationId xmlns:a16="http://schemas.microsoft.com/office/drawing/2014/main" id="{BC22FBD4-9EF7-4A36-B10C-B89F2B17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5" name="pre-required-title">
            <a:extLst xmlns:a="http://schemas.openxmlformats.org/drawingml/2006/main">
              <a:ext uri="{FF2B5EF4-FFF2-40B4-BE49-F238E27FC236}">
                <a16:creationId xmlns:a16="http://schemas.microsoft.com/office/drawing/2014/main" id="{FFCCA785-868E-4467-AA58-ED8FAAF2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Amsili, van Es &amp; Schindelbeck (2024) — Pedotransfer Functions for Available Water Capacity</a:t>
            </a:r>
          </a:p>
        </p:txBody>
      </p:sp>
      <p:sp>
        <p:nvSpPr>
          <p:cNvPr id="6" name="pre-required-purpose">
            <a:extLst xmlns:a="http://schemas.openxmlformats.org/drawingml/2006/main">
              <a:ext uri="{FF2B5EF4-FFF2-40B4-BE49-F238E27FC236}">
                <a16:creationId xmlns:a16="http://schemas.microsoft.com/office/drawing/2014/main" id="{14687D7B-389F-4A65-8F40-06549DD9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article: model comparison on an explicit validation sample</a:t>
            </a:r>
          </a:p>
        </p:txBody>
      </p:sp>
      <p:sp>
        <p:nvSpPr>
          <p:cNvPr id="7" name="pre-required-url">
            <a:extLst xmlns:a="http://schemas.openxmlformats.org/drawingml/2006/main">
              <a:ext uri="{FF2B5EF4-FFF2-40B4-BE49-F238E27FC236}">
                <a16:creationId xmlns:a16="http://schemas.microsoft.com/office/drawing/2014/main" id="{66E911EC-12D6-4321-A08E-E3D10C84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https://doi.org/10.1080/00103624.2024.2336573</a:t>
            </a:r>
          </a:p>
        </p:txBody>
      </p:sp>
      <p:sp>
        <p:nvSpPr>
          <p:cNvPr id="8" name="pre-data-label">
            <a:extLst xmlns:a="http://schemas.openxmlformats.org/drawingml/2006/main">
              <a:ext uri="{FF2B5EF4-FFF2-40B4-BE49-F238E27FC236}">
                <a16:creationId xmlns:a16="http://schemas.microsoft.com/office/drawing/2014/main" id="{11689AF2-C655-4920-8541-22B3865E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9" name="pre-data-url">
            <a:extLst xmlns:a="http://schemas.openxmlformats.org/drawingml/2006/main">
              <a:ext uri="{FF2B5EF4-FFF2-40B4-BE49-F238E27FC236}">
                <a16:creationId xmlns:a16="http://schemas.microsoft.com/office/drawing/2014/main" id="{BC90DC71-BAE8-4647-964E-BB1AD3F0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https://doi.org/10.7910/DVN/U5DAEP</a:t>
            </a:r>
          </a:p>
        </p:txBody>
      </p:sp>
      <p:sp>
        <p:nvSpPr>
          <p:cNvPr id="10" name="pre-bring-label">
            <a:extLst xmlns:a="http://schemas.openxmlformats.org/drawingml/2006/main">
              <a:ext uri="{FF2B5EF4-FFF2-40B4-BE49-F238E27FC236}">
                <a16:creationId xmlns:a16="http://schemas.microsoft.com/office/drawing/2014/main" id="{C6B20E14-CABB-49E8-8FF0-77BCD7C2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BRING TO CLASS</a:t>
            </a:r>
          </a:p>
        </p:txBody>
      </p:sp>
      <p:sp>
        <p:nvSpPr>
          <p:cNvPr id="11" name="pre-bring-copy">
            <a:extLst xmlns:a="http://schemas.openxmlformats.org/drawingml/2006/main">
              <a:ext uri="{FF2B5EF4-FFF2-40B4-BE49-F238E27FC236}">
                <a16:creationId xmlns:a16="http://schemas.microsoft.com/office/drawing/2014/main" id="{DE8F0823-D18F-48D7-8D3C-5CB7D175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Article annotated · package extracted · target result identified</a:t>
            </a:r>
          </a:p>
        </p:txBody>
      </p:sp>
      <p:sp>
        <p:nvSpPr>
          <p:cNvPr id="12" name="pre-annotation-bg">
            <a:extLst xmlns:a="http://schemas.openxmlformats.org/drawingml/2006/main">
              <a:ext uri="{FF2B5EF4-FFF2-40B4-BE49-F238E27FC236}">
                <a16:creationId xmlns:a16="http://schemas.microsoft.com/office/drawing/2014/main" id="{A0A8CD4B-A551-4C42-9D78-BC9EEB45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33550"/>
            <a:ext cx="40386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pre-annotation-title">
            <a:extLst xmlns:a="http://schemas.openxmlformats.org/drawingml/2006/main">
              <a:ext uri="{FF2B5EF4-FFF2-40B4-BE49-F238E27FC236}">
                <a16:creationId xmlns:a16="http://schemas.microsoft.com/office/drawing/2014/main" id="{12424D68-1AF9-4CFD-8F68-8EE8C1D5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Annotate four things</a:t>
            </a:r>
          </a:p>
        </p:txBody>
      </p:sp>
      <p:sp>
        <p:nvSpPr>
          <p:cNvPr id="14" name="pre-annotation-num-0">
            <a:extLst xmlns:a="http://schemas.openxmlformats.org/drawingml/2006/main">
              <a:ext uri="{FF2B5EF4-FFF2-40B4-BE49-F238E27FC236}">
                <a16:creationId xmlns:a16="http://schemas.microsoft.com/office/drawing/2014/main" id="{D880C795-76E3-4ACF-8988-3B1C67BD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0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5" name="pre-annotation-item-0">
            <a:extLst xmlns:a="http://schemas.openxmlformats.org/drawingml/2006/main">
              <a:ext uri="{FF2B5EF4-FFF2-40B4-BE49-F238E27FC236}">
                <a16:creationId xmlns:a16="http://schemas.microsoft.com/office/drawing/2014/main" id="{CB82FC5B-1F5D-47EE-AF6B-72E8F1BC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622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research question</a:t>
            </a:r>
          </a:p>
        </p:txBody>
      </p:sp>
      <p:sp>
        <p:nvSpPr>
          <p:cNvPr id="16" name="pre-annotation-num-1">
            <a:extLst xmlns:a="http://schemas.openxmlformats.org/drawingml/2006/main">
              <a:ext uri="{FF2B5EF4-FFF2-40B4-BE49-F238E27FC236}">
                <a16:creationId xmlns:a16="http://schemas.microsoft.com/office/drawing/2014/main" id="{39564039-0615-4963-BF77-17AF056D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pre-annotation-item-1">
            <a:extLst xmlns:a="http://schemas.openxmlformats.org/drawingml/2006/main">
              <a:ext uri="{FF2B5EF4-FFF2-40B4-BE49-F238E27FC236}">
                <a16:creationId xmlns:a16="http://schemas.microsoft.com/office/drawing/2014/main" id="{D2729BD2-9289-4865-8569-2509650D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method or design</a:t>
            </a:r>
          </a:p>
        </p:txBody>
      </p:sp>
      <p:sp>
        <p:nvSpPr>
          <p:cNvPr id="18" name="pre-annotation-num-2">
            <a:extLst xmlns:a="http://schemas.openxmlformats.org/drawingml/2006/main">
              <a:ext uri="{FF2B5EF4-FFF2-40B4-BE49-F238E27FC236}">
                <a16:creationId xmlns:a16="http://schemas.microsoft.com/office/drawing/2014/main" id="{95E5AA03-08FB-423D-8D8E-E7C15516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pre-annotation-item-2">
            <a:extLst xmlns:a="http://schemas.openxmlformats.org/drawingml/2006/main">
              <a:ext uri="{FF2B5EF4-FFF2-40B4-BE49-F238E27FC236}">
                <a16:creationId xmlns:a16="http://schemas.microsoft.com/office/drawing/2014/main" id="{33AADC00-50ED-43C5-9982-0132C05F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95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strongest evidence</a:t>
            </a:r>
          </a:p>
        </p:txBody>
      </p:sp>
      <p:sp>
        <p:nvSpPr>
          <p:cNvPr id="20" name="pre-annotation-num-3">
            <a:extLst xmlns:a="http://schemas.openxmlformats.org/drawingml/2006/main">
              <a:ext uri="{FF2B5EF4-FFF2-40B4-BE49-F238E27FC236}">
                <a16:creationId xmlns:a16="http://schemas.microsoft.com/office/drawing/2014/main" id="{F9FEB76E-D9D7-4BE9-8CD5-359109EC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86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pre-annotation-item-3">
            <a:extLst xmlns:a="http://schemas.openxmlformats.org/drawingml/2006/main">
              <a:ext uri="{FF2B5EF4-FFF2-40B4-BE49-F238E27FC236}">
                <a16:creationId xmlns:a16="http://schemas.microsoft.com/office/drawing/2014/main" id="{DA5247AD-0D69-4054-BE8C-62D845E7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82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limitation or doubt</a:t>
            </a:r>
          </a:p>
        </p:txBody>
      </p:sp>
      <p:sp>
        <p:nvSpPr>
          <p:cNvPr id="2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E6D732F-9DEB-4E77-B3FA-F1CDB5A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F7FCE26-1321-45E4-84F4-8467588F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2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E56DFB7-4A32-4CC5-82AF-282FA16D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2</a:t>
            </a:r>
          </a:p>
        </p:txBody>
      </p:sp>
    </p:spTree>
    <p:extLst>
      <p:ext uri="{BB962C8B-B14F-4D97-AF65-F5344CB8AC3E}">
        <p14:creationId xmlns:p14="http://schemas.microsoft.com/office/powerpoint/2010/main" val="4473698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C7724C0D-8C90-4028-A913-5D533E68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READING GUIDE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4E9702-FA8E-4129-BBA1-CCFB2CF3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for the argument, not for coverage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D3135D0-99DE-449B-AEFC-0D2336AF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reading-status-0">
            <a:extLst xmlns:a="http://schemas.openxmlformats.org/drawingml/2006/main">
              <a:ext uri="{FF2B5EF4-FFF2-40B4-BE49-F238E27FC236}">
                <a16:creationId xmlns:a16="http://schemas.microsoft.com/office/drawing/2014/main" id="{B83F6428-0C43-4822-8277-C70B06B6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5" name="pre-reading-0">
            <a:extLst xmlns:a="http://schemas.openxmlformats.org/drawingml/2006/main">
              <a:ext uri="{FF2B5EF4-FFF2-40B4-BE49-F238E27FC236}">
                <a16:creationId xmlns:a16="http://schemas.microsoft.com/office/drawing/2014/main" id="{4FB4AC90-CEC4-420C-9411-A5F186E0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9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Amsili, van Es &amp; Schindelbeck (2024) — Pedotransfer Functions for Available Water Capacity</a:t>
            </a:r>
          </a:p>
        </p:txBody>
      </p:sp>
      <p:sp>
        <p:nvSpPr>
          <p:cNvPr id="6" name="pre-reading-why-0">
            <a:extLst xmlns:a="http://schemas.openxmlformats.org/drawingml/2006/main">
              <a:ext uri="{FF2B5EF4-FFF2-40B4-BE49-F238E27FC236}">
                <a16:creationId xmlns:a16="http://schemas.microsoft.com/office/drawing/2014/main" id="{683E060A-0CA7-41B6-A5A2-71900944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article: model comparison on an explicit validation sample</a:t>
            </a:r>
          </a:p>
        </p:txBody>
      </p:sp>
      <p:sp>
        <p:nvSpPr>
          <p:cNvPr id="7" name="pre-reading-url-0">
            <a:extLst xmlns:a="http://schemas.openxmlformats.org/drawingml/2006/main">
              <a:ext uri="{FF2B5EF4-FFF2-40B4-BE49-F238E27FC236}">
                <a16:creationId xmlns:a16="http://schemas.microsoft.com/office/drawing/2014/main" id="{5A223E6E-6A31-42B8-9058-5BA83080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https://doi.org/10.1080/00103624.2024.2336573</a:t>
            </a:r>
          </a:p>
        </p:txBody>
      </p:sp>
      <p:sp>
        <p:nvSpPr>
          <p:cNvPr id="8" name="pre-reading-status-1">
            <a:extLst xmlns:a="http://schemas.openxmlformats.org/drawingml/2006/main">
              <a:ext uri="{FF2B5EF4-FFF2-40B4-BE49-F238E27FC236}">
                <a16:creationId xmlns:a16="http://schemas.microsoft.com/office/drawing/2014/main" id="{434C296C-AF6E-4F77-B53F-AE30A0C6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9" name="pre-reading-1">
            <a:extLst xmlns:a="http://schemas.openxmlformats.org/drawingml/2006/main">
              <a:ext uri="{FF2B5EF4-FFF2-40B4-BE49-F238E27FC236}">
                <a16:creationId xmlns:a16="http://schemas.microsoft.com/office/drawing/2014/main" id="{9B9B952D-2BA9-40AD-BE86-D757CCB4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Harvard Dataverse 10.7910/DVN/U5DAEP</a:t>
            </a:r>
          </a:p>
        </p:txBody>
      </p:sp>
      <p:sp>
        <p:nvSpPr>
          <p:cNvPr id="10" name="pre-reading-why-1">
            <a:extLst xmlns:a="http://schemas.openxmlformats.org/drawingml/2006/main">
              <a:ext uri="{FF2B5EF4-FFF2-40B4-BE49-F238E27FC236}">
                <a16:creationId xmlns:a16="http://schemas.microsoft.com/office/drawing/2014/main" id="{1FA30FF4-965D-4C95-B09D-1D2C5786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replication package: article PDF, training data, and model files</a:t>
            </a:r>
          </a:p>
        </p:txBody>
      </p:sp>
      <p:sp>
        <p:nvSpPr>
          <p:cNvPr id="11" name="pre-reading-url-1">
            <a:extLst xmlns:a="http://schemas.openxmlformats.org/drawingml/2006/main">
              <a:ext uri="{FF2B5EF4-FFF2-40B4-BE49-F238E27FC236}">
                <a16:creationId xmlns:a16="http://schemas.microsoft.com/office/drawing/2014/main" id="{68513662-17DF-41D4-9E41-2F6225EC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https://doi.org/10.7910/DVN/U5DAEP</a:t>
            </a:r>
          </a:p>
        </p:txBody>
      </p:sp>
      <p:sp>
        <p:nvSpPr>
          <p:cNvPr id="12" name="pre-reading-status-2">
            <a:extLst xmlns:a="http://schemas.openxmlformats.org/drawingml/2006/main">
              <a:ext uri="{FF2B5EF4-FFF2-40B4-BE49-F238E27FC236}">
                <a16:creationId xmlns:a16="http://schemas.microsoft.com/office/drawing/2014/main" id="{E6C68E69-6C51-415E-9F80-F92DCEA9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OPTIONAL · ISLR</a:t>
            </a:r>
          </a:p>
        </p:txBody>
      </p:sp>
      <p:sp>
        <p:nvSpPr>
          <p:cNvPr id="13" name="pre-reading-2">
            <a:extLst xmlns:a="http://schemas.openxmlformats.org/drawingml/2006/main">
              <a:ext uri="{FF2B5EF4-FFF2-40B4-BE49-F238E27FC236}">
                <a16:creationId xmlns:a16="http://schemas.microsoft.com/office/drawing/2014/main" id="{C0280A83-BC67-42EF-B031-685B41B5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ISLR, resampling chapter</a:t>
            </a:r>
          </a:p>
        </p:txBody>
      </p:sp>
      <p:sp>
        <p:nvSpPr>
          <p:cNvPr id="14" name="pre-reading-why-2">
            <a:extLst xmlns:a="http://schemas.openxmlformats.org/drawingml/2006/main">
              <a:ext uri="{FF2B5EF4-FFF2-40B4-BE49-F238E27FC236}">
                <a16:creationId xmlns:a16="http://schemas.microsoft.com/office/drawing/2014/main" id="{42E9B615-89E2-49B6-AC5C-B17FFEB0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Optional explanation of cross-validation and bias–variance</a:t>
            </a:r>
          </a:p>
        </p:txBody>
      </p:sp>
      <p:sp>
        <p:nvSpPr>
          <p:cNvPr id="15" name="pre-reading-url-2">
            <a:extLst xmlns:a="http://schemas.openxmlformats.org/drawingml/2006/main">
              <a:ext uri="{FF2B5EF4-FFF2-40B4-BE49-F238E27FC236}">
                <a16:creationId xmlns:a16="http://schemas.microsoft.com/office/drawing/2014/main" id="{B6699677-336A-4FF0-B0FB-2A4671F5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https://www.statlearning.com/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4B28E94-E8BF-4FB8-B18F-03D65FA9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E5CB1B1-BD01-4731-B8E3-645821F8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CC9ADBC-A954-4A4B-A98F-189798CE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3</a:t>
            </a:r>
          </a:p>
        </p:txBody>
      </p:sp>
    </p:spTree>
    <p:extLst>
      <p:ext uri="{BB962C8B-B14F-4D97-AF65-F5344CB8AC3E}">
        <p14:creationId xmlns:p14="http://schemas.microsoft.com/office/powerpoint/2010/main" val="18082546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850902AF-9E9C-4D4F-895C-FEE222F0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FE878E-58DC-41D0-AA14-6EBD8A95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Arrive able to use these words precisely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F0C8305-68C2-4E51-8526-88F0CEF0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term-0">
            <a:extLst xmlns:a="http://schemas.openxmlformats.org/drawingml/2006/main">
              <a:ext uri="{FF2B5EF4-FFF2-40B4-BE49-F238E27FC236}">
                <a16:creationId xmlns:a16="http://schemas.microsoft.com/office/drawing/2014/main" id="{F27289E9-E8C2-41CB-A729-E9013B4C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Bias</a:t>
            </a:r>
          </a:p>
        </p:txBody>
      </p:sp>
      <p:sp>
        <p:nvSpPr>
          <p:cNvPr id="5" name="pre-term-def-0">
            <a:extLst xmlns:a="http://schemas.openxmlformats.org/drawingml/2006/main">
              <a:ext uri="{FF2B5EF4-FFF2-40B4-BE49-F238E27FC236}">
                <a16:creationId xmlns:a16="http://schemas.microsoft.com/office/drawing/2014/main" id="{A03C5AD6-9426-4C8F-A3CB-BC0C9D35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1450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Systematic error from a model that is too rigid.</a:t>
            </a:r>
          </a:p>
        </p:txBody>
      </p:sp>
      <p:sp>
        <p:nvSpPr>
          <p:cNvPr id="6" name="rule-48-272">
            <a:extLst xmlns:a="http://schemas.openxmlformats.org/drawingml/2006/main">
              <a:ext uri="{FF2B5EF4-FFF2-40B4-BE49-F238E27FC236}">
                <a16:creationId xmlns:a16="http://schemas.microsoft.com/office/drawing/2014/main" id="{9C6B21A3-F197-4921-AD10-9D78B952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e-term-1">
            <a:extLst xmlns:a="http://schemas.openxmlformats.org/drawingml/2006/main">
              <a:ext uri="{FF2B5EF4-FFF2-40B4-BE49-F238E27FC236}">
                <a16:creationId xmlns:a16="http://schemas.microsoft.com/office/drawing/2014/main" id="{B71BEDCA-3EF8-4F20-AE2D-CD213331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Variance</a:t>
            </a:r>
          </a:p>
        </p:txBody>
      </p:sp>
      <p:sp>
        <p:nvSpPr>
          <p:cNvPr id="8" name="pre-term-def-1">
            <a:extLst xmlns:a="http://schemas.openxmlformats.org/drawingml/2006/main">
              <a:ext uri="{FF2B5EF4-FFF2-40B4-BE49-F238E27FC236}">
                <a16:creationId xmlns:a16="http://schemas.microsoft.com/office/drawing/2014/main" id="{2CD7D4DD-EA5B-4B88-8ABA-9C16D8BD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Sensitivity of the fitted model to the particular sample.</a:t>
            </a:r>
          </a:p>
        </p:txBody>
      </p:sp>
      <p:sp>
        <p:nvSpPr>
          <p:cNvPr id="9" name="rule-48-402">
            <a:extLst xmlns:a="http://schemas.openxmlformats.org/drawingml/2006/main">
              <a:ext uri="{FF2B5EF4-FFF2-40B4-BE49-F238E27FC236}">
                <a16:creationId xmlns:a16="http://schemas.microsoft.com/office/drawing/2014/main" id="{13BC27DF-1B89-4ADB-B2EC-A1D6D685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e-term-2">
            <a:extLst xmlns:a="http://schemas.openxmlformats.org/drawingml/2006/main">
              <a:ext uri="{FF2B5EF4-FFF2-40B4-BE49-F238E27FC236}">
                <a16:creationId xmlns:a16="http://schemas.microsoft.com/office/drawing/2014/main" id="{03319021-EBFC-484D-A90F-4DD1DE9D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Leakage</a:t>
            </a:r>
          </a:p>
        </p:txBody>
      </p:sp>
      <p:sp>
        <p:nvSpPr>
          <p:cNvPr id="11" name="pre-term-def-2">
            <a:extLst xmlns:a="http://schemas.openxmlformats.org/drawingml/2006/main">
              <a:ext uri="{FF2B5EF4-FFF2-40B4-BE49-F238E27FC236}">
                <a16:creationId xmlns:a16="http://schemas.microsoft.com/office/drawing/2014/main" id="{1E80091F-690E-4C42-9626-473E6409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9100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Information from the evaluation set enters training or preprocessing.</a:t>
            </a:r>
          </a:p>
        </p:txBody>
      </p:sp>
      <p:sp>
        <p:nvSpPr>
          <p:cNvPr id="12" name="rule-48-532">
            <a:extLst xmlns:a="http://schemas.openxmlformats.org/drawingml/2006/main">
              <a:ext uri="{FF2B5EF4-FFF2-40B4-BE49-F238E27FC236}">
                <a16:creationId xmlns:a16="http://schemas.microsoft.com/office/drawing/2014/main" id="{9A437DB8-CAB3-4654-B919-93DC541D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29B3761-3FA9-4565-B33D-A0D0250B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DBD08CB-F363-4D90-BCC9-1120750C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9385EEA-73ED-49DB-9FCA-D5CC20F0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4</a:t>
            </a:r>
          </a:p>
        </p:txBody>
      </p:sp>
    </p:spTree>
    <p:extLst>
      <p:ext uri="{BB962C8B-B14F-4D97-AF65-F5344CB8AC3E}">
        <p14:creationId xmlns:p14="http://schemas.microsoft.com/office/powerpoint/2010/main" val="7926588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95B4BB68-C265-4E33-95E6-CEFE691E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REPLICATION PACKAGE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97420F-74F8-428A-8ACA-8CAAADA8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 the data before class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49AAAD4C-9871-40FB-9BD9-1A0354BD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ata-doi-label">
            <a:extLst xmlns:a="http://schemas.openxmlformats.org/drawingml/2006/main">
              <a:ext uri="{FF2B5EF4-FFF2-40B4-BE49-F238E27FC236}">
                <a16:creationId xmlns:a16="http://schemas.microsoft.com/office/drawing/2014/main" id="{73697DFB-0D0B-45D1-86AA-904647A4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HARVARD DATAVERSE</a:t>
            </a:r>
          </a:p>
        </p:txBody>
      </p:sp>
      <p:sp>
        <p:nvSpPr>
          <p:cNvPr id="5" name="data-doi">
            <a:extLst xmlns:a="http://schemas.openxmlformats.org/drawingml/2006/main">
              <a:ext uri="{FF2B5EF4-FFF2-40B4-BE49-F238E27FC236}">
                <a16:creationId xmlns:a16="http://schemas.microsoft.com/office/drawing/2014/main" id="{2BD591F4-F47B-4EDE-A587-1964140A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10.7910/DVN/U5DAEP</a:t>
            </a:r>
          </a:p>
        </p:txBody>
      </p:sp>
      <p:sp>
        <p:nvSpPr>
          <p:cNvPr id="6" name="data-copy">
            <a:extLst xmlns:a="http://schemas.openxmlformats.org/drawingml/2006/main">
              <a:ext uri="{FF2B5EF4-FFF2-40B4-BE49-F238E27FC236}">
                <a16:creationId xmlns:a16="http://schemas.microsoft.com/office/drawing/2014/main" id="{F4D4AC46-3C19-47BE-A2DE-AD0BEF82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 the 1.2 MB training workbook and article PDF before class; the large saved R models are optional.</a:t>
            </a:r>
          </a:p>
        </p:txBody>
      </p:sp>
      <p:sp>
        <p:nvSpPr>
          <p:cNvPr id="7" name="data-path-label">
            <a:extLst xmlns:a="http://schemas.openxmlformats.org/drawingml/2006/main">
              <a:ext uri="{FF2B5EF4-FFF2-40B4-BE49-F238E27FC236}">
                <a16:creationId xmlns:a16="http://schemas.microsoft.com/office/drawing/2014/main" id="{FCAA04D2-D260-42E3-A08A-C9C7C51C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EXTRACT TO</a:t>
            </a:r>
          </a:p>
        </p:txBody>
      </p:sp>
      <p:sp>
        <p:nvSpPr>
          <p:cNvPr id="8" name="data-path">
            <a:extLst xmlns:a="http://schemas.openxmlformats.org/drawingml/2006/main">
              <a:ext uri="{FF2B5EF4-FFF2-40B4-BE49-F238E27FC236}">
                <a16:creationId xmlns:a16="http://schemas.microsoft.com/office/drawing/2014/main" id="{92EA3838-3EFD-4FC2-8511-4F884214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Desktop/quantitative-methods/04-bias-variance-and-cross-validation/data/replication/</a:t>
            </a:r>
          </a:p>
        </p:txBody>
      </p:sp>
      <p:cxnSp>
        <p:nvCxnSpPr>
          <p:cNvPr id="28" name="workflow-edge-0"/>
          <p:cNvCxnSpPr/>
          <p:nvPr/>
        </p:nvCxnSpPr>
        <p:spPr>
          <a:xfrm xmlns:a="http://schemas.openxmlformats.org/drawingml/2006/main">
            <a:off x="8489950" y="35718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9" name="workflow-edge-1"/>
          <p:cNvCxnSpPr/>
          <p:nvPr/>
        </p:nvCxnSpPr>
        <p:spPr>
          <a:xfrm xmlns:a="http://schemas.openxmlformats.org/drawingml/2006/main">
            <a:off x="9912350" y="35718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1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29DE420-0AB1-4F92-B1F8-2F85A447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BCEE7BEF-DC89-4B77-9F72-047B797C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</a:t>
            </a:r>
          </a:p>
        </p:txBody>
      </p:sp>
      <p:sp>
        <p:nvSpPr>
          <p:cNvPr id="13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A0BDF068-5DEE-46AC-9B5B-EB4EB4CB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AEC5CFBA-4AA3-4D42-98C9-A2F74804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Extract</a:t>
            </a:r>
          </a:p>
        </p:txBody>
      </p:sp>
      <p:sp>
        <p:nvSpPr>
          <p:cNvPr id="15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10BA9E85-D6A6-4C46-8F7C-3398F1D2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B04A0275-26C5-471E-8001-3217F561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locally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0465CB2-5C37-4BEF-9D7D-C7D67D09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1B5472A-883E-47BC-86BC-9AB57E2D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9088968-0757-4760-94BD-02FAF8E8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5</a:t>
            </a:r>
          </a:p>
        </p:txBody>
      </p:sp>
    </p:spTree>
    <p:extLst>
      <p:ext uri="{BB962C8B-B14F-4D97-AF65-F5344CB8AC3E}">
        <p14:creationId xmlns:p14="http://schemas.microsoft.com/office/powerpoint/2010/main" val="7389782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2B890C3B-B28F-417D-9D68-6CCAC9AB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SELF-CHECK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0A20A1-9DD2-4006-B6BA-4ADCD967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Answer on paper before class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BD55A42-0B9F-4F70-8FC4-301077CE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num-0">
            <a:extLst xmlns:a="http://schemas.openxmlformats.org/drawingml/2006/main">
              <a:ext uri="{FF2B5EF4-FFF2-40B4-BE49-F238E27FC236}">
                <a16:creationId xmlns:a16="http://schemas.microsoft.com/office/drawing/2014/main" id="{2A5B5E59-BCA8-47EE-BD2B-D562B3E6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question-0">
            <a:extLst xmlns:a="http://schemas.openxmlformats.org/drawingml/2006/main">
              <a:ext uri="{FF2B5EF4-FFF2-40B4-BE49-F238E27FC236}">
                <a16:creationId xmlns:a16="http://schemas.microsoft.com/office/drawing/2014/main" id="{8ECE6143-4727-4953-B01A-B2D9D9C4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Where can preprocessing leak?</a:t>
            </a:r>
          </a:p>
        </p:txBody>
      </p:sp>
      <p:sp>
        <p:nvSpPr>
          <p:cNvPr id="6" name="rule-138-274">
            <a:extLst xmlns:a="http://schemas.openxmlformats.org/drawingml/2006/main">
              <a:ext uri="{FF2B5EF4-FFF2-40B4-BE49-F238E27FC236}">
                <a16:creationId xmlns:a16="http://schemas.microsoft.com/office/drawing/2014/main" id="{DE38A0BB-BB6C-4F5E-84D1-F0701902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num-1">
            <a:extLst xmlns:a="http://schemas.openxmlformats.org/drawingml/2006/main">
              <a:ext uri="{FF2B5EF4-FFF2-40B4-BE49-F238E27FC236}">
                <a16:creationId xmlns:a16="http://schemas.microsoft.com/office/drawing/2014/main" id="{6D3045A1-3350-4680-A3B1-62D253F9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8EC211EC-65B5-45FA-B1BD-86A5DE83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is training error optimistic?</a:t>
            </a:r>
          </a:p>
        </p:txBody>
      </p:sp>
      <p:sp>
        <p:nvSpPr>
          <p:cNvPr id="9" name="rule-138-406">
            <a:extLst xmlns:a="http://schemas.openxmlformats.org/drawingml/2006/main">
              <a:ext uri="{FF2B5EF4-FFF2-40B4-BE49-F238E27FC236}">
                <a16:creationId xmlns:a16="http://schemas.microsoft.com/office/drawing/2014/main" id="{5409277B-C566-497D-BBDA-A648AD13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671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uestion-num-2">
            <a:extLst xmlns:a="http://schemas.openxmlformats.org/drawingml/2006/main">
              <a:ext uri="{FF2B5EF4-FFF2-40B4-BE49-F238E27FC236}">
                <a16:creationId xmlns:a16="http://schemas.microsoft.com/office/drawing/2014/main" id="{9C7EB607-66BA-48CD-BAB3-5B503282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question-2">
            <a:extLst xmlns:a="http://schemas.openxmlformats.org/drawingml/2006/main">
              <a:ext uri="{FF2B5EF4-FFF2-40B4-BE49-F238E27FC236}">
                <a16:creationId xmlns:a16="http://schemas.microsoft.com/office/drawing/2014/main" id="{CB6CD96C-E160-4294-863D-8969FE9E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When is shuffled K-fold invalid?</a:t>
            </a:r>
          </a:p>
        </p:txBody>
      </p:sp>
      <p:sp>
        <p:nvSpPr>
          <p:cNvPr id="12" name="rule-138-538">
            <a:extLst xmlns:a="http://schemas.openxmlformats.org/drawingml/2006/main">
              <a:ext uri="{FF2B5EF4-FFF2-40B4-BE49-F238E27FC236}">
                <a16:creationId xmlns:a16="http://schemas.microsoft.com/office/drawing/2014/main" id="{A0AF57EE-F511-4C91-B687-35159D12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32B4F50-CA9A-4AC8-B196-9880C25A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C4A7BBF-4453-4A0F-8D8F-63B081C3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690100C-0AFD-4E33-8F30-B3F894BF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6</a:t>
            </a:r>
          </a:p>
        </p:txBody>
      </p:sp>
    </p:spTree>
    <p:extLst>
      <p:ext uri="{BB962C8B-B14F-4D97-AF65-F5344CB8AC3E}">
        <p14:creationId xmlns:p14="http://schemas.microsoft.com/office/powerpoint/2010/main" val="7976407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ady-kicker">
            <a:extLst xmlns:a="http://schemas.openxmlformats.org/drawingml/2006/main">
              <a:ext uri="{FF2B5EF4-FFF2-40B4-BE49-F238E27FC236}">
                <a16:creationId xmlns:a16="http://schemas.microsoft.com/office/drawing/2014/main" id="{A90DE4F7-B16A-45B5-9B36-78DEBC5C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PRE-SESSION · READY CHECK</a:t>
            </a:r>
          </a:p>
        </p:txBody>
      </p:sp>
      <p:sp>
        <p:nvSpPr>
          <p:cNvPr id="2" name="ready-title">
            <a:extLst xmlns:a="http://schemas.openxmlformats.org/drawingml/2006/main">
              <a:ext uri="{FF2B5EF4-FFF2-40B4-BE49-F238E27FC236}">
                <a16:creationId xmlns:a16="http://schemas.microsoft.com/office/drawing/2014/main" id="{6BFDF2AA-A88A-4625-B3E2-C8C22433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Ready for Session 04?</a:t>
            </a:r>
          </a:p>
        </p:txBody>
      </p:sp>
      <p:sp>
        <p:nvSpPr>
          <p:cNvPr id="3" name="ready-box-0">
            <a:extLst xmlns:a="http://schemas.openxmlformats.org/drawingml/2006/main">
              <a:ext uri="{FF2B5EF4-FFF2-40B4-BE49-F238E27FC236}">
                <a16:creationId xmlns:a16="http://schemas.microsoft.com/office/drawing/2014/main" id="{5D83860C-A587-4D5F-B777-FC3E0DE3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4" name="ready-item-0">
            <a:extLst xmlns:a="http://schemas.openxmlformats.org/drawingml/2006/main">
              <a:ext uri="{FF2B5EF4-FFF2-40B4-BE49-F238E27FC236}">
                <a16:creationId xmlns:a16="http://schemas.microsoft.com/office/drawing/2014/main" id="{66076772-601B-48DE-A8DB-61D00BB0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Article annotated</a:t>
            </a:r>
          </a:p>
        </p:txBody>
      </p:sp>
      <p:sp>
        <p:nvSpPr>
          <p:cNvPr id="5" name="ready-box-1">
            <a:extLst xmlns:a="http://schemas.openxmlformats.org/drawingml/2006/main">
              <a:ext uri="{FF2B5EF4-FFF2-40B4-BE49-F238E27FC236}">
                <a16:creationId xmlns:a16="http://schemas.microsoft.com/office/drawing/2014/main" id="{F82322A3-3483-4ED7-9C7D-A98E2827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6" name="ready-item-1">
            <a:extLst xmlns:a="http://schemas.openxmlformats.org/drawingml/2006/main">
              <a:ext uri="{FF2B5EF4-FFF2-40B4-BE49-F238E27FC236}">
                <a16:creationId xmlns:a16="http://schemas.microsoft.com/office/drawing/2014/main" id="{3AAD206C-B083-48BD-9CE9-D86C4489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Dataverse package extracted</a:t>
            </a:r>
          </a:p>
        </p:txBody>
      </p:sp>
      <p:sp>
        <p:nvSpPr>
          <p:cNvPr id="7" name="ready-box-2">
            <a:extLst xmlns:a="http://schemas.openxmlformats.org/drawingml/2006/main">
              <a:ext uri="{FF2B5EF4-FFF2-40B4-BE49-F238E27FC236}">
                <a16:creationId xmlns:a16="http://schemas.microsoft.com/office/drawing/2014/main" id="{A309E2C7-1213-4AC6-844A-679BE04C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8" name="ready-item-2">
            <a:extLst xmlns:a="http://schemas.openxmlformats.org/drawingml/2006/main">
              <a:ext uri="{FF2B5EF4-FFF2-40B4-BE49-F238E27FC236}">
                <a16:creationId xmlns:a16="http://schemas.microsoft.com/office/drawing/2014/main" id="{33A38151-8A13-43B1-9ED4-69A96B8B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Target result located</a:t>
            </a:r>
          </a:p>
        </p:txBody>
      </p:sp>
      <p:sp>
        <p:nvSpPr>
          <p:cNvPr id="9" name="ready-box-3">
            <a:extLst xmlns:a="http://schemas.openxmlformats.org/drawingml/2006/main">
              <a:ext uri="{FF2B5EF4-FFF2-40B4-BE49-F238E27FC236}">
                <a16:creationId xmlns:a16="http://schemas.microsoft.com/office/drawing/2014/main" id="{64F948B3-D39A-4916-B64E-E7471BD6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0" name="ready-item-3">
            <a:extLst xmlns:a="http://schemas.openxmlformats.org/drawingml/2006/main">
              <a:ext uri="{FF2B5EF4-FFF2-40B4-BE49-F238E27FC236}">
                <a16:creationId xmlns:a16="http://schemas.microsoft.com/office/drawing/2014/main" id="{361AB14B-51F4-41B3-A1B0-7D5F8839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Self-check attempted</a:t>
            </a:r>
          </a:p>
        </p:txBody>
      </p:sp>
      <p:sp>
        <p:nvSpPr>
          <p:cNvPr id="11" name="ready-box-4">
            <a:extLst xmlns:a="http://schemas.openxmlformats.org/drawingml/2006/main">
              <a:ext uri="{FF2B5EF4-FFF2-40B4-BE49-F238E27FC236}">
                <a16:creationId xmlns:a16="http://schemas.microsoft.com/office/drawing/2014/main" id="{0FB4F973-8235-48A1-8295-CAFE9478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2" name="ready-item-4">
            <a:extLst xmlns:a="http://schemas.openxmlformats.org/drawingml/2006/main">
              <a:ext uri="{FF2B5EF4-FFF2-40B4-BE49-F238E27FC236}">
                <a16:creationId xmlns:a16="http://schemas.microsoft.com/office/drawing/2014/main" id="{CF7C95CF-CFAD-4215-9357-B662ADBB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question ready</a:t>
            </a:r>
          </a:p>
        </p:txBody>
      </p:sp>
      <p:sp>
        <p:nvSpPr>
          <p:cNvPr id="13" name="ready-question">
            <a:extLst xmlns:a="http://schemas.openxmlformats.org/drawingml/2006/main">
              <a:ext uri="{FF2B5EF4-FFF2-40B4-BE49-F238E27FC236}">
                <a16:creationId xmlns:a16="http://schemas.microsoft.com/office/drawing/2014/main" id="{EE8127C0-291B-40E6-8E3F-D21E09EE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31051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Your model fits the past perfectly. Why is that bad news?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489B3104-3B6E-456D-B275-69D2FF16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2BE269C-41BD-4EC7-BEE2-E6819C56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04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8918339-1FC4-4B78-AF2A-8FB5F571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Pre-session · 7</a:t>
            </a:r>
          </a:p>
        </p:txBody>
      </p:sp>
    </p:spTree>
    <p:extLst>
      <p:ext uri="{BB962C8B-B14F-4D97-AF65-F5344CB8AC3E}">
        <p14:creationId xmlns:p14="http://schemas.microsoft.com/office/powerpoint/2010/main" val="1412512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2026-08-23T21:42:59.6610000Z</dcterms:created>
  <dcterms:modified xsi:type="dcterms:W3CDTF">2026-08-23T21:42:59.6620000Z</dcterms:modified>
</coreProperties>
</file>