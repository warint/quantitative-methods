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9.xml" ContentType="application/vnd.openxmlformats-officedocument.presentationml.slideLayout+xml"/>
  <Override PartName="/ppt/slideLayouts/slideLayout8.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235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150">
                <a:solidFill>
                  <a:schemeClr val="tx1">
                    <a:tint val="75000"/>
                  </a:schemeClr>
                </a:solidFill>
              </a:defRPr>
            </a:lvl1pPr>
            <a:lvl2pPr marL="342900" indent="0">
              <a:buNone/>
              <a:defRPr sz="1050">
                <a:solidFill>
                  <a:schemeClr val="tx1">
                    <a:tint val="75000"/>
                  </a:schemeClr>
                </a:solidFill>
              </a:defRPr>
            </a:lvl2pPr>
            <a:lvl3pPr marL="685800" indent="0">
              <a:buNone/>
              <a:defRPr sz="950">
                <a:solidFill>
                  <a:schemeClr val="tx1">
                    <a:tint val="75000"/>
                  </a:schemeClr>
                </a:solidFill>
              </a:defRPr>
            </a:lvl3pPr>
            <a:lvl4pPr marL="1028700" indent="0">
              <a:buNone/>
              <a:defRPr sz="800">
                <a:solidFill>
                  <a:schemeClr val="tx1">
                    <a:tint val="75000"/>
                  </a:schemeClr>
                </a:solidFill>
              </a:defRPr>
            </a:lvl4pPr>
            <a:lvl5pPr marL="1371600" indent="0">
              <a:buNone/>
              <a:defRPr sz="800">
                <a:solidFill>
                  <a:schemeClr val="tx1">
                    <a:tint val="75000"/>
                  </a:schemeClr>
                </a:solidFill>
              </a:defRPr>
            </a:lvl5pPr>
            <a:lvl6pPr marL="1714500" indent="0">
              <a:buNone/>
              <a:defRPr sz="800">
                <a:solidFill>
                  <a:schemeClr val="tx1">
                    <a:tint val="75000"/>
                  </a:schemeClr>
                </a:solidFill>
              </a:defRPr>
            </a:lvl6pPr>
            <a:lvl7pPr marL="2057400" indent="0">
              <a:buNone/>
              <a:defRPr sz="800">
                <a:solidFill>
                  <a:schemeClr val="tx1">
                    <a:tint val="75000"/>
                  </a:schemeClr>
                </a:solidFill>
              </a:defRPr>
            </a:lvl7pPr>
            <a:lvl8pPr marL="2400300" indent="0">
              <a:buNone/>
              <a:defRPr sz="800">
                <a:solidFill>
                  <a:schemeClr val="tx1">
                    <a:tint val="75000"/>
                  </a:schemeClr>
                </a:solidFill>
              </a:defRPr>
            </a:lvl8pPr>
            <a:lvl9pPr marL="2743200" indent="0">
              <a:buNone/>
              <a:defRPr sz="8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1650"/>
            </a:lvl1pPr>
            <a:lvl2pPr>
              <a:defRPr sz="1400"/>
            </a:lvl2pPr>
            <a:lvl3pPr>
              <a:defRPr sz="1150"/>
            </a:lvl3pPr>
            <a:lvl4pPr>
              <a:defRPr sz="1050"/>
            </a:lvl4pPr>
            <a:lvl5pPr>
              <a:defRPr sz="1050"/>
            </a:lvl5pPr>
            <a:lvl6pPr>
              <a:defRPr sz="1050"/>
            </a:lvl6pPr>
            <a:lvl7pPr>
              <a:defRPr sz="1050"/>
            </a:lvl7pPr>
            <a:lvl8pPr>
              <a:defRPr sz="1050"/>
            </a:lvl8pPr>
            <a:lvl9pPr>
              <a:defRPr sz="10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1650"/>
            </a:lvl1pPr>
            <a:lvl2pPr>
              <a:defRPr sz="1400"/>
            </a:lvl2pPr>
            <a:lvl3pPr>
              <a:defRPr sz="1150"/>
            </a:lvl3pPr>
            <a:lvl4pPr>
              <a:defRPr sz="1050"/>
            </a:lvl4pPr>
            <a:lvl5pPr>
              <a:defRPr sz="1050"/>
            </a:lvl5pPr>
            <a:lvl6pPr>
              <a:defRPr sz="1050"/>
            </a:lvl6pPr>
            <a:lvl7pPr>
              <a:defRPr sz="1050"/>
            </a:lvl7pPr>
            <a:lvl8pPr>
              <a:defRPr sz="1050"/>
            </a:lvl8pPr>
            <a:lvl9pPr>
              <a:defRPr sz="10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400" b="1"/>
            </a:lvl1pPr>
            <a:lvl2pPr marL="342900" indent="0">
              <a:buNone/>
              <a:defRPr sz="1150" b="1"/>
            </a:lvl2pPr>
            <a:lvl3pPr marL="685800" indent="0">
              <a:buNone/>
              <a:defRPr sz="1050" b="1"/>
            </a:lvl3pPr>
            <a:lvl4pPr marL="1028700" indent="0">
              <a:buNone/>
              <a:defRPr sz="950" b="1"/>
            </a:lvl4pPr>
            <a:lvl5pPr marL="1371600" indent="0">
              <a:buNone/>
              <a:defRPr sz="950" b="1"/>
            </a:lvl5pPr>
            <a:lvl6pPr marL="1714500" indent="0">
              <a:buNone/>
              <a:defRPr sz="950" b="1"/>
            </a:lvl6pPr>
            <a:lvl7pPr marL="2057400" indent="0">
              <a:buNone/>
              <a:defRPr sz="950" b="1"/>
            </a:lvl7pPr>
            <a:lvl8pPr marL="2400300" indent="0">
              <a:buNone/>
              <a:defRPr sz="950" b="1"/>
            </a:lvl8pPr>
            <a:lvl9pPr marL="2743200" indent="0">
              <a:buNone/>
              <a:defRPr sz="95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400"/>
            </a:lvl1pPr>
            <a:lvl2pPr>
              <a:defRPr sz="1150"/>
            </a:lvl2pPr>
            <a:lvl3pPr>
              <a:defRPr sz="1050"/>
            </a:lvl3pPr>
            <a:lvl4pPr>
              <a:defRPr sz="950"/>
            </a:lvl4pPr>
            <a:lvl5pPr>
              <a:defRPr sz="950"/>
            </a:lvl5pPr>
            <a:lvl6pPr>
              <a:defRPr sz="950"/>
            </a:lvl6pPr>
            <a:lvl7pPr>
              <a:defRPr sz="950"/>
            </a:lvl7pPr>
            <a:lvl8pPr>
              <a:defRPr sz="950"/>
            </a:lvl8pPr>
            <a:lvl9pPr>
              <a:defRPr sz="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400" b="1"/>
            </a:lvl1pPr>
            <a:lvl2pPr marL="342900" indent="0">
              <a:buNone/>
              <a:defRPr sz="1150" b="1"/>
            </a:lvl2pPr>
            <a:lvl3pPr marL="685800" indent="0">
              <a:buNone/>
              <a:defRPr sz="1050" b="1"/>
            </a:lvl3pPr>
            <a:lvl4pPr marL="1028700" indent="0">
              <a:buNone/>
              <a:defRPr sz="950" b="1"/>
            </a:lvl4pPr>
            <a:lvl5pPr marL="1371600" indent="0">
              <a:buNone/>
              <a:defRPr sz="950" b="1"/>
            </a:lvl5pPr>
            <a:lvl6pPr marL="1714500" indent="0">
              <a:buNone/>
              <a:defRPr sz="950" b="1"/>
            </a:lvl6pPr>
            <a:lvl7pPr marL="2057400" indent="0">
              <a:buNone/>
              <a:defRPr sz="950" b="1"/>
            </a:lvl7pPr>
            <a:lvl8pPr marL="2400300" indent="0">
              <a:buNone/>
              <a:defRPr sz="950" b="1"/>
            </a:lvl8pPr>
            <a:lvl9pPr marL="2743200" indent="0">
              <a:buNone/>
              <a:defRPr sz="95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400"/>
            </a:lvl1pPr>
            <a:lvl2pPr>
              <a:defRPr sz="1150"/>
            </a:lvl2pPr>
            <a:lvl3pPr>
              <a:defRPr sz="1050"/>
            </a:lvl3pPr>
            <a:lvl4pPr>
              <a:defRPr sz="950"/>
            </a:lvl4pPr>
            <a:lvl5pPr>
              <a:defRPr sz="950"/>
            </a:lvl5pPr>
            <a:lvl6pPr>
              <a:defRPr sz="950"/>
            </a:lvl6pPr>
            <a:lvl7pPr>
              <a:defRPr sz="950"/>
            </a:lvl7pPr>
            <a:lvl8pPr>
              <a:defRPr sz="950"/>
            </a:lvl8pPr>
            <a:lvl9pPr>
              <a:defRPr sz="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15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1850"/>
            </a:lvl1pPr>
            <a:lvl2pPr>
              <a:defRPr sz="1650"/>
            </a:lvl2pPr>
            <a:lvl3pPr>
              <a:defRPr sz="1400"/>
            </a:lvl3pPr>
            <a:lvl4pPr>
              <a:defRPr sz="1150"/>
            </a:lvl4pPr>
            <a:lvl5pPr>
              <a:defRPr sz="1150"/>
            </a:lvl5pPr>
            <a:lvl6pPr>
              <a:defRPr sz="1150"/>
            </a:lvl6pPr>
            <a:lvl7pPr>
              <a:defRPr sz="1150"/>
            </a:lvl7pPr>
            <a:lvl8pPr>
              <a:defRPr sz="1150"/>
            </a:lvl8pPr>
            <a:lvl9pPr>
              <a:defRPr sz="11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800"/>
            </a:lvl1pPr>
            <a:lvl2pPr marL="342900" indent="0">
              <a:buNone/>
              <a:defRPr sz="700"/>
            </a:lvl2pPr>
            <a:lvl3pPr marL="685800" indent="0">
              <a:buNone/>
              <a:defRPr sz="700"/>
            </a:lvl3pPr>
            <a:lvl4pPr marL="1028700" indent="0">
              <a:buNone/>
              <a:defRPr sz="700"/>
            </a:lvl4pPr>
            <a:lvl5pPr marL="1371600" indent="0">
              <a:buNone/>
              <a:defRPr sz="700"/>
            </a:lvl5pPr>
            <a:lvl6pPr marL="1714500" indent="0">
              <a:buNone/>
              <a:defRPr sz="700"/>
            </a:lvl6pPr>
            <a:lvl7pPr marL="2057400" indent="0">
              <a:buNone/>
              <a:defRPr sz="700"/>
            </a:lvl7pPr>
            <a:lvl8pPr marL="2400300" indent="0">
              <a:buNone/>
              <a:defRPr sz="700"/>
            </a:lvl8pPr>
            <a:lvl9pPr marL="2743200" indent="0">
              <a:buNone/>
              <a:defRPr sz="70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15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1850"/>
            </a:lvl1pPr>
            <a:lvl2pPr marL="342900" indent="0">
              <a:buNone/>
              <a:defRPr sz="1650"/>
            </a:lvl2pPr>
            <a:lvl3pPr marL="685800" indent="0">
              <a:buNone/>
              <a:defRPr sz="1400"/>
            </a:lvl3pPr>
            <a:lvl4pPr marL="1028700" indent="0">
              <a:buNone/>
              <a:defRPr sz="1150"/>
            </a:lvl4pPr>
            <a:lvl5pPr marL="1371600" indent="0">
              <a:buNone/>
              <a:defRPr sz="1150"/>
            </a:lvl5pPr>
            <a:lvl6pPr marL="1714500" indent="0">
              <a:buNone/>
              <a:defRPr sz="1150"/>
            </a:lvl6pPr>
            <a:lvl7pPr marL="2057400" indent="0">
              <a:buNone/>
              <a:defRPr sz="1150"/>
            </a:lvl7pPr>
            <a:lvl8pPr marL="2400300" indent="0">
              <a:buNone/>
              <a:defRPr sz="1150"/>
            </a:lvl8pPr>
            <a:lvl9pPr marL="2743200" indent="0">
              <a:buNone/>
              <a:defRPr sz="115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800"/>
            </a:lvl1pPr>
            <a:lvl2pPr marL="342900" indent="0">
              <a:buNone/>
              <a:defRPr sz="700"/>
            </a:lvl2pPr>
            <a:lvl3pPr marL="685800" indent="0">
              <a:buNone/>
              <a:defRPr sz="700"/>
            </a:lvl3pPr>
            <a:lvl4pPr marL="1028700" indent="0">
              <a:buNone/>
              <a:defRPr sz="700"/>
            </a:lvl4pPr>
            <a:lvl5pPr marL="1371600" indent="0">
              <a:buNone/>
              <a:defRPr sz="700"/>
            </a:lvl5pPr>
            <a:lvl6pPr marL="1714500" indent="0">
              <a:buNone/>
              <a:defRPr sz="700"/>
            </a:lvl6pPr>
            <a:lvl7pPr marL="2057400" indent="0">
              <a:buNone/>
              <a:defRPr sz="700"/>
            </a:lvl7pPr>
            <a:lvl8pPr marL="2400300" indent="0">
              <a:buNone/>
              <a:defRPr sz="700"/>
            </a:lvl8pPr>
            <a:lvl9pPr marL="2743200" indent="0">
              <a:buNone/>
              <a:defRPr sz="70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7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7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7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55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85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65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4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15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15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15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15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15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150">
          <a:solidFill>
            <a:schemeClr val="tx1"/>
          </a:solidFill>
          <a:latin typeface="+mn-lt"/>
          <a:ea typeface="+mn-ea"/>
          <a:cs typeface="+mn-cs"/>
        </a:defRPr>
      </a:lvl9pPr>
    </p:bodyStyle>
    <p:otherStyle>
      <a:defPPr>
        <a:defRPr lang="en-US"/>
      </a:defPPr>
      <a:lvl1pPr algn="l" defTabSz="342900" eaLnBrk="1" hangingPunct="1" latinLnBrk="0" marL="0" rtl="0">
        <a:defRPr kern="1200" sz="1050">
          <a:solidFill>
            <a:schemeClr val="tx1"/>
          </a:solidFill>
          <a:latin typeface="+mn-lt"/>
          <a:ea typeface="+mn-ea"/>
          <a:cs typeface="+mn-cs"/>
        </a:defRPr>
      </a:lvl1pPr>
      <a:lvl2pPr algn="l" defTabSz="342900" eaLnBrk="1" hangingPunct="1" latinLnBrk="0" marL="342900" rtl="0">
        <a:defRPr kern="1200" sz="1050">
          <a:solidFill>
            <a:schemeClr val="tx1"/>
          </a:solidFill>
          <a:latin typeface="+mn-lt"/>
          <a:ea typeface="+mn-ea"/>
          <a:cs typeface="+mn-cs"/>
        </a:defRPr>
      </a:lvl2pPr>
      <a:lvl3pPr algn="l" defTabSz="342900" eaLnBrk="1" hangingPunct="1" latinLnBrk="0" marL="685800" rtl="0">
        <a:defRPr kern="1200" sz="1050">
          <a:solidFill>
            <a:schemeClr val="tx1"/>
          </a:solidFill>
          <a:latin typeface="+mn-lt"/>
          <a:ea typeface="+mn-ea"/>
          <a:cs typeface="+mn-cs"/>
        </a:defRPr>
      </a:lvl3pPr>
      <a:lvl4pPr algn="l" defTabSz="342900" eaLnBrk="1" hangingPunct="1" latinLnBrk="0" marL="1028700" rtl="0">
        <a:defRPr kern="1200" sz="1050">
          <a:solidFill>
            <a:schemeClr val="tx1"/>
          </a:solidFill>
          <a:latin typeface="+mn-lt"/>
          <a:ea typeface="+mn-ea"/>
          <a:cs typeface="+mn-cs"/>
        </a:defRPr>
      </a:lvl4pPr>
      <a:lvl5pPr algn="l" defTabSz="342900" eaLnBrk="1" hangingPunct="1" latinLnBrk="0" marL="1371600" rtl="0">
        <a:defRPr kern="1200" sz="1050">
          <a:solidFill>
            <a:schemeClr val="tx1"/>
          </a:solidFill>
          <a:latin typeface="+mn-lt"/>
          <a:ea typeface="+mn-ea"/>
          <a:cs typeface="+mn-cs"/>
        </a:defRPr>
      </a:lvl5pPr>
      <a:lvl6pPr algn="l" defTabSz="342900" eaLnBrk="1" hangingPunct="1" latinLnBrk="0" marL="1714500" rtl="0">
        <a:defRPr kern="1200" sz="1050">
          <a:solidFill>
            <a:schemeClr val="tx1"/>
          </a:solidFill>
          <a:latin typeface="+mn-lt"/>
          <a:ea typeface="+mn-ea"/>
          <a:cs typeface="+mn-cs"/>
        </a:defRPr>
      </a:lvl6pPr>
      <a:lvl7pPr algn="l" defTabSz="342900" eaLnBrk="1" hangingPunct="1" latinLnBrk="0" marL="2057400" rtl="0">
        <a:defRPr kern="1200" sz="1050">
          <a:solidFill>
            <a:schemeClr val="tx1"/>
          </a:solidFill>
          <a:latin typeface="+mn-lt"/>
          <a:ea typeface="+mn-ea"/>
          <a:cs typeface="+mn-cs"/>
        </a:defRPr>
      </a:lvl7pPr>
      <a:lvl8pPr algn="l" defTabSz="342900" eaLnBrk="1" hangingPunct="1" latinLnBrk="0" marL="2400300" rtl="0">
        <a:defRPr kern="1200" sz="1050">
          <a:solidFill>
            <a:schemeClr val="tx1"/>
          </a:solidFill>
          <a:latin typeface="+mn-lt"/>
          <a:ea typeface="+mn-ea"/>
          <a:cs typeface="+mn-cs"/>
        </a:defRPr>
      </a:lvl8pPr>
      <a:lvl9pPr algn="l" defTabSz="342900" eaLnBrk="1" hangingPunct="1" latinLnBrk="0" marL="2743200" rtl="0">
        <a:defRPr kern="1200" sz="10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ROUP-ASSESSMENT.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Git, GitHub, and Working as a Group</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Session 02 pre-session · The record of who did what</a:t>
            </a:r>
            <a:br/>
            <a:br/>
            <a:r>
              <a:rPr/>
              <a:t>Thierry Warin</a:t>
            </a:r>
          </a:p>
        </p:txBody>
      </p:sp>
      <p:sp>
        <p:nvSpPr>
          <p:cNvPr id="4" name="Date Placeholder 3"/>
          <p:cNvSpPr>
            <a:spLocks noGrp="1"/>
          </p:cNvSpPr>
          <p:nvPr>
            <p:ph idx="10" sz="half" type="dt"/>
          </p:nvPr>
        </p:nvSpPr>
        <p:spPr/>
        <p:txBody>
          <a:bodyPr/>
          <a:lstStyle/>
          <a:p>
            <a:pPr lvl="0" indent="0" marL="0">
              <a:buNone/>
            </a:pPr>
            <a:r>
              <a:rPr/>
              <a:t>18 August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Before you start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you already have</a:t>
            </a:r>
          </a:p>
        </p:txBody>
      </p:sp>
      <p:sp>
        <p:nvSpPr>
          <p:cNvPr id="3" name="Content Placeholder 2"/>
          <p:cNvSpPr>
            <a:spLocks noGrp="1"/>
          </p:cNvSpPr>
          <p:nvPr>
            <p:ph idx="1"/>
          </p:nvPr>
        </p:nvSpPr>
        <p:spPr/>
        <p:txBody>
          <a:bodyPr/>
          <a:lstStyle/>
          <a:p>
            <a:pPr lvl="0" indent="0" marL="0">
              <a:buNone/>
            </a:pPr>
            <a:r>
              <a:rPr/>
              <a:t>From the Session 01 pre-session, on the machine you are holding:</a:t>
            </a:r>
          </a:p>
          <a:p>
            <a:pPr lvl="0"/>
            <a:r>
              <a:rPr/>
              <a:t>VS Codium, with its integrated terminal</a:t>
            </a:r>
          </a:p>
          <a:p>
            <a:pPr lvl="0"/>
            <a:r>
              <a:rPr/>
              <a:t>A Python environment that imports numpy, pandas and scikit-learn</a:t>
            </a:r>
          </a:p>
          <a:p>
            <a:pPr lvl="0"/>
            <a:r>
              <a:rPr/>
              <a:t>Ollama serving Qwen 2.5 Coder, verified with the wifi off</a:t>
            </a:r>
          </a:p>
          <a:p>
            <a:pPr lvl="0"/>
            <a:r>
              <a:rPr/>
              <a:t>aider, editing real files from the terminal</a:t>
            </a:r>
          </a:p>
          <a:p>
            <a:pPr lvl="0" indent="0" marL="0">
              <a:buNone/>
            </a:pPr>
            <a:r>
              <a:rPr/>
              <a:t>If any of those is missing, fix it before this. Everything below assumes a working workstation.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this session adds</a:t>
            </a:r>
          </a:p>
        </p:txBody>
      </p:sp>
      <p:sp>
        <p:nvSpPr>
          <p:cNvPr id="3" name="Content Placeholder 2"/>
          <p:cNvSpPr>
            <a:spLocks noGrp="1"/>
          </p:cNvSpPr>
          <p:nvPr>
            <p:ph idx="1"/>
          </p:nvPr>
        </p:nvSpPr>
        <p:spPr/>
        <p:txBody>
          <a:bodyPr/>
          <a:lstStyle/>
          <a:p>
            <a:pPr lvl="0" indent="0" marL="0">
              <a:buNone/>
            </a:pPr>
            <a:r>
              <a:rPr/>
              <a:t>You are about to start working </a:t>
            </a:r>
            <a:r>
              <a:rPr b="1"/>
              <a:t>in a group of three</a:t>
            </a:r>
            <a:r>
              <a:rPr/>
              <a:t>, on a shared codebase.</a:t>
            </a:r>
          </a:p>
          <a:p>
            <a:pPr lvl="0"/>
            <a:r>
              <a:rPr/>
              <a:t>A place to put the work where all three of you can reach it</a:t>
            </a:r>
          </a:p>
          <a:p>
            <a:pPr lvl="0"/>
            <a:r>
              <a:rPr/>
              <a:t>A record of who contributed what, which the course uses in assessment</a:t>
            </a:r>
          </a:p>
          <a:p>
            <a:pPr lvl="0"/>
            <a:r>
              <a:rPr/>
              <a:t>A way to disagree with each other’s code without losing either version</a:t>
            </a:r>
          </a:p>
          <a:p>
            <a:pPr lvl="0" indent="0" marL="0">
              <a:buNone/>
            </a:pPr>
            <a:r>
              <a:rPr/>
              <a:t>Budget 45 minutes. Same conventions as before: </a:t>
            </a:r>
            <a:r>
              <a:rPr b="1"/>
              <a:t>download</a:t>
            </a:r>
            <a:r>
              <a:rPr/>
              <a:t> means a browser, </a:t>
            </a:r>
            <a:r>
              <a:rPr b="1"/>
              <a:t>VS Codium terminal</a:t>
            </a:r>
            <a:r>
              <a:rPr/>
              <a:t> means the panel inside the editor.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the record matters here</a:t>
            </a:r>
          </a:p>
        </p:txBody>
      </p:sp>
      <p:sp>
        <p:nvSpPr>
          <p:cNvPr id="3" name="Content Placeholder 2"/>
          <p:cNvSpPr>
            <a:spLocks noGrp="1"/>
          </p:cNvSpPr>
          <p:nvPr>
            <p:ph idx="1"/>
          </p:nvPr>
        </p:nvSpPr>
        <p:spPr/>
        <p:txBody>
          <a:bodyPr/>
          <a:lstStyle/>
          <a:p>
            <a:pPr lvl="0" indent="0" marL="0">
              <a:buNone/>
            </a:pPr>
            <a:r>
              <a:rPr/>
              <a:t>Group marks reward the group. This course checks that the group mark reflects what each member did, using four records — and one of them is your commit history.</a:t>
            </a:r>
          </a:p>
          <a:p>
            <a:pPr lvl="0" indent="0" marL="0">
              <a:buNone/>
            </a:pPr>
            <a:r>
              <a:rPr/>
              <a:t>See </a:t>
            </a:r>
            <a:r>
              <a:rPr>
                <a:hlinkClick r:id="rId2"/>
                <a:latin typeface="Courier"/>
              </a:rPr>
              <a:t>GROUP-ASSESSMENT.md</a:t>
            </a:r>
            <a:r>
              <a:rPr/>
              <a:t> for the full policy. The short version: work that cannot be attributed to you counts as work you did not do.</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Git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Install Git</a:t>
            </a:r>
          </a:p>
        </p:txBody>
      </p:sp>
      <p:sp>
        <p:nvSpPr>
          <p:cNvPr id="3" name="Content Placeholder 2"/>
          <p:cNvSpPr>
            <a:spLocks noGrp="1"/>
          </p:cNvSpPr>
          <p:nvPr>
            <p:ph idx="1"/>
          </p:nvPr>
        </p:nvSpPr>
        <p:spPr/>
        <p:txBody>
          <a:bodyPr/>
          <a:lstStyle/>
          <a:p>
            <a:pPr lvl="0" indent="0" marL="0">
              <a:buNone/>
            </a:pPr>
            <a:r>
              <a:rPr/>
              <a:t>download</a:t>
            </a:r>
          </a:p>
          <a:p>
            <a:pPr lvl="0" indent="0" marL="0">
              <a:buNone/>
            </a:pPr>
            <a:r>
              <a:rPr/>
              <a:t>Go to </a:t>
            </a:r>
            <a:r>
              <a:rPr b="1"/>
              <a:t>git-scm.com/downloads</a:t>
            </a:r>
            <a:r>
              <a:rPr/>
              <a:t> and run the installer for your system. Accept every default.</a:t>
            </a:r>
          </a:p>
          <a:p>
            <a:pPr lvl="0" indent="0" marL="0">
              <a:buNone/>
            </a:pPr>
            <a:r>
              <a:rPr/>
              <a:t>macOS may already have it. The next slide tells you how to check.</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Tell git who you are</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6287E"/>
                </a:solidFill>
                <a:latin typeface="Courier"/>
              </a:rPr>
              <a:t>git</a:t>
            </a:r>
            <a:r>
              <a:rPr>
                <a:latin typeface="Courier"/>
              </a:rPr>
              <a:t> </a:t>
            </a:r>
            <a:r>
              <a:rPr>
                <a:solidFill>
                  <a:srgbClr val="7D9029"/>
                </a:solidFill>
                <a:latin typeface="Courier"/>
              </a:rPr>
              <a:t>--version</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user.name  </a:t>
            </a:r>
            <a:r>
              <a:rPr>
                <a:solidFill>
                  <a:srgbClr val="4070A0"/>
                </a:solidFill>
                <a:latin typeface="Courier"/>
              </a:rPr>
              <a:t>"Your Full Name"</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user.email </a:t>
            </a:r>
            <a:r>
              <a:rPr>
                <a:solidFill>
                  <a:srgbClr val="4070A0"/>
                </a:solidFill>
                <a:latin typeface="Courier"/>
              </a:rPr>
              <a:t>"your.name@hec.ca"</a:t>
            </a:r>
          </a:p>
          <a:p>
            <a:pPr lvl="0" indent="0" marL="0">
              <a:buNone/>
            </a:pPr>
            <a:r>
              <a:rPr b="1"/>
              <a:t>Use your real name and your university email.</a:t>
            </a:r>
            <a:r>
              <a:rPr/>
              <a:t> Commits from </a:t>
            </a:r>
            <a:r>
              <a:rPr>
                <a:latin typeface="Courier"/>
              </a:rPr>
              <a:t>unknown@localhost</a:t>
            </a:r>
            <a:r>
              <a:rPr/>
              <a:t> cannot be attributed to you, and unattributed work counts as work you did not do.</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Report it to me</a:t>
            </a:r>
          </a:p>
        </p:txBody>
      </p:sp>
      <p:sp>
        <p:nvSpPr>
          <p:cNvPr id="3" name="Content Placeholder 2"/>
          <p:cNvSpPr>
            <a:spLocks noGrp="1"/>
          </p:cNvSpPr>
          <p:nvPr>
            <p:ph idx="1"/>
          </p:nvPr>
        </p:nvSpPr>
        <p:spPr/>
        <p:txBody>
          <a:bodyPr/>
          <a:lstStyle/>
          <a:p>
            <a:pPr lvl="0" indent="0" marL="0">
              <a:buNone/>
            </a:pPr>
            <a:r>
              <a:rPr/>
              <a:t>Bring your exact </a:t>
            </a:r>
            <a:r>
              <a:rPr>
                <a:latin typeface="Courier"/>
              </a:rPr>
              <a:t>user.name</a:t>
            </a:r>
            <a:r>
              <a:rPr/>
              <a:t> and </a:t>
            </a:r>
            <a:r>
              <a:rPr>
                <a:latin typeface="Courier"/>
              </a:rPr>
              <a:t>user.email</a:t>
            </a:r>
            <a:r>
              <a:rPr/>
              <a:t> to Session 02.</a:t>
            </a:r>
          </a:p>
          <a:p>
            <a:pPr lvl="0" indent="0">
              <a:buNone/>
            </a:pPr>
            <a:r>
              <a:rPr>
                <a:solidFill>
                  <a:srgbClr val="06287E"/>
                </a:solidFill>
                <a:latin typeface="Courier"/>
              </a:rPr>
              <a:t>git</a:t>
            </a:r>
            <a:r>
              <a:rPr>
                <a:latin typeface="Courier"/>
              </a:rPr>
              <a:t> config </a:t>
            </a:r>
            <a:r>
              <a:rPr>
                <a:solidFill>
                  <a:srgbClr val="7D9029"/>
                </a:solidFill>
                <a:latin typeface="Courier"/>
              </a:rPr>
              <a:t>--global</a:t>
            </a:r>
            <a:r>
              <a:rPr>
                <a:latin typeface="Courier"/>
              </a:rPr>
              <a:t> user.name</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user.email</a:t>
            </a:r>
          </a:p>
          <a:p>
            <a:pPr lvl="0" indent="0" marL="0">
              <a:buNone/>
            </a:pPr>
            <a:r>
              <a:rPr/>
              <a:t>If your git email differs from the one on the roster, your commits will not be matched to you, and the contribution report will show you as having done nothing. This takes ten seconds to prevent and is tedious to repair.</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commit is</a:t>
            </a:r>
          </a:p>
        </p:txBody>
      </p:sp>
      <p:sp>
        <p:nvSpPr>
          <p:cNvPr id="3" name="Content Placeholder 2"/>
          <p:cNvSpPr>
            <a:spLocks noGrp="1"/>
          </p:cNvSpPr>
          <p:nvPr>
            <p:ph idx="1"/>
          </p:nvPr>
        </p:nvSpPr>
        <p:spPr/>
        <p:txBody>
          <a:bodyPr/>
          <a:lstStyle/>
          <a:p>
            <a:pPr lvl="0" indent="0" marL="0">
              <a:buNone/>
            </a:pPr>
            <a:r>
              <a:rPr/>
              <a:t>A commit is a </a:t>
            </a:r>
            <a:r>
              <a:rPr b="1"/>
              <a:t>labelled snapshot</a:t>
            </a:r>
            <a:r>
              <a:rPr/>
              <a:t> of your work, with an author and a message.</a:t>
            </a:r>
          </a:p>
          <a:p>
            <a:pPr lvl="0"/>
            <a:r>
              <a:rPr/>
              <a:t>It is not a backup — it is a statement about what changed and why</a:t>
            </a:r>
          </a:p>
          <a:p>
            <a:pPr lvl="0"/>
            <a:r>
              <a:rPr/>
              <a:t>The message is written for the person reading it in six weeks</a:t>
            </a:r>
          </a:p>
          <a:p>
            <a:pPr lvl="0"/>
            <a:r>
              <a:rPr/>
              <a:t>That person is usually you</a:t>
            </a:r>
          </a:p>
          <a:p>
            <a:pPr lvl="0" indent="0" marL="0">
              <a:buNone/>
            </a:pPr>
            <a:r>
              <a:rPr>
                <a:latin typeface="Courier"/>
              </a:rPr>
              <a:t>git commit -m "update"</a:t>
            </a:r>
            <a:r>
              <a:rPr/>
              <a:t> tells nobody anything. </a:t>
            </a:r>
            <a:r>
              <a:rPr>
                <a:latin typeface="Courier"/>
              </a:rPr>
              <a:t>"Fix leakage: move scaler inside the CV pipeline"</a:t>
            </a:r>
            <a:r>
              <a:rPr/>
              <a:t> tells them everything.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GitHub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your account</a:t>
            </a:r>
          </a:p>
        </p:txBody>
      </p:sp>
      <p:sp>
        <p:nvSpPr>
          <p:cNvPr id="3" name="Content Placeholder 2"/>
          <p:cNvSpPr>
            <a:spLocks noGrp="1"/>
          </p:cNvSpPr>
          <p:nvPr>
            <p:ph idx="1"/>
          </p:nvPr>
        </p:nvSpPr>
        <p:spPr/>
        <p:txBody>
          <a:bodyPr/>
          <a:lstStyle/>
          <a:p>
            <a:pPr lvl="0" indent="-342900" marL="342900">
              <a:buAutoNum type="arabicPeriod"/>
            </a:pPr>
            <a:r>
              <a:rPr/>
              <a:t>Go to </a:t>
            </a:r>
            <a:r>
              <a:rPr b="1"/>
              <a:t>github.com</a:t>
            </a:r>
            <a:r>
              <a:rPr/>
              <a:t> and choose </a:t>
            </a:r>
            <a:r>
              <a:rPr b="1"/>
              <a:t>Sign up</a:t>
            </a:r>
            <a:r>
              <a:rPr/>
              <a:t>.</a:t>
            </a:r>
          </a:p>
          <a:p>
            <a:pPr lvl="0" indent="-342900" marL="342900">
              <a:buAutoNum type="arabicPeriod"/>
            </a:pPr>
            <a:r>
              <a:rPr/>
              <a:t>Use an email you will still have after you graduate.</a:t>
            </a:r>
          </a:p>
          <a:p>
            <a:pPr lvl="0" indent="-342900" marL="342900">
              <a:buAutoNum type="arabicPeriod"/>
            </a:pPr>
            <a:r>
              <a:rPr/>
              <a:t>Pick a username you would put on a CV — this is a professional record.</a:t>
            </a:r>
          </a:p>
          <a:p>
            <a:pPr lvl="0" indent="-342900" marL="342900">
              <a:buAutoNum type="arabicPeriod"/>
            </a:pPr>
            <a:r>
              <a:rPr/>
              <a:t>Verify the email GitHub sends you.</a:t>
            </a:r>
          </a:p>
          <a:p>
            <a:pPr lvl="0" indent="-342900" marL="342900">
              <a:buAutoNum type="arabicPeriod"/>
            </a:pPr>
            <a:r>
              <a:rPr/>
              <a:t>Enable </a:t>
            </a:r>
            <a:r>
              <a:rPr b="1"/>
              <a:t>two-factor authentication</a:t>
            </a:r>
            <a:r>
              <a:rPr/>
              <a:t> when prompted. GitHub requires it.</a:t>
            </a:r>
          </a:p>
          <a:p>
            <a:pPr lvl="0" indent="0" marL="0">
              <a:buNone/>
            </a:pPr>
            <a:r>
              <a:rPr/>
              <a:t>[ github.com/signup — email, password, username, then a verification step ]</a:t>
            </a:r>
          </a:p>
          <a:p>
            <a:pPr lvl="0" indent="0" marL="0">
              <a:buNone/>
            </a:pPr>
            <a:r>
              <a:rPr/>
              <a:t>Free accounts include unlimited private repositories.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Create your group repository</a:t>
            </a:r>
          </a:p>
        </p:txBody>
      </p:sp>
      <p:sp>
        <p:nvSpPr>
          <p:cNvPr id="4" name="Text Placeholder 3"/>
          <p:cNvSpPr>
            <a:spLocks noGrp="1"/>
          </p:cNvSpPr>
          <p:nvPr>
            <p:ph idx="2" sz="half" type="body"/>
          </p:nvPr>
        </p:nvSpPr>
        <p:spPr/>
        <p:txBody>
          <a:bodyPr/>
          <a:lstStyle/>
          <a:p>
            <a:pPr lvl="0" indent="0" marL="0">
              <a:buNone/>
            </a:pPr>
            <a:r>
              <a:rPr b="1"/>
              <a:t>One person per group</a:t>
            </a:r>
            <a:r>
              <a:rPr/>
              <a:t> does this. On github.com, click </a:t>
            </a:r>
            <a:r>
              <a:rPr b="1"/>
              <a:t>+</a:t>
            </a:r>
            <a:r>
              <a:rPr/>
              <a:t> → </a:t>
            </a:r>
            <a:r>
              <a:rPr b="1"/>
              <a:t>New repository</a:t>
            </a:r>
            <a: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What to put</a:t>
                      </a:r>
                    </a:p>
                  </a:txBody>
                  <a:tcPr/>
                </a:tc>
              </a:tr>
              <a:tr h="0">
                <a:tc>
                  <a:txBody>
                    <a:bodyPr/>
                    <a:lstStyle/>
                    <a:p>
                      <a:pPr lvl="0" indent="0" marL="0">
                        <a:buNone/>
                      </a:pPr>
                      <a:r>
                        <a:rPr b="1"/>
                        <a:t>Repository name</a:t>
                      </a:r>
                    </a:p>
                  </a:txBody>
                </a:tc>
                <a:tc>
                  <a:txBody>
                    <a:bodyPr/>
                    <a:lstStyle/>
                    <a:p>
                      <a:pPr lvl="0" indent="0" marL="0">
                        <a:buNone/>
                      </a:pPr>
                      <a:r>
                        <a:rPr>
                          <a:latin typeface="Courier"/>
                        </a:rPr>
                        <a:t>qmib-gXX</a:t>
                      </a:r>
                      <a:r>
                        <a:rPr/>
                        <a:t> (XX = your group number)</a:t>
                      </a:r>
                    </a:p>
                  </a:txBody>
                </a:tc>
              </a:tr>
              <a:tr h="0">
                <a:tc>
                  <a:txBody>
                    <a:bodyPr/>
                    <a:lstStyle/>
                    <a:p>
                      <a:pPr lvl="0" indent="0" marL="0">
                        <a:buNone/>
                      </a:pPr>
                      <a:r>
                        <a:rPr b="1"/>
                        <a:t>Description</a:t>
                      </a:r>
                    </a:p>
                  </a:txBody>
                </a:tc>
                <a:tc>
                  <a:txBody>
                    <a:bodyPr/>
                    <a:lstStyle/>
                    <a:p>
                      <a:pPr lvl="0" indent="0" marL="0">
                        <a:buNone/>
                      </a:pPr>
                      <a:r>
                        <a:rPr>
                          <a:latin typeface="Courier"/>
                        </a:rPr>
                        <a:t>Group work</a:t>
                      </a:r>
                    </a:p>
                  </a:txBody>
                </a:tc>
              </a:tr>
              <a:tr h="0">
                <a:tc>
                  <a:txBody>
                    <a:bodyPr/>
                    <a:lstStyle/>
                    <a:p>
                      <a:pPr lvl="0" indent="0" marL="0">
                        <a:buNone/>
                      </a:pPr>
                      <a:r>
                        <a:rPr b="1"/>
                        <a:t>Visibility</a:t>
                      </a:r>
                    </a:p>
                  </a:txBody>
                </a:tc>
                <a:tc>
                  <a:txBody>
                    <a:bodyPr/>
                    <a:lstStyle/>
                    <a:p>
                      <a:pPr lvl="0" indent="0" marL="0">
                        <a:buNone/>
                      </a:pPr>
                      <a:r>
                        <a:rPr b="1"/>
                        <a:t>Private</a:t>
                      </a:r>
                    </a:p>
                  </a:txBody>
                </a:tc>
              </a:tr>
              <a:tr h="0">
                <a:tc>
                  <a:txBody>
                    <a:bodyPr/>
                    <a:lstStyle/>
                    <a:p>
                      <a:pPr lvl="0" indent="0" marL="0">
                        <a:buNone/>
                      </a:pPr>
                      <a:r>
                        <a:rPr b="1"/>
                        <a:t>Initialize with README</a:t>
                      </a:r>
                    </a:p>
                  </a:txBody>
                </a:tc>
                <a:tc>
                  <a:txBody>
                    <a:bodyPr/>
                    <a:lstStyle/>
                    <a:p>
                      <a:pPr lvl="0" indent="0" marL="0">
                        <a:buNone/>
                      </a:pPr>
                      <a:r>
                        <a:rPr/>
                        <a:t>✅ tick it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github.com/new — owner, name, description, Public/Private, README checkbox ]</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 the other three people</a:t>
            </a:r>
          </a:p>
        </p:txBody>
      </p:sp>
      <p:sp>
        <p:nvSpPr>
          <p:cNvPr id="3" name="Content Placeholder 2"/>
          <p:cNvSpPr>
            <a:spLocks noGrp="1"/>
          </p:cNvSpPr>
          <p:nvPr>
            <p:ph idx="1"/>
          </p:nvPr>
        </p:nvSpPr>
        <p:spPr/>
        <p:txBody>
          <a:bodyPr/>
          <a:lstStyle/>
          <a:p>
            <a:pPr lvl="0" indent="0" marL="0">
              <a:buNone/>
            </a:pPr>
            <a:r>
              <a:rPr b="1"/>
              <a:t>Settings → Collaborators → Add people.</a:t>
            </a:r>
          </a:p>
          <a:p>
            <a:pPr lvl="0"/>
            <a:r>
              <a:rPr/>
              <a:t>Your two teammates</a:t>
            </a:r>
          </a:p>
          <a:p>
            <a:pPr lvl="0"/>
            <a:r>
              <a:rPr/>
              <a:t>Me</a:t>
            </a:r>
          </a:p>
          <a:p>
            <a:pPr lvl="0" indent="0" marL="0">
              <a:buNone/>
            </a:pPr>
            <a:r>
              <a:rPr/>
              <a:t>A private repository I cannot see is a repository I cannot mark. Do this in the same sitting — it is the step groups most often forget.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Connecting it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it into VS Codium</a:t>
            </a:r>
          </a:p>
        </p:txBody>
      </p:sp>
      <p:sp>
        <p:nvSpPr>
          <p:cNvPr id="3" name="Content Placeholder 2"/>
          <p:cNvSpPr>
            <a:spLocks noGrp="1"/>
          </p:cNvSpPr>
          <p:nvPr>
            <p:ph idx="1"/>
          </p:nvPr>
        </p:nvSpPr>
        <p:spPr/>
        <p:txBody>
          <a:bodyPr/>
          <a:lstStyle/>
          <a:p>
            <a:pPr lvl="0" indent="0" marL="0">
              <a:buNone/>
            </a:pPr>
            <a:r>
              <a:rPr/>
              <a:t>On the repository page, click the green </a:t>
            </a:r>
            <a:r>
              <a:rPr b="1"/>
              <a:t>Code</a:t>
            </a:r>
            <a:r>
              <a:rPr/>
              <a:t> button and copy the </a:t>
            </a:r>
            <a:r>
              <a:rPr b="1"/>
              <a:t>HTTPS</a:t>
            </a:r>
            <a:r>
              <a:rPr/>
              <a:t> URL.</a:t>
            </a:r>
          </a:p>
          <a:p>
            <a:pPr lvl="0" indent="0" marL="0">
              <a:buNone/>
            </a:pPr>
            <a:r>
              <a:rPr/>
              <a:t>VS Codium terminal</a:t>
            </a:r>
          </a:p>
          <a:p>
            <a:pPr lvl="0" indent="0">
              <a:buNone/>
            </a:pPr>
            <a:r>
              <a:rPr>
                <a:solidFill>
                  <a:srgbClr val="06287E"/>
                </a:solidFill>
                <a:latin typeface="Courier"/>
              </a:rPr>
              <a:t>git</a:t>
            </a:r>
            <a:r>
              <a:rPr>
                <a:latin typeface="Courier"/>
              </a:rPr>
              <a:t> clone https://github.com/OWNER/qmib-gXX.git</a:t>
            </a:r>
            <a:br/>
            <a:r>
              <a:rPr>
                <a:solidFill>
                  <a:srgbClr val="008000"/>
                </a:solidFill>
                <a:latin typeface="Courier"/>
              </a:rPr>
              <a:t>cd</a:t>
            </a:r>
            <a:r>
              <a:rPr>
                <a:latin typeface="Courier"/>
              </a:rPr>
              <a:t> qmib-gXX</a:t>
            </a:r>
          </a:p>
          <a:p>
            <a:pPr lvl="0" indent="0" marL="0">
              <a:buNone/>
            </a:pPr>
            <a:r>
              <a:rPr/>
              <a:t>Then </a:t>
            </a:r>
            <a:r>
              <a:rPr>
                <a:latin typeface="Courier"/>
              </a:rPr>
              <a:t>File → Open Folder…</a:t>
            </a:r>
            <a:r>
              <a:rPr/>
              <a:t> and choose that folder.</a:t>
            </a:r>
          </a:p>
          <a:p>
            <a:pPr lvl="0" indent="0" marL="0">
              <a:buNone/>
            </a:pPr>
            <a:r>
              <a:rPr/>
              <a:t>The Explorer shows </a:t>
            </a:r>
            <a:r>
              <a:rPr>
                <a:latin typeface="Courier"/>
              </a:rPr>
              <a:t>README.md</a:t>
            </a:r>
            <a:r>
              <a:rPr/>
              <a:t>, and the bottom-left shows the branch </a:t>
            </a:r>
            <a:r>
              <a:rPr>
                <a:latin typeface="Courier"/>
              </a:rPr>
              <a:t>main</a:t>
            </a:r>
            <a:r>
              <a:rPr/>
              <a: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password will not work</a:t>
            </a:r>
          </a:p>
        </p:txBody>
      </p:sp>
      <p:sp>
        <p:nvSpPr>
          <p:cNvPr id="3" name="Content Placeholder 2"/>
          <p:cNvSpPr>
            <a:spLocks noGrp="1"/>
          </p:cNvSpPr>
          <p:nvPr>
            <p:ph idx="1"/>
          </p:nvPr>
        </p:nvSpPr>
        <p:spPr/>
        <p:txBody>
          <a:bodyPr/>
          <a:lstStyle/>
          <a:p>
            <a:pPr lvl="0" indent="0" marL="0">
              <a:buNone/>
            </a:pPr>
            <a:r>
              <a:rPr/>
              <a:t>When you first push, GitHub asks for credentials and </a:t>
            </a:r>
            <a:r>
              <a:rPr b="1"/>
              <a:t>rejects your account password</a:t>
            </a:r>
            <a:r>
              <a:rPr/>
              <a:t>. It wants a </a:t>
            </a:r>
            <a:r>
              <a:rPr i="1"/>
              <a:t>token</a:t>
            </a:r>
            <a:r>
              <a:rPr/>
              <a:t>.</a:t>
            </a:r>
          </a:p>
          <a:p>
            <a:pPr lvl="0" indent="-342900" marL="342900">
              <a:buAutoNum type="arabicPeriod"/>
            </a:pPr>
            <a:r>
              <a:rPr/>
              <a:t>github.com → your avatar → </a:t>
            </a:r>
            <a:r>
              <a:rPr b="1"/>
              <a:t>Settings</a:t>
            </a:r>
          </a:p>
          <a:p>
            <a:pPr lvl="0" indent="-342900" marL="342900">
              <a:buAutoNum type="arabicPeriod"/>
            </a:pPr>
            <a:r>
              <a:rPr b="1"/>
              <a:t>Developer settings</a:t>
            </a:r>
            <a:r>
              <a:rPr/>
              <a:t> → </a:t>
            </a:r>
            <a:r>
              <a:rPr b="1"/>
              <a:t>Personal access tokens</a:t>
            </a:r>
            <a:r>
              <a:rPr/>
              <a:t> → </a:t>
            </a:r>
            <a:r>
              <a:rPr b="1"/>
              <a:t>Tokens (classic)</a:t>
            </a:r>
          </a:p>
          <a:p>
            <a:pPr lvl="0" indent="-342900" marL="342900">
              <a:buAutoNum type="arabicPeriod"/>
            </a:pPr>
            <a:r>
              <a:rPr b="1"/>
              <a:t>Generate new token</a:t>
            </a:r>
            <a:r>
              <a:rPr/>
              <a:t>, tick the </a:t>
            </a:r>
            <a:r>
              <a:rPr b="1">
                <a:latin typeface="Courier"/>
              </a:rPr>
              <a:t>repo</a:t>
            </a:r>
            <a:r>
              <a:rPr/>
              <a:t> scope, set an expiry</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the token</a:t>
            </a:r>
          </a:p>
        </p:txBody>
      </p:sp>
      <p:sp>
        <p:nvSpPr>
          <p:cNvPr id="3" name="Content Placeholder 2"/>
          <p:cNvSpPr>
            <a:spLocks noGrp="1"/>
          </p:cNvSpPr>
          <p:nvPr>
            <p:ph idx="1"/>
          </p:nvPr>
        </p:nvSpPr>
        <p:spPr/>
        <p:txBody>
          <a:bodyPr/>
          <a:lstStyle/>
          <a:p>
            <a:pPr lvl="0" indent="-342900" marL="342900">
              <a:buAutoNum startAt="4" type="arabicPeriod"/>
            </a:pPr>
            <a:r>
              <a:rPr/>
              <a:t>Copy the token — </a:t>
            </a:r>
            <a:r>
              <a:rPr b="1"/>
              <a:t>it is shown once</a:t>
            </a:r>
          </a:p>
          <a:p>
            <a:pPr lvl="0" indent="-342900" marL="342900">
              <a:buAutoNum startAt="4" type="arabicPeriod"/>
            </a:pPr>
            <a:r>
              <a:rPr/>
              <a:t>Paste it when git asks for your </a:t>
            </a:r>
            <a:r>
              <a:rPr i="1"/>
              <a:t>password</a:t>
            </a:r>
          </a:p>
          <a:p>
            <a:pPr lvl="0" indent="0">
              <a:buNone/>
            </a:pPr>
            <a:r>
              <a:rPr>
                <a:solidFill>
                  <a:srgbClr val="06287E"/>
                </a:solidFill>
                <a:latin typeface="Courier"/>
              </a:rPr>
              <a:t>git</a:t>
            </a:r>
            <a:r>
              <a:rPr>
                <a:latin typeface="Courier"/>
              </a:rPr>
              <a:t> config </a:t>
            </a:r>
            <a:r>
              <a:rPr>
                <a:solidFill>
                  <a:srgbClr val="7D9029"/>
                </a:solidFill>
                <a:latin typeface="Courier"/>
              </a:rPr>
              <a:t>--global</a:t>
            </a:r>
            <a:r>
              <a:rPr>
                <a:latin typeface="Courier"/>
              </a:rPr>
              <a:t> credential.helper store</a:t>
            </a:r>
          </a:p>
          <a:p>
            <a:pPr lvl="0" indent="0" marL="0">
              <a:buNone/>
            </a:pPr>
            <a:r>
              <a:rPr/>
              <a:t>Stores it, so you are asked only once.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round trip</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08000"/>
                </a:solidFill>
                <a:latin typeface="Courier"/>
              </a:rPr>
              <a:t>echo</a:t>
            </a:r>
            <a:r>
              <a:rPr>
                <a:latin typeface="Courier"/>
              </a:rPr>
              <a:t> </a:t>
            </a:r>
            <a:r>
              <a:rPr>
                <a:solidFill>
                  <a:srgbClr val="4070A0"/>
                </a:solidFill>
                <a:latin typeface="Courier"/>
              </a:rPr>
              <a:t>"## Group XX"</a:t>
            </a:r>
            <a:r>
              <a:rPr>
                <a:latin typeface="Courier"/>
              </a:rPr>
              <a:t> </a:t>
            </a:r>
            <a:r>
              <a:rPr>
                <a:solidFill>
                  <a:srgbClr val="666666"/>
                </a:solidFill>
                <a:latin typeface="Courier"/>
              </a:rPr>
              <a:t>&gt;&gt;</a:t>
            </a:r>
            <a:r>
              <a:rPr>
                <a:latin typeface="Courier"/>
              </a:rPr>
              <a:t> README.md</a:t>
            </a:r>
            <a:br/>
            <a:r>
              <a:rPr>
                <a:solidFill>
                  <a:srgbClr val="06287E"/>
                </a:solidFill>
                <a:latin typeface="Courier"/>
              </a:rPr>
              <a:t>git</a:t>
            </a:r>
            <a:r>
              <a:rPr>
                <a:latin typeface="Courier"/>
              </a:rPr>
              <a:t> add README.md</a:t>
            </a:r>
            <a:br/>
            <a:r>
              <a:rPr>
                <a:solidFill>
                  <a:srgbClr val="06287E"/>
                </a:solidFill>
                <a:latin typeface="Courier"/>
              </a:rPr>
              <a:t>git</a:t>
            </a:r>
            <a:r>
              <a:rPr>
                <a:latin typeface="Courier"/>
              </a:rPr>
              <a:t> commit </a:t>
            </a:r>
            <a:r>
              <a:rPr>
                <a:solidFill>
                  <a:srgbClr val="7D9029"/>
                </a:solidFill>
                <a:latin typeface="Courier"/>
              </a:rPr>
              <a:t>-m</a:t>
            </a:r>
            <a:r>
              <a:rPr>
                <a:latin typeface="Courier"/>
              </a:rPr>
              <a:t> </a:t>
            </a:r>
            <a:r>
              <a:rPr>
                <a:solidFill>
                  <a:srgbClr val="4070A0"/>
                </a:solidFill>
                <a:latin typeface="Courier"/>
              </a:rPr>
              <a:t>"Add group heading"</a:t>
            </a:r>
            <a:br/>
            <a:r>
              <a:rPr>
                <a:solidFill>
                  <a:srgbClr val="06287E"/>
                </a:solidFill>
                <a:latin typeface="Courier"/>
              </a:rPr>
              <a:t>git</a:t>
            </a:r>
            <a:r>
              <a:rPr>
                <a:latin typeface="Courier"/>
              </a:rPr>
              <a:t> push</a:t>
            </a:r>
          </a:p>
          <a:p>
            <a:pPr lvl="0" indent="0" marL="0">
              <a:buNone/>
            </a:pPr>
            <a:r>
              <a:rPr/>
              <a:t>Refresh the repository page in your browser. Your line is there.</a:t>
            </a:r>
          </a:p>
          <a:p>
            <a:pPr lvl="0" indent="0" marL="0">
              <a:buNone/>
            </a:pPr>
            <a:r>
              <a:rPr/>
              <a:t>Edit locally → commit → push → visible to your group. Everything this term is a variation on that loop.</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other people’s work</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6287E"/>
                </a:solidFill>
                <a:latin typeface="Courier"/>
              </a:rPr>
              <a:t>git</a:t>
            </a:r>
            <a:r>
              <a:rPr>
                <a:latin typeface="Courier"/>
              </a:rPr>
              <a:t> pull</a:t>
            </a:r>
          </a:p>
          <a:p>
            <a:pPr lvl="0" indent="0" marL="0">
              <a:buNone/>
            </a:pPr>
            <a:r>
              <a:rPr b="1"/>
              <a:t>Pull before you start working, every time.</a:t>
            </a:r>
            <a:r>
              <a:rPr/>
              <a:t> Most merge conflicts are caused by someone editing a stale copy of a file for two hours.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Working together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Branches</a:t>
            </a:r>
          </a:p>
        </p:txBody>
      </p:sp>
      <p:sp>
        <p:nvSpPr>
          <p:cNvPr id="3" name="Content Placeholder 2"/>
          <p:cNvSpPr>
            <a:spLocks noGrp="1"/>
          </p:cNvSpPr>
          <p:nvPr>
            <p:ph idx="1"/>
          </p:nvPr>
        </p:nvSpPr>
        <p:spPr/>
        <p:txBody>
          <a:bodyPr/>
          <a:lstStyle/>
          <a:p>
            <a:pPr lvl="0" indent="0" marL="0">
              <a:buNone/>
            </a:pPr>
            <a:r>
              <a:rPr/>
              <a:t>Work on a branch, not directly on </a:t>
            </a:r>
            <a:r>
              <a:rPr>
                <a:latin typeface="Courier"/>
              </a:rPr>
              <a:t>main</a:t>
            </a:r>
            <a:r>
              <a:rPr/>
              <a:t>:</a:t>
            </a:r>
          </a:p>
          <a:p>
            <a:pPr lvl="0" indent="0" marL="0">
              <a:buNone/>
            </a:pPr>
            <a:r>
              <a:rPr/>
              <a:t>VS Codium terminal</a:t>
            </a:r>
          </a:p>
          <a:p>
            <a:pPr lvl="0" indent="0">
              <a:buNone/>
            </a:pPr>
            <a:r>
              <a:rPr>
                <a:solidFill>
                  <a:srgbClr val="06287E"/>
                </a:solidFill>
                <a:latin typeface="Courier"/>
              </a:rPr>
              <a:t>git</a:t>
            </a:r>
            <a:r>
              <a:rPr>
                <a:latin typeface="Courier"/>
              </a:rPr>
              <a:t> checkout </a:t>
            </a:r>
            <a:r>
              <a:rPr>
                <a:solidFill>
                  <a:srgbClr val="7D9029"/>
                </a:solidFill>
                <a:latin typeface="Courier"/>
              </a:rPr>
              <a:t>-b</a:t>
            </a:r>
            <a:r>
              <a:rPr>
                <a:latin typeface="Courier"/>
              </a:rPr>
              <a:t> s02-fwl-analysis</a:t>
            </a:r>
            <a:br/>
            <a:r>
              <a:rPr i="1">
                <a:solidFill>
                  <a:srgbClr val="60A0B0"/>
                </a:solidFill>
                <a:latin typeface="Courier"/>
              </a:rPr>
              <a:t># ... work, commit ...</a:t>
            </a:r>
            <a:br/>
            <a:r>
              <a:rPr>
                <a:solidFill>
                  <a:srgbClr val="06287E"/>
                </a:solidFill>
                <a:latin typeface="Courier"/>
              </a:rPr>
              <a:t>git</a:t>
            </a:r>
            <a:r>
              <a:rPr>
                <a:latin typeface="Courier"/>
              </a:rPr>
              <a:t> push </a:t>
            </a:r>
            <a:r>
              <a:rPr>
                <a:solidFill>
                  <a:srgbClr val="7D9029"/>
                </a:solidFill>
                <a:latin typeface="Courier"/>
              </a:rPr>
              <a:t>-u</a:t>
            </a:r>
            <a:r>
              <a:rPr>
                <a:latin typeface="Courier"/>
              </a:rPr>
              <a:t> origin s02-fwl-analysis</a:t>
            </a:r>
          </a:p>
          <a:p>
            <a:pPr lvl="0" indent="0" marL="0">
              <a:buNone/>
            </a:pPr>
            <a:r>
              <a:rPr/>
              <a:t>Then open a </a:t>
            </a:r>
            <a:r>
              <a:rPr b="1"/>
              <a:t>pull request</a:t>
            </a:r>
            <a:r>
              <a:rPr/>
              <a:t> on GitHub so a teammate reads the change before it joins </a:t>
            </a:r>
            <a:r>
              <a:rPr>
                <a:latin typeface="Courier"/>
              </a:rPr>
              <a:t>main</a:t>
            </a:r>
            <a:r>
              <a:rPr/>
              <a:t>. That review </a:t>
            </a:r>
            <a:r>
              <a:rPr i="1"/>
              <a:t>is</a:t>
            </a:r>
            <a:r>
              <a:rPr/>
              <a:t> the group work.</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 two of you edit the same lines</a:t>
            </a:r>
          </a:p>
        </p:txBody>
      </p:sp>
      <p:sp>
        <p:nvSpPr>
          <p:cNvPr id="3" name="Content Placeholder 2"/>
          <p:cNvSpPr>
            <a:spLocks noGrp="1"/>
          </p:cNvSpPr>
          <p:nvPr>
            <p:ph idx="1"/>
          </p:nvPr>
        </p:nvSpPr>
        <p:spPr/>
        <p:txBody>
          <a:bodyPr/>
          <a:lstStyle/>
          <a:p>
            <a:pPr lvl="0" indent="0" marL="0">
              <a:buNone/>
            </a:pPr>
            <a:r>
              <a:rPr/>
              <a:t>Git stops and marks the conflict in the file:</a:t>
            </a:r>
          </a:p>
          <a:p>
            <a:pPr lvl="0" indent="0">
              <a:buNone/>
            </a:pPr>
            <a:r>
              <a:rPr>
                <a:latin typeface="Courier"/>
              </a:rPr>
              <a:t>&lt;&lt;&lt;&lt;&lt;&lt;&lt; HEAD
alpha = 0.05
=======
alpha = 0.01
&gt;&gt;&gt;&gt;&gt;&gt;&gt; their-branch</a:t>
            </a:r>
          </a:p>
          <a:p>
            <a:pPr lvl="0"/>
            <a:r>
              <a:rPr/>
              <a:t>Delete the markers and keep the version you both agree on</a:t>
            </a:r>
          </a:p>
          <a:p>
            <a:pPr lvl="0"/>
            <a:r>
              <a:rPr>
                <a:latin typeface="Courier"/>
              </a:rPr>
              <a:t>git add</a:t>
            </a:r>
            <a:r>
              <a:rPr/>
              <a:t> the file, then </a:t>
            </a:r>
            <a:r>
              <a:rPr>
                <a:latin typeface="Courier"/>
              </a:rPr>
              <a:t>git commit</a:t>
            </a:r>
          </a:p>
          <a:p>
            <a:pPr lvl="0" indent="0" marL="0">
              <a:buNone/>
            </a:pPr>
            <a:r>
              <a:rPr/>
              <a:t>A conflict is not a failure. It is git refusing to guess which of you was right.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aider does to your history</a:t>
            </a:r>
          </a:p>
        </p:txBody>
      </p:sp>
      <p:sp>
        <p:nvSpPr>
          <p:cNvPr id="3" name="Content Placeholder 2"/>
          <p:cNvSpPr>
            <a:spLocks noGrp="1"/>
          </p:cNvSpPr>
          <p:nvPr>
            <p:ph idx="1"/>
          </p:nvPr>
        </p:nvSpPr>
        <p:spPr/>
        <p:txBody>
          <a:bodyPr/>
          <a:lstStyle/>
          <a:p>
            <a:pPr lvl="0" indent="0" marL="0">
              <a:buNone/>
            </a:pPr>
            <a:r>
              <a:rPr/>
              <a:t>aider </a:t>
            </a:r>
            <a:r>
              <a:rPr b="1"/>
              <a:t>commits automatically</a:t>
            </a:r>
            <a:r>
              <a:rPr/>
              <a:t> after each change it applies — and this course counts commits as evidence of who did the work.</a:t>
            </a:r>
          </a:p>
          <a:p>
            <a:pPr lvl="0" indent="0" marL="0">
              <a:buNone/>
            </a:pPr>
            <a:r>
              <a:rPr/>
              <a:t>VS Codium terminal</a:t>
            </a:r>
          </a:p>
          <a:p>
            <a:pPr lvl="0" indent="0">
              <a:buNone/>
            </a:pPr>
            <a:r>
              <a:rPr>
                <a:solidFill>
                  <a:srgbClr val="06287E"/>
                </a:solidFill>
                <a:latin typeface="Courier"/>
              </a:rPr>
              <a:t>git</a:t>
            </a:r>
            <a:r>
              <a:rPr>
                <a:latin typeface="Courier"/>
              </a:rPr>
              <a:t> log </a:t>
            </a:r>
            <a:r>
              <a:rPr>
                <a:solidFill>
                  <a:srgbClr val="7D9029"/>
                </a:solidFill>
                <a:latin typeface="Courier"/>
              </a:rPr>
              <a:t>--oneline</a:t>
            </a:r>
            <a:br/>
            <a:r>
              <a:rPr>
                <a:latin typeface="Courier"/>
              </a:rPr>
              <a:t>aider </a:t>
            </a:r>
            <a:r>
              <a:rPr>
                <a:solidFill>
                  <a:srgbClr val="7D9029"/>
                </a:solidFill>
                <a:latin typeface="Courier"/>
              </a:rPr>
              <a:t>--model</a:t>
            </a:r>
            <a:r>
              <a:rPr>
                <a:latin typeface="Courier"/>
              </a:rPr>
              <a:t> ollama_chat/qwen2.5-coder:7b </a:t>
            </a:r>
            <a:r>
              <a:rPr>
                <a:solidFill>
                  <a:srgbClr val="7D9029"/>
                </a:solidFill>
                <a:latin typeface="Courier"/>
              </a:rPr>
              <a:t>--no-auto-commits</a:t>
            </a:r>
          </a:p>
          <a:p>
            <a:pPr lvl="0" indent="0" marL="0">
              <a:buNone/>
            </a:pPr>
            <a:r>
              <a:rPr/>
              <a:t>Commits made by the agent are attributed to </a:t>
            </a:r>
            <a:r>
              <a:rPr b="1"/>
              <a:t>you</a:t>
            </a:r>
            <a:r>
              <a:rPr/>
              <a:t>. That is correct — you directed it. But read the diff before accepting: you are answerable for every line in your repository.</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Rotate the roles</a:t>
            </a:r>
          </a:p>
        </p:txBody>
      </p:sp>
      <p:sp>
        <p:nvSpPr>
          <p:cNvPr id="3" name="Content Placeholder 2"/>
          <p:cNvSpPr>
            <a:spLocks noGrp="1"/>
          </p:cNvSpPr>
          <p:nvPr>
            <p:ph idx="1"/>
          </p:nvPr>
        </p:nvSpPr>
        <p:spPr/>
        <p:txBody>
          <a:bodyPr/>
          <a:lstStyle/>
          <a:p>
            <a:pPr lvl="0" indent="0" marL="0">
              <a:buNone/>
            </a:pPr>
            <a:r>
              <a:rPr/>
              <a:t>Your group logs a Driver, an Analyst and a Reporter each session.</a:t>
            </a:r>
          </a:p>
          <a:p>
            <a:pPr lvl="0"/>
            <a:r>
              <a:rPr b="1"/>
              <a:t>Driver</a:t>
            </a:r>
            <a:r>
              <a:rPr/>
              <a:t> writes the code</a:t>
            </a:r>
          </a:p>
          <a:p>
            <a:pPr lvl="0"/>
            <a:r>
              <a:rPr b="1"/>
              <a:t>Analyst</a:t>
            </a:r>
            <a:r>
              <a:rPr/>
              <a:t> decides the specification and owns the interpretation</a:t>
            </a:r>
          </a:p>
          <a:p>
            <a:pPr lvl="0"/>
            <a:r>
              <a:rPr b="1"/>
              <a:t>Reporter</a:t>
            </a:r>
            <a:r>
              <a:rPr/>
              <a:t> writes the three sentences and presents </a:t>
            </a:r>
            <a:r>
              <a:rPr i="1"/>
              <a:t>if drawn</a:t>
            </a:r>
          </a:p>
          <a:p>
            <a:pPr lvl="0" indent="0" marL="0">
              <a:buNone/>
            </a:pPr>
            <a:r>
              <a:rPr/>
              <a:t>Over ten sessions each of you should hold each role three or four times. Logged in </a:t>
            </a:r>
            <a:r>
              <a:rPr>
                <a:latin typeface="Courier"/>
              </a:rPr>
              <a:t>assessment/role-logs/gXX.md</a:t>
            </a:r>
            <a:r>
              <a:rPr/>
              <a:t>, checked with </a:t>
            </a:r>
            <a:r>
              <a:rPr>
                <a:latin typeface="Courier"/>
              </a:rPr>
              <a:t>python scripts/assess.py roles</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“if drawn” matters</a:t>
            </a:r>
          </a:p>
        </p:txBody>
      </p:sp>
      <p:sp>
        <p:nvSpPr>
          <p:cNvPr id="3" name="Content Placeholder 2"/>
          <p:cNvSpPr>
            <a:spLocks noGrp="1"/>
          </p:cNvSpPr>
          <p:nvPr>
            <p:ph idx="1"/>
          </p:nvPr>
        </p:nvSpPr>
        <p:spPr/>
        <p:txBody>
          <a:bodyPr/>
          <a:lstStyle/>
          <a:p>
            <a:pPr lvl="0" indent="0" marL="0">
              <a:buNone/>
            </a:pPr>
            <a:r>
              <a:rPr/>
              <a:t>The presenter is </a:t>
            </a:r>
            <a:r>
              <a:rPr b="1"/>
              <a:t>drawn at random</a:t>
            </a:r>
            <a:r>
              <a:rPr/>
              <a:t> at the start of the slot.</a:t>
            </a:r>
          </a:p>
          <a:p>
            <a:pPr lvl="0" indent="0" marL="0">
              <a:buNone/>
            </a:pPr>
            <a:r>
              <a:rPr/>
              <a:t>A group where one person understands the model has not learned the material. The draw makes shared understanding the only viable strategy — and it is announced now, in week two, so nobody is surprised in week twelve.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Finishing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If it breaks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Symptom</a:t>
                      </a:r>
                    </a:p>
                  </a:txBody>
                  <a:tcPr/>
                </a:tc>
                <a:tc>
                  <a:txBody>
                    <a:bodyPr/>
                    <a:lstStyle/>
                    <a:p>
                      <a:pPr lvl="0" indent="0" marL="0">
                        <a:buNone/>
                      </a:pPr>
                      <a:r>
                        <a:rPr/>
                        <a:t>Fix</a:t>
                      </a:r>
                    </a:p>
                  </a:txBody>
                  <a:tcPr/>
                </a:tc>
              </a:tr>
              <a:tr h="0">
                <a:tc>
                  <a:txBody>
                    <a:bodyPr/>
                    <a:lstStyle/>
                    <a:p>
                      <a:pPr lvl="0" indent="0" marL="0">
                        <a:buNone/>
                      </a:pPr>
                      <a:r>
                        <a:rPr>
                          <a:latin typeface="Courier"/>
                        </a:rPr>
                        <a:t>git: command not found</a:t>
                      </a:r>
                    </a:p>
                  </a:txBody>
                </a:tc>
                <a:tc>
                  <a:txBody>
                    <a:bodyPr/>
                    <a:lstStyle/>
                    <a:p>
                      <a:pPr lvl="0" indent="0" marL="0">
                        <a:buNone/>
                      </a:pPr>
                      <a:r>
                        <a:rPr/>
                        <a:t>Reopen the terminal; on Windows restart VS Codium</a:t>
                      </a:r>
                    </a:p>
                  </a:txBody>
                </a:tc>
              </a:tr>
              <a:tr h="0">
                <a:tc>
                  <a:txBody>
                    <a:bodyPr/>
                    <a:lstStyle/>
                    <a:p>
                      <a:pPr lvl="0" indent="0" marL="0">
                        <a:buNone/>
                      </a:pPr>
                      <a:r>
                        <a:rPr/>
                        <a:t>Password rejected on push</a:t>
                      </a:r>
                    </a:p>
                  </a:txBody>
                </a:tc>
                <a:tc>
                  <a:txBody>
                    <a:bodyPr/>
                    <a:lstStyle/>
                    <a:p>
                      <a:pPr lvl="0" indent="0" marL="0">
                        <a:buNone/>
                      </a:pPr>
                      <a:r>
                        <a:rPr/>
                        <a:t>Use a personal access token, not the password</a:t>
                      </a:r>
                    </a:p>
                  </a:txBody>
                </a:tc>
              </a:tr>
              <a:tr h="0">
                <a:tc>
                  <a:txBody>
                    <a:bodyPr/>
                    <a:lstStyle/>
                    <a:p>
                      <a:pPr lvl="0" indent="0" marL="0">
                        <a:buNone/>
                      </a:pPr>
                      <a:r>
                        <a:rPr>
                          <a:latin typeface="Courier"/>
                        </a:rPr>
                        <a:t>rejected — non-fast-forward</a:t>
                      </a:r>
                    </a:p>
                  </a:txBody>
                </a:tc>
                <a:tc>
                  <a:txBody>
                    <a:bodyPr/>
                    <a:lstStyle/>
                    <a:p>
                      <a:pPr lvl="0" indent="0" marL="0">
                        <a:buNone/>
                      </a:pPr>
                      <a:r>
                        <a:rPr>
                          <a:latin typeface="Courier"/>
                        </a:rPr>
                        <a:t>git pull</a:t>
                      </a:r>
                      <a:r>
                        <a:rPr/>
                        <a:t> first, resolve, then push</a:t>
                      </a:r>
                    </a:p>
                  </a:txBody>
                </a:tc>
              </a:tr>
              <a:tr h="0">
                <a:tc>
                  <a:txBody>
                    <a:bodyPr/>
                    <a:lstStyle/>
                    <a:p>
                      <a:pPr lvl="0" indent="0" marL="0">
                        <a:buNone/>
                      </a:pPr>
                      <a:r>
                        <a:rPr/>
                        <a:t>Committed under the wrong email</a:t>
                      </a:r>
                    </a:p>
                  </a:txBody>
                </a:tc>
                <a:tc>
                  <a:txBody>
                    <a:bodyPr/>
                    <a:lstStyle/>
                    <a:p>
                      <a:pPr lvl="0" indent="0" marL="0">
                        <a:buNone/>
                      </a:pPr>
                      <a:r>
                        <a:rPr/>
                        <a:t>Fix </a:t>
                      </a:r>
                      <a:r>
                        <a:rPr>
                          <a:latin typeface="Courier"/>
                        </a:rPr>
                        <a:t>git config</a:t>
                      </a:r>
                      <a:r>
                        <a:rPr/>
                        <a:t>, tell me; past commits stay wrong</a:t>
                      </a:r>
                    </a:p>
                  </a:txBody>
                </a:tc>
              </a:tr>
              <a:tr h="0">
                <a:tc>
                  <a:txBody>
                    <a:bodyPr/>
                    <a:lstStyle/>
                    <a:p>
                      <a:pPr lvl="0" indent="0" marL="0">
                        <a:buNone/>
                      </a:pPr>
                      <a:r>
                        <a:rPr/>
                        <a:t>Conflict markers in a file</a:t>
                      </a:r>
                    </a:p>
                  </a:txBody>
                </a:tc>
                <a:tc>
                  <a:txBody>
                    <a:bodyPr/>
                    <a:lstStyle/>
                    <a:p>
                      <a:pPr lvl="0" indent="0" marL="0">
                        <a:buNone/>
                      </a:pPr>
                      <a:r>
                        <a:rPr/>
                        <a:t>Delete them, keep the agreed version, add and commit</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Still stuck? Ask Qwen — it is good at git, and it runs on your laptop.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Session 02</a:t>
            </a:r>
          </a:p>
        </p:txBody>
      </p:sp>
      <p:sp>
        <p:nvSpPr>
          <p:cNvPr id="3" name="Content Placeholder 2"/>
          <p:cNvSpPr>
            <a:spLocks noGrp="1"/>
          </p:cNvSpPr>
          <p:nvPr>
            <p:ph idx="1"/>
          </p:nvPr>
        </p:nvSpPr>
        <p:spPr/>
        <p:txBody>
          <a:bodyPr/>
          <a:lstStyle/>
          <a:p>
            <a:pPr lvl="0"/>
            <a:r>
              <a:rPr/>
              <a:t>✅ Git installed, </a:t>
            </a:r>
            <a:r>
              <a:rPr>
                <a:latin typeface="Courier"/>
              </a:rPr>
              <a:t>user.name</a:t>
            </a:r>
            <a:r>
              <a:rPr/>
              <a:t> and </a:t>
            </a:r>
            <a:r>
              <a:rPr>
                <a:latin typeface="Courier"/>
              </a:rPr>
              <a:t>user.email</a:t>
            </a:r>
            <a:r>
              <a:rPr/>
              <a:t> set to your real details</a:t>
            </a:r>
          </a:p>
          <a:p>
            <a:pPr lvl="0"/>
            <a:r>
              <a:rPr/>
              <a:t>✅ GitHub account with two-factor authentication</a:t>
            </a:r>
          </a:p>
          <a:p>
            <a:pPr lvl="0"/>
            <a:r>
              <a:rPr/>
              <a:t>✅ One private group repository, with both teammates </a:t>
            </a:r>
            <a:r>
              <a:rPr b="1"/>
              <a:t>and me</a:t>
            </a:r>
            <a:r>
              <a:rPr/>
              <a:t> added</a:t>
            </a:r>
          </a:p>
          <a:p>
            <a:pPr lvl="0"/>
            <a:r>
              <a:rPr/>
              <a:t>✅ Cloned to your machine and opened in VS Codium</a:t>
            </a:r>
          </a:p>
          <a:p>
            <a:pPr lvl="0"/>
            <a:r>
              <a:rPr/>
              <a:t>✅ One commit pushed </a:t>
            </a:r>
            <a:r>
              <a:rPr b="1"/>
              <a:t>by you personally</a:t>
            </a:r>
            <a:r>
              <a:rPr/>
              <a:t>, visible on github.com</a:t>
            </a:r>
          </a:p>
          <a:p>
            <a:pPr lvl="0"/>
            <a:r>
              <a:rPr/>
              <a:t>✅ Your exact </a:t>
            </a:r>
            <a:r>
              <a:rPr>
                <a:latin typeface="Courier"/>
              </a:rPr>
              <a:t>user.name</a:t>
            </a:r>
            <a:r>
              <a:rPr/>
              <a:t> and </a:t>
            </a:r>
            <a:r>
              <a:rPr>
                <a:latin typeface="Courier"/>
              </a:rPr>
              <a:t>user.email</a:t>
            </a:r>
            <a:r>
              <a:rPr/>
              <a:t> written down to report</a:t>
            </a:r>
          </a:p>
          <a:p>
            <a:pPr lvl="0" indent="0" marL="0">
              <a:buNone/>
            </a:pPr>
            <a:r>
              <a:rPr/>
              <a:t>“One commit pushed by you personally” means each of the three of you. Not one per group.</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See you in Session 02.</a:t>
            </a:r>
          </a:p>
          <a:p>
            <a:pPr lvl="0" indent="0" marL="0">
              <a:buNone/>
            </a:pPr>
            <a:r>
              <a:rPr/>
              <a:t>Bring your git identity.</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 GitHub, and Working as a Group</dc:title>
  <dc:creator>Thierry Warin</dc:creator>
  <cp:keywords/>
  <dcterms:created xsi:type="dcterms:W3CDTF">2026-08-19T02:57:30Z</dcterms:created>
  <dcterms:modified xsi:type="dcterms:W3CDTF">2026-08-19T02:57:30Z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date">
    <vt:lpwstr>18 August 2026</vt:lpwstr>
  </property>
  <property fmtid="{D5CDD505-2E9C-101B-9397-08002B2CF9AE}" pid="8" name="date-format">
    <vt:lpwstr>D MMMM YYYY</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institute">
    <vt:lpwstr>HEC Montréal</vt:lpwstr>
  </property>
  <property fmtid="{D5CDD505-2E9C-101B-9397-08002B2CF9AE}" pid="13" name="institutes">
    <vt:lpwstr/>
  </property>
  <property fmtid="{D5CDD505-2E9C-101B-9397-08002B2CF9AE}" pid="14" name="labels">
    <vt:lpwstr/>
  </property>
  <property fmtid="{D5CDD505-2E9C-101B-9397-08002B2CF9AE}" pid="15" name="subtitle">
    <vt:lpwstr>Session 02 pre-session · The record of who did what</vt:lpwstr>
  </property>
  <property fmtid="{D5CDD505-2E9C-101B-9397-08002B2CF9AE}" pid="16" name="toc-title">
    <vt:lpwstr>Table of contents</vt:lpwstr>
  </property>
</Properties>
</file>