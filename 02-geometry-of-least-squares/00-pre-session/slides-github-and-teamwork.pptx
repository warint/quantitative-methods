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19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Create your group repository</a:t>
            </a:r>
          </a:p>
        </p:txBody>
      </p:sp>
      <p:sp>
        <p:nvSpPr>
          <p:cNvPr id="4" name="Text Placeholder 3"/>
          <p:cNvSpPr>
            <a:spLocks noGrp="1"/>
          </p:cNvSpPr>
          <p:nvPr>
            <p:ph idx="2" sz="half" type="body"/>
          </p:nvPr>
        </p:nvSpPr>
        <p:spPr/>
        <p:txBody>
          <a:bodyPr/>
          <a:lstStyle/>
          <a:p>
            <a:pPr lvl="0" indent="0" marL="0">
              <a:buNone/>
            </a:pPr>
            <a:r>
              <a:rPr b="1"/>
              <a:t>One person per group</a:t>
            </a:r>
            <a:r>
              <a:rPr/>
              <a:t> does this. On github.com, click </a:t>
            </a:r>
            <a:r>
              <a:rPr b="1"/>
              <a:t>+</a:t>
            </a:r>
            <a:r>
              <a:rPr/>
              <a:t> → </a:t>
            </a:r>
            <a:r>
              <a:rPr b="1"/>
              <a:t>New repository</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Field</a:t>
                      </a:r>
                    </a:p>
                  </a:txBody>
                  <a:tcPr/>
                </a:tc>
                <a:tc>
                  <a:txBody>
                    <a:bodyPr/>
                    <a:lstStyle/>
                    <a:p>
                      <a:pPr lvl="0" indent="0" marL="0">
                        <a:buNone/>
                      </a:pPr>
                      <a:r>
                        <a:rPr/>
                        <a:t>What to put</a:t>
                      </a:r>
                    </a:p>
                  </a:txBody>
                  <a:tcPr/>
                </a:tc>
              </a:tr>
              <a:tr h="0">
                <a:tc>
                  <a:txBody>
                    <a:bodyPr/>
                    <a:lstStyle/>
                    <a:p>
                      <a:pPr lvl="0" indent="0" marL="0">
                        <a:buNone/>
                      </a:pPr>
                      <a:r>
                        <a:rPr b="1"/>
                        <a:t>Repository name</a:t>
                      </a:r>
                    </a:p>
                  </a:txBody>
                </a:tc>
                <a:tc>
                  <a:txBody>
                    <a:bodyPr/>
                    <a:lstStyle/>
                    <a:p>
                      <a:pPr lvl="0" indent="0" marL="0">
                        <a:buNone/>
                      </a:pPr>
                      <a:r>
                        <a:rPr>
                          <a:latin typeface="Courier"/>
                        </a:rPr>
                        <a:t>qmib-gXX</a:t>
                      </a:r>
                      <a:r>
                        <a:rPr/>
                        <a:t> (XX = your group number)</a:t>
                      </a:r>
                    </a:p>
                  </a:txBody>
                </a:tc>
              </a:tr>
              <a:tr h="0">
                <a:tc>
                  <a:txBody>
                    <a:bodyPr/>
                    <a:lstStyle/>
                    <a:p>
                      <a:pPr lvl="0" indent="0" marL="0">
                        <a:buNone/>
                      </a:pPr>
                      <a:r>
                        <a:rPr b="1"/>
                        <a:t>Description</a:t>
                      </a:r>
                    </a:p>
                  </a:txBody>
                </a:tc>
                <a:tc>
                  <a:txBody>
                    <a:bodyPr/>
                    <a:lstStyle/>
                    <a:p>
                      <a:pPr lvl="0" indent="0" marL="0">
                        <a:buNone/>
                      </a:pPr>
                      <a:r>
                        <a:rPr>
                          <a:latin typeface="Courier"/>
                        </a:rPr>
                        <a:t>Group work</a:t>
                      </a:r>
                    </a:p>
                  </a:txBody>
                </a:tc>
              </a:tr>
              <a:tr h="0">
                <a:tc>
                  <a:txBody>
                    <a:bodyPr/>
                    <a:lstStyle/>
                    <a:p>
                      <a:pPr lvl="0" indent="0" marL="0">
                        <a:buNone/>
                      </a:pPr>
                      <a:r>
                        <a:rPr b="1"/>
                        <a:t>Visibility</a:t>
                      </a:r>
                    </a:p>
                  </a:txBody>
                </a:tc>
                <a:tc>
                  <a:txBody>
                    <a:bodyPr/>
                    <a:lstStyle/>
                    <a:p>
                      <a:pPr lvl="0" indent="0" marL="0">
                        <a:buNone/>
                      </a:pPr>
                      <a:r>
                        <a:rPr b="1"/>
                        <a:t>Private</a:t>
                      </a:r>
                    </a:p>
                  </a:txBody>
                </a:tc>
              </a:tr>
              <a:tr h="0">
                <a:tc>
                  <a:txBody>
                    <a:bodyPr/>
                    <a:lstStyle/>
                    <a:p>
                      <a:pPr lvl="0" indent="0" marL="0">
                        <a:buNone/>
                      </a:pPr>
                      <a:r>
                        <a:rPr b="1"/>
                        <a:t>Initialize with README</a:t>
                      </a:r>
                    </a:p>
                  </a:txBody>
                </a:tc>
                <a:tc>
                  <a:txBody>
                    <a:bodyPr/>
                    <a:lstStyle/>
                    <a:p>
                      <a:pPr lvl="0" indent="0" marL="0">
                        <a:buNone/>
                      </a:pPr>
                      <a:r>
                        <a:rPr/>
                        <a:t>✅ tick it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github.com/new — owner, name, description, Public/Private, README checkbox ]</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 the other three people</a:t>
            </a:r>
          </a:p>
        </p:txBody>
      </p:sp>
      <p:sp>
        <p:nvSpPr>
          <p:cNvPr id="3" name="Content Placeholder 2"/>
          <p:cNvSpPr>
            <a:spLocks noGrp="1"/>
          </p:cNvSpPr>
          <p:nvPr>
            <p:ph idx="1"/>
          </p:nvPr>
        </p:nvSpPr>
        <p:spPr/>
        <p:txBody>
          <a:bodyPr/>
          <a:lstStyle/>
          <a:p>
            <a:pPr lvl="0" indent="0" marL="0">
              <a:buNone/>
            </a:pPr>
            <a:r>
              <a:rPr b="1"/>
              <a:t>Settings → Collaborators → Add people.</a:t>
            </a:r>
          </a:p>
          <a:p>
            <a:pPr lvl="0"/>
            <a:r>
              <a:rPr/>
              <a:t>Your two teammates</a:t>
            </a:r>
          </a:p>
          <a:p>
            <a:pPr lvl="0"/>
            <a:r>
              <a:rPr/>
              <a:t>Me</a:t>
            </a:r>
          </a:p>
          <a:p>
            <a:pPr lvl="0" indent="0" marL="0">
              <a:buNone/>
            </a:pPr>
            <a:r>
              <a:rPr/>
              <a:t>A private repository I cannot see is a repository I cannot mark. Do this in the same sitting — it is the step groups most often forget.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it into VS Codium</a:t>
            </a:r>
          </a:p>
        </p:txBody>
      </p:sp>
      <p:sp>
        <p:nvSpPr>
          <p:cNvPr id="3" name="Content Placeholder 2"/>
          <p:cNvSpPr>
            <a:spLocks noGrp="1"/>
          </p:cNvSpPr>
          <p:nvPr>
            <p:ph idx="1"/>
          </p:nvPr>
        </p:nvSpPr>
        <p:spPr/>
        <p:txBody>
          <a:bodyPr/>
          <a:lstStyle/>
          <a:p>
            <a:pPr lvl="0" indent="0" marL="0">
              <a:buNone/>
            </a:pPr>
            <a:r>
              <a:rPr/>
              <a:t>On the repository page, click the green </a:t>
            </a:r>
            <a:r>
              <a:rPr b="1"/>
              <a:t>Code</a:t>
            </a:r>
            <a:r>
              <a:rPr/>
              <a:t> button and copy the </a:t>
            </a:r>
            <a:r>
              <a:rPr b="1"/>
              <a:t>HTTPS</a:t>
            </a:r>
            <a:r>
              <a:rPr/>
              <a:t> URL.</a:t>
            </a:r>
          </a:p>
          <a:p>
            <a:pPr lvl="0" indent="0" marL="0">
              <a:buNone/>
            </a:pPr>
            <a:r>
              <a:rPr/>
              <a:t>VS Codium terminal</a:t>
            </a:r>
          </a:p>
          <a:p>
            <a:pPr lvl="0" indent="0">
              <a:buNone/>
            </a:pPr>
            <a:r>
              <a:rPr>
                <a:solidFill>
                  <a:srgbClr val="06287E"/>
                </a:solidFill>
                <a:latin typeface="Courier"/>
              </a:rPr>
              <a:t>git</a:t>
            </a:r>
            <a:r>
              <a:rPr>
                <a:latin typeface="Courier"/>
              </a:rPr>
              <a:t> clone https://github.com/OWNER/qmib-gXX.git</a:t>
            </a:r>
            <a:br/>
            <a:r>
              <a:rPr>
                <a:solidFill>
                  <a:srgbClr val="008000"/>
                </a:solidFill>
                <a:latin typeface="Courier"/>
              </a:rPr>
              <a:t>cd</a:t>
            </a:r>
            <a:r>
              <a:rPr>
                <a:latin typeface="Courier"/>
              </a:rPr>
              <a:t> qmib-gXX</a:t>
            </a:r>
          </a:p>
          <a:p>
            <a:pPr lvl="0" indent="0" marL="0">
              <a:buNone/>
            </a:pPr>
            <a:r>
              <a:rPr/>
              <a:t>Then </a:t>
            </a:r>
            <a:r>
              <a:rPr>
                <a:latin typeface="Courier"/>
              </a:rPr>
              <a:t>File → Open Folder…</a:t>
            </a:r>
            <a:r>
              <a:rPr/>
              <a:t> and choose that folder.</a:t>
            </a:r>
          </a:p>
          <a:p>
            <a:pPr lvl="0" indent="0" marL="0">
              <a:buNone/>
            </a:pPr>
            <a:r>
              <a:rPr/>
              <a:t>The Explorer shows </a:t>
            </a:r>
            <a:r>
              <a:rPr>
                <a:latin typeface="Courier"/>
              </a:rPr>
              <a:t>README.md</a:t>
            </a:r>
            <a:r>
              <a:rPr/>
              <a:t>, and the bottom-left shows the branch </a:t>
            </a:r>
            <a:r>
              <a:rPr>
                <a:latin typeface="Courier"/>
              </a:rPr>
              <a:t>main</a:t>
            </a:r>
            <a:r>
              <a:rPr/>
              <a: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08000"/>
                </a:solidFill>
                <a:latin typeface="Courier"/>
              </a:rPr>
              <a:t>echo</a:t>
            </a:r>
            <a:r>
              <a:rPr>
                <a:latin typeface="Courier"/>
              </a:rPr>
              <a:t> </a:t>
            </a:r>
            <a:r>
              <a:rPr>
                <a:solidFill>
                  <a:srgbClr val="4070A0"/>
                </a:solidFill>
                <a:latin typeface="Courier"/>
              </a:rPr>
              <a:t>"## Group XX"</a:t>
            </a:r>
            <a:r>
              <a:rPr>
                <a:latin typeface="Courier"/>
              </a:rPr>
              <a:t> </a:t>
            </a:r>
            <a:r>
              <a:rPr>
                <a:solidFill>
                  <a:srgbClr val="666666"/>
                </a:solidFill>
                <a:latin typeface="Courier"/>
              </a:rPr>
              <a:t>&gt;&gt;</a:t>
            </a:r>
            <a:r>
              <a:rPr>
                <a:latin typeface="Courier"/>
              </a:rPr>
              <a:t> README.md</a:t>
            </a:r>
            <a:br/>
            <a:r>
              <a:rPr>
                <a:solidFill>
                  <a:srgbClr val="06287E"/>
                </a:solidFill>
                <a:latin typeface="Courier"/>
              </a:rPr>
              <a:t>git</a:t>
            </a:r>
            <a:r>
              <a:rPr>
                <a:latin typeface="Courier"/>
              </a:rPr>
              <a:t> add README.md</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heading"</a:t>
            </a:r>
            <a:br/>
            <a:r>
              <a:rPr>
                <a:solidFill>
                  <a:srgbClr val="06287E"/>
                </a:solidFill>
                <a:latin typeface="Courier"/>
              </a:rPr>
              <a:t>git</a:t>
            </a:r>
            <a:r>
              <a:rPr>
                <a:latin typeface="Courier"/>
              </a:rPr>
              <a:t> push</a:t>
            </a:r>
          </a:p>
          <a:p>
            <a:pPr lvl="0" indent="0" marL="0">
              <a:buNone/>
            </a:pPr>
            <a:r>
              <a:rPr/>
              <a:t>Refresh the repository page in your browser. Your line is there.</a:t>
            </a:r>
          </a:p>
          <a:p>
            <a:pPr lvl="0" indent="0" marL="0">
              <a:buNone/>
            </a:pPr>
            <a:r>
              <a:rPr/>
              <a:t>Edit locally → commit → push → visible to your group. Everything this term is a variation on that loop.</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a:t>
            </a:r>
            <a:r>
              <a:rPr>
                <a:solidFill>
                  <a:srgbClr val="7D9029"/>
                </a:solidFill>
                <a:latin typeface="Courier"/>
              </a:rPr>
              <a:t>-b</a:t>
            </a:r>
            <a:r>
              <a:rPr>
                <a:latin typeface="Courier"/>
              </a:rPr>
              <a:t> s02-fwl-analysis</a:t>
            </a:r>
            <a:br/>
            <a:r>
              <a:rPr i="1">
                <a:solidFill>
                  <a:srgbClr val="60A0B0"/>
                </a:solidFill>
                <a:latin typeface="Courier"/>
              </a:rPr>
              <a:t># ... work, commit ...</a:t>
            </a:r>
            <a:br/>
            <a:r>
              <a:rPr>
                <a:solidFill>
                  <a:srgbClr val="06287E"/>
                </a:solidFill>
                <a:latin typeface="Courier"/>
              </a:rPr>
              <a:t>git</a:t>
            </a:r>
            <a:r>
              <a:rPr>
                <a:latin typeface="Courier"/>
              </a:rPr>
              <a:t> push </a:t>
            </a:r>
            <a:r>
              <a:rPr>
                <a:solidFill>
                  <a:srgbClr val="7D9029"/>
                </a:solidFill>
                <a:latin typeface="Courier"/>
              </a:rPr>
              <a:t>-u</a:t>
            </a:r>
            <a:r>
              <a:rPr>
                <a:latin typeface="Courier"/>
              </a:rPr>
              <a:t> origin s02-fwl-analysis</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Rotate the roles</a:t>
            </a:r>
          </a:p>
        </p:txBody>
      </p:sp>
      <p:sp>
        <p:nvSpPr>
          <p:cNvPr id="3" name="Content Placeholder 2"/>
          <p:cNvSpPr>
            <a:spLocks noGrp="1"/>
          </p:cNvSpPr>
          <p:nvPr>
            <p:ph idx="1"/>
          </p:nvPr>
        </p:nvSpPr>
        <p:spPr/>
        <p:txBody>
          <a:bodyPr/>
          <a:lstStyle/>
          <a:p>
            <a:pPr lvl="0" indent="0" marL="0">
              <a:buNone/>
            </a:pPr>
            <a:r>
              <a:rPr/>
              <a:t>Your group logs a Driver, an Analyst and a Reporter each session.</a:t>
            </a:r>
          </a:p>
          <a:p>
            <a:pPr lvl="0"/>
            <a:r>
              <a:rPr b="1"/>
              <a:t>Driver</a:t>
            </a:r>
            <a:r>
              <a:rPr/>
              <a:t> writes the code</a:t>
            </a:r>
          </a:p>
          <a:p>
            <a:pPr lvl="0"/>
            <a:r>
              <a:rPr b="1"/>
              <a:t>Analyst</a:t>
            </a:r>
            <a:r>
              <a:rPr/>
              <a:t> decides the specification and owns the interpretation</a:t>
            </a:r>
          </a:p>
          <a:p>
            <a:pPr lvl="0"/>
            <a:r>
              <a:rPr b="1"/>
              <a:t>Reporter</a:t>
            </a:r>
            <a:r>
              <a:rPr/>
              <a:t> writes the three sentences and presents </a:t>
            </a:r>
            <a:r>
              <a:rPr i="1"/>
              <a:t>if drawn</a:t>
            </a:r>
          </a:p>
          <a:p>
            <a:pPr lvl="0" indent="0" marL="0">
              <a:buNone/>
            </a:pPr>
            <a:r>
              <a:rPr/>
              <a:t>Over ten sessions each of you should hold each role three or four times. Logged in </a:t>
            </a:r>
            <a:r>
              <a:rPr>
                <a:latin typeface="Courier"/>
              </a:rPr>
              <a:t>assessment/role-logs/gXX.md</a:t>
            </a:r>
            <a:r>
              <a:rPr/>
              <a:t>, checked with </a:t>
            </a:r>
            <a:r>
              <a:rPr>
                <a:latin typeface="Courier"/>
              </a:rPr>
              <a:t>python scripts/assess.py roles</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so nobody is surprised in week twelve.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One private group repository, with both teammates </a:t>
            </a:r>
            <a:r>
              <a:rPr b="1"/>
              <a:t>and me</a:t>
            </a:r>
            <a:r>
              <a:rPr/>
              <a:t> added</a:t>
            </a:r>
          </a:p>
          <a:p>
            <a:pPr lvl="0"/>
            <a:r>
              <a:rPr/>
              <a:t>✅ Cloned to your machine and opened in VS Codium</a:t>
            </a:r>
          </a:p>
          <a:p>
            <a:pPr lvl="0"/>
            <a:r>
              <a:rPr/>
              <a:t>✅ One commit pushed </a:t>
            </a:r>
            <a:r>
              <a:rPr b="1"/>
              <a:t>by you personally</a:t>
            </a:r>
            <a:r>
              <a:rPr/>
              <a:t>, visible on github.com</a:t>
            </a:r>
          </a:p>
          <a:p>
            <a:pPr lvl="0"/>
            <a:r>
              <a:rPr/>
              <a:t>✅ Your exact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2026-08-19T20:02:55Z</dcterms:created>
  <dcterms:modified xsi:type="dcterms:W3CDTF">2026-08-19T20:02:55Z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19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