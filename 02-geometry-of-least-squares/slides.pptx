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Outline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1</a:t></a:r></a:p></a:txBody></a:tc><a:tc><a:txBody><a:bodyPr /><a:lstStyle /><a:p><a:pPr lvl="0" indent="0" marL="0"><a:buNone /></a:pPr><a:r><a:rPr /><a:t>Where we are, and what this adds</a:t></a:r></a:p></a:txBody></a:tc></a:tr><a:tr h="0"><a:tc><a:txBody><a:bodyPr /><a:lstStyle /><a:p><a:pPr lvl="0" indent="0" marL="0"><a:buNone /></a:pPr><a:r><a:rPr b="1" /><a:t>2</a:t></a:r></a:p></a:txBody></a:tc><a:tc><a:txBody><a:bodyPr /><a:lstStyle /><a:p><a:pPr lvl="0" indent="0" marL="0"><a:buNone /></a:pPr><a:r><a:rPr /><a:t>The model in matrix form</a:t></a:r></a:p></a:txBody></a:tc></a:tr><a:tr h="0"><a:tc><a:txBody><a:bodyPr /><a:lstStyle /><a:p><a:pPr lvl="0" indent="0" marL="0"><a:buNone /></a:pPr><a:r><a:rPr b="1" /><a:t>3</a:t></a:r></a:p></a:txBody></a:tc><a:tc><a:txBody><a:bodyPr /><a:lstStyle /><a:p><a:pPr lvl="0" indent="0" marL="0"><a:buNone /></a:pPr><a:r><a:rPr /><a:t>Route 1 — calculus</a:t></a:r></a:p></a:txBody></a:tc></a:tr><a:tr h="0"><a:tc><a:txBody><a:bodyPr /><a:lstStyle /><a:p><a:pPr lvl="0" indent="0" marL="0"><a:buNone /></a:pPr><a:r><a:rPr b="1" /><a:t>4</a:t></a:r></a:p></a:txBody></a:tc><a:tc><a:txBody><a:bodyPr /><a:lstStyle /><a:p><a:pPr lvl="0" indent="0" marL="0"><a:buNone /></a:pPr><a:r><a:rPr /><a:t>Route 2 — geometry </a:t></a:r><a:r><a:rPr i="1" /><a:t>(the one worth remembering)</a:t></a:r></a:p></a:txBody></a:tc></a:tr><a:tr h="0"><a:tc><a:txBody><a:bodyPr /><a:lstStyle /><a:p><a:pPr lvl="0" indent="0" marL="0"><a:buNone /></a:pPr><a:r><a:rPr b="1" /><a:t>5</a:t></a:r></a:p></a:txBody></a:tc><a:tc><a:txBody><a:bodyPr /><a:lstStyle /><a:p><a:pPr lvl="0" indent="0" marL="0"><a:buNone /></a:pPr><a:r><a:rPr /><a:t>Leverage, and </a:t></a:r><a14:m><m:oMath xmlns:m="http://schemas.openxmlformats.org/officeDocument/2006/math"><m:sSup><m:e><m:r><m:t>R</m:t></m:r></m:e><m:sup><m:r><m:t>2</m:t></m:r></m:sup></m:sSup></m:oMath></a14:m><a:r><a:rPr /><a:t> as an angle</a:t></a:r></a:p></a:txBody></a:tc></a:tr><a:tr h="0"><a:tc><a:txBody><a:bodyPr /><a:lstStyle /><a:p><a:pPr lvl="0" indent="0" marL="0"><a:buNone /></a:pPr><a:r><a:rPr b="1" /><a:t>6</a:t></a:r></a:p></a:txBody></a:tc><a:tc><a:txBody><a:bodyPr /><a:lstStyle /><a:p><a:pPr lvl="0" indent="0" marL="0"><a:buNone /></a:pPr><a:r><a:rPr /><a:t>Frisch–Waugh–Lovell</a:t></a:r></a:p></a:txBody></a:tc></a:tr><a:tr h="0"><a:tc><a:txBody><a:bodyPr /><a:lstStyle /><a:p><a:pPr lvl="0" indent="0" marL="0"><a:buNone /></a:pPr><a:r><a:rPr b="1" /><a:t>7</a:t></a:r></a:p></a:txBody></a:tc><a:tc><a:txBody><a:bodyPr /><a:lstStyle /><a:p><a:pPr lvl="0" indent="0" marL="0"><a:buNone /></a:pPr><a:r><a:rPr /><a:t>Never invert </a:t></a:r><a14:m><m:oMath xmlns:m="http://schemas.openxmlformats.org/officeDocument/2006/math"><m:sSup><m:e><m:r><m:t>X</m:t></m:r></m:e><m:sup><m:r><m:rPr><m:sty m:val="p" /></m:rPr><m:t>⊤</m:t></m:r></m:sup></m:sSup><m:r><m:t>X</m:t></m:r></m:oMath></a14:m></a:p></a:txBody></a:tc></a:tr><a:tr h="0"><a:tc><a:txBody><a:bodyPr /><a:lstStyle /><a:p><a:pPr lvl="0" indent="0" marL="0"><a:buNone /></a:pPr><a:r><a:rPr b="1" /><a:t>8</a:t></a:r></a:p></a:txBody></a:tc><a:tc><a:txBody><a:bodyPr /><a:lstStyle /><a:p><a:pPr lvl="0" indent="0" marL="0"><a:buNone /></a:pPr><a:r><a:rPr /><a:t>Key takeaways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Derive the </a:t>
                </a:r>
                <a:r>
                  <a:rPr b="1"/>
                  <a:t>normal equations</a:t>
                </a:r>
                <a:r>
                  <a:rPr/>
                  <a:t> twice — by calculus and by projection — and see they are one statement</a:t>
                </a:r>
              </a:p>
              <a:p>
                <a:pPr lvl="0"/>
                <a:r>
                  <a:rPr/>
                  <a:t>Read the </a:t>
                </a:r>
                <a:r>
                  <a:rPr b="1"/>
                  <a:t>hat matrix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 fitted values, residuals, degrees of freedom, leverage</a:t>
                </a:r>
              </a:p>
              <a:p>
                <a:pPr lvl="0"/>
                <a:r>
                  <a:rPr/>
                  <a:t>Explain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as a </a:t>
                </a:r>
                <a:r>
                  <a:rPr b="1"/>
                  <a:t>squared cosine</a:t>
                </a:r>
                <a:r>
                  <a:rPr/>
                  <a:t>, and say what it therefore cannot tell you</a:t>
                </a:r>
              </a:p>
              <a:p>
                <a:pPr lvl="0"/>
                <a:r>
                  <a:rPr/>
                  <a:t>State </a:t>
                </a:r>
                <a:r>
                  <a:rPr b="1"/>
                  <a:t>Frisch–Waugh–Lovell</a:t>
                </a:r>
                <a:r>
                  <a:rPr/>
                  <a:t> and use it to say what “controlling for” means</a:t>
                </a:r>
              </a:p>
              <a:p>
                <a:pPr lvl="0"/>
                <a:r>
                  <a:rPr/>
                  <a:t>Say why you should 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, and what to do instead</a:t>
                </a:r>
              </a:p>
              <a:p>
                <a:pPr lvl="0" indent="0" marL="0">
                  <a:buNone/>
                </a:pPr>
                <a:r>
                  <a:rPr/>
                  <a:t>Full derivations: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§2.1–2.5. These slides are the same argument, drawn.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01 set up the machine and asked what a scenario is. </a:t>
            </a:r>
            <a:r>
              <a:rPr b="1"/>
              <a:t>No mathematics.</a:t>
            </a:r>
          </a:p>
          <a:p>
            <a:pPr lvl="0" indent="0" marL="0">
              <a:buNone/>
            </a:pPr>
            <a:r>
              <a:rPr/>
              <a:t>This is the first method in the course, and everything after it is a variation. Sessions 03–11 add assumptions to this estimator, relax them, or replace it — but the geometry drawn today recurs in every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buys you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way to fit a line to anything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and to know </a:t>
                      </a:r>
                      <a:r>
                        <a:rPr b="1"/>
                        <a:t>exactly</a:t>
                      </a:r>
                      <a:r>
                        <a:rPr/>
                        <a:t> what it optimises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meaning of “controlling for”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a </a:t>
                      </a:r>
                      <a:r>
                        <a:rPr b="1"/>
                        <a:t>projection</a:t>
                      </a:r>
                      <a:r>
                        <a:rPr/>
                        <a:t>, not a hand-wave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reason collinearity hurts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before we meet the cure in Session 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identity behind causal 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FWL returns in Session 10, unchanged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 the picture once and you re-use it nine times.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with a leading column of ones: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want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today follows from that one line. There are two routes to the minimum, and they turn out to be the same statement.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Route 1 — calculus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differentiate, solve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 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giving the </a:t>
                </a:r>
                <a:r>
                  <a:rPr b="1"/>
                  <a:t>normal equations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And it is a minimum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. 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</p:txBody>
          </p:sp>
        </mc:Choice>
      </mc:AlternateContent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970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Convexity is why there is one answer. Session 07 gives it up, and pays for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Route 2 — geometry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question, restated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can only reach points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—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asks:</a:t>
                </a:r>
              </a:p>
              <a:p>
                <a:pPr lvl="0" indent="0" marL="1270000">
                  <a:buNone/>
                </a:pPr>
                <a:r>
                  <a:rPr sz="2000" b="1"/>
                  <a:t>which point of that subspace is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sz="2000" b="1"/>
                  <a:t>?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answer is a right angle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3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closest point is the </a:t>
                </a:r>
                <a:r>
                  <a:rPr b="1"/>
                  <a:t>orthogonal projection</a:t>
                </a:r>
                <a:r>
                  <a:rPr/>
                  <a:t>, so the residual is perpendicular to the subspace: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X</m:t>
                        </m:r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— </a:t>
                </a:r>
                <a:r>
                  <a:rPr i="1"/>
                  <a:t>which is the normal equations again.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spends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Pythagoras</a:t>
                </a:r>
              </a:p>
              <a:p>
                <a:pPr lvl="0" indent="0" marL="0">
                  <a:buNone/>
                </a:pPr>
                <a:r>
                  <a:rPr/>
                  <a:t>That last identity says fitted values and residuals share </a:t>
                </a:r>
                <a:r>
                  <a:rPr b="1"/>
                  <a:t>no</a:t>
                </a:r>
                <a:r>
                  <a:rPr/>
                  <a:t> information. It is the whole reason a residual plot is informative.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5 · Leverage and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pulling the line?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High leverage is </a:t>
                </a:r>
                <a:r>
                  <a:rPr b="1"/>
                  <a:t>not</a:t>
                </a:r>
                <a:r>
                  <a:rPr/>
                  <a:t> an error. It means that observation has unusual regressors, so it moves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 lot. High leverage </a:t>
                </a:r>
                <a:r>
                  <a:rPr b="1"/>
                  <a:t>and</a:t>
                </a:r>
                <a:r>
                  <a:rPr/>
                  <a:t> a large residual is what deserves a look.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7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b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is: a statement about an angle. Not whether the model is right, not whether anything causes anything, and not whether it holds next year.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Frisch–Waugh–Lovell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</a:t>
                </a:r>
                <a:r>
                  <a:rPr b="1"/>
                  <a:t>full</a:t>
                </a:r>
                <a:r>
                  <a:rPr/>
                  <a:t>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can explain.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is what “controlling for” </a:t>
            </a:r>
            <a:r>
              <a:rPr i="1"/>
              <a:t>means</a:t>
            </a:r>
            <a:r>
              <a:rPr/>
              <a:t> — not “holding constant” as a figure of speech, but projecting out, literally.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it happen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7569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routes, </a:t>
            </a:r>
            <a:r>
              <a:rPr b="1"/>
              <a:t>one number</a:t>
            </a:r>
            <a:r>
              <a:rPr/>
              <a:t>. That identity is what the theorem asserts — and you verify it yourself in the practice session.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7 · Never invert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Forming it squares the conditioning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</a:t>
                </a:r>
                <a:r>
                  <a:rPr b="1"/>
                  <a:t>twice as many digits</a:t>
                </a:r>
                <a:r>
                  <a:rPr/>
                  <a:t> of precision.</a:t>
                </a:r>
              </a:p>
            </p:txBody>
          </p:sp>
        </mc:Choice>
      </mc:AlternateContent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82700"/>
            <a:ext cx="51054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triangular;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The formula on slide 3 is how you </a:t>
                </a:r>
                <a:r>
                  <a:rPr b="1"/>
                  <a:t>state</a:t>
                </a:r>
                <a:r>
                  <a:rPr/>
                  <a:t> the estimator, not how you </a:t>
                </a:r>
                <a:r>
                  <a:rPr b="1"/>
                  <a:t>compute</a:t>
                </a:r>
                <a:r>
                  <a:rPr/>
                  <a:t> it.</a:t>
                </a:r>
              </a:p>
              <a:p>
                <a:pPr lvl="0" indent="0" marL="0">
                  <a:buNone/>
                </a:pPr>
                <a:r>
                  <a:rPr/>
                  <a:t>In the practice session you add a near-duplicate column and watch the explicit-inverse route fail while QR survives.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Least squares is a projection.</a:t>
                </a:r>
                <a:r>
                  <a:rPr/>
                  <a:t> Calculus and geometry give one answer; the geometry is the one to remember.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 b="1"/>
                  <a:t> is the whole story</a:t>
                </a:r>
                <a:r>
                  <a:rPr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, residuals,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, leverage, Pythagoras.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is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θ</m:t>
                    </m:r>
                  </m:oMath>
                </a14:m>
                <a:r>
                  <a:rPr/>
                  <a:t> — an angle, and nothing more.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“Controlling for” is projecting out.</a:t>
                </a:r>
                <a:r>
                  <a:rPr/>
                  <a:t> That is FWL, and it returns in Session 10.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Never invert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 b="1"/>
                  <a:t>.</a:t>
                </a:r>
                <a:r>
                  <a:rPr/>
                  <a:t> State it that way; compute it with QR.</a:t>
                </a:r>
              </a:p>
            </p:txBody>
          </p:sp>
        </mc:Choice>
      </mc:AlternateContent>
    </p:spTree>
  </p:cSld>
</p:sld>
</file>

<file path=ppt/slides/slide3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All three energy shares plus an intercept</a:t></a:r></a:p></a:txBody></a:tc><a:tc><a:txBody><a:bodyPr /><a:lstStyle /><a:p><a:pPr lvl="0" indent="0" marL="0"><a:buNone /></a:pPr><a:r><a:rPr /><a:t>exact collinearity — </a:t></a:r><a14:m><m:oMath xmlns:m="http://schemas.openxmlformats.org/officeDocument/2006/math"><m:sSup><m:e><m:r><m:t>X</m:t></m:r></m:e><m:sup><m:r><m:rPr><m:sty m:val="p" /></m:rPr><m:t>⊤</m:t></m:r></m:sup></m:sSup><m:r><m:t>X</m:t></m:r></m:oMath></a14:m><a:r><a:rPr /><a:t> is singular</a:t></a:r></a:p></a:txBody></a:tc></a:tr><a:tr h="0"><a:tc><a:txBody><a:bodyPr /><a:lstStyle /><a:p><a:pPr lvl="0" indent="0" marL="0"><a:buNone /></a:pPr><a:r><a:rPr /><a:t>A coefficient with no stated omitted category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14:m><m:oMath xmlns:m="http://schemas.openxmlformats.org/officeDocument/2006/math"><m:sSup><m:e><m:r><m:t>R</m:t></m:r></m:e><m:sup><m:r><m:t>2</m:t></m:r></m:sup></m:sSup></m:oMath></a14:m><a:r><a:rPr /><a:t> reported alone</a:t></a:r></a:p></a:txBody></a:tc><a:tc><a:txBody><a:bodyPr /><a:lstStyle /><a:p><a:pPr lvl="0" indent="0" marL="0"><a:buNone /></a:pPr><a:r><a:rPr /><a:t>give the error in the outcome’s units too</a:t></a:r></a:p></a:txBody></a:tc></a:tr><a:tr h="0"><a:tc><a:txBody><a:bodyPr /><a:lstStyle /><a:p><a:pPr lvl="0" indent="0" marL="0"><a:buNone /></a:pPr><a:r><a:rPr /><a:t>“Fossil generation raises prices by </a:t></a:r><a14:m><m:oMath xmlns:m="http://schemas.openxmlformats.org/officeDocument/2006/math"><m:r><m:t>X</m:t></m:r></m:oMath></a14:m><a:r><a:rPr /><a:t>”</a:t></a:r></a:p></a:txBody></a:tc><a:tc><a:txBody><a:bodyPr /><a:lstStyle /><a:p><a:pPr lvl="0" indent="0" marL="0"><a:buNone /></a:pPr><a:r><a:rPr /><a:t>an association in a 30-country panel, not an effect</a:t></a:r></a:p></a:txBody></a:tc></a:tr></a:tbl></a:graphicData></a:graphic></p:graphicFrame></p:spTree></p:cSld>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Implement </a:t>
            </a:r>
            <a:r>
              <a:rPr>
                <a:latin typeface="Courier"/>
              </a:rPr>
              <a:t>ols_normal_equations</a:t>
            </a:r>
            <a:r>
              <a:rPr/>
              <a:t> and </a:t>
            </a:r>
            <a:r>
              <a:rPr>
                <a:latin typeface="Courier"/>
              </a:rPr>
              <a:t>ols_qr</a:t>
            </a:r>
            <a:r>
              <a:rPr/>
              <a:t>; compare both to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Compute the hat diagonal; plot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 and watch it break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coefficients match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2026-08-21T12:24:25Z</dcterms:created>
  <dcterms:modified xsi:type="dcterms:W3CDTF">2026-08-21T12:24:25Z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02 · Lecture, first half</vt:lpwstr>
  </property>
  <property fmtid="{D5CDD505-2E9C-101B-9397-08002B2CF9AE}" pid="18" name="toc-title">
    <vt:lpwstr>Table of contents</vt:lpwstr>
  </property>
</Properties>
</file>