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18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00"/>
            </a:lvl2pPr>
            <a:lvl3pPr marL="685800" indent="0">
              <a:buNone/>
              <a:defRPr sz="1100"/>
            </a:lvl3pPr>
            <a:lvl4pPr marL="1028700" indent="0">
              <a:buNone/>
              <a:defRPr sz="950"/>
            </a:lvl4pPr>
            <a:lvl5pPr marL="1371600" indent="0">
              <a:buNone/>
              <a:defRPr sz="950"/>
            </a:lvl5pPr>
            <a:lvl6pPr marL="1714500" indent="0">
              <a:buNone/>
              <a:defRPr sz="950"/>
            </a:lvl6pPr>
            <a:lvl7pPr marL="2057400" indent="0">
              <a:buNone/>
              <a:defRPr sz="950"/>
            </a:lvl7pPr>
            <a:lvl8pPr marL="2400300" indent="0">
              <a:buNone/>
              <a:defRPr sz="950"/>
            </a:lvl8pPr>
            <a:lvl9pPr marL="2743200" indent="0">
              <a:buNone/>
              <a:defRPr sz="9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uthor Footer"/>
          <p:cNvSpPr txBox="1"/>
          <p:nvPr/>
        </p:nvSpPr>
        <p:spPr>
          <a:xfrm>
            <a:off x="457200" y="4735000"/>
            <a:ext cx="50000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l"/>
            <a:r>
              <a:rPr dirty="0" lang="en-US" sz="900">
                <a:solidFill>
                  <a:srgbClr val="6E7275"/>
                </a:solidFill>
                <a:latin typeface="+mn-lt"/>
              </a:rPr>
              <a:t>Thierry Warin, PhD</a:t>
            </a:r>
          </a:p>
        </p:txBody>
      </p:sp>
      <p:sp>
        <p:nvSpPr>
          <p:cNvPr id="8" name="Slide Number Footer"/>
          <p:cNvSpPr txBox="1"/>
          <p:nvPr/>
        </p:nvSpPr>
        <p:spPr>
          <a:xfrm>
            <a:off x="7200000" y="4735000"/>
            <a:ext cx="14868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r"/>
            <a:fld id="{9B1A2C3D-4E5F-6A7B-8C9D-0E1F2A3B4C5D}" type="slidenum">
              <a:rPr dirty="0" lang="en-US" sz="900">
                <a:solidFill>
                  <a:srgbClr val="6E7275"/>
                </a:solidFill>
                <a:latin typeface="+mn-lt"/>
              </a:rPr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3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1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9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9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01-lecture/README.md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RESEARCH-MANDATES.md" TargetMode="Externa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02-practice/README.md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Data, Vectors, and the Geometry of Least Squares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02 · Lecture, first half</a:t>
            </a:r>
            <a:br/>
            <a:br/>
            <a:r>
              <a:rPr/>
              <a:t>Thierry Warin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 August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is the most-used estimator in economics a right-angle triangle?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slides follow the notes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model in matrix form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Route 1 — calculus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Route 2 — geometry </a:t>
                      </a:r>
                      <a:r>
                        <a:rPr i="1"/>
                        <a:t>(the one worth remembering)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Adding a regressor: Frisch–Waugh–Lovell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Numerical warning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numbering, same notation as </a:t>
            </a:r>
            <a:r>
              <a:rPr>
                <a:hlinkClick r:id="rId2"/>
                <a:latin typeface="Courier"/>
              </a:rPr>
              <a:t>01-lecture/README.md</a:t>
            </a:r>
            <a:r>
              <a:rPr/>
              <a:t>. The notes are the reference; these slides are the walk-through.</a:t>
            </a:r>
          </a:p>
        </p:txBody>
      </p:sp>
    </p:spTree>
  </p:cSld>
</p:sld>
</file>

<file path=ppt/slides/slide5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Notation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4114800" /><a:gridCol w="4114800" /></a:tblGrid><a:tr h="0"><a:tc><a:txBody><a:bodyPr /><a:lstStyle /><a:p><a:pPr lvl="0" indent="0" marL="0"><a:buNone /></a:pPr><a:r><a:rPr /><a:t>Symbol</a:t></a:r></a:p></a:txBody><a:tcPr /></a:tc><a:tc><a:txBody><a:bodyPr /><a:lstStyle /><a:p><a:pPr lvl="0" indent="0" marL="0"><a:buNone /></a:pPr><a:r><a:rPr /><a:t>Meaning</a:t></a:r></a:p></a:txBody><a:tcPr /></a:tc></a:tr><a:tr h="0"><a:tc><a:txBody><a:bodyPr /><a:lstStyle /><a:p><a:pPr lvl="0" indent="0" marL="0"><a:buNone /></a:pPr><a14:m><m:oMath xmlns:m="http://schemas.openxmlformats.org/officeDocument/2006/math"><m:r><m:t>n</m:t></m:r></m:oMath></a14:m><a:r><a:rPr /><a:t>, </a:t></a:r><a14:m><m:oMath xmlns:m="http://schemas.openxmlformats.org/officeDocument/2006/math"><m:r><m:t>p</m:t></m:r></m:oMath></a14:m></a:p></a:txBody></a:tc><a:tc><a:txBody><a:bodyPr /><a:lstStyle /><a:p><a:pPr lvl="0" indent="0" marL="0"><a:buNone /></a:pPr><a:r><a:rPr /><a:t>number of observations, number of predictors</a:t></a:r></a:p></a:txBody></a:tc></a:tr><a:tr h="0"><a:tc><a:txBody><a:bodyPr /><a:lstStyle /><a:p><a:pPr lvl="0" indent="0" marL="0"><a:buNone /></a:pPr><a14:m><m:oMath xmlns:m="http://schemas.openxmlformats.org/officeDocument/2006/math"><m:r><m:t>X</m:t></m:r></m:oMath></a14:m></a:p></a:txBody></a:tc><a:tc><a:txBody><a:bodyPr /><a:lstStyle /><a:p><a:pPr lvl="0" indent="0" marL="0"><a:buNone /></a:pPr><a14:m><m:oMath xmlns:m="http://schemas.openxmlformats.org/officeDocument/2006/math"><m:r><m:t>n</m:t></m:r><m:r><m:rPr><m:sty m:val="p" /></m:rPr><m:t>×</m:t></m:r><m:r><m:t>p</m:t></m:r></m:oMath></a14:m><a:r><a:rPr /><a:t> design matrix (first column ones)</a:t></a:r></a:p></a:txBody></a:tc></a:tr><a:tr h="0"><a:tc><a:txBody><a:bodyPr /><a:lstStyle /><a:p><a:pPr lvl="0" indent="0" marL="0"><a:buNone /></a:pPr><a14:m><m:oMath xmlns:m="http://schemas.openxmlformats.org/officeDocument/2006/math"><m:r><m:t>y</m:t></m:r></m:oMath></a14:m></a:p></a:txBody></a:tc><a:tc><a:txBody><a:bodyPr /><a:lstStyle /><a:p><a:pPr lvl="0" indent="0" marL="0"><a:buNone /></a:pPr><a14:m><m:oMath xmlns:m="http://schemas.openxmlformats.org/officeDocument/2006/math"><m:r><m:t>n</m:t></m:r></m:oMath></a14:m><a:r><a:rPr /><a:t>-vector of outcomes</a:t></a:r></a:p></a:txBody></a:tc></a:tr><a:tr h="0"><a:tc><a:txBody><a:bodyPr /><a:lstStyle /><a:p><a:pPr lvl="0" indent="0" marL="0"><a:buNone /></a:pPr><a14:m><m:oMath xmlns:m="http://schemas.openxmlformats.org/officeDocument/2006/math"><m:acc><m:accPr><m:chr m:val="̂" /></m:accPr><m:e><m:r><m:t>β</m:t></m:r></m:e></m:acc></m:oMath></a14:m></a:p></a:txBody></a:tc><a:tc><a:txBody><a:bodyPr /><a:lstStyle /><a:p><a:pPr lvl="0" indent="0" marL="0"><a:buNone /></a:pPr><a:r><a:rPr /><a:t>estimated coefficient vector</a:t></a:r></a:p></a:txBody></a:tc></a:tr><a:tr h="0"><a:tc><a:txBody><a:bodyPr /><a:lstStyle /><a:p><a:pPr lvl="0" indent="0" marL="0"><a:buNone /></a:pPr><a14:m><m:oMath xmlns:m="http://schemas.openxmlformats.org/officeDocument/2006/math"><m:acc><m:accPr><m:chr m:val="̂" /></m:accPr><m:e><m:r><m:t>y</m:t></m:r></m:e></m:acc><m:r><m:rPr><m:sty m:val="p" /></m:rPr><m:t>=</m:t></m:r><m:r><m:t>X</m:t></m:r><m:acc><m:accPr><m:chr m:val="̂" /></m:accPr><m:e><m:r><m:t>β</m:t></m:r></m:e></m:acc></m:oMath></a14:m></a:p></a:txBody></a:tc><a:tc><a:txBody><a:bodyPr /><a:lstStyle /><a:p><a:pPr lvl="0" indent="0" marL="0"><a:buNone /></a:pPr><a:r><a:rPr /><a:t>fitted values</a:t></a:r></a:p></a:txBody></a:tc></a:tr><a:tr h="0"><a:tc><a:txBody><a:bodyPr /><a:lstStyle /><a:p><a:pPr lvl="0" indent="0" marL="0"><a:buNone /></a:pPr><a14:m><m:oMath xmlns:m="http://schemas.openxmlformats.org/officeDocument/2006/math"><m:r><m:t>H</m:t></m:r><m:r><m:rPr><m:sty m:val="p" /></m:rPr><m:t>=</m:t></m:r><m:r><m:t>X</m:t></m:r><m:sSup><m:e><m:d><m:dPr><m:begChr m:val="(" /><m:sepChr m:val="" /><m:endChr m:val=")" /><m:grow /></m:dPr><m:e><m:sSup><m:e><m:r><m:t>X</m:t></m:r></m:e><m:sup><m:r><m:rPr><m:sty m:val="p" /></m:rPr><m:t>⊤</m:t></m:r></m:sup></m:sSup><m:r><m:t>X</m:t></m:r></m:e></m:d></m:e><m:sup><m:r><m:rPr><m:sty m:val="p" /></m:rPr><m:t>−</m:t></m:r><m:r><m:t>1</m:t></m:r></m:sup></m:sSup><m:sSup><m:e><m:r><m:t>X</m:t></m:r></m:e><m:sup><m:r><m:rPr><m:sty m:val="p" /></m:rPr><m:t>⊤</m:t></m:r></m:sup></m:sSup></m:oMath></a14:m></a:p></a:txBody></a:tc><a:tc><a:txBody><a:bodyPr /><a:lstStyle /><a:p><a:pPr lvl="0" indent="0" marL="0"><a:buNone /></a:pPr><a:r><a:rPr /><a:t>hat (projection) matrix</a:t></a:r></a:p></a:txBody></a:tc></a:tr></a:tbl></a:graphicData></a:graphic></p:graphicFrame></p:spTree></p:cSld>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table is in every session’s notes. Learn it once.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2.1 The model in matrix form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Stack the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∈</m:t>
                    </m:r>
                    <m:sSup>
                      <m:e>
                        <m:r>
                          <m:rPr>
                            <m:sty m:val="p"/>
                            <m:scr m:val="double-struck"/>
                          </m:rPr>
                          <m:t>R</m:t>
                        </m:r>
                      </m:e>
                      <m:sup>
                        <m:r>
                          <m:t>n</m:t>
                        </m:r>
                      </m:sup>
                    </m:sSup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∈</m:t>
                    </m:r>
                    <m:sSup>
                      <m:e>
                        <m:r>
                          <m:rPr>
                            <m:sty m:val="p"/>
                            <m:scr m:val="double-struck"/>
                          </m:rPr>
                          <m:t>R</m:t>
                        </m:r>
                      </m:e>
                      <m:sup>
                        <m:r>
                          <m:t>n</m:t>
                        </m:r>
                        <m:r>
                          <m:rPr>
                            <m:sty m:val="p"/>
                          </m:rPr>
                          <m:t>×</m:t>
                        </m:r>
                        <m:r>
                          <m:t>p</m:t>
                        </m:r>
                      </m:sup>
                    </m:sSup>
                  </m:oMath>
                </a14:m>
                <a:r>
                  <a:rPr/>
                  <a:t> (first column a vector of ones), </a:t>
                </a:r>
                <a14:m>
                  <m:oMath xmlns:m="http://schemas.openxmlformats.org/officeDocument/2006/math">
                    <m:r>
                      <m:t>β</m:t>
                    </m:r>
                    <m:r>
                      <m:rPr>
                        <m:sty m:val="p"/>
                      </m:rPr>
                      <m:t>∈</m:t>
                    </m:r>
                    <m:sSup>
                      <m:e>
                        <m:r>
                          <m:rPr>
                            <m:sty m:val="p"/>
                            <m:scr m:val="double-struck"/>
                          </m:rPr>
                          <m:t>R</m:t>
                        </m:r>
                      </m:e>
                      <m:sup>
                        <m:r>
                          <m:t>p</m:t>
                        </m:r>
                      </m:sup>
                    </m:sSup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ε</m:t>
                    </m:r>
                    <m:r>
                      <m:rPr>
                        <m:sty m:val="p"/>
                      </m:rPr>
                      <m:t>∈</m:t>
                    </m:r>
                    <m:sSup>
                      <m:e>
                        <m:r>
                          <m:rPr>
                            <m:sty m:val="p"/>
                            <m:scr m:val="double-struck"/>
                          </m:rPr>
                          <m:t>R</m:t>
                        </m:r>
                      </m:e>
                      <m:sup>
                        <m:r>
                          <m:t>n</m:t>
                        </m:r>
                      </m:sup>
                    </m:sSup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X</m:t>
                      </m:r>
                      <m:r>
                        <m:t>β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ε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We seek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β</m:t>
                        </m:r>
                      </m:e>
                    </m:acc>
                  </m:oMath>
                </a14:m>
                <a:r>
                  <a:rPr/>
                  <a:t> minimising the residual sum of squares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β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∥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X</m:t>
                      </m:r>
                      <m:r>
                        <m:t>β</m:t>
                      </m:r>
                      <m:sSubSup>
                        <m:e>
                          <m:r>
                            <m:rPr>
                              <m:sty m:val="p"/>
                            </m:rPr>
                            <m:t>∥</m:t>
                          </m:r>
                        </m:e>
                        <m:sub>
                          <m:r>
                            <m:t>2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X</m:t>
                              </m:r>
                              <m:r>
                                <m:t>β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X</m:t>
                          </m:r>
                          <m:r>
                            <m:t>β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Two routes to the minimum. They turn out to be the same statement.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2.2 Route 1 — calculus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Expand, then differentiate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β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r>
                        <m:t>y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2</m:t>
                      </m:r>
                      <m:sSup>
                        <m:e>
                          <m:r>
                            <m:t>β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r>
                        <m:t>y</m:t>
                      </m:r>
                      <m:r>
                        <m:rPr>
                          <m:sty m:val="p"/>
                        </m:rPr>
                        <m:t>+</m:t>
                      </m:r>
                      <m:sSup>
                        <m:e>
                          <m:r>
                            <m:t>β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r>
                        <m:t>X</m:t>
                      </m:r>
                      <m:r>
                        <m:t>β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∂</m:t>
                          </m:r>
                          <m:r>
                            <m:t>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m:t>∂</m:t>
                          </m:r>
                          <m:r>
                            <m:t>β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2</m:t>
                      </m:r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r>
                        <m:t>y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2</m:t>
                      </m:r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r>
                        <m:t>X</m:t>
                      </m:r>
                      <m:r>
                        <m:t>β</m:t>
                      </m:r>
                      <m:limUpp>
                        <m:e>
                          <m:r>
                            <m:rPr>
                              <m:sty m:val="p"/>
                            </m:rPr>
                            <m:t>=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m:t>!</m:t>
                          </m:r>
                        </m:lim>
                      </m:limUpp>
                      <m:r>
                        <m:t>0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normal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t> </m:t>
                          </m:r>
                          <m:sSup>
                            <m:e>
                              <m:r>
                                <m:t>X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⊤</m:t>
                              </m:r>
                            </m:sup>
                          </m:sSup>
                          <m:r>
                            <m:t>X</m:t>
                          </m:r>
                          <m:acc>
                            <m:accPr>
                              <m:chr m:val="̂"/>
                            </m:accPr>
                            <m:e>
                              <m:r>
                                <m:t>β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=</m:t>
                          </m:r>
                          <m:sSup>
                            <m:e>
                              <m:r>
                                <m:t>X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⊤</m:t>
                              </m:r>
                            </m:sup>
                          </m:sSup>
                          <m:r>
                            <m:t>y</m:t>
                          </m:r>
                          <m:r>
                            <m:t> </m:t>
                          </m:r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If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has full column rank,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β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sSup>
                                <m:e>
                                  <m:r>
                                    <m:t>X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m:t>⊤</m:t>
                                  </m:r>
                                </m:sup>
                              </m:sSup>
                              <m:r>
                                <m:t>X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p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r>
                        <m:t>y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Hessian is </a:t>
                </a:r>
                <a14:m>
                  <m:oMath xmlns:m="http://schemas.openxmlformats.org/officeDocument/2006/math"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⊤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≽</m:t>
                    </m:r>
                    <m:r>
                      <m:t>0</m:t>
                    </m:r>
                  </m:oMath>
                </a14:m>
                <a:r>
                  <a:rPr/>
                  <a:t>, so the stationary point is a </a:t>
                </a:r>
                <a:r>
                  <a:rPr b="1"/>
                  <a:t>global</a:t>
                </a:r>
                <a:r>
                  <a:rPr/>
                  <a:t> minimum. 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 is convex.</a:t>
                </a:r>
              </a:p>
              <a:p>
                <a:pPr lvl="0" indent="0" marL="0">
                  <a:buNone/>
                </a:pPr>
                <a:r>
                  <a:rPr/>
                  <a:t>Convexity is why there is one answer. Session 07 abandons it.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2.3 Route 2 — geometry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projection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X</m:t>
                    </m:r>
                    <m:r>
                      <m:t>β</m:t>
                    </m:r>
                  </m:oMath>
                </a14:m>
                <a:r>
                  <a:rPr/>
                  <a:t> ranges over </a:t>
                </a:r>
                <a14:m>
                  <m:oMath xmlns:m="http://schemas.openxmlformats.org/officeDocument/2006/math">
                    <m:r>
                      <m:rPr>
                        <m:sty m:val="p"/>
                        <m:scr m:val="script"/>
                      </m:rPr>
                      <m:t>C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</m:oMath>
                </a14:m>
                <a:r>
                  <a:rPr/>
                  <a:t>, a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-dimensional subspace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  <m:scr m:val="double-struck"/>
                          </m:rPr>
                          <m:t>R</m:t>
                        </m:r>
                      </m:e>
                      <m:sup>
                        <m:r>
                          <m:t>n</m:t>
                        </m:r>
                      </m:sup>
                    </m:sSup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Minimising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∥</m:t>
                    </m:r>
                    <m:r>
                      <m:t>y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t>β</m:t>
                    </m:r>
                    <m:r>
                      <m:rPr>
                        <m:sty m:val="p"/>
                      </m:rPr>
                      <m:t>∥</m:t>
                    </m:r>
                  </m:oMath>
                </a14:m>
                <a:r>
                  <a:rPr/>
                  <a:t> means: </a:t>
                </a:r>
                <a:r>
                  <a:rPr b="1"/>
                  <a:t>find the point in </a:t>
                </a:r>
                <a14:m>
                  <m:oMath xmlns:m="http://schemas.openxmlformats.org/officeDocument/2006/math">
                    <m:r>
                      <m:rPr>
                        <m:sty m:val="p"/>
                        <m:scr m:val="script"/>
                      </m:rPr>
                      <m:t>C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</m:oMath>
                </a14:m>
                <a:r>
                  <a:rPr b="1"/>
                  <a:t> closest to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 b="1"/>
                  <a:t>.</a:t>
                </a:r>
              </a:p>
              <a:p>
                <a:pPr lvl="0" indent="0" marL="0">
                  <a:buNone/>
                </a:pPr>
                <a:r>
                  <a:rPr/>
                  <a:t>By the projection theorem that point is the orthogonal projection of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onto </a:t>
                </a:r>
                <a14:m>
                  <m:oMath xmlns:m="http://schemas.openxmlformats.org/officeDocument/2006/math">
                    <m:r>
                      <m:rPr>
                        <m:sty m:val="p"/>
                        <m:scr m:val="script"/>
                      </m:rPr>
                      <m:t>C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</m:oMath>
                </a14:m>
                <a:r>
                  <a:rPr/>
                  <a:t>, characterised by the residual being orthogonal to the subspace: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X</m:t>
                          </m:r>
                          <m:acc>
                            <m:accPr>
                              <m:chr m:val="̂"/>
                            </m:accPr>
                            <m:e>
                              <m:r>
                                <m:t>β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Which </a:t>
                </a:r>
                <a:r>
                  <a:rPr i="1"/>
                  <a:t>is</a:t>
                </a:r>
                <a:r>
                  <a:rPr/>
                  <a:t> the normal equations. The two routes are the same statement in different clothes.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hat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H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X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sSup>
                                <m:e>
                                  <m:r>
                                    <m:t>X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m:t>⊤</m:t>
                                  </m:r>
                                </m:sup>
                              </m:sSup>
                              <m:r>
                                <m:t>X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p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H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acc>
                        <m:accPr>
                          <m:chr m:val="̂"/>
                        </m:accPr>
                        <m:e>
                          <m:r>
                            <m:t>ε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H</m:t>
                          </m:r>
                        </m:e>
                      </m:d>
                      <m:r>
                        <m:t>y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H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H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  <a:r>
                  <a:rPr/>
                  <a:t> puts the hat on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. The last identity says fitted values and residuals share no information.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Consequences worth internalising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tr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H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p</m:t>
                    </m:r>
                  </m:oMath>
                </a14:m>
                <a:r>
                  <a:rPr/>
                  <a:t> — the projection uses exactly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degrees of freedom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i</m:t>
                        </m:r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r>
                          <m:t>0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1</m:t>
                        </m:r>
                      </m:e>
                    </m:d>
                  </m:oMath>
                </a14:m>
                <a:r>
                  <a:rPr/>
                  <a:t> is observation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’s </a:t>
                </a:r>
                <a:r>
                  <a:rPr b="1"/>
                  <a:t>leverage</a:t>
                </a:r>
                <a:r>
                  <a:rPr/>
                  <a:t>: how much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moves when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moves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∥</m:t>
                    </m:r>
                    <m:r>
                      <m:t>y</m:t>
                    </m:r>
                    <m:sSup>
                      <m:e>
                        <m:r>
                          <m:rPr>
                            <m:sty m:val="p"/>
                          </m:rPr>
                          <m:t>∥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∥</m:t>
                    </m:r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m:t>∥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∥</m:t>
                    </m:r>
                    <m:acc>
                      <m:accPr>
                        <m:chr m:val="̂"/>
                      </m:accPr>
                      <m:e>
                        <m:r>
                          <m:t>ε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m:t>∥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is Pythagoras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sSup>
                      <m:e>
                        <m:r>
                          <m:t>R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is a squared cosine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decomposition is a right-angle triangle, so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R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∥</m:t>
                          </m:r>
                          <m:acc>
                            <m:accPr>
                              <m:chr m:val="̂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  <m:sSup>
                            <m:e>
                              <m:r>
                                <m:rPr>
                                  <m:sty m:val="p"/>
                                </m:rPr>
                                <m:t>∥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m:t>∥</m:t>
                          </m:r>
                          <m:r>
                            <m:t>y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m:t>∥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m:t>cos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θ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with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 the angle between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and the space the regressors span.</a:t>
                </a:r>
              </a:p>
              <a:p>
                <a:pPr lvl="0" indent="0" marL="0">
                  <a:buNone/>
                </a:pPr>
                <a:r>
                  <a:rPr/>
                  <a:t>That is </a:t>
                </a:r>
                <a:r>
                  <a:rPr i="1"/>
                  <a:t>all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m:t>R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is — a statement about an angle. Not about whether the model is right, and not about whether anything causes anything.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2.4 Frisch–Waugh–Lovell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Adding a regressor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Partition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1</m:t>
                            </m:r>
                          </m:sub>
                        </m:sSub>
                        <m:r>
                          <m:t> </m:t>
                        </m:r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. Then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β</m:t>
                            </m:r>
                          </m:e>
                        </m:acc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from the full regression equals the coefficient from regressing </a:t>
                </a:r>
                <a14:m>
                  <m:oMath xmlns:m="http://schemas.openxmlformats.org/officeDocument/2006/math">
                    <m:sSub>
                      <m:e>
                        <m:r>
                          <m:t>M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t>y</m:t>
                    </m:r>
                  </m:oMath>
                </a14:m>
                <a:r>
                  <a:rPr/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m:t>M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, where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M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I</m:t>
                      </m:r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sSubSup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m:t>⊤</m:t>
                                  </m:r>
                                </m:sup>
                              </m:sSubSup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p>
                      <m:sSubSup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M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is the residual-maker for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: it strips out everything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explains.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A multiple-regression coefficient is a </a:t>
            </a:r>
            <a:r>
              <a:rPr sz="2000" b="1"/>
              <a:t>simple</a:t>
            </a:r>
            <a:r>
              <a:rPr sz="2000"/>
              <a:t> regression coefficient on the part of the variable that is orthogonal to everything else.</a:t>
            </a:r>
          </a:p>
          <a:p>
            <a:pPr lvl="0" indent="0" marL="0">
              <a:buNone/>
            </a:pPr>
            <a:r>
              <a:rPr/>
              <a:t>This single theorem:</a:t>
            </a:r>
          </a:p>
          <a:p>
            <a:pPr lvl="0"/>
            <a:r>
              <a:rPr/>
              <a:t>explains what “controlling for” means</a:t>
            </a:r>
          </a:p>
          <a:p>
            <a:pPr lvl="0"/>
            <a:r>
              <a:rPr/>
              <a:t>explains why collinearity inflates variance</a:t>
            </a:r>
          </a:p>
          <a:p>
            <a:pPr lvl="0"/>
            <a:r>
              <a:rPr/>
              <a:t>returns later as the foundation of </a:t>
            </a:r>
            <a:r>
              <a:rPr b="1"/>
              <a:t>double machine learning</a:t>
            </a:r>
          </a:p>
          <a:p>
            <a:pPr lvl="0" indent="0" marL="0">
              <a:buNone/>
            </a:pPr>
            <a:r>
              <a:rPr/>
              <a:t>Learn it now. It is the most reused result in the course.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2.5 Numerical warning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Never compute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⊤</m:t>
                                </m:r>
                              </m:sup>
                            </m:sSup>
                            <m:r>
                              <m:t>X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Forming </a:t>
                </a:r>
                <a14:m>
                  <m:oMath xmlns:m="http://schemas.openxmlformats.org/officeDocument/2006/math"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⊤</m:t>
                        </m:r>
                      </m:sup>
                    </m:sSup>
                    <m:r>
                      <m:t>X</m:t>
                    </m:r>
                  </m:oMath>
                </a14:m>
                <a:r>
                  <a:rPr/>
                  <a:t> </a:t>
                </a:r>
                <a:r>
                  <a:rPr b="1"/>
                  <a:t>squares the condition number</a:t>
                </a:r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κ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p>
                            <m:e>
                              <m:r>
                                <m:t>X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⊤</m:t>
                              </m:r>
                            </m:sup>
                          </m:sSup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κ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</m:e>
                        <m:sup>
                          <m:r>
                            <m:t>2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so you lose roughly twice as many digits of precision.</a:t>
                </a:r>
              </a:p>
              <a:p>
                <a:pPr lvl="0" indent="0" marL="0">
                  <a:buNone/>
                </a:pPr>
                <a:r>
                  <a:rPr/>
                  <a:t>Slide 2.2 shows how to </a:t>
                </a:r>
                <a:r>
                  <a:rPr i="1"/>
                  <a:t>state</a:t>
                </a:r>
                <a:r>
                  <a:rPr/>
                  <a:t> the estimator. It is not how to </a:t>
                </a:r>
                <a:r>
                  <a:rPr i="1"/>
                  <a:t>compute</a:t>
                </a:r>
                <a:r>
                  <a:rPr/>
                  <a:t> it.</a:t>
                </a:r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QR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Q</m:t>
                    </m:r>
                    <m:r>
                      <m:t>R</m:t>
                    </m:r>
                  </m:oMath>
                </a14:m>
                <a:r>
                  <a:rPr/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m:t>Q</m:t>
                        </m:r>
                      </m:e>
                      <m:sup>
                        <m:r>
                          <m:rPr>
                            <m:sty m:val="p"/>
                          </m:rPr>
                          <m:t>⊤</m:t>
                        </m:r>
                      </m:sup>
                    </m:sSup>
                    <m:r>
                      <m:t>Q</m:t>
                    </m:r>
                    <m:r>
                      <m:rPr>
                        <m:sty m:val="p"/>
                      </m:rPr>
                      <m:t>=</m:t>
                    </m:r>
                    <m:r>
                      <m:t>I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R</m:t>
                    </m:r>
                  </m:oMath>
                </a14:m>
                <a:r>
                  <a:rPr/>
                  <a:t> upper triangular. Then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R</m:t>
                      </m:r>
                      <m:acc>
                        <m:accPr>
                          <m:chr m:val="̂"/>
                        </m:accPr>
                        <m:e>
                          <m:r>
                            <m:t>β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Q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r>
                        <m:t>y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solved by back-substitution.</a:t>
                </a:r>
              </a:p>
              <a:p>
                <a:pPr lvl="0" indent="0" marL="0">
                  <a:buNone/>
                </a:pPr>
                <a:r>
                  <a:rPr/>
                  <a:t>This is what </a:t>
                </a:r>
                <a:r>
                  <a:rPr>
                    <a:latin typeface="Courier"/>
                  </a:rPr>
                  <a:t>numpy.linalg.lstsq</a:t>
                </a:r>
                <a:r>
                  <a:rPr/>
                  <a:t> and </a:t>
                </a:r>
                <a:r>
                  <a:rPr>
                    <a:latin typeface="Courier"/>
                  </a:rPr>
                  <a:t>statsmodels</a:t>
                </a:r>
                <a:r>
                  <a:rPr/>
                  <a:t> do internally. You verify the precision difference yourself in the practice session.</a:t>
                </a:r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practice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much of the measured gap is real, and how much is composition?</a:t>
            </a:r>
          </a:p>
          <a:p>
            <a:pPr lvl="0" indent="0" marL="0">
              <a:buNone/>
            </a:pPr>
            <a:r>
              <a:rPr/>
              <a:t>All ten groups attack it on the </a:t>
            </a:r>
            <a:r>
              <a:rPr b="1"/>
              <a:t>practice data</a:t>
            </a:r>
            <a:r>
              <a:rPr/>
              <a:t> — projects arrive in Session 04. The last twenty minutes assemble the answers.</a:t>
            </a:r>
          </a:p>
          <a:p>
            <a:pPr lvl="0" indent="0" marL="0">
              <a:buNone/>
            </a:pPr>
            <a:r>
              <a:rPr/>
              <a:t>How projects work, and what arrives in Session 04: </a:t>
            </a:r>
            <a:r>
              <a:rPr>
                <a:hlinkClick r:id="rId2"/>
                <a:latin typeface="Courier"/>
              </a:rPr>
              <a:t>RESEARCH-MANDATES.md</a:t>
            </a:r>
            <a:r>
              <a:rPr/>
              <a:t>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>
                <a:latin typeface="Courier"/>
              </a:rPr>
              <a:t>ols_normal_equations</a:t>
            </a:r>
            <a:r>
              <a:rPr/>
              <a:t> with an explicit inverse, </a:t>
            </a:r>
            <a:r>
              <a:rPr>
                <a:latin typeface="Courier"/>
              </a:rPr>
              <a:t>ols_qr</a:t>
            </a:r>
            <a:r>
              <a:rPr/>
              <a:t> with </a:t>
            </a:r>
            <a:r>
              <a:rPr>
                <a:latin typeface="Courier"/>
              </a:rPr>
              <a:t>numpy.linalg.qr</a:t>
            </a:r>
            <a:r>
              <a:rPr/>
              <a:t> — both against </a:t>
            </a:r>
            <a:r>
              <a:rPr>
                <a:latin typeface="Courier"/>
              </a:rPr>
              <a:t>statsmodels</a:t>
            </a:r>
          </a:p>
          <a:p>
            <a:pPr lvl="0" indent="-342900" marL="342900">
              <a:buAutoNum type="arabicPeriod"/>
            </a:pPr>
            <a:r>
              <a:rPr/>
              <a:t>The hat-matrix diagonal; leverage against residual</a:t>
            </a:r>
          </a:p>
          <a:p>
            <a:pPr lvl="0" indent="-342900" marL="342900">
              <a:buAutoNum type="arabicPeriod"/>
            </a:pPr>
            <a:r>
              <a:rPr/>
              <a:t>Verify Pythagoras numerically, then drop the intercept</a:t>
            </a:r>
          </a:p>
          <a:p>
            <a:pPr lvl="0" indent="-342900" marL="342900">
              <a:buAutoNum type="arabicPeriod"/>
            </a:pPr>
            <a:r>
              <a:rPr b="1"/>
              <a:t>Break it</a:t>
            </a:r>
            <a:r>
              <a:rPr/>
              <a:t> — add a near-duplicate column; see which route survives</a:t>
            </a:r>
          </a:p>
          <a:p>
            <a:pPr lvl="0" indent="-342900" marL="342900">
              <a:buAutoNum type="arabicPeriod"/>
            </a:pPr>
            <a:r>
              <a:rPr b="1"/>
              <a:t>FWL check</a:t>
            </a:r>
            <a:r>
              <a:rPr/>
              <a:t> — residualise, re-regress, confirm the match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two-minute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One slide. Three sentences.</a:t>
            </a:r>
          </a:p>
          <a:p>
            <a:pPr lvl="0" indent="-342900" marL="342900">
              <a:buAutoNum type="arabicPeriod"/>
            </a:pPr>
            <a:r>
              <a:rPr b="1"/>
              <a:t>What I did.</a:t>
            </a:r>
            <a:r>
              <a:rPr/>
              <a:t> </a:t>
            </a:r>
            <a:r>
              <a:rPr i="1"/>
              <a:t>“We regressed X on Y for our unit, partialling out Z.”</a:t>
            </a:r>
          </a:p>
          <a:p>
            <a:pPr lvl="0" indent="-342900" marL="342900">
              <a:buAutoNum type="arabicPeriod"/>
            </a:pPr>
            <a:r>
              <a:rPr b="1"/>
              <a:t>The number.</a:t>
            </a:r>
            <a:r>
              <a:rPr/>
              <a:t> One estimate, with its uncertainty or benchmark.</a:t>
            </a:r>
          </a:p>
          <a:p>
            <a:pPr lvl="0" indent="-342900" marL="342900">
              <a:buAutoNum type="arabicPeriod"/>
            </a:pPr>
            <a:r>
              <a:rPr b="1"/>
              <a:t>The catch.</a:t>
            </a:r>
            <a:r>
              <a:rPr/>
              <a:t> What you cannot claim, or where the data failed you.</a:t>
            </a:r>
          </a:p>
          <a:p>
            <a:pPr lvl="0" indent="0" marL="0">
              <a:buNone/>
            </a:pPr>
            <a:r>
              <a:rPr/>
              <a:t>The presenter is </a:t>
            </a:r>
            <a:r>
              <a:rPr b="1"/>
              <a:t>drawn at random</a:t>
            </a:r>
            <a:r>
              <a:rPr/>
              <a:t>. No method exposition. </a:t>
            </a:r>
            <a:r>
              <a:rPr b="1"/>
              <a:t>Sentence 3 earns the slot.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you leave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Commit to your group branch as you go</a:t>
            </a:r>
          </a:p>
          <a:p>
            <a:pPr lvl="0"/>
            <a:r>
              <a:rPr b="1"/>
              <a:t>Every member</a:t>
            </a:r>
            <a:r>
              <a:rPr/>
              <a:t> commits and pushes from their own machine</a:t>
            </a:r>
          </a:p>
          <a:p>
            <a:pPr lvl="0"/>
            <a:r>
              <a:rPr/>
              <a:t>One documented instance where you caught the LLM being wrong</a:t>
            </a:r>
          </a:p>
          <a:p>
            <a:pPr lvl="0" indent="0" marL="0">
              <a:buNone/>
            </a:pPr>
            <a:r>
              <a:rPr/>
              <a:t>Full brief: </a:t>
            </a:r>
            <a:r>
              <a:rPr>
                <a:hlinkClick r:id="rId2"/>
                <a:latin typeface="Courier"/>
              </a:rPr>
              <a:t>02-practice/README.md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Data, Vectors, and the Geometry of Least Squares</dc:title>
  <dc:creator>Thierry Warin</dc:creator>
  <cp:keywords/>
  <dcterms:created xsi:type="dcterms:W3CDTF">2026-08-20T20:32:59Z</dcterms:created>
  <dcterms:modified xsi:type="dcterms:W3CDTF">2026-08-20T20:32:59Z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20 August 2026</vt:lpwstr>
  </property>
  <property fmtid="{D5CDD505-2E9C-101B-9397-08002B2CF9AE}" pid="8" name="date-format">
    <vt:lpwstr>D MMMM YYYY</vt:lpwstr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>HEC Montréal</vt:lpwstr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subtitle">
    <vt:lpwstr>Session 02 · Lecture, first half</vt:lpwstr>
  </property>
  <property fmtid="{D5CDD505-2E9C-101B-9397-08002B2CF9AE}" pid="16" name="toc-title">
    <vt:lpwstr>Table of contents</vt:lpwstr>
  </property>
</Properties>
</file>