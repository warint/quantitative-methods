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Geometry of Least Squares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02 · Projection, partialling out, and why composition is not causation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composition is in the way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Least squares as a projection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Frisch–Waugh–Lovell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and the collinearity in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Doing it, and verifying the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Topalova &amp; Khandelwal</a:t>
            </a:r>
            <a:r>
              <a:rPr/>
              <a:t>, </a:t>
            </a:r>
            <a:r>
              <a:rPr i="1"/>
              <a:t>Trade Liberalization and Firm Productivity: The Case of India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10.7910/DVN/8WEXYD · CC0 · 32,422 firm-years</a:t>
            </a:r>
          </a:p>
          <a:p>
            <a:pPr lvl="0" indent="0" marL="0">
              <a:buNone/>
            </a:pPr>
            <a:r>
              <a:rPr/>
              <a:t>This is one of the sessions with the </a:t>
            </a:r>
            <a:r>
              <a:rPr b="1"/>
              <a:t>authors’ own data</a:t>
            </a:r>
            <a:r>
              <a:rPr/>
              <a:t>. Their central problem is ours: tariffs fell where industries already differed, so the raw comparison confounds the policy with the composition of who received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for one 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How do they separate the effect of falling tariffs from the fact that </a:t>
            </a:r>
            <a:r>
              <a:rPr sz="2000" b="1"/>
              <a:t>liberalised industries were not like the others to begin with</a:t>
            </a:r>
            <a:r>
              <a:rPr sz="2000"/>
              <a:t>?</a:t>
            </a:r>
          </a:p>
          <a:p>
            <a:pPr lvl="0" indent="0" marL="0">
              <a:buNone/>
            </a:pPr>
            <a:r>
              <a:rPr/>
              <a:t>Every control they add is a projection. Today you learn what that sentence means geometrically, and then you will see it in their tables.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Electricity prices across Europe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Industrial electricity costs more in some European countries than others.</a:t>
            </a:r>
          </a:p>
          <a:p>
            <a:pPr lvl="0" indent="0" marL="0">
              <a:buNone/>
            </a:pPr>
            <a:r>
              <a:rPr/>
              <a:t>A natural first claim:</a:t>
            </a:r>
          </a:p>
          <a:p>
            <a:pPr lvl="0" indent="0" marL="1270000">
              <a:buNone/>
            </a:pPr>
            <a:r>
              <a:rPr sz="2000" i="1"/>
              <a:t>“Countries with more fossil generation have higher electricity prices.”</a:t>
            </a:r>
          </a:p>
          <a:p>
            <a:pPr lvl="0" indent="0" marL="0">
              <a:buNone/>
            </a:pPr>
            <a:r>
              <a:rPr/>
              <a:t>Before we can defend that sentence, we have to separate two things:</a:t>
            </a:r>
          </a:p>
          <a:p>
            <a:pPr lvl="0"/>
            <a:r>
              <a:rPr/>
              <a:t>the </a:t>
            </a:r>
            <a:r>
              <a:rPr b="1"/>
              <a:t>effect</a:t>
            </a:r>
            <a:r>
              <a:rPr/>
              <a:t> of the generation mix on price</a:t>
            </a:r>
          </a:p>
          <a:p>
            <a:pPr lvl="0"/>
            <a:r>
              <a:rPr/>
              <a:t>the </a:t>
            </a:r>
            <a:r>
              <a:rPr b="1"/>
              <a:t>composition</a:t>
            </a:r>
            <a:r>
              <a:rPr/>
              <a:t> of the countries that happen to have that mix</a:t>
            </a:r>
          </a:p>
          <a:p>
            <a:pPr lvl="0" indent="0" marL="0">
              <a:buNone/>
            </a:pPr>
            <a:r>
              <a:rPr/>
              <a:t>Rich countries differ from poor ones in more than their power stations.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is a geometry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Least squares is not a formula to memorise. It is a </a:t>
                </a:r>
                <a:r>
                  <a:rPr b="1"/>
                  <a:t>projection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 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projects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onto the column space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 The residual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 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what is left </a:t>
                </a:r>
                <a:r>
                  <a:rPr b="1"/>
                  <a:t>orthogonal</a:t>
                </a:r>
                <a:r>
                  <a:rPr/>
                  <a:t> to everything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can explain.</a:t>
                </a:r>
              </a:p>
              <a:p>
                <a:pPr lvl="0" indent="0" marL="0">
                  <a:buNone/>
                </a:pPr>
                <a:r>
                  <a:rPr/>
                  <a:t>Every result today follows from one fact: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 residual carries no trace of the columns you controlled for.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properties of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worth memorising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Idempotent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. Projecting twice changes nothing — you are already in the space.</a:t>
                </a:r>
              </a:p>
              <a:p>
                <a:pPr lvl="0"/>
                <a:r>
                  <a:rPr b="1"/>
                  <a:t>Symmetric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Orthogonal complements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sSub>
                      <m:e>
                        <m:r>
                          <m:t>M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Fitted values and residuals share no information at all.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cosine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+</m:t>
                    </m:r>
                    <m:r>
                      <m:t>e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⟂</m:t>
                    </m:r>
                    <m:r>
                      <m:t>e</m:t>
                    </m:r>
                  </m:oMath>
                </a14:m>
                <a:r>
                  <a:rPr/>
                  <a:t>, Pythagoras applies: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e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cos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the squared cosine of the angle between your outcome and the space your regressors span. That is </a:t>
                </a:r>
                <a:r>
                  <a:rPr i="1"/>
                  <a:t>all</a:t>
                </a:r>
                <a:r>
                  <a:rPr/>
                  <a:t> it is — which is why it says nothing about whether the model is right.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Degrees of freedom, geometrically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residual lives in a space of dimension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: you started with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dimensions and spent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of them fitting.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σ</m:t>
                              </m:r>
                            </m:e>
                          </m:acc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e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k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Add a regressor and the residual space shrinks by one. Add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of them and it vanishes — a perfect fit that has learned nothing.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method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Frisch–Waugh–Lovell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Split the regressors: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FWL theorem says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identical whether you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regress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together, or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regress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both </a:t>
                </a:r>
                <a:r>
                  <a:rPr b="1"/>
                  <a:t>residualised</a:t>
                </a:r>
                <a:r>
                  <a:rPr/>
                  <a:t> against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sSub>
                                <m:e>
                                  <m:r>
                                    <m:t>M</m:t>
                                  </m:r>
                                </m:e>
                                <m:sub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sub>
                      </m:sSub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“Controlling for” a variable </a:t>
                </a:r>
                <a:r>
                  <a:rPr i="1"/>
                  <a:t>means</a:t>
                </a:r>
                <a:r>
                  <a:rPr/>
                  <a:t> projecting it out. Nothing more mystical than that.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you should care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FWL is the reason a coefficient can </a:t>
                </a:r>
                <a:r>
                  <a:rPr b="1"/>
                  <a:t>change sign</a:t>
                </a:r>
                <a:r>
                  <a:rPr/>
                  <a:t> when you add a control.</a:t>
                </a:r>
              </a:p>
              <a:p>
                <a:pPr lvl="0" indent="0" marL="0">
                  <a:buNone/>
                </a:pPr>
                <a:r>
                  <a:rPr/>
                  <a:t>You are no longer estimating the same object:</a:t>
                </a:r>
              </a:p>
              <a:p>
                <a:pPr lvl="0"/>
                <a:r>
                  <a:rPr/>
                  <a:t>Without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 the association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</a:t>
                </a:r>
                <a:r>
                  <a:rPr b="1"/>
                  <a:t>including</a:t>
                </a:r>
                <a:r>
                  <a:rPr/>
                  <a:t> whatever runs through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 the association of the part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unrelated</a:t>
                </a:r>
                <a:r>
                  <a:rPr/>
                  <a:t> to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If you cannot say which of those two your question asks for, you cannot interpret your own regression.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 are working with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"data/spine/angle_a_country.parquet"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core.merge(a,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(df.shape)          </a:t>
            </a:r>
            <a:r>
              <a:rPr i="1">
                <a:solidFill>
                  <a:srgbClr val="60A0B0"/>
                </a:solidFill>
                <a:latin typeface="Courier"/>
              </a:rPr>
              <a:t># 450 rows: 30 countries x 15 years, 2010-2024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elec_price_eur_kwh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Non-household price, excl. tax, band 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share_renew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share_fossil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share_nuclear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Generation mix, shares of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gdp_pc_eur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productivity_idx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composition variables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 in this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three generation shares </a:t>
                </a:r>
                <a:r>
                  <a:rPr b="1"/>
                  <a:t>sum to one</a:t>
                </a:r>
                <a:r>
                  <a:rPr/>
                  <a:t>, exactly: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df[[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"share_renew"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"share_fossil"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"share_nuclear"</a:t>
                </a:r>
                <a:r>
                  <a:rPr>
                    <a:latin typeface="Courier"/>
                  </a:rPr>
                  <a:t>]].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sum</a:t>
                </a:r>
                <a:r>
                  <a:rPr>
                    <a:latin typeface="Courier"/>
                  </a:rPr>
                  <a:t>(axis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1</a:t>
                </a:r>
                <a:r>
                  <a:rPr>
                    <a:latin typeface="Courier"/>
                  </a:rPr>
                  <a:t>).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max</a:t>
                </a:r>
                <a:r>
                  <a:rPr>
                    <a:latin typeface="Courier"/>
                  </a:rPr>
                  <a:t>()</a:t>
                </a:r>
                <a:br/>
                <a:r>
                  <a:rPr i="1">
                    <a:solidFill>
                      <a:srgbClr val="60A0B0"/>
                    </a:solidFill>
                    <a:latin typeface="Courier"/>
                  </a:rPr>
                  <a:t># 1.0001  (rounding only)</a:t>
                </a:r>
              </a:p>
              <a:p>
                <a:pPr lvl="0" indent="0" marL="0">
                  <a:buNone/>
                </a:pPr>
                <a:r>
                  <a:rPr/>
                  <a:t>Include all three shares </a:t>
                </a:r>
                <a:r>
                  <a:rPr b="1"/>
                  <a:t>and</a:t>
                </a:r>
                <a:r>
                  <a:rPr/>
                  <a:t> an intercept and you have created exact collinearity.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 is singular. Some libraries error; others silently return one of infinitely many solutions.</a:t>
                </a:r>
              </a:p>
              <a:p>
                <a:pPr lvl="0" indent="0" marL="0">
                  <a:buNone/>
                </a:pPr>
                <a:r>
                  <a:rPr b="1"/>
                  <a:t>Drop one share.</a:t>
                </a:r>
                <a:r>
                  <a:rPr/>
                  <a:t> Every coefficient is then read </a:t>
                </a:r>
                <a:r>
                  <a:rPr i="1"/>
                  <a:t>relative to the omitted category</a:t>
                </a:r>
                <a:r>
                  <a:rPr/>
                  <a:t> — which you must state in your table note.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price without its band is meaningless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elec_price_eur_kwh</a:t>
            </a:r>
            <a:r>
              <a:rPr/>
              <a:t> is </a:t>
            </a:r>
            <a:r>
              <a:rPr b="1"/>
              <a:t>band IC</a:t>
            </a:r>
            <a:r>
              <a:rPr/>
              <a:t>: consumers using 500–2000 MWh a year.</a:t>
            </a:r>
          </a:p>
          <a:p>
            <a:pPr lvl="0"/>
            <a:r>
              <a:rPr/>
              <a:t>A different band is a different number for the same country and year.</a:t>
            </a:r>
          </a:p>
          <a:p>
            <a:pPr lvl="0"/>
            <a:r>
              <a:rPr/>
              <a:t>There is a </a:t>
            </a:r>
            <a:r>
              <a:rPr b="1"/>
              <a:t>structural break in 2022</a:t>
            </a:r>
            <a:r>
              <a:rPr/>
              <a:t> — the energy shock.</a:t>
            </a:r>
          </a:p>
          <a:p>
            <a:pPr lvl="0"/>
            <a:r>
              <a:rPr>
                <a:latin typeface="Courier"/>
              </a:rPr>
              <a:t>elec_price_incl_tax</a:t>
            </a:r>
            <a:r>
              <a:rPr/>
              <a:t> minus the excl.-tax series is the </a:t>
            </a:r>
            <a:r>
              <a:rPr b="1"/>
              <a:t>policy wedge</a:t>
            </a:r>
            <a:r>
              <a:rPr/>
              <a:t>, not a measurement error.</a:t>
            </a:r>
          </a:p>
          <a:p>
            <a:pPr lvl="0" indent="0" marL="0">
              <a:buNone/>
            </a:pPr>
            <a:r>
              <a:rPr/>
              <a:t>Reporting “the electricity price in Germany” without the band is the kind of sentence this course is designed to stop you writing.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naive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br/>
            <a:r>
              <a:rPr>
                <a:latin typeface="Courier"/>
              </a:rPr>
              <a:t>m1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"elec_price_eur_kwh ~ share_fossil + share_nuclear"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(m1.summary().tables[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share_renew</a:t>
            </a:r>
            <a:r>
              <a:rPr/>
              <a:t> is omitted, so both coefficients are read </a:t>
            </a:r>
            <a:r>
              <a:rPr b="1"/>
              <a:t>against renewables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Write down the sign you expect </a:t>
            </a:r>
            <a:r>
              <a:rPr i="1"/>
              <a:t>before</a:t>
            </a:r>
            <a:r>
              <a:rPr/>
              <a:t> you run it. You are allowed to be wrong; you are not allowed to decide afterwards what you predicted.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add 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"elec_price_eur_kwh ~ share_fossil + share_nuclear "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"+ np.log(gdp_pc_eur) + productivity_idx"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df,</a:t>
            </a:r>
            <a:br/>
            <a:r>
              <a:rPr>
                <a:latin typeface="Courier"/>
              </a:rPr>
              <a:t>).fit()</a:t>
            </a:r>
          </a:p>
          <a:p>
            <a:pPr lvl="0" indent="0" marL="0">
              <a:buNone/>
            </a:pPr>
            <a:r>
              <a:rPr/>
              <a:t>Compare </a:t>
            </a:r>
            <a:r>
              <a:rPr>
                <a:latin typeface="Courier"/>
              </a:rPr>
              <a:t>share_fossil</a:t>
            </a:r>
            <a:r>
              <a:rPr/>
              <a:t> across </a:t>
            </a:r>
            <a:r>
              <a:rPr>
                <a:latin typeface="Courier"/>
              </a:rPr>
              <a:t>m1</a:t>
            </a:r>
            <a:r>
              <a:rPr/>
              <a:t> and </a:t>
            </a:r>
            <a:r>
              <a:rPr>
                <a:latin typeface="Courier"/>
              </a:rPr>
              <a:t>m2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moved, composition was doing part of the work. FWL tells you exactly how much — and the next slide proves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FWL yourself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sm.add_constant(d[[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]])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residualise BOTH the outcome and the regressor against Z</a:t>
            </a:r>
            <a:br/>
            <a:r>
              <a:rPr>
                <a:latin typeface="Courier"/>
              </a:rPr>
              <a:t>y_r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sm.OLS(d[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], Z).fit().resid</a:t>
            </a:r>
            <a:br/>
            <a:r>
              <a:rPr>
                <a:latin typeface="Courier"/>
              </a:rPr>
              <a:t>x_r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sm.OLS(d[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],       Z).fit().resid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(sm.OLS(y_r, sm.add_constant(x_r)).fit().params.iloc[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identical to share_fossil in the full multiple regression</a:t>
            </a:r>
          </a:p>
          <a:p>
            <a:pPr lvl="0" indent="0" marL="0">
              <a:buNone/>
            </a:pPr>
            <a:r>
              <a:rPr/>
              <a:t>Two routes, one number. That identity </a:t>
            </a:r>
            <a:r>
              <a:rPr i="1"/>
              <a:t>is</a:t>
            </a:r>
            <a:r>
              <a:rPr/>
              <a:t> what “controlling for”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Multicollinearity, measured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Perfect collinearity breaks the inverse. </a:t>
                </a:r>
                <a:r>
                  <a:rPr b="1"/>
                  <a:t>Near</a:t>
                </a:r>
                <a:r>
                  <a:rPr/>
                  <a:t>-collinearity merely inflates the variance — and it is much harder to notice.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VIF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Sup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comes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on every other regressor.</a:t>
                </a:r>
              </a:p>
              <a:p>
                <a:pPr lvl="0" indent="0">
                  <a:buNone/>
                </a:pPr>
                <a:r>
                  <a:rPr b="1">
                    <a:solidFill>
                      <a:srgbClr val="008000"/>
                    </a:solidFill>
                    <a:latin typeface="Courier"/>
                  </a:rPr>
                  <a:t>from</a:t>
                </a:r>
                <a:r>
                  <a:rPr>
                    <a:latin typeface="Courier"/>
                  </a:rPr>
                  <a:t> statsmodels.stats.outliers_influence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variance_inflation_factor</a:t>
                </a:r>
                <a:br/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statsmodels.api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sm</a:t>
                </a:r>
                <a:br/>
                <a:br/>
                <a:r>
                  <a:rPr>
                    <a:latin typeface="Courier"/>
                  </a:rPr>
                  <a:t>Z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sm.add_constant(d[[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"share_fossil"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"share_nuclear"</a:t>
                </a:r>
                <a:r>
                  <a:rPr>
                    <a:latin typeface="Courier"/>
                  </a:rPr>
                  <a:t>,</a:t>
                </a:r>
                <a:br/>
                <a:r>
                  <a:rPr>
                    <a:latin typeface="Courier"/>
                  </a:rPr>
                  <a:t>                      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"gdp_pc_eur"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"productivity_idx"</a:t>
                </a:r>
                <a:r>
                  <a:rPr>
                    <a:latin typeface="Courier"/>
                  </a:rPr>
                  <a:t>]])</a:t>
                </a:r>
                <a:br/>
                <a:r>
                  <a:rPr b="1">
                    <a:solidFill>
                      <a:srgbClr val="007020"/>
                    </a:solidFill>
                    <a:latin typeface="Courier"/>
                  </a:rPr>
                  <a:t>for</a:t>
                </a:r>
                <a:r>
                  <a:rPr>
                    <a:latin typeface="Courier"/>
                  </a:rPr>
                  <a:t> i, name </a:t>
                </a:r>
                <a:r>
                  <a:rPr b="1">
                    <a:solidFill>
                      <a:srgbClr val="007020"/>
                    </a:solidFill>
                    <a:latin typeface="Courier"/>
                  </a:rPr>
                  <a:t>in</a:t>
                </a:r>
                <a:r>
                  <a:rPr>
                    <a:latin typeface="Courier"/>
                  </a:rPr>
                  <a:t> 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enumerate</a:t>
                </a:r>
                <a:r>
                  <a:rPr>
                    <a:latin typeface="Courier"/>
                  </a:rPr>
                  <a:t>(Z.columns):</a:t>
                </a:r>
                <a:br/>
                <a:r>
                  <a:rPr>
                    <a:latin typeface="Courier"/>
                  </a:rPr>
                  <a:t>    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f"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name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:18s}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variance_inflation_factor(Z.values, i)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:6.2f}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"</a:t>
                </a:r>
                <a:r>
                  <a:rPr>
                    <a:latin typeface="Courier"/>
                  </a:rPr>
                  <a:t>)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VIF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VIF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— orthogonal to everything else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&gt;</m:t>
                    </m:r>
                    <m:r>
                      <m:t>5</m:t>
                    </m:r>
                  </m:oMath>
                </a14:m>
                <a:r>
                  <a:rPr/>
                  <a:t> — worth a comment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&gt;</m:t>
                    </m:r>
                    <m:r>
                      <m:t>10</m:t>
                    </m:r>
                  </m:oMath>
                </a14:m>
                <a:r>
                  <a:rPr/>
                  <a:t> — the coefficient is barely identified</a:t>
                </a:r>
              </a:p>
              <a:p>
                <a:pPr lvl="0" indent="0" marL="0">
                  <a:buNone/>
                </a:pPr>
                <a:r>
                  <a:rPr/>
                  <a:t>A high VIF is </a:t>
                </a:r>
                <a:r>
                  <a:rPr b="1"/>
                  <a:t>not</a:t>
                </a:r>
                <a:r>
                  <a:rPr/>
                  <a:t> a reason to drop a variable. If the control belongs in the model, dropping it trades a variance problem for a bias problem. Report the wide interval instead.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Which share you </a:t>
                </a:r>
                <a:r>
                  <a:rPr b="1"/>
                  <a:t>omitted</a:t>
                </a:r>
                <a:r>
                  <a:rPr/>
                  <a:t>, and therefore what the comparison is against</a:t>
                </a:r>
              </a:p>
              <a:p>
                <a:pPr lvl="0"/>
                <a:r>
                  <a:rPr/>
                  <a:t>Whether the fossil coefficient </a:t>
                </a:r>
                <a:r>
                  <a:rPr b="1"/>
                  <a:t>moved</a:t>
                </a:r>
                <a:r>
                  <a:rPr/>
                  <a:t> when composition entered, and in which direction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the residual standard error in price units — a share of variance is not a magnitude</a:t>
                </a:r>
              </a:p>
              <a:p>
                <a:pPr lvl="0"/>
                <a:r>
                  <a:rPr/>
                  <a:t>That 2022 breaks the series, and what you did about it</a:t>
                </a:r>
              </a:p>
              <a:p>
                <a:pPr lvl="0" indent="0" marL="0">
                  <a:buNone/>
                </a:pPr>
                <a:r>
                  <a:rPr/>
                  <a:t>Do not write “fossil generation raises prices by X”. You have an association in a 30-country panel, not an experiment. Session 10 is where causal language becomes available, and it costs more than this.</a:t>
                </a:r>
              </a:p>
            </p:txBody>
          </p:sp>
        </mc:Choice>
      </mc:AlternateContent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What happens</a:t></a:r></a:p></a:txBody><a:tcPr /></a:tc></a:tr><a:tr h="0"><a:tc><a:txBody><a:bodyPr /><a:lstStyle /><a:p><a:pPr lvl="0" indent="0" marL="0"><a:buNone /></a:pPr><a:r><a:rPr /><a:t>All three shares + intercept</a:t></a:r></a:p></a:txBody></a:tc><a:tc><a:txBody><a:bodyPr /><a:lstStyle /><a:p><a:pPr lvl="0" indent="0" marL="0"><a:buNone /></a:pPr><a:r><a:rPr /><a:t>Singular </a:t></a:r><a14:m><m:oMath xmlns:m="http://schemas.openxmlformats.org/officeDocument/2006/math"><m:r><m:t>X</m:t></m:r><m:r><m:rPr><m:sty m:val="p" /></m:rPr><m:t>′</m:t></m:r><m:r><m:t>X</m:t></m:r></m:oMath></a14:m><a:r><a:rPr /><a:t>; meaningless coefficients</a:t></a:r></a:p></a:txBody></a:tc></a:tr><a:tr h="0"><a:tc><a:txBody><a:bodyPr /><a:lstStyle /><a:p><a:pPr lvl="0" indent="0" marL="0"><a:buNone /></a:pPr><a:r><a:rPr /><a:t>Reading a coefficient without naming the omitted share</a:t></a:r></a:p></a:txBody></a:tc><a:tc><a:txBody><a:bodyPr /><a:lstStyle /><a:p><a:pPr lvl="0" indent="0" marL="0"><a:buNone /></a:pPr><a:r><a:rPr /><a:t>The number has no referent</a:t></a:r></a:p></a:txBody></a:tc></a:tr><a:tr h="0"><a:tc><a:txBody><a:bodyPr /><a:lstStyle /><a:p><a:pPr lvl="0" indent="0" marL="0"><a:buNone /></a:pPr><a:r><a:rPr /><a:t>Pooling 2022 with earlier years silently</a:t></a:r></a:p></a:txBody></a:tc><a:tc><a:txBody><a:bodyPr /><a:lstStyle /><a:p><a:pPr lvl="0" indent="0" marL="0"><a:buNone /></a:pPr><a:r><a:rPr /><a:t>One structural break masquerades as an effect</a:t></a:r></a:p></a:txBody></a:tc></a:tr><a:tr h="0"><a:tc><a:txBody><a:bodyPr /><a:lstStyle /><a:p><a:pPr lvl="0" indent="0" marL="0"><a:buNone /></a:pPr><a:r><a:rPr /><a:t>Dropping rows with </a:t></a:r><a:r><a:rPr><a:latin typeface="Courier" /></a:rPr><a:t>flag == &quot;u&quot;</a:t></a:r></a:p></a:txBody></a:tc><a:tc><a:txBody><a:bodyPr /><a:lstStyle /><a:p><a:pPr lvl="0" indent="0" marL="0"><a:buNone /></a:pPr><a:r><a:rPr /><a:t>Coverage tilts toward large economies</a:t></a:r></a:p></a:txBody></a:tc></a:tr><a:tr h="0"><a:tc><a:txBody><a:bodyPr /><a:lstStyle /><a:p><a:pPr lvl="0" indent="0" marL="0"><a:buNone /></a:pPr><a:r><a:rPr /><a:t>Reporting </a:t></a:r><a14:m><m:oMath xmlns:m="http://schemas.openxmlformats.org/officeDocument/2006/math"><m:sSup><m:e><m:r><m:t>R</m:t></m:r></m:e><m:sup><m:r><m:t>2</m:t></m:r></m:sup></m:sSup></m:oMath></a14:m><a:r><a:rPr /><a:t> alone</a:t></a:r></a:p></a:txBody></a:tc><a:tc><a:txBody><a:bodyPr /><a:lstStyle /><a:p><a:pPr lvl="0" indent="0" marL="0"><a:buNone /></a:pPr><a:r><a:rPr /><a:t>No sense of magnitude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You will:</a:t>
            </a:r>
          </a:p>
          <a:p>
            <a:pPr lvl="0" indent="-342900" marL="342900">
              <a:buAutoNum type="arabicPeriod"/>
            </a:pPr>
            <a:r>
              <a:rPr/>
              <a:t>Build the merged panel and confirm the collinearity for yourself</a:t>
            </a:r>
          </a:p>
          <a:p>
            <a:pPr lvl="0" indent="-342900" marL="342900">
              <a:buAutoNum type="arabicPeriod"/>
            </a:pPr>
            <a:r>
              <a:rPr/>
              <a:t>Estimate the naive and the composition-adjusted specification</a:t>
            </a:r>
          </a:p>
          <a:p>
            <a:pPr lvl="0" indent="-342900" marL="342900">
              <a:buAutoNum type="arabicPeriod"/>
            </a:pPr>
            <a:r>
              <a:rPr/>
              <a:t>Reproduce the coefficient by residualising, and show the two agree</a:t>
            </a:r>
          </a:p>
          <a:p>
            <a:pPr lvl="0" indent="-342900" marL="342900">
              <a:buAutoNum type="arabicPeriod"/>
            </a:pPr>
            <a:r>
              <a:rPr/>
              <a:t>Write </a:t>
            </a:r>
            <a:r>
              <a:rPr b="1"/>
              <a:t>three sentences</a:t>
            </a:r>
            <a:r>
              <a:rPr/>
              <a:t> your group will defend if drawn</a:t>
            </a:r>
          </a:p>
          <a:p>
            <a:pPr lvl="0" indent="0" marL="0">
              <a:buNone/>
            </a:pPr>
            <a:r>
              <a:rPr/>
              <a:t>The three sentences are the deliverable. The code is how you earn the right to write them.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Geometry of Least Squares</dc:title>
  <dc:creator>Thierry Warin</dc:creator>
  <cp:keywords/>
  <dcterms:created xsi:type="dcterms:W3CDTF">2026-08-19T02:57:32Z</dcterms:created>
  <dcterms:modified xsi:type="dcterms:W3CDTF">2026-08-19T02:57:32Z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02 · Projection, partialling out, and why composition is not causation</vt:lpwstr>
  </property>
  <property fmtid="{D5CDD505-2E9C-101B-9397-08002B2CF9AE}" pid="16" name="toc-title">
    <vt:lpwstr>Table of contents</vt:lpwstr>
  </property>
</Properties>
</file>