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23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1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850"/>
            </a:lvl1pPr>
            <a:lvl2pPr>
              <a:defRPr sz="1650"/>
            </a:lvl2pPr>
            <a:lvl3pPr>
              <a:defRPr sz="1400"/>
            </a:lvl3pPr>
            <a:lvl4pPr>
              <a:defRPr sz="1150"/>
            </a:lvl4pPr>
            <a:lvl5pPr>
              <a:defRPr sz="1150"/>
            </a:lvl5pPr>
            <a:lvl6pPr>
              <a:defRPr sz="1150"/>
            </a:lvl6pPr>
            <a:lvl7pPr>
              <a:defRPr sz="1150"/>
            </a:lvl7pPr>
            <a:lvl8pPr>
              <a:defRPr sz="1150"/>
            </a:lvl8pPr>
            <a:lvl9pPr>
              <a:defRPr sz="11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850"/>
            </a:lvl1pPr>
            <a:lvl2pPr marL="342900" indent="0">
              <a:buNone/>
              <a:defRPr sz="1650"/>
            </a:lvl2pPr>
            <a:lvl3pPr marL="685800" indent="0">
              <a:buNone/>
              <a:defRPr sz="1400"/>
            </a:lvl3pPr>
            <a:lvl4pPr marL="1028700" indent="0">
              <a:buNone/>
              <a:defRPr sz="1150"/>
            </a:lvl4pPr>
            <a:lvl5pPr marL="1371600" indent="0">
              <a:buNone/>
              <a:defRPr sz="1150"/>
            </a:lvl5pPr>
            <a:lvl6pPr marL="1714500" indent="0">
              <a:buNone/>
              <a:defRPr sz="1150"/>
            </a:lvl6pPr>
            <a:lvl7pPr marL="2057400" indent="0">
              <a:buNone/>
              <a:defRPr sz="1150"/>
            </a:lvl7pPr>
            <a:lvl8pPr marL="2400300" indent="0">
              <a:buNone/>
              <a:defRPr sz="1150"/>
            </a:lvl8pPr>
            <a:lvl9pPr marL="2743200" indent="0">
              <a:buNone/>
              <a:defRPr sz="11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5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Geometry of Least Squares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02 · Projection, partialling out, and why composition is not causation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question, and why composition is in the way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Least squares as a projection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Frisch–Waugh–Lovell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50–70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data, and the collinearity in 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Doing it, and verifying the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Topalova &amp; Khandelwal</a:t>
            </a:r>
            <a:r>
              <a:rPr/>
              <a:t>, </a:t>
            </a:r>
            <a:r>
              <a:rPr i="1"/>
              <a:t>Trade Liberalization and Firm Productivity: The Case of India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Harvard Dataverse, DOI 10.7910/DVN/8WEXYD · CC0 · 32,422 firm-years</a:t>
            </a:r>
          </a:p>
          <a:p>
            <a:pPr lvl="0" indent="0" marL="0">
              <a:buNone/>
            </a:pPr>
            <a:r>
              <a:rPr/>
              <a:t>This is one of the sessions with the </a:t>
            </a:r>
            <a:r>
              <a:rPr b="1"/>
              <a:t>authors’ own data</a:t>
            </a:r>
            <a:r>
              <a:rPr/>
              <a:t>. Their central problem is ours: tariffs fell where industries already differed, so the raw comparison confounds the policy with the composition of who received it.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it for one 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How do they separate the effect of falling tariffs from the fact that </a:t>
            </a:r>
            <a:r>
              <a:rPr sz="2000" b="1"/>
              <a:t>liberalised industries were not like the others to begin with</a:t>
            </a:r>
            <a:r>
              <a:rPr sz="2000"/>
              <a:t>?</a:t>
            </a:r>
          </a:p>
          <a:p>
            <a:pPr lvl="0" indent="0" marL="0">
              <a:buNone/>
            </a:pPr>
            <a:r>
              <a:rPr/>
              <a:t>Every control they add is a projection. Today you learn what that sentence means geometrically, and then you will see it in their tables.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question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Electricity prices across Europe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Industrial electricity costs more in some European countries than others.</a:t>
            </a:r>
          </a:p>
          <a:p>
            <a:pPr lvl="0" indent="0" marL="0">
              <a:buNone/>
            </a:pPr>
            <a:r>
              <a:rPr/>
              <a:t>A natural first claim:</a:t>
            </a:r>
          </a:p>
          <a:p>
            <a:pPr lvl="0" indent="0" marL="1270000">
              <a:buNone/>
            </a:pPr>
            <a:r>
              <a:rPr sz="2000" i="1"/>
              <a:t>“Countries with more fossil generation have higher electricity prices.”</a:t>
            </a:r>
          </a:p>
          <a:p>
            <a:pPr lvl="0" indent="0" marL="0">
              <a:buNone/>
            </a:pPr>
            <a:r>
              <a:rPr/>
              <a:t>Before we can defend that sentence, we have to separate two things:</a:t>
            </a:r>
          </a:p>
          <a:p>
            <a:pPr lvl="0"/>
            <a:r>
              <a:rPr/>
              <a:t>the </a:t>
            </a:r>
            <a:r>
              <a:rPr b="1"/>
              <a:t>effect</a:t>
            </a:r>
            <a:r>
              <a:rPr/>
              <a:t> of the generation mix on price</a:t>
            </a:r>
          </a:p>
          <a:p>
            <a:pPr lvl="0"/>
            <a:r>
              <a:rPr/>
              <a:t>the </a:t>
            </a:r>
            <a:r>
              <a:rPr b="1"/>
              <a:t>composition</a:t>
            </a:r>
            <a:r>
              <a:rPr/>
              <a:t> of the countries that happen to have that mix</a:t>
            </a:r>
          </a:p>
          <a:p>
            <a:pPr lvl="0" indent="0" marL="0">
              <a:buNone/>
            </a:pPr>
            <a:r>
              <a:rPr/>
              <a:t>Rich countries differ from poor ones in more than their power stations.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is a geometry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Least squares is not a formula to memorise. It is a </a:t>
                </a:r>
                <a:r>
                  <a:rPr b="1"/>
                  <a:t>projection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t>X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t> 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projects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onto the column space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 The residual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</m:e>
                      </m:d>
                      <m:r>
                        <m:t> 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t> 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what is left </a:t>
                </a:r>
                <a:r>
                  <a:rPr b="1"/>
                  <a:t>orthogonal</a:t>
                </a:r>
                <a:r>
                  <a:rPr/>
                  <a:t> to everything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can explain.</a:t>
                </a:r>
              </a:p>
              <a:p>
                <a:pPr lvl="0" indent="0" marL="0">
                  <a:buNone/>
                </a:pPr>
                <a:r>
                  <a:rPr/>
                  <a:t>Every result today follows from one fact: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 The residual carries no trace of the columns you controlled for.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properties of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worth memorising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t>X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I</m:t>
                      </m:r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Idempotent</a:t>
                </a:r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. Projecting twice changes nothing — you are already in the space.</a:t>
                </a:r>
              </a:p>
              <a:p>
                <a:pPr lvl="0"/>
                <a:r>
                  <a:rPr b="1"/>
                  <a:t>Symmetric</a:t>
                </a:r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Orthogonal complements</a:t>
                </a:r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sSub>
                      <m:e>
                        <m:r>
                          <m:t>M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 Fitted values and residuals share no information at all.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cosine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Because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+</m:t>
                    </m:r>
                    <m:r>
                      <m:t>e</m:t>
                    </m:r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⟂</m:t>
                    </m:r>
                    <m:r>
                      <m:t>e</m:t>
                    </m:r>
                  </m:oMath>
                </a14:m>
                <a:r>
                  <a:rPr/>
                  <a:t>, Pythagoras applies: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∥</m:t>
                      </m:r>
                      <m:r>
                        <m:t>y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∥</m:t>
                      </m:r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e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∥</m:t>
                          </m:r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y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cos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the squared cosine of the angle between your outcome and the space your regressors span. That is </a:t>
                </a:r>
                <a:r>
                  <a:rPr i="1"/>
                  <a:t>all</a:t>
                </a:r>
                <a:r>
                  <a:rPr/>
                  <a:t> it is — which is why it says nothing about whether the model is right.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Degrees of freedom, geometrically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residual lives in a space of dimension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: you started with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dimensions and spent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of them fitting.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σ</m:t>
                              </m:r>
                            </m:e>
                          </m:acc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e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k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Add a regressor and the residual space shrinks by one. Add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of them and it vanishes — a perfect fit that has learned nothing.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method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Frisch–Waugh–Lovell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Split the regressors: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FWL theorem says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identical whether you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regress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</a:t>
                </a:r>
                <a:r>
                  <a:rPr b="1"/>
                  <a:t>and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together, or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regress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2</m:t>
                            </m:r>
                          </m:sub>
                        </m:sSub>
                      </m:sub>
                    </m:sSub>
                    <m:r>
                      <m:t>y</m:t>
                    </m:r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2</m:t>
                            </m:r>
                          </m:sub>
                        </m:sSub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— both </a:t>
                </a:r>
                <a:r>
                  <a:rPr b="1"/>
                  <a:t>residualised</a:t>
                </a:r>
                <a:r>
                  <a:rPr/>
                  <a:t> against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sSub>
                                <m:e>
                                  <m:r>
                                    <m:t>M</m:t>
                                  </m:r>
                                </m:e>
                                <m:sub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′</m:t>
                      </m:r>
                      <m:sSub>
                        <m:e>
                          <m:r>
                            <m:t>M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sub>
                      </m:sSub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“Controlling for” a variable </a:t>
                </a:r>
                <a:r>
                  <a:rPr i="1"/>
                  <a:t>means</a:t>
                </a:r>
                <a:r>
                  <a:rPr/>
                  <a:t> projecting it out. Nothing more mystical than that.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you should care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FWL is the reason a coefficient can </a:t>
                </a:r>
                <a:r>
                  <a:rPr b="1"/>
                  <a:t>change sign</a:t>
                </a:r>
                <a:r>
                  <a:rPr/>
                  <a:t> when you add a control.</a:t>
                </a:r>
              </a:p>
              <a:p>
                <a:pPr lvl="0" indent="0" marL="0">
                  <a:buNone/>
                </a:pPr>
                <a:r>
                  <a:rPr/>
                  <a:t>You are no longer estimating the same object:</a:t>
                </a:r>
              </a:p>
              <a:p>
                <a:pPr lvl="0"/>
                <a:r>
                  <a:rPr/>
                  <a:t>Without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: the association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</a:t>
                </a:r>
                <a:r>
                  <a:rPr b="1"/>
                  <a:t>including</a:t>
                </a:r>
                <a:r>
                  <a:rPr/>
                  <a:t> whatever runs through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: the association of the part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</a:t>
                </a:r>
                <a:r>
                  <a:rPr b="1"/>
                  <a:t>unrelated</a:t>
                </a:r>
                <a:r>
                  <a:rPr/>
                  <a:t> to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If you cannot say which of those two your question asks for, you cannot interpret your own regression.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 are working with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a  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"data/spine/angle_a_country.parquet"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df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core.merge(a, 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])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(df.shape)          </a:t>
            </a:r>
            <a:r>
              <a:rPr i="1">
                <a:solidFill>
                  <a:srgbClr val="60A0B0"/>
                </a:solidFill>
                <a:latin typeface="Courier"/>
              </a:rPr>
              <a:t># 450 rows: 30 countries x 15 years, 2010-2024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elec_price_eur_kwh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Non-household price, excl. tax, band 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share_renew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share_fossil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share_nuclear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Generation mix, shares of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gdp_pc_eur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productivity_idx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composition variables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trap in this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three generation shares </a:t>
                </a:r>
                <a:r>
                  <a:rPr b="1"/>
                  <a:t>sum to one</a:t>
                </a:r>
                <a:r>
                  <a:rPr/>
                  <a:t>, exactly: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df[[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"share_renew"</a:t>
                </a:r>
                <a:r>
                  <a:rPr>
                    <a:latin typeface="Courier"/>
                  </a:rPr>
                  <a:t>,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"share_fossil"</a:t>
                </a:r>
                <a:r>
                  <a:rPr>
                    <a:latin typeface="Courier"/>
                  </a:rPr>
                  <a:t>,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"share_nuclear"</a:t>
                </a:r>
                <a:r>
                  <a:rPr>
                    <a:latin typeface="Courier"/>
                  </a:rPr>
                  <a:t>]].</a:t>
                </a:r>
                <a:r>
                  <a:rPr>
                    <a:solidFill>
                      <a:srgbClr val="008000"/>
                    </a:solidFill>
                    <a:latin typeface="Courier"/>
                  </a:rPr>
                  <a:t>sum</a:t>
                </a:r>
                <a:r>
                  <a:rPr>
                    <a:latin typeface="Courier"/>
                  </a:rPr>
                  <a:t>(axis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40A070"/>
                    </a:solidFill>
                    <a:latin typeface="Courier"/>
                  </a:rPr>
                  <a:t>1</a:t>
                </a:r>
                <a:r>
                  <a:rPr>
                    <a:latin typeface="Courier"/>
                  </a:rPr>
                  <a:t>).</a:t>
                </a:r>
                <a:r>
                  <a:rPr>
                    <a:solidFill>
                      <a:srgbClr val="008000"/>
                    </a:solidFill>
                    <a:latin typeface="Courier"/>
                  </a:rPr>
                  <a:t>max</a:t>
                </a:r>
                <a:r>
                  <a:rPr>
                    <a:latin typeface="Courier"/>
                  </a:rPr>
                  <a:t>()</a:t>
                </a:r>
                <a:br/>
                <a:r>
                  <a:rPr i="1">
                    <a:solidFill>
                      <a:srgbClr val="60A0B0"/>
                    </a:solidFill>
                    <a:latin typeface="Courier"/>
                  </a:rPr>
                  <a:t># 1.0001  (rounding only)</a:t>
                </a:r>
              </a:p>
              <a:p>
                <a:pPr lvl="0" indent="0" marL="0">
                  <a:buNone/>
                </a:pPr>
                <a:r>
                  <a:rPr/>
                  <a:t>Include all three shares </a:t>
                </a:r>
                <a:r>
                  <a:rPr b="1"/>
                  <a:t>and</a:t>
                </a:r>
                <a:r>
                  <a:rPr/>
                  <a:t> an intercept and you have created exact collinearity.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′</m:t>
                    </m:r>
                    <m:r>
                      <m:t>X</m:t>
                    </m:r>
                  </m:oMath>
                </a14:m>
                <a:r>
                  <a:rPr/>
                  <a:t> is singular. Some libraries error; others silently return one of infinitely many solutions.</a:t>
                </a:r>
              </a:p>
              <a:p>
                <a:pPr lvl="0" indent="0" marL="0">
                  <a:buNone/>
                </a:pPr>
                <a:r>
                  <a:rPr b="1"/>
                  <a:t>Drop one share.</a:t>
                </a:r>
                <a:r>
                  <a:rPr/>
                  <a:t> Every coefficient is then read </a:t>
                </a:r>
                <a:r>
                  <a:rPr i="1"/>
                  <a:t>relative to the omitted category</a:t>
                </a:r>
                <a:r>
                  <a:rPr/>
                  <a:t> — which you must state in your table note.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price without its band is meaningless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elec_price_eur_kwh</a:t>
            </a:r>
            <a:r>
              <a:rPr/>
              <a:t> is </a:t>
            </a:r>
            <a:r>
              <a:rPr b="1"/>
              <a:t>band IC</a:t>
            </a:r>
            <a:r>
              <a:rPr/>
              <a:t>: consumers using 500–2000 MWh a year.</a:t>
            </a:r>
          </a:p>
          <a:p>
            <a:pPr lvl="0"/>
            <a:r>
              <a:rPr/>
              <a:t>A different band is a different number for the same country and year.</a:t>
            </a:r>
          </a:p>
          <a:p>
            <a:pPr lvl="0"/>
            <a:r>
              <a:rPr/>
              <a:t>There is a </a:t>
            </a:r>
            <a:r>
              <a:rPr b="1"/>
              <a:t>structural break in 2022</a:t>
            </a:r>
            <a:r>
              <a:rPr/>
              <a:t> — the energy shock.</a:t>
            </a:r>
          </a:p>
          <a:p>
            <a:pPr lvl="0"/>
            <a:r>
              <a:rPr>
                <a:latin typeface="Courier"/>
              </a:rPr>
              <a:t>elec_price_incl_tax</a:t>
            </a:r>
            <a:r>
              <a:rPr/>
              <a:t> minus the excl.-tax series is the </a:t>
            </a:r>
            <a:r>
              <a:rPr b="1"/>
              <a:t>policy wedge</a:t>
            </a:r>
            <a:r>
              <a:rPr/>
              <a:t>, not a measurement error.</a:t>
            </a:r>
          </a:p>
          <a:p>
            <a:pPr lvl="0" indent="0" marL="0">
              <a:buNone/>
            </a:pPr>
            <a:r>
              <a:rPr/>
              <a:t>Reporting “the electricity price in Germany” without the band is the kind of sentence this course is designed to stop you writing.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naive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statsmodels.formula.api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smf</a:t>
            </a:r>
            <a:br/>
            <a:br/>
            <a:r>
              <a:rPr>
                <a:latin typeface="Courier"/>
              </a:rPr>
              <a:t>m1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smf.ols(</a:t>
            </a:r>
            <a:r>
              <a:rPr>
                <a:solidFill>
                  <a:srgbClr val="4070A0"/>
                </a:solidFill>
                <a:latin typeface="Courier"/>
              </a:rPr>
              <a:t>"elec_price_eur_kwh ~ share_fossil + share_nuclear"</a:t>
            </a:r>
            <a:r>
              <a:rPr>
                <a:latin typeface="Courier"/>
              </a:rPr>
              <a:t>,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df).fit()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(m1.summary().tables[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share_renew</a:t>
            </a:r>
            <a:r>
              <a:rPr/>
              <a:t> is omitted, so both coefficients are read </a:t>
            </a:r>
            <a:r>
              <a:rPr b="1"/>
              <a:t>against renewables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Write down the sign you expect </a:t>
            </a:r>
            <a:r>
              <a:rPr i="1"/>
              <a:t>before</a:t>
            </a:r>
            <a:r>
              <a:rPr/>
              <a:t> you run it. You are allowed to be wrong; you are not allowed to decide afterwards what you predicted.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add composition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m2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smf.ols(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4070A0"/>
                </a:solidFill>
                <a:latin typeface="Courier"/>
              </a:rPr>
              <a:t>"elec_price_eur_kwh ~ share_fossil + share_nuclear "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4070A0"/>
                </a:solidFill>
                <a:latin typeface="Courier"/>
              </a:rPr>
              <a:t>"+ np.log(gdp_pc_eur) + productivity_idx"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df,</a:t>
            </a:r>
            <a:br/>
            <a:r>
              <a:rPr>
                <a:latin typeface="Courier"/>
              </a:rPr>
              <a:t>).fit()</a:t>
            </a:r>
          </a:p>
          <a:p>
            <a:pPr lvl="0" indent="0" marL="0">
              <a:buNone/>
            </a:pPr>
            <a:r>
              <a:rPr/>
              <a:t>Compare </a:t>
            </a:r>
            <a:r>
              <a:rPr>
                <a:latin typeface="Courier"/>
              </a:rPr>
              <a:t>share_fossil</a:t>
            </a:r>
            <a:r>
              <a:rPr/>
              <a:t> across </a:t>
            </a:r>
            <a:r>
              <a:rPr>
                <a:latin typeface="Courier"/>
              </a:rPr>
              <a:t>m1</a:t>
            </a:r>
            <a:r>
              <a:rPr/>
              <a:t> and </a:t>
            </a:r>
            <a:r>
              <a:rPr>
                <a:latin typeface="Courier"/>
              </a:rPr>
              <a:t>m2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If it moved, composition was doing part of the work. FWL tells you exactly how much — and the next slide proves 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Verify FWL yourself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statsmodels.api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sm</a:t>
            </a:r>
            <a:br/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df.dropna(subset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"elec_price_eur_kwh"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"share_fossil"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Z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sm.add_constant(d[[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]])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residualise BOTH the outcome and the regressor against Z</a:t>
            </a:r>
            <a:br/>
            <a:r>
              <a:rPr>
                <a:latin typeface="Courier"/>
              </a:rPr>
              <a:t>y_r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sm.OLS(d[</a:t>
            </a:r>
            <a:r>
              <a:rPr>
                <a:solidFill>
                  <a:srgbClr val="4070A0"/>
                </a:solidFill>
                <a:latin typeface="Courier"/>
              </a:rPr>
              <a:t>"elec_price_eur_kwh"</a:t>
            </a:r>
            <a:r>
              <a:rPr>
                <a:latin typeface="Courier"/>
              </a:rPr>
              <a:t>], Z).fit().resid</a:t>
            </a:r>
            <a:br/>
            <a:r>
              <a:rPr>
                <a:latin typeface="Courier"/>
              </a:rPr>
              <a:t>x_r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sm.OLS(d[</a:t>
            </a:r>
            <a:r>
              <a:rPr>
                <a:solidFill>
                  <a:srgbClr val="4070A0"/>
                </a:solidFill>
                <a:latin typeface="Courier"/>
              </a:rPr>
              <a:t>"share_fossil"</a:t>
            </a:r>
            <a:r>
              <a:rPr>
                <a:latin typeface="Courier"/>
              </a:rPr>
              <a:t>],       Z).fit().resid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(sm.OLS(y_r, sm.add_constant(x_r)).fit().params.iloc[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])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identical to share_fossil in the full multiple regression</a:t>
            </a:r>
          </a:p>
          <a:p>
            <a:pPr lvl="0" indent="0" marL="0">
              <a:buNone/>
            </a:pPr>
            <a:r>
              <a:rPr/>
              <a:t>Two routes, one number. That identity </a:t>
            </a:r>
            <a:r>
              <a:rPr i="1"/>
              <a:t>is</a:t>
            </a:r>
            <a:r>
              <a:rPr/>
              <a:t> what “controlling for” means.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Multicollinearity, measured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Perfect collinearity breaks the inverse. </a:t>
                </a:r>
                <a:r>
                  <a:rPr b="1"/>
                  <a:t>Near</a:t>
                </a:r>
                <a:r>
                  <a:rPr/>
                  <a:t>-collinearity merely inflates the variance — and it is much harder to notice.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m:t>VIF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Sup>
                            <m:e>
                              <m:r>
                                <m:t>R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Sup>
                      <m:e>
                        <m:r>
                          <m:t>R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oMath>
                </a14:m>
                <a:r>
                  <a:rPr/>
                  <a:t> comes from regressing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on every other regressor.</a:t>
                </a:r>
              </a:p>
              <a:p>
                <a:pPr lvl="0" indent="0">
                  <a:buNone/>
                </a:pPr>
                <a:r>
                  <a:rPr b="1">
                    <a:solidFill>
                      <a:srgbClr val="008000"/>
                    </a:solidFill>
                    <a:latin typeface="Courier"/>
                  </a:rPr>
                  <a:t>from</a:t>
                </a:r>
                <a:r>
                  <a:rPr>
                    <a:latin typeface="Courier"/>
                  </a:rPr>
                  <a:t> statsmodels.stats.outliers_influence </a:t>
                </a:r>
                <a:r>
                  <a:rPr b="1">
                    <a:solidFill>
                      <a:srgbClr val="008000"/>
                    </a:solidFill>
                    <a:latin typeface="Courier"/>
                  </a:rPr>
                  <a:t>import</a:t>
                </a:r>
                <a:r>
                  <a:rPr>
                    <a:latin typeface="Courier"/>
                  </a:rPr>
                  <a:t> variance_inflation_factor</a:t>
                </a:r>
                <a:br/>
                <a:r>
                  <a:rPr b="1">
                    <a:solidFill>
                      <a:srgbClr val="008000"/>
                    </a:solidFill>
                    <a:latin typeface="Courier"/>
                  </a:rPr>
                  <a:t>import</a:t>
                </a:r>
                <a:r>
                  <a:rPr>
                    <a:latin typeface="Courier"/>
                  </a:rPr>
                  <a:t> statsmodels.api </a:t>
                </a:r>
                <a:r>
                  <a:rPr b="1">
                    <a:solidFill>
                      <a:srgbClr val="008000"/>
                    </a:solidFill>
                    <a:latin typeface="Courier"/>
                  </a:rPr>
                  <a:t>as</a:t>
                </a:r>
                <a:r>
                  <a:rPr>
                    <a:latin typeface="Courier"/>
                  </a:rPr>
                  <a:t> sm</a:t>
                </a:r>
                <a:br/>
                <a:br/>
                <a:r>
                  <a:rPr>
                    <a:latin typeface="Courier"/>
                  </a:rPr>
                  <a:t>Z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sm.add_constant(d[[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"share_fossil"</a:t>
                </a:r>
                <a:r>
                  <a:rPr>
                    <a:latin typeface="Courier"/>
                  </a:rPr>
                  <a:t>,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"share_nuclear"</a:t>
                </a:r>
                <a:r>
                  <a:rPr>
                    <a:latin typeface="Courier"/>
                  </a:rPr>
                  <a:t>,</a:t>
                </a:r>
                <a:br/>
                <a:r>
                  <a:rPr>
                    <a:latin typeface="Courier"/>
                  </a:rPr>
                  <a:t>                      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"gdp_pc_eur"</a:t>
                </a:r>
                <a:r>
                  <a:rPr>
                    <a:latin typeface="Courier"/>
                  </a:rPr>
                  <a:t>,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"productivity_idx"</a:t>
                </a:r>
                <a:r>
                  <a:rPr>
                    <a:latin typeface="Courier"/>
                  </a:rPr>
                  <a:t>]])</a:t>
                </a:r>
                <a:br/>
                <a:r>
                  <a:rPr b="1">
                    <a:solidFill>
                      <a:srgbClr val="007020"/>
                    </a:solidFill>
                    <a:latin typeface="Courier"/>
                  </a:rPr>
                  <a:t>for</a:t>
                </a:r>
                <a:r>
                  <a:rPr>
                    <a:latin typeface="Courier"/>
                  </a:rPr>
                  <a:t> i, name </a:t>
                </a:r>
                <a:r>
                  <a:rPr b="1">
                    <a:solidFill>
                      <a:srgbClr val="007020"/>
                    </a:solidFill>
                    <a:latin typeface="Courier"/>
                  </a:rPr>
                  <a:t>in</a:t>
                </a:r>
                <a:r>
                  <a:rPr>
                    <a:latin typeface="Courier"/>
                  </a:rPr>
                  <a:t> </a:t>
                </a:r>
                <a:r>
                  <a:rPr>
                    <a:solidFill>
                      <a:srgbClr val="008000"/>
                    </a:solidFill>
                    <a:latin typeface="Courier"/>
                  </a:rPr>
                  <a:t>enumerate</a:t>
                </a:r>
                <a:r>
                  <a:rPr>
                    <a:latin typeface="Courier"/>
                  </a:rPr>
                  <a:t>(Z.columns):</a:t>
                </a:r>
                <a:br/>
                <a:r>
                  <a:rPr>
                    <a:latin typeface="Courier"/>
                  </a:rPr>
                  <a:t>    </a:t>
                </a:r>
                <a:r>
                  <a:rPr>
                    <a:solidFill>
                      <a:srgbClr val="008000"/>
                    </a:solidFill>
                    <a:latin typeface="Courier"/>
                  </a:rPr>
                  <a:t>print</a:t>
                </a:r>
                <a:r>
                  <a:rPr>
                    <a:latin typeface="Courier"/>
                  </a:rPr>
                  <a:t>(</a:t>
                </a:r>
                <a:r>
                  <a:rPr>
                    <a:solidFill>
                      <a:srgbClr val="BB6688"/>
                    </a:solidFill>
                    <a:latin typeface="Courier"/>
                  </a:rPr>
                  <a:t>f"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{</a:t>
                </a:r>
                <a:r>
                  <a:rPr>
                    <a:latin typeface="Courier"/>
                  </a:rPr>
                  <a:t>name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:18s}</a:t>
                </a:r>
                <a:r>
                  <a:rPr>
                    <a:solidFill>
                      <a:srgbClr val="BB6688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{</a:t>
                </a:r>
                <a:r>
                  <a:rPr>
                    <a:latin typeface="Courier"/>
                  </a:rPr>
                  <a:t>variance_inflation_factor(Z.values, i)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:6.2f}</a:t>
                </a:r>
                <a:r>
                  <a:rPr>
                    <a:solidFill>
                      <a:srgbClr val="BB6688"/>
                    </a:solidFill>
                    <a:latin typeface="Courier"/>
                  </a:rPr>
                  <a:t>"</a:t>
                </a:r>
                <a:r>
                  <a:rPr>
                    <a:latin typeface="Courier"/>
                  </a:rPr>
                  <a:t>)</a:t>
                </a:r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VIF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VIF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— orthogonal to everything else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&gt;</m:t>
                    </m:r>
                    <m:r>
                      <m:t>5</m:t>
                    </m:r>
                  </m:oMath>
                </a14:m>
                <a:r>
                  <a:rPr/>
                  <a:t> — worth a comment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&gt;</m:t>
                    </m:r>
                    <m:r>
                      <m:t>10</m:t>
                    </m:r>
                  </m:oMath>
                </a14:m>
                <a:r>
                  <a:rPr/>
                  <a:t> — the coefficient is barely identified</a:t>
                </a:r>
              </a:p>
              <a:p>
                <a:pPr lvl="0" indent="0" marL="0">
                  <a:buNone/>
                </a:pPr>
                <a:r>
                  <a:rPr/>
                  <a:t>A high VIF is </a:t>
                </a:r>
                <a:r>
                  <a:rPr b="1"/>
                  <a:t>not</a:t>
                </a:r>
                <a:r>
                  <a:rPr/>
                  <a:t> a reason to drop a variable. If the control belongs in the model, dropping it trades a variance problem for a bias problem. Report the wide interval instead.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Which share you </a:t>
                </a:r>
                <a:r>
                  <a:rPr b="1"/>
                  <a:t>omitted</a:t>
                </a:r>
                <a:r>
                  <a:rPr/>
                  <a:t>, and therefore what the comparison is against</a:t>
                </a:r>
              </a:p>
              <a:p>
                <a:pPr lvl="0"/>
                <a:r>
                  <a:rPr/>
                  <a:t>Whether the fossil coefficient </a:t>
                </a:r>
                <a:r>
                  <a:rPr b="1"/>
                  <a:t>moved</a:t>
                </a:r>
                <a:r>
                  <a:rPr/>
                  <a:t> when composition entered, and in which direction</a:t>
                </a:r>
              </a:p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</a:t>
                </a:r>
                <a:r>
                  <a:rPr b="1"/>
                  <a:t>and</a:t>
                </a:r>
                <a:r>
                  <a:rPr/>
                  <a:t> the residual standard error in price units — a share of variance is not a magnitude</a:t>
                </a:r>
              </a:p>
              <a:p>
                <a:pPr lvl="0"/>
                <a:r>
                  <a:rPr/>
                  <a:t>That 2022 breaks the series, and what you did about it</a:t>
                </a:r>
              </a:p>
              <a:p>
                <a:pPr lvl="0" indent="0" marL="0">
                  <a:buNone/>
                </a:pPr>
                <a:r>
                  <a:rPr/>
                  <a:t>Do not write “fossil generation raises prices by X”. You have an association in a 30-country panel, not an experiment. Session 10 is where causal language becomes available, and it costs more than this.</a:t>
                </a:r>
              </a:p>
            </p:txBody>
          </p:sp>
        </mc:Choice>
      </mc:AlternateContent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Common mistakes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Mistake</a:t></a:r></a:p></a:txBody><a:tcPr /></a:tc><a:tc><a:txBody><a:bodyPr /><a:lstStyle /><a:p><a:pPr lvl="0" indent="0" marL="0"><a:buNone /></a:pPr><a:r><a:rPr /><a:t>What happens</a:t></a:r></a:p></a:txBody><a:tcPr /></a:tc></a:tr><a:tr h="0"><a:tc><a:txBody><a:bodyPr /><a:lstStyle /><a:p><a:pPr lvl="0" indent="0" marL="0"><a:buNone /></a:pPr><a:r><a:rPr /><a:t>All three shares + intercept</a:t></a:r></a:p></a:txBody></a:tc><a:tc><a:txBody><a:bodyPr /><a:lstStyle /><a:p><a:pPr lvl="0" indent="0" marL="0"><a:buNone /></a:pPr><a:r><a:rPr /><a:t>Singular </a:t></a:r><a14:m><m:oMath xmlns:m="http://schemas.openxmlformats.org/officeDocument/2006/math"><m:r><m:t>X</m:t></m:r><m:r><m:rPr><m:sty m:val="p" /></m:rPr><m:t>′</m:t></m:r><m:r><m:t>X</m:t></m:r></m:oMath></a14:m><a:r><a:rPr /><a:t>; meaningless coefficients</a:t></a:r></a:p></a:txBody></a:tc></a:tr><a:tr h="0"><a:tc><a:txBody><a:bodyPr /><a:lstStyle /><a:p><a:pPr lvl="0" indent="0" marL="0"><a:buNone /></a:pPr><a:r><a:rPr /><a:t>Reading a coefficient without naming the omitted share</a:t></a:r></a:p></a:txBody></a:tc><a:tc><a:txBody><a:bodyPr /><a:lstStyle /><a:p><a:pPr lvl="0" indent="0" marL="0"><a:buNone /></a:pPr><a:r><a:rPr /><a:t>The number has no referent</a:t></a:r></a:p></a:txBody></a:tc></a:tr><a:tr h="0"><a:tc><a:txBody><a:bodyPr /><a:lstStyle /><a:p><a:pPr lvl="0" indent="0" marL="0"><a:buNone /></a:pPr><a:r><a:rPr /><a:t>Pooling 2022 with earlier years silently</a:t></a:r></a:p></a:txBody></a:tc><a:tc><a:txBody><a:bodyPr /><a:lstStyle /><a:p><a:pPr lvl="0" indent="0" marL="0"><a:buNone /></a:pPr><a:r><a:rPr /><a:t>One structural break masquerades as an effect</a:t></a:r></a:p></a:txBody></a:tc></a:tr><a:tr h="0"><a:tc><a:txBody><a:bodyPr /><a:lstStyle /><a:p><a:pPr lvl="0" indent="0" marL="0"><a:buNone /></a:pPr><a:r><a:rPr /><a:t>Dropping rows with </a:t></a:r><a:r><a:rPr><a:latin typeface="Courier" /></a:rPr><a:t>flag == &quot;u&quot;</a:t></a:r></a:p></a:txBody></a:tc><a:tc><a:txBody><a:bodyPr /><a:lstStyle /><a:p><a:pPr lvl="0" indent="0" marL="0"><a:buNone /></a:pPr><a:r><a:rPr /><a:t>Coverage tilts toward large economies</a:t></a:r></a:p></a:txBody></a:tc></a:tr><a:tr h="0"><a:tc><a:txBody><a:bodyPr /><a:lstStyle /><a:p><a:pPr lvl="0" indent="0" marL="0"><a:buNone /></a:pPr><a:r><a:rPr /><a:t>Reporting </a:t></a:r><a14:m><m:oMath xmlns:m="http://schemas.openxmlformats.org/officeDocument/2006/math"><m:sSup><m:e><m:r><m:t>R</m:t></m:r></m:e><m:sup><m:r><m:t>2</m:t></m:r></m:sup></m:sSup></m:oMath></a14:m><a:r><a:rPr /><a:t> alone</a:t></a:r></a:p></a:txBody></a:tc><a:tc><a:txBody><a:bodyPr /><a:lstStyle /><a:p><a:pPr lvl="0" indent="0" marL="0"><a:buNone /></a:pPr><a:r><a:rPr /><a:t>No sense of magnitude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through </a:t>
            </a:r>
            <a:r>
              <a:rPr>
                <a:hlinkClick r:id="rId2"/>
                <a:latin typeface="Courier"/>
              </a:rPr>
              <a:t>02-lab/README.md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You will:</a:t>
            </a:r>
          </a:p>
          <a:p>
            <a:pPr lvl="0" indent="-342900" marL="342900">
              <a:buAutoNum type="arabicPeriod"/>
            </a:pPr>
            <a:r>
              <a:rPr/>
              <a:t>Build the merged panel and confirm the collinearity for yourself</a:t>
            </a:r>
          </a:p>
          <a:p>
            <a:pPr lvl="0" indent="-342900" marL="342900">
              <a:buAutoNum type="arabicPeriod"/>
            </a:pPr>
            <a:r>
              <a:rPr/>
              <a:t>Estimate the naive and the composition-adjusted specification</a:t>
            </a:r>
          </a:p>
          <a:p>
            <a:pPr lvl="0" indent="-342900" marL="342900">
              <a:buAutoNum type="arabicPeriod"/>
            </a:pPr>
            <a:r>
              <a:rPr/>
              <a:t>Reproduce the coefficient by residualising, and show the two agree</a:t>
            </a:r>
          </a:p>
          <a:p>
            <a:pPr lvl="0" indent="-342900" marL="342900">
              <a:buAutoNum type="arabicPeriod"/>
            </a:pPr>
            <a:r>
              <a:rPr/>
              <a:t>Write </a:t>
            </a:r>
            <a:r>
              <a:rPr b="1"/>
              <a:t>three sentences</a:t>
            </a:r>
            <a:r>
              <a:rPr/>
              <a:t> your group will defend if drawn</a:t>
            </a:r>
          </a:p>
          <a:p>
            <a:pPr lvl="0" indent="0" marL="0">
              <a:buNone/>
            </a:pPr>
            <a:r>
              <a:rPr/>
              <a:t>The three sentences are the deliverable. The code is how you earn the right to write them.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Geometry of Least Squares</dc:title>
  <dc:creator>Thierry Warin</dc:creator>
  <cp:keywords/>
  <dcterms:created xsi:type="dcterms:W3CDTF">2026-08-18T23:47:47Z</dcterms:created>
  <dcterms:modified xsi:type="dcterms:W3CDTF">2026-08-18T23:47:47Z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02 · Projection, partialling out, and why composition is not causation</vt:lpwstr>
  </property>
  <property fmtid="{D5CDD505-2E9C-101B-9397-08002B2CF9AE}" pid="16" name="toc-title">
    <vt:lpwstr>Table of contents</vt:lpwstr>
  </property>
</Properties>
</file>