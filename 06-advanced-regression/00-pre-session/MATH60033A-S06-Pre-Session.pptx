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cb132aca6a4536" /><Relationship Type="http://schemas.openxmlformats.org/officeDocument/2006/relationships/extended-properties" Target="/docProps/app.xml" Id="R4111ed4bdfac44fe" /><Relationship Type="http://schemas.openxmlformats.org/officeDocument/2006/relationships/officeDocument" Target="/ppt/presentation.xml" Id="R6b2bc4a7c8f343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40de831586426e"/>
  </p:sldMasterIdLst>
  <p:notesMasterIdLst>
    <p:notesMasterId xmlns:r="http://schemas.openxmlformats.org/officeDocument/2006/relationships" r:id="R7eaf7f3e96604275"/>
  </p:notesMasterIdLst>
  <p:sldIdLst>
    <p:sldId xmlns:r="http://schemas.openxmlformats.org/officeDocument/2006/relationships" id="256" r:id="Rc4f0b0888d9d43df"/>
    <p:sldId xmlns:r="http://schemas.openxmlformats.org/officeDocument/2006/relationships" id="257" r:id="R1b8e11ba8a864d87"/>
    <p:sldId xmlns:r="http://schemas.openxmlformats.org/officeDocument/2006/relationships" id="258" r:id="Rff9006fe8b224953"/>
    <p:sldId xmlns:r="http://schemas.openxmlformats.org/officeDocument/2006/relationships" id="259" r:id="Rfe79594a0672424e"/>
    <p:sldId xmlns:r="http://schemas.openxmlformats.org/officeDocument/2006/relationships" id="260" r:id="Rede0a46261664092"/>
    <p:sldId xmlns:r="http://schemas.openxmlformats.org/officeDocument/2006/relationships" id="261" r:id="R4454316d89444993"/>
    <p:sldId xmlns:r="http://schemas.openxmlformats.org/officeDocument/2006/relationships" id="262" r:id="R18ca2eb6b4b94c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4a5923e55c49d8" /><Relationship Type="http://schemas.openxmlformats.org/officeDocument/2006/relationships/slideMaster" Target="/ppt/slideMasters/slideMaster1.xml" Id="Rea40de831586426e" /><Relationship Type="http://schemas.openxmlformats.org/officeDocument/2006/relationships/notesMaster" Target="/ppt/notesMasters/notesMaster1.xml" Id="R7eaf7f3e96604275" /><Relationship Type="http://schemas.openxmlformats.org/officeDocument/2006/relationships/presProps" Target="/ppt/presProps.xml" Id="R07deb1e2f7c94a6b" /><Relationship Type="http://schemas.openxmlformats.org/officeDocument/2006/relationships/tableStyles" Target="/ppt/tableStyles.xml" Id="R193d0b5255404f37" /><Relationship Type="http://schemas.openxmlformats.org/officeDocument/2006/relationships/slide" Target="/ppt/slides/slide1.xml" Id="Rc4f0b0888d9d43df" /><Relationship Type="http://schemas.openxmlformats.org/officeDocument/2006/relationships/slide" Target="/ppt/slides/slide2.xml" Id="R1b8e11ba8a864d87" /><Relationship Type="http://schemas.openxmlformats.org/officeDocument/2006/relationships/slide" Target="/ppt/slides/slide3.xml" Id="Rff9006fe8b224953" /><Relationship Type="http://schemas.openxmlformats.org/officeDocument/2006/relationships/slide" Target="/ppt/slides/slide4.xml" Id="Rfe79594a0672424e" /><Relationship Type="http://schemas.openxmlformats.org/officeDocument/2006/relationships/slide" Target="/ppt/slides/slide5.xml" Id="Rede0a46261664092" /><Relationship Type="http://schemas.openxmlformats.org/officeDocument/2006/relationships/slide" Target="/ppt/slides/slide6.xml" Id="R4454316d89444993" /><Relationship Type="http://schemas.openxmlformats.org/officeDocument/2006/relationships/slide" Target="/ppt/slides/slide7.xml" Id="R18ca2eb6b4b94c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e5a13c73954f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d1079bfb8c480f" /><Relationship Type="http://schemas.openxmlformats.org/officeDocument/2006/relationships/notesMaster" Target="/ppt/notesMasters/notesMaster1.xml" Id="R7f843d85774340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34457b4053452d" /><Relationship Type="http://schemas.openxmlformats.org/officeDocument/2006/relationships/notesMaster" Target="/ppt/notesMasters/notesMaster1.xml" Id="R1f73774be6fd43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444971bd484724" /><Relationship Type="http://schemas.openxmlformats.org/officeDocument/2006/relationships/notesMaster" Target="/ppt/notesMasters/notesMaster1.xml" Id="R514ce7dccc0848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d6a7bf7cbf4ee7" /><Relationship Type="http://schemas.openxmlformats.org/officeDocument/2006/relationships/notesMaster" Target="/ppt/notesMasters/notesMaster1.xml" Id="R5f5a65e11c5944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846b8a3fc34a94" /><Relationship Type="http://schemas.openxmlformats.org/officeDocument/2006/relationships/notesMaster" Target="/ppt/notesMasters/notesMaster1.xml" Id="R7e52957a62a045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59eb4506a6496d" /><Relationship Type="http://schemas.openxmlformats.org/officeDocument/2006/relationships/notesMaster" Target="/ppt/notesMasters/notesMaster1.xml" Id="R3117cd31b56e49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a2cb8f237c4b80" /><Relationship Type="http://schemas.openxmlformats.org/officeDocument/2006/relationships/notesMaster" Target="/ppt/notesMasters/notesMaster1.xml" Id="R85987625393942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Your classifier is 97% accurate. Should anyone be impressed?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06-classification-logistic-and-penalised/00-pre-session/README.md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  <a:p xmlns:a="http://schemas.openxmlformats.org/drawingml/2006/main">
            <a:r>
              <a:t>- ISLR, classification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class, students read the article, download the Dataverse package, and identify this practice target: Reproduce one fold-level classification result, then turn predicted probabilities into a defensible decision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06-classification-logistic-and-penalised/00-pre-session/README.md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  <a:p xmlns:a="http://schemas.openxmlformats.org/drawingml/2006/main">
            <a:r>
              <a:t>- ISLR, classification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academic article and Dataverse package are required before class. ISLR is optional background.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06-classification-logistic-and-penalised/00-pre-session/README.md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  <a:p xmlns:a="http://schemas.openxmlformats.org/drawingml/2006/main">
            <a:r>
              <a:t>- ISLR, classification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be able to supply a concrete example of each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06-classification-logistic-and-penalised/00-pre-session/README.md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  <a:p xmlns:a="http://schemas.openxmlformats.org/drawingml/2006/main">
            <a:r>
              <a:t>- ISLR, classification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practice target is: Reproduce one fold-level classification result, then turn predicted probabilities into a defensible decision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06-classification-logistic-and-penalised/00-pre-session/README.md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  <a:p xmlns:a="http://schemas.openxmlformats.org/drawingml/2006/main">
            <a:r>
              <a:t>- ISLR, classification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reveal answers. Ask students to bring the question they could not settle.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06-classification-logistic-and-penalised/00-pre-session/README.md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  <a:p xmlns:a="http://schemas.openxmlformats.org/drawingml/2006/main">
            <a:r>
              <a:t>- ISLR, classification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goal is readiness, not completion theatre. Invite students to bring one unresolved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06-classification-logistic-and-penalised/00-pre-session/README.md</a:t>
            </a:r>
          </a:p>
          <a:p xmlns:a="http://schemas.openxmlformats.org/drawingml/2006/main">
            <a:r>
              <a:t>- Saganowski et al. (2019) — Group Evolution Prediction in Complex Networks — https://doi.org/10.1371/journal.pone.0224194</a:t>
            </a:r>
          </a:p>
          <a:p xmlns:a="http://schemas.openxmlformats.org/drawingml/2006/main">
            <a:r>
              <a:t>- Harvard Dataverse 10.7910/DVN/ONOFS7 — https://doi.org/10.7910/DVN/ONOFS7</a:t>
            </a:r>
          </a:p>
          <a:p xmlns:a="http://schemas.openxmlformats.org/drawingml/2006/main">
            <a:r>
              <a:t>- ISLR, classification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ebeffb837f42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801ccae4e9459d" /><Relationship Type="http://schemas.openxmlformats.org/officeDocument/2006/relationships/slideLayout" Target="/ppt/slideLayouts/slideLayout1.xml" Id="R59c13f4387c040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c13f4387c040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5da6aa9a242db" /><Relationship Type="http://schemas.openxmlformats.org/officeDocument/2006/relationships/chart" Target="/ppt/slides/charts/chart1.xml" Id="Rc5c2b207444f45f5" /><Relationship Type="http://schemas.openxmlformats.org/officeDocument/2006/relationships/notesSlide" Target="/ppt/notesSlides/notesSlide1.xml" Id="Ref7838a1c1da47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edcd977c84e79" /><Relationship Type="http://schemas.openxmlformats.org/officeDocument/2006/relationships/notesSlide" Target="/ppt/notesSlides/notesSlide2.xml" Id="Rcc07f55192314b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0396e9ab942a6" /><Relationship Type="http://schemas.openxmlformats.org/officeDocument/2006/relationships/notesSlide" Target="/ppt/notesSlides/notesSlide3.xml" Id="Rd0d85a5235f646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97b58cd604dfb" /><Relationship Type="http://schemas.openxmlformats.org/officeDocument/2006/relationships/notesSlide" Target="/ppt/notesSlides/notesSlide4.xml" Id="Rbf0d2ef5e84744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2226a6b8848a4" /><Relationship Type="http://schemas.openxmlformats.org/officeDocument/2006/relationships/notesSlide" Target="/ppt/notesSlides/notesSlide5.xml" Id="R22f14a64fc504c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d88502a064478" /><Relationship Type="http://schemas.openxmlformats.org/officeDocument/2006/relationships/notesSlide" Target="/ppt/notesSlides/notesSlide6.xml" Id="R01677a8d1f674a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183cc296d48db" /><Relationship Type="http://schemas.openxmlformats.org/officeDocument/2006/relationships/notesSlide" Target="/ppt/notesSlides/notesSlide7.xml" Id="R528ed4422cd64f6f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9"/>
              <c:pt idx="0">
                <c:v>−4</c:v>
              </c:pt>
              <c:pt idx="1">
                <c:v>−3</c:v>
              </c:pt>
              <c:pt idx="2">
                <c:v>−2</c:v>
              </c:pt>
              <c:pt idx="3">
                <c:v>−1</c:v>
              </c:pt>
              <c:pt idx="4">
                <c:v>0</c:v>
              </c:pt>
              <c:pt idx="5">
                <c:v>1</c:v>
              </c:pt>
              <c:pt idx="6">
                <c:v>2</c:v>
              </c:pt>
              <c:pt idx="7">
                <c:v>3</c:v>
              </c:pt>
              <c:pt idx="8">
                <c:v>4</c:v>
              </c:pt>
            </c:strLit>
          </c:cat>
          <c:val>
            <c:numLit>
              <c:formatCode>General</c:formatCode>
              <c:ptCount val="9"/>
              <c:pt idx="0">
                <c:v>0.02</c:v>
              </c:pt>
              <c:pt idx="1">
                <c:v>0.05</c:v>
              </c:pt>
              <c:pt idx="2">
                <c:v>0.12</c:v>
              </c:pt>
              <c:pt idx="3">
                <c:v>0.27</c:v>
              </c:pt>
              <c:pt idx="4">
                <c:v>0.5</c:v>
              </c:pt>
              <c:pt idx="5">
                <c:v>0.73</c:v>
              </c:pt>
              <c:pt idx="6">
                <c:v>0.88</c:v>
              </c:pt>
              <c:pt idx="7">
                <c:v>0.95</c:v>
              </c:pt>
              <c:pt idx="8">
                <c:v>0.98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E0DDAE6-0999-4692-BB02-404049E3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06 · PRE-SESSION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03D641E-E16C-4793-8723-FB35B9E7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0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Classification: logistic regression and decision thresholds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5D4A9814-87C1-4102-86EC-1DD13B05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classifier is 97% accurate. Should anyone be impressed?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38C3C30D-BC2C-4A2F-B476-8B1DDA5C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55B934C8-4BCF-4FBE-B001-993D7974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57975" y="685800"/>
          <a:ext xmlns:a="http://schemas.openxmlformats.org/drawingml/2006/main" cx="4752975" cy="5086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c2b207444f45f5"/>
          </a:graphicData>
        </a:graphic>
      </p:graphicFrame>
      <p:sp>
        <p:nvSpPr>
          <p:cNvPr id="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71C5793-12DB-4883-8D4C-6C17272B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45E360E-08A6-418A-BE99-DF337EB6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F557030-EA06-41C2-84A3-8E2F9FA7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1</a:t>
            </a:r>
          </a:p>
        </p:txBody>
      </p:sp>
    </p:spTree>
    <p:extLst>
      <p:ext uri="{BB962C8B-B14F-4D97-AF65-F5344CB8AC3E}">
        <p14:creationId xmlns:p14="http://schemas.microsoft.com/office/powerpoint/2010/main" val="21466844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29FDB26E-2B63-4BF3-90F2-2D30C734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REQUIRED BEFORE CLASS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E14B1D-297B-46C5-AB62-C5B1F729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the article; download the package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6797022-37F9-40FF-95A8-66C09AD7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required-label">
            <a:extLst xmlns:a="http://schemas.openxmlformats.org/drawingml/2006/main">
              <a:ext uri="{FF2B5EF4-FFF2-40B4-BE49-F238E27FC236}">
                <a16:creationId xmlns:a16="http://schemas.microsoft.com/office/drawing/2014/main" id="{126D069A-D494-4104-B6D8-17BE31A2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5" name="pre-required-title">
            <a:extLst xmlns:a="http://schemas.openxmlformats.org/drawingml/2006/main">
              <a:ext uri="{FF2B5EF4-FFF2-40B4-BE49-F238E27FC236}">
                <a16:creationId xmlns:a16="http://schemas.microsoft.com/office/drawing/2014/main" id="{2961AF13-40B7-463F-AD0E-08F92354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Saganowski et al. (2019) — Group Evolution Prediction in Complex Networks</a:t>
            </a:r>
          </a:p>
        </p:txBody>
      </p:sp>
      <p:sp>
        <p:nvSpPr>
          <p:cNvPr id="6" name="pre-required-purpose">
            <a:extLst xmlns:a="http://schemas.openxmlformats.org/drawingml/2006/main">
              <a:ext uri="{FF2B5EF4-FFF2-40B4-BE49-F238E27FC236}">
                <a16:creationId xmlns:a16="http://schemas.microsoft.com/office/drawing/2014/main" id="{9C783103-B4F2-4C05-B87E-1302C64E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article: multi-class prediction with repeated folds</a:t>
            </a:r>
          </a:p>
        </p:txBody>
      </p:sp>
      <p:sp>
        <p:nvSpPr>
          <p:cNvPr id="7" name="pre-required-url">
            <a:extLst xmlns:a="http://schemas.openxmlformats.org/drawingml/2006/main">
              <a:ext uri="{FF2B5EF4-FFF2-40B4-BE49-F238E27FC236}">
                <a16:creationId xmlns:a16="http://schemas.microsoft.com/office/drawing/2014/main" id="{8B2365AF-F503-446D-ABD5-914024CC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https://doi.org/10.1371/journal.pone.0224194</a:t>
            </a:r>
          </a:p>
        </p:txBody>
      </p:sp>
      <p:sp>
        <p:nvSpPr>
          <p:cNvPr id="8" name="pre-data-label">
            <a:extLst xmlns:a="http://schemas.openxmlformats.org/drawingml/2006/main">
              <a:ext uri="{FF2B5EF4-FFF2-40B4-BE49-F238E27FC236}">
                <a16:creationId xmlns:a16="http://schemas.microsoft.com/office/drawing/2014/main" id="{A274A759-95A1-4F2B-AECA-7BCD7152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9" name="pre-data-url">
            <a:extLst xmlns:a="http://schemas.openxmlformats.org/drawingml/2006/main">
              <a:ext uri="{FF2B5EF4-FFF2-40B4-BE49-F238E27FC236}">
                <a16:creationId xmlns:a16="http://schemas.microsoft.com/office/drawing/2014/main" id="{EC2548FD-5D96-4D4D-B158-1C8F6EFF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https://doi.org/10.7910/DVN/ONOFS7</a:t>
            </a:r>
          </a:p>
        </p:txBody>
      </p:sp>
      <p:sp>
        <p:nvSpPr>
          <p:cNvPr id="10" name="pre-bring-label">
            <a:extLst xmlns:a="http://schemas.openxmlformats.org/drawingml/2006/main">
              <a:ext uri="{FF2B5EF4-FFF2-40B4-BE49-F238E27FC236}">
                <a16:creationId xmlns:a16="http://schemas.microsoft.com/office/drawing/2014/main" id="{8B56A308-B6FA-457C-8A7C-658AD61C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BRING TO CLASS</a:t>
            </a:r>
          </a:p>
        </p:txBody>
      </p:sp>
      <p:sp>
        <p:nvSpPr>
          <p:cNvPr id="11" name="pre-bring-copy">
            <a:extLst xmlns:a="http://schemas.openxmlformats.org/drawingml/2006/main">
              <a:ext uri="{FF2B5EF4-FFF2-40B4-BE49-F238E27FC236}">
                <a16:creationId xmlns:a16="http://schemas.microsoft.com/office/drawing/2014/main" id="{3E497C03-40A1-4C6D-A587-2DCB24CF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Article annotated · package extracted · target result identified</a:t>
            </a:r>
          </a:p>
        </p:txBody>
      </p:sp>
      <p:sp>
        <p:nvSpPr>
          <p:cNvPr id="12" name="pre-annotation-bg">
            <a:extLst xmlns:a="http://schemas.openxmlformats.org/drawingml/2006/main">
              <a:ext uri="{FF2B5EF4-FFF2-40B4-BE49-F238E27FC236}">
                <a16:creationId xmlns:a16="http://schemas.microsoft.com/office/drawing/2014/main" id="{70BCED60-B7CA-4829-A8CC-B1771239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33550"/>
            <a:ext cx="40386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pre-annotation-title">
            <a:extLst xmlns:a="http://schemas.openxmlformats.org/drawingml/2006/main">
              <a:ext uri="{FF2B5EF4-FFF2-40B4-BE49-F238E27FC236}">
                <a16:creationId xmlns:a16="http://schemas.microsoft.com/office/drawing/2014/main" id="{71661471-7961-455B-B9DC-A8C73292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Annotate four things</a:t>
            </a:r>
          </a:p>
        </p:txBody>
      </p:sp>
      <p:sp>
        <p:nvSpPr>
          <p:cNvPr id="14" name="pre-annotation-num-0">
            <a:extLst xmlns:a="http://schemas.openxmlformats.org/drawingml/2006/main">
              <a:ext uri="{FF2B5EF4-FFF2-40B4-BE49-F238E27FC236}">
                <a16:creationId xmlns:a16="http://schemas.microsoft.com/office/drawing/2014/main" id="{D806F86E-E8E9-4FDC-A875-57FCC415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0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5" name="pre-annotation-item-0">
            <a:extLst xmlns:a="http://schemas.openxmlformats.org/drawingml/2006/main">
              <a:ext uri="{FF2B5EF4-FFF2-40B4-BE49-F238E27FC236}">
                <a16:creationId xmlns:a16="http://schemas.microsoft.com/office/drawing/2014/main" id="{7EF9C043-1AF5-4A06-9E1D-E0F9039A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622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research question</a:t>
            </a:r>
          </a:p>
        </p:txBody>
      </p:sp>
      <p:sp>
        <p:nvSpPr>
          <p:cNvPr id="16" name="pre-annotation-num-1">
            <a:extLst xmlns:a="http://schemas.openxmlformats.org/drawingml/2006/main">
              <a:ext uri="{FF2B5EF4-FFF2-40B4-BE49-F238E27FC236}">
                <a16:creationId xmlns:a16="http://schemas.microsoft.com/office/drawing/2014/main" id="{7E1D2183-DA9A-4D26-B1F3-D9452726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pre-annotation-item-1">
            <a:extLst xmlns:a="http://schemas.openxmlformats.org/drawingml/2006/main">
              <a:ext uri="{FF2B5EF4-FFF2-40B4-BE49-F238E27FC236}">
                <a16:creationId xmlns:a16="http://schemas.microsoft.com/office/drawing/2014/main" id="{E2242DD7-20D4-4408-89E0-0B850338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method or design</a:t>
            </a:r>
          </a:p>
        </p:txBody>
      </p:sp>
      <p:sp>
        <p:nvSpPr>
          <p:cNvPr id="18" name="pre-annotation-num-2">
            <a:extLst xmlns:a="http://schemas.openxmlformats.org/drawingml/2006/main">
              <a:ext uri="{FF2B5EF4-FFF2-40B4-BE49-F238E27FC236}">
                <a16:creationId xmlns:a16="http://schemas.microsoft.com/office/drawing/2014/main" id="{F5932BE3-8A64-44D6-B517-38255D33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pre-annotation-item-2">
            <a:extLst xmlns:a="http://schemas.openxmlformats.org/drawingml/2006/main">
              <a:ext uri="{FF2B5EF4-FFF2-40B4-BE49-F238E27FC236}">
                <a16:creationId xmlns:a16="http://schemas.microsoft.com/office/drawing/2014/main" id="{C84D51BF-8BE9-4223-A0C6-ED5259D1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95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strongest evidence</a:t>
            </a:r>
          </a:p>
        </p:txBody>
      </p:sp>
      <p:sp>
        <p:nvSpPr>
          <p:cNvPr id="20" name="pre-annotation-num-3">
            <a:extLst xmlns:a="http://schemas.openxmlformats.org/drawingml/2006/main">
              <a:ext uri="{FF2B5EF4-FFF2-40B4-BE49-F238E27FC236}">
                <a16:creationId xmlns:a16="http://schemas.microsoft.com/office/drawing/2014/main" id="{5A1A1652-A09C-4A61-A29C-EABD00FC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86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pre-annotation-item-3">
            <a:extLst xmlns:a="http://schemas.openxmlformats.org/drawingml/2006/main">
              <a:ext uri="{FF2B5EF4-FFF2-40B4-BE49-F238E27FC236}">
                <a16:creationId xmlns:a16="http://schemas.microsoft.com/office/drawing/2014/main" id="{E3CFDA3F-5AB7-42FD-A30B-8CF8D6CE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82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limitation or doubt</a:t>
            </a:r>
          </a:p>
        </p:txBody>
      </p:sp>
      <p:sp>
        <p:nvSpPr>
          <p:cNvPr id="2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1852723-7778-4183-9661-735D89DD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AA5C8CF-FB2C-4A9C-8A60-27AF6A22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2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B35E19B-862E-4C1E-81C9-7680A3C4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2</a:t>
            </a:r>
          </a:p>
        </p:txBody>
      </p:sp>
    </p:spTree>
    <p:extLst>
      <p:ext uri="{BB962C8B-B14F-4D97-AF65-F5344CB8AC3E}">
        <p14:creationId xmlns:p14="http://schemas.microsoft.com/office/powerpoint/2010/main" val="726895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A1EF6594-67E7-464F-B319-E24E9D48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READING GUIDE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7915AE-57C2-4CFA-B283-7B50474B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for the argument, not for coverage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172709AE-5E02-4654-A3FA-E16460C7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reading-status-0">
            <a:extLst xmlns:a="http://schemas.openxmlformats.org/drawingml/2006/main">
              <a:ext uri="{FF2B5EF4-FFF2-40B4-BE49-F238E27FC236}">
                <a16:creationId xmlns:a16="http://schemas.microsoft.com/office/drawing/2014/main" id="{733F753E-01E3-4276-9CCD-17D8A2FA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5" name="pre-reading-0">
            <a:extLst xmlns:a="http://schemas.openxmlformats.org/drawingml/2006/main">
              <a:ext uri="{FF2B5EF4-FFF2-40B4-BE49-F238E27FC236}">
                <a16:creationId xmlns:a16="http://schemas.microsoft.com/office/drawing/2014/main" id="{19AABC61-39C2-4BA7-AB4B-1CF195A4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Saganowski et al. (2019) — Group Evolution Prediction in Complex Networks</a:t>
            </a:r>
          </a:p>
        </p:txBody>
      </p:sp>
      <p:sp>
        <p:nvSpPr>
          <p:cNvPr id="6" name="pre-reading-why-0">
            <a:extLst xmlns:a="http://schemas.openxmlformats.org/drawingml/2006/main">
              <a:ext uri="{FF2B5EF4-FFF2-40B4-BE49-F238E27FC236}">
                <a16:creationId xmlns:a16="http://schemas.microsoft.com/office/drawing/2014/main" id="{2D7145D4-A4D0-43FB-94A0-E02B481E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article: multi-class prediction with repeated folds</a:t>
            </a:r>
          </a:p>
        </p:txBody>
      </p:sp>
      <p:sp>
        <p:nvSpPr>
          <p:cNvPr id="7" name="pre-reading-url-0">
            <a:extLst xmlns:a="http://schemas.openxmlformats.org/drawingml/2006/main">
              <a:ext uri="{FF2B5EF4-FFF2-40B4-BE49-F238E27FC236}">
                <a16:creationId xmlns:a16="http://schemas.microsoft.com/office/drawing/2014/main" id="{CF8F68ED-A322-40D7-91CC-AB960CBE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https://doi.org/10.1371/journal.pone.0224194</a:t>
            </a:r>
          </a:p>
        </p:txBody>
      </p:sp>
      <p:sp>
        <p:nvSpPr>
          <p:cNvPr id="8" name="pre-reading-status-1">
            <a:extLst xmlns:a="http://schemas.openxmlformats.org/drawingml/2006/main">
              <a:ext uri="{FF2B5EF4-FFF2-40B4-BE49-F238E27FC236}">
                <a16:creationId xmlns:a16="http://schemas.microsoft.com/office/drawing/2014/main" id="{73366BD2-EC92-4569-8FFA-B1ABB192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9" name="pre-reading-1">
            <a:extLst xmlns:a="http://schemas.openxmlformats.org/drawingml/2006/main">
              <a:ext uri="{FF2B5EF4-FFF2-40B4-BE49-F238E27FC236}">
                <a16:creationId xmlns:a16="http://schemas.microsoft.com/office/drawing/2014/main" id="{7668F9F1-8D20-4932-89AA-B43290B9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Harvard Dataverse 10.7910/DVN/ONOFS7</a:t>
            </a:r>
          </a:p>
        </p:txBody>
      </p:sp>
      <p:sp>
        <p:nvSpPr>
          <p:cNvPr id="10" name="pre-reading-why-1">
            <a:extLst xmlns:a="http://schemas.openxmlformats.org/drawingml/2006/main">
              <a:ext uri="{FF2B5EF4-FFF2-40B4-BE49-F238E27FC236}">
                <a16:creationId xmlns:a16="http://schemas.microsoft.com/office/drawing/2014/main" id="{490AB490-2A29-4046-866F-6A4FD718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replication package: public CSV folds from seven networks</a:t>
            </a:r>
          </a:p>
        </p:txBody>
      </p:sp>
      <p:sp>
        <p:nvSpPr>
          <p:cNvPr id="11" name="pre-reading-url-1">
            <a:extLst xmlns:a="http://schemas.openxmlformats.org/drawingml/2006/main">
              <a:ext uri="{FF2B5EF4-FFF2-40B4-BE49-F238E27FC236}">
                <a16:creationId xmlns:a16="http://schemas.microsoft.com/office/drawing/2014/main" id="{8C3DE33F-9673-4A00-AE0C-41745CFC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https://doi.org/10.7910/DVN/ONOFS7</a:t>
            </a:r>
          </a:p>
        </p:txBody>
      </p:sp>
      <p:sp>
        <p:nvSpPr>
          <p:cNvPr id="12" name="pre-reading-status-2">
            <a:extLst xmlns:a="http://schemas.openxmlformats.org/drawingml/2006/main">
              <a:ext uri="{FF2B5EF4-FFF2-40B4-BE49-F238E27FC236}">
                <a16:creationId xmlns:a16="http://schemas.microsoft.com/office/drawing/2014/main" id="{66649FF5-B3D9-402E-88A6-6443A64C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OPTIONAL · ISLR</a:t>
            </a:r>
          </a:p>
        </p:txBody>
      </p:sp>
      <p:sp>
        <p:nvSpPr>
          <p:cNvPr id="13" name="pre-reading-2">
            <a:extLst xmlns:a="http://schemas.openxmlformats.org/drawingml/2006/main">
              <a:ext uri="{FF2B5EF4-FFF2-40B4-BE49-F238E27FC236}">
                <a16:creationId xmlns:a16="http://schemas.microsoft.com/office/drawing/2014/main" id="{6860D8F5-2812-4A55-8395-18DB2C31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ISLR, classification chapter</a:t>
            </a:r>
          </a:p>
        </p:txBody>
      </p:sp>
      <p:sp>
        <p:nvSpPr>
          <p:cNvPr id="14" name="pre-reading-why-2">
            <a:extLst xmlns:a="http://schemas.openxmlformats.org/drawingml/2006/main">
              <a:ext uri="{FF2B5EF4-FFF2-40B4-BE49-F238E27FC236}">
                <a16:creationId xmlns:a16="http://schemas.microsoft.com/office/drawing/2014/main" id="{A7345194-2672-4247-8E6A-1214CEC1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Optional review of logistic regression and classification metrics</a:t>
            </a:r>
          </a:p>
        </p:txBody>
      </p:sp>
      <p:sp>
        <p:nvSpPr>
          <p:cNvPr id="15" name="pre-reading-url-2">
            <a:extLst xmlns:a="http://schemas.openxmlformats.org/drawingml/2006/main">
              <a:ext uri="{FF2B5EF4-FFF2-40B4-BE49-F238E27FC236}">
                <a16:creationId xmlns:a16="http://schemas.microsoft.com/office/drawing/2014/main" id="{D31B7998-1F29-4533-9311-2244A4FD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https://www.statlearning.com/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9F1811A-AC3D-4554-AACF-EB5431C1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2F7C665-E300-4845-B624-B6DB70C7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41798C0-5316-4647-B315-182986DB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3</a:t>
            </a:r>
          </a:p>
        </p:txBody>
      </p:sp>
    </p:spTree>
    <p:extLst>
      <p:ext uri="{BB962C8B-B14F-4D97-AF65-F5344CB8AC3E}">
        <p14:creationId xmlns:p14="http://schemas.microsoft.com/office/powerpoint/2010/main" val="9720444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5AB060B7-D8EE-4951-B54B-AD4A82A7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A25295-EB2E-4CFE-A492-40AFB4A2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Arrive able to use these words precisely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53D5E82-C3BF-44D2-B5F9-3327F6BD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term-0">
            <a:extLst xmlns:a="http://schemas.openxmlformats.org/drawingml/2006/main">
              <a:ext uri="{FF2B5EF4-FFF2-40B4-BE49-F238E27FC236}">
                <a16:creationId xmlns:a16="http://schemas.microsoft.com/office/drawing/2014/main" id="{87E37743-1EC4-40A1-B938-53D22973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Calibration</a:t>
            </a:r>
          </a:p>
        </p:txBody>
      </p:sp>
      <p:sp>
        <p:nvSpPr>
          <p:cNvPr id="5" name="pre-term-def-0">
            <a:extLst xmlns:a="http://schemas.openxmlformats.org/drawingml/2006/main">
              <a:ext uri="{FF2B5EF4-FFF2-40B4-BE49-F238E27FC236}">
                <a16:creationId xmlns:a16="http://schemas.microsoft.com/office/drawing/2014/main" id="{5D028AA8-4E0E-4CED-9C05-1867BF48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1450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Predicted probabilities match observed frequencies.</a:t>
            </a:r>
          </a:p>
        </p:txBody>
      </p:sp>
      <p:sp>
        <p:nvSpPr>
          <p:cNvPr id="6" name="rule-48-272">
            <a:extLst xmlns:a="http://schemas.openxmlformats.org/drawingml/2006/main">
              <a:ext uri="{FF2B5EF4-FFF2-40B4-BE49-F238E27FC236}">
                <a16:creationId xmlns:a16="http://schemas.microsoft.com/office/drawing/2014/main" id="{AF0703AA-59C4-4020-A33E-5F44735F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e-term-1">
            <a:extLst xmlns:a="http://schemas.openxmlformats.org/drawingml/2006/main">
              <a:ext uri="{FF2B5EF4-FFF2-40B4-BE49-F238E27FC236}">
                <a16:creationId xmlns:a16="http://schemas.microsoft.com/office/drawing/2014/main" id="{C00C74BD-21F6-446D-957D-3E9FA1B5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Discrimination</a:t>
            </a:r>
          </a:p>
        </p:txBody>
      </p:sp>
      <p:sp>
        <p:nvSpPr>
          <p:cNvPr id="8" name="pre-term-def-1">
            <a:extLst xmlns:a="http://schemas.openxmlformats.org/drawingml/2006/main">
              <a:ext uri="{FF2B5EF4-FFF2-40B4-BE49-F238E27FC236}">
                <a16:creationId xmlns:a16="http://schemas.microsoft.com/office/drawing/2014/main" id="{B6B5EC16-383D-4061-BB0C-0F1591D9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model ranks positives above negatives.</a:t>
            </a:r>
          </a:p>
        </p:txBody>
      </p:sp>
      <p:sp>
        <p:nvSpPr>
          <p:cNvPr id="9" name="rule-48-402">
            <a:extLst xmlns:a="http://schemas.openxmlformats.org/drawingml/2006/main">
              <a:ext uri="{FF2B5EF4-FFF2-40B4-BE49-F238E27FC236}">
                <a16:creationId xmlns:a16="http://schemas.microsoft.com/office/drawing/2014/main" id="{9B85E8D4-DB07-43B2-8C6A-07D72A57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e-term-2">
            <a:extLst xmlns:a="http://schemas.openxmlformats.org/drawingml/2006/main">
              <a:ext uri="{FF2B5EF4-FFF2-40B4-BE49-F238E27FC236}">
                <a16:creationId xmlns:a16="http://schemas.microsoft.com/office/drawing/2014/main" id="{EE4EED8D-12F9-426B-A490-BA23D3E6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Threshold</a:t>
            </a:r>
          </a:p>
        </p:txBody>
      </p:sp>
      <p:sp>
        <p:nvSpPr>
          <p:cNvPr id="11" name="pre-term-def-2">
            <a:extLst xmlns:a="http://schemas.openxmlformats.org/drawingml/2006/main">
              <a:ext uri="{FF2B5EF4-FFF2-40B4-BE49-F238E27FC236}">
                <a16:creationId xmlns:a16="http://schemas.microsoft.com/office/drawing/2014/main" id="{C986DDF9-35DA-4850-B2C8-AF7C0E82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9100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point where probability becomes an action.</a:t>
            </a:r>
          </a:p>
        </p:txBody>
      </p:sp>
      <p:sp>
        <p:nvSpPr>
          <p:cNvPr id="12" name="rule-48-532">
            <a:extLst xmlns:a="http://schemas.openxmlformats.org/drawingml/2006/main">
              <a:ext uri="{FF2B5EF4-FFF2-40B4-BE49-F238E27FC236}">
                <a16:creationId xmlns:a16="http://schemas.microsoft.com/office/drawing/2014/main" id="{6F695329-1A1F-4710-A396-B6AEC6AC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DA640DB-271E-401A-8E9C-0BD82F4D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6F45887-AFC7-42FD-BB91-8FBD213D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5AF8A25-420A-4EF9-B4D1-1D2D04E7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4</a:t>
            </a:r>
          </a:p>
        </p:txBody>
      </p:sp>
    </p:spTree>
    <p:extLst>
      <p:ext uri="{BB962C8B-B14F-4D97-AF65-F5344CB8AC3E}">
        <p14:creationId xmlns:p14="http://schemas.microsoft.com/office/powerpoint/2010/main" val="1755560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3EACCCBB-28C2-45F7-AB3E-BAE2B700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REPLICATION PACKAGE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60C19C-A1A2-46E1-93D7-4BFC9DE0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 the data before class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C5FFB63-766D-4EBF-95F1-83871A84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ata-doi-label">
            <a:extLst xmlns:a="http://schemas.openxmlformats.org/drawingml/2006/main">
              <a:ext uri="{FF2B5EF4-FFF2-40B4-BE49-F238E27FC236}">
                <a16:creationId xmlns:a16="http://schemas.microsoft.com/office/drawing/2014/main" id="{11DCE40C-EE78-44DA-803A-88D1CF33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HARVARD DATAVERSE</a:t>
            </a:r>
          </a:p>
        </p:txBody>
      </p:sp>
      <p:sp>
        <p:nvSpPr>
          <p:cNvPr id="5" name="data-doi">
            <a:extLst xmlns:a="http://schemas.openxmlformats.org/drawingml/2006/main">
              <a:ext uri="{FF2B5EF4-FFF2-40B4-BE49-F238E27FC236}">
                <a16:creationId xmlns:a16="http://schemas.microsoft.com/office/drawing/2014/main" id="{6309779E-4F0C-4A81-B350-6C8CC6D7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10.7910/DVN/ONOFS7</a:t>
            </a:r>
          </a:p>
        </p:txBody>
      </p:sp>
      <p:sp>
        <p:nvSpPr>
          <p:cNvPr id="6" name="data-copy">
            <a:extLst xmlns:a="http://schemas.openxmlformats.org/drawingml/2006/main">
              <a:ext uri="{FF2B5EF4-FFF2-40B4-BE49-F238E27FC236}">
                <a16:creationId xmlns:a16="http://schemas.microsoft.com/office/drawing/2014/main" id="{246ED534-1D3F-48CE-B186-E43F82D8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 one IrvineMessages fold pair before class; the full 28-dataset collection is optional.</a:t>
            </a:r>
          </a:p>
        </p:txBody>
      </p:sp>
      <p:sp>
        <p:nvSpPr>
          <p:cNvPr id="7" name="data-path-label">
            <a:extLst xmlns:a="http://schemas.openxmlformats.org/drawingml/2006/main">
              <a:ext uri="{FF2B5EF4-FFF2-40B4-BE49-F238E27FC236}">
                <a16:creationId xmlns:a16="http://schemas.microsoft.com/office/drawing/2014/main" id="{3B3860C3-13B9-49CC-93EF-EA34ADA4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EXTRACT TO</a:t>
            </a:r>
          </a:p>
        </p:txBody>
      </p:sp>
      <p:sp>
        <p:nvSpPr>
          <p:cNvPr id="8" name="data-path">
            <a:extLst xmlns:a="http://schemas.openxmlformats.org/drawingml/2006/main">
              <a:ext uri="{FF2B5EF4-FFF2-40B4-BE49-F238E27FC236}">
                <a16:creationId xmlns:a16="http://schemas.microsoft.com/office/drawing/2014/main" id="{598C0B01-A26E-4CB4-A8F5-22511CDB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Desktop/quantitative-methods/06-classification-logistic-and-penalised/data/replication/</a:t>
            </a:r>
          </a:p>
        </p:txBody>
      </p:sp>
      <p:cxnSp>
        <p:nvCxnSpPr>
          <p:cNvPr id="28" name="workflow-edge-0"/>
          <p:cNvCxnSpPr/>
          <p:nvPr/>
        </p:nvCxnSpPr>
        <p:spPr>
          <a:xfrm xmlns:a="http://schemas.openxmlformats.org/drawingml/2006/main">
            <a:off x="8489950" y="35718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9" name="workflow-edge-1"/>
          <p:cNvCxnSpPr/>
          <p:nvPr/>
        </p:nvCxnSpPr>
        <p:spPr>
          <a:xfrm xmlns:a="http://schemas.openxmlformats.org/drawingml/2006/main">
            <a:off x="9912350" y="35718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1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E61366D-FF4B-4E7F-8497-C43AE949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FA2DAA41-314D-4217-818C-0168918A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</a:t>
            </a:r>
          </a:p>
        </p:txBody>
      </p:sp>
      <p:sp>
        <p:nvSpPr>
          <p:cNvPr id="13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91E5B4D7-BEB3-40C6-8777-1F8379EB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CA88DD3E-E97E-44FD-8367-97C8024A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Extract</a:t>
            </a:r>
          </a:p>
        </p:txBody>
      </p:sp>
      <p:sp>
        <p:nvSpPr>
          <p:cNvPr id="15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1317F96-FA40-44E3-A244-3EB4470E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55681970-E96F-4DCE-8D2E-701A7AED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locally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263CBD6-276A-4293-99D0-3110D724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CC94DAC-58C1-4AD2-9213-91191DAD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E69915A-D166-4F46-B7E5-DBB0B3F4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5</a:t>
            </a:r>
          </a:p>
        </p:txBody>
      </p:sp>
    </p:spTree>
    <p:extLst>
      <p:ext uri="{BB962C8B-B14F-4D97-AF65-F5344CB8AC3E}">
        <p14:creationId xmlns:p14="http://schemas.microsoft.com/office/powerpoint/2010/main" val="16018424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C731EE77-46FC-4D81-BB44-2542D00B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SELF-CHECK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7285EC-18E9-4534-AD1B-ACDF19A3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Answer on paper before class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CCE19F3-9E24-48D4-BB43-9FEA4517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num-0">
            <a:extLst xmlns:a="http://schemas.openxmlformats.org/drawingml/2006/main">
              <a:ext uri="{FF2B5EF4-FFF2-40B4-BE49-F238E27FC236}">
                <a16:creationId xmlns:a16="http://schemas.microsoft.com/office/drawing/2014/main" id="{083EAC8D-8DF6-44D4-8B49-56D33CD2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question-0">
            <a:extLst xmlns:a="http://schemas.openxmlformats.org/drawingml/2006/main">
              <a:ext uri="{FF2B5EF4-FFF2-40B4-BE49-F238E27FC236}">
                <a16:creationId xmlns:a16="http://schemas.microsoft.com/office/drawing/2014/main" id="{19FF56EC-A06B-47D2-A5F7-527085A6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can accuracy lie?</a:t>
            </a:r>
          </a:p>
        </p:txBody>
      </p:sp>
      <p:sp>
        <p:nvSpPr>
          <p:cNvPr id="6" name="rule-138-274">
            <a:extLst xmlns:a="http://schemas.openxmlformats.org/drawingml/2006/main">
              <a:ext uri="{FF2B5EF4-FFF2-40B4-BE49-F238E27FC236}">
                <a16:creationId xmlns:a16="http://schemas.microsoft.com/office/drawing/2014/main" id="{246D9298-4D17-44E1-98B6-59435F5C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num-1">
            <a:extLst xmlns:a="http://schemas.openxmlformats.org/drawingml/2006/main">
              <a:ext uri="{FF2B5EF4-FFF2-40B4-BE49-F238E27FC236}">
                <a16:creationId xmlns:a16="http://schemas.microsoft.com/office/drawing/2014/main" id="{BBC16B45-9F6E-4255-86B9-140A3EF7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FF2F6641-6350-4504-8C09-0684B0F2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does an odds ratio say?</a:t>
            </a:r>
          </a:p>
        </p:txBody>
      </p:sp>
      <p:sp>
        <p:nvSpPr>
          <p:cNvPr id="9" name="rule-138-406">
            <a:extLst xmlns:a="http://schemas.openxmlformats.org/drawingml/2006/main">
              <a:ext uri="{FF2B5EF4-FFF2-40B4-BE49-F238E27FC236}">
                <a16:creationId xmlns:a16="http://schemas.microsoft.com/office/drawing/2014/main" id="{73416740-6716-44E2-AE1E-C805384E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671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uestion-num-2">
            <a:extLst xmlns:a="http://schemas.openxmlformats.org/drawingml/2006/main">
              <a:ext uri="{FF2B5EF4-FFF2-40B4-BE49-F238E27FC236}">
                <a16:creationId xmlns:a16="http://schemas.microsoft.com/office/drawing/2014/main" id="{24069B85-70D2-499E-B97F-B410D95B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question-2">
            <a:extLst xmlns:a="http://schemas.openxmlformats.org/drawingml/2006/main">
              <a:ext uri="{FF2B5EF4-FFF2-40B4-BE49-F238E27FC236}">
                <a16:creationId xmlns:a16="http://schemas.microsoft.com/office/drawing/2014/main" id="{407535F4-43E8-4DA5-9D04-50073A4B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How do costs move the threshold?</a:t>
            </a:r>
          </a:p>
        </p:txBody>
      </p:sp>
      <p:sp>
        <p:nvSpPr>
          <p:cNvPr id="12" name="rule-138-538">
            <a:extLst xmlns:a="http://schemas.openxmlformats.org/drawingml/2006/main">
              <a:ext uri="{FF2B5EF4-FFF2-40B4-BE49-F238E27FC236}">
                <a16:creationId xmlns:a16="http://schemas.microsoft.com/office/drawing/2014/main" id="{6D870ABD-8655-47FB-9D23-E943A9B3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C658C6A-96E1-41C2-B2BF-976693CD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3497C9C-65F2-4A99-A8C9-21C397B8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9E4BD42-CB1D-4318-90E8-058654C0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6</a:t>
            </a:r>
          </a:p>
        </p:txBody>
      </p:sp>
    </p:spTree>
    <p:extLst>
      <p:ext uri="{BB962C8B-B14F-4D97-AF65-F5344CB8AC3E}">
        <p14:creationId xmlns:p14="http://schemas.microsoft.com/office/powerpoint/2010/main" val="3559109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ady-kicker">
            <a:extLst xmlns:a="http://schemas.openxmlformats.org/drawingml/2006/main">
              <a:ext uri="{FF2B5EF4-FFF2-40B4-BE49-F238E27FC236}">
                <a16:creationId xmlns:a16="http://schemas.microsoft.com/office/drawing/2014/main" id="{2773C98D-78C4-463C-8A34-E80EE427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PRE-SESSION · READY CHECK</a:t>
            </a:r>
          </a:p>
        </p:txBody>
      </p:sp>
      <p:sp>
        <p:nvSpPr>
          <p:cNvPr id="2" name="ready-title">
            <a:extLst xmlns:a="http://schemas.openxmlformats.org/drawingml/2006/main">
              <a:ext uri="{FF2B5EF4-FFF2-40B4-BE49-F238E27FC236}">
                <a16:creationId xmlns:a16="http://schemas.microsoft.com/office/drawing/2014/main" id="{2B752012-4A9A-4556-B58E-72667D9B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Ready for Session 06?</a:t>
            </a:r>
          </a:p>
        </p:txBody>
      </p:sp>
      <p:sp>
        <p:nvSpPr>
          <p:cNvPr id="3" name="ready-box-0">
            <a:extLst xmlns:a="http://schemas.openxmlformats.org/drawingml/2006/main">
              <a:ext uri="{FF2B5EF4-FFF2-40B4-BE49-F238E27FC236}">
                <a16:creationId xmlns:a16="http://schemas.microsoft.com/office/drawing/2014/main" id="{A7CA2F39-6B5E-4C42-84DB-E6E1314A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4" name="ready-item-0">
            <a:extLst xmlns:a="http://schemas.openxmlformats.org/drawingml/2006/main">
              <a:ext uri="{FF2B5EF4-FFF2-40B4-BE49-F238E27FC236}">
                <a16:creationId xmlns:a16="http://schemas.microsoft.com/office/drawing/2014/main" id="{7910FAC9-E2CE-4291-83F8-A81C13D0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Article annotated</a:t>
            </a:r>
          </a:p>
        </p:txBody>
      </p:sp>
      <p:sp>
        <p:nvSpPr>
          <p:cNvPr id="5" name="ready-box-1">
            <a:extLst xmlns:a="http://schemas.openxmlformats.org/drawingml/2006/main">
              <a:ext uri="{FF2B5EF4-FFF2-40B4-BE49-F238E27FC236}">
                <a16:creationId xmlns:a16="http://schemas.microsoft.com/office/drawing/2014/main" id="{6DF7C718-C118-41FF-9DC0-EF56E7FF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6" name="ready-item-1">
            <a:extLst xmlns:a="http://schemas.openxmlformats.org/drawingml/2006/main">
              <a:ext uri="{FF2B5EF4-FFF2-40B4-BE49-F238E27FC236}">
                <a16:creationId xmlns:a16="http://schemas.microsoft.com/office/drawing/2014/main" id="{0C2BE45A-5E8C-4722-8355-80E48E2B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Dataverse package extracted</a:t>
            </a:r>
          </a:p>
        </p:txBody>
      </p:sp>
      <p:sp>
        <p:nvSpPr>
          <p:cNvPr id="7" name="ready-box-2">
            <a:extLst xmlns:a="http://schemas.openxmlformats.org/drawingml/2006/main">
              <a:ext uri="{FF2B5EF4-FFF2-40B4-BE49-F238E27FC236}">
                <a16:creationId xmlns:a16="http://schemas.microsoft.com/office/drawing/2014/main" id="{D949FACE-0565-45BE-B866-C415FE8C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8" name="ready-item-2">
            <a:extLst xmlns:a="http://schemas.openxmlformats.org/drawingml/2006/main">
              <a:ext uri="{FF2B5EF4-FFF2-40B4-BE49-F238E27FC236}">
                <a16:creationId xmlns:a16="http://schemas.microsoft.com/office/drawing/2014/main" id="{2E62B55F-879D-4A61-83DC-E298A6B4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Target result located</a:t>
            </a:r>
          </a:p>
        </p:txBody>
      </p:sp>
      <p:sp>
        <p:nvSpPr>
          <p:cNvPr id="9" name="ready-box-3">
            <a:extLst xmlns:a="http://schemas.openxmlformats.org/drawingml/2006/main">
              <a:ext uri="{FF2B5EF4-FFF2-40B4-BE49-F238E27FC236}">
                <a16:creationId xmlns:a16="http://schemas.microsoft.com/office/drawing/2014/main" id="{6F523B4D-C084-4F69-AD8D-DCA1AABF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0" name="ready-item-3">
            <a:extLst xmlns:a="http://schemas.openxmlformats.org/drawingml/2006/main">
              <a:ext uri="{FF2B5EF4-FFF2-40B4-BE49-F238E27FC236}">
                <a16:creationId xmlns:a16="http://schemas.microsoft.com/office/drawing/2014/main" id="{8035CF3E-30C9-45E7-B5E3-E9C2322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Self-check attempted</a:t>
            </a:r>
          </a:p>
        </p:txBody>
      </p:sp>
      <p:sp>
        <p:nvSpPr>
          <p:cNvPr id="11" name="ready-box-4">
            <a:extLst xmlns:a="http://schemas.openxmlformats.org/drawingml/2006/main">
              <a:ext uri="{FF2B5EF4-FFF2-40B4-BE49-F238E27FC236}">
                <a16:creationId xmlns:a16="http://schemas.microsoft.com/office/drawing/2014/main" id="{65D34CD0-5C0B-46BA-8EC8-33A22E1D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2" name="ready-item-4">
            <a:extLst xmlns:a="http://schemas.openxmlformats.org/drawingml/2006/main">
              <a:ext uri="{FF2B5EF4-FFF2-40B4-BE49-F238E27FC236}">
                <a16:creationId xmlns:a16="http://schemas.microsoft.com/office/drawing/2014/main" id="{ECF654F7-8EF5-4802-8004-6AF78C16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question ready</a:t>
            </a:r>
          </a:p>
        </p:txBody>
      </p:sp>
      <p:sp>
        <p:nvSpPr>
          <p:cNvPr id="13" name="ready-question">
            <a:extLst xmlns:a="http://schemas.openxmlformats.org/drawingml/2006/main">
              <a:ext uri="{FF2B5EF4-FFF2-40B4-BE49-F238E27FC236}">
                <a16:creationId xmlns:a16="http://schemas.microsoft.com/office/drawing/2014/main" id="{FE5D43E6-4E28-43F3-8CED-675101E4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31051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Your classifier is 97% accurate. Should anyone be impressed?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65B809A-429A-48E1-95AC-91FD2A6D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260D639-1F0F-4DAD-BC69-9AB6893F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06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22E4937-5561-47E9-AC22-C7383FBC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Pre-session · 7</a:t>
            </a:r>
          </a:p>
        </p:txBody>
      </p:sp>
    </p:spTree>
    <p:extLst>
      <p:ext uri="{BB962C8B-B14F-4D97-AF65-F5344CB8AC3E}">
        <p14:creationId xmlns:p14="http://schemas.microsoft.com/office/powerpoint/2010/main" val="861627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2026-08-23T21:43:00.3760000Z</dcterms:created>
  <dcterms:modified xsi:type="dcterms:W3CDTF">2026-08-23T21:43:00.3760000Z</dcterms:modified>
</coreProperties>
</file>