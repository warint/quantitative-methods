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3" Type="http://schemas.openxmlformats.org/officeDocument/2006/relationships/viewProps" Target="viewProps.xml" /><Relationship Id="rId5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5" Type="http://schemas.openxmlformats.org/officeDocument/2006/relationships/tableStyles" Target="tableStyles.xml" /><Relationship Id="rId5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 anchor="t"/>
          <a:lstStyle>
            <a:lvl1pPr algn="l">
              <a:defRPr sz="28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50000"/>
            <a:ext cx="7772400" cy="700000"/>
          </a:xfrm>
        </p:spPr>
        <p:txBody>
          <a:bodyPr anchor="b"/>
          <a:lstStyle>
            <a:lvl1pPr marL="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00"/>
            </a:lvl2pPr>
            <a:lvl3pPr marL="685800" indent="0">
              <a:buNone/>
              <a:defRPr sz="1100"/>
            </a:lvl3pPr>
            <a:lvl4pPr marL="1028700" indent="0">
              <a:buNone/>
              <a:defRPr sz="950"/>
            </a:lvl4pPr>
            <a:lvl5pPr marL="1371600" indent="0">
              <a:buNone/>
              <a:defRPr sz="950"/>
            </a:lvl5pPr>
            <a:lvl6pPr marL="1714500" indent="0">
              <a:buNone/>
              <a:defRPr sz="950"/>
            </a:lvl6pPr>
            <a:lvl7pPr marL="2057400" indent="0">
              <a:buNone/>
              <a:defRPr sz="950"/>
            </a:lvl7pPr>
            <a:lvl8pPr marL="2400300" indent="0">
              <a:buNone/>
              <a:defRPr sz="950"/>
            </a:lvl8pPr>
            <a:lvl9pPr marL="2743200" indent="0">
              <a:buNone/>
              <a:defRPr sz="9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uthor Footer"/>
          <p:cNvSpPr txBox="1"/>
          <p:nvPr/>
        </p:nvSpPr>
        <p:spPr>
          <a:xfrm>
            <a:off x="457200" y="4735000"/>
            <a:ext cx="50000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l"/>
            <a:r>
              <a:rPr dirty="0" lang="en-US" sz="900">
                <a:solidFill>
                  <a:srgbClr val="6E7275"/>
                </a:solidFill>
                <a:latin typeface="+mn-lt"/>
              </a:rPr>
              <a:t>Thierry Warin, PhD</a:t>
            </a:r>
          </a:p>
        </p:txBody>
      </p:sp>
      <p:sp>
        <p:nvSpPr>
          <p:cNvPr id="8" name="Slide Number Footer"/>
          <p:cNvSpPr txBox="1"/>
          <p:nvPr/>
        </p:nvSpPr>
        <p:spPr>
          <a:xfrm>
            <a:off x="7200000" y="4735000"/>
            <a:ext cx="14868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r"/>
            <a:fld id="{9B1A2C3D-4E5F-6A7B-8C9D-0E1F2A3B4C5D}" type="slidenum">
              <a:rPr dirty="0" lang="en-US" sz="900">
                <a:solidFill>
                  <a:srgbClr val="6E7275"/>
                </a:solidFill>
                <a:latin typeface="+mn-lt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3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1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9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9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1-lecture/README.md" TargetMode="External" /><Relationship Id="rId3" Type="http://schemas.openxmlformats.org/officeDocument/2006/relationships/hyperlink" Target="02-practice/README.m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Classification: Logistic Regression and the Decision Threshold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06 · Lecture, first half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21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Your classifier is 97% accurate. Should anyone be impressed?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 we are, and what this adds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 example: Lending Club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a straight line fails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logistic curve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Reading the output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accuracy lies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threshold is an economic choice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second example: Portugal’s red wines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takeaways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the end you should be able to:</a:t>
            </a:r>
          </a:p>
          <a:p>
            <a:pPr lvl="0"/>
            <a:r>
              <a:rPr/>
              <a:t>Say </a:t>
            </a:r>
            <a:r>
              <a:rPr b="1"/>
              <a:t>why</a:t>
            </a:r>
            <a:r>
              <a:rPr/>
              <a:t> a linear model cannot support a binary decision, and show it on a plot</a:t>
            </a:r>
          </a:p>
          <a:p>
            <a:pPr lvl="0"/>
            <a:r>
              <a:rPr/>
              <a:t>Fit a logistic regression in Python and report an </a:t>
            </a:r>
            <a:r>
              <a:rPr b="1"/>
              <a:t>odds ratio</a:t>
            </a:r>
            <a:r>
              <a:rPr/>
              <a:t> and an </a:t>
            </a:r>
            <a:r>
              <a:rPr b="1"/>
              <a:t>average marginal effect</a:t>
            </a:r>
          </a:p>
          <a:p>
            <a:pPr lvl="0"/>
            <a:r>
              <a:rPr/>
              <a:t>Explain why </a:t>
            </a:r>
            <a:r>
              <a:rPr b="1"/>
              <a:t>accuracy</a:t>
            </a:r>
            <a:r>
              <a:rPr/>
              <a:t> is the wrong metric under imbalance, and what to use instead</a:t>
            </a:r>
          </a:p>
          <a:p>
            <a:pPr lvl="0"/>
            <a:r>
              <a:rPr/>
              <a:t>Derive the cost-optimal </a:t>
            </a:r>
            <a:r>
              <a:rPr b="1"/>
              <a:t>threshold</a:t>
            </a:r>
            <a:r>
              <a:rPr/>
              <a:t>, and defend the cost ratio behind it</a:t>
            </a:r>
          </a:p>
          <a:p>
            <a:pPr lvl="0"/>
            <a:r>
              <a:rPr/>
              <a:t>Recognise </a:t>
            </a:r>
            <a:r>
              <a:rPr b="1"/>
              <a:t>miscalibration</a:t>
            </a:r>
            <a:r>
              <a:rPr/>
              <a:t>, and why it breaks a cost calculation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 · What this adds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we have got to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you could do afterwards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Fit a line, and know what “controlling for” means geometrically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Attach an honest standard error to 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Say whether it will hold on data you have not seen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Handle more predictors than you can defend individually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four assume the thing you are predicting is a </a:t>
            </a:r>
            <a:r>
              <a:rPr b="1"/>
              <a:t>number</a:t>
            </a:r>
            <a:r>
              <a:rPr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changes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outcome is a </a:t>
            </a:r>
            <a:r>
              <a:rPr b="1"/>
              <a:t>yes or no</a:t>
            </a:r>
            <a:r>
              <a:rPr/>
              <a:t>, and somebody has to </a:t>
            </a:r>
            <a:r>
              <a:rPr b="1"/>
              <a:t>act</a:t>
            </a:r>
            <a:r>
              <a:rPr/>
              <a:t> on it.</a:t>
            </a:r>
          </a:p>
          <a:p>
            <a:pPr lvl="0" indent="0" marL="0">
              <a:buNone/>
            </a:pPr>
            <a:r>
              <a:rPr/>
              <a:t>That second half is new. Sessions 02–05 end with an estimate. This session ends with a </a:t>
            </a:r>
            <a:r>
              <a:rPr b="1"/>
              <a:t>decision</a:t>
            </a:r>
            <a:r>
              <a:rPr/>
              <a:t> — fund the loan or refuse it — and a decision needs something none of the earlier methods supplied: a </a:t>
            </a:r>
            <a:r>
              <a:rPr b="1"/>
              <a:t>threshold</a:t>
            </a:r>
            <a:r>
              <a:rPr/>
              <a:t>, which comes from economics, not from the data.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one-sentence 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Sessions 02–05 taught you to produce a number. </a:t>
            </a:r>
            <a:r>
              <a:rPr sz="2000" b="1"/>
              <a:t>Session 06 is the first time the number has to become an action.</a:t>
            </a:r>
          </a:p>
          <a:p>
            <a:pPr lvl="0" indent="0" marL="0">
              <a:buNone/>
            </a:pPr>
            <a:r>
              <a:rPr/>
              <a:t>Everything awkward in this session follows from that step — and almost every applied mistake comes from taking it without noticing.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 · An example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Lending Club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peer-to-peer marketplace: individuals lend to individuals, and the platform prices the risk.</a:t>
            </a:r>
          </a:p>
          <a:p>
            <a:pPr lvl="0"/>
            <a:r>
              <a:rPr b="1"/>
              <a:t>9,578</a:t>
            </a:r>
            <a:r>
              <a:rPr/>
              <a:t> three-year loans funded through LendingClub.com</a:t>
            </a:r>
          </a:p>
          <a:p>
            <a:pPr lvl="0"/>
            <a:r>
              <a:rPr b="1"/>
              <a:t>May 2007 – February 2010</a:t>
            </a:r>
          </a:p>
          <a:p>
            <a:pPr lvl="0"/>
            <a:r>
              <a:rPr/>
              <a:t>Outcome: the loan was </a:t>
            </a:r>
            <a:r>
              <a:rPr b="1"/>
              <a:t>not fully repaid</a:t>
            </a:r>
            <a:r>
              <a:rPr/>
              <a:t> — default, or charged off</a:t>
            </a:r>
          </a:p>
          <a:p>
            <a:pPr lvl="0" indent="0" marL="1270000">
              <a:buNone/>
            </a:pPr>
            <a:r>
              <a:rPr sz="2000" b="1"/>
              <a:t>The question a lender actually has:</a:t>
            </a:r>
            <a:r>
              <a:rPr sz="2000"/>
              <a:t> </a:t>
            </a:r>
            <a:r>
              <a:rPr sz="2000" i="1"/>
              <a:t>which of these applications should I fund?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 the data, once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VS Codium terminal</a:t>
            </a:r>
          </a:p>
          <a:p>
            <a:pPr lvl="0" indent="0">
              <a:buNone/>
            </a:pPr>
            <a:r>
              <a:rPr>
                <a:latin typeface="Courier"/>
              </a:rPr>
              <a:t>python scripts/fetch_teaching_data.py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pandas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pd</a:t>
            </a:r>
            <a:br/>
            <a:r>
              <a:rPr>
                <a:latin typeface="Courier"/>
              </a:rPr>
              <a:t>loans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pd.read_parquet(</a:t>
            </a:r>
            <a:r>
              <a:rPr>
                <a:solidFill>
                  <a:srgbClr val="4070A0"/>
                </a:solidFill>
                <a:latin typeface="Courier"/>
              </a:rPr>
              <a:t>"data/loans.parquet"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The script downloads, tidies the R-style column names (</a:t>
            </a:r>
            <a:r>
              <a:rPr>
                <a:latin typeface="Courier"/>
              </a:rPr>
              <a:t>not.fully.paid</a:t>
            </a:r>
            <a:r>
              <a:rPr/>
              <a:t> → </a:t>
            </a:r>
            <a:r>
              <a:rPr>
                <a:latin typeface="Courier"/>
              </a:rPr>
              <a:t>default</a:t>
            </a:r>
            <a:r>
              <a:rPr/>
              <a:t>) and caches to parquet. </a:t>
            </a:r>
            <a:r>
              <a:rPr b="1"/>
              <a:t>Run it once.</a:t>
            </a:r>
            <a:r>
              <a:rPr/>
              <a:t> Nothing else in the course touches the network.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Look before you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loans[</a:t>
            </a:r>
            <a:r>
              <a:rPr>
                <a:solidFill>
                  <a:srgbClr val="4070A0"/>
                </a:solidFill>
                <a:latin typeface="Courier"/>
              </a:rPr>
              <a:t>"default"</a:t>
            </a:r>
            <a:r>
              <a:rPr>
                <a:latin typeface="Courier"/>
              </a:rPr>
              <a:t>].mean()          </a:t>
            </a:r>
            <a:r>
              <a:rPr i="1">
                <a:solidFill>
                  <a:srgbClr val="60A0B0"/>
                </a:solidFill>
                <a:latin typeface="Courier"/>
              </a:rPr>
              <a:t># 0.160</a:t>
            </a:r>
            <a:br/>
            <a:r>
              <a:rPr>
                <a:latin typeface="Courier"/>
              </a:rPr>
              <a:t>loans[</a:t>
            </a:r>
            <a:r>
              <a:rPr>
                <a:solidFill>
                  <a:srgbClr val="4070A0"/>
                </a:solidFill>
                <a:latin typeface="Courier"/>
              </a:rPr>
              <a:t>"purpose"</a:t>
            </a:r>
            <a:r>
              <a:rPr>
                <a:latin typeface="Courier"/>
              </a:rPr>
              <a:t>].value_counts()  </a:t>
            </a:r>
            <a:r>
              <a:rPr i="1">
                <a:solidFill>
                  <a:srgbClr val="60A0B0"/>
                </a:solidFill>
                <a:latin typeface="Courier"/>
              </a:rPr>
              <a:t># 7 categories</a:t>
            </a:r>
          </a:p>
        </p:txBody>
      </p:sp>
      <p:pic>
        <p:nvPicPr>
          <p:cNvPr descr="slides_files/figure-pptx/cell-3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38300"/>
            <a:ext cx="5105400" cy="152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16% default.</a:t>
            </a:r>
            <a:r>
              <a:rPr/>
              <a:t> Hold that number — section 6 turns on it.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3 · Why a straight line fails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Try it anyway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Regress the 0/1 outcome on FICO by ordinary least squares — the Session 02 estimator, unchanged.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statsmodels.api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sm</a:t>
            </a:r>
            <a:br/>
            <a:r>
              <a:rPr>
                <a:latin typeface="Courier"/>
              </a:rPr>
              <a:t>X  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sm.add_constant(loans[[</a:t>
            </a:r>
            <a:r>
              <a:rPr>
                <a:solidFill>
                  <a:srgbClr val="4070A0"/>
                </a:solidFill>
                <a:latin typeface="Courier"/>
              </a:rPr>
              <a:t>"fico"</a:t>
            </a:r>
            <a:r>
              <a:rPr>
                <a:latin typeface="Courier"/>
              </a:rPr>
              <a:t>]])</a:t>
            </a:r>
            <a:br/>
            <a:r>
              <a:rPr>
                <a:latin typeface="Courier"/>
              </a:rPr>
              <a:t>lpm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sm.OLS(loans[</a:t>
            </a:r>
            <a:r>
              <a:rPr>
                <a:solidFill>
                  <a:srgbClr val="4070A0"/>
                </a:solidFill>
                <a:latin typeface="Courier"/>
              </a:rPr>
              <a:t>"default"</a:t>
            </a:r>
            <a:r>
              <a:rPr>
                <a:latin typeface="Courier"/>
              </a:rPr>
              <a:t>], X).fit()</a:t>
            </a:r>
          </a:p>
          <a:p>
            <a:pPr lvl="0" indent="0" marL="0">
              <a:buNone/>
            </a:pPr>
            <a:r>
              <a:rPr/>
              <a:t>This is the </a:t>
            </a:r>
            <a:r>
              <a:rPr b="1"/>
              <a:t>linear probability model</a:t>
            </a:r>
            <a:r>
              <a:rPr/>
              <a:t>. Economists use it, and for an average effect it is defensible.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 at what it predicts</a:t>
            </a:r>
          </a:p>
        </p:txBody>
      </p:sp>
      <p:pic>
        <p:nvPicPr>
          <p:cNvPr descr="slides_files/figure-pptx/cell-4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43000" y="1193800"/>
            <a:ext cx="6858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straight line crosses zero: for high-FICO applicants it predicts a </a:t>
            </a:r>
            <a:r>
              <a:rPr b="1"/>
              <a:t>negative probability of default</a:t>
            </a:r>
            <a:r>
              <a:rPr/>
              <a:t> — here as low as </a:t>
            </a:r>
            <a:r>
              <a:rPr b="1"/>
              <a:t>−0.08</a:t>
            </a:r>
            <a:r>
              <a:rPr/>
              <a:t>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that is fatal for a decision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A probability below 0 or above 1 </a:t>
                </a:r>
                <a:r>
                  <a:rPr b="1"/>
                  <a:t>cannot be acted on</a:t>
                </a:r>
                <a:r>
                  <a:rPr/>
                  <a:t> — you cannot multiply it by a cost</a:t>
                </a:r>
              </a:p>
              <a:p>
                <a:pPr lvl="0"/>
                <a:r>
                  <a:rPr/>
                  <a:t>The errors are heteroskedastic </a:t>
                </a:r>
                <a:r>
                  <a:rPr b="1"/>
                  <a:t>by construction</a:t>
                </a:r>
                <a:r>
                  <a:rPr/>
                  <a:t>: the variance is </a:t>
                </a:r>
                <a14:m>
                  <m:oMath xmlns:m="http://schemas.openxmlformats.org/officeDocument/2006/math">
                    <m:r>
                      <m:t>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p</m:t>
                        </m:r>
                      </m:e>
                    </m:d>
                  </m:oMath>
                </a14:m>
              </a:p>
              <a:p>
                <a:pPr lvl="0"/>
                <a:r>
                  <a:rPr/>
                  <a:t>The fit is dragged by points far from the boundary, where nothing is being decided</a:t>
                </a:r>
              </a:p>
              <a:p>
                <a:pPr lvl="0" indent="0" marL="0">
                  <a:buNone/>
                </a:pPr>
                <a:r>
                  <a:rPr/>
                  <a:t>For an </a:t>
                </a:r>
                <a:r>
                  <a:rPr i="1"/>
                  <a:t>average effect</a:t>
                </a:r>
                <a:r>
                  <a:rPr/>
                  <a:t> the LPM survives. For an </a:t>
                </a:r>
                <a:r>
                  <a:rPr i="1"/>
                  <a:t>individual decision</a:t>
                </a:r>
                <a:r>
                  <a:rPr/>
                  <a:t> it does not — and this session is about decisions.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4 · The logistic curve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Bend the line into the unit interval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log</m:t>
                      </m:r>
                      <m:f>
                        <m:fPr>
                          <m:type m:val="bar"/>
                        </m:fPr>
                        <m:num>
                          <m: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num>
                        <m:den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r>
                        <m:t>β</m:t>
                      </m:r>
                      <m:r>
                        <m:t> </m:t>
                      </m:r>
                      <m:r>
                        <m:rPr>
                          <m:sty m:val="p"/>
                        </m:rPr>
                        <m:t>⇔</m:t>
                      </m:r>
                      <m:r>
                        <m:t> 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sSup>
                            <m:e>
                              <m: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sSup>
                                <m:e>
                                  <m:r>
                                    <m:t>x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m:t>⊤</m:t>
                                  </m:r>
                                </m:sup>
                              </m:sSup>
                              <m:r>
                                <m:t>β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log-odds</a:t>
                </a:r>
                <a:r>
                  <a:rPr/>
                  <a:t> on the left is free to run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∞</m:t>
                    </m:r>
                  </m:oMath>
                </a14:m>
                <a:r>
                  <a:rPr/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∞</m:t>
                    </m:r>
                  </m:oMath>
                </a14:m>
                <a:r>
                  <a:rPr/>
                  <a:t>, so a linear model is safe there. The probability on the right is then squeezed into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1</m:t>
                        </m:r>
                      </m:e>
                    </m:d>
                  </m:oMath>
                </a14:m>
                <a:r>
                  <a:rPr/>
                  <a:t> automatically.</a:t>
                </a:r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the squeeze looks like</a:t>
            </a:r>
          </a:p>
        </p:txBody>
      </p:sp>
      <p:pic>
        <p:nvPicPr>
          <p:cNvPr descr="slides_files/figure-pptx/cell-5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43000" y="1193800"/>
            <a:ext cx="6858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slope is </a:t>
            </a:r>
            <a:r>
              <a:rPr b="1"/>
              <a:t>not constant</a:t>
            </a:r>
            <a:r>
              <a:rPr/>
              <a:t>. That is why one coefficient does not translate into one change in probability.</a:t>
            </a:r>
          </a:p>
        </p:txBody>
      </p:sp>
    </p:spTree>
  </p:cSld>
</p:sld>
</file>

<file path=ppt/slides/slide2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Three ways to report one coefficient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pPr lvl="0" indent="0" marL="0"><a:buNone /></a:pPr><a:r><a:rPr /><a:t>Quantity</a:t></a:r></a:p></a:txBody><a:tcPr /></a:tc><a:tc><a:txBody><a:bodyPr /><a:lstStyle /><a:p><a:pPr lvl="0" indent="0" marL="0"><a:buNone /></a:pPr><a:r><a:rPr /><a:t>Formula</a:t></a:r></a:p></a:txBody><a:tcPr /></a:tc><a:tc><a:txBody><a:bodyPr /><a:lstStyle /><a:p><a:pPr lvl="0" indent="0" marL="0"><a:buNone /></a:pPr><a:r><a:rPr /><a:t>Use when</a:t></a:r></a:p></a:txBody><a:tcPr /></a:tc></a:tr><a:tr h="0"><a:tc><a:txBody><a:bodyPr /><a:lstStyle /><a:p><a:pPr lvl="0" indent="0" marL="0"><a:buNone /></a:pPr><a:r><a:rPr /><a:t>Log-odds</a:t></a:r></a:p></a:txBody></a:tc><a:tc><a:txBody><a:bodyPr /><a:lstStyle /><a:p><a:pPr lvl="0" indent="0" marL="0"><a:buNone /></a:pPr><a14:m><m:oMath xmlns:m="http://schemas.openxmlformats.org/officeDocument/2006/math"><m:sSub><m:e><m:r><m:t>β</m:t></m:r></m:e><m:sub><m:r><m:t>j</m:t></m:r></m:sub></m:sSub></m:oMath></a14:m></a:p></a:txBody></a:tc><a:tc><a:txBody><a:bodyPr /><a:lstStyle /><a:p><a:pPr lvl="0" indent="0" marL="0"><a:buNone /></a:pPr><a:r><a:rPr /><a:t>reporting the raw model</a:t></a:r></a:p></a:txBody></a:tc></a:tr><a:tr h="0"><a:tc><a:txBody><a:bodyPr /><a:lstStyle /><a:p><a:pPr lvl="0" indent="0" marL="0"><a:buNone /></a:pPr><a:r><a:rPr b="1" /><a:t>Odds ratio</a:t></a:r></a:p></a:txBody></a:tc><a:tc><a:txBody><a:bodyPr /><a:lstStyle /><a:p><a:pPr lvl="0" indent="0" marL="0"><a:buNone /></a:pPr><a14:m><m:oMath xmlns:m="http://schemas.openxmlformats.org/officeDocument/2006/math"><m:sSup><m:e><m:r><m:t>e</m:t></m:r></m:e><m:sup><m:sSub><m:e><m:r><m:t>β</m:t></m:r></m:e><m:sub><m:r><m:t>j</m:t></m:r></m:sub></m:sSub></m:sup></m:sSup></m:oMath></a14:m></a:p></a:txBody></a:tc><a:tc><a:txBody><a:bodyPr /><a:lstStyle /><a:p><a:pPr lvl="0" indent="0" marL="0"><a:buNone /></a:pPr><a:r><a:rPr /><a:t>a credit or clinical audience</a:t></a:r></a:p></a:txBody></a:tc></a:tr><a:tr h="0"><a:tc><a:txBody><a:bodyPr /><a:lstStyle /><a:p><a:pPr lvl="0" indent="0" marL="0"><a:buNone /></a:pPr><a:r><a:rPr b="1" /><a:t>Average marginal effect</a:t></a:r></a:p></a:txBody></a:tc><a:tc><a:txBody><a:bodyPr /><a:lstStyle /><a:p><a:pPr lvl="0" indent="0" marL="0"><a:buNone /></a:pPr><a14:m><m:oMath xmlns:m="http://schemas.openxmlformats.org/officeDocument/2006/math"><m:f><m:fPr><m:type m:val="bar" /></m:fPr><m:num><m:r><m:t>1</m:t></m:r></m:num><m:den><m:r><m:t>n</m:t></m:r></m:den></m:f><m:nary><m:naryPr><m:chr m:val="∑" /><m:limLoc m:val="undOvr" /><m:subHide m:val="off" /><m:supHide m:val="on" /></m:naryPr><m:sub><m:r><m:t>i</m:t></m:r></m:sub><m:sup><m:r><m:t>​</m:t></m:r></m:sup><m:e><m:sSub><m:e><m:r><m:t>β</m:t></m:r></m:e><m:sub><m:r><m:t>j</m:t></m:r></m:sub></m:sSub></m:e></m:nary><m:r><m:t> </m:t></m:r><m:sSub><m:e><m:r><m:t>p</m:t></m:r></m:e><m:sub><m:r><m:t>i</m:t></m:r></m:sub></m:sSub><m:d><m:dPr><m:begChr m:val="(" /><m:sepChr m:val="" /><m:endChr m:val=")" /><m:grow /></m:dPr><m:e><m:r><m:t>1</m:t></m:r><m:r><m:rPr><m:sty m:val="p" /></m:rPr><m:t>−</m:t></m:r><m:sSub><m:e><m:r><m:t>p</m:t></m:r></m:e><m:sub><m:r><m:t>i</m:t></m:r></m:sub></m:sSub></m:e></m:d></m:oMath></a14:m></a:p></a:txBody></a:tc><a:tc><a:txBody><a:bodyPr /><a:lstStyle /><a:p><a:pPr lvl="0" indent="0" marL="0"><a:buNone /></a:pPr><a:r><a:rPr b="1" /><a:t>reporting to economists</a:t></a:r></a:p></a:txBody></a:tc></a:tr></a:tbl></a:graphicData></a:graphic></p:graphicFrame></p:spTree></p:cSld>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odds ratio is constant everywhere; the probability change is not. Report the average marginal effect unless you have a reason not to.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5 · Reading the output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Fit 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 b="1">
                    <a:solidFill>
                      <a:srgbClr val="008000"/>
                    </a:solidFill>
                    <a:latin typeface="Courier"/>
                  </a:rPr>
                  <a:t>import</a:t>
                </a:r>
                <a:r>
                  <a:rPr>
                    <a:latin typeface="Courier"/>
                  </a:rPr>
                  <a:t> numpy </a:t>
                </a:r>
                <a:r>
                  <a:rPr b="1">
                    <a:solidFill>
                      <a:srgbClr val="008000"/>
                    </a:solidFill>
                    <a:latin typeface="Courier"/>
                  </a:rPr>
                  <a:t>as</a:t>
                </a:r>
                <a:r>
                  <a:rPr>
                    <a:latin typeface="Courier"/>
                  </a:rPr>
                  <a:t> np</a:t>
                </a:r>
                <a:br/>
                <a:r>
                  <a:rPr b="1">
                    <a:solidFill>
                      <a:srgbClr val="008000"/>
                    </a:solidFill>
                    <a:latin typeface="Courier"/>
                  </a:rPr>
                  <a:t>import</a:t>
                </a:r>
                <a:r>
                  <a:rPr>
                    <a:latin typeface="Courier"/>
                  </a:rPr>
                  <a:t> statsmodels.formula.api </a:t>
                </a:r>
                <a:r>
                  <a:rPr b="1">
                    <a:solidFill>
                      <a:srgbClr val="008000"/>
                    </a:solidFill>
                    <a:latin typeface="Courier"/>
                  </a:rPr>
                  <a:t>as</a:t>
                </a:r>
                <a:r>
                  <a:rPr>
                    <a:latin typeface="Courier"/>
                  </a:rPr>
                  <a:t> smf</a:t>
                </a:r>
                <a:br/>
                <a:br/>
                <a:r>
                  <a:rPr>
                    <a:latin typeface="Courier"/>
                  </a:rPr>
                  <a:t>m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smf.logit(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"default ~ fico + int_rate + np.log(revol_bal + 1)"</a:t>
                </a:r>
                <a:r>
                  <a:rPr>
                    <a:latin typeface="Courier"/>
                  </a:rPr>
                  <a:t>,</a:t>
                </a:r>
                <a:br/>
                <a:r>
                  <a:rPr>
                    <a:latin typeface="Courier"/>
                  </a:rPr>
                  <a:t>              data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loans).fit()</a:t>
                </a:r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(m.summary().tables[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])</a:t>
                </a:r>
              </a:p>
              <a:p>
                <a:pPr lvl="0" indent="0" marL="0">
                  <a:buNone/>
                </a:pPr>
                <a:r>
                  <a:rPr/>
                  <a:t>Line by line:</a:t>
                </a:r>
              </a:p>
              <a:p>
                <a:pPr lvl="0"/>
                <a:r>
                  <a:rPr>
                    <a:latin typeface="Courier"/>
                  </a:rPr>
                  <a:t>smf.logit</a:t>
                </a:r>
                <a:r>
                  <a:rPr/>
                  <a:t> — the formula interface; </a:t>
                </a:r>
                <a:r>
                  <a:rPr>
                    <a:latin typeface="Courier"/>
                  </a:rPr>
                  <a:t>default ~ ...</a:t>
                </a:r>
                <a:r>
                  <a:rPr/>
                  <a:t> reads “default explained by”</a:t>
                </a:r>
              </a:p>
              <a:p>
                <a:pPr lvl="0"/>
                <a:r>
                  <a:rPr>
                    <a:latin typeface="Courier"/>
                  </a:rPr>
                  <a:t>np.log(revol_bal + 1)</a:t>
                </a:r>
                <a:r>
                  <a:rPr/>
                  <a:t> — transformed </a:t>
                </a:r>
                <a:r>
                  <a:rPr b="1"/>
                  <a:t>inside</a:t>
                </a:r>
                <a:r>
                  <a:rPr/>
                  <a:t> the formula, so the transformation is part of the recorded model rather than a step you might forget</a:t>
                </a:r>
              </a:p>
              <a:p>
                <a:pPr lvl="0"/>
                <a:r>
                  <a:rPr>
                    <a:latin typeface="Courier"/>
                  </a:rPr>
                  <a:t>+ 1</a:t>
                </a:r>
                <a:r>
                  <a:rPr/>
                  <a:t> because balances of exactly zero exist,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0</m:t>
                    </m:r>
                  </m:oMath>
                </a14:m>
                <a:r>
                  <a:rPr/>
                  <a:t> is undefined</a:t>
                </a:r>
              </a:p>
            </p:txBody>
          </p:sp>
        </mc:Choice>
      </mc:AlternateContent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it says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         coef  std err       z   P&gt;|z|
Intercept          1.6886   0.9231  1.8292  0.0674
fico              -0.0064   0.0011 -5.8332  0.0000
int_rate          10.5902   1.4681  7.2138  0.0000
log(revol_bal+1)  -0.0162   0.0131 -1.2314  0.2182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fico</a:t>
            </a:r>
            <a:r>
              <a:rPr/>
              <a:t> is </a:t>
            </a:r>
            <a:r>
              <a:rPr b="1"/>
              <a:t>negative</a:t>
            </a:r>
            <a:r>
              <a:rPr/>
              <a:t> — a better score lowers default risk. </a:t>
            </a:r>
            <a:r>
              <a:rPr>
                <a:latin typeface="Courier"/>
              </a:rPr>
              <a:t>int_rate</a:t>
            </a:r>
            <a:r>
              <a:rPr/>
              <a:t> is strongly </a:t>
            </a:r>
            <a:r>
              <a:rPr b="1"/>
              <a:t>positive</a:t>
            </a:r>
            <a:r>
              <a:rPr/>
              <a:t>: the platform’s own pricing already encodes who is risky.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reportable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latin typeface="Courier"/>
                  </a:rPr>
                  <a:t>np.exp(m.params[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"fico"</a:t>
                </a:r>
                <a:r>
                  <a:rPr>
                    <a:latin typeface="Courier"/>
                  </a:rPr>
                  <a:t>])   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0.9936  — odds ratio per FICO point</a:t>
                </a:r>
                <a:br/>
                <a:r>
                  <a:rPr>
                    <a:latin typeface="Courier"/>
                  </a:rPr>
                  <a:t>m.get_margeff().summary()  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average marginal effects</a:t>
                </a:r>
              </a:p>
              <a:p>
                <a:pPr lvl="0" indent="0" marL="0">
                  <a:buNone/>
                </a:pPr>
                <a:r>
                  <a:rPr b="1"/>
                  <a:t>0.9936</a:t>
                </a:r>
                <a:r>
                  <a:rPr/>
                  <a:t> per point sounds like nothing. Per </a:t>
                </a:r>
                <a:r>
                  <a:rPr b="1"/>
                  <a:t>100</a:t>
                </a:r>
                <a:r>
                  <a:rPr/>
                  <a:t> points it is </a:t>
                </a:r>
                <a14:m>
                  <m:oMath xmlns:m="http://schemas.openxmlformats.org/officeDocument/2006/math">
                    <m:sSup>
                      <m:e>
                        <m:r>
                          <m:t>0.9936</m:t>
                        </m:r>
                      </m:e>
                      <m:sup>
                        <m: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m:t>≈</m:t>
                    </m:r>
                    <m:r>
                      <m:t>0.52</m:t>
                    </m:r>
                  </m:oMath>
                </a14:m>
                <a:r>
                  <a:rPr/>
                  <a:t> — the odds of default roughly </a:t>
                </a:r>
                <a:r>
                  <a:rPr b="1"/>
                  <a:t>halve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The model does not care about units; your sentence does. Always say </a:t>
                </a:r>
                <a:r>
                  <a:rPr i="1"/>
                  <a:t>per what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6 · Why accuracy lies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null model is already good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16% default. So the model </a:t>
            </a:r>
            <a:r>
              <a:rPr i="1"/>
              <a:t>“nobody ever defaults”</a:t>
            </a:r>
            <a:r>
              <a:rPr/>
              <a:t> — which uses no data at all — is</a:t>
            </a:r>
          </a:p>
          <a:p>
            <a:pPr lvl="0" indent="0" marL="1270000">
              <a:buNone/>
            </a:pPr>
            <a:r>
              <a:rPr sz="2000" b="1"/>
              <a:t>84% accurate.</a:t>
            </a:r>
          </a:p>
          <a:p>
            <a:pPr lvl="0" indent="0" marL="0">
              <a:buNone/>
            </a:pPr>
            <a:r>
              <a:rPr/>
              <a:t>Report 85% accuracy and you have bought </a:t>
            </a:r>
            <a:r>
              <a:rPr b="1"/>
              <a:t>one point</a:t>
            </a:r>
            <a:r>
              <a:rPr/>
              <a:t> over saying nothing. Under imbalance, accuracy measures the base rate, not skill.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curves, one model</a:t>
            </a:r>
          </a:p>
        </p:txBody>
      </p:sp>
      <p:pic>
        <p:nvPicPr>
          <p:cNvPr descr="slides_files/figure-pptx/cell-7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33500"/>
            <a:ext cx="8229600" cy="311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them against each 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ROC AUC 0.627</a:t>
            </a:r>
            <a:r>
              <a:rPr/>
              <a:t> — looks like a working model. Its reference line is </a:t>
            </a:r>
            <a:r>
              <a:rPr i="1"/>
              <a:t>chance</a:t>
            </a:r>
            <a:r>
              <a:rPr/>
              <a:t>, a low bar.</a:t>
            </a:r>
          </a:p>
          <a:p>
            <a:pPr lvl="0"/>
            <a:r>
              <a:rPr b="1"/>
              <a:t>PR AUC 0.232</a:t>
            </a:r>
            <a:r>
              <a:rPr/>
              <a:t> — its reference line is the </a:t>
            </a:r>
            <a:r>
              <a:rPr b="1"/>
              <a:t>base rate, 0.160</a:t>
            </a:r>
            <a:r>
              <a:rPr/>
              <a:t>. The real gain is 0.232 against 0.160.</a:t>
            </a:r>
          </a:p>
          <a:p>
            <a:pPr lvl="0" indent="0" marL="0">
              <a:buNone/>
            </a:pPr>
            <a:r>
              <a:rPr/>
              <a:t>Under heavy imbalance, </a:t>
            </a:r>
            <a:r>
              <a:rPr b="1"/>
              <a:t>report PR with its baseline.</a:t>
            </a:r>
            <a:r>
              <a:rPr/>
              <a:t> ROC flatters, because the false-positive denominator is enormous.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7 · The threshold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0.5 is a claim, not a default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Classifying 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p</m:t>
                        </m:r>
                      </m:e>
                    </m:acc>
                    <m:r>
                      <m:rPr>
                        <m:sty m:val="p"/>
                      </m:rPr>
                      <m:t>&gt;</m:t>
                    </m:r>
                    <m:r>
                      <m:t>0.5</m:t>
                    </m:r>
                  </m:oMath>
                </a14:m>
                <a:r>
                  <a:rPr/>
                  <a:t> asserts that a </a:t>
                </a:r>
                <a:r>
                  <a:rPr b="1"/>
                  <a:t>false positive and a false negative cost the same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For a lender they do not: refusing a good borrower costs a </a:t>
                </a:r>
                <a:r>
                  <a:rPr b="1"/>
                  <a:t>margin</a:t>
                </a:r>
                <a:r>
                  <a:rPr/>
                  <a:t>; funding a defaulter costs the </a:t>
                </a:r>
                <a:r>
                  <a:rPr b="1"/>
                  <a:t>principal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cost-optimal threshold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 </m:t>
                          </m:r>
                          <m:sSup>
                            <m:e>
                              <m:r>
                                <m:t>τ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⋆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=</m:t>
                          </m:r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r>
                                    <m:t>F</m:t>
                                  </m:r>
                                  <m:r>
                                    <m:t>P</m:t>
                                  </m:r>
                                </m:sub>
                              </m:sSub>
                            </m:num>
                            <m:den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r>
                                    <m:t>F</m:t>
                                  </m:r>
                                  <m:r>
                                    <m:t>P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r>
                                    <m:t>F</m:t>
                                  </m:r>
                                  <m:r>
                                    <m:t>N</m:t>
                                  </m:r>
                                </m:sub>
                              </m:sSub>
                            </m:den>
                          </m:f>
                          <m:r>
                            <m:t> </m:t>
                          </m:r>
                        </m:e>
                      </m:borderBox>
                    </m:oMath>
                  </m:oMathPara>
                </a14:m>
              </a:p>
            </p:txBody>
          </p:sp>
        </mc:Choice>
      </mc:AlternateContent>
      <p:pic>
        <p:nvPicPr>
          <p:cNvPr descr="slides_files/figure-pptx/cell-8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47800"/>
            <a:ext cx="5105400" cy="187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a 5:1 cost ratio the right threshold is </a:t>
            </a:r>
            <a:r>
              <a:rPr b="1"/>
              <a:t>0.167</a:t>
            </a:r>
            <a:r>
              <a:rPr/>
              <a:t>, not 0.5.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the threshold does to the decision</a:t>
            </a:r>
          </a:p>
        </p:txBody>
      </p:sp>
      <p:pic>
        <p:nvPicPr>
          <p:cNvPr descr="slides_files/figure-pptx/cell-9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06500" y="1193800"/>
            <a:ext cx="6731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number that should alarm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threshold  flagged  recall
     0.100     7625   0.915
     0.167     4134   0.560
     0.200     2440   0.369
     0.300      215   0.050
     0.500        0   0.000</a:t>
            </a:r>
          </a:p>
          <a:p>
            <a:pPr lvl="0" indent="0" marL="0">
              <a:buNone/>
            </a:pPr>
            <a:r>
              <a:rPr b="1"/>
              <a:t>At 0.50 the model flags nothing at all.</a:t>
            </a:r>
            <a:r>
              <a:rPr/>
              <a:t> Every applicant approved, recall zero — and the software reported no error whatsoever.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 0.3 really 30%?</a:t>
            </a:r>
          </a:p>
        </p:txBody>
      </p:sp>
      <p:pic>
        <p:nvPicPr>
          <p:cNvPr descr="slides_files/figure-pptx/cell-11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87500" y="1193800"/>
            <a:ext cx="5969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Discrimination and calibration are different properties.</a:t>
            </a:r>
            <a:r>
              <a:rPr/>
              <a:t> A model can rank perfectly and still be miscalibrated — and a miscalibrated probability cannot enter a cost calculation.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8 · A second example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Portugal’s red wines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1,599 red </a:t>
            </a:r>
            <a:r>
              <a:rPr i="1"/>
              <a:t>vinho verde</a:t>
            </a:r>
            <a:r>
              <a:rPr/>
              <a:t> wines, chemically assayed, each rated by at least three blind tasters.</a:t>
            </a:r>
          </a:p>
          <a:p>
            <a:pPr lvl="0" indent="0">
              <a:buNone/>
            </a:pPr>
            <a:r>
              <a:rPr>
                <a:latin typeface="Courier"/>
              </a:rPr>
              <a:t>wine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pd.read_parquet(</a:t>
            </a:r>
            <a:r>
              <a:rPr>
                <a:solidFill>
                  <a:srgbClr val="4070A0"/>
                </a:solidFill>
                <a:latin typeface="Courier"/>
              </a:rPr>
              <a:t>"data/redwines.parquet"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m_w 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smf.logit(</a:t>
            </a:r>
            <a:r>
              <a:rPr>
                <a:solidFill>
                  <a:srgbClr val="4070A0"/>
                </a:solidFill>
                <a:latin typeface="Courier"/>
              </a:rPr>
              <a:t>"good ~ alcohol + volatile_acidity + sulphates"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data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wine).fit()</a:t>
            </a:r>
            <a:br/>
            <a:r>
              <a:rPr>
                <a:latin typeface="Courier"/>
              </a:rPr>
              <a:t>np.exp(m_w.params[</a:t>
            </a:r>
            <a:r>
              <a:rPr>
                <a:solidFill>
                  <a:srgbClr val="4070A0"/>
                </a:solidFill>
                <a:latin typeface="Courier"/>
              </a:rPr>
              <a:t>"alcohol"</a:t>
            </a:r>
            <a:r>
              <a:rPr>
                <a:latin typeface="Courier"/>
              </a:rPr>
              <a:t>])     </a:t>
            </a:r>
            <a:r>
              <a:rPr i="1">
                <a:solidFill>
                  <a:srgbClr val="60A0B0"/>
                </a:solidFill>
                <a:latin typeface="Courier"/>
              </a:rPr>
              <a:t># 2.74</a:t>
            </a:r>
          </a:p>
          <a:p>
            <a:pPr lvl="0" indent="0" marL="0">
              <a:buNone/>
            </a:pPr>
            <a:r>
              <a:rPr/>
              <a:t>An odds ratio of </a:t>
            </a:r>
            <a:r>
              <a:rPr b="1"/>
              <a:t>2.74</a:t>
            </a:r>
            <a:r>
              <a:rPr/>
              <a:t>: each extra percentage point of alcohol nearly </a:t>
            </a:r>
            <a:r>
              <a:rPr b="1"/>
              <a:t>triples</a:t>
            </a:r>
            <a:r>
              <a:rPr/>
              <a:t> the odds a taster calls the wine good.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method, very different signal</a:t>
            </a:r>
          </a:p>
        </p:txBody>
      </p:sp>
      <p:pic>
        <p:nvPicPr>
          <p:cNvPr descr="slides_files/figure-pptx/cell-12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193800"/>
            <a:ext cx="5994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5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Why the difference is not the method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endParaRPr /></a:p></a:txBody><a:tcPr /></a:tc><a:tc><a:txBody><a:bodyPr /><a:lstStyle /><a:p><a:pPr lvl="0" indent="0" marL="0"><a:buNone /></a:pPr><a:r><a:rPr /><a:t>Lending Club</a:t></a:r></a:p></a:txBody><a:tcPr /></a:tc><a:tc><a:txBody><a:bodyPr /><a:lstStyle /><a:p><a:pPr lvl="0" indent="0" marL="0"><a:buNone /></a:pPr><a:r><a:rPr /><a:t>Red wines</a:t></a:r></a:p></a:txBody><a:tcPr /></a:tc></a:tr><a:tr h="0"><a:tc><a:txBody><a:bodyPr /><a:lstStyle /><a:p><a:pPr lvl="0" indent="0" marL="0"><a:buNone /></a:pPr><a14:m><m:oMath xmlns:m="http://schemas.openxmlformats.org/officeDocument/2006/math"><m:r><m:t>n</m:t></m:r></m:oMath></a14:m></a:p></a:txBody></a:tc><a:tc><a:txBody><a:bodyPr /><a:lstStyle /><a:p><a:pPr lvl="0" indent="0" marL="0"><a:buNone /></a:pPr><a:r><a:rPr /><a:t>9,578</a:t></a:r></a:p></a:txBody></a:tc><a:tc><a:txBody><a:bodyPr /><a:lstStyle /><a:p><a:pPr lvl="0" indent="0" marL="0"><a:buNone /></a:pPr><a:r><a:rPr /><a:t>1,599</a:t></a:r></a:p></a:txBody></a:tc></a:tr><a:tr h="0"><a:tc><a:txBody><a:bodyPr /><a:lstStyle /><a:p><a:pPr lvl="0" indent="0" marL="0"><a:buNone /></a:pPr><a:r><a:rPr /><a:t>Base rate</a:t></a:r></a:p></a:txBody></a:tc><a:tc><a:txBody><a:bodyPr /><a:lstStyle /><a:p><a:pPr lvl="0" indent="0" marL="0"><a:buNone /></a:pPr><a:r><a:rPr /><a:t>0.160</a:t></a:r></a:p></a:txBody></a:tc><a:tc><a:txBody><a:bodyPr /><a:lstStyle /><a:p><a:pPr lvl="0" indent="0" marL="0"><a:buNone /></a:pPr><a:r><a:rPr /><a:t>0.136</a:t></a:r></a:p></a:txBody></a:tc></a:tr><a:tr h="0"><a:tc><a:txBody><a:bodyPr /><a:lstStyle /><a:p><a:pPr lvl="0" indent="0" marL="0"><a:buNone /></a:pPr><a:r><a:rPr /><a:t>ROC AUC</a:t></a:r></a:p></a:txBody></a:tc><a:tc><a:txBody><a:bodyPr /><a:lstStyle /><a:p><a:pPr lvl="0" indent="0" marL="0"><a:buNone /></a:pPr><a:r><a:rPr /><a:t>0.627</a:t></a:r></a:p></a:txBody></a:tc><a:tc><a:txBody><a:bodyPr /><a:lstStyle /><a:p><a:pPr lvl="0" indent="0" marL="0"><a:buNone /></a:pPr><a:r><a:rPr b="1" /><a:t>0.866</a:t></a:r></a:p></a:txBody></a:tc></a:tr></a:tbl></a:graphicData></a:graphic></p:graphicFrame></p:spTree></p:cSld>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estimator, both imbalanced. </a:t>
            </a:r>
            <a:r>
              <a:rPr b="1"/>
              <a:t>The predictors differ in how much they know.</a:t>
            </a:r>
            <a:r>
              <a:rPr/>
              <a:t> Chemistry measures the thing being judged; a credit file measures a person’s past, not their next three years.</a:t>
            </a:r>
          </a:p>
          <a:p>
            <a:pPr lvl="0" indent="0" marL="0">
              <a:buNone/>
            </a:pPr>
            <a:r>
              <a:rPr/>
              <a:t>When a model performs badly, ask what the features could possibly contain </a:t>
            </a:r>
            <a:r>
              <a:rPr b="1"/>
              <a:t>before</a:t>
            </a:r>
            <a:r>
              <a:rPr/>
              <a:t> reaching for a fancier algorithm.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9 · Key takeaways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carry out of this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A model gives a probability; a decision needs a threshold.</a:t>
            </a:r>
            <a:r>
              <a:rPr/>
              <a:t> Separate acts, separate evidence.</a:t>
            </a:r>
          </a:p>
          <a:p>
            <a:pPr lvl="0" indent="-342900" marL="342900">
              <a:buAutoNum type="arabicPeriod"/>
            </a:pPr>
            <a:r>
              <a:rPr b="1"/>
              <a:t>Report the base rate first.</a:t>
            </a:r>
            <a:r>
              <a:rPr/>
              <a:t> Accuracy cannot be read without it.</a:t>
            </a:r>
          </a:p>
          <a:p>
            <a:pPr lvl="0" indent="-342900" marL="342900">
              <a:buAutoNum type="arabicPeriod"/>
            </a:pPr>
            <a:r>
              <a:rPr b="1"/>
              <a:t>Report an odds ratio or an average marginal effect</a:t>
            </a:r>
            <a:r>
              <a:rPr/>
              <a:t>, with its units.</a:t>
            </a:r>
          </a:p>
          <a:p>
            <a:pPr lvl="0" indent="-342900" marL="342900">
              <a:buAutoNum type="arabicPeriod"/>
            </a:pPr>
            <a:r>
              <a:rPr b="1"/>
              <a:t>Derive the threshold from a stated cost ratio</a:t>
            </a:r>
            <a:r>
              <a:rPr/>
              <a:t> — and show how the answer moves if it is wrong.</a:t>
            </a:r>
          </a:p>
          <a:p>
            <a:pPr lvl="0" indent="-342900" marL="342900">
              <a:buAutoNum type="arabicPeriod"/>
            </a:pPr>
            <a:r>
              <a:rPr b="1"/>
              <a:t>Check calibration</a:t>
            </a:r>
            <a:r>
              <a:rPr/>
              <a:t> before any probability enters a cost calculation.</a:t>
            </a:r>
          </a:p>
          <a:p>
            <a:pPr lvl="0" indent="-342900" marL="342900">
              <a:buAutoNum type="arabicPeriod"/>
            </a:pPr>
            <a:r>
              <a:rPr b="1"/>
              <a:t>A weak model may be a weak feature set.</a:t>
            </a:r>
            <a:r>
              <a:rPr/>
              <a:t> Look there before changing algorithm.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loses marks reliably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Accuracy on an imbalanced problem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 measures the base rate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Threshold silently left at 0.5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 economic assumption, unstated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ROC AUC alone under imbalance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Hides the false positives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K-fold on a panel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Optimistic, for Session 04’s reason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“The model found the drivers of default”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 found predictors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the practice session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/>
                  <a:t>Fit penalised logistic on </a:t>
                </a:r>
                <a:r>
                  <a:rPr b="1"/>
                  <a:t>your project</a:t>
                </a:r>
                <a:r>
                  <a:rPr/>
                  <a:t>, grouped CV, base rate reported first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Produce a reliability diagram —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p</m:t>
                        </m:r>
                      </m:e>
                    </m:acc>
                  </m:oMath>
                </a14:m>
                <a:r>
                  <a:rPr/>
                  <a:t> usable as a probability?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State a cost ratio, derive </a:t>
                </a:r>
                <a14:m>
                  <m:oMath xmlns:m="http://schemas.openxmlformats.org/officeDocument/2006/math">
                    <m:sSup>
                      <m:e>
                        <m:r>
                          <m:t>τ</m:t>
                        </m:r>
                      </m:e>
                      <m:sup>
                        <m:r>
                          <m:rPr>
                            <m:sty m:val="p"/>
                          </m:rPr>
                          <m:t>⋆</m:t>
                        </m:r>
                      </m:sup>
                    </m:sSup>
                  </m:oMath>
                </a14:m>
                <a:r>
                  <a:rPr/>
                  <a:t>, report precision and recall </a:t>
                </a:r>
                <a:r>
                  <a:rPr b="1"/>
                  <a:t>there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Bootstrap the selection; report frequencies, not one list</a:t>
                </a:r>
              </a:p>
              <a:p>
                <a:pPr lvl="0" indent="0" marL="0">
                  <a:buNone/>
                </a:pPr>
                <a:r>
                  <a:rPr/>
                  <a:t>Derivations, penalised logistic and IRLS: </a:t>
                </a:r>
                <a:r>
                  <a:rPr>
                    <a:hlinkClick r:id="rId2"/>
                    <a:latin typeface="Courier"/>
                  </a:rPr>
                  <a:t>01-lecture/README.md</a:t>
                </a:r>
                <a:r>
                  <a:rPr/>
                  <a:t> §6.1–6.9 · brief: </a:t>
                </a:r>
                <a:r>
                  <a:rPr>
                    <a:hlinkClick r:id="rId3"/>
                    <a:latin typeface="Courier"/>
                  </a:rPr>
                  <a:t>02-practice/README.md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Classification: Logistic Regression and the Decision Threshold</dc:title>
  <dc:creator>Thierry Warin</dc:creator>
  <cp:keywords/>
  <dcterms:created xsi:type="dcterms:W3CDTF">2026-08-23T15:35:09Z</dcterms:created>
  <dcterms:modified xsi:type="dcterms:W3CDTF">2026-08-23T15:35:09Z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21 August 2026</vt:lpwstr>
  </property>
  <property fmtid="{D5CDD505-2E9C-101B-9397-08002B2CF9AE}" pid="8" name="date-format">
    <vt:lpwstr>D MMMM YYYY</vt:lpwstr>
  </property>
  <property fmtid="{D5CDD505-2E9C-101B-9397-08002B2CF9AE}" pid="9" name="execute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e">
    <vt:lpwstr>HEC Montréal</vt:lpwstr>
  </property>
  <property fmtid="{D5CDD505-2E9C-101B-9397-08002B2CF9AE}" pid="14" name="institutes">
    <vt:lpwstr/>
  </property>
  <property fmtid="{D5CDD505-2E9C-101B-9397-08002B2CF9AE}" pid="15" name="jupyter">
    <vt:lpwstr>python3</vt:lpwstr>
  </property>
  <property fmtid="{D5CDD505-2E9C-101B-9397-08002B2CF9AE}" pid="16" name="labels">
    <vt:lpwstr/>
  </property>
  <property fmtid="{D5CDD505-2E9C-101B-9397-08002B2CF9AE}" pid="17" name="subtitle">
    <vt:lpwstr>Session 06 · Lecture, first half</vt:lpwstr>
  </property>
  <property fmtid="{D5CDD505-2E9C-101B-9397-08002B2CF9AE}" pid="18" name="toc-title">
    <vt:lpwstr>Table of contents</vt:lpwstr>
  </property>
</Properties>
</file>