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cc2b35ce37482d" /><Relationship Type="http://schemas.openxmlformats.org/officeDocument/2006/relationships/extended-properties" Target="/docProps/app.xml" Id="Rc130cdfadb6d42a7" /><Relationship Type="http://schemas.openxmlformats.org/officeDocument/2006/relationships/officeDocument" Target="/ppt/presentation.xml" Id="Rdee88df502544b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7660fe25b04637"/>
  </p:sldMasterIdLst>
  <p:notesMasterIdLst>
    <p:notesMasterId xmlns:r="http://schemas.openxmlformats.org/officeDocument/2006/relationships" r:id="Rdc73d696967a4736"/>
  </p:notesMasterIdLst>
  <p:sldIdLst>
    <p:sldId xmlns:r="http://schemas.openxmlformats.org/officeDocument/2006/relationships" id="256" r:id="R228a14ead1b0489e"/>
    <p:sldId xmlns:r="http://schemas.openxmlformats.org/officeDocument/2006/relationships" id="257" r:id="R8e02f435c2484e0a"/>
    <p:sldId xmlns:r="http://schemas.openxmlformats.org/officeDocument/2006/relationships" id="258" r:id="R4580795a3aba4ecd"/>
    <p:sldId xmlns:r="http://schemas.openxmlformats.org/officeDocument/2006/relationships" id="259" r:id="R7a540002703441ab"/>
    <p:sldId xmlns:r="http://schemas.openxmlformats.org/officeDocument/2006/relationships" id="260" r:id="Ra5b8443b6dd74b4c"/>
    <p:sldId xmlns:r="http://schemas.openxmlformats.org/officeDocument/2006/relationships" id="261" r:id="Ra84d3b6c61464fa3"/>
    <p:sldId xmlns:r="http://schemas.openxmlformats.org/officeDocument/2006/relationships" id="262" r:id="R1fe93748dd9848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a4a7c559b74ad1" /><Relationship Type="http://schemas.openxmlformats.org/officeDocument/2006/relationships/slideMaster" Target="/ppt/slideMasters/slideMaster1.xml" Id="R1c7660fe25b04637" /><Relationship Type="http://schemas.openxmlformats.org/officeDocument/2006/relationships/notesMaster" Target="/ppt/notesMasters/notesMaster1.xml" Id="Rdc73d696967a4736" /><Relationship Type="http://schemas.openxmlformats.org/officeDocument/2006/relationships/presProps" Target="/ppt/presProps.xml" Id="R7eaf269fd97c484f" /><Relationship Type="http://schemas.openxmlformats.org/officeDocument/2006/relationships/tableStyles" Target="/ppt/tableStyles.xml" Id="R3a1dee7492c64b07" /><Relationship Type="http://schemas.openxmlformats.org/officeDocument/2006/relationships/slide" Target="/ppt/slides/slide1.xml" Id="R228a14ead1b0489e" /><Relationship Type="http://schemas.openxmlformats.org/officeDocument/2006/relationships/slide" Target="/ppt/slides/slide2.xml" Id="R8e02f435c2484e0a" /><Relationship Type="http://schemas.openxmlformats.org/officeDocument/2006/relationships/slide" Target="/ppt/slides/slide3.xml" Id="R4580795a3aba4ecd" /><Relationship Type="http://schemas.openxmlformats.org/officeDocument/2006/relationships/slide" Target="/ppt/slides/slide4.xml" Id="R7a540002703441ab" /><Relationship Type="http://schemas.openxmlformats.org/officeDocument/2006/relationships/slide" Target="/ppt/slides/slide5.xml" Id="Ra5b8443b6dd74b4c" /><Relationship Type="http://schemas.openxmlformats.org/officeDocument/2006/relationships/slide" Target="/ppt/slides/slide6.xml" Id="Ra84d3b6c61464fa3" /><Relationship Type="http://schemas.openxmlformats.org/officeDocument/2006/relationships/slide" Target="/ppt/slides/slide7.xml" Id="R1fe93748dd9848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a880f9059948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f0ea1f94854a40" /><Relationship Type="http://schemas.openxmlformats.org/officeDocument/2006/relationships/notesMaster" Target="/ppt/notesMasters/notesMaster1.xml" Id="R3d0a8090ab2a41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480248e82e4675" /><Relationship Type="http://schemas.openxmlformats.org/officeDocument/2006/relationships/notesMaster" Target="/ppt/notesMasters/notesMaster1.xml" Id="Rda6761e914bd4d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e768ae30244b71" /><Relationship Type="http://schemas.openxmlformats.org/officeDocument/2006/relationships/notesMaster" Target="/ppt/notesMasters/notesMaster1.xml" Id="R944f88990d3f44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9a0236c57f4e8a" /><Relationship Type="http://schemas.openxmlformats.org/officeDocument/2006/relationships/notesMaster" Target="/ppt/notesMasters/notesMaster1.xml" Id="R4cd15ee6016946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2fad2578554ae1" /><Relationship Type="http://schemas.openxmlformats.org/officeDocument/2006/relationships/notesMaster" Target="/ppt/notesMasters/notesMaster1.xml" Id="R699e52406a1248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366b2b8566418c" /><Relationship Type="http://schemas.openxmlformats.org/officeDocument/2006/relationships/notesMaster" Target="/ppt/notesMasters/notesMaster1.xml" Id="Rbcf2d74dac874b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6e8a5fb6594c79" /><Relationship Type="http://schemas.openxmlformats.org/officeDocument/2006/relationships/notesMaster" Target="/ppt/notesMasters/notesMaster1.xml" Id="R87191aa3d16a4f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question: What are you responsible for when someone acts on your model?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11-forecasting-drift-and-governance/00-pre-session/README.md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  <a:p xmlns:a="http://schemas.openxmlformats.org/drawingml/2006/main">
            <a:r>
              <a:t>- ISLR sections on validation and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class, students read the article, download the Dataverse package, and identify this practice target: Reproduce one sentiment-return result, then backtest it by forecast origin and write the monitoring response to drift.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11-forecasting-drift-and-governance/00-pre-session/README.md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  <a:p xmlns:a="http://schemas.openxmlformats.org/drawingml/2006/main">
            <a:r>
              <a:t>- ISLR sections on validation and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academic article and Dataverse package are required before class. ISLR is optional background.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11-forecasting-drift-and-governance/00-pre-session/README.md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  <a:p xmlns:a="http://schemas.openxmlformats.org/drawingml/2006/main">
            <a:r>
              <a:t>- ISLR sections on validation and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be able to supply a concrete example of each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11-forecasting-drift-and-governance/00-pre-session/README.md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  <a:p xmlns:a="http://schemas.openxmlformats.org/drawingml/2006/main">
            <a:r>
              <a:t>- ISLR sections on validation and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practice target is: Reproduce one sentiment-return result, then backtest it by forecast origin and write the monitoring response to drift.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11-forecasting-drift-and-governance/00-pre-session/README.md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  <a:p xmlns:a="http://schemas.openxmlformats.org/drawingml/2006/main">
            <a:r>
              <a:t>- ISLR sections on validation and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reveal answers. Ask students to bring the question they could not settle.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11-forecasting-drift-and-governance/00-pre-session/README.md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  <a:p xmlns:a="http://schemas.openxmlformats.org/drawingml/2006/main">
            <a:r>
              <a:t>- ISLR sections on validation and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goal is readiness, not completion theatre. Invite students to bring one unresolved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11-forecasting-drift-and-governance/00-pre-session/README.md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  <a:p xmlns:a="http://schemas.openxmlformats.org/drawingml/2006/main">
            <a:r>
              <a:t>- ISLR sections on validation and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4d11da81024d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67b568d81f4662" /><Relationship Type="http://schemas.openxmlformats.org/officeDocument/2006/relationships/slideLayout" Target="/ppt/slideLayouts/slideLayout1.xml" Id="R3aa1dd2b54974b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a1dd2b54974b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984a31acf487e" /><Relationship Type="http://schemas.openxmlformats.org/officeDocument/2006/relationships/chart" Target="/ppt/slides/charts/chart1.xml" Id="Ra91012021bb6437b" /><Relationship Type="http://schemas.openxmlformats.org/officeDocument/2006/relationships/notesSlide" Target="/ppt/notesSlides/notesSlide1.xml" Id="R5335b0434f804b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a2e9454464046" /><Relationship Type="http://schemas.openxmlformats.org/officeDocument/2006/relationships/notesSlide" Target="/ppt/notesSlides/notesSlide2.xml" Id="Ra38314424da44a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b3c81b8b94675" /><Relationship Type="http://schemas.openxmlformats.org/officeDocument/2006/relationships/notesSlide" Target="/ppt/notesSlides/notesSlide3.xml" Id="Rd30e93d3bf4041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bc6dea5e340c8" /><Relationship Type="http://schemas.openxmlformats.org/officeDocument/2006/relationships/notesSlide" Target="/ppt/notesSlides/notesSlide4.xml" Id="R01525e44d86043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3824023254cb6" /><Relationship Type="http://schemas.openxmlformats.org/officeDocument/2006/relationships/notesSlide" Target="/ppt/notesSlides/notesSlide5.xml" Id="Re8bbe9da375d43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a66fa25504c79" /><Relationship Type="http://schemas.openxmlformats.org/officeDocument/2006/relationships/notesSlide" Target="/ppt/notesSlides/notesSlide6.xml" Id="Rb34786ec9dd942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269e909fa481c" /><Relationship Type="http://schemas.openxmlformats.org/officeDocument/2006/relationships/notesSlide" Target="/ppt/notesSlides/notesSlide7.xml" Id="R916cde458a4046e8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Observed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6"/>
              <c:pt idx="0">
                <c:v>t−3</c:v>
              </c:pt>
              <c:pt idx="1">
                <c:v>t−2</c:v>
              </c:pt>
              <c:pt idx="2">
                <c:v>t−1</c:v>
              </c:pt>
              <c:pt idx="3">
                <c:v>t</c:v>
              </c:pt>
              <c:pt idx="4">
                <c:v>t+1</c:v>
              </c:pt>
              <c:pt idx="5">
                <c:v>t+2</c:v>
              </c:pt>
            </c:strLit>
          </c:cat>
          <c:val>
            <c:numLit>
              <c:formatCode>General</c:formatCode>
              <c:ptCount val="6"/>
              <c:pt idx="0">
                <c:v>2.1</c:v>
              </c:pt>
              <c:pt idx="1">
                <c:v>2.4</c:v>
              </c:pt>
              <c:pt idx="2">
                <c:v>2</c:v>
              </c:pt>
              <c:pt idx="3">
                <c:v>2.7</c:v>
              </c:pt>
              <c:pt idx="4">
                <c:v>3</c:v>
              </c:pt>
              <c:pt idx="5">
                <c:v>3.2</c:v>
              </c:pt>
            </c:numLit>
          </c:val>
          <c:smooth val="1"/>
        </c:ser>
        <c:ser>
          <c:idx val="1"/>
          <c:order val="1"/>
          <c:tx>
            <c:v>Forecast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strLit>
              <c:ptCount val="6"/>
              <c:pt idx="0">
                <c:v>t−3</c:v>
              </c:pt>
              <c:pt idx="1">
                <c:v>t−2</c:v>
              </c:pt>
              <c:pt idx="2">
                <c:v>t−1</c:v>
              </c:pt>
              <c:pt idx="3">
                <c:v>t</c:v>
              </c:pt>
              <c:pt idx="4">
                <c:v>t+1</c:v>
              </c:pt>
              <c:pt idx="5">
                <c:v>t+2</c:v>
              </c:pt>
            </c:strLit>
          </c:cat>
          <c:val>
            <c:numLit>
              <c:formatCode>General</c:formatCode>
              <c:ptCount val="6"/>
              <c:pt idx="0">
                <c:v>2.1</c:v>
              </c:pt>
              <c:pt idx="1">
                <c:v>2.4</c:v>
              </c:pt>
              <c:pt idx="2">
                <c:v>2</c:v>
              </c:pt>
              <c:pt idx="3">
                <c:v>2.7</c:v>
              </c:pt>
              <c:pt idx="4">
                <c:v>2.8</c:v>
              </c:pt>
              <c:pt idx="5">
                <c:v>3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538AC84-221F-44EB-9590-357F6DC6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11 · PRE-SESSION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DF13720-4502-4D19-8FA0-C68ADEA0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Forecasting, drift, and model governance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501BFCE4-8AA7-4F69-AA90-9FEEB409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What are you responsible for when someone acts on your model?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DA2E86B2-A91F-4382-B77A-F6671ADA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9A7271EB-C100-4C7B-8AF0-5D3D9ABF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57975" y="685800"/>
          <a:ext xmlns:a="http://schemas.openxmlformats.org/drawingml/2006/main" cx="4752975" cy="5086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1012021bb6437b"/>
          </a:graphicData>
        </a:graphic>
      </p:graphicFrame>
      <p:sp>
        <p:nvSpPr>
          <p:cNvPr id="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F41E8CD-E27D-4708-8A6F-4C24A39F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A13292B-B82A-41E5-A67F-C20E0336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FB5610B-B8FF-4188-8A98-768E15FB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1</a:t>
            </a:r>
          </a:p>
        </p:txBody>
      </p:sp>
    </p:spTree>
    <p:extLst>
      <p:ext uri="{BB962C8B-B14F-4D97-AF65-F5344CB8AC3E}">
        <p14:creationId xmlns:p14="http://schemas.microsoft.com/office/powerpoint/2010/main" val="15065905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874D289F-6B4E-4574-98BC-1B246DB4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REQUIRED BEFORE CLASS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647198-2B99-489E-B6FE-210225CB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the article; download the package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76E771B-C3EC-4908-9080-2BAEE236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required-label">
            <a:extLst xmlns:a="http://schemas.openxmlformats.org/drawingml/2006/main">
              <a:ext uri="{FF2B5EF4-FFF2-40B4-BE49-F238E27FC236}">
                <a16:creationId xmlns:a16="http://schemas.microsoft.com/office/drawing/2014/main" id="{7F95CD2E-1AAF-47C4-BF05-6B418A0D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 ARTICLE</a:t>
            </a:r>
          </a:p>
        </p:txBody>
      </p:sp>
      <p:sp>
        <p:nvSpPr>
          <p:cNvPr id="5" name="pre-required-title">
            <a:extLst xmlns:a="http://schemas.openxmlformats.org/drawingml/2006/main">
              <a:ext uri="{FF2B5EF4-FFF2-40B4-BE49-F238E27FC236}">
                <a16:creationId xmlns:a16="http://schemas.microsoft.com/office/drawing/2014/main" id="{2B2E8C49-0DE1-40DA-B0D1-D8584E21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Fraiberger et al. (2021) — Media Sentiment and International Asset Prices</a:t>
            </a:r>
          </a:p>
        </p:txBody>
      </p:sp>
      <p:sp>
        <p:nvSpPr>
          <p:cNvPr id="6" name="pre-required-purpose">
            <a:extLst xmlns:a="http://schemas.openxmlformats.org/drawingml/2006/main">
              <a:ext uri="{FF2B5EF4-FFF2-40B4-BE49-F238E27FC236}">
                <a16:creationId xmlns:a16="http://schemas.microsoft.com/office/drawing/2014/main" id="{2861AEA7-2E16-4C28-B776-04A4BD0B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article: news sentiment and return prediction across 25 countries</a:t>
            </a:r>
          </a:p>
        </p:txBody>
      </p:sp>
      <p:sp>
        <p:nvSpPr>
          <p:cNvPr id="7" name="pre-required-url">
            <a:extLst xmlns:a="http://schemas.openxmlformats.org/drawingml/2006/main">
              <a:ext uri="{FF2B5EF4-FFF2-40B4-BE49-F238E27FC236}">
                <a16:creationId xmlns:a16="http://schemas.microsoft.com/office/drawing/2014/main" id="{BE90124C-3E2A-4E97-9FB8-198140A8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https://doi.org/10.1016/j.jinteco.2021.103526</a:t>
            </a:r>
          </a:p>
        </p:txBody>
      </p:sp>
      <p:sp>
        <p:nvSpPr>
          <p:cNvPr id="8" name="pre-data-label">
            <a:extLst xmlns:a="http://schemas.openxmlformats.org/drawingml/2006/main">
              <a:ext uri="{FF2B5EF4-FFF2-40B4-BE49-F238E27FC236}">
                <a16:creationId xmlns:a16="http://schemas.microsoft.com/office/drawing/2014/main" id="{CBA45EEC-3E84-486D-A770-DC9F7421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DATAVERSE PACKAGE</a:t>
            </a:r>
          </a:p>
        </p:txBody>
      </p:sp>
      <p:sp>
        <p:nvSpPr>
          <p:cNvPr id="9" name="pre-data-url">
            <a:extLst xmlns:a="http://schemas.openxmlformats.org/drawingml/2006/main">
              <a:ext uri="{FF2B5EF4-FFF2-40B4-BE49-F238E27FC236}">
                <a16:creationId xmlns:a16="http://schemas.microsoft.com/office/drawing/2014/main" id="{10C47BE3-E272-478F-AA82-BF3906A4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https://doi.org/10.7910/DVN/QNKFJF</a:t>
            </a:r>
          </a:p>
        </p:txBody>
      </p:sp>
      <p:sp>
        <p:nvSpPr>
          <p:cNvPr id="10" name="pre-bring-label">
            <a:extLst xmlns:a="http://schemas.openxmlformats.org/drawingml/2006/main">
              <a:ext uri="{FF2B5EF4-FFF2-40B4-BE49-F238E27FC236}">
                <a16:creationId xmlns:a16="http://schemas.microsoft.com/office/drawing/2014/main" id="{4D147775-0E7B-4982-B3BB-E7566F95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BRING TO CLASS</a:t>
            </a:r>
          </a:p>
        </p:txBody>
      </p:sp>
      <p:sp>
        <p:nvSpPr>
          <p:cNvPr id="11" name="pre-bring-copy">
            <a:extLst xmlns:a="http://schemas.openxmlformats.org/drawingml/2006/main">
              <a:ext uri="{FF2B5EF4-FFF2-40B4-BE49-F238E27FC236}">
                <a16:creationId xmlns:a16="http://schemas.microsoft.com/office/drawing/2014/main" id="{4DEA7DC8-693C-403C-AFF7-EB852A04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Article annotated · package extracted · target result identified</a:t>
            </a:r>
          </a:p>
        </p:txBody>
      </p:sp>
      <p:sp>
        <p:nvSpPr>
          <p:cNvPr id="12" name="pre-annotation-bg">
            <a:extLst xmlns:a="http://schemas.openxmlformats.org/drawingml/2006/main">
              <a:ext uri="{FF2B5EF4-FFF2-40B4-BE49-F238E27FC236}">
                <a16:creationId xmlns:a16="http://schemas.microsoft.com/office/drawing/2014/main" id="{37AEF36D-E965-4152-B667-F2E9F770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33550"/>
            <a:ext cx="40386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pre-annotation-title">
            <a:extLst xmlns:a="http://schemas.openxmlformats.org/drawingml/2006/main">
              <a:ext uri="{FF2B5EF4-FFF2-40B4-BE49-F238E27FC236}">
                <a16:creationId xmlns:a16="http://schemas.microsoft.com/office/drawing/2014/main" id="{0D594146-6F34-4152-910D-1E5F94B2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9550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Annotate four things</a:t>
            </a:r>
          </a:p>
        </p:txBody>
      </p:sp>
      <p:sp>
        <p:nvSpPr>
          <p:cNvPr id="14" name="pre-annotation-num-0">
            <a:extLst xmlns:a="http://schemas.openxmlformats.org/drawingml/2006/main">
              <a:ext uri="{FF2B5EF4-FFF2-40B4-BE49-F238E27FC236}">
                <a16:creationId xmlns:a16="http://schemas.microsoft.com/office/drawing/2014/main" id="{041E41FE-C67B-4611-AA3F-7E36C573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00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5" name="pre-annotation-item-0">
            <a:extLst xmlns:a="http://schemas.openxmlformats.org/drawingml/2006/main">
              <a:ext uri="{FF2B5EF4-FFF2-40B4-BE49-F238E27FC236}">
                <a16:creationId xmlns:a16="http://schemas.microsoft.com/office/drawing/2014/main" id="{92328290-4A0D-4F9A-827D-0B7C71DE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622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research question</a:t>
            </a:r>
          </a:p>
        </p:txBody>
      </p:sp>
      <p:sp>
        <p:nvSpPr>
          <p:cNvPr id="16" name="pre-annotation-num-1">
            <a:extLst xmlns:a="http://schemas.openxmlformats.org/drawingml/2006/main">
              <a:ext uri="{FF2B5EF4-FFF2-40B4-BE49-F238E27FC236}">
                <a16:creationId xmlns:a16="http://schemas.microsoft.com/office/drawing/2014/main" id="{156B22CA-5940-40DB-8744-7AF49EE9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7" name="pre-annotation-item-1">
            <a:extLst xmlns:a="http://schemas.openxmlformats.org/drawingml/2006/main">
              <a:ext uri="{FF2B5EF4-FFF2-40B4-BE49-F238E27FC236}">
                <a16:creationId xmlns:a16="http://schemas.microsoft.com/office/drawing/2014/main" id="{7C27B2A7-EA31-4A9C-B670-1BB41D68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909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method or design</a:t>
            </a:r>
          </a:p>
        </p:txBody>
      </p:sp>
      <p:sp>
        <p:nvSpPr>
          <p:cNvPr id="18" name="pre-annotation-num-2">
            <a:extLst xmlns:a="http://schemas.openxmlformats.org/drawingml/2006/main">
              <a:ext uri="{FF2B5EF4-FFF2-40B4-BE49-F238E27FC236}">
                <a16:creationId xmlns:a16="http://schemas.microsoft.com/office/drawing/2014/main" id="{1917C2C3-0D23-4F5F-8339-4B4D3BC3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57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pre-annotation-item-2">
            <a:extLst xmlns:a="http://schemas.openxmlformats.org/drawingml/2006/main">
              <a:ext uri="{FF2B5EF4-FFF2-40B4-BE49-F238E27FC236}">
                <a16:creationId xmlns:a16="http://schemas.microsoft.com/office/drawing/2014/main" id="{CA33E826-A7E0-456B-BDF2-7ED76129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195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strongest evidence</a:t>
            </a:r>
          </a:p>
        </p:txBody>
      </p:sp>
      <p:sp>
        <p:nvSpPr>
          <p:cNvPr id="20" name="pre-annotation-num-3">
            <a:extLst xmlns:a="http://schemas.openxmlformats.org/drawingml/2006/main">
              <a:ext uri="{FF2B5EF4-FFF2-40B4-BE49-F238E27FC236}">
                <a16:creationId xmlns:a16="http://schemas.microsoft.com/office/drawing/2014/main" id="{A387CDB1-0232-4C86-89E0-B099E221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86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pre-annotation-item-3">
            <a:extLst xmlns:a="http://schemas.openxmlformats.org/drawingml/2006/main">
              <a:ext uri="{FF2B5EF4-FFF2-40B4-BE49-F238E27FC236}">
                <a16:creationId xmlns:a16="http://schemas.microsoft.com/office/drawing/2014/main" id="{1B8F14D4-25AF-42CE-B0C9-2EC42544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482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limitation or doubt</a:t>
            </a:r>
          </a:p>
        </p:txBody>
      </p:sp>
      <p:sp>
        <p:nvSpPr>
          <p:cNvPr id="2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8D3FA25-B446-4C27-AE77-39C49999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D0ECD6C-5FC4-4EBA-8859-62524945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2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6532C6A-6F20-4F09-996E-3ECA10E0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2</a:t>
            </a:r>
          </a:p>
        </p:txBody>
      </p:sp>
    </p:spTree>
    <p:extLst>
      <p:ext uri="{BB962C8B-B14F-4D97-AF65-F5344CB8AC3E}">
        <p14:creationId xmlns:p14="http://schemas.microsoft.com/office/powerpoint/2010/main" val="14696189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F113BA7E-E547-4665-926C-5881E8CC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READING GUIDE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1473BE-0B39-477E-9166-1E985567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for the argument, not for coverage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8E31DAF6-5DD4-4891-ABFE-75455B1C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reading-status-0">
            <a:extLst xmlns:a="http://schemas.openxmlformats.org/drawingml/2006/main">
              <a:ext uri="{FF2B5EF4-FFF2-40B4-BE49-F238E27FC236}">
                <a16:creationId xmlns:a16="http://schemas.microsoft.com/office/drawing/2014/main" id="{2A2E54D0-742D-4C45-81F0-F83FD6A7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 ARTICLE</a:t>
            </a:r>
          </a:p>
        </p:txBody>
      </p:sp>
      <p:sp>
        <p:nvSpPr>
          <p:cNvPr id="5" name="pre-reading-0">
            <a:extLst xmlns:a="http://schemas.openxmlformats.org/drawingml/2006/main">
              <a:ext uri="{FF2B5EF4-FFF2-40B4-BE49-F238E27FC236}">
                <a16:creationId xmlns:a16="http://schemas.microsoft.com/office/drawing/2014/main" id="{3103680A-5DF0-408D-AC9E-C48DAC30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Fraiberger et al. (2021) — Media Sentiment and International Asset Prices</a:t>
            </a:r>
          </a:p>
        </p:txBody>
      </p:sp>
      <p:sp>
        <p:nvSpPr>
          <p:cNvPr id="6" name="pre-reading-why-0">
            <a:extLst xmlns:a="http://schemas.openxmlformats.org/drawingml/2006/main">
              <a:ext uri="{FF2B5EF4-FFF2-40B4-BE49-F238E27FC236}">
                <a16:creationId xmlns:a16="http://schemas.microsoft.com/office/drawing/2014/main" id="{70E2D655-AEA8-467A-8A78-3F0597E6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article: news sentiment and return prediction across 25 countries</a:t>
            </a:r>
          </a:p>
        </p:txBody>
      </p:sp>
      <p:sp>
        <p:nvSpPr>
          <p:cNvPr id="7" name="pre-reading-url-0">
            <a:extLst xmlns:a="http://schemas.openxmlformats.org/drawingml/2006/main">
              <a:ext uri="{FF2B5EF4-FFF2-40B4-BE49-F238E27FC236}">
                <a16:creationId xmlns:a16="http://schemas.microsoft.com/office/drawing/2014/main" id="{C974DAB1-4BE2-423B-9C6D-889B18AF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https://doi.org/10.1016/j.jinteco.2021.103526</a:t>
            </a:r>
          </a:p>
        </p:txBody>
      </p:sp>
      <p:sp>
        <p:nvSpPr>
          <p:cNvPr id="8" name="pre-reading-status-1">
            <a:extLst xmlns:a="http://schemas.openxmlformats.org/drawingml/2006/main">
              <a:ext uri="{FF2B5EF4-FFF2-40B4-BE49-F238E27FC236}">
                <a16:creationId xmlns:a16="http://schemas.microsoft.com/office/drawing/2014/main" id="{43DD8169-668A-4184-8EDA-8C2935C9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DATAVERSE PACKAGE</a:t>
            </a:r>
          </a:p>
        </p:txBody>
      </p:sp>
      <p:sp>
        <p:nvSpPr>
          <p:cNvPr id="9" name="pre-reading-1">
            <a:extLst xmlns:a="http://schemas.openxmlformats.org/drawingml/2006/main">
              <a:ext uri="{FF2B5EF4-FFF2-40B4-BE49-F238E27FC236}">
                <a16:creationId xmlns:a16="http://schemas.microsoft.com/office/drawing/2014/main" id="{63A244D9-8D29-478A-9FB0-919398FA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Harvard Dataverse 10.7910/DVN/QNKFJF</a:t>
            </a:r>
          </a:p>
        </p:txBody>
      </p:sp>
      <p:sp>
        <p:nvSpPr>
          <p:cNvPr id="10" name="pre-reading-why-1">
            <a:extLst xmlns:a="http://schemas.openxmlformats.org/drawingml/2006/main">
              <a:ext uri="{FF2B5EF4-FFF2-40B4-BE49-F238E27FC236}">
                <a16:creationId xmlns:a16="http://schemas.microsoft.com/office/drawing/2014/main" id="{FA1B1A2A-624F-49FA-9A8F-3C54FEB7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14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replication package: public data, Stata programs, and article figures</a:t>
            </a:r>
          </a:p>
        </p:txBody>
      </p:sp>
      <p:sp>
        <p:nvSpPr>
          <p:cNvPr id="11" name="pre-reading-url-1">
            <a:extLst xmlns:a="http://schemas.openxmlformats.org/drawingml/2006/main">
              <a:ext uri="{FF2B5EF4-FFF2-40B4-BE49-F238E27FC236}">
                <a16:creationId xmlns:a16="http://schemas.microsoft.com/office/drawing/2014/main" id="{F4160AA6-F021-4856-AEE2-1F12F2E9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https://doi.org/10.7910/DVN/QNKFJF</a:t>
            </a:r>
          </a:p>
        </p:txBody>
      </p:sp>
      <p:sp>
        <p:nvSpPr>
          <p:cNvPr id="12" name="pre-reading-status-2">
            <a:extLst xmlns:a="http://schemas.openxmlformats.org/drawingml/2006/main">
              <a:ext uri="{FF2B5EF4-FFF2-40B4-BE49-F238E27FC236}">
                <a16:creationId xmlns:a16="http://schemas.microsoft.com/office/drawing/2014/main" id="{8595F903-C5D6-4DF7-BBA2-6417FAD2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OPTIONAL · ISLR</a:t>
            </a:r>
          </a:p>
        </p:txBody>
      </p:sp>
      <p:sp>
        <p:nvSpPr>
          <p:cNvPr id="13" name="pre-reading-2">
            <a:extLst xmlns:a="http://schemas.openxmlformats.org/drawingml/2006/main">
              <a:ext uri="{FF2B5EF4-FFF2-40B4-BE49-F238E27FC236}">
                <a16:creationId xmlns:a16="http://schemas.microsoft.com/office/drawing/2014/main" id="{6AE8BA7B-2EE1-430F-98A8-28D0D435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ISLR sections on validation and flexible prediction</a:t>
            </a:r>
          </a:p>
        </p:txBody>
      </p:sp>
      <p:sp>
        <p:nvSpPr>
          <p:cNvPr id="14" name="pre-reading-why-2">
            <a:extLst xmlns:a="http://schemas.openxmlformats.org/drawingml/2006/main">
              <a:ext uri="{FF2B5EF4-FFF2-40B4-BE49-F238E27FC236}">
                <a16:creationId xmlns:a16="http://schemas.microsoft.com/office/drawing/2014/main" id="{BEC7EF9E-9033-4E03-8C23-28D09767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Optional review before the rolling-origin analysis</a:t>
            </a:r>
          </a:p>
        </p:txBody>
      </p:sp>
      <p:sp>
        <p:nvSpPr>
          <p:cNvPr id="15" name="pre-reading-url-2">
            <a:extLst xmlns:a="http://schemas.openxmlformats.org/drawingml/2006/main">
              <a:ext uri="{FF2B5EF4-FFF2-40B4-BE49-F238E27FC236}">
                <a16:creationId xmlns:a16="http://schemas.microsoft.com/office/drawing/2014/main" id="{232FF1F2-72E0-4397-83CA-734E715D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https://www.statlearning.com/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C901086-EE1F-4120-BECB-39406560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4F448A6-6CAE-49FE-A63B-63989204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3B42F11-EB0E-4E36-A93D-DDD7A3BB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3</a:t>
            </a:r>
          </a:p>
        </p:txBody>
      </p:sp>
    </p:spTree>
    <p:extLst>
      <p:ext uri="{BB962C8B-B14F-4D97-AF65-F5344CB8AC3E}">
        <p14:creationId xmlns:p14="http://schemas.microsoft.com/office/powerpoint/2010/main" val="19870996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637FB63F-45E9-4710-AF53-6F5790EF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REVIEW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AA38D5-3CF8-42DD-8CBE-BEB259C6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Arrive able to use these words precisely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84315D05-0FF9-489F-B00C-1722AEBD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term-0">
            <a:extLst xmlns:a="http://schemas.openxmlformats.org/drawingml/2006/main">
              <a:ext uri="{FF2B5EF4-FFF2-40B4-BE49-F238E27FC236}">
                <a16:creationId xmlns:a16="http://schemas.microsoft.com/office/drawing/2014/main" id="{9E3DE4C8-8483-4654-B9F7-9C335A14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Rolling origin</a:t>
            </a:r>
          </a:p>
        </p:txBody>
      </p:sp>
      <p:sp>
        <p:nvSpPr>
          <p:cNvPr id="5" name="pre-term-def-0">
            <a:extLst xmlns:a="http://schemas.openxmlformats.org/drawingml/2006/main">
              <a:ext uri="{FF2B5EF4-FFF2-40B4-BE49-F238E27FC236}">
                <a16:creationId xmlns:a16="http://schemas.microsoft.com/office/drawing/2014/main" id="{26DDC4F8-9CF3-41ED-A0DD-2118B127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71450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Repeatedly train on the past and test on the next period.</a:t>
            </a:r>
          </a:p>
        </p:txBody>
      </p:sp>
      <p:sp>
        <p:nvSpPr>
          <p:cNvPr id="6" name="rule-48-272">
            <a:extLst xmlns:a="http://schemas.openxmlformats.org/drawingml/2006/main">
              <a:ext uri="{FF2B5EF4-FFF2-40B4-BE49-F238E27FC236}">
                <a16:creationId xmlns:a16="http://schemas.microsoft.com/office/drawing/2014/main" id="{AB51AB18-9D59-49AA-810C-FD992F79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e-term-1">
            <a:extLst xmlns:a="http://schemas.openxmlformats.org/drawingml/2006/main">
              <a:ext uri="{FF2B5EF4-FFF2-40B4-BE49-F238E27FC236}">
                <a16:creationId xmlns:a16="http://schemas.microsoft.com/office/drawing/2014/main" id="{BFD93607-A9E7-4753-8E76-22F14F9B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Concept drift</a:t>
            </a:r>
          </a:p>
        </p:txBody>
      </p:sp>
      <p:sp>
        <p:nvSpPr>
          <p:cNvPr id="8" name="pre-term-def-1">
            <a:extLst xmlns:a="http://schemas.openxmlformats.org/drawingml/2006/main">
              <a:ext uri="{FF2B5EF4-FFF2-40B4-BE49-F238E27FC236}">
                <a16:creationId xmlns:a16="http://schemas.microsoft.com/office/drawing/2014/main" id="{4770DBCE-2F75-45C2-BC33-2C8D60C9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relationship P(Y|X) changes.</a:t>
            </a:r>
          </a:p>
        </p:txBody>
      </p:sp>
      <p:sp>
        <p:nvSpPr>
          <p:cNvPr id="9" name="rule-48-402">
            <a:extLst xmlns:a="http://schemas.openxmlformats.org/drawingml/2006/main">
              <a:ext uri="{FF2B5EF4-FFF2-40B4-BE49-F238E27FC236}">
                <a16:creationId xmlns:a16="http://schemas.microsoft.com/office/drawing/2014/main" id="{8DB5F744-BCDC-4CDC-BBAD-0DD6B013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9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e-term-2">
            <a:extLst xmlns:a="http://schemas.openxmlformats.org/drawingml/2006/main">
              <a:ext uri="{FF2B5EF4-FFF2-40B4-BE49-F238E27FC236}">
                <a16:creationId xmlns:a16="http://schemas.microsoft.com/office/drawing/2014/main" id="{531C0853-73A9-427A-AA9E-08D70EFC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Model card</a:t>
            </a:r>
          </a:p>
        </p:txBody>
      </p:sp>
      <p:sp>
        <p:nvSpPr>
          <p:cNvPr id="11" name="pre-term-def-2">
            <a:extLst xmlns:a="http://schemas.openxmlformats.org/drawingml/2006/main">
              <a:ext uri="{FF2B5EF4-FFF2-40B4-BE49-F238E27FC236}">
                <a16:creationId xmlns:a16="http://schemas.microsoft.com/office/drawing/2014/main" id="{354A71D0-60D0-4E7D-876C-27AA33F1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9100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concise record of intended use, evaluation, limits, and monitoring.</a:t>
            </a:r>
          </a:p>
        </p:txBody>
      </p:sp>
      <p:sp>
        <p:nvSpPr>
          <p:cNvPr id="12" name="rule-48-532">
            <a:extLst xmlns:a="http://schemas.openxmlformats.org/drawingml/2006/main">
              <a:ext uri="{FF2B5EF4-FFF2-40B4-BE49-F238E27FC236}">
                <a16:creationId xmlns:a16="http://schemas.microsoft.com/office/drawing/2014/main" id="{EE9B334C-0F22-4B52-8FCC-D5239DEF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0A83364-F3C6-40B8-9FD2-CFC908AA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D363EB9-AD67-4274-8092-0BCBBAE7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CE4D076-F296-4C3E-952F-5A419EA5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4</a:t>
            </a:r>
          </a:p>
        </p:txBody>
      </p:sp>
    </p:spTree>
    <p:extLst>
      <p:ext uri="{BB962C8B-B14F-4D97-AF65-F5344CB8AC3E}">
        <p14:creationId xmlns:p14="http://schemas.microsoft.com/office/powerpoint/2010/main" val="12748738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BE133EE2-110A-4735-A72D-8EC2FF52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REPLICATION PACKAGE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630C75-5E31-4B71-A30B-DB1E9D39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 the data before class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15D5338-18A4-4A06-9E35-D7C08689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ata-doi-label">
            <a:extLst xmlns:a="http://schemas.openxmlformats.org/drawingml/2006/main">
              <a:ext uri="{FF2B5EF4-FFF2-40B4-BE49-F238E27FC236}">
                <a16:creationId xmlns:a16="http://schemas.microsoft.com/office/drawing/2014/main" id="{DCBBC405-5CDB-4ACC-8A17-AE511683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HARVARD DATAVERSE</a:t>
            </a:r>
          </a:p>
        </p:txBody>
      </p:sp>
      <p:sp>
        <p:nvSpPr>
          <p:cNvPr id="5" name="data-doi">
            <a:extLst xmlns:a="http://schemas.openxmlformats.org/drawingml/2006/main">
              <a:ext uri="{FF2B5EF4-FFF2-40B4-BE49-F238E27FC236}">
                <a16:creationId xmlns:a16="http://schemas.microsoft.com/office/drawing/2014/main" id="{61E1E328-F08F-4861-9A55-86B3AB9A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27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10.7910/DVN/QNKFJF</a:t>
            </a:r>
          </a:p>
        </p:txBody>
      </p:sp>
      <p:sp>
        <p:nvSpPr>
          <p:cNvPr id="6" name="data-copy">
            <a:extLst xmlns:a="http://schemas.openxmlformats.org/drawingml/2006/main">
              <a:ext uri="{FF2B5EF4-FFF2-40B4-BE49-F238E27FC236}">
                <a16:creationId xmlns:a16="http://schemas.microsoft.com/office/drawing/2014/main" id="{FF179F26-80B2-43D4-BACD-22B5776B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 and extract the public package before class; use the README to identify the prepared analysis data.</a:t>
            </a:r>
          </a:p>
        </p:txBody>
      </p:sp>
      <p:sp>
        <p:nvSpPr>
          <p:cNvPr id="7" name="data-path-label">
            <a:extLst xmlns:a="http://schemas.openxmlformats.org/drawingml/2006/main">
              <a:ext uri="{FF2B5EF4-FFF2-40B4-BE49-F238E27FC236}">
                <a16:creationId xmlns:a16="http://schemas.microsoft.com/office/drawing/2014/main" id="{F5BACAE8-519D-4A63-AE25-9AB09190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EXTRACT TO</a:t>
            </a:r>
          </a:p>
        </p:txBody>
      </p:sp>
      <p:sp>
        <p:nvSpPr>
          <p:cNvPr id="8" name="data-path">
            <a:extLst xmlns:a="http://schemas.openxmlformats.org/drawingml/2006/main">
              <a:ext uri="{FF2B5EF4-FFF2-40B4-BE49-F238E27FC236}">
                <a16:creationId xmlns:a16="http://schemas.microsoft.com/office/drawing/2014/main" id="{A4ACA25E-C1CA-4926-BA93-0C338B26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111827"/>
                </a:solidFill>
                <a:latin typeface="Menlo"/>
                <a:ea typeface="Menlo"/>
                <a:cs typeface="Menlo"/>
              </a:rPr>
              <a:t>Desktop/quantitative-methods/11-forecasting-drift-and-governance/data/replication/</a:t>
            </a:r>
          </a:p>
        </p:txBody>
      </p:sp>
      <p:cxnSp>
        <p:nvCxnSpPr>
          <p:cNvPr id="28" name="workflow-edge-0"/>
          <p:cNvCxnSpPr/>
          <p:nvPr/>
        </p:nvCxnSpPr>
        <p:spPr>
          <a:xfrm xmlns:a="http://schemas.openxmlformats.org/drawingml/2006/main">
            <a:off x="8489950" y="35718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9" name="workflow-edge-1"/>
          <p:cNvCxnSpPr/>
          <p:nvPr/>
        </p:nvCxnSpPr>
        <p:spPr>
          <a:xfrm xmlns:a="http://schemas.openxmlformats.org/drawingml/2006/main">
            <a:off x="9912350" y="35718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1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97F76F14-542F-4384-B867-0F7C4EB2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D4DD0ECC-8338-434A-911A-7CAB58D4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</a:t>
            </a:r>
          </a:p>
        </p:txBody>
      </p:sp>
      <p:sp>
        <p:nvSpPr>
          <p:cNvPr id="13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D5A78821-7469-4672-9375-EA336CC1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D397F9E4-EFFE-4069-B793-43E01912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Extract</a:t>
            </a:r>
          </a:p>
        </p:txBody>
      </p:sp>
      <p:sp>
        <p:nvSpPr>
          <p:cNvPr id="15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A881FE82-104F-4CB3-82A7-FD811504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8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6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8372E89C-DC13-4022-A6FB-767C69E8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0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Open locally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9E611FB-1C39-4DAB-A3D6-0AFFC276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D755502-D926-4B2B-AA22-65EC0501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99440F9-E9C2-4126-BEC1-9CE56FF7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5</a:t>
            </a:r>
          </a:p>
        </p:txBody>
      </p:sp>
    </p:spTree>
    <p:extLst>
      <p:ext uri="{BB962C8B-B14F-4D97-AF65-F5344CB8AC3E}">
        <p14:creationId xmlns:p14="http://schemas.microsoft.com/office/powerpoint/2010/main" val="745025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4D99E36-05A0-4C6B-9C13-6C6ACDDC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SELF-CHECK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B54784-DEA2-4CDF-A60C-C9AF74B5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Answer on paper before class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0B408D8-1824-4DE6-B4BC-8263784B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estion-num-0">
            <a:extLst xmlns:a="http://schemas.openxmlformats.org/drawingml/2006/main">
              <a:ext uri="{FF2B5EF4-FFF2-40B4-BE49-F238E27FC236}">
                <a16:creationId xmlns:a16="http://schemas.microsoft.com/office/drawing/2014/main" id="{203EEA03-0D33-49B0-B875-C25F8E0A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question-0">
            <a:extLst xmlns:a="http://schemas.openxmlformats.org/drawingml/2006/main">
              <a:ext uri="{FF2B5EF4-FFF2-40B4-BE49-F238E27FC236}">
                <a16:creationId xmlns:a16="http://schemas.microsoft.com/office/drawing/2014/main" id="{9965A555-B890-41D1-A818-47CFB32E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145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information existed at t?</a:t>
            </a:r>
          </a:p>
        </p:txBody>
      </p:sp>
      <p:sp>
        <p:nvSpPr>
          <p:cNvPr id="6" name="rule-138-274">
            <a:extLst xmlns:a="http://schemas.openxmlformats.org/drawingml/2006/main">
              <a:ext uri="{FF2B5EF4-FFF2-40B4-BE49-F238E27FC236}">
                <a16:creationId xmlns:a16="http://schemas.microsoft.com/office/drawing/2014/main" id="{083E48EC-8AE5-4277-B823-B9852EA2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question-num-1">
            <a:extLst xmlns:a="http://schemas.openxmlformats.org/drawingml/2006/main">
              <a:ext uri="{FF2B5EF4-FFF2-40B4-BE49-F238E27FC236}">
                <a16:creationId xmlns:a16="http://schemas.microsoft.com/office/drawing/2014/main" id="{20175C93-4083-41F8-A127-19917553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1AAE91AB-E69A-4A9F-8058-0BB762FA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does DM test?</a:t>
            </a:r>
          </a:p>
        </p:txBody>
      </p:sp>
      <p:sp>
        <p:nvSpPr>
          <p:cNvPr id="9" name="rule-138-406">
            <a:extLst xmlns:a="http://schemas.openxmlformats.org/drawingml/2006/main">
              <a:ext uri="{FF2B5EF4-FFF2-40B4-BE49-F238E27FC236}">
                <a16:creationId xmlns:a16="http://schemas.microsoft.com/office/drawing/2014/main" id="{9A7A6149-DEC8-45AA-A83A-3A6C532B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671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question-num-2">
            <a:extLst xmlns:a="http://schemas.openxmlformats.org/drawingml/2006/main">
              <a:ext uri="{FF2B5EF4-FFF2-40B4-BE49-F238E27FC236}">
                <a16:creationId xmlns:a16="http://schemas.microsoft.com/office/drawing/2014/main" id="{2BC25866-1B60-492F-BBC4-CC9C3CDC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question-2">
            <a:extLst xmlns:a="http://schemas.openxmlformats.org/drawingml/2006/main">
              <a:ext uri="{FF2B5EF4-FFF2-40B4-BE49-F238E27FC236}">
                <a16:creationId xmlns:a16="http://schemas.microsoft.com/office/drawing/2014/main" id="{A18569B3-D483-4B74-AE4D-3C367DA5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Which shift can retraining fix?</a:t>
            </a:r>
          </a:p>
        </p:txBody>
      </p:sp>
      <p:sp>
        <p:nvSpPr>
          <p:cNvPr id="12" name="rule-138-538">
            <a:extLst xmlns:a="http://schemas.openxmlformats.org/drawingml/2006/main">
              <a:ext uri="{FF2B5EF4-FFF2-40B4-BE49-F238E27FC236}">
                <a16:creationId xmlns:a16="http://schemas.microsoft.com/office/drawing/2014/main" id="{9AD57D9C-CA18-476A-85B9-B009E8F9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BCD25C3-D712-4AB5-82BA-9773FF55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5C21838-7345-4446-BEA3-391AE9C5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109BA2B-8831-447C-9B87-C948D3DB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6</a:t>
            </a:r>
          </a:p>
        </p:txBody>
      </p:sp>
    </p:spTree>
    <p:extLst>
      <p:ext uri="{BB962C8B-B14F-4D97-AF65-F5344CB8AC3E}">
        <p14:creationId xmlns:p14="http://schemas.microsoft.com/office/powerpoint/2010/main" val="13795223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ady-kicker">
            <a:extLst xmlns:a="http://schemas.openxmlformats.org/drawingml/2006/main">
              <a:ext uri="{FF2B5EF4-FFF2-40B4-BE49-F238E27FC236}">
                <a16:creationId xmlns:a16="http://schemas.microsoft.com/office/drawing/2014/main" id="{5F7324AB-2713-41FA-B776-5AC1150B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PRE-SESSION · READY CHECK</a:t>
            </a:r>
          </a:p>
        </p:txBody>
      </p:sp>
      <p:sp>
        <p:nvSpPr>
          <p:cNvPr id="2" name="ready-title">
            <a:extLst xmlns:a="http://schemas.openxmlformats.org/drawingml/2006/main">
              <a:ext uri="{FF2B5EF4-FFF2-40B4-BE49-F238E27FC236}">
                <a16:creationId xmlns:a16="http://schemas.microsoft.com/office/drawing/2014/main" id="{E8FDA8B3-B385-4241-8EFE-399FC0C8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Ready for Session 11?</a:t>
            </a:r>
          </a:p>
        </p:txBody>
      </p:sp>
      <p:sp>
        <p:nvSpPr>
          <p:cNvPr id="3" name="ready-box-0">
            <a:extLst xmlns:a="http://schemas.openxmlformats.org/drawingml/2006/main">
              <a:ext uri="{FF2B5EF4-FFF2-40B4-BE49-F238E27FC236}">
                <a16:creationId xmlns:a16="http://schemas.microsoft.com/office/drawing/2014/main" id="{55E7B4F8-5CA6-4983-9074-257B4C3E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4" name="ready-item-0">
            <a:extLst xmlns:a="http://schemas.openxmlformats.org/drawingml/2006/main">
              <a:ext uri="{FF2B5EF4-FFF2-40B4-BE49-F238E27FC236}">
                <a16:creationId xmlns:a16="http://schemas.microsoft.com/office/drawing/2014/main" id="{6E4C564F-5495-4656-8A61-9352FD7A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Article annotated</a:t>
            </a:r>
          </a:p>
        </p:txBody>
      </p:sp>
      <p:sp>
        <p:nvSpPr>
          <p:cNvPr id="5" name="ready-box-1">
            <a:extLst xmlns:a="http://schemas.openxmlformats.org/drawingml/2006/main">
              <a:ext uri="{FF2B5EF4-FFF2-40B4-BE49-F238E27FC236}">
                <a16:creationId xmlns:a16="http://schemas.microsoft.com/office/drawing/2014/main" id="{F0D9CF22-C65B-42A1-A936-11A995D7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6" name="ready-item-1">
            <a:extLst xmlns:a="http://schemas.openxmlformats.org/drawingml/2006/main">
              <a:ext uri="{FF2B5EF4-FFF2-40B4-BE49-F238E27FC236}">
                <a16:creationId xmlns:a16="http://schemas.microsoft.com/office/drawing/2014/main" id="{53A5D5D4-7EC0-4CE4-A980-E38382B2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Dataverse package extracted</a:t>
            </a:r>
          </a:p>
        </p:txBody>
      </p:sp>
      <p:sp>
        <p:nvSpPr>
          <p:cNvPr id="7" name="ready-box-2">
            <a:extLst xmlns:a="http://schemas.openxmlformats.org/drawingml/2006/main">
              <a:ext uri="{FF2B5EF4-FFF2-40B4-BE49-F238E27FC236}">
                <a16:creationId xmlns:a16="http://schemas.microsoft.com/office/drawing/2014/main" id="{0904EE86-74DB-426F-AA5D-93D3F23C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8" name="ready-item-2">
            <a:extLst xmlns:a="http://schemas.openxmlformats.org/drawingml/2006/main">
              <a:ext uri="{FF2B5EF4-FFF2-40B4-BE49-F238E27FC236}">
                <a16:creationId xmlns:a16="http://schemas.microsoft.com/office/drawing/2014/main" id="{EA04B2A7-CC33-4374-9D7A-0E6B480F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Target result located</a:t>
            </a:r>
          </a:p>
        </p:txBody>
      </p:sp>
      <p:sp>
        <p:nvSpPr>
          <p:cNvPr id="9" name="ready-box-3">
            <a:extLst xmlns:a="http://schemas.openxmlformats.org/drawingml/2006/main">
              <a:ext uri="{FF2B5EF4-FFF2-40B4-BE49-F238E27FC236}">
                <a16:creationId xmlns:a16="http://schemas.microsoft.com/office/drawing/2014/main" id="{B9DAFEB0-2AB3-4EB5-A062-D14D03EC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0" name="ready-item-3">
            <a:extLst xmlns:a="http://schemas.openxmlformats.org/drawingml/2006/main">
              <a:ext uri="{FF2B5EF4-FFF2-40B4-BE49-F238E27FC236}">
                <a16:creationId xmlns:a16="http://schemas.microsoft.com/office/drawing/2014/main" id="{C2290616-067E-48C1-A71F-1F1E6C0E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Self-check attempted</a:t>
            </a:r>
          </a:p>
        </p:txBody>
      </p:sp>
      <p:sp>
        <p:nvSpPr>
          <p:cNvPr id="11" name="ready-box-4">
            <a:extLst xmlns:a="http://schemas.openxmlformats.org/drawingml/2006/main">
              <a:ext uri="{FF2B5EF4-FFF2-40B4-BE49-F238E27FC236}">
                <a16:creationId xmlns:a16="http://schemas.microsoft.com/office/drawing/2014/main" id="{F3C06A37-4DBE-4615-9BEE-2016CBFC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2" name="ready-item-4">
            <a:extLst xmlns:a="http://schemas.openxmlformats.org/drawingml/2006/main">
              <a:ext uri="{FF2B5EF4-FFF2-40B4-BE49-F238E27FC236}">
                <a16:creationId xmlns:a16="http://schemas.microsoft.com/office/drawing/2014/main" id="{B643983E-A2E2-4088-82FD-1A6C2AAD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question ready</a:t>
            </a:r>
          </a:p>
        </p:txBody>
      </p:sp>
      <p:sp>
        <p:nvSpPr>
          <p:cNvPr id="13" name="ready-question">
            <a:extLst xmlns:a="http://schemas.openxmlformats.org/drawingml/2006/main">
              <a:ext uri="{FF2B5EF4-FFF2-40B4-BE49-F238E27FC236}">
                <a16:creationId xmlns:a16="http://schemas.microsoft.com/office/drawing/2014/main" id="{B7DC94CA-ACA7-4C0D-8687-060CEC47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43150"/>
            <a:ext cx="31051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What are you responsible for when someone acts on your model?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1B05698-5DFB-49BD-955D-384F298B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1CD90D5-668F-4AAD-BE39-6C65BD19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C9BD533-75C4-4377-A784-AD786ABE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Pre-session · 7</a:t>
            </a:r>
          </a:p>
        </p:txBody>
      </p:sp>
    </p:spTree>
    <p:extLst>
      <p:ext uri="{BB962C8B-B14F-4D97-AF65-F5344CB8AC3E}">
        <p14:creationId xmlns:p14="http://schemas.microsoft.com/office/powerpoint/2010/main" val="16863222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Thierry Warin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Presentation</dc:title>
  <dcterms:created xsi:type="dcterms:W3CDTF">2026-08-23T21:43:01.9600000Z</dcterms:created>
  <dcterms:modified xsi:type="dcterms:W3CDTF">2026-08-23T21:43:01.9600000Z</dcterms:modified>
</coreProperties>
</file>