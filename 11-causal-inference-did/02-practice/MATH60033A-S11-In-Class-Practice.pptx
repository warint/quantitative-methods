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c4b4c8f893424f" /><Relationship Type="http://schemas.openxmlformats.org/officeDocument/2006/relationships/extended-properties" Target="/docProps/app.xml" Id="R16ca24cd95f0402a" /><Relationship Type="http://schemas.openxmlformats.org/officeDocument/2006/relationships/officeDocument" Target="/ppt/presentation.xml" Id="R3427e663716945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f2a4ae190c4ce2"/>
  </p:sldMasterIdLst>
  <p:notesMasterIdLst>
    <p:notesMasterId xmlns:r="http://schemas.openxmlformats.org/officeDocument/2006/relationships" r:id="R1c39224938364316"/>
  </p:notesMasterIdLst>
  <p:sldIdLst>
    <p:sldId xmlns:r="http://schemas.openxmlformats.org/officeDocument/2006/relationships" id="256" r:id="R7d46bc7e0c394812"/>
    <p:sldId xmlns:r="http://schemas.openxmlformats.org/officeDocument/2006/relationships" id="257" r:id="R07e64346968a4dcc"/>
    <p:sldId xmlns:r="http://schemas.openxmlformats.org/officeDocument/2006/relationships" id="258" r:id="R6fdd66a321014e47"/>
    <p:sldId xmlns:r="http://schemas.openxmlformats.org/officeDocument/2006/relationships" id="259" r:id="R1d162b313931464c"/>
    <p:sldId xmlns:r="http://schemas.openxmlformats.org/officeDocument/2006/relationships" id="260" r:id="Rf7372e4a79ab4788"/>
    <p:sldId xmlns:r="http://schemas.openxmlformats.org/officeDocument/2006/relationships" id="261" r:id="R21d224f1d2384661"/>
    <p:sldId xmlns:r="http://schemas.openxmlformats.org/officeDocument/2006/relationships" id="262" r:id="Ree43245a34054ea5"/>
    <p:sldId xmlns:r="http://schemas.openxmlformats.org/officeDocument/2006/relationships" id="263" r:id="Rea0cd33fe89f433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c150ae7e064d3f" /><Relationship Type="http://schemas.openxmlformats.org/officeDocument/2006/relationships/slideMaster" Target="/ppt/slideMasters/slideMaster1.xml" Id="R0ff2a4ae190c4ce2" /><Relationship Type="http://schemas.openxmlformats.org/officeDocument/2006/relationships/notesMaster" Target="/ppt/notesMasters/notesMaster1.xml" Id="R1c39224938364316" /><Relationship Type="http://schemas.openxmlformats.org/officeDocument/2006/relationships/presProps" Target="/ppt/presProps.xml" Id="R618024049bd945d8" /><Relationship Type="http://schemas.openxmlformats.org/officeDocument/2006/relationships/tableStyles" Target="/ppt/tableStyles.xml" Id="Rd24dc0bb0e95495a" /><Relationship Type="http://schemas.openxmlformats.org/officeDocument/2006/relationships/slide" Target="/ppt/slides/slide1.xml" Id="R7d46bc7e0c394812" /><Relationship Type="http://schemas.openxmlformats.org/officeDocument/2006/relationships/slide" Target="/ppt/slides/slide2.xml" Id="R07e64346968a4dcc" /><Relationship Type="http://schemas.openxmlformats.org/officeDocument/2006/relationships/slide" Target="/ppt/slides/slide3.xml" Id="R6fdd66a321014e47" /><Relationship Type="http://schemas.openxmlformats.org/officeDocument/2006/relationships/slide" Target="/ppt/slides/slide4.xml" Id="R1d162b313931464c" /><Relationship Type="http://schemas.openxmlformats.org/officeDocument/2006/relationships/slide" Target="/ppt/slides/slide5.xml" Id="Rf7372e4a79ab4788" /><Relationship Type="http://schemas.openxmlformats.org/officeDocument/2006/relationships/slide" Target="/ppt/slides/slide6.xml" Id="R21d224f1d2384661" /><Relationship Type="http://schemas.openxmlformats.org/officeDocument/2006/relationships/slide" Target="/ppt/slides/slide7.xml" Id="Ree43245a34054ea5" /><Relationship Type="http://schemas.openxmlformats.org/officeDocument/2006/relationships/slide" Target="/ppt/slides/slide8.xml" Id="Rea0cd33fe89f43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f4c9e7eae44f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8eda5268604f81" /><Relationship Type="http://schemas.openxmlformats.org/officeDocument/2006/relationships/notesMaster" Target="/ppt/notesMasters/notesMaster1.xml" Id="Raffd3a6248cf40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74b859292d48cd" /><Relationship Type="http://schemas.openxmlformats.org/officeDocument/2006/relationships/notesMaster" Target="/ppt/notesMasters/notesMaster1.xml" Id="Rcaf61017ed21433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eb3289540e74121" /><Relationship Type="http://schemas.openxmlformats.org/officeDocument/2006/relationships/notesMaster" Target="/ppt/notesMasters/notesMaster1.xml" Id="Rdc054c83dbc3421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dd8b384a52842e6" /><Relationship Type="http://schemas.openxmlformats.org/officeDocument/2006/relationships/notesMaster" Target="/ppt/notesMasters/notesMaster1.xml" Id="R3ad90872d60646e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d9be175f11349c7" /><Relationship Type="http://schemas.openxmlformats.org/officeDocument/2006/relationships/notesMaster" Target="/ppt/notesMasters/notesMaster1.xml" Id="Reff3cc5edb3b4e4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4dcd1845ca44684" /><Relationship Type="http://schemas.openxmlformats.org/officeDocument/2006/relationships/notesMaster" Target="/ppt/notesMasters/notesMaster1.xml" Id="R5da7870c9c12497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d78f49633904b45" /><Relationship Type="http://schemas.openxmlformats.org/officeDocument/2006/relationships/notesMaster" Target="/ppt/notesMasters/notesMaster1.xml" Id="R829b2aadbbc94bf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e4abe51cae04881" /><Relationship Type="http://schemas.openxmlformats.org/officeDocument/2006/relationships/notesMaster" Target="/ppt/notesMasters/notesMaster1.xml" Id="R6bc414cc02474b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question: 90 minutes in groups: Reproduce one international-asset result, backtest it honestly, and decide whether you would sign the deployment.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11-forecasting-drift-and-governance/slides.qmd</a:t>
            </a:r>
          </a:p>
          <a:p xmlns:a="http://schemas.openxmlformats.org/drawingml/2006/main">
            <a:r>
              <a:t>- Fraiberger et al. (2021) — Media Sentiment and International Asset Prices — https://doi.org/10.1016/j.jinteco.2021.103526</a:t>
            </a:r>
          </a:p>
          <a:p xmlns:a="http://schemas.openxmlformats.org/drawingml/2006/main">
            <a:r>
              <a:t>- Harvard Dataverse 10.7910/DVN/QNKFJF — https://doi.org/10.7910/DVN/QNKFJF</a:t>
            </a:r>
          </a:p>
          <a:p xmlns:a="http://schemas.openxmlformats.org/drawingml/2006/main">
            <a:r>
              <a:t>- ISLR sections on validation and flexible prediction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Groups work collaboratively. Assign a driver, a checker, and a narrator, then rotate roles halfway through.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11-forecasting-drift-and-governance/02-practice/README.md</a:t>
            </a:r>
          </a:p>
          <a:p xmlns:a="http://schemas.openxmlformats.org/drawingml/2006/main">
            <a:r>
              <a:t>- Fraiberger et al. (2021) — Media Sentiment and International Asset Prices — https://doi.org/10.1016/j.jinteco.2021.103526</a:t>
            </a:r>
          </a:p>
          <a:p xmlns:a="http://schemas.openxmlformats.org/drawingml/2006/main">
            <a:r>
              <a:t>- Harvard Dataverse 10.7910/DVN/QNKFJF — https://doi.org/10.7910/DVN/QNKFJF</a:t>
            </a:r>
          </a:p>
          <a:p xmlns:a="http://schemas.openxmlformats.org/drawingml/2006/main">
            <a:r>
              <a:t>- ISLR sections on validation and flexible prediction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Call time at each transition. The one-slide presentation is the in-class product, not homework.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11-forecasting-drift-and-governance/02-practice/README.md</a:t>
            </a:r>
          </a:p>
          <a:p xmlns:a="http://schemas.openxmlformats.org/drawingml/2006/main">
            <a:r>
              <a:t>- Fraiberger et al. (2021) — Media Sentiment and International Asset Prices — https://doi.org/10.1016/j.jinteco.2021.103526</a:t>
            </a:r>
          </a:p>
          <a:p xmlns:a="http://schemas.openxmlformats.org/drawingml/2006/main">
            <a:r>
              <a:t>- Harvard Dataverse 10.7910/DVN/QNKFJF — https://doi.org/10.7910/DVN/QNKFJF</a:t>
            </a:r>
          </a:p>
          <a:p xmlns:a="http://schemas.openxmlformats.org/drawingml/2006/main">
            <a:r>
              <a:t>- ISLR sections on validation and flexible prediction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If the demo fails, fix the environment before starting the research task.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11-forecasting-drift-and-governance/02-practice/README.md</a:t>
            </a:r>
          </a:p>
          <a:p xmlns:a="http://schemas.openxmlformats.org/drawingml/2006/main">
            <a:r>
              <a:t>- Fraiberger et al. (2021) — Media Sentiment and International Asset Prices — https://doi.org/10.1016/j.jinteco.2021.103526</a:t>
            </a:r>
          </a:p>
          <a:p xmlns:a="http://schemas.openxmlformats.org/drawingml/2006/main">
            <a:r>
              <a:t>- Harvard Dataverse 10.7910/DVN/QNKFJF — https://doi.org/10.7910/DVN/QNKFJF</a:t>
            </a:r>
          </a:p>
          <a:p xmlns:a="http://schemas.openxmlformats.org/drawingml/2006/main">
            <a:r>
              <a:t>- ISLR sections on validation and flexible prediction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Assign one member to narrate why each transition exists while another types.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11-forecasting-drift-and-governance/02-practice/README.md</a:t>
            </a:r>
          </a:p>
          <a:p xmlns:a="http://schemas.openxmlformats.org/drawingml/2006/main">
            <a:r>
              <a:t>- Fraiberger et al. (2021) — Media Sentiment and International Asset Prices — https://doi.org/10.1016/j.jinteco.2021.103526</a:t>
            </a:r>
          </a:p>
          <a:p xmlns:a="http://schemas.openxmlformats.org/drawingml/2006/main">
            <a:r>
              <a:t>- Harvard Dataverse 10.7910/DVN/QNKFJF — https://doi.org/10.7910/DVN/QNKFJF</a:t>
            </a:r>
          </a:p>
          <a:p xmlns:a="http://schemas.openxmlformats.org/drawingml/2006/main">
            <a:r>
              <a:t>- ISLR sections on validation and flexible prediction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failure is the learning objective. Do not let groups skip it after obtaining a clean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11-forecasting-drift-and-governance/02-practice/README.md</a:t>
            </a:r>
          </a:p>
          <a:p xmlns:a="http://schemas.openxmlformats.org/drawingml/2006/main">
            <a:r>
              <a:t>- Fraiberger et al. (2021) — Media Sentiment and International Asset Prices — https://doi.org/10.1016/j.jinteco.2021.103526</a:t>
            </a:r>
          </a:p>
          <a:p xmlns:a="http://schemas.openxmlformats.org/drawingml/2006/main">
            <a:r>
              <a:t>- Harvard Dataverse 10.7910/DVN/QNKFJF — https://doi.org/10.7910/DVN/QNKFJF</a:t>
            </a:r>
          </a:p>
          <a:p xmlns:a="http://schemas.openxmlformats.org/drawingml/2006/main">
            <a:r>
              <a:t>- ISLR sections on validation and flexible prediction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Draw the presenter after the group is called. This makes shared understanding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11-forecasting-drift-and-governance/02-practice/README.md</a:t>
            </a:r>
          </a:p>
          <a:p xmlns:a="http://schemas.openxmlformats.org/drawingml/2006/main">
            <a:r>
              <a:t>- Fraiberger et al. (2021) — Media Sentiment and International Asset Prices — https://doi.org/10.1016/j.jinteco.2021.103526</a:t>
            </a:r>
          </a:p>
          <a:p xmlns:a="http://schemas.openxmlformats.org/drawingml/2006/main">
            <a:r>
              <a:t>- Harvard Dataverse 10.7910/DVN/QNKFJF — https://doi.org/10.7910/DVN/QNKFJF</a:t>
            </a:r>
          </a:p>
          <a:p xmlns:a="http://schemas.openxmlformats.org/drawingml/2006/main">
            <a:r>
              <a:t>- ISLR sections on validation and flexible prediction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QMIB Lab App is an optional post-class knowledge check. Completion can count toward participation; it is not preparation for the next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QMIB Lab App: /Users/thierrywarin/Desktop/QMIB-lab-app/README.md</a:t>
            </a:r>
          </a:p>
          <a:p xmlns:a="http://schemas.openxmlformats.org/drawingml/2006/main">
            <a:r>
              <a:t>- Course source: 11-forecasting-drift-and-governance/02-practice/README.md</a:t>
            </a:r>
          </a:p>
          <a:p xmlns:a="http://schemas.openxmlformats.org/drawingml/2006/main">
            <a:r>
              <a:t>- Fraiberger et al. (2021) — Media Sentiment and International Asset Prices — https://doi.org/10.1016/j.jinteco.2021.103526</a:t>
            </a:r>
          </a:p>
          <a:p xmlns:a="http://schemas.openxmlformats.org/drawingml/2006/main">
            <a:r>
              <a:t>- Harvard Dataverse 10.7910/DVN/QNKFJF — https://doi.org/10.7910/DVN/QNKFJF</a:t>
            </a:r>
          </a:p>
          <a:p xmlns:a="http://schemas.openxmlformats.org/drawingml/2006/main">
            <a:r>
              <a:t>- ISLR sections on validation and flexible prediction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7c3212753b4e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14a4db107a42c8" /><Relationship Type="http://schemas.openxmlformats.org/officeDocument/2006/relationships/slideLayout" Target="/ppt/slideLayouts/slideLayout1.xml" Id="Ra95710f6b43440c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5710f6b43440c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ba3cc6af4744fe" /><Relationship Type="http://schemas.openxmlformats.org/officeDocument/2006/relationships/chart" Target="/ppt/slides/charts/chart1.xml" Id="R309be32275c64267" /><Relationship Type="http://schemas.openxmlformats.org/officeDocument/2006/relationships/notesSlide" Target="/ppt/notesSlides/notesSlide1.xml" Id="R1fd364038c3e4dd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6bcfaba47f4672" /><Relationship Type="http://schemas.openxmlformats.org/officeDocument/2006/relationships/notesSlide" Target="/ppt/notesSlides/notesSlide2.xml" Id="R5a9849a900e241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6ff749247545af" /><Relationship Type="http://schemas.openxmlformats.org/officeDocument/2006/relationships/notesSlide" Target="/ppt/notesSlides/notesSlide3.xml" Id="R5c5d669a6386486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106ab51b64496b" /><Relationship Type="http://schemas.openxmlformats.org/officeDocument/2006/relationships/notesSlide" Target="/ppt/notesSlides/notesSlide4.xml" Id="R58bb411e63644e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c4366494c642e9" /><Relationship Type="http://schemas.openxmlformats.org/officeDocument/2006/relationships/notesSlide" Target="/ppt/notesSlides/notesSlide5.xml" Id="Ra12239cadb4b48e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d2abc9d4de4b7d" /><Relationship Type="http://schemas.openxmlformats.org/officeDocument/2006/relationships/notesSlide" Target="/ppt/notesSlides/notesSlide6.xml" Id="R9d8617b40778438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fd6cbe4dba41a7" /><Relationship Type="http://schemas.openxmlformats.org/officeDocument/2006/relationships/notesSlide" Target="/ppt/notesSlides/notesSlide7.xml" Id="Rfec294195dde4f2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f805abaf984034" /><Relationship Type="http://schemas.openxmlformats.org/officeDocument/2006/relationships/notesSlide" Target="/ppt/notesSlides/notesSlide8.xml" Id="Rdc8cee94dbf24811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Observed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563EB"/>
              </a:solidFill>
            </c:spPr>
          </c:marker>
          <c:cat>
            <c:strLit>
              <c:ptCount val="6"/>
              <c:pt idx="0">
                <c:v>t−3</c:v>
              </c:pt>
              <c:pt idx="1">
                <c:v>t−2</c:v>
              </c:pt>
              <c:pt idx="2">
                <c:v>t−1</c:v>
              </c:pt>
              <c:pt idx="3">
                <c:v>t</c:v>
              </c:pt>
              <c:pt idx="4">
                <c:v>t+1</c:v>
              </c:pt>
              <c:pt idx="5">
                <c:v>t+2</c:v>
              </c:pt>
            </c:strLit>
          </c:cat>
          <c:val>
            <c:numLit>
              <c:formatCode>General</c:formatCode>
              <c:ptCount val="6"/>
              <c:pt idx="0">
                <c:v>2.1</c:v>
              </c:pt>
              <c:pt idx="1">
                <c:v>2.4</c:v>
              </c:pt>
              <c:pt idx="2">
                <c:v>2</c:v>
              </c:pt>
              <c:pt idx="3">
                <c:v>2.7</c:v>
              </c:pt>
              <c:pt idx="4">
                <c:v>3</c:v>
              </c:pt>
              <c:pt idx="5">
                <c:v>3.2</c:v>
              </c:pt>
            </c:numLit>
          </c:val>
          <c:smooth val="1"/>
        </c:ser>
        <c:ser>
          <c:idx val="1"/>
          <c:order val="1"/>
          <c:tx>
            <c:v>Forecast</c:v>
          </c:tx>
          <c:spPr>
            <a:ln xmlns:a="http://schemas.openxmlformats.org/drawingml/2006/main" w="28575">
              <a:solidFill>
                <a:srgbClr val="F97362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F97362"/>
              </a:solidFill>
            </c:spPr>
          </c:marker>
          <c:cat>
            <c:strLit>
              <c:ptCount val="6"/>
              <c:pt idx="0">
                <c:v>t−3</c:v>
              </c:pt>
              <c:pt idx="1">
                <c:v>t−2</c:v>
              </c:pt>
              <c:pt idx="2">
                <c:v>t−1</c:v>
              </c:pt>
              <c:pt idx="3">
                <c:v>t</c:v>
              </c:pt>
              <c:pt idx="4">
                <c:v>t+1</c:v>
              </c:pt>
              <c:pt idx="5">
                <c:v>t+2</c:v>
              </c:pt>
            </c:strLit>
          </c:cat>
          <c:val>
            <c:numLit>
              <c:formatCode>General</c:formatCode>
              <c:ptCount val="6"/>
              <c:pt idx="0">
                <c:v>2.1</c:v>
              </c:pt>
              <c:pt idx="1">
                <c:v>2.4</c:v>
              </c:pt>
              <c:pt idx="2">
                <c:v>2</c:v>
              </c:pt>
              <c:pt idx="3">
                <c:v>2.7</c:v>
              </c:pt>
              <c:pt idx="4">
                <c:v>2.8</c:v>
              </c:pt>
              <c:pt idx="5">
                <c:v>3</c:v>
              </c:pt>
            </c:numLit>
          </c:val>
          <c:smooth val="1"/>
        </c:ser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3627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4448FFAE-D399-407B-B4B7-B9C5A441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MATH60033A · SESSION 11 · IN-CLASS PRACTICE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38D1B836-18C8-4DA5-95D6-80EB65D4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55721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3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Replicate sentiment forecasting—and govern it</a:t>
            </a:r>
          </a:p>
        </p:txBody>
      </p:sp>
      <p:sp>
        <p:nvSpPr>
          <p:cNvPr id="3" name="cover-hook">
            <a:extLst xmlns:a="http://schemas.openxmlformats.org/drawingml/2006/main">
              <a:ext uri="{FF2B5EF4-FFF2-40B4-BE49-F238E27FC236}">
                <a16:creationId xmlns:a16="http://schemas.microsoft.com/office/drawing/2014/main" id="{4D201AE3-B917-4E81-902D-81FADC53E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2350"/>
            <a:ext cx="5095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939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90 minutes in groups: Reproduce one international-asset result, backtest it honestly, and decide whether you would sign the deployment.</a:t>
            </a:r>
          </a:p>
        </p:txBody>
      </p:sp>
      <p:sp>
        <p:nvSpPr>
          <p:cNvPr id="4" name="cover-author">
            <a:extLst xmlns:a="http://schemas.openxmlformats.org/drawingml/2006/main">
              <a:ext uri="{FF2B5EF4-FFF2-40B4-BE49-F238E27FC236}">
                <a16:creationId xmlns:a16="http://schemas.microsoft.com/office/drawing/2014/main" id="{DCEF56CD-57BC-4121-BC91-680A56E9A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340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Thierry Warin</a:t>
            </a:r>
          </a:p>
        </p:txBody>
      </p:sp>
      <p:sp>
        <p:nvSpPr>
          <p:cNvPr id="5" name="motif-field">
            <a:extLst xmlns:a="http://schemas.openxmlformats.org/drawingml/2006/main">
              <a:ext uri="{FF2B5EF4-FFF2-40B4-BE49-F238E27FC236}">
                <a16:creationId xmlns:a16="http://schemas.microsoft.com/office/drawing/2014/main" id="{3E0BA951-2961-427E-8C8C-D6D301D5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1950"/>
            <a:ext cx="5400675" cy="5734050"/>
          </a:xfrm>
          <a:prstGeom xmlns:a="http://schemas.openxmlformats.org/drawingml/2006/main" prst="roundRect">
            <a:avLst>
              <a:gd name="adj" fmla="val 141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657975" y="685800"/>
          <a:ext xmlns:a="http://schemas.openxmlformats.org/drawingml/2006/main" cx="4752975" cy="5086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09be32275c64267"/>
          </a:graphicData>
        </a:graphic>
      </p:graphicFrame>
      <p:sp>
        <p:nvSpPr>
          <p:cNvPr id="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2A4E2648-E087-4CD7-8274-A95A1C08C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3BEE222-CF8E-4478-B9E0-DE44A407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11</a:t>
            </a:r>
          </a:p>
        </p:txBody>
      </p:sp>
      <p:sp>
        <p:nvSpPr>
          <p:cNvPr id="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BE2B17CF-F5C7-4A5C-A7F3-53596773C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Practice · 1</a:t>
            </a:r>
          </a:p>
        </p:txBody>
      </p:sp>
    </p:spTree>
    <p:extLst>
      <p:ext uri="{BB962C8B-B14F-4D97-AF65-F5344CB8AC3E}">
        <p14:creationId xmlns:p14="http://schemas.microsoft.com/office/powerpoint/2010/main" val="14705303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">
            <a:extLst xmlns:a="http://schemas.openxmlformats.org/drawingml/2006/main">
              <a:ext uri="{FF2B5EF4-FFF2-40B4-BE49-F238E27FC236}">
                <a16:creationId xmlns:a16="http://schemas.microsoft.com/office/drawing/2014/main" id="{3CFE9FD0-6404-4BCC-B2DD-74DC6ECDD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PRACTICE · CHALLENGE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202FA07-C50F-4B56-8C04-05B21291B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Turn the method into a defensible group result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BB484EE9-8E00-4FE3-9FAC-C3D12242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hallenge-label">
            <a:extLst xmlns:a="http://schemas.openxmlformats.org/drawingml/2006/main">
              <a:ext uri="{FF2B5EF4-FFF2-40B4-BE49-F238E27FC236}">
                <a16:creationId xmlns:a16="http://schemas.microsoft.com/office/drawing/2014/main" id="{B44D7ED5-0039-415C-A3AA-C7D50968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THE CHALLENGE</a:t>
            </a:r>
          </a:p>
        </p:txBody>
      </p:sp>
      <p:sp>
        <p:nvSpPr>
          <p:cNvPr id="5" name="challenge-copy">
            <a:extLst xmlns:a="http://schemas.openxmlformats.org/drawingml/2006/main">
              <a:ext uri="{FF2B5EF4-FFF2-40B4-BE49-F238E27FC236}">
                <a16:creationId xmlns:a16="http://schemas.microsoft.com/office/drawing/2014/main" id="{387DFF6D-D93C-41C2-A80F-C2C2D4B2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33600"/>
            <a:ext cx="59055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5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Reproduce one international-asset result, backtest it honestly, and decide whether you would sign the deployment.</a:t>
            </a:r>
          </a:p>
        </p:txBody>
      </p:sp>
      <p:sp>
        <p:nvSpPr>
          <p:cNvPr id="6" name="challenge-result-label">
            <a:extLst xmlns:a="http://schemas.openxmlformats.org/drawingml/2006/main">
              <a:ext uri="{FF2B5EF4-FFF2-40B4-BE49-F238E27FC236}">
                <a16:creationId xmlns:a16="http://schemas.microsoft.com/office/drawing/2014/main" id="{990739B8-B9B9-4B91-9804-61A32036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529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RESULT AT MINUTE 70</a:t>
            </a:r>
          </a:p>
        </p:txBody>
      </p:sp>
      <p:sp>
        <p:nvSpPr>
          <p:cNvPr id="7" name="challenge-result">
            <a:extLst xmlns:a="http://schemas.openxmlformats.org/drawingml/2006/main">
              <a:ext uri="{FF2B5EF4-FFF2-40B4-BE49-F238E27FC236}">
                <a16:creationId xmlns:a16="http://schemas.microsoft.com/office/drawing/2014/main" id="{776E88CD-E3C9-4D44-AE03-0C2ACE258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0"/>
            <a:ext cx="5905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Reproduce one sentiment-return result, then backtest it by forecast origin and write the monitoring response to drift.</a:t>
            </a:r>
          </a:p>
        </p:txBody>
      </p:sp>
      <p:sp>
        <p:nvSpPr>
          <p:cNvPr id="8" name="objective-bg">
            <a:extLst xmlns:a="http://schemas.openxmlformats.org/drawingml/2006/main">
              <a:ext uri="{FF2B5EF4-FFF2-40B4-BE49-F238E27FC236}">
                <a16:creationId xmlns:a16="http://schemas.microsoft.com/office/drawing/2014/main" id="{99423DB8-E144-495B-94B8-870D68108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76400"/>
            <a:ext cx="4191000" cy="3962400"/>
          </a:xfrm>
          <a:prstGeom xmlns:a="http://schemas.openxmlformats.org/drawingml/2006/main" prst="roundRect">
            <a:avLst>
              <a:gd name="adj" fmla="val 192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objective-title">
            <a:extLst xmlns:a="http://schemas.openxmlformats.org/drawingml/2006/main">
              <a:ext uri="{FF2B5EF4-FFF2-40B4-BE49-F238E27FC236}">
                <a16:creationId xmlns:a16="http://schemas.microsoft.com/office/drawing/2014/main" id="{3E496D5C-2479-4224-B612-AE57294DC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383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0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By the end, your group can…</a:t>
            </a:r>
          </a:p>
        </p:txBody>
      </p:sp>
      <p:sp>
        <p:nvSpPr>
          <p:cNvPr id="10" name="objective-num-0">
            <a:extLst xmlns:a="http://schemas.openxmlformats.org/drawingml/2006/main">
              <a:ext uri="{FF2B5EF4-FFF2-40B4-BE49-F238E27FC236}">
                <a16:creationId xmlns:a16="http://schemas.microsoft.com/office/drawing/2014/main" id="{438B580E-B0F6-4353-A1D2-6476A157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781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1" name="objective-item-0">
            <a:extLst xmlns:a="http://schemas.openxmlformats.org/drawingml/2006/main">
              <a:ext uri="{FF2B5EF4-FFF2-40B4-BE49-F238E27FC236}">
                <a16:creationId xmlns:a16="http://schemas.microsoft.com/office/drawing/2014/main" id="{77E8559A-9007-4614-B606-1D3BAB9D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33675"/>
            <a:ext cx="281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6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Reproduce an article result</a:t>
            </a:r>
          </a:p>
        </p:txBody>
      </p:sp>
      <p:sp>
        <p:nvSpPr>
          <p:cNvPr id="12" name="objective-num-1">
            <a:extLst xmlns:a="http://schemas.openxmlformats.org/drawingml/2006/main">
              <a:ext uri="{FF2B5EF4-FFF2-40B4-BE49-F238E27FC236}">
                <a16:creationId xmlns:a16="http://schemas.microsoft.com/office/drawing/2014/main" id="{CCCE9FB3-8BD7-4FBD-9EDF-E474894C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4099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3" name="objective-item-1">
            <a:extLst xmlns:a="http://schemas.openxmlformats.org/drawingml/2006/main">
              <a:ext uri="{FF2B5EF4-FFF2-40B4-BE49-F238E27FC236}">
                <a16:creationId xmlns:a16="http://schemas.microsoft.com/office/drawing/2014/main" id="{3CA44BEA-AF0C-42E1-801B-04FB4757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362325"/>
            <a:ext cx="281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6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Compare with a benchmark</a:t>
            </a:r>
          </a:p>
        </p:txBody>
      </p:sp>
      <p:sp>
        <p:nvSpPr>
          <p:cNvPr id="14" name="objective-num-2">
            <a:extLst xmlns:a="http://schemas.openxmlformats.org/drawingml/2006/main">
              <a:ext uri="{FF2B5EF4-FFF2-40B4-BE49-F238E27FC236}">
                <a16:creationId xmlns:a16="http://schemas.microsoft.com/office/drawing/2014/main" id="{2775BA85-FF31-4E62-A432-36026499B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0386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5" name="objective-item-2">
            <a:extLst xmlns:a="http://schemas.openxmlformats.org/drawingml/2006/main">
              <a:ext uri="{FF2B5EF4-FFF2-40B4-BE49-F238E27FC236}">
                <a16:creationId xmlns:a16="http://schemas.microsoft.com/office/drawing/2014/main" id="{4C350D66-8E71-4FE6-BA6E-1495DADA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990975"/>
            <a:ext cx="281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Break one assumption</a:t>
            </a:r>
          </a:p>
        </p:txBody>
      </p:sp>
      <p:sp>
        <p:nvSpPr>
          <p:cNvPr id="16" name="objective-num-3">
            <a:extLst xmlns:a="http://schemas.openxmlformats.org/drawingml/2006/main">
              <a:ext uri="{FF2B5EF4-FFF2-40B4-BE49-F238E27FC236}">
                <a16:creationId xmlns:a16="http://schemas.microsoft.com/office/drawing/2014/main" id="{0534A721-9E90-407B-BE96-D9EECD8AA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6672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7" name="objective-item-3">
            <a:extLst xmlns:a="http://schemas.openxmlformats.org/drawingml/2006/main">
              <a:ext uri="{FF2B5EF4-FFF2-40B4-BE49-F238E27FC236}">
                <a16:creationId xmlns:a16="http://schemas.microsoft.com/office/drawing/2014/main" id="{9574C3CE-8BCC-4D55-A98E-AEA249044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619625"/>
            <a:ext cx="281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69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Explain the supported claim</a:t>
            </a:r>
          </a:p>
        </p:txBody>
      </p:sp>
      <p:sp>
        <p:nvSpPr>
          <p:cNvPr id="18" name="rule-48-674">
            <a:extLst xmlns:a="http://schemas.openxmlformats.org/drawingml/2006/main">
              <a:ext uri="{FF2B5EF4-FFF2-40B4-BE49-F238E27FC236}">
                <a16:creationId xmlns:a16="http://schemas.microsoft.com/office/drawing/2014/main" id="{A73E95C6-A675-4E03-98CA-F4E555E59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10E610D-AEF1-400E-871E-BD993494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11</a:t>
            </a:r>
          </a:p>
        </p:txBody>
      </p:sp>
      <p:sp>
        <p:nvSpPr>
          <p:cNvPr id="20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9A840047-519D-44BB-A802-18A8576E3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Practice · 2</a:t>
            </a:r>
          </a:p>
        </p:txBody>
      </p:sp>
    </p:spTree>
    <p:extLst>
      <p:ext uri="{BB962C8B-B14F-4D97-AF65-F5344CB8AC3E}">
        <p14:creationId xmlns:p14="http://schemas.microsoft.com/office/powerpoint/2010/main" val="13835407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eyebrow">
            <a:extLst xmlns:a="http://schemas.openxmlformats.org/drawingml/2006/main">
              <a:ext uri="{FF2B5EF4-FFF2-40B4-BE49-F238E27FC236}">
                <a16:creationId xmlns:a16="http://schemas.microsoft.com/office/drawing/2014/main" id="{CF358983-9B4E-4519-9A6F-C4FE248C4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PRACTICE · 90-MINUTE PLAN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9221A56-6B5C-4E9C-A425-C759984AC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Protect the final 20 minutes for presentations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5194E146-7A23-48CD-AD80-5F58D997F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ming-time-0">
            <a:extLst xmlns:a="http://schemas.openxmlformats.org/drawingml/2006/main">
              <a:ext uri="{FF2B5EF4-FFF2-40B4-BE49-F238E27FC236}">
                <a16:creationId xmlns:a16="http://schemas.microsoft.com/office/drawing/2014/main" id="{73FE729D-7757-43A0-96D3-43B19F1AA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00–10</a:t>
            </a:r>
          </a:p>
        </p:txBody>
      </p:sp>
      <p:sp>
        <p:nvSpPr>
          <p:cNvPr id="5" name="timing-name-0">
            <a:extLst xmlns:a="http://schemas.openxmlformats.org/drawingml/2006/main">
              <a:ext uri="{FF2B5EF4-FFF2-40B4-BE49-F238E27FC236}">
                <a16:creationId xmlns:a16="http://schemas.microsoft.com/office/drawing/2014/main" id="{BE9D427D-BC2E-481C-8FE4-D8C21B57E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6573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Locate</a:t>
            </a:r>
          </a:p>
        </p:txBody>
      </p:sp>
      <p:sp>
        <p:nvSpPr>
          <p:cNvPr id="6" name="timing-copy-0">
            <a:extLst xmlns:a="http://schemas.openxmlformats.org/drawingml/2006/main">
              <a:ext uri="{FF2B5EF4-FFF2-40B4-BE49-F238E27FC236}">
                <a16:creationId xmlns:a16="http://schemas.microsoft.com/office/drawing/2014/main" id="{DB4509B8-549D-4BCA-8E33-332213A7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65735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Choose roles and locate the exact article result to reproduce.</a:t>
            </a:r>
          </a:p>
        </p:txBody>
      </p:sp>
      <p:sp>
        <p:nvSpPr>
          <p:cNvPr id="7" name="rule-184-226">
            <a:extLst xmlns:a="http://schemas.openxmlformats.org/drawingml/2006/main">
              <a:ext uri="{FF2B5EF4-FFF2-40B4-BE49-F238E27FC236}">
                <a16:creationId xmlns:a16="http://schemas.microsoft.com/office/drawing/2014/main" id="{16D640FB-31DC-4D84-A8A8-B3D444771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152650"/>
            <a:ext cx="960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iming-time-1">
            <a:extLst xmlns:a="http://schemas.openxmlformats.org/drawingml/2006/main">
              <a:ext uri="{FF2B5EF4-FFF2-40B4-BE49-F238E27FC236}">
                <a16:creationId xmlns:a16="http://schemas.microsoft.com/office/drawing/2014/main" id="{F5E5B93B-42A3-4B8E-A957-E06EDDDC1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10–30</a:t>
            </a:r>
          </a:p>
        </p:txBody>
      </p:sp>
      <p:sp>
        <p:nvSpPr>
          <p:cNvPr id="9" name="timing-name-1">
            <a:extLst xmlns:a="http://schemas.openxmlformats.org/drawingml/2006/main">
              <a:ext uri="{FF2B5EF4-FFF2-40B4-BE49-F238E27FC236}">
                <a16:creationId xmlns:a16="http://schemas.microsoft.com/office/drawing/2014/main" id="{91200671-2656-43D7-B0BB-E4DBE6305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3431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Replicate</a:t>
            </a:r>
          </a:p>
        </p:txBody>
      </p:sp>
      <p:sp>
        <p:nvSpPr>
          <p:cNvPr id="10" name="timing-copy-1">
            <a:extLst xmlns:a="http://schemas.openxmlformats.org/drawingml/2006/main">
              <a:ext uri="{FF2B5EF4-FFF2-40B4-BE49-F238E27FC236}">
                <a16:creationId xmlns:a16="http://schemas.microsoft.com/office/drawing/2014/main" id="{F5F55604-297A-483C-9382-6A17A5A79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34315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Run the authors' data or prepared file and reproduce the target.</a:t>
            </a:r>
          </a:p>
        </p:txBody>
      </p:sp>
      <p:sp>
        <p:nvSpPr>
          <p:cNvPr id="11" name="rule-184-298">
            <a:extLst xmlns:a="http://schemas.openxmlformats.org/drawingml/2006/main">
              <a:ext uri="{FF2B5EF4-FFF2-40B4-BE49-F238E27FC236}">
                <a16:creationId xmlns:a16="http://schemas.microsoft.com/office/drawing/2014/main" id="{5FC2FE75-EA11-4F70-8587-46D4A3D29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838450"/>
            <a:ext cx="960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iming-time-2">
            <a:extLst xmlns:a="http://schemas.openxmlformats.org/drawingml/2006/main">
              <a:ext uri="{FF2B5EF4-FFF2-40B4-BE49-F238E27FC236}">
                <a16:creationId xmlns:a16="http://schemas.microsoft.com/office/drawing/2014/main" id="{E5DFC89A-CC99-4CF9-A634-8612909A8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2895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30–45</a:t>
            </a:r>
          </a:p>
        </p:txBody>
      </p:sp>
      <p:sp>
        <p:nvSpPr>
          <p:cNvPr id="13" name="timing-name-2">
            <a:extLst xmlns:a="http://schemas.openxmlformats.org/drawingml/2006/main">
              <a:ext uri="{FF2B5EF4-FFF2-40B4-BE49-F238E27FC236}">
                <a16:creationId xmlns:a16="http://schemas.microsoft.com/office/drawing/2014/main" id="{5BBE35B3-9133-4522-8030-800BEABA1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0289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Compare</a:t>
            </a:r>
          </a:p>
        </p:txBody>
      </p:sp>
      <p:sp>
        <p:nvSpPr>
          <p:cNvPr id="14" name="timing-copy-2">
            <a:extLst xmlns:a="http://schemas.openxmlformats.org/drawingml/2006/main">
              <a:ext uri="{FF2B5EF4-FFF2-40B4-BE49-F238E27FC236}">
                <a16:creationId xmlns:a16="http://schemas.microsoft.com/office/drawing/2014/main" id="{A3CC2978-8DF3-4B6D-9835-C1F92C137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02895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Apply the session method or benchmark on the same sample.</a:t>
            </a:r>
          </a:p>
        </p:txBody>
      </p:sp>
      <p:sp>
        <p:nvSpPr>
          <p:cNvPr id="15" name="rule-184-370">
            <a:extLst xmlns:a="http://schemas.openxmlformats.org/drawingml/2006/main">
              <a:ext uri="{FF2B5EF4-FFF2-40B4-BE49-F238E27FC236}">
                <a16:creationId xmlns:a16="http://schemas.microsoft.com/office/drawing/2014/main" id="{3468653C-234E-4694-9513-DEB5EF97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24250"/>
            <a:ext cx="960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iming-time-3">
            <a:extLst xmlns:a="http://schemas.openxmlformats.org/drawingml/2006/main">
              <a:ext uri="{FF2B5EF4-FFF2-40B4-BE49-F238E27FC236}">
                <a16:creationId xmlns:a16="http://schemas.microsoft.com/office/drawing/2014/main" id="{7065A179-6FC6-4229-A1A8-44F96AB3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1475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45–60</a:t>
            </a:r>
          </a:p>
        </p:txBody>
      </p:sp>
      <p:sp>
        <p:nvSpPr>
          <p:cNvPr id="17" name="timing-name-3">
            <a:extLst xmlns:a="http://schemas.openxmlformats.org/drawingml/2006/main">
              <a:ext uri="{FF2B5EF4-FFF2-40B4-BE49-F238E27FC236}">
                <a16:creationId xmlns:a16="http://schemas.microsoft.com/office/drawing/2014/main" id="{26176F0E-E911-4F56-92EA-C83F1A979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7147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Break</a:t>
            </a:r>
          </a:p>
        </p:txBody>
      </p:sp>
      <p:sp>
        <p:nvSpPr>
          <p:cNvPr id="18" name="timing-copy-3">
            <a:extLst xmlns:a="http://schemas.openxmlformats.org/drawingml/2006/main">
              <a:ext uri="{FF2B5EF4-FFF2-40B4-BE49-F238E27FC236}">
                <a16:creationId xmlns:a16="http://schemas.microsoft.com/office/drawing/2014/main" id="{0C9563D5-F2E7-4090-9271-02397DA70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71475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Stress one assumption and save before/after evidence.</a:t>
            </a:r>
          </a:p>
        </p:txBody>
      </p:sp>
      <p:sp>
        <p:nvSpPr>
          <p:cNvPr id="19" name="rule-184-442">
            <a:extLst xmlns:a="http://schemas.openxmlformats.org/drawingml/2006/main">
              <a:ext uri="{FF2B5EF4-FFF2-40B4-BE49-F238E27FC236}">
                <a16:creationId xmlns:a16="http://schemas.microsoft.com/office/drawing/2014/main" id="{037F7A3D-45C4-42CB-A7A0-4DDC64745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210050"/>
            <a:ext cx="960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iming-time-4">
            <a:extLst xmlns:a="http://schemas.openxmlformats.org/drawingml/2006/main">
              <a:ext uri="{FF2B5EF4-FFF2-40B4-BE49-F238E27FC236}">
                <a16:creationId xmlns:a16="http://schemas.microsoft.com/office/drawing/2014/main" id="{A7D47E24-18D2-4D5F-BD5C-F130CCEAB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0055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60–70</a:t>
            </a:r>
          </a:p>
        </p:txBody>
      </p:sp>
      <p:sp>
        <p:nvSpPr>
          <p:cNvPr id="21" name="timing-name-4">
            <a:extLst xmlns:a="http://schemas.openxmlformats.org/drawingml/2006/main">
              <a:ext uri="{FF2B5EF4-FFF2-40B4-BE49-F238E27FC236}">
                <a16:creationId xmlns:a16="http://schemas.microsoft.com/office/drawing/2014/main" id="{EB7F2D26-E65F-4D1C-93B6-A89DB4885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4005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Synthesize</a:t>
            </a:r>
          </a:p>
        </p:txBody>
      </p:sp>
      <p:sp>
        <p:nvSpPr>
          <p:cNvPr id="22" name="timing-copy-4">
            <a:extLst xmlns:a="http://schemas.openxmlformats.org/drawingml/2006/main">
              <a:ext uri="{FF2B5EF4-FFF2-40B4-BE49-F238E27FC236}">
                <a16:creationId xmlns:a16="http://schemas.microsoft.com/office/drawing/2014/main" id="{6FDE0496-9304-4E16-8C31-E222CEC7A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40055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Create one slide: article, replication, catch.</a:t>
            </a:r>
          </a:p>
        </p:txBody>
      </p:sp>
      <p:sp>
        <p:nvSpPr>
          <p:cNvPr id="23" name="rule-184-514">
            <a:extLst xmlns:a="http://schemas.openxmlformats.org/drawingml/2006/main">
              <a:ext uri="{FF2B5EF4-FFF2-40B4-BE49-F238E27FC236}">
                <a16:creationId xmlns:a16="http://schemas.microsoft.com/office/drawing/2014/main" id="{303F4DC0-7877-4DF3-A3F9-F19C036F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95850"/>
            <a:ext cx="960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iming-time-5">
            <a:extLst xmlns:a="http://schemas.openxmlformats.org/drawingml/2006/main">
              <a:ext uri="{FF2B5EF4-FFF2-40B4-BE49-F238E27FC236}">
                <a16:creationId xmlns:a16="http://schemas.microsoft.com/office/drawing/2014/main" id="{FEAC4F76-BC5E-43CD-B9F3-9DB93181B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8635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70–90</a:t>
            </a:r>
          </a:p>
        </p:txBody>
      </p:sp>
      <p:sp>
        <p:nvSpPr>
          <p:cNvPr id="25" name="timing-name-5">
            <a:extLst xmlns:a="http://schemas.openxmlformats.org/drawingml/2006/main">
              <a:ext uri="{FF2B5EF4-FFF2-40B4-BE49-F238E27FC236}">
                <a16:creationId xmlns:a16="http://schemas.microsoft.com/office/drawing/2014/main" id="{8ED1FFAA-5985-4B85-8B4D-818A635B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863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Present</a:t>
            </a:r>
          </a:p>
        </p:txBody>
      </p:sp>
      <p:sp>
        <p:nvSpPr>
          <p:cNvPr id="26" name="timing-copy-5">
            <a:extLst xmlns:a="http://schemas.openxmlformats.org/drawingml/2006/main">
              <a:ext uri="{FF2B5EF4-FFF2-40B4-BE49-F238E27FC236}">
                <a16:creationId xmlns:a16="http://schemas.microsoft.com/office/drawing/2014/main" id="{6EC1D44C-71E7-4F43-8E52-D8153C8D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8635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Two minutes per group; presenter chosen at random.</a:t>
            </a:r>
          </a:p>
        </p:txBody>
      </p:sp>
      <p:sp>
        <p:nvSpPr>
          <p:cNvPr id="2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CF47AA17-15D1-4E4E-93E1-E396962B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F9C1B17-ACC4-41A8-A61C-705FF33B2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11</a:t>
            </a:r>
          </a:p>
        </p:txBody>
      </p:sp>
      <p:sp>
        <p:nvSpPr>
          <p:cNvPr id="2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BEF5F520-95C4-423F-9DF5-3C0F77311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Practice · 3</a:t>
            </a:r>
          </a:p>
        </p:txBody>
      </p:sp>
    </p:spTree>
    <p:extLst>
      <p:ext uri="{BB962C8B-B14F-4D97-AF65-F5344CB8AC3E}">
        <p14:creationId xmlns:p14="http://schemas.microsoft.com/office/powerpoint/2010/main" val="20334044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96CE3E97-FDF5-42DD-9CE5-FDAC60A45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PRACTICE · START HERE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7EC756B-5368-4F70-A66B-9574E24C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Open the Desktop clone in VS Codium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7C28C0BC-F40D-45B3-A2C5-CBA45B38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actice-path">
            <a:extLst xmlns:a="http://schemas.openxmlformats.org/drawingml/2006/main">
              <a:ext uri="{FF2B5EF4-FFF2-40B4-BE49-F238E27FC236}">
                <a16:creationId xmlns:a16="http://schemas.microsoft.com/office/drawing/2014/main" id="{39245111-936C-48A4-B2B4-8564C1E5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2700" b="1">
                <a:solidFill>
                  <a:srgbClr val="2563EB"/>
                </a:solidFill>
                <a:latin typeface="Menlo"/>
                <a:ea typeface="Menlo"/>
                <a:cs typeface="Menlo"/>
              </a:rPr>
              <a:t>Desktop/quantitative-methods</a:t>
            </a:r>
          </a:p>
        </p:txBody>
      </p:sp>
      <p:sp>
        <p:nvSpPr>
          <p:cNvPr id="5" name="practice-commands">
            <a:extLst xmlns:a="http://schemas.openxmlformats.org/drawingml/2006/main">
              <a:ext uri="{FF2B5EF4-FFF2-40B4-BE49-F238E27FC236}">
                <a16:creationId xmlns:a16="http://schemas.microsoft.com/office/drawing/2014/main" id="{1A0B4702-B4FC-454C-8474-ABBEA8C7D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90800"/>
            <a:ext cx="6191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0" tIns="152400" rIns="190500" bIns="1524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~/Desktop/quantitative-methods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11-forecasting-drift-and-governance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demo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session11_governance_demo.py</a:t>
            </a:r>
          </a:p>
        </p:txBody>
      </p:sp>
      <p:sp>
        <p:nvSpPr>
          <p:cNvPr id="6" name="practice-local">
            <a:extLst xmlns:a="http://schemas.openxmlformats.org/drawingml/2006/main">
              <a:ext uri="{FF2B5EF4-FFF2-40B4-BE49-F238E27FC236}">
                <a16:creationId xmlns:a16="http://schemas.microsoft.com/office/drawing/2014/main" id="{431A0F96-F0C0-4120-B930-992181850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38650"/>
            <a:ext cx="619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Package: 10.7910/DVN/QNKFJF. Keep the article result and your comparison separate.</a:t>
            </a:r>
          </a:p>
        </p:txBody>
      </p:sp>
      <p:cxnSp>
        <p:nvCxnSpPr>
          <p:cNvPr id="24" name="workflow-edge-0"/>
          <p:cNvCxnSpPr/>
          <p:nvPr/>
        </p:nvCxnSpPr>
        <p:spPr>
          <a:xfrm xmlns:a="http://schemas.openxmlformats.org/drawingml/2006/main">
            <a:off x="8489950" y="3552825"/>
            <a:ext cx="17145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25" name="workflow-edge-1"/>
          <p:cNvCxnSpPr/>
          <p:nvPr/>
        </p:nvCxnSpPr>
        <p:spPr>
          <a:xfrm xmlns:a="http://schemas.openxmlformats.org/drawingml/2006/main">
            <a:off x="9912350" y="3552825"/>
            <a:ext cx="17145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9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741A5C37-D720-46CB-B7BA-B7941FEF0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62150"/>
            <a:ext cx="1250950" cy="3181350"/>
          </a:xfrm>
          <a:prstGeom xmlns:a="http://schemas.openxmlformats.org/drawingml/2006/main" prst="roundRect">
            <a:avLst>
              <a:gd name="adj" fmla="val 609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0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53C68C17-A3F6-4AC0-B15C-5BFD5BBD3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76450"/>
            <a:ext cx="10604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Article result</a:t>
            </a:r>
          </a:p>
        </p:txBody>
      </p:sp>
      <p:sp>
        <p:nvSpPr>
          <p:cNvPr id="11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2E5CBF66-CFAF-4327-ACA5-13252A8BD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1400" y="1962150"/>
            <a:ext cx="1250950" cy="3181350"/>
          </a:xfrm>
          <a:prstGeom xmlns:a="http://schemas.openxmlformats.org/drawingml/2006/main" prst="roundRect">
            <a:avLst>
              <a:gd name="adj" fmla="val 6091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2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6B75B538-F816-445F-B2CB-B3F2A7D9C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6650" y="2076450"/>
            <a:ext cx="10604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Course demo</a:t>
            </a:r>
          </a:p>
        </p:txBody>
      </p:sp>
      <p:sp>
        <p:nvSpPr>
          <p:cNvPr id="13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1DBF53B2-1B36-4A1A-84AD-7848F2EA8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3800" y="1962150"/>
            <a:ext cx="1250950" cy="3181350"/>
          </a:xfrm>
          <a:prstGeom xmlns:a="http://schemas.openxmlformats.org/drawingml/2006/main" prst="roundRect">
            <a:avLst>
              <a:gd name="adj" fmla="val 6091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4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33E3CA83-ECCE-4CDD-BEE0-CB18E4C35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9050" y="2076450"/>
            <a:ext cx="10604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Your replication</a:t>
            </a:r>
          </a:p>
        </p:txBody>
      </p:sp>
      <p:sp>
        <p:nvSpPr>
          <p:cNvPr id="15" name="rule-48-674">
            <a:extLst xmlns:a="http://schemas.openxmlformats.org/drawingml/2006/main">
              <a:ext uri="{FF2B5EF4-FFF2-40B4-BE49-F238E27FC236}">
                <a16:creationId xmlns:a16="http://schemas.microsoft.com/office/drawing/2014/main" id="{F91179BF-A765-4112-8C73-8DB76DA7C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09B0E55-5B3A-45B7-82FE-111AB72D3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11</a:t>
            </a:r>
          </a:p>
        </p:txBody>
      </p:sp>
      <p:sp>
        <p:nvSpPr>
          <p:cNvPr id="1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454D657B-C83A-45CD-9E1D-5AB1FF67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Practice · 4</a:t>
            </a:r>
          </a:p>
        </p:txBody>
      </p:sp>
    </p:spTree>
    <p:extLst>
      <p:ext uri="{BB962C8B-B14F-4D97-AF65-F5344CB8AC3E}">
        <p14:creationId xmlns:p14="http://schemas.microsoft.com/office/powerpoint/2010/main" val="9018043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">
            <a:extLst xmlns:a="http://schemas.openxmlformats.org/drawingml/2006/main">
              <a:ext uri="{FF2B5EF4-FFF2-40B4-BE49-F238E27FC236}">
                <a16:creationId xmlns:a16="http://schemas.microsoft.com/office/drawing/2014/main" id="{D235B86C-2F04-434A-8476-86CA4E2C1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PRACTICE · WORK SEQUENCE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FC628A6-E530-4302-AE76-19769169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Complete all five moves before presenting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DEDED7F0-D68E-4CFB-9388-10EC172C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ask-label-0">
            <a:extLst xmlns:a="http://schemas.openxmlformats.org/drawingml/2006/main">
              <a:ext uri="{FF2B5EF4-FFF2-40B4-BE49-F238E27FC236}">
                <a16:creationId xmlns:a16="http://schemas.microsoft.com/office/drawing/2014/main" id="{37953B6B-5A07-4719-B67B-3CDD84BDB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STEP 1</a:t>
            </a:r>
          </a:p>
        </p:txBody>
      </p:sp>
      <p:sp>
        <p:nvSpPr>
          <p:cNvPr id="5" name="task-body-0">
            <a:extLst xmlns:a="http://schemas.openxmlformats.org/drawingml/2006/main">
              <a:ext uri="{FF2B5EF4-FFF2-40B4-BE49-F238E27FC236}">
                <a16:creationId xmlns:a16="http://schemas.microsoft.com/office/drawing/2014/main" id="{5ED76981-6F4B-46CB-A174-6C25AFA7E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609725"/>
            <a:ext cx="922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State the forecast origin and horizon</a:t>
            </a:r>
          </a:p>
        </p:txBody>
      </p:sp>
      <p:sp>
        <p:nvSpPr>
          <p:cNvPr id="6" name="rule-196-228">
            <a:extLst xmlns:a="http://schemas.openxmlformats.org/drawingml/2006/main">
              <a:ext uri="{FF2B5EF4-FFF2-40B4-BE49-F238E27FC236}">
                <a16:creationId xmlns:a16="http://schemas.microsoft.com/office/drawing/2014/main" id="{18FC8355-2E38-494A-94CB-10854CBD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171700"/>
            <a:ext cx="9220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ask-label-1">
            <a:extLst xmlns:a="http://schemas.openxmlformats.org/drawingml/2006/main">
              <a:ext uri="{FF2B5EF4-FFF2-40B4-BE49-F238E27FC236}">
                <a16:creationId xmlns:a16="http://schemas.microsoft.com/office/drawing/2014/main" id="{73DA0E00-934C-4488-BF8A-17902831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STEP 2</a:t>
            </a:r>
          </a:p>
        </p:txBody>
      </p:sp>
      <p:sp>
        <p:nvSpPr>
          <p:cNvPr id="8" name="task-body-1">
            <a:extLst xmlns:a="http://schemas.openxmlformats.org/drawingml/2006/main">
              <a:ext uri="{FF2B5EF4-FFF2-40B4-BE49-F238E27FC236}">
                <a16:creationId xmlns:a16="http://schemas.microsoft.com/office/drawing/2014/main" id="{FFA3DA91-43AF-4E6A-A45A-8822FD451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409825"/>
            <a:ext cx="922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Reproduce one sentiment-return result</a:t>
            </a:r>
          </a:p>
        </p:txBody>
      </p:sp>
      <p:sp>
        <p:nvSpPr>
          <p:cNvPr id="9" name="rule-196-312">
            <a:extLst xmlns:a="http://schemas.openxmlformats.org/drawingml/2006/main">
              <a:ext uri="{FF2B5EF4-FFF2-40B4-BE49-F238E27FC236}">
                <a16:creationId xmlns:a16="http://schemas.microsoft.com/office/drawing/2014/main" id="{B91914A2-25CC-45D7-8863-7FC40933D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971800"/>
            <a:ext cx="9220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sk-label-2">
            <a:extLst xmlns:a="http://schemas.openxmlformats.org/drawingml/2006/main">
              <a:ext uri="{FF2B5EF4-FFF2-40B4-BE49-F238E27FC236}">
                <a16:creationId xmlns:a16="http://schemas.microsoft.com/office/drawing/2014/main" id="{112990E0-8626-4B02-B1D9-017C82E1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575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STEP 3</a:t>
            </a:r>
          </a:p>
        </p:txBody>
      </p:sp>
      <p:sp>
        <p:nvSpPr>
          <p:cNvPr id="11" name="task-body-2">
            <a:extLst xmlns:a="http://schemas.openxmlformats.org/drawingml/2006/main">
              <a:ext uri="{FF2B5EF4-FFF2-40B4-BE49-F238E27FC236}">
                <a16:creationId xmlns:a16="http://schemas.microsoft.com/office/drawing/2014/main" id="{C0866419-0E76-4E72-A103-2E402837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209925"/>
            <a:ext cx="922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Run a rolling-origin benchmark comparison</a:t>
            </a:r>
          </a:p>
        </p:txBody>
      </p:sp>
      <p:sp>
        <p:nvSpPr>
          <p:cNvPr id="12" name="rule-196-396">
            <a:extLst xmlns:a="http://schemas.openxmlformats.org/drawingml/2006/main">
              <a:ext uri="{FF2B5EF4-FFF2-40B4-BE49-F238E27FC236}">
                <a16:creationId xmlns:a16="http://schemas.microsoft.com/office/drawing/2014/main" id="{E31FFF4F-9441-45C4-ADBD-0A5720BE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771900"/>
            <a:ext cx="9220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ask-label-3">
            <a:extLst xmlns:a="http://schemas.openxmlformats.org/drawingml/2006/main">
              <a:ext uri="{FF2B5EF4-FFF2-40B4-BE49-F238E27FC236}">
                <a16:creationId xmlns:a16="http://schemas.microsoft.com/office/drawing/2014/main" id="{0222B86C-BF47-4436-AD92-AD44AE951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576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STEP 4</a:t>
            </a:r>
          </a:p>
        </p:txBody>
      </p:sp>
      <p:sp>
        <p:nvSpPr>
          <p:cNvPr id="14" name="task-body-3">
            <a:extLst xmlns:a="http://schemas.openxmlformats.org/drawingml/2006/main">
              <a:ext uri="{FF2B5EF4-FFF2-40B4-BE49-F238E27FC236}">
                <a16:creationId xmlns:a16="http://schemas.microsoft.com/office/drawing/2014/main" id="{19897CC6-FB4B-448A-A732-ADA9B2E44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010025"/>
            <a:ext cx="922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Test for distribution shift</a:t>
            </a:r>
          </a:p>
        </p:txBody>
      </p:sp>
      <p:sp>
        <p:nvSpPr>
          <p:cNvPr id="15" name="rule-196-480">
            <a:extLst xmlns:a="http://schemas.openxmlformats.org/drawingml/2006/main">
              <a:ext uri="{FF2B5EF4-FFF2-40B4-BE49-F238E27FC236}">
                <a16:creationId xmlns:a16="http://schemas.microsoft.com/office/drawing/2014/main" id="{AC84E026-69B7-4F28-B986-6F6681CE8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572000"/>
            <a:ext cx="9220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ask-label-4">
            <a:extLst xmlns:a="http://schemas.openxmlformats.org/drawingml/2006/main">
              <a:ext uri="{FF2B5EF4-FFF2-40B4-BE49-F238E27FC236}">
                <a16:creationId xmlns:a16="http://schemas.microsoft.com/office/drawing/2014/main" id="{E93D4296-DCCC-44AB-BC01-A64271257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STEP 5</a:t>
            </a:r>
          </a:p>
        </p:txBody>
      </p:sp>
      <p:sp>
        <p:nvSpPr>
          <p:cNvPr id="17" name="task-body-4">
            <a:extLst xmlns:a="http://schemas.openxmlformats.org/drawingml/2006/main">
              <a:ext uri="{FF2B5EF4-FFF2-40B4-BE49-F238E27FC236}">
                <a16:creationId xmlns:a16="http://schemas.microsoft.com/office/drawing/2014/main" id="{7501A28C-2024-4286-BA31-DAA69BA69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810125"/>
            <a:ext cx="922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Write monitoring, trigger, and limitation</a:t>
            </a:r>
          </a:p>
        </p:txBody>
      </p:sp>
      <p:sp>
        <p:nvSpPr>
          <p:cNvPr id="18" name="rule-48-674">
            <a:extLst xmlns:a="http://schemas.openxmlformats.org/drawingml/2006/main">
              <a:ext uri="{FF2B5EF4-FFF2-40B4-BE49-F238E27FC236}">
                <a16:creationId xmlns:a16="http://schemas.microsoft.com/office/drawing/2014/main" id="{74E32149-1E91-4AFD-8D59-72DA2AC73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F73D1AA-0844-4F48-9FFA-707C0997D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11</a:t>
            </a:r>
          </a:p>
        </p:txBody>
      </p:sp>
      <p:sp>
        <p:nvSpPr>
          <p:cNvPr id="20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5DCDB2BE-107B-462E-9EF9-588FECCBC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Practice · 5</a:t>
            </a:r>
          </a:p>
        </p:txBody>
      </p:sp>
    </p:spTree>
    <p:extLst>
      <p:ext uri="{BB962C8B-B14F-4D97-AF65-F5344CB8AC3E}">
        <p14:creationId xmlns:p14="http://schemas.microsoft.com/office/powerpoint/2010/main" val="6439961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reak-kicker">
            <a:extLst xmlns:a="http://schemas.openxmlformats.org/drawingml/2006/main">
              <a:ext uri="{FF2B5EF4-FFF2-40B4-BE49-F238E27FC236}">
                <a16:creationId xmlns:a16="http://schemas.microsoft.com/office/drawing/2014/main" id="{7CCC4258-892B-4E51-898A-CB8CD6D45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PRACTICE · BREAK IT DELIBERATELY</a:t>
            </a:r>
          </a:p>
        </p:txBody>
      </p:sp>
      <p:sp>
        <p:nvSpPr>
          <p:cNvPr id="2" name="break-title">
            <a:extLst xmlns:a="http://schemas.openxmlformats.org/drawingml/2006/main">
              <a:ext uri="{FF2B5EF4-FFF2-40B4-BE49-F238E27FC236}">
                <a16:creationId xmlns:a16="http://schemas.microsoft.com/office/drawing/2014/main" id="{B8EA5E84-F4ED-4F12-94FF-B860D26A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2050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8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model can pass a random split because revised data and future information silently entered the past.</a:t>
            </a:r>
          </a:p>
        </p:txBody>
      </p:sp>
      <p:sp>
        <p:nvSpPr>
          <p:cNvPr id="3" name="break-instruction">
            <a:extLst xmlns:a="http://schemas.openxmlformats.org/drawingml/2006/main">
              <a:ext uri="{FF2B5EF4-FFF2-40B4-BE49-F238E27FC236}">
                <a16:creationId xmlns:a16="http://schemas.microsoft.com/office/drawing/2014/main" id="{CD23AF71-F4BE-43D3-B9AA-D466E0EE2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71850"/>
            <a:ext cx="10287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25" b="1">
                <a:solidFill>
                  <a:srgbClr val="DDF2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DDF2FC"/>
                </a:solidFill>
                <a:latin typeface="Helvetica Neue"/>
                <a:ea typeface="Helvetica Neue"/>
                <a:cs typeface="Helvetica Neue"/>
              </a:rPr>
              <a:t>Create the failure. Save the before/after evidence. Explain the mechanism without blaming the software.</a:t>
            </a:r>
          </a:p>
        </p:txBody>
      </p:sp>
      <p:sp>
        <p:nvSpPr>
          <p:cNvPr id="4" name="break-llm">
            <a:extLst xmlns:a="http://schemas.openxmlformats.org/drawingml/2006/main">
              <a:ext uri="{FF2B5EF4-FFF2-40B4-BE49-F238E27FC236}">
                <a16:creationId xmlns:a16="http://schemas.microsoft.com/office/drawing/2014/main" id="{438AE0DC-D905-46D8-8F9D-1CBFEE4A5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Required: record one LLM claim you found wrong, unverifiable, or misleading—and how you checked it.</a:t>
            </a:r>
          </a:p>
        </p:txBody>
      </p:sp>
      <p:sp>
        <p:nvSpPr>
          <p:cNvPr id="5" name="rule-48-674">
            <a:extLst xmlns:a="http://schemas.openxmlformats.org/drawingml/2006/main">
              <a:ext uri="{FF2B5EF4-FFF2-40B4-BE49-F238E27FC236}">
                <a16:creationId xmlns:a16="http://schemas.microsoft.com/office/drawing/2014/main" id="{1CE0C6CF-84E1-4819-8C3D-00AAD5FFD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5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0760D43-FB82-4622-9CBB-D45B970FE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MATH60033A · Thierry Warin · Session 11</a:t>
            </a:r>
          </a:p>
        </p:txBody>
      </p:sp>
      <p:sp>
        <p:nvSpPr>
          <p:cNvPr id="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71C0DE6E-43C5-412D-B43A-1A3CAA95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Practice · 6</a:t>
            </a:r>
          </a:p>
        </p:txBody>
      </p:sp>
    </p:spTree>
    <p:extLst>
      <p:ext uri="{BB962C8B-B14F-4D97-AF65-F5344CB8AC3E}">
        <p14:creationId xmlns:p14="http://schemas.microsoft.com/office/powerpoint/2010/main" val="3257948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731DA968-7255-4298-BDD3-BE360E4D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PRACTICE · GROUP PRESENTATION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5530360-9025-4326-9384-DCC5E508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One slide. Two minutes. Random presenter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422C5BE9-4C4F-45A2-8E7B-AF812D154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eport-label-0">
            <a:extLst xmlns:a="http://schemas.openxmlformats.org/drawingml/2006/main">
              <a:ext uri="{FF2B5EF4-FFF2-40B4-BE49-F238E27FC236}">
                <a16:creationId xmlns:a16="http://schemas.microsoft.com/office/drawing/2014/main" id="{2C4C757A-86CB-4631-8722-41E5A58A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ARTICLE RESULT</a:t>
            </a:r>
          </a:p>
        </p:txBody>
      </p:sp>
      <p:sp>
        <p:nvSpPr>
          <p:cNvPr id="5" name="report-body-0">
            <a:extLst xmlns:a="http://schemas.openxmlformats.org/drawingml/2006/main">
              <a:ext uri="{FF2B5EF4-FFF2-40B4-BE49-F238E27FC236}">
                <a16:creationId xmlns:a16="http://schemas.microsoft.com/office/drawing/2014/main" id="{A6D38C89-2E89-45A2-BFDB-BDA893FE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6954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published estimate or figure your group targeted.</a:t>
            </a:r>
          </a:p>
        </p:txBody>
      </p:sp>
      <p:sp>
        <p:nvSpPr>
          <p:cNvPr id="6" name="rule-278-272">
            <a:extLst xmlns:a="http://schemas.openxmlformats.org/drawingml/2006/main">
              <a:ext uri="{FF2B5EF4-FFF2-40B4-BE49-F238E27FC236}">
                <a16:creationId xmlns:a16="http://schemas.microsoft.com/office/drawing/2014/main" id="{27527816-83B7-48BD-A964-96EC1BBF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5908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eport-label-1">
            <a:extLst xmlns:a="http://schemas.openxmlformats.org/drawingml/2006/main">
              <a:ext uri="{FF2B5EF4-FFF2-40B4-BE49-F238E27FC236}">
                <a16:creationId xmlns:a16="http://schemas.microsoft.com/office/drawing/2014/main" id="{3A8597F6-D8F1-49DC-AB8D-F7FAE151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OUR REPLICATION</a:t>
            </a:r>
          </a:p>
        </p:txBody>
      </p:sp>
      <p:sp>
        <p:nvSpPr>
          <p:cNvPr id="8" name="report-body-1">
            <a:extLst xmlns:a="http://schemas.openxmlformats.org/drawingml/2006/main">
              <a:ext uri="{FF2B5EF4-FFF2-40B4-BE49-F238E27FC236}">
                <a16:creationId xmlns:a16="http://schemas.microsoft.com/office/drawing/2014/main" id="{AF8B4870-C651-435E-880C-144CBA734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9527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matched, what differed, and the comparison you added.</a:t>
            </a:r>
          </a:p>
        </p:txBody>
      </p:sp>
      <p:sp>
        <p:nvSpPr>
          <p:cNvPr id="9" name="rule-278-404">
            <a:extLst xmlns:a="http://schemas.openxmlformats.org/drawingml/2006/main">
              <a:ext uri="{FF2B5EF4-FFF2-40B4-BE49-F238E27FC236}">
                <a16:creationId xmlns:a16="http://schemas.microsoft.com/office/drawing/2014/main" id="{18B4C8C7-EA31-4C85-8959-977EACE0E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8481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eport-label-2">
            <a:extLst xmlns:a="http://schemas.openxmlformats.org/drawingml/2006/main">
              <a:ext uri="{FF2B5EF4-FFF2-40B4-BE49-F238E27FC236}">
                <a16:creationId xmlns:a16="http://schemas.microsoft.com/office/drawing/2014/main" id="{04B7E121-69B1-4015-8CAA-7C9124FD9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672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THE CATCH</a:t>
            </a:r>
          </a:p>
        </p:txBody>
      </p:sp>
      <p:sp>
        <p:nvSpPr>
          <p:cNvPr id="11" name="report-body-2">
            <a:extLst xmlns:a="http://schemas.openxmlformats.org/drawingml/2006/main">
              <a:ext uri="{FF2B5EF4-FFF2-40B4-BE49-F238E27FC236}">
                <a16:creationId xmlns:a16="http://schemas.microsoft.com/office/drawing/2014/main" id="{EAD3095E-B34A-4CBF-B859-DD8599D5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2100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assumption, data choice, or limitation that changes the claim.</a:t>
            </a:r>
          </a:p>
        </p:txBody>
      </p:sp>
      <p:sp>
        <p:nvSpPr>
          <p:cNvPr id="12" name="rule-278-536">
            <a:extLst xmlns:a="http://schemas.openxmlformats.org/drawingml/2006/main">
              <a:ext uri="{FF2B5EF4-FFF2-40B4-BE49-F238E27FC236}">
                <a16:creationId xmlns:a16="http://schemas.microsoft.com/office/drawing/2014/main" id="{D4FB4FA4-4662-4EF3-B857-3E6878CF4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105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port-rule">
            <a:extLst xmlns:a="http://schemas.openxmlformats.org/drawingml/2006/main">
              <a:ext uri="{FF2B5EF4-FFF2-40B4-BE49-F238E27FC236}">
                <a16:creationId xmlns:a16="http://schemas.microsoft.com/office/drawing/2014/main" id="{A1300378-3AD9-4C5E-B3B8-A20CB885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5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Finish the presentation in class. Nothing carries over as required homework.</a:t>
            </a:r>
          </a:p>
        </p:txBody>
      </p:sp>
      <p:sp>
        <p:nvSpPr>
          <p:cNvPr id="14" name="rule-48-674">
            <a:extLst xmlns:a="http://schemas.openxmlformats.org/drawingml/2006/main">
              <a:ext uri="{FF2B5EF4-FFF2-40B4-BE49-F238E27FC236}">
                <a16:creationId xmlns:a16="http://schemas.microsoft.com/office/drawing/2014/main" id="{D1C2AFD7-E607-49CC-9C21-15ECDF5D6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CE7CCE6-8F2D-4FEC-8515-EAD9B3D5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11</a:t>
            </a:r>
          </a:p>
        </p:txBody>
      </p:sp>
      <p:sp>
        <p:nvSpPr>
          <p:cNvPr id="16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E80F0B2A-773B-4EAA-AA00-E34B52098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Practice · 7</a:t>
            </a:r>
          </a:p>
        </p:txBody>
      </p:sp>
    </p:spTree>
    <p:extLst>
      <p:ext uri="{BB962C8B-B14F-4D97-AF65-F5344CB8AC3E}">
        <p14:creationId xmlns:p14="http://schemas.microsoft.com/office/powerpoint/2010/main" val="16746310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lab-kicker">
            <a:extLst xmlns:a="http://schemas.openxmlformats.org/drawingml/2006/main">
              <a:ext uri="{FF2B5EF4-FFF2-40B4-BE49-F238E27FC236}">
                <a16:creationId xmlns:a16="http://schemas.microsoft.com/office/drawing/2014/main" id="{A3AF2053-EE77-454C-B2D1-E0832F7EE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rPr>
              <a:t>AFTER CLASS · OPTIONAL PARTICIPATION LAB</a:t>
            </a:r>
          </a:p>
        </p:txBody>
      </p:sp>
      <p:sp>
        <p:nvSpPr>
          <p:cNvPr id="2" name="lab-title">
            <a:extLst xmlns:a="http://schemas.openxmlformats.org/drawingml/2006/main">
              <a:ext uri="{FF2B5EF4-FFF2-40B4-BE49-F238E27FC236}">
                <a16:creationId xmlns:a16="http://schemas.microsoft.com/office/drawing/2014/main" id="{D37FB8B5-6A7B-4CB6-A041-53B6926B4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066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Class ends with the group presentations.</a:t>
            </a:r>
          </a:p>
        </p:txBody>
      </p:sp>
      <p:sp>
        <p:nvSpPr>
          <p:cNvPr id="3" name="lab-availability">
            <a:extLst xmlns:a="http://schemas.openxmlformats.org/drawingml/2006/main">
              <a:ext uri="{FF2B5EF4-FFF2-40B4-BE49-F238E27FC236}">
                <a16:creationId xmlns:a16="http://schemas.microsoft.com/office/drawing/2014/main" id="{1C32DEED-1C88-438B-B9D6-17B98AB6E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0"/>
            <a:ext cx="657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DDF2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DDF2FC"/>
                </a:solidFill>
                <a:latin typeface="Helvetica Neue"/>
                <a:ea typeface="Helvetica Neue"/>
                <a:cs typeface="Helvetica Neue"/>
              </a:rPr>
              <a:t>QMIB Lab 11 is a short at-home knowledge check.</a:t>
            </a:r>
          </a:p>
        </p:txBody>
      </p:sp>
      <p:sp>
        <p:nvSpPr>
          <p:cNvPr id="4" name="lab-policy">
            <a:extLst xmlns:a="http://schemas.openxmlformats.org/drawingml/2006/main">
              <a:ext uri="{FF2B5EF4-FFF2-40B4-BE49-F238E27FC236}">
                <a16:creationId xmlns:a16="http://schemas.microsoft.com/office/drawing/2014/main" id="{D7D9AC49-A817-49AE-8641-156852B9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76650"/>
            <a:ext cx="65722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lab is optional. A completed app report counts toward participation; it is separate from the next pre-session reading and data preparation.</a:t>
            </a:r>
          </a:p>
        </p:txBody>
      </p:sp>
      <p:sp>
        <p:nvSpPr>
          <p:cNvPr id="5" name="lab-steps-bg">
            <a:extLst xmlns:a="http://schemas.openxmlformats.org/drawingml/2006/main">
              <a:ext uri="{FF2B5EF4-FFF2-40B4-BE49-F238E27FC236}">
                <a16:creationId xmlns:a16="http://schemas.microsoft.com/office/drawing/2014/main" id="{61EE458C-7F49-4547-994C-1EF28FDA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171700"/>
            <a:ext cx="36766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E2A34"/>
          </a:solidFill>
          <a:ln xmlns:a="http://schemas.openxmlformats.org/drawingml/2006/main" w="9525">
            <a:solidFill>
              <a:srgbClr val="3A4652"/>
            </a:solidFill>
            <a:prstDash val="solid"/>
          </a:ln>
        </p:spPr>
      </p:sp>
      <p:sp>
        <p:nvSpPr>
          <p:cNvPr id="6" name="lab-steps-title">
            <a:extLst xmlns:a="http://schemas.openxmlformats.org/drawingml/2006/main">
              <a:ext uri="{FF2B5EF4-FFF2-40B4-BE49-F238E27FC236}">
                <a16:creationId xmlns:a16="http://schemas.microsoft.com/office/drawing/2014/main" id="{E19C6E08-CDE5-4996-94B0-1B70927A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33650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rPr>
              <a:t>If you choose the lab</a:t>
            </a:r>
          </a:p>
        </p:txBody>
      </p:sp>
      <p:sp>
        <p:nvSpPr>
          <p:cNvPr id="7" name="lab-step-num-0">
            <a:extLst xmlns:a="http://schemas.openxmlformats.org/drawingml/2006/main">
              <a:ext uri="{FF2B5EF4-FFF2-40B4-BE49-F238E27FC236}">
                <a16:creationId xmlns:a16="http://schemas.microsoft.com/office/drawing/2014/main" id="{4D961FBA-8706-4DE6-9930-F7B421FE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813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lab-step-0">
            <a:extLst xmlns:a="http://schemas.openxmlformats.org/drawingml/2006/main">
              <a:ext uri="{FF2B5EF4-FFF2-40B4-BE49-F238E27FC236}">
                <a16:creationId xmlns:a16="http://schemas.microsoft.com/office/drawing/2014/main" id="{1FD05F04-4C7E-48B4-A56E-1B742F4F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43250"/>
            <a:ext cx="2457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Open the session check in the web app</a:t>
            </a:r>
          </a:p>
        </p:txBody>
      </p:sp>
      <p:sp>
        <p:nvSpPr>
          <p:cNvPr id="9" name="lab-step-num-1">
            <a:extLst xmlns:a="http://schemas.openxmlformats.org/drawingml/2006/main">
              <a:ext uri="{FF2B5EF4-FFF2-40B4-BE49-F238E27FC236}">
                <a16:creationId xmlns:a16="http://schemas.microsoft.com/office/drawing/2014/main" id="{FB6D1EC0-7A6A-46FE-AB0A-F0384FF4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766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0" name="lab-step-1">
            <a:extLst xmlns:a="http://schemas.openxmlformats.org/drawingml/2006/main">
              <a:ext uri="{FF2B5EF4-FFF2-40B4-BE49-F238E27FC236}">
                <a16:creationId xmlns:a16="http://schemas.microsoft.com/office/drawing/2014/main" id="{B0126410-FF28-4B26-B6C6-0CB836071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38550"/>
            <a:ext cx="2457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6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Answer once without your notes</a:t>
            </a:r>
          </a:p>
        </p:txBody>
      </p:sp>
      <p:sp>
        <p:nvSpPr>
          <p:cNvPr id="11" name="lab-step-num-2">
            <a:extLst xmlns:a="http://schemas.openxmlformats.org/drawingml/2006/main">
              <a:ext uri="{FF2B5EF4-FFF2-40B4-BE49-F238E27FC236}">
                <a16:creationId xmlns:a16="http://schemas.microsoft.com/office/drawing/2014/main" id="{AA4DD53C-CAAA-4E4E-9596-FB5D258F9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719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2" name="lab-step-2">
            <a:extLst xmlns:a="http://schemas.openxmlformats.org/drawingml/2006/main">
              <a:ext uri="{FF2B5EF4-FFF2-40B4-BE49-F238E27FC236}">
                <a16:creationId xmlns:a16="http://schemas.microsoft.com/office/drawing/2014/main" id="{AD80956D-1AAA-4C01-9D73-D1CCF56F1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33850"/>
            <a:ext cx="2457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70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Retry and explain missed concepts</a:t>
            </a:r>
          </a:p>
        </p:txBody>
      </p:sp>
      <p:sp>
        <p:nvSpPr>
          <p:cNvPr id="13" name="lab-step-num-3">
            <a:extLst xmlns:a="http://schemas.openxmlformats.org/drawingml/2006/main">
              <a:ext uri="{FF2B5EF4-FFF2-40B4-BE49-F238E27FC236}">
                <a16:creationId xmlns:a16="http://schemas.microsoft.com/office/drawing/2014/main" id="{F4481DE9-AB4B-4FCE-A75D-211B6CAF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6672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4" name="lab-step-3">
            <a:extLst xmlns:a="http://schemas.openxmlformats.org/drawingml/2006/main">
              <a:ext uri="{FF2B5EF4-FFF2-40B4-BE49-F238E27FC236}">
                <a16:creationId xmlns:a16="http://schemas.microsoft.com/office/drawing/2014/main" id="{8D177E75-4777-4380-A7BE-6CEFE2B3D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629150"/>
            <a:ext cx="2457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Save and submit the report</a:t>
            </a:r>
          </a:p>
        </p:txBody>
      </p:sp>
      <p:sp>
        <p:nvSpPr>
          <p:cNvPr id="15" name="rule-48-674">
            <a:extLst xmlns:a="http://schemas.openxmlformats.org/drawingml/2006/main">
              <a:ext uri="{FF2B5EF4-FFF2-40B4-BE49-F238E27FC236}">
                <a16:creationId xmlns:a16="http://schemas.microsoft.com/office/drawing/2014/main" id="{F5F58BFB-3DE9-4D6E-9393-DF06C9C38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5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4171F3C-B603-4542-8683-55C8B7B59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MATH60033A · Thierry Warin · Session 11</a:t>
            </a:r>
          </a:p>
        </p:txBody>
      </p:sp>
      <p:sp>
        <p:nvSpPr>
          <p:cNvPr id="1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B68EC445-B359-48D6-BB43-716CF9A37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Practice · 8</a:t>
            </a:r>
          </a:p>
        </p:txBody>
      </p:sp>
    </p:spTree>
    <p:extLst>
      <p:ext uri="{BB962C8B-B14F-4D97-AF65-F5344CB8AC3E}">
        <p14:creationId xmlns:p14="http://schemas.microsoft.com/office/powerpoint/2010/main" val="10276143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Thierry Warin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Thierry Warin</dc:creator>
  <lastModifiedBy>Thierry Warin</lastModifiedBy>
  <dc:title>Presentation</dc:title>
  <dcterms:created xsi:type="dcterms:W3CDTF">2026-08-23T21:43:13.5700000Z</dcterms:created>
  <dcterms:modified xsi:type="dcterms:W3CDTF">2026-08-23T21:43:13.5700000Z</dcterms:modified>
</coreProperties>
</file>