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2b63892e544e42" /><Relationship Type="http://schemas.openxmlformats.org/officeDocument/2006/relationships/extended-properties" Target="/docProps/app.xml" Id="Rd4b53b7755c047b5" /><Relationship Type="http://schemas.openxmlformats.org/officeDocument/2006/relationships/officeDocument" Target="/ppt/presentation.xml" Id="R5ff3406651e24a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67e0f22a7f4524"/>
  </p:sldMasterIdLst>
  <p:notesMasterIdLst>
    <p:notesMasterId xmlns:r="http://schemas.openxmlformats.org/officeDocument/2006/relationships" r:id="Re8fb2d4608964b5d"/>
  </p:notesMasterIdLst>
  <p:sldIdLst>
    <p:sldId xmlns:r="http://schemas.openxmlformats.org/officeDocument/2006/relationships" id="256" r:id="Rd29d06c2d3a0432b"/>
    <p:sldId xmlns:r="http://schemas.openxmlformats.org/officeDocument/2006/relationships" id="257" r:id="R281223e60bb3412d"/>
    <p:sldId xmlns:r="http://schemas.openxmlformats.org/officeDocument/2006/relationships" id="258" r:id="R805b65a1bea64a26"/>
    <p:sldId xmlns:r="http://schemas.openxmlformats.org/officeDocument/2006/relationships" id="259" r:id="R7b69c7e761a94f4b"/>
    <p:sldId xmlns:r="http://schemas.openxmlformats.org/officeDocument/2006/relationships" id="260" r:id="Re576d7b194d44ea2"/>
    <p:sldId xmlns:r="http://schemas.openxmlformats.org/officeDocument/2006/relationships" id="261" r:id="R041431fa45644b33"/>
    <p:sldId xmlns:r="http://schemas.openxmlformats.org/officeDocument/2006/relationships" id="262" r:id="R51de703f7c894662"/>
    <p:sldId xmlns:r="http://schemas.openxmlformats.org/officeDocument/2006/relationships" id="263" r:id="R9d329f9dbcfa4d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72f6abf6743bd" /><Relationship Type="http://schemas.openxmlformats.org/officeDocument/2006/relationships/slideMaster" Target="/ppt/slideMasters/slideMaster1.xml" Id="R3767e0f22a7f4524" /><Relationship Type="http://schemas.openxmlformats.org/officeDocument/2006/relationships/notesMaster" Target="/ppt/notesMasters/notesMaster1.xml" Id="Re8fb2d4608964b5d" /><Relationship Type="http://schemas.openxmlformats.org/officeDocument/2006/relationships/presProps" Target="/ppt/presProps.xml" Id="Rf6833e3214814332" /><Relationship Type="http://schemas.openxmlformats.org/officeDocument/2006/relationships/tableStyles" Target="/ppt/tableStyles.xml" Id="R76f7c15cec30465b" /><Relationship Type="http://schemas.openxmlformats.org/officeDocument/2006/relationships/slide" Target="/ppt/slides/slide1.xml" Id="Rd29d06c2d3a0432b" /><Relationship Type="http://schemas.openxmlformats.org/officeDocument/2006/relationships/slide" Target="/ppt/slides/slide2.xml" Id="R281223e60bb3412d" /><Relationship Type="http://schemas.openxmlformats.org/officeDocument/2006/relationships/slide" Target="/ppt/slides/slide3.xml" Id="R805b65a1bea64a26" /><Relationship Type="http://schemas.openxmlformats.org/officeDocument/2006/relationships/slide" Target="/ppt/slides/slide4.xml" Id="R7b69c7e761a94f4b" /><Relationship Type="http://schemas.openxmlformats.org/officeDocument/2006/relationships/slide" Target="/ppt/slides/slide5.xml" Id="Re576d7b194d44ea2" /><Relationship Type="http://schemas.openxmlformats.org/officeDocument/2006/relationships/slide" Target="/ppt/slides/slide6.xml" Id="R041431fa45644b33" /><Relationship Type="http://schemas.openxmlformats.org/officeDocument/2006/relationships/slide" Target="/ppt/slides/slide7.xml" Id="R51de703f7c894662" /><Relationship Type="http://schemas.openxmlformats.org/officeDocument/2006/relationships/slide" Target="/ppt/slides/slide8.xml" Id="R9d329f9dbcfa4d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c4cbbc89b44c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10df2fa924a01" /><Relationship Type="http://schemas.openxmlformats.org/officeDocument/2006/relationships/notesMaster" Target="/ppt/notesMasters/notesMaster1.xml" Id="R47f57aa9d7dd41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c86090774945c7" /><Relationship Type="http://schemas.openxmlformats.org/officeDocument/2006/relationships/notesMaster" Target="/ppt/notesMasters/notesMaster1.xml" Id="R5f598c8be77e4d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4658546c424b28" /><Relationship Type="http://schemas.openxmlformats.org/officeDocument/2006/relationships/notesMaster" Target="/ppt/notesMasters/notesMaster1.xml" Id="R761ade4e80e94c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9983112aee4a99" /><Relationship Type="http://schemas.openxmlformats.org/officeDocument/2006/relationships/notesMaster" Target="/ppt/notesMasters/notesMaster1.xml" Id="R54f3fc5eb60842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a11937eac04d82" /><Relationship Type="http://schemas.openxmlformats.org/officeDocument/2006/relationships/notesMaster" Target="/ppt/notesMasters/notesMaster1.xml" Id="R00e064f1664b4d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98b19309434ae7" /><Relationship Type="http://schemas.openxmlformats.org/officeDocument/2006/relationships/notesMaster" Target="/ppt/notesMasters/notesMaster1.xml" Id="R7b287b8e0cb644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c0457fbf3e436f" /><Relationship Type="http://schemas.openxmlformats.org/officeDocument/2006/relationships/notesMaster" Target="/ppt/notesMasters/notesMaster1.xml" Id="R2d99b0f7a58847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80dc86ceea4b30" /><Relationship Type="http://schemas.openxmlformats.org/officeDocument/2006/relationships/notesMaster" Target="/ppt/notesMasters/notesMaster1.xml" Id="Rb14f379c446a44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90 minutes in groups: Reproduce one article figure, rebuild the components, and test whether the factor forecast beats a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08-pca-and-factor-models/slides.qmd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Groups work collaboratively. Assign a driver, a checker, and a narrator, then rotate roles halfway 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08-pca-and-factor-models/02-practice/README.md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time at each transition. The one-slide presentation is the in-class product, not homework.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08-pca-and-factor-models/02-practice/README.md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demo fails, fix the environment before starting the research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08-pca-and-factor-models/02-practice/README.md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member to narrate why each transition exists while another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08-pca-and-factor-models/02-practice/README.md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the learning objective. Do not let groups skip it after obtaining a clean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08-pca-and-factor-models/02-practice/README.md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presenter after the group is called. This makes shared understanding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08-pca-and-factor-models/02-practice/README.md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QMIB Lab App is an optional post-class knowledge check. Completion can count toward participation; it is not preparation for the next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QMIB Lab App: /Users/thierrywarin/Desktop/QMIB-lab-app/README.md</a:t>
            </a:r>
          </a:p>
          <a:p xmlns:a="http://schemas.openxmlformats.org/drawingml/2006/main">
            <a:r>
              <a:t>- Course source: 08-pca-and-factor-models/02-practice/README.md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8ad2be6764b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b8157c46f6426a" /><Relationship Type="http://schemas.openxmlformats.org/officeDocument/2006/relationships/slideLayout" Target="/ppt/slideLayouts/slideLayout1.xml" Id="R02b231c1428e41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b231c1428e41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27d7b8d36458b" /><Relationship Type="http://schemas.openxmlformats.org/officeDocument/2006/relationships/notesSlide" Target="/ppt/notesSlides/notesSlide1.xml" Id="Rc03a488eae4348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230cd238d47c2" /><Relationship Type="http://schemas.openxmlformats.org/officeDocument/2006/relationships/notesSlide" Target="/ppt/notesSlides/notesSlide2.xml" Id="Re8bcb83ac1554a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5b876a77a4e7a" /><Relationship Type="http://schemas.openxmlformats.org/officeDocument/2006/relationships/notesSlide" Target="/ppt/notesSlides/notesSlide3.xml" Id="R6523367c24ce44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7e60ab49a49dd" /><Relationship Type="http://schemas.openxmlformats.org/officeDocument/2006/relationships/notesSlide" Target="/ppt/notesSlides/notesSlide4.xml" Id="R4646a73d33fc4d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6373e647f46e4" /><Relationship Type="http://schemas.openxmlformats.org/officeDocument/2006/relationships/notesSlide" Target="/ppt/notesSlides/notesSlide5.xml" Id="Ra7c90e7f56954a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c85841a15494c" /><Relationship Type="http://schemas.openxmlformats.org/officeDocument/2006/relationships/notesSlide" Target="/ppt/notesSlides/notesSlide6.xml" Id="Rc1eecfcc9c7f4f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8406259d24853" /><Relationship Type="http://schemas.openxmlformats.org/officeDocument/2006/relationships/notesSlide" Target="/ppt/notesSlides/notesSlide7.xml" Id="Rf8ca3895df5d49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28a8a52fd414d" /><Relationship Type="http://schemas.openxmlformats.org/officeDocument/2006/relationships/notesSlide" Target="/ppt/notesSlides/notesSlide8.xml" Id="R684f77e625f848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BBDB994-CA5D-484D-8657-06CE6B17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08 · IN-CLASS PRACTICE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A7ADFE1-3785-4C55-9230-AC9F61BE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a dynamic-factor forecast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5C02DC8E-8F97-426E-8C7E-E1360B9F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90 minutes in groups: Reproduce one article figure, rebuild the components, and test whether the factor forecast beats a benchmark.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9C7763BA-FFCF-4237-9D51-CD3CBC85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94D2E890-7522-4495-B391-1ABFA046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cxnSp>
        <p:nvCxnSpPr>
          <p:cNvPr id="22" name="workflow-edge-0"/>
          <p:cNvCxnSpPr/>
          <p:nvPr/>
        </p:nvCxnSpPr>
        <p:spPr>
          <a:xfrm xmlns:a="http://schemas.openxmlformats.org/drawingml/2006/main">
            <a:off x="8128000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3" name="workflow-edge-1"/>
          <p:cNvCxnSpPr/>
          <p:nvPr/>
        </p:nvCxnSpPr>
        <p:spPr>
          <a:xfrm xmlns:a="http://schemas.openxmlformats.org/drawingml/2006/main">
            <a:off x="9769475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30B4B63C-14C1-4296-99DB-C36A513C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0C7F126A-9297-4CFA-8770-CBDC1C5D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 X</a:t>
            </a:r>
          </a:p>
        </p:txBody>
      </p:sp>
      <p:sp>
        <p:nvSpPr>
          <p:cNvPr id="10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181EBE48-A1FF-48FE-A00F-EB11A2B0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D3B6047D-96E4-49A0-9E31-AB657C64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Directions V</a:t>
            </a:r>
          </a:p>
        </p:txBody>
      </p:sp>
      <p:sp>
        <p:nvSpPr>
          <p:cNvPr id="12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57B05D1-F19B-4642-8A5D-853D4E33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18F51499-DE70-4C6A-BD73-6B917BEB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17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Scores UΣ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21B4B45-12B4-4634-A111-4F247D31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0AF1B51-2FA2-4075-BA0D-7BB76CA9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CC08842-6F57-4568-B44B-BFCF10D4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1</a:t>
            </a:r>
          </a:p>
        </p:txBody>
      </p:sp>
    </p:spTree>
    <p:extLst>
      <p:ext uri="{BB962C8B-B14F-4D97-AF65-F5344CB8AC3E}">
        <p14:creationId xmlns:p14="http://schemas.microsoft.com/office/powerpoint/2010/main" val="2005521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25F029A8-33D9-4D6E-8DEC-BE00D883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86D9CE-034D-4B8D-BD6A-C35DBABF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the method into a defensible group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DE0A209-3BB1-41B7-B731-90B317E5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DB1F0D14-53E6-405A-A225-B4DD7A24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CHALLENGE</a:t>
            </a:r>
          </a:p>
        </p:txBody>
      </p:sp>
      <p:sp>
        <p:nvSpPr>
          <p:cNvPr id="5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2C777BB8-CEBD-4F66-8218-34D6D0EE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90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article figure, rebuild the components, and test whether the factor forecast beats a benchmark.</a:t>
            </a:r>
          </a:p>
        </p:txBody>
      </p:sp>
      <p:sp>
        <p:nvSpPr>
          <p:cNvPr id="6" name="challenge-result-label">
            <a:extLst xmlns:a="http://schemas.openxmlformats.org/drawingml/2006/main">
              <a:ext uri="{FF2B5EF4-FFF2-40B4-BE49-F238E27FC236}">
                <a16:creationId xmlns:a16="http://schemas.microsoft.com/office/drawing/2014/main" id="{5DB7AAF0-67A5-4158-A7B2-BF7E7C03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RESULT AT MINUTE 70</a:t>
            </a:r>
          </a:p>
        </p:txBody>
      </p:sp>
      <p:sp>
        <p:nvSpPr>
          <p:cNvPr id="7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4327E72A-3EA0-416E-BCE4-50D3B33C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factor or forecast figure, then rebuild the first components and compare predictive value.</a:t>
            </a:r>
          </a:p>
        </p:txBody>
      </p:sp>
      <p:sp>
        <p:nvSpPr>
          <p:cNvPr id="8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F471E04B-54AD-4E08-AAA6-080FB464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4191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objective-title">
            <a:extLst xmlns:a="http://schemas.openxmlformats.org/drawingml/2006/main">
              <a:ext uri="{FF2B5EF4-FFF2-40B4-BE49-F238E27FC236}">
                <a16:creationId xmlns:a16="http://schemas.microsoft.com/office/drawing/2014/main" id="{A2E51637-CAFE-42F5-BA09-0E7EFE96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By the end, your group can…</a:t>
            </a:r>
          </a:p>
        </p:txBody>
      </p:sp>
      <p:sp>
        <p:nvSpPr>
          <p:cNvPr id="10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9ABB5B5E-8EAD-4187-90EC-1CE3F4CD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objective-item-0">
            <a:extLst xmlns:a="http://schemas.openxmlformats.org/drawingml/2006/main">
              <a:ext uri="{FF2B5EF4-FFF2-40B4-BE49-F238E27FC236}">
                <a16:creationId xmlns:a16="http://schemas.microsoft.com/office/drawing/2014/main" id="{3D57E5EC-EFC1-4859-806B-70DE7F01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336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an article result</a:t>
            </a:r>
          </a:p>
        </p:txBody>
      </p:sp>
      <p:sp>
        <p:nvSpPr>
          <p:cNvPr id="12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E563BA81-5614-4B2E-BD9C-28E902D6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objective-item-1">
            <a:extLst xmlns:a="http://schemas.openxmlformats.org/drawingml/2006/main">
              <a:ext uri="{FF2B5EF4-FFF2-40B4-BE49-F238E27FC236}">
                <a16:creationId xmlns:a16="http://schemas.microsoft.com/office/drawing/2014/main" id="{CB636B1E-1AA8-4189-AC2B-CCD514CF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benchmark</a:t>
            </a:r>
          </a:p>
        </p:txBody>
      </p:sp>
      <p:sp>
        <p:nvSpPr>
          <p:cNvPr id="14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F47795DD-C2D4-4559-9571-60632779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objective-item-2">
            <a:extLst xmlns:a="http://schemas.openxmlformats.org/drawingml/2006/main">
              <a:ext uri="{FF2B5EF4-FFF2-40B4-BE49-F238E27FC236}">
                <a16:creationId xmlns:a16="http://schemas.microsoft.com/office/drawing/2014/main" id="{C9D4DB69-AF4C-4605-997F-40C228F3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909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 one assumption</a:t>
            </a:r>
          </a:p>
        </p:txBody>
      </p:sp>
      <p:sp>
        <p:nvSpPr>
          <p:cNvPr id="16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6B292B76-C371-42F4-B41A-A0BB6381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objective-item-3">
            <a:extLst xmlns:a="http://schemas.openxmlformats.org/drawingml/2006/main">
              <a:ext uri="{FF2B5EF4-FFF2-40B4-BE49-F238E27FC236}">
                <a16:creationId xmlns:a16="http://schemas.microsoft.com/office/drawing/2014/main" id="{B0D3851C-3470-4585-A477-C4910FF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the supported claim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213AA2A-A749-4C7E-8503-8E859767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E9FDC7D-7A05-481B-9957-7956FD7D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C82C797-49F3-400C-A89C-4A36B1D0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2</a:t>
            </a:r>
          </a:p>
        </p:txBody>
      </p:sp>
    </p:spTree>
    <p:extLst>
      <p:ext uri="{BB962C8B-B14F-4D97-AF65-F5344CB8AC3E}">
        <p14:creationId xmlns:p14="http://schemas.microsoft.com/office/powerpoint/2010/main" val="1113689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0F6143A6-C35F-4187-8243-8B4C245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90-MINUTE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664631-600E-4887-8853-2864587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Protect the final 20 minutes for presentations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55516F0B-CB47-4D1A-9E6D-D580FC73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ing-time-0">
            <a:extLst xmlns:a="http://schemas.openxmlformats.org/drawingml/2006/main">
              <a:ext uri="{FF2B5EF4-FFF2-40B4-BE49-F238E27FC236}">
                <a16:creationId xmlns:a16="http://schemas.microsoft.com/office/drawing/2014/main" id="{583991DA-3053-4F6B-8A20-818CAE70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00–10</a:t>
            </a:r>
          </a:p>
        </p:txBody>
      </p:sp>
      <p:sp>
        <p:nvSpPr>
          <p:cNvPr id="5" name="timing-name-0">
            <a:extLst xmlns:a="http://schemas.openxmlformats.org/drawingml/2006/main">
              <a:ext uri="{FF2B5EF4-FFF2-40B4-BE49-F238E27FC236}">
                <a16:creationId xmlns:a16="http://schemas.microsoft.com/office/drawing/2014/main" id="{FAA4D4BE-BEBE-482D-8BA8-CBB59405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Locate</a:t>
            </a:r>
          </a:p>
        </p:txBody>
      </p:sp>
      <p:sp>
        <p:nvSpPr>
          <p:cNvPr id="6" name="timing-copy-0">
            <a:extLst xmlns:a="http://schemas.openxmlformats.org/drawingml/2006/main">
              <a:ext uri="{FF2B5EF4-FFF2-40B4-BE49-F238E27FC236}">
                <a16:creationId xmlns:a16="http://schemas.microsoft.com/office/drawing/2014/main" id="{24FC0F75-0D44-4FF6-9386-92CD08E1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roles and locate the exact article result to reproduce.</a:t>
            </a:r>
          </a:p>
        </p:txBody>
      </p:sp>
      <p:sp>
        <p:nvSpPr>
          <p:cNvPr id="7" name="rule-184-226">
            <a:extLst xmlns:a="http://schemas.openxmlformats.org/drawingml/2006/main">
              <a:ext uri="{FF2B5EF4-FFF2-40B4-BE49-F238E27FC236}">
                <a16:creationId xmlns:a16="http://schemas.microsoft.com/office/drawing/2014/main" id="{306B7138-053D-4A6F-90A7-09AC9715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526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ing-time-1">
            <a:extLst xmlns:a="http://schemas.openxmlformats.org/drawingml/2006/main">
              <a:ext uri="{FF2B5EF4-FFF2-40B4-BE49-F238E27FC236}">
                <a16:creationId xmlns:a16="http://schemas.microsoft.com/office/drawing/2014/main" id="{520C9F38-714D-49AC-99A9-D3022F2B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10–30</a:t>
            </a:r>
          </a:p>
        </p:txBody>
      </p:sp>
      <p:sp>
        <p:nvSpPr>
          <p:cNvPr id="9" name="timing-name-1">
            <a:extLst xmlns:a="http://schemas.openxmlformats.org/drawingml/2006/main">
              <a:ext uri="{FF2B5EF4-FFF2-40B4-BE49-F238E27FC236}">
                <a16:creationId xmlns:a16="http://schemas.microsoft.com/office/drawing/2014/main" id="{28158367-23DA-4DF6-AAB0-16AAD1B1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43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</a:t>
            </a:r>
          </a:p>
        </p:txBody>
      </p:sp>
      <p:sp>
        <p:nvSpPr>
          <p:cNvPr id="10" name="timing-copy-1">
            <a:extLst xmlns:a="http://schemas.openxmlformats.org/drawingml/2006/main">
              <a:ext uri="{FF2B5EF4-FFF2-40B4-BE49-F238E27FC236}">
                <a16:creationId xmlns:a16="http://schemas.microsoft.com/office/drawing/2014/main" id="{716DD5F0-0172-43D8-9358-C062CD43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the authors' data or prepared file and reproduce the target.</a:t>
            </a:r>
          </a:p>
        </p:txBody>
      </p:sp>
      <p:sp>
        <p:nvSpPr>
          <p:cNvPr id="11" name="rule-184-298">
            <a:extLst xmlns:a="http://schemas.openxmlformats.org/drawingml/2006/main">
              <a:ext uri="{FF2B5EF4-FFF2-40B4-BE49-F238E27FC236}">
                <a16:creationId xmlns:a16="http://schemas.microsoft.com/office/drawing/2014/main" id="{6CF67AB0-336C-4F38-AA40-D56456EB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ing-time-2">
            <a:extLst xmlns:a="http://schemas.openxmlformats.org/drawingml/2006/main">
              <a:ext uri="{FF2B5EF4-FFF2-40B4-BE49-F238E27FC236}">
                <a16:creationId xmlns:a16="http://schemas.microsoft.com/office/drawing/2014/main" id="{ACF7A5F2-B0D4-4598-9B77-A34503C9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30–45</a:t>
            </a:r>
          </a:p>
        </p:txBody>
      </p:sp>
      <p:sp>
        <p:nvSpPr>
          <p:cNvPr id="13" name="timing-name-2">
            <a:extLst xmlns:a="http://schemas.openxmlformats.org/drawingml/2006/main">
              <a:ext uri="{FF2B5EF4-FFF2-40B4-BE49-F238E27FC236}">
                <a16:creationId xmlns:a16="http://schemas.microsoft.com/office/drawing/2014/main" id="{D22BCE15-F6EF-4287-B5E5-A33C0630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4" name="timing-copy-2">
            <a:extLst xmlns:a="http://schemas.openxmlformats.org/drawingml/2006/main">
              <a:ext uri="{FF2B5EF4-FFF2-40B4-BE49-F238E27FC236}">
                <a16:creationId xmlns:a16="http://schemas.microsoft.com/office/drawing/2014/main" id="{BE89358B-4269-4524-8777-BD00FA45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Apply the session method or benchmark on the same sample.</a:t>
            </a:r>
          </a:p>
        </p:txBody>
      </p:sp>
      <p:sp>
        <p:nvSpPr>
          <p:cNvPr id="15" name="rule-184-370">
            <a:extLst xmlns:a="http://schemas.openxmlformats.org/drawingml/2006/main">
              <a:ext uri="{FF2B5EF4-FFF2-40B4-BE49-F238E27FC236}">
                <a16:creationId xmlns:a16="http://schemas.microsoft.com/office/drawing/2014/main" id="{972E1C0E-13B8-40F9-9BFF-DDB2112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ing-time-3">
            <a:extLst xmlns:a="http://schemas.openxmlformats.org/drawingml/2006/main">
              <a:ext uri="{FF2B5EF4-FFF2-40B4-BE49-F238E27FC236}">
                <a16:creationId xmlns:a16="http://schemas.microsoft.com/office/drawing/2014/main" id="{443DF04A-0C8F-4DF4-B3AB-34E0A955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45–60</a:t>
            </a:r>
          </a:p>
        </p:txBody>
      </p:sp>
      <p:sp>
        <p:nvSpPr>
          <p:cNvPr id="17" name="timing-name-3">
            <a:extLst xmlns:a="http://schemas.openxmlformats.org/drawingml/2006/main">
              <a:ext uri="{FF2B5EF4-FFF2-40B4-BE49-F238E27FC236}">
                <a16:creationId xmlns:a16="http://schemas.microsoft.com/office/drawing/2014/main" id="{83C28016-41E6-4125-B01E-17537342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</a:t>
            </a:r>
          </a:p>
        </p:txBody>
      </p:sp>
      <p:sp>
        <p:nvSpPr>
          <p:cNvPr id="18" name="timing-copy-3">
            <a:extLst xmlns:a="http://schemas.openxmlformats.org/drawingml/2006/main">
              <a:ext uri="{FF2B5EF4-FFF2-40B4-BE49-F238E27FC236}">
                <a16:creationId xmlns:a16="http://schemas.microsoft.com/office/drawing/2014/main" id="{A5A11E9A-203C-467C-9FF1-B95E64A2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one assumption and save before/after evidence.</a:t>
            </a:r>
          </a:p>
        </p:txBody>
      </p:sp>
      <p:sp>
        <p:nvSpPr>
          <p:cNvPr id="19" name="rule-184-442">
            <a:extLst xmlns:a="http://schemas.openxmlformats.org/drawingml/2006/main">
              <a:ext uri="{FF2B5EF4-FFF2-40B4-BE49-F238E27FC236}">
                <a16:creationId xmlns:a16="http://schemas.microsoft.com/office/drawing/2014/main" id="{31F593BC-0F97-48ED-99C7-4471ABDD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ing-time-4">
            <a:extLst xmlns:a="http://schemas.openxmlformats.org/drawingml/2006/main">
              <a:ext uri="{FF2B5EF4-FFF2-40B4-BE49-F238E27FC236}">
                <a16:creationId xmlns:a16="http://schemas.microsoft.com/office/drawing/2014/main" id="{70F979B9-EF11-4C9F-9012-2C065F55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60–70</a:t>
            </a:r>
          </a:p>
        </p:txBody>
      </p:sp>
      <p:sp>
        <p:nvSpPr>
          <p:cNvPr id="21" name="timing-name-4">
            <a:extLst xmlns:a="http://schemas.openxmlformats.org/drawingml/2006/main">
              <a:ext uri="{FF2B5EF4-FFF2-40B4-BE49-F238E27FC236}">
                <a16:creationId xmlns:a16="http://schemas.microsoft.com/office/drawing/2014/main" id="{A9F0A683-D809-442D-85D7-1012E3AD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22" name="timing-copy-4">
            <a:extLst xmlns:a="http://schemas.openxmlformats.org/drawingml/2006/main">
              <a:ext uri="{FF2B5EF4-FFF2-40B4-BE49-F238E27FC236}">
                <a16:creationId xmlns:a16="http://schemas.microsoft.com/office/drawing/2014/main" id="{9FC0FDCC-61D9-4ECF-BCE6-64867CD1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slide: article, replication, catch.</a:t>
            </a:r>
          </a:p>
        </p:txBody>
      </p:sp>
      <p:sp>
        <p:nvSpPr>
          <p:cNvPr id="23" name="rule-184-514">
            <a:extLst xmlns:a="http://schemas.openxmlformats.org/drawingml/2006/main">
              <a:ext uri="{FF2B5EF4-FFF2-40B4-BE49-F238E27FC236}">
                <a16:creationId xmlns:a16="http://schemas.microsoft.com/office/drawing/2014/main" id="{DCBD9E66-5737-4E78-A4B2-DC452F6F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ing-time-5">
            <a:extLst xmlns:a="http://schemas.openxmlformats.org/drawingml/2006/main">
              <a:ext uri="{FF2B5EF4-FFF2-40B4-BE49-F238E27FC236}">
                <a16:creationId xmlns:a16="http://schemas.microsoft.com/office/drawing/2014/main" id="{DADAEAC2-AC3C-486B-B05E-A34B2256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70–90</a:t>
            </a:r>
          </a:p>
        </p:txBody>
      </p:sp>
      <p:sp>
        <p:nvSpPr>
          <p:cNvPr id="25" name="timing-name-5">
            <a:extLst xmlns:a="http://schemas.openxmlformats.org/drawingml/2006/main">
              <a:ext uri="{FF2B5EF4-FFF2-40B4-BE49-F238E27FC236}">
                <a16:creationId xmlns:a16="http://schemas.microsoft.com/office/drawing/2014/main" id="{12D4870F-AD66-4EEC-9776-26D2B6FA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26" name="timing-copy-5">
            <a:extLst xmlns:a="http://schemas.openxmlformats.org/drawingml/2006/main">
              <a:ext uri="{FF2B5EF4-FFF2-40B4-BE49-F238E27FC236}">
                <a16:creationId xmlns:a16="http://schemas.microsoft.com/office/drawing/2014/main" id="{E24AE4CA-E142-42F9-8D3B-281A882D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86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minutes per group; presenter chosen at random.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51AD170-9ADC-4052-B0D1-7B6BCD0D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3E66F4-332A-4FB3-AC85-1C3522B7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E917AC5-BFE3-4775-8260-2A2FA147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3</a:t>
            </a:r>
          </a:p>
        </p:txBody>
      </p:sp>
    </p:spTree>
    <p:extLst>
      <p:ext uri="{BB962C8B-B14F-4D97-AF65-F5344CB8AC3E}">
        <p14:creationId xmlns:p14="http://schemas.microsoft.com/office/powerpoint/2010/main" val="1512181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9D57EA34-F94A-4DB6-95CA-6114DA77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START HERE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5FF761-D69D-432F-8E07-7CEF924D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the Desktop clone in VS Codium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ED873ED-1472-4DEE-98C4-BC1C9AB3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path">
            <a:extLst xmlns:a="http://schemas.openxmlformats.org/drawingml/2006/main">
              <a:ext uri="{FF2B5EF4-FFF2-40B4-BE49-F238E27FC236}">
                <a16:creationId xmlns:a16="http://schemas.microsoft.com/office/drawing/2014/main" id="{98B9B39A-1205-4BF2-9F7E-65E868EE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practice-commands">
            <a:extLst xmlns:a="http://schemas.openxmlformats.org/drawingml/2006/main">
              <a:ext uri="{FF2B5EF4-FFF2-40B4-BE49-F238E27FC236}">
                <a16:creationId xmlns:a16="http://schemas.microsoft.com/office/drawing/2014/main" id="{7FF1DF14-32FD-4F0F-ADC5-FF87C968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524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08-pca-and-factor-models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session08_pca_demo.py</a:t>
            </a:r>
          </a:p>
        </p:txBody>
      </p:sp>
      <p:sp>
        <p:nvSpPr>
          <p:cNvPr id="6" name="practice-local">
            <a:extLst xmlns:a="http://schemas.openxmlformats.org/drawingml/2006/main">
              <a:ext uri="{FF2B5EF4-FFF2-40B4-BE49-F238E27FC236}">
                <a16:creationId xmlns:a16="http://schemas.microsoft.com/office/drawing/2014/main" id="{D6828F3E-031F-45EC-A0CF-C276773A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Package: 10.7910/DVN/NKWMQM. Keep the article result and your comparison separate.</a:t>
            </a:r>
          </a:p>
        </p:txBody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84899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99123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75AEEEE6-ABC0-4DA0-8542-1C5957B5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253D233-A51C-481A-9662-77841A5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F05A3981-AE4C-478B-B7FC-528E6D92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5D39E931-D366-4133-A0D2-C2A0D4BE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 demo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9C835CA3-8798-4BC1-98BC-4B2D0F7C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3762E46-FA9B-44F7-B428-562E20D1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replication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25CCB62-B18D-4CE8-BDC0-B429012C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3646010-A12F-4229-A5A9-E748AB5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22185A2-7A18-46B6-A60B-3D9D934A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4</a:t>
            </a:r>
          </a:p>
        </p:txBody>
      </p:sp>
    </p:spTree>
    <p:extLst>
      <p:ext uri="{BB962C8B-B14F-4D97-AF65-F5344CB8AC3E}">
        <p14:creationId xmlns:p14="http://schemas.microsoft.com/office/powerpoint/2010/main" val="1705178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0E68D22B-7EC8-48FF-B0B5-8ECCD596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WORK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C6CE5D-741E-4F08-AC40-1024250A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Complete all five moves before presenting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38B6660-C190-435C-B5A3-D7A52D9B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BB66F2FA-6610-46EC-A4EA-4580FC96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5" name="task-body-0">
            <a:extLst xmlns:a="http://schemas.openxmlformats.org/drawingml/2006/main">
              <a:ext uri="{FF2B5EF4-FFF2-40B4-BE49-F238E27FC236}">
                <a16:creationId xmlns:a16="http://schemas.microsoft.com/office/drawing/2014/main" id="{6F99F223-272F-4E9C-9066-BB2A1BC3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97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Identify the article panel and forecast target</a:t>
            </a:r>
          </a:p>
        </p:txBody>
      </p:sp>
      <p:sp>
        <p:nvSpPr>
          <p:cNvPr id="6" name="rule-196-228">
            <a:extLst xmlns:a="http://schemas.openxmlformats.org/drawingml/2006/main">
              <a:ext uri="{FF2B5EF4-FFF2-40B4-BE49-F238E27FC236}">
                <a16:creationId xmlns:a16="http://schemas.microsoft.com/office/drawing/2014/main" id="{FFCAEEAF-74AD-4287-B1DF-F74F405A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4C18417D-BF25-4E57-AF53-C7DF2D00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8" name="task-body-1">
            <a:extLst xmlns:a="http://schemas.openxmlformats.org/drawingml/2006/main">
              <a:ext uri="{FF2B5EF4-FFF2-40B4-BE49-F238E27FC236}">
                <a16:creationId xmlns:a16="http://schemas.microsoft.com/office/drawing/2014/main" id="{EF614577-CC16-4125-9847-CD67D4B1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factor or forecast figure</a:t>
            </a:r>
          </a:p>
        </p:txBody>
      </p:sp>
      <p:sp>
        <p:nvSpPr>
          <p:cNvPr id="9" name="rule-196-312">
            <a:extLst xmlns:a="http://schemas.openxmlformats.org/drawingml/2006/main">
              <a:ext uri="{FF2B5EF4-FFF2-40B4-BE49-F238E27FC236}">
                <a16:creationId xmlns:a16="http://schemas.microsoft.com/office/drawing/2014/main" id="{B6593015-6202-4015-88EE-4C111FF7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32B0F696-1F44-478F-8AC7-7DE5743E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1" name="task-body-2">
            <a:extLst xmlns:a="http://schemas.openxmlformats.org/drawingml/2006/main">
              <a:ext uri="{FF2B5EF4-FFF2-40B4-BE49-F238E27FC236}">
                <a16:creationId xmlns:a16="http://schemas.microsoft.com/office/drawing/2014/main" id="{23021989-972A-49DA-B7A5-FCE698BE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99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Plot a scree curve and choose dimension</a:t>
            </a:r>
          </a:p>
        </p:txBody>
      </p:sp>
      <p:sp>
        <p:nvSpPr>
          <p:cNvPr id="12" name="rule-196-396">
            <a:extLst xmlns:a="http://schemas.openxmlformats.org/drawingml/2006/main">
              <a:ext uri="{FF2B5EF4-FFF2-40B4-BE49-F238E27FC236}">
                <a16:creationId xmlns:a16="http://schemas.microsoft.com/office/drawing/2014/main" id="{73C08FFA-430F-4A99-B45B-5E3A374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C6BDA5A8-6D4A-484C-9DE9-804D71FC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STEP 4</a:t>
            </a:r>
          </a:p>
        </p:txBody>
      </p:sp>
      <p:sp>
        <p:nvSpPr>
          <p:cNvPr id="14" name="task-body-3">
            <a:extLst xmlns:a="http://schemas.openxmlformats.org/drawingml/2006/main">
              <a:ext uri="{FF2B5EF4-FFF2-40B4-BE49-F238E27FC236}">
                <a16:creationId xmlns:a16="http://schemas.microsoft.com/office/drawing/2014/main" id="{56827ADC-4467-48DF-BF18-F9BD5C19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a factor-based forecast</a:t>
            </a:r>
          </a:p>
        </p:txBody>
      </p:sp>
      <p:sp>
        <p:nvSpPr>
          <p:cNvPr id="15" name="rule-196-480">
            <a:extLst xmlns:a="http://schemas.openxmlformats.org/drawingml/2006/main">
              <a:ext uri="{FF2B5EF4-FFF2-40B4-BE49-F238E27FC236}">
                <a16:creationId xmlns:a16="http://schemas.microsoft.com/office/drawing/2014/main" id="{84BD8859-FA11-47CF-B2DA-E6D3AAFC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F3D7EE9B-8CEA-4FF2-BA04-B9A65832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5</a:t>
            </a:r>
          </a:p>
        </p:txBody>
      </p:sp>
      <p:sp>
        <p:nvSpPr>
          <p:cNvPr id="17" name="task-body-4">
            <a:extLst xmlns:a="http://schemas.openxmlformats.org/drawingml/2006/main">
              <a:ext uri="{FF2B5EF4-FFF2-40B4-BE49-F238E27FC236}">
                <a16:creationId xmlns:a16="http://schemas.microsoft.com/office/drawing/2014/main" id="{E68A82F6-B56E-4499-A62D-7038C845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01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hard benchmark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75B1301-1B42-4928-8B20-C44CECF5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0AC54AD-FF7E-4813-A654-D0659C79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28D924E-699F-489D-9B8F-F8CCF730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5</a:t>
            </a:r>
          </a:p>
        </p:txBody>
      </p:sp>
    </p:spTree>
    <p:extLst>
      <p:ext uri="{BB962C8B-B14F-4D97-AF65-F5344CB8AC3E}">
        <p14:creationId xmlns:p14="http://schemas.microsoft.com/office/powerpoint/2010/main" val="4775419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eak-kicker">
            <a:extLst xmlns:a="http://schemas.openxmlformats.org/drawingml/2006/main">
              <a:ext uri="{FF2B5EF4-FFF2-40B4-BE49-F238E27FC236}">
                <a16:creationId xmlns:a16="http://schemas.microsoft.com/office/drawing/2014/main" id="{53B0D80E-E177-41A0-A130-DBB4C215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PRACTICE · BREAK IT DELIBERATELY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65F5F797-3853-40B2-BF46-EDFB908A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component can be stable mathematically but impossible to name economically without examining its loadings.</a:t>
            </a:r>
          </a:p>
        </p:txBody>
      </p:sp>
      <p:sp>
        <p:nvSpPr>
          <p:cNvPr id="3" name="break-instruction">
            <a:extLst xmlns:a="http://schemas.openxmlformats.org/drawingml/2006/main">
              <a:ext uri="{FF2B5EF4-FFF2-40B4-BE49-F238E27FC236}">
                <a16:creationId xmlns:a16="http://schemas.microsoft.com/office/drawing/2014/main" id="{27D46FE9-6108-4FD9-ABAA-5EE52066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Create the failure. Save the before/after evidence. Explain the mechanism without blaming the software.</a:t>
            </a:r>
          </a:p>
        </p:txBody>
      </p:sp>
      <p:sp>
        <p:nvSpPr>
          <p:cNvPr id="4" name="break-llm">
            <a:extLst xmlns:a="http://schemas.openxmlformats.org/drawingml/2006/main">
              <a:ext uri="{FF2B5EF4-FFF2-40B4-BE49-F238E27FC236}">
                <a16:creationId xmlns:a16="http://schemas.microsoft.com/office/drawing/2014/main" id="{3130C457-CEF9-4FC1-9F17-D3C5EAE4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Required: record one LLM claim you found wrong, unverifiable, or misleading—and how you checked it.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7F86031-CD8F-484C-B4F4-052530C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5219641-CB66-4B94-B659-8884C0E5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3CD059F-7759-4CE5-8376-65F0F2E9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6</a:t>
            </a:r>
          </a:p>
        </p:txBody>
      </p:sp>
    </p:spTree>
    <p:extLst>
      <p:ext uri="{BB962C8B-B14F-4D97-AF65-F5344CB8AC3E}">
        <p14:creationId xmlns:p14="http://schemas.microsoft.com/office/powerpoint/2010/main" val="1282471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A934D840-EFA3-45E9-98A7-D9460A81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GROUP PRESENTATION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21DE99-017C-4BD3-BCDE-7BBF6063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slide. Two minutes. Random presenter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E4E6030-1A30-4BAE-8DCD-34E9653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ort-label-0">
            <a:extLst xmlns:a="http://schemas.openxmlformats.org/drawingml/2006/main">
              <a:ext uri="{FF2B5EF4-FFF2-40B4-BE49-F238E27FC236}">
                <a16:creationId xmlns:a16="http://schemas.microsoft.com/office/drawing/2014/main" id="{865A099D-8BAF-4C93-B40B-E3F45A3D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5" name="report-body-0">
            <a:extLst xmlns:a="http://schemas.openxmlformats.org/drawingml/2006/main">
              <a:ext uri="{FF2B5EF4-FFF2-40B4-BE49-F238E27FC236}">
                <a16:creationId xmlns:a16="http://schemas.microsoft.com/office/drawing/2014/main" id="{D025E38A-DEA4-49F6-A3C8-7BD7C6F5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published estimate or figure your group targeted.</a:t>
            </a:r>
          </a:p>
        </p:txBody>
      </p:sp>
      <p:sp>
        <p:nvSpPr>
          <p:cNvPr id="6" name="rule-278-272">
            <a:extLst xmlns:a="http://schemas.openxmlformats.org/drawingml/2006/main">
              <a:ext uri="{FF2B5EF4-FFF2-40B4-BE49-F238E27FC236}">
                <a16:creationId xmlns:a16="http://schemas.microsoft.com/office/drawing/2014/main" id="{98BBD675-CFF1-440E-A312-17D38126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port-label-1">
            <a:extLst xmlns:a="http://schemas.openxmlformats.org/drawingml/2006/main">
              <a:ext uri="{FF2B5EF4-FFF2-40B4-BE49-F238E27FC236}">
                <a16:creationId xmlns:a16="http://schemas.microsoft.com/office/drawing/2014/main" id="{7CB0D11F-D988-404E-91EA-538934DC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OUR REPLICATION</a:t>
            </a:r>
          </a:p>
        </p:txBody>
      </p:sp>
      <p:sp>
        <p:nvSpPr>
          <p:cNvPr id="8" name="report-body-1">
            <a:extLst xmlns:a="http://schemas.openxmlformats.org/drawingml/2006/main">
              <a:ext uri="{FF2B5EF4-FFF2-40B4-BE49-F238E27FC236}">
                <a16:creationId xmlns:a16="http://schemas.microsoft.com/office/drawing/2014/main" id="{132800F9-A662-45EC-A37D-39EEBFBE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matched, what differed, and the comparison you added.</a:t>
            </a:r>
          </a:p>
        </p:txBody>
      </p:sp>
      <p:sp>
        <p:nvSpPr>
          <p:cNvPr id="9" name="rule-278-404">
            <a:extLst xmlns:a="http://schemas.openxmlformats.org/drawingml/2006/main">
              <a:ext uri="{FF2B5EF4-FFF2-40B4-BE49-F238E27FC236}">
                <a16:creationId xmlns:a16="http://schemas.microsoft.com/office/drawing/2014/main" id="{7830F03F-B169-4730-AAA6-406452A8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ort-label-2">
            <a:extLst xmlns:a="http://schemas.openxmlformats.org/drawingml/2006/main">
              <a:ext uri="{FF2B5EF4-FFF2-40B4-BE49-F238E27FC236}">
                <a16:creationId xmlns:a16="http://schemas.microsoft.com/office/drawing/2014/main" id="{FCC970AC-55E0-4745-A49C-C8CAFBFE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CATCH</a:t>
            </a:r>
          </a:p>
        </p:txBody>
      </p:sp>
      <p:sp>
        <p:nvSpPr>
          <p:cNvPr id="11" name="report-body-2">
            <a:extLst xmlns:a="http://schemas.openxmlformats.org/drawingml/2006/main">
              <a:ext uri="{FF2B5EF4-FFF2-40B4-BE49-F238E27FC236}">
                <a16:creationId xmlns:a16="http://schemas.microsoft.com/office/drawing/2014/main" id="{B83A5DE8-90C6-40FE-8EE9-250E9EE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assumption, data choice, or limitation that changes the claim.</a:t>
            </a:r>
          </a:p>
        </p:txBody>
      </p:sp>
      <p:sp>
        <p:nvSpPr>
          <p:cNvPr id="12" name="rule-278-536">
            <a:extLst xmlns:a="http://schemas.openxmlformats.org/drawingml/2006/main">
              <a:ext uri="{FF2B5EF4-FFF2-40B4-BE49-F238E27FC236}">
                <a16:creationId xmlns:a16="http://schemas.microsoft.com/office/drawing/2014/main" id="{B4ABB9CA-2B39-497C-8B36-0E5D4E3D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ort-rule">
            <a:extLst xmlns:a="http://schemas.openxmlformats.org/drawingml/2006/main">
              <a:ext uri="{FF2B5EF4-FFF2-40B4-BE49-F238E27FC236}">
                <a16:creationId xmlns:a16="http://schemas.microsoft.com/office/drawing/2014/main" id="{02B444BF-E490-4D43-A4F6-A0C9C3F8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Finish the presentation in class. Nothing carries over as required homework.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D31F4A8-E2F5-4857-9A9B-83E0CA4B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EEA038A-B441-4920-B4B2-DB0412AC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90A0765-CA3A-4CE2-B32B-A959CE46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7</a:t>
            </a:r>
          </a:p>
        </p:txBody>
      </p:sp>
    </p:spTree>
    <p:extLst>
      <p:ext uri="{BB962C8B-B14F-4D97-AF65-F5344CB8AC3E}">
        <p14:creationId xmlns:p14="http://schemas.microsoft.com/office/powerpoint/2010/main" val="1763967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-kicker">
            <a:extLst xmlns:a="http://schemas.openxmlformats.org/drawingml/2006/main">
              <a:ext uri="{FF2B5EF4-FFF2-40B4-BE49-F238E27FC236}">
                <a16:creationId xmlns:a16="http://schemas.microsoft.com/office/drawing/2014/main" id="{B175CFF5-7F98-4CA8-9521-00D3211D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AFTER CLASS · OPTIONAL PARTICIPATION LAB</a:t>
            </a:r>
          </a:p>
        </p:txBody>
      </p:sp>
      <p:sp>
        <p:nvSpPr>
          <p:cNvPr id="2" name="lab-title">
            <a:extLst xmlns:a="http://schemas.openxmlformats.org/drawingml/2006/main">
              <a:ext uri="{FF2B5EF4-FFF2-40B4-BE49-F238E27FC236}">
                <a16:creationId xmlns:a16="http://schemas.microsoft.com/office/drawing/2014/main" id="{701A076A-509F-4180-A56A-5D2913CB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 ends with the group presentations.</a:t>
            </a:r>
          </a:p>
        </p:txBody>
      </p:sp>
      <p:sp>
        <p:nvSpPr>
          <p:cNvPr id="3" name="lab-availability">
            <a:extLst xmlns:a="http://schemas.openxmlformats.org/drawingml/2006/main">
              <a:ext uri="{FF2B5EF4-FFF2-40B4-BE49-F238E27FC236}">
                <a16:creationId xmlns:a16="http://schemas.microsoft.com/office/drawing/2014/main" id="{33E48D22-1BAD-4E4E-8C0D-5CFD29EE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QMIB Lab 08 is a short at-home knowledge check.</a:t>
            </a:r>
          </a:p>
        </p:txBody>
      </p:sp>
      <p:sp>
        <p:nvSpPr>
          <p:cNvPr id="4" name="lab-policy">
            <a:extLst xmlns:a="http://schemas.openxmlformats.org/drawingml/2006/main">
              <a:ext uri="{FF2B5EF4-FFF2-40B4-BE49-F238E27FC236}">
                <a16:creationId xmlns:a16="http://schemas.microsoft.com/office/drawing/2014/main" id="{E5AE97D5-FFD7-4AE2-9DB2-F51DA3D5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657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lab is optional. A completed app report counts toward participation; it is separate from the next pre-session reading and data preparation.</a:t>
            </a:r>
          </a:p>
        </p:txBody>
      </p:sp>
      <p:sp>
        <p:nvSpPr>
          <p:cNvPr id="5" name="lab-steps-bg">
            <a:extLst xmlns:a="http://schemas.openxmlformats.org/drawingml/2006/main">
              <a:ext uri="{FF2B5EF4-FFF2-40B4-BE49-F238E27FC236}">
                <a16:creationId xmlns:a16="http://schemas.microsoft.com/office/drawing/2014/main" id="{0632203A-A249-4EF4-8AAC-10ADF39A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A34"/>
          </a:solidFill>
          <a:ln xmlns:a="http://schemas.openxmlformats.org/drawingml/2006/main" w="9525">
            <a:solidFill>
              <a:srgbClr val="3A4652"/>
            </a:solidFill>
            <a:prstDash val="solid"/>
          </a:ln>
        </p:spPr>
      </p:sp>
      <p:sp>
        <p:nvSpPr>
          <p:cNvPr id="6" name="lab-steps-title">
            <a:extLst xmlns:a="http://schemas.openxmlformats.org/drawingml/2006/main">
              <a:ext uri="{FF2B5EF4-FFF2-40B4-BE49-F238E27FC236}">
                <a16:creationId xmlns:a16="http://schemas.microsoft.com/office/drawing/2014/main" id="{A965E6B8-A9DE-4EF3-9871-3817C338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If you choose the lab</a:t>
            </a:r>
          </a:p>
        </p:txBody>
      </p:sp>
      <p:sp>
        <p:nvSpPr>
          <p:cNvPr id="7" name="lab-step-num-0">
            <a:extLst xmlns:a="http://schemas.openxmlformats.org/drawingml/2006/main">
              <a:ext uri="{FF2B5EF4-FFF2-40B4-BE49-F238E27FC236}">
                <a16:creationId xmlns:a16="http://schemas.microsoft.com/office/drawing/2014/main" id="{57341C55-D731-4021-A3FE-08ACDDF3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lab-step-0">
            <a:extLst xmlns:a="http://schemas.openxmlformats.org/drawingml/2006/main">
              <a:ext uri="{FF2B5EF4-FFF2-40B4-BE49-F238E27FC236}">
                <a16:creationId xmlns:a16="http://schemas.microsoft.com/office/drawing/2014/main" id="{D3C316A4-2A71-4165-9DC6-5C97EE3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session check in the web app</a:t>
            </a:r>
          </a:p>
        </p:txBody>
      </p:sp>
      <p:sp>
        <p:nvSpPr>
          <p:cNvPr id="9" name="lab-step-num-1">
            <a:extLst xmlns:a="http://schemas.openxmlformats.org/drawingml/2006/main">
              <a:ext uri="{FF2B5EF4-FFF2-40B4-BE49-F238E27FC236}">
                <a16:creationId xmlns:a16="http://schemas.microsoft.com/office/drawing/2014/main" id="{A8BBAFA2-B3E0-4BCD-A3B8-2C0CD4EB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lab-step-1">
            <a:extLst xmlns:a="http://schemas.openxmlformats.org/drawingml/2006/main">
              <a:ext uri="{FF2B5EF4-FFF2-40B4-BE49-F238E27FC236}">
                <a16:creationId xmlns:a16="http://schemas.microsoft.com/office/drawing/2014/main" id="{10C466E3-6C70-4C09-B026-549351A2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once without your notes</a:t>
            </a:r>
          </a:p>
        </p:txBody>
      </p:sp>
      <p:sp>
        <p:nvSpPr>
          <p:cNvPr id="11" name="lab-step-num-2">
            <a:extLst xmlns:a="http://schemas.openxmlformats.org/drawingml/2006/main">
              <a:ext uri="{FF2B5EF4-FFF2-40B4-BE49-F238E27FC236}">
                <a16:creationId xmlns:a16="http://schemas.microsoft.com/office/drawing/2014/main" id="{E6B96C4C-76C0-4896-B9CD-FDBBEF24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lab-step-2">
            <a:extLst xmlns:a="http://schemas.openxmlformats.org/drawingml/2006/main">
              <a:ext uri="{FF2B5EF4-FFF2-40B4-BE49-F238E27FC236}">
                <a16:creationId xmlns:a16="http://schemas.microsoft.com/office/drawing/2014/main" id="{18C3CD84-877C-40AA-8167-DF4B285B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Retry and explain missed concepts</a:t>
            </a:r>
          </a:p>
        </p:txBody>
      </p:sp>
      <p:sp>
        <p:nvSpPr>
          <p:cNvPr id="13" name="lab-step-num-3">
            <a:extLst xmlns:a="http://schemas.openxmlformats.org/drawingml/2006/main">
              <a:ext uri="{FF2B5EF4-FFF2-40B4-BE49-F238E27FC236}">
                <a16:creationId xmlns:a16="http://schemas.microsoft.com/office/drawing/2014/main" id="{AFCF634E-BB78-4DD8-89C8-76ABC60B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lab-step-3">
            <a:extLst xmlns:a="http://schemas.openxmlformats.org/drawingml/2006/main">
              <a:ext uri="{FF2B5EF4-FFF2-40B4-BE49-F238E27FC236}">
                <a16:creationId xmlns:a16="http://schemas.microsoft.com/office/drawing/2014/main" id="{4FCCED51-86A9-409A-9C69-FBBF69C6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and submit the report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2687C57-3EDB-481F-948C-49E8CF77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A8B2CC-01DB-4B50-B02A-4149971B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A6D80B8-A97C-40EA-B878-2D6CCDA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8</a:t>
            </a:r>
          </a:p>
        </p:txBody>
      </p:sp>
    </p:spTree>
    <p:extLst>
      <p:ext uri="{BB962C8B-B14F-4D97-AF65-F5344CB8AC3E}">
        <p14:creationId xmlns:p14="http://schemas.microsoft.com/office/powerpoint/2010/main" val="2055155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2026-08-23T21:43:12.6920000Z</dcterms:created>
  <dcterms:modified xsi:type="dcterms:W3CDTF">2026-08-23T21:43:12.6920000Z</dcterms:modified>
</coreProperties>
</file>