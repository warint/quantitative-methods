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5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6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7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8.xml" ContentType="application/vnd.openxmlformats-officedocument.drawingml.char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charts/chart9.xml" ContentType="application/vnd.openxmlformats-officedocument.drawingml.chart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10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11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c95c4422664efb" /><Relationship Type="http://schemas.openxmlformats.org/officeDocument/2006/relationships/extended-properties" Target="/docProps/app.xml" Id="R712f42e3fcc340d0" /><Relationship Type="http://schemas.openxmlformats.org/officeDocument/2006/relationships/officeDocument" Target="/ppt/presentation.xml" Id="Rba1be3cc355740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1aca720afd437b"/>
  </p:sldMasterIdLst>
  <p:notesMasterIdLst>
    <p:notesMasterId xmlns:r="http://schemas.openxmlformats.org/officeDocument/2006/relationships" r:id="Rd1e00a611cb94e0b"/>
  </p:notesMasterIdLst>
  <p:sldIdLst>
    <p:sldId xmlns:r="http://schemas.openxmlformats.org/officeDocument/2006/relationships" id="256" r:id="R7dc3932063d24894"/>
    <p:sldId xmlns:r="http://schemas.openxmlformats.org/officeDocument/2006/relationships" id="257" r:id="R08d8f27266e44ace"/>
    <p:sldId xmlns:r="http://schemas.openxmlformats.org/officeDocument/2006/relationships" id="258" r:id="R5da78fb3d9e2493e"/>
    <p:sldId xmlns:r="http://schemas.openxmlformats.org/officeDocument/2006/relationships" id="259" r:id="Rd6d3e21b08d0418e"/>
    <p:sldId xmlns:r="http://schemas.openxmlformats.org/officeDocument/2006/relationships" id="260" r:id="R055ec21fc6654790"/>
    <p:sldId xmlns:r="http://schemas.openxmlformats.org/officeDocument/2006/relationships" id="261" r:id="Ref6580e6162c4005"/>
    <p:sldId xmlns:r="http://schemas.openxmlformats.org/officeDocument/2006/relationships" id="262" r:id="R928601a3ec244ec4"/>
    <p:sldId xmlns:r="http://schemas.openxmlformats.org/officeDocument/2006/relationships" id="263" r:id="R5dd43c7d09b448ad"/>
    <p:sldId xmlns:r="http://schemas.openxmlformats.org/officeDocument/2006/relationships" id="264" r:id="R094bae75e6ad4aa4"/>
    <p:sldId xmlns:r="http://schemas.openxmlformats.org/officeDocument/2006/relationships" id="265" r:id="R370cf07222f04e5b"/>
    <p:sldId xmlns:r="http://schemas.openxmlformats.org/officeDocument/2006/relationships" id="266" r:id="R3347ab88048740c8"/>
    <p:sldId xmlns:r="http://schemas.openxmlformats.org/officeDocument/2006/relationships" id="267" r:id="R677be444b0cf4a0c"/>
    <p:sldId xmlns:r="http://schemas.openxmlformats.org/officeDocument/2006/relationships" id="268" r:id="R71192a2217164c7f"/>
    <p:sldId xmlns:r="http://schemas.openxmlformats.org/officeDocument/2006/relationships" id="269" r:id="R573d746208e64689"/>
    <p:sldId xmlns:r="http://schemas.openxmlformats.org/officeDocument/2006/relationships" id="270" r:id="Rc062c83ed0034417"/>
    <p:sldId xmlns:r="http://schemas.openxmlformats.org/officeDocument/2006/relationships" id="271" r:id="Re9062afe93c74bf0"/>
    <p:sldId xmlns:r="http://schemas.openxmlformats.org/officeDocument/2006/relationships" id="272" r:id="Rffaa060ec7ab4f36"/>
    <p:sldId xmlns:r="http://schemas.openxmlformats.org/officeDocument/2006/relationships" id="273" r:id="R6818c6ac94254dcc"/>
    <p:sldId xmlns:r="http://schemas.openxmlformats.org/officeDocument/2006/relationships" id="274" r:id="Re721a4b08a874bd6"/>
    <p:sldId xmlns:r="http://schemas.openxmlformats.org/officeDocument/2006/relationships" id="275" r:id="R2e5fa363d983497e"/>
    <p:sldId xmlns:r="http://schemas.openxmlformats.org/officeDocument/2006/relationships" id="276" r:id="R55ac399341114ece"/>
    <p:sldId xmlns:r="http://schemas.openxmlformats.org/officeDocument/2006/relationships" id="277" r:id="Rc334c5fe459e4c03"/>
    <p:sldId xmlns:r="http://schemas.openxmlformats.org/officeDocument/2006/relationships" id="278" r:id="Rb853a30fe8724f48"/>
    <p:sldId xmlns:r="http://schemas.openxmlformats.org/officeDocument/2006/relationships" id="279" r:id="R7b48535f977d4fb8"/>
    <p:sldId xmlns:r="http://schemas.openxmlformats.org/officeDocument/2006/relationships" id="280" r:id="R7e726cd96a094c0e"/>
    <p:sldId xmlns:r="http://schemas.openxmlformats.org/officeDocument/2006/relationships" id="281" r:id="Rf0dec9c854214752"/>
    <p:sldId xmlns:r="http://schemas.openxmlformats.org/officeDocument/2006/relationships" id="282" r:id="Rfc1b0745bc69450c"/>
    <p:sldId xmlns:r="http://schemas.openxmlformats.org/officeDocument/2006/relationships" id="283" r:id="R17ada158003d4c6a"/>
    <p:sldId xmlns:r="http://schemas.openxmlformats.org/officeDocument/2006/relationships" id="284" r:id="R7f52652c26f24ec7"/>
    <p:sldId xmlns:r="http://schemas.openxmlformats.org/officeDocument/2006/relationships" id="285" r:id="R5b44b28bbdb34b77"/>
    <p:sldId xmlns:r="http://schemas.openxmlformats.org/officeDocument/2006/relationships" id="286" r:id="R1f0f6225e253475b"/>
    <p:sldId xmlns:r="http://schemas.openxmlformats.org/officeDocument/2006/relationships" id="287" r:id="Re4ef16c0a2724a62"/>
    <p:sldId xmlns:r="http://schemas.openxmlformats.org/officeDocument/2006/relationships" id="288" r:id="R98151c7726974cd6"/>
    <p:sldId xmlns:r="http://schemas.openxmlformats.org/officeDocument/2006/relationships" id="289" r:id="Ra1ac4c916b524d87"/>
    <p:sldId xmlns:r="http://schemas.openxmlformats.org/officeDocument/2006/relationships" id="290" r:id="Rb23d67459d364203"/>
    <p:sldId xmlns:r="http://schemas.openxmlformats.org/officeDocument/2006/relationships" id="291" r:id="Ra4f96b633f7e407a"/>
    <p:sldId xmlns:r="http://schemas.openxmlformats.org/officeDocument/2006/relationships" id="292" r:id="R2f35917dfe6e47f3"/>
    <p:sldId xmlns:r="http://schemas.openxmlformats.org/officeDocument/2006/relationships" id="293" r:id="R61d5e7541c9e4489"/>
    <p:sldId xmlns:r="http://schemas.openxmlformats.org/officeDocument/2006/relationships" id="294" r:id="R32802d76bac244a8"/>
    <p:sldId xmlns:r="http://schemas.openxmlformats.org/officeDocument/2006/relationships" id="295" r:id="Rc2346242ac844c22"/>
    <p:sldId xmlns:r="http://schemas.openxmlformats.org/officeDocument/2006/relationships" id="296" r:id="R92750aa89ff74594"/>
    <p:sldId xmlns:r="http://schemas.openxmlformats.org/officeDocument/2006/relationships" id="297" r:id="R7471748e8097405a"/>
    <p:sldId xmlns:r="http://schemas.openxmlformats.org/officeDocument/2006/relationships" id="298" r:id="R4ee81701bc944afa"/>
    <p:sldId xmlns:r="http://schemas.openxmlformats.org/officeDocument/2006/relationships" id="299" r:id="R4cb02ba63f0c447e"/>
    <p:sldId xmlns:r="http://schemas.openxmlformats.org/officeDocument/2006/relationships" id="300" r:id="Rb687e7e2510b4368"/>
    <p:sldId xmlns:r="http://schemas.openxmlformats.org/officeDocument/2006/relationships" id="301" r:id="R7219ca5fbf734dae"/>
    <p:sldId xmlns:r="http://schemas.openxmlformats.org/officeDocument/2006/relationships" id="302" r:id="R56fc3b85517640ad"/>
    <p:sldId xmlns:r="http://schemas.openxmlformats.org/officeDocument/2006/relationships" id="303" r:id="R0cee257ea08744a8"/>
    <p:sldId xmlns:r="http://schemas.openxmlformats.org/officeDocument/2006/relationships" id="304" r:id="Rfa974c8ca09141b9"/>
    <p:sldId xmlns:r="http://schemas.openxmlformats.org/officeDocument/2006/relationships" id="305" r:id="R498e133456e240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88e3f1adc346cd" /><Relationship Type="http://schemas.openxmlformats.org/officeDocument/2006/relationships/slideMaster" Target="/ppt/slideMasters/slideMaster1.xml" Id="R301aca720afd437b" /><Relationship Type="http://schemas.openxmlformats.org/officeDocument/2006/relationships/notesMaster" Target="/ppt/notesMasters/notesMaster1.xml" Id="Rd1e00a611cb94e0b" /><Relationship Type="http://schemas.openxmlformats.org/officeDocument/2006/relationships/presProps" Target="/ppt/presProps.xml" Id="R769ed29fd54c45aa" /><Relationship Type="http://schemas.openxmlformats.org/officeDocument/2006/relationships/tableStyles" Target="/ppt/tableStyles.xml" Id="Rc852be899bb8470c" /><Relationship Type="http://schemas.openxmlformats.org/officeDocument/2006/relationships/slide" Target="/ppt/slides/slide1.xml" Id="R7dc3932063d24894" /><Relationship Type="http://schemas.openxmlformats.org/officeDocument/2006/relationships/slide" Target="/ppt/slides/slide2.xml" Id="R08d8f27266e44ace" /><Relationship Type="http://schemas.openxmlformats.org/officeDocument/2006/relationships/slide" Target="/ppt/slides/slide3.xml" Id="R5da78fb3d9e2493e" /><Relationship Type="http://schemas.openxmlformats.org/officeDocument/2006/relationships/slide" Target="/ppt/slides/slide4.xml" Id="Rd6d3e21b08d0418e" /><Relationship Type="http://schemas.openxmlformats.org/officeDocument/2006/relationships/slide" Target="/ppt/slides/slide5.xml" Id="R055ec21fc6654790" /><Relationship Type="http://schemas.openxmlformats.org/officeDocument/2006/relationships/slide" Target="/ppt/slides/slide6.xml" Id="Ref6580e6162c4005" /><Relationship Type="http://schemas.openxmlformats.org/officeDocument/2006/relationships/slide" Target="/ppt/slides/slide7.xml" Id="R928601a3ec244ec4" /><Relationship Type="http://schemas.openxmlformats.org/officeDocument/2006/relationships/slide" Target="/ppt/slides/slide8.xml" Id="R5dd43c7d09b448ad" /><Relationship Type="http://schemas.openxmlformats.org/officeDocument/2006/relationships/slide" Target="/ppt/slides/slide9.xml" Id="R094bae75e6ad4aa4" /><Relationship Type="http://schemas.openxmlformats.org/officeDocument/2006/relationships/slide" Target="/ppt/slides/slide10.xml" Id="R370cf07222f04e5b" /><Relationship Type="http://schemas.openxmlformats.org/officeDocument/2006/relationships/slide" Target="/ppt/slides/slide11.xml" Id="R3347ab88048740c8" /><Relationship Type="http://schemas.openxmlformats.org/officeDocument/2006/relationships/slide" Target="/ppt/slides/slide12.xml" Id="R677be444b0cf4a0c" /><Relationship Type="http://schemas.openxmlformats.org/officeDocument/2006/relationships/slide" Target="/ppt/slides/slide13.xml" Id="R71192a2217164c7f" /><Relationship Type="http://schemas.openxmlformats.org/officeDocument/2006/relationships/slide" Target="/ppt/slides/slide14.xml" Id="R573d746208e64689" /><Relationship Type="http://schemas.openxmlformats.org/officeDocument/2006/relationships/slide" Target="/ppt/slides/slide15.xml" Id="Rc062c83ed0034417" /><Relationship Type="http://schemas.openxmlformats.org/officeDocument/2006/relationships/slide" Target="/ppt/slides/slide16.xml" Id="Re9062afe93c74bf0" /><Relationship Type="http://schemas.openxmlformats.org/officeDocument/2006/relationships/slide" Target="/ppt/slides/slide17.xml" Id="Rffaa060ec7ab4f36" /><Relationship Type="http://schemas.openxmlformats.org/officeDocument/2006/relationships/slide" Target="/ppt/slides/slide18.xml" Id="R6818c6ac94254dcc" /><Relationship Type="http://schemas.openxmlformats.org/officeDocument/2006/relationships/slide" Target="/ppt/slides/slide19.xml" Id="Re721a4b08a874bd6" /><Relationship Type="http://schemas.openxmlformats.org/officeDocument/2006/relationships/slide" Target="/ppt/slides/slide20.xml" Id="R2e5fa363d983497e" /><Relationship Type="http://schemas.openxmlformats.org/officeDocument/2006/relationships/slide" Target="/ppt/slides/slide21.xml" Id="R55ac399341114ece" /><Relationship Type="http://schemas.openxmlformats.org/officeDocument/2006/relationships/slide" Target="/ppt/slides/slide22.xml" Id="Rc334c5fe459e4c03" /><Relationship Type="http://schemas.openxmlformats.org/officeDocument/2006/relationships/slide" Target="/ppt/slides/slide23.xml" Id="Rb853a30fe8724f48" /><Relationship Type="http://schemas.openxmlformats.org/officeDocument/2006/relationships/slide" Target="/ppt/slides/slide24.xml" Id="R7b48535f977d4fb8" /><Relationship Type="http://schemas.openxmlformats.org/officeDocument/2006/relationships/slide" Target="/ppt/slides/slide25.xml" Id="R7e726cd96a094c0e" /><Relationship Type="http://schemas.openxmlformats.org/officeDocument/2006/relationships/slide" Target="/ppt/slides/slide26.xml" Id="Rf0dec9c854214752" /><Relationship Type="http://schemas.openxmlformats.org/officeDocument/2006/relationships/slide" Target="/ppt/slides/slide27.xml" Id="Rfc1b0745bc69450c" /><Relationship Type="http://schemas.openxmlformats.org/officeDocument/2006/relationships/slide" Target="/ppt/slides/slide28.xml" Id="R17ada158003d4c6a" /><Relationship Type="http://schemas.openxmlformats.org/officeDocument/2006/relationships/slide" Target="/ppt/slides/slide29.xml" Id="R7f52652c26f24ec7" /><Relationship Type="http://schemas.openxmlformats.org/officeDocument/2006/relationships/slide" Target="/ppt/slides/slide30.xml" Id="R5b44b28bbdb34b77" /><Relationship Type="http://schemas.openxmlformats.org/officeDocument/2006/relationships/slide" Target="/ppt/slides/slide31.xml" Id="R1f0f6225e253475b" /><Relationship Type="http://schemas.openxmlformats.org/officeDocument/2006/relationships/slide" Target="/ppt/slides/slide32.xml" Id="Re4ef16c0a2724a62" /><Relationship Type="http://schemas.openxmlformats.org/officeDocument/2006/relationships/slide" Target="/ppt/slides/slide33.xml" Id="R98151c7726974cd6" /><Relationship Type="http://schemas.openxmlformats.org/officeDocument/2006/relationships/slide" Target="/ppt/slides/slide34.xml" Id="Ra1ac4c916b524d87" /><Relationship Type="http://schemas.openxmlformats.org/officeDocument/2006/relationships/slide" Target="/ppt/slides/slide35.xml" Id="Rb23d67459d364203" /><Relationship Type="http://schemas.openxmlformats.org/officeDocument/2006/relationships/slide" Target="/ppt/slides/slide36.xml" Id="Ra4f96b633f7e407a" /><Relationship Type="http://schemas.openxmlformats.org/officeDocument/2006/relationships/slide" Target="/ppt/slides/slide37.xml" Id="R2f35917dfe6e47f3" /><Relationship Type="http://schemas.openxmlformats.org/officeDocument/2006/relationships/slide" Target="/ppt/slides/slide38.xml" Id="R61d5e7541c9e4489" /><Relationship Type="http://schemas.openxmlformats.org/officeDocument/2006/relationships/slide" Target="/ppt/slides/slide39.xml" Id="R32802d76bac244a8" /><Relationship Type="http://schemas.openxmlformats.org/officeDocument/2006/relationships/slide" Target="/ppt/slides/slide40.xml" Id="Rc2346242ac844c22" /><Relationship Type="http://schemas.openxmlformats.org/officeDocument/2006/relationships/slide" Target="/ppt/slides/slide41.xml" Id="R92750aa89ff74594" /><Relationship Type="http://schemas.openxmlformats.org/officeDocument/2006/relationships/slide" Target="/ppt/slides/slide42.xml" Id="R7471748e8097405a" /><Relationship Type="http://schemas.openxmlformats.org/officeDocument/2006/relationships/slide" Target="/ppt/slides/slide43.xml" Id="R4ee81701bc944afa" /><Relationship Type="http://schemas.openxmlformats.org/officeDocument/2006/relationships/slide" Target="/ppt/slides/slide44.xml" Id="R4cb02ba63f0c447e" /><Relationship Type="http://schemas.openxmlformats.org/officeDocument/2006/relationships/slide" Target="/ppt/slides/slide45.xml" Id="Rb687e7e2510b4368" /><Relationship Type="http://schemas.openxmlformats.org/officeDocument/2006/relationships/slide" Target="/ppt/slides/slide46.xml" Id="R7219ca5fbf734dae" /><Relationship Type="http://schemas.openxmlformats.org/officeDocument/2006/relationships/slide" Target="/ppt/slides/slide47.xml" Id="R56fc3b85517640ad" /><Relationship Type="http://schemas.openxmlformats.org/officeDocument/2006/relationships/slide" Target="/ppt/slides/slide48.xml" Id="R0cee257ea08744a8" /><Relationship Type="http://schemas.openxmlformats.org/officeDocument/2006/relationships/slide" Target="/ppt/slides/slide49.xml" Id="Rfa974c8ca09141b9" /><Relationship Type="http://schemas.openxmlformats.org/officeDocument/2006/relationships/slide" Target="/ppt/slides/slide50.xml" Id="R498e133456e240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a9278153124e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b1b363ecb844e5" /><Relationship Type="http://schemas.openxmlformats.org/officeDocument/2006/relationships/notesMaster" Target="/ppt/notesMasters/notesMaster1.xml" Id="Rb7b6c6d9ccf54c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f4feb986bc4c3f" /><Relationship Type="http://schemas.openxmlformats.org/officeDocument/2006/relationships/notesMaster" Target="/ppt/notesMasters/notesMaster1.xml" Id="R7069f14f52f744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a33903f3564ccc" /><Relationship Type="http://schemas.openxmlformats.org/officeDocument/2006/relationships/notesMaster" Target="/ppt/notesMasters/notesMaster1.xml" Id="R0b4073cc7c7e48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8e514f8ed345ce" /><Relationship Type="http://schemas.openxmlformats.org/officeDocument/2006/relationships/notesMaster" Target="/ppt/notesMasters/notesMaster1.xml" Id="R1c9ed7c1ac0946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1f7ad4aee042b8" /><Relationship Type="http://schemas.openxmlformats.org/officeDocument/2006/relationships/notesMaster" Target="/ppt/notesMasters/notesMaster1.xml" Id="R87f1e73e2c054a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066adb84b841ed" /><Relationship Type="http://schemas.openxmlformats.org/officeDocument/2006/relationships/notesMaster" Target="/ppt/notesMasters/notesMaster1.xml" Id="Ra23b77ad68104b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4072922b0346b8" /><Relationship Type="http://schemas.openxmlformats.org/officeDocument/2006/relationships/notesMaster" Target="/ppt/notesMasters/notesMaster1.xml" Id="Ra808bcf8468a42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10854036df45dc" /><Relationship Type="http://schemas.openxmlformats.org/officeDocument/2006/relationships/notesMaster" Target="/ppt/notesMasters/notesMaster1.xml" Id="Reb6cbd487dac45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2448b115f84415" /><Relationship Type="http://schemas.openxmlformats.org/officeDocument/2006/relationships/notesMaster" Target="/ppt/notesMasters/notesMaster1.xml" Id="R559ab52aaafd47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0aecd296b74c05" /><Relationship Type="http://schemas.openxmlformats.org/officeDocument/2006/relationships/notesMaster" Target="/ppt/notesMasters/notesMaster1.xml" Id="R57774b384e7e40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aba4f99fab4ad9" /><Relationship Type="http://schemas.openxmlformats.org/officeDocument/2006/relationships/notesMaster" Target="/ppt/notesMasters/notesMaster1.xml" Id="Rd1e08e96dd814c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cdc3c0bf074cbe" /><Relationship Type="http://schemas.openxmlformats.org/officeDocument/2006/relationships/notesMaster" Target="/ppt/notesMasters/notesMaster1.xml" Id="Rd582f947bb8349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2dd3c746444b0b" /><Relationship Type="http://schemas.openxmlformats.org/officeDocument/2006/relationships/notesMaster" Target="/ppt/notesMasters/notesMaster1.xml" Id="R3f0bb8abfa1247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0ac00d3fdc458f" /><Relationship Type="http://schemas.openxmlformats.org/officeDocument/2006/relationships/notesMaster" Target="/ppt/notesMasters/notesMaster1.xml" Id="Rb8db2562d6c745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a42ccf68f84b2f" /><Relationship Type="http://schemas.openxmlformats.org/officeDocument/2006/relationships/notesMaster" Target="/ppt/notesMasters/notesMaster1.xml" Id="Re16aa27ff16b4e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48f30ca3a64b8d" /><Relationship Type="http://schemas.openxmlformats.org/officeDocument/2006/relationships/notesMaster" Target="/ppt/notesMasters/notesMaster1.xml" Id="Red75ebc2a7d248b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9773bbf16d44be" /><Relationship Type="http://schemas.openxmlformats.org/officeDocument/2006/relationships/notesMaster" Target="/ppt/notesMasters/notesMaster1.xml" Id="Rf77ad17b6ead4e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d020856d2b4df3" /><Relationship Type="http://schemas.openxmlformats.org/officeDocument/2006/relationships/notesMaster" Target="/ppt/notesMasters/notesMaster1.xml" Id="Rb00c566114974c6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4258c5e6fa4ee6" /><Relationship Type="http://schemas.openxmlformats.org/officeDocument/2006/relationships/notesMaster" Target="/ppt/notesMasters/notesMaster1.xml" Id="Rbf58e3127ed54b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343f38948e45d5" /><Relationship Type="http://schemas.openxmlformats.org/officeDocument/2006/relationships/notesMaster" Target="/ppt/notesMasters/notesMaster1.xml" Id="R0ebc6c05afc1457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6c140e2f4ea41ca" /><Relationship Type="http://schemas.openxmlformats.org/officeDocument/2006/relationships/notesMaster" Target="/ppt/notesMasters/notesMaster1.xml" Id="R68f040a438c54d4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553ba69389744f6" /><Relationship Type="http://schemas.openxmlformats.org/officeDocument/2006/relationships/notesMaster" Target="/ppt/notesMasters/notesMaster1.xml" Id="R6136f4ee36154d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57636f8845645d5" /><Relationship Type="http://schemas.openxmlformats.org/officeDocument/2006/relationships/notesMaster" Target="/ppt/notesMasters/notesMaster1.xml" Id="R99a5ae3990f747c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62f214088454e6a" /><Relationship Type="http://schemas.openxmlformats.org/officeDocument/2006/relationships/notesMaster" Target="/ppt/notesMasters/notesMaster1.xml" Id="Ra38e7ffad6d44c9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8769676fe754302" /><Relationship Type="http://schemas.openxmlformats.org/officeDocument/2006/relationships/notesMaster" Target="/ppt/notesMasters/notesMaster1.xml" Id="R63c7e9ffb746402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d5cba6fd40644d7" /><Relationship Type="http://schemas.openxmlformats.org/officeDocument/2006/relationships/notesMaster" Target="/ppt/notesMasters/notesMaster1.xml" Id="Re3b42cea6d00489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9d8a5adadfa4d31" /><Relationship Type="http://schemas.openxmlformats.org/officeDocument/2006/relationships/notesMaster" Target="/ppt/notesMasters/notesMaster1.xml" Id="R954ae5cc83d240f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8296c46c845409a" /><Relationship Type="http://schemas.openxmlformats.org/officeDocument/2006/relationships/notesMaster" Target="/ppt/notesMasters/notesMaster1.xml" Id="R26b718438b63478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7a8b545126942a3" /><Relationship Type="http://schemas.openxmlformats.org/officeDocument/2006/relationships/notesMaster" Target="/ppt/notesMasters/notesMaster1.xml" Id="Rab9ba276a590463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756ec8be37b4eba" /><Relationship Type="http://schemas.openxmlformats.org/officeDocument/2006/relationships/notesMaster" Target="/ppt/notesMasters/notesMaster1.xml" Id="R67928f57048a4b0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22a860e3757424d" /><Relationship Type="http://schemas.openxmlformats.org/officeDocument/2006/relationships/notesMaster" Target="/ppt/notesMasters/notesMaster1.xml" Id="R4578a1b1b2304d4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0a946c8e3a34934" /><Relationship Type="http://schemas.openxmlformats.org/officeDocument/2006/relationships/notesMaster" Target="/ppt/notesMasters/notesMaster1.xml" Id="Rf298f6af4d9f406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0a80be455e8453a" /><Relationship Type="http://schemas.openxmlformats.org/officeDocument/2006/relationships/notesMaster" Target="/ppt/notesMasters/notesMaster1.xml" Id="R044fc38c80f34d8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cdaeb62f38445fb" /><Relationship Type="http://schemas.openxmlformats.org/officeDocument/2006/relationships/notesMaster" Target="/ppt/notesMasters/notesMaster1.xml" Id="Refa1a807223240d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b493bf29b2349d0" /><Relationship Type="http://schemas.openxmlformats.org/officeDocument/2006/relationships/notesMaster" Target="/ppt/notesMasters/notesMaster1.xml" Id="Rc55b27187e0e431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bb66a210ef6475f" /><Relationship Type="http://schemas.openxmlformats.org/officeDocument/2006/relationships/notesMaster" Target="/ppt/notesMasters/notesMaster1.xml" Id="Rbeea3f3862b74dc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66edfd728dd4dd6" /><Relationship Type="http://schemas.openxmlformats.org/officeDocument/2006/relationships/notesMaster" Target="/ppt/notesMasters/notesMaster1.xml" Id="Rcb95c826f961452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1b61bc75b004432" /><Relationship Type="http://schemas.openxmlformats.org/officeDocument/2006/relationships/notesMaster" Target="/ppt/notesMasters/notesMaster1.xml" Id="R8fe5984afbb24ab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04a4a40b27b44b3" /><Relationship Type="http://schemas.openxmlformats.org/officeDocument/2006/relationships/notesMaster" Target="/ppt/notesMasters/notesMaster1.xml" Id="Rb4a753ae66864a9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73e760825184def" /><Relationship Type="http://schemas.openxmlformats.org/officeDocument/2006/relationships/notesMaster" Target="/ppt/notesMasters/notesMaster1.xml" Id="R7ad275bc70374be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eccd5ee655445b0" /><Relationship Type="http://schemas.openxmlformats.org/officeDocument/2006/relationships/notesMaster" Target="/ppt/notesMasters/notesMaster1.xml" Id="Rb6e106873680461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f25ccca8cdf4536" /><Relationship Type="http://schemas.openxmlformats.org/officeDocument/2006/relationships/notesMaster" Target="/ppt/notesMasters/notesMaster1.xml" Id="R98a5fa1e678240d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b59b0ff216b4808" /><Relationship Type="http://schemas.openxmlformats.org/officeDocument/2006/relationships/notesMaster" Target="/ppt/notesMasters/notesMaster1.xml" Id="R881e92160f084c5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9cbc4085d484fd2" /><Relationship Type="http://schemas.openxmlformats.org/officeDocument/2006/relationships/notesMaster" Target="/ppt/notesMasters/notesMaster1.xml" Id="R2c026492327845f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84c09282f4546b5" /><Relationship Type="http://schemas.openxmlformats.org/officeDocument/2006/relationships/notesMaster" Target="/ppt/notesMasters/notesMaster1.xml" Id="R5dec858ba3574ea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1ed2a73c52b4eca" /><Relationship Type="http://schemas.openxmlformats.org/officeDocument/2006/relationships/notesMaster" Target="/ppt/notesMasters/notesMaster1.xml" Id="Ra71e1a3c8e4b488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28913d466ab47dd" /><Relationship Type="http://schemas.openxmlformats.org/officeDocument/2006/relationships/notesMaster" Target="/ppt/notesMasters/notesMaster1.xml" Id="R0a5db0fb018840d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224f7258f4b453a" /><Relationship Type="http://schemas.openxmlformats.org/officeDocument/2006/relationships/notesMaster" Target="/ppt/notesMasters/notesMaster1.xml" Id="R5027375c8af84c3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6d562366f5544ea" /><Relationship Type="http://schemas.openxmlformats.org/officeDocument/2006/relationships/notesMaster" Target="/ppt/notesMasters/notesMaster1.xml" Id="R4ad42da9a5bd43e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17bc93eaacf4ddd" /><Relationship Type="http://schemas.openxmlformats.org/officeDocument/2006/relationships/notesMaster" Target="/ppt/notesMasters/notesMaster1.xml" Id="Rf035e4b32c5c46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session question. Ask students what kind of claim the method is designed to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route as a promise: students should always know whether a slide is defining, motivating, deriving, implementing, or challenging the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cumulative course structure explicit before introducing new notation.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one use case and one misuse before showing the mathematics.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Jan Czekanowski and connect the biography to the method—not to hero worship.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Asset: slides/course-assets/historical-portraits/czekanowski.png — AI-generated interpretive illustration; not an archival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1 · Start with the warning.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Four clusters. What do they mean?.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So the burden of proof is yours.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2 · k-means.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The objective.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Asset: 09-clustering-and-text-as-data/demo/outputs/kmeans_clusters.png — generated by 09-clustering-and-text-as-data/demo/session09_clustering_text_demo.py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Watch it converge.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Watch it converge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Local minima are the normal case.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Nearest-centroid means straight boundaries.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Nearest-centroid means straight boundaries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Say precisely what is assumed.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Merge upward instead of partitioning.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Asset: 09-clustering-and-text-as-data/demo/outputs/kmeans_clusters.png — generated by 09-clustering-and-text-as-data/demo/session09_clustering_text_demo.py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Linkage is not a detail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5 · Choosing k.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Three criteria.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Silhouette, by hand.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Both criteria, on our 30 countries.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And they do not agree with the truth.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And they do not agree with the truth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Asset: 09-clustering-and-text-as-data/demo/outputs/kmeans_clusters.png — generated by 09-clustering-and-text-as-data/demo/session09_clustering_text_demo.py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Bag of words, and TF-IDF.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Bag of words, and TF-IDF · read the mathematics.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Build one, on 1,980 central-bank documents.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the idf weights are doing.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the idf weights are doing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Cluster the documents and read the result.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Cluster the documents and read the result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Asset: 09-clustering-and-text-as-data/demo/outputs/kmeans_clusters.png — generated by 09-clustering-and-text-as-data/demo/session09_clustering_text_demo.py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Similarity is a matrix you can look at.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Similarity is a matrix you can look at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7 · Validity.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Four questions about any text-derived measure.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Build a dictionary index, then test it.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Does it behave?.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Does it behave? · Python.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figure from axes to pattern to claim. Then ask which design choice would change the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Asset: 09-clustering-and-text-as-data/demo/outputs/kmeans_clusters.png — generated by 09-clustering-and-text-as-data/demo/session09_clustering_text_demo.py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Takeaways.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What loses marks.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Now, the practice. Translate the notation into one sentence, then connect it to the article replication.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article and Dataverse package must already be available. ISLR is optional background, never the practice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say the sentence aloud before they see the result they will replicate.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most fragile assumption in the article and make it the first diagnostic in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lecture ends here. Open the separate in-class practice presentation and start the 90-minute clock.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09-clustering-and-text-as-data/slides.qmd</a:t>
            </a:r>
          </a:p>
          <a:p xmlns:a="http://schemas.openxmlformats.org/drawingml/2006/main">
            <a:r>
              <a:t>- https://warin.ca/quant/en/session9_cours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ee5238da240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2ba59fb33f4e2b" /><Relationship Type="http://schemas.openxmlformats.org/officeDocument/2006/relationships/slideLayout" Target="/ppt/slideLayouts/slideLayout1.xml" Id="R4e617c2d777f45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617c2d777f45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d7db8ddb24911" /><Relationship Type="http://schemas.openxmlformats.org/officeDocument/2006/relationships/notesSlide" Target="/ppt/notesSlides/notesSlide1.xml" Id="Rd49baa0e924347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92a4714ee44b5" /><Relationship Type="http://schemas.openxmlformats.org/officeDocument/2006/relationships/notesSlide" Target="/ppt/notesSlides/notesSlide2.xml" Id="R4f3db46dcc1343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a579368cf42e0" /><Relationship Type="http://schemas.openxmlformats.org/officeDocument/2006/relationships/notesSlide" Target="/ppt/notesSlides/notesSlide3.xml" Id="R1b13cd2c43444e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afbe82f584cef" /><Relationship Type="http://schemas.openxmlformats.org/officeDocument/2006/relationships/notesSlide" Target="/ppt/notesSlides/notesSlide4.xml" Id="Ra918acef992144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2a9f279324c9b" /><Relationship Type="http://schemas.openxmlformats.org/officeDocument/2006/relationships/chart" Target="/ppt/slides/charts/chart1.xml" Id="R05c33e5ec77246b3" /><Relationship Type="http://schemas.openxmlformats.org/officeDocument/2006/relationships/image" Target="/ppt/media/image.png" Id="R19d19b4efc5d441f" /><Relationship Type="http://schemas.openxmlformats.org/officeDocument/2006/relationships/notesSlide" Target="/ppt/notesSlides/notesSlide5.xml" Id="Rd3c388ff53804b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f55ddedd742a7" /><Relationship Type="http://schemas.openxmlformats.org/officeDocument/2006/relationships/notesSlide" Target="/ppt/notesSlides/notesSlide6.xml" Id="Rbe57a941915740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4ad0355a04f3d" /><Relationship Type="http://schemas.openxmlformats.org/officeDocument/2006/relationships/notesSlide" Target="/ppt/notesSlides/notesSlide7.xml" Id="Ra1433a39aecc43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6b4286a9b4c3a" /><Relationship Type="http://schemas.openxmlformats.org/officeDocument/2006/relationships/notesSlide" Target="/ppt/notesSlides/notesSlide8.xml" Id="R3276129c6dfa42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a5b51273b4636" /><Relationship Type="http://schemas.openxmlformats.org/officeDocument/2006/relationships/chart" Target="/ppt/slides/charts/chart2.xml" Id="Rd46f335cac9142dd" /><Relationship Type="http://schemas.openxmlformats.org/officeDocument/2006/relationships/notesSlide" Target="/ppt/notesSlides/notesSlide9.xml" Id="Rc03dd977364641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f6c808c334239" /><Relationship Type="http://schemas.openxmlformats.org/officeDocument/2006/relationships/notesSlide" Target="/ppt/notesSlides/notesSlide10.xml" Id="Rfba5b9c9722c48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18668f0f34861" /><Relationship Type="http://schemas.openxmlformats.org/officeDocument/2006/relationships/chart" Target="/ppt/slides/charts/chart3.xml" Id="R883d8ec48fa64f39" /><Relationship Type="http://schemas.openxmlformats.org/officeDocument/2006/relationships/image" Target="/ppt/media/image2.png" Id="R8173e0b5828d4b2d" /><Relationship Type="http://schemas.openxmlformats.org/officeDocument/2006/relationships/notesSlide" Target="/ppt/notesSlides/notesSlide11.xml" Id="R823b9a4894824a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68e27dfd84dae" /><Relationship Type="http://schemas.openxmlformats.org/officeDocument/2006/relationships/notesSlide" Target="/ppt/notesSlides/notesSlide12.xml" Id="R08017da2e6bf44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fa9faadc44bc1" /><Relationship Type="http://schemas.openxmlformats.org/officeDocument/2006/relationships/notesSlide" Target="/ppt/notesSlides/notesSlide13.xml" Id="R76f20b0ed92241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6b2a986814525" /><Relationship Type="http://schemas.openxmlformats.org/officeDocument/2006/relationships/notesSlide" Target="/ppt/notesSlides/notesSlide14.xml" Id="Rcaeadd3368bf4a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94a49623e4af6" /><Relationship Type="http://schemas.openxmlformats.org/officeDocument/2006/relationships/chart" Target="/ppt/slides/charts/chart4.xml" Id="Rd3214cefb6fb419c" /><Relationship Type="http://schemas.openxmlformats.org/officeDocument/2006/relationships/notesSlide" Target="/ppt/notesSlides/notesSlide15.xml" Id="R8e8a960c03b34f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777c1c1b84255" /><Relationship Type="http://schemas.openxmlformats.org/officeDocument/2006/relationships/notesSlide" Target="/ppt/notesSlides/notesSlide16.xml" Id="R9fdfe7f250b04b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6d59a7a214a9c" /><Relationship Type="http://schemas.openxmlformats.org/officeDocument/2006/relationships/notesSlide" Target="/ppt/notesSlides/notesSlide17.xml" Id="R87ac5c99d4c34b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3464d415e47b2" /><Relationship Type="http://schemas.openxmlformats.org/officeDocument/2006/relationships/notesSlide" Target="/ppt/notesSlides/notesSlide18.xml" Id="Rd6039ed129f24e4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2a957b7c149d0" /><Relationship Type="http://schemas.openxmlformats.org/officeDocument/2006/relationships/chart" Target="/ppt/slides/charts/chart5.xml" Id="Rf72076f8bd044069" /><Relationship Type="http://schemas.openxmlformats.org/officeDocument/2006/relationships/image" Target="/ppt/media/image3.png" Id="R87c5e4a0201d419d" /><Relationship Type="http://schemas.openxmlformats.org/officeDocument/2006/relationships/notesSlide" Target="/ppt/notesSlides/notesSlide19.xml" Id="R31991e76ae4a45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71fad0c204aa3" /><Relationship Type="http://schemas.openxmlformats.org/officeDocument/2006/relationships/notesSlide" Target="/ppt/notesSlides/notesSlide20.xml" Id="Rd0ee2ab66b5a494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6a94ef4644517" /><Relationship Type="http://schemas.openxmlformats.org/officeDocument/2006/relationships/notesSlide" Target="/ppt/notesSlides/notesSlide21.xml" Id="Re6a76a9d9f994f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089ac90e04b47" /><Relationship Type="http://schemas.openxmlformats.org/officeDocument/2006/relationships/chart" Target="/ppt/slides/charts/chart6.xml" Id="Re3f66173a12746fb" /><Relationship Type="http://schemas.openxmlformats.org/officeDocument/2006/relationships/notesSlide" Target="/ppt/notesSlides/notesSlide22.xml" Id="R0b25546514c944e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efc932aee4ce9" /><Relationship Type="http://schemas.openxmlformats.org/officeDocument/2006/relationships/notesSlide" Target="/ppt/notesSlides/notesSlide23.xml" Id="Raf953e4ab1c949c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13af9197d400b" /><Relationship Type="http://schemas.openxmlformats.org/officeDocument/2006/relationships/notesSlide" Target="/ppt/notesSlides/notesSlide24.xml" Id="Rc701eac33e7842d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c0235ce5749a1" /><Relationship Type="http://schemas.openxmlformats.org/officeDocument/2006/relationships/notesSlide" Target="/ppt/notesSlides/notesSlide25.xml" Id="Re9df1e39675c4bc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968f77f59472d" /><Relationship Type="http://schemas.openxmlformats.org/officeDocument/2006/relationships/notesSlide" Target="/ppt/notesSlides/notesSlide26.xml" Id="R63395e40290c4bb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6db6eacb645bb" /><Relationship Type="http://schemas.openxmlformats.org/officeDocument/2006/relationships/chart" Target="/ppt/slides/charts/chart7.xml" Id="R7b08b1d528da4e49" /><Relationship Type="http://schemas.openxmlformats.org/officeDocument/2006/relationships/image" Target="/ppt/media/image4.png" Id="R97ff10262b9a41a7" /><Relationship Type="http://schemas.openxmlformats.org/officeDocument/2006/relationships/notesSlide" Target="/ppt/notesSlides/notesSlide27.xml" Id="R4ee4de320bb04af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7225cf6d54114" /><Relationship Type="http://schemas.openxmlformats.org/officeDocument/2006/relationships/notesSlide" Target="/ppt/notesSlides/notesSlide28.xml" Id="R913f046d03e7431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30d6e0804477a" /><Relationship Type="http://schemas.openxmlformats.org/officeDocument/2006/relationships/notesSlide" Target="/ppt/notesSlides/notesSlide29.xml" Id="Rb06653567275472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ed35e9aab48b5" /><Relationship Type="http://schemas.openxmlformats.org/officeDocument/2006/relationships/notesSlide" Target="/ppt/notesSlides/notesSlide30.xml" Id="Rdac787d7140e43f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27d612e574246" /><Relationship Type="http://schemas.openxmlformats.org/officeDocument/2006/relationships/chart" Target="/ppt/slides/charts/chart8.xml" Id="R2b7f4304e3e748e8" /><Relationship Type="http://schemas.openxmlformats.org/officeDocument/2006/relationships/notesSlide" Target="/ppt/notesSlides/notesSlide31.xml" Id="R8d71087878de464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7e1d079d14c50" /><Relationship Type="http://schemas.openxmlformats.org/officeDocument/2006/relationships/notesSlide" Target="/ppt/notesSlides/notesSlide32.xml" Id="Re2d481cc69524a9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9c8f3a65640d7" /><Relationship Type="http://schemas.openxmlformats.org/officeDocument/2006/relationships/notesSlide" Target="/ppt/notesSlides/notesSlide33.xml" Id="R90b8a90387b94f9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2b181d1254e92" /><Relationship Type="http://schemas.openxmlformats.org/officeDocument/2006/relationships/notesSlide" Target="/ppt/notesSlides/notesSlide34.xml" Id="R4f419bdf51294e9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f226c773546cd" /><Relationship Type="http://schemas.openxmlformats.org/officeDocument/2006/relationships/chart" Target="/ppt/slides/charts/chart9.xml" Id="R723930acff194e55" /><Relationship Type="http://schemas.openxmlformats.org/officeDocument/2006/relationships/image" Target="/ppt/media/image5.png" Id="Rac364645c41b4c5a" /><Relationship Type="http://schemas.openxmlformats.org/officeDocument/2006/relationships/notesSlide" Target="/ppt/notesSlides/notesSlide35.xml" Id="R6eecffcf72bd430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33e9e57de4ea6" /><Relationship Type="http://schemas.openxmlformats.org/officeDocument/2006/relationships/notesSlide" Target="/ppt/notesSlides/notesSlide36.xml" Id="R02593fbede1c4d0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83a2e987b40c0" /><Relationship Type="http://schemas.openxmlformats.org/officeDocument/2006/relationships/notesSlide" Target="/ppt/notesSlides/notesSlide37.xml" Id="R9a4d3e643dbd4cb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a08da971746f0" /><Relationship Type="http://schemas.openxmlformats.org/officeDocument/2006/relationships/chart" Target="/ppt/slides/charts/chart10.xml" Id="Rbe0abc38f0434fd0" /><Relationship Type="http://schemas.openxmlformats.org/officeDocument/2006/relationships/notesSlide" Target="/ppt/notesSlides/notesSlide38.xml" Id="Reac6fd490e7e42f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edb2c0c4c49f4" /><Relationship Type="http://schemas.openxmlformats.org/officeDocument/2006/relationships/notesSlide" Target="/ppt/notesSlides/notesSlide39.xml" Id="R9964c047a820435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ce430beca47aa" /><Relationship Type="http://schemas.openxmlformats.org/officeDocument/2006/relationships/notesSlide" Target="/ppt/notesSlides/notesSlide40.xml" Id="R9ad02e35eb6a4be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3ea9f757b4970" /><Relationship Type="http://schemas.openxmlformats.org/officeDocument/2006/relationships/notesSlide" Target="/ppt/notesSlides/notesSlide41.xml" Id="Rdcbc6f4925d0475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bb479285f4ccb" /><Relationship Type="http://schemas.openxmlformats.org/officeDocument/2006/relationships/notesSlide" Target="/ppt/notesSlides/notesSlide42.xml" Id="R7702b31229c4466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dd6d5558a479b" /><Relationship Type="http://schemas.openxmlformats.org/officeDocument/2006/relationships/chart" Target="/ppt/slides/charts/chart11.xml" Id="R218e20eb325940c5" /><Relationship Type="http://schemas.openxmlformats.org/officeDocument/2006/relationships/image" Target="/ppt/media/image6.png" Id="R236dbb6a18fd4e00" /><Relationship Type="http://schemas.openxmlformats.org/officeDocument/2006/relationships/notesSlide" Target="/ppt/notesSlides/notesSlide43.xml" Id="R3cbdcda094054f5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7fdcb62c7466e" /><Relationship Type="http://schemas.openxmlformats.org/officeDocument/2006/relationships/notesSlide" Target="/ppt/notesSlides/notesSlide44.xml" Id="R4a60745a29444d7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4952e153f4e70" /><Relationship Type="http://schemas.openxmlformats.org/officeDocument/2006/relationships/notesSlide" Target="/ppt/notesSlides/notesSlide45.xml" Id="Rcd2ba0487f244af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fb157eefc41c1" /><Relationship Type="http://schemas.openxmlformats.org/officeDocument/2006/relationships/notesSlide" Target="/ppt/notesSlides/notesSlide46.xml" Id="R97e29512c2164bb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cb761ad01430e" /><Relationship Type="http://schemas.openxmlformats.org/officeDocument/2006/relationships/notesSlide" Target="/ppt/notesSlides/notesSlide47.xml" Id="Rb5e272b005344d8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9cda9cf7e4e84" /><Relationship Type="http://schemas.openxmlformats.org/officeDocument/2006/relationships/notesSlide" Target="/ppt/notesSlides/notesSlide48.xml" Id="R6d1bc4449451431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b32421ad34871" /><Relationship Type="http://schemas.openxmlformats.org/officeDocument/2006/relationships/notesSlide" Target="/ppt/notesSlides/notesSlide49.xml" Id="R5139a39a48334a4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22bcc76b242a5" /><Relationship Type="http://schemas.openxmlformats.org/officeDocument/2006/relationships/notesSlide" Target="/ppt/notesSlides/notesSlide50.xml" Id="Ra63d5ba9080b4af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policy</c:v>
              </c:pt>
              <c:pt idx="1">
                <c:v>uncertainty</c:v>
              </c:pt>
              <c:pt idx="2">
                <c:v>growth</c:v>
              </c:pt>
              <c:pt idx="3">
                <c:v>market</c:v>
              </c:pt>
              <c:pt idx="4">
                <c:v>the</c:v>
              </c:pt>
            </c:strLit>
          </c:cat>
          <c:val>
            <c:numLit>
              <c:formatCode>General</c:formatCode>
              <c:ptCount val="5"/>
              <c:pt idx="0">
                <c:v>8</c:v>
              </c:pt>
              <c:pt idx="1">
                <c:v>7</c:v>
              </c:pt>
              <c:pt idx="2">
                <c:v>3</c:v>
              </c:pt>
              <c:pt idx="3">
                <c:v>2</c:v>
              </c:pt>
              <c:pt idx="4">
                <c:v>0.4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policy</c:v>
              </c:pt>
              <c:pt idx="1">
                <c:v>uncertainty</c:v>
              </c:pt>
              <c:pt idx="2">
                <c:v>growth</c:v>
              </c:pt>
              <c:pt idx="3">
                <c:v>market</c:v>
              </c:pt>
              <c:pt idx="4">
                <c:v>the</c:v>
              </c:pt>
            </c:strLit>
          </c:cat>
          <c:val>
            <c:numLit>
              <c:formatCode>General</c:formatCode>
              <c:ptCount val="5"/>
              <c:pt idx="0">
                <c:v>8</c:v>
              </c:pt>
              <c:pt idx="1">
                <c:v>7</c:v>
              </c:pt>
              <c:pt idx="2">
                <c:v>3</c:v>
              </c:pt>
              <c:pt idx="3">
                <c:v>2</c:v>
              </c:pt>
              <c:pt idx="4">
                <c:v>0.4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policy</c:v>
              </c:pt>
              <c:pt idx="1">
                <c:v>uncertainty</c:v>
              </c:pt>
              <c:pt idx="2">
                <c:v>growth</c:v>
              </c:pt>
              <c:pt idx="3">
                <c:v>market</c:v>
              </c:pt>
              <c:pt idx="4">
                <c:v>the</c:v>
              </c:pt>
            </c:strLit>
          </c:cat>
          <c:val>
            <c:numLit>
              <c:formatCode>General</c:formatCode>
              <c:ptCount val="5"/>
              <c:pt idx="0">
                <c:v>8</c:v>
              </c:pt>
              <c:pt idx="1">
                <c:v>7</c:v>
              </c:pt>
              <c:pt idx="2">
                <c:v>3</c:v>
              </c:pt>
              <c:pt idx="3">
                <c:v>2</c:v>
              </c:pt>
              <c:pt idx="4">
                <c:v>0.4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policy</c:v>
              </c:pt>
              <c:pt idx="1">
                <c:v>uncertainty</c:v>
              </c:pt>
              <c:pt idx="2">
                <c:v>growth</c:v>
              </c:pt>
              <c:pt idx="3">
                <c:v>market</c:v>
              </c:pt>
              <c:pt idx="4">
                <c:v>the</c:v>
              </c:pt>
            </c:strLit>
          </c:cat>
          <c:val>
            <c:numLit>
              <c:formatCode>General</c:formatCode>
              <c:ptCount val="5"/>
              <c:pt idx="0">
                <c:v>8</c:v>
              </c:pt>
              <c:pt idx="1">
                <c:v>7</c:v>
              </c:pt>
              <c:pt idx="2">
                <c:v>3</c:v>
              </c:pt>
              <c:pt idx="3">
                <c:v>2</c:v>
              </c:pt>
              <c:pt idx="4">
                <c:v>0.4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policy</c:v>
              </c:pt>
              <c:pt idx="1">
                <c:v>uncertainty</c:v>
              </c:pt>
              <c:pt idx="2">
                <c:v>growth</c:v>
              </c:pt>
              <c:pt idx="3">
                <c:v>market</c:v>
              </c:pt>
              <c:pt idx="4">
                <c:v>the</c:v>
              </c:pt>
            </c:strLit>
          </c:cat>
          <c:val>
            <c:numLit>
              <c:formatCode>General</c:formatCode>
              <c:ptCount val="5"/>
              <c:pt idx="0">
                <c:v>8</c:v>
              </c:pt>
              <c:pt idx="1">
                <c:v>7</c:v>
              </c:pt>
              <c:pt idx="2">
                <c:v>3</c:v>
              </c:pt>
              <c:pt idx="3">
                <c:v>2</c:v>
              </c:pt>
              <c:pt idx="4">
                <c:v>0.4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policy</c:v>
              </c:pt>
              <c:pt idx="1">
                <c:v>uncertainty</c:v>
              </c:pt>
              <c:pt idx="2">
                <c:v>growth</c:v>
              </c:pt>
              <c:pt idx="3">
                <c:v>market</c:v>
              </c:pt>
              <c:pt idx="4">
                <c:v>the</c:v>
              </c:pt>
            </c:strLit>
          </c:cat>
          <c:val>
            <c:numLit>
              <c:formatCode>General</c:formatCode>
              <c:ptCount val="5"/>
              <c:pt idx="0">
                <c:v>8</c:v>
              </c:pt>
              <c:pt idx="1">
                <c:v>7</c:v>
              </c:pt>
              <c:pt idx="2">
                <c:v>3</c:v>
              </c:pt>
              <c:pt idx="3">
                <c:v>2</c:v>
              </c:pt>
              <c:pt idx="4">
                <c:v>0.4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policy</c:v>
              </c:pt>
              <c:pt idx="1">
                <c:v>uncertainty</c:v>
              </c:pt>
              <c:pt idx="2">
                <c:v>growth</c:v>
              </c:pt>
              <c:pt idx="3">
                <c:v>market</c:v>
              </c:pt>
              <c:pt idx="4">
                <c:v>the</c:v>
              </c:pt>
            </c:strLit>
          </c:cat>
          <c:val>
            <c:numLit>
              <c:formatCode>General</c:formatCode>
              <c:ptCount val="5"/>
              <c:pt idx="0">
                <c:v>8</c:v>
              </c:pt>
              <c:pt idx="1">
                <c:v>7</c:v>
              </c:pt>
              <c:pt idx="2">
                <c:v>3</c:v>
              </c:pt>
              <c:pt idx="3">
                <c:v>2</c:v>
              </c:pt>
              <c:pt idx="4">
                <c:v>0.4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policy</c:v>
              </c:pt>
              <c:pt idx="1">
                <c:v>uncertainty</c:v>
              </c:pt>
              <c:pt idx="2">
                <c:v>growth</c:v>
              </c:pt>
              <c:pt idx="3">
                <c:v>market</c:v>
              </c:pt>
              <c:pt idx="4">
                <c:v>the</c:v>
              </c:pt>
            </c:strLit>
          </c:cat>
          <c:val>
            <c:numLit>
              <c:formatCode>General</c:formatCode>
              <c:ptCount val="5"/>
              <c:pt idx="0">
                <c:v>8</c:v>
              </c:pt>
              <c:pt idx="1">
                <c:v>7</c:v>
              </c:pt>
              <c:pt idx="2">
                <c:v>3</c:v>
              </c:pt>
              <c:pt idx="3">
                <c:v>2</c:v>
              </c:pt>
              <c:pt idx="4">
                <c:v>0.4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policy</c:v>
              </c:pt>
              <c:pt idx="1">
                <c:v>uncertainty</c:v>
              </c:pt>
              <c:pt idx="2">
                <c:v>growth</c:v>
              </c:pt>
              <c:pt idx="3">
                <c:v>market</c:v>
              </c:pt>
              <c:pt idx="4">
                <c:v>the</c:v>
              </c:pt>
            </c:strLit>
          </c:cat>
          <c:val>
            <c:numLit>
              <c:formatCode>General</c:formatCode>
              <c:ptCount val="5"/>
              <c:pt idx="0">
                <c:v>8</c:v>
              </c:pt>
              <c:pt idx="1">
                <c:v>7</c:v>
              </c:pt>
              <c:pt idx="2">
                <c:v>3</c:v>
              </c:pt>
              <c:pt idx="3">
                <c:v>2</c:v>
              </c:pt>
              <c:pt idx="4">
                <c:v>0.4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policy</c:v>
              </c:pt>
              <c:pt idx="1">
                <c:v>uncertainty</c:v>
              </c:pt>
              <c:pt idx="2">
                <c:v>growth</c:v>
              </c:pt>
              <c:pt idx="3">
                <c:v>market</c:v>
              </c:pt>
              <c:pt idx="4">
                <c:v>the</c:v>
              </c:pt>
            </c:strLit>
          </c:cat>
          <c:val>
            <c:numLit>
              <c:formatCode>General</c:formatCode>
              <c:ptCount val="5"/>
              <c:pt idx="0">
                <c:v>8</c:v>
              </c:pt>
              <c:pt idx="1">
                <c:v>7</c:v>
              </c:pt>
              <c:pt idx="2">
                <c:v>3</c:v>
              </c:pt>
              <c:pt idx="3">
                <c:v>2</c:v>
              </c:pt>
              <c:pt idx="4">
                <c:v>0.4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policy</c:v>
              </c:pt>
              <c:pt idx="1">
                <c:v>uncertainty</c:v>
              </c:pt>
              <c:pt idx="2">
                <c:v>growth</c:v>
              </c:pt>
              <c:pt idx="3">
                <c:v>market</c:v>
              </c:pt>
              <c:pt idx="4">
                <c:v>the</c:v>
              </c:pt>
            </c:strLit>
          </c:cat>
          <c:val>
            <c:numLit>
              <c:formatCode>General</c:formatCode>
              <c:ptCount val="5"/>
              <c:pt idx="0">
                <c:v>8</c:v>
              </c:pt>
              <c:pt idx="1">
                <c:v>7</c:v>
              </c:pt>
              <c:pt idx="2">
                <c:v>3</c:v>
              </c:pt>
              <c:pt idx="3">
                <c:v>2</c:v>
              </c:pt>
              <c:pt idx="4">
                <c:v>0.4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5AC93D4-1007-4B31-8BEB-6E765678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09 · LECTURE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65F3E64-7B1E-44E6-8A77-D7D49F16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Clustering, embeddings, and text as data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B4046468-71D7-466A-B23F-E626CCBF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How do you measure something that only exists as words?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752DDA89-F876-41C3-A680-80EE8CDB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3F7509F3-F520-4FBF-9DF9-45A94B58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6" name="cluster-0-0">
            <a:extLst xmlns:a="http://schemas.openxmlformats.org/drawingml/2006/main">
              <a:ext uri="{FF2B5EF4-FFF2-40B4-BE49-F238E27FC236}">
                <a16:creationId xmlns:a16="http://schemas.microsoft.com/office/drawing/2014/main" id="{A914C837-C9BC-4366-999D-6CA9AB53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8639" y="24471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uster-0-1">
            <a:extLst xmlns:a="http://schemas.openxmlformats.org/drawingml/2006/main">
              <a:ext uri="{FF2B5EF4-FFF2-40B4-BE49-F238E27FC236}">
                <a16:creationId xmlns:a16="http://schemas.microsoft.com/office/drawing/2014/main" id="{1888854D-46CA-474B-90DA-C1844735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389" y="22185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uster-0-2">
            <a:extLst xmlns:a="http://schemas.openxmlformats.org/drawingml/2006/main">
              <a:ext uri="{FF2B5EF4-FFF2-40B4-BE49-F238E27FC236}">
                <a16:creationId xmlns:a16="http://schemas.microsoft.com/office/drawing/2014/main" id="{5C47E5DE-B46A-4663-BE84-E14A1AE2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239" y="25043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uster-0-3">
            <a:extLst xmlns:a="http://schemas.openxmlformats.org/drawingml/2006/main">
              <a:ext uri="{FF2B5EF4-FFF2-40B4-BE49-F238E27FC236}">
                <a16:creationId xmlns:a16="http://schemas.microsoft.com/office/drawing/2014/main" id="{91117E25-6DAA-4827-8200-4C266305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789" y="28662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uster-0-4">
            <a:extLst xmlns:a="http://schemas.openxmlformats.org/drawingml/2006/main">
              <a:ext uri="{FF2B5EF4-FFF2-40B4-BE49-F238E27FC236}">
                <a16:creationId xmlns:a16="http://schemas.microsoft.com/office/drawing/2014/main" id="{FA301266-B491-449A-B167-DF23EB5B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939" y="29615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uster-0-5">
            <a:extLst xmlns:a="http://schemas.openxmlformats.org/drawingml/2006/main">
              <a:ext uri="{FF2B5EF4-FFF2-40B4-BE49-F238E27FC236}">
                <a16:creationId xmlns:a16="http://schemas.microsoft.com/office/drawing/2014/main" id="{589D1611-4003-4B3F-8B9F-7522B577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939" y="30948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uster-0-6">
            <a:extLst xmlns:a="http://schemas.openxmlformats.org/drawingml/2006/main">
              <a:ext uri="{FF2B5EF4-FFF2-40B4-BE49-F238E27FC236}">
                <a16:creationId xmlns:a16="http://schemas.microsoft.com/office/drawing/2014/main" id="{40E5F7B9-2D96-4F5B-9918-3678B12C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889" y="22947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uster-0-7">
            <a:extLst xmlns:a="http://schemas.openxmlformats.org/drawingml/2006/main">
              <a:ext uri="{FF2B5EF4-FFF2-40B4-BE49-F238E27FC236}">
                <a16:creationId xmlns:a16="http://schemas.microsoft.com/office/drawing/2014/main" id="{25EB1F76-2C0F-4FED-ADFA-60CE5111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389" y="27138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entroid-0">
            <a:extLst xmlns:a="http://schemas.openxmlformats.org/drawingml/2006/main">
              <a:ext uri="{FF2B5EF4-FFF2-40B4-BE49-F238E27FC236}">
                <a16:creationId xmlns:a16="http://schemas.microsoft.com/office/drawing/2014/main" id="{EE5B5EE4-D1B3-4096-8259-5D176ECC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252336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uster-1-0">
            <a:extLst xmlns:a="http://schemas.openxmlformats.org/drawingml/2006/main">
              <a:ext uri="{FF2B5EF4-FFF2-40B4-BE49-F238E27FC236}">
                <a16:creationId xmlns:a16="http://schemas.microsoft.com/office/drawing/2014/main" id="{1237085B-F7C5-407B-AA7D-C58DC500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4651" y="19385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uster-1-1">
            <a:extLst xmlns:a="http://schemas.openxmlformats.org/drawingml/2006/main">
              <a:ext uri="{FF2B5EF4-FFF2-40B4-BE49-F238E27FC236}">
                <a16:creationId xmlns:a16="http://schemas.microsoft.com/office/drawing/2014/main" id="{F2C2BFCD-953D-4EAD-9BDE-6322BE4F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401" y="17099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uster-1-2">
            <a:extLst xmlns:a="http://schemas.openxmlformats.org/drawingml/2006/main">
              <a:ext uri="{FF2B5EF4-FFF2-40B4-BE49-F238E27FC236}">
                <a16:creationId xmlns:a16="http://schemas.microsoft.com/office/drawing/2014/main" id="{B364C490-AEDD-42CD-8950-57215E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251" y="199567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uster-1-3">
            <a:extLst xmlns:a="http://schemas.openxmlformats.org/drawingml/2006/main">
              <a:ext uri="{FF2B5EF4-FFF2-40B4-BE49-F238E27FC236}">
                <a16:creationId xmlns:a16="http://schemas.microsoft.com/office/drawing/2014/main" id="{28EB00A4-01C3-420A-8D00-8E1B9202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801" y="23576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uster-1-4">
            <a:extLst xmlns:a="http://schemas.openxmlformats.org/drawingml/2006/main">
              <a:ext uri="{FF2B5EF4-FFF2-40B4-BE49-F238E27FC236}">
                <a16:creationId xmlns:a16="http://schemas.microsoft.com/office/drawing/2014/main" id="{8693C56A-7687-4387-9F52-E22ED322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951" y="245287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uster-1-5">
            <a:extLst xmlns:a="http://schemas.openxmlformats.org/drawingml/2006/main">
              <a:ext uri="{FF2B5EF4-FFF2-40B4-BE49-F238E27FC236}">
                <a16:creationId xmlns:a16="http://schemas.microsoft.com/office/drawing/2014/main" id="{DF52B643-F01F-478A-A21A-D2BC8454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951" y="25862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uster-1-6">
            <a:extLst xmlns:a="http://schemas.openxmlformats.org/drawingml/2006/main">
              <a:ext uri="{FF2B5EF4-FFF2-40B4-BE49-F238E27FC236}">
                <a16:creationId xmlns:a16="http://schemas.microsoft.com/office/drawing/2014/main" id="{8F7F98DC-7A9F-4A45-9844-282D60AD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1901" y="17861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luster-1-7">
            <a:extLst xmlns:a="http://schemas.openxmlformats.org/drawingml/2006/main">
              <a:ext uri="{FF2B5EF4-FFF2-40B4-BE49-F238E27FC236}">
                <a16:creationId xmlns:a16="http://schemas.microsoft.com/office/drawing/2014/main" id="{FE88016B-646A-40B7-B02A-5B31774D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401" y="22052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entroid-1">
            <a:extLst xmlns:a="http://schemas.openxmlformats.org/drawingml/2006/main">
              <a:ext uri="{FF2B5EF4-FFF2-40B4-BE49-F238E27FC236}">
                <a16:creationId xmlns:a16="http://schemas.microsoft.com/office/drawing/2014/main" id="{42A9CEA1-D88E-4439-A7E9-A04CBEA9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451" y="201472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uster-2-0">
            <a:extLst xmlns:a="http://schemas.openxmlformats.org/drawingml/2006/main">
              <a:ext uri="{FF2B5EF4-FFF2-40B4-BE49-F238E27FC236}">
                <a16:creationId xmlns:a16="http://schemas.microsoft.com/office/drawing/2014/main" id="{85B5DCC7-69CC-4CBE-90E9-6509BE2E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948" y="40747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luster-2-1">
            <a:extLst xmlns:a="http://schemas.openxmlformats.org/drawingml/2006/main">
              <a:ext uri="{FF2B5EF4-FFF2-40B4-BE49-F238E27FC236}">
                <a16:creationId xmlns:a16="http://schemas.microsoft.com/office/drawing/2014/main" id="{D0D9E0A5-FBB4-4EA8-83C3-6EE2A68E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698" y="38461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luster-2-2">
            <a:extLst xmlns:a="http://schemas.openxmlformats.org/drawingml/2006/main">
              <a:ext uri="{FF2B5EF4-FFF2-40B4-BE49-F238E27FC236}">
                <a16:creationId xmlns:a16="http://schemas.microsoft.com/office/drawing/2014/main" id="{D720E852-B146-47C9-B3C4-C8E45FD9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548" y="4131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luster-2-3">
            <a:extLst xmlns:a="http://schemas.openxmlformats.org/drawingml/2006/main">
              <a:ext uri="{FF2B5EF4-FFF2-40B4-BE49-F238E27FC236}">
                <a16:creationId xmlns:a16="http://schemas.microsoft.com/office/drawing/2014/main" id="{16B3A148-BEBC-458B-AE39-F1063521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098" y="44938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uster-2-4">
            <a:extLst xmlns:a="http://schemas.openxmlformats.org/drawingml/2006/main">
              <a:ext uri="{FF2B5EF4-FFF2-40B4-BE49-F238E27FC236}">
                <a16:creationId xmlns:a16="http://schemas.microsoft.com/office/drawing/2014/main" id="{A8F75CB7-7E79-4E51-9EDF-5BDF29A1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248" y="45891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luster-2-5">
            <a:extLst xmlns:a="http://schemas.openxmlformats.org/drawingml/2006/main">
              <a:ext uri="{FF2B5EF4-FFF2-40B4-BE49-F238E27FC236}">
                <a16:creationId xmlns:a16="http://schemas.microsoft.com/office/drawing/2014/main" id="{10B4EA10-263C-41F1-84AA-F232E363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224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luster-2-6">
            <a:extLst xmlns:a="http://schemas.openxmlformats.org/drawingml/2006/main">
              <a:ext uri="{FF2B5EF4-FFF2-40B4-BE49-F238E27FC236}">
                <a16:creationId xmlns:a16="http://schemas.microsoft.com/office/drawing/2014/main" id="{C7D8F898-49F5-4B1F-864D-B1F4CFAD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198" y="39223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luster-2-7">
            <a:extLst xmlns:a="http://schemas.openxmlformats.org/drawingml/2006/main">
              <a:ext uri="{FF2B5EF4-FFF2-40B4-BE49-F238E27FC236}">
                <a16:creationId xmlns:a16="http://schemas.microsoft.com/office/drawing/2014/main" id="{84613BEC-1357-45FC-9BFF-22C6D405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4698" y="43414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entroid-2">
            <a:extLst xmlns:a="http://schemas.openxmlformats.org/drawingml/2006/main">
              <a:ext uri="{FF2B5EF4-FFF2-40B4-BE49-F238E27FC236}">
                <a16:creationId xmlns:a16="http://schemas.microsoft.com/office/drawing/2014/main" id="{3B56A282-77BF-4A85-8AC1-BC066D2A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748" y="415099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luster-note">
            <a:extLst xmlns:a="http://schemas.openxmlformats.org/drawingml/2006/main">
              <a:ext uri="{FF2B5EF4-FFF2-40B4-BE49-F238E27FC236}">
                <a16:creationId xmlns:a16="http://schemas.microsoft.com/office/drawing/2014/main" id="{B52E5E77-B28B-4C04-A57D-4C31A6F0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353050"/>
            <a:ext cx="3228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5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Distance creates the grouping—validation gives it meaning</a:t>
            </a:r>
          </a:p>
        </p:txBody>
      </p:sp>
      <p:sp>
        <p:nvSpPr>
          <p:cNvPr id="3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ED40832-ABBD-4B4F-8B28-C5E09C80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6B851A-9F99-438C-965B-2E2A9962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3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19514CC-3471-4FCC-A217-40B0C79F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1/50</a:t>
            </a:r>
          </a:p>
        </p:txBody>
      </p:sp>
    </p:spTree>
    <p:extLst>
      <p:ext uri="{BB962C8B-B14F-4D97-AF65-F5344CB8AC3E}">
        <p14:creationId xmlns:p14="http://schemas.microsoft.com/office/powerpoint/2010/main" val="1355347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01C4AEFC-C7C6-4B7D-A1BC-B1A6EDFF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ROUTE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4C9C4B-D26F-4365-BE7F-F53538F8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What, why, how—and what changes today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0A6943B-59AA-4027-B5A9-01F818E7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83431666-C7DB-491E-9129-91A79F92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Construct unsupervised structure, then validate it against alternatives and human reading.</a:t>
            </a:r>
          </a:p>
        </p:txBody>
      </p:sp>
      <p:cxnSp>
        <p:nvCxnSpPr>
          <p:cNvPr id="33" name="workflow-edge-0"/>
          <p:cNvCxnSpPr/>
          <p:nvPr/>
        </p:nvCxnSpPr>
        <p:spPr>
          <a:xfrm xmlns:a="http://schemas.openxmlformats.org/drawingml/2006/main">
            <a:off x="401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4" name="workflow-edge-1"/>
          <p:cNvCxnSpPr/>
          <p:nvPr/>
        </p:nvCxnSpPr>
        <p:spPr>
          <a:xfrm xmlns:a="http://schemas.openxmlformats.org/drawingml/2006/main">
            <a:off x="7829550" y="401002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7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71EE4ED3-FDB7-49E5-B514-BD89FD97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8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5054504-C290-49C9-834A-056E25BF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the object and notation</a:t>
            </a:r>
          </a:p>
        </p:txBody>
      </p:sp>
      <p:sp>
        <p:nvSpPr>
          <p:cNvPr id="9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EB8F041F-12AE-4701-A083-C6D4EDE6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CBC13544-DD19-4824-B067-10B150DC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 the problem it solves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DDD5B161-4B1D-404B-B524-4A2EE430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346710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227E7911-212E-4BDC-ABD5-37746426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9900"/>
            <a:ext cx="327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Derive, run, interpret, challenge</a:t>
            </a:r>
          </a:p>
        </p:txBody>
      </p:sp>
      <p:sp>
        <p:nvSpPr>
          <p:cNvPr id="13" name="arc-caption">
            <a:extLst xmlns:a="http://schemas.openxmlformats.org/drawingml/2006/main">
              <a:ext uri="{FF2B5EF4-FFF2-40B4-BE49-F238E27FC236}">
                <a16:creationId xmlns:a16="http://schemas.microsoft.com/office/drawing/2014/main" id="{2CCA1C50-9489-4D9E-A711-E3A7610E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lecture ends by connecting the method to the required article and the 90-minute replication.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6EB52BD-5897-4BED-811E-779D7625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F466316-DBF5-42AC-A060-B61A6688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685360F-CBEE-4F14-8329-0C3E85FE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2/50</a:t>
            </a:r>
          </a:p>
        </p:txBody>
      </p:sp>
    </p:spTree>
    <p:extLst>
      <p:ext uri="{BB962C8B-B14F-4D97-AF65-F5344CB8AC3E}">
        <p14:creationId xmlns:p14="http://schemas.microsoft.com/office/powerpoint/2010/main" val="7988975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0ECBB4B-1461-4704-A8F3-DE65C247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BRIDGE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37B378-0354-49A9-83CE-AFDA6AD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adds to the previous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606CDA8-FD08-4243-96D1-4A89546F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6C8200E7-0E40-4B2D-A01C-0F3622CE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980F962F-4019-442D-9E9E-29BF953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Represent observations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FD31195-B114-4F62-B980-AF3A7BA1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C10F7CB8-AE64-4B9E-8AD6-DAEB7698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a distance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D6743C7-21D0-4A30-A4A9-7985631A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72770E3-A1DB-43FB-BDCC-94D552E5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Validate discovered structure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D9611FBF-75EC-4DB3-AC4F-5611CB4E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New capacity: Construct unsupervised structure, then validate it against alternatives and human reading.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33D65CF-DE20-4983-98F0-B5D11D97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B341B5-4667-423A-B459-C17AACE1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B9C2C9-6938-473F-99CA-7D964748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3/50</a:t>
            </a:r>
          </a:p>
        </p:txBody>
      </p:sp>
    </p:spTree>
    <p:extLst>
      <p:ext uri="{BB962C8B-B14F-4D97-AF65-F5344CB8AC3E}">
        <p14:creationId xmlns:p14="http://schemas.microsoft.com/office/powerpoint/2010/main" val="1787150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ED833222-BA3E-404D-AC01-5944DC3C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WHY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BD4BFC-2AEF-4B12-9C65-BE0AB054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this method enters the course now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D3F2524-3C6D-4E0E-9284-88B38716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E44C720D-5C97-4489-90F1-5CE0FBE2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Unsupervised algorithms always return structure; the scientific work is deciding whether that structure means…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962D52A-4C60-403A-B31B-5AA43B75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Used in: country typologies · document corpora · market segmentation.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ED94DEE-9F2A-4BF0-A81C-4E42A96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DECISION TEST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4C863752-DFB9-4423-BDED-347CC7F0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decision becomes better—or more honest—after learning this method?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F99DAD06-6CC3-4970-B1BB-ACE7DA69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26BB7C2C-3A23-434E-A077-EFA4A16D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 A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AB823015-8E57-4B7B-B2E9-643D78B5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5E843A7-5BA8-4B34-B42C-1FEEB980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Angle θ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980018C-E331-4F69-B374-7BCF98B9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5A5D1B6-05AE-4432-8E0D-998B4122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 B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F99D2A8-5D64-4ED0-A008-8EDA4E33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BD9CE8-DA91-4E77-AC03-8AB1FB66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D4BC32C-67A4-4AD1-9A9B-AAF6DA5F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4/50</a:t>
            </a:r>
          </a:p>
        </p:txBody>
      </p:sp>
    </p:spTree>
    <p:extLst>
      <p:ext uri="{BB962C8B-B14F-4D97-AF65-F5344CB8AC3E}">
        <p14:creationId xmlns:p14="http://schemas.microsoft.com/office/powerpoint/2010/main" val="10386141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14CD8352-9733-46BB-8A1F-0552950E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HISTORICAL CONNECTION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D2DF45-2099-4909-B191-07D1529A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face behind the method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4F28087-4749-41AD-8FE6-1F947707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c33e5ec77246b3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773E808D-4C35-4A9F-9946-19063201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Jan Czekanowski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01143C8D-70A2-4AF3-8F8B-951BAE4F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1882–1965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6FD933F2-0A9E-46B3-A505-6957FA2B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9C86ED97-8874-48CB-905B-EEDC6D60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WHY THIS PERSON MATTERS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8C4130BD-8269-4334-94B2-365293BD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5FC00FB0-0BE3-4DA8-9BA9-F56BF560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Czekanowski pioneered distance-based classification and visual matrices for…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3C6A257F-ACB8-498A-9F09-4C4757BA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8ED7BAF-9CF3-4153-93D1-DB5C3BD6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262810-73C4-4BD3-A6B3-51810A19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3629E0C-1F97-469C-BED7-F15EA9D5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5/50</a:t>
            </a:r>
          </a:p>
        </p:txBody>
      </p:sp>
      <p:sp>
        <p:nvSpPr>
          <p:cNvPr id="17" name="media-matte-czekanowski.png">
            <a:extLst xmlns:a="http://schemas.openxmlformats.org/drawingml/2006/main">
              <a:ext uri="{FF2B5EF4-FFF2-40B4-BE49-F238E27FC236}">
                <a16:creationId xmlns:a16="http://schemas.microsoft.com/office/drawing/2014/main" id="{E0A9129D-EAC0-4551-A368-DCE95E75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19b4efc5d441f"/>
          <a:stretch xmlns:a="http://schemas.openxmlformats.org/drawingml/2006/main"/>
        </p:blipFill>
        <p:spPr>
          <a:xfrm xmlns:a="http://schemas.openxmlformats.org/drawingml/2006/main">
            <a:off x="2824480" y="1600200"/>
            <a:ext cx="212344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802691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41027FEB-3706-4B45-BEFA-F8D58AE6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E181C1-E8A7-4303-A374-71EEFEAC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Start with the warning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CAB7C0C-1BEA-4E0B-861F-AAF1FAB7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E9283796-FB0C-4C5C-A394-64C0AAAE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E884D5F3-D490-45B2-B544-D23C5430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Start with the…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9A74B8E1-1D29-4EC0-BF1E-559245D7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182AEDD8-4D64-436D-9818-84C3FF6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Start with the warning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5B41C41-47DC-46ED-87E6-1FFF1E38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7196D40A-8D65-4211-A216-5E503AF5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Silhouette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BDF5278E-4776-4557-A7DC-D86EA3D6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716B2B98-1F90-45D1-ACFF-5C833F2A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the unit and representation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163C6DE4-698D-4AF5-A1C1-685E04E8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48B4AB46-C97E-4266-BD40-D2B2C1AE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Embedding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6BD4C5EA-45DB-479D-9619-C848EBD3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1F55D5D7-18E3-4656-BC7A-9AB09073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multiple structures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51A66B2C-3F45-470E-8997-2758EC23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213C01D-6117-4297-BE4F-EA34B7D9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A7497A-6A5A-4B8B-B237-1A99163F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9BAC203-079C-4497-AB25-F6EADFD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6/50</a:t>
            </a:r>
          </a:p>
        </p:txBody>
      </p:sp>
    </p:spTree>
    <p:extLst>
      <p:ext uri="{BB962C8B-B14F-4D97-AF65-F5344CB8AC3E}">
        <p14:creationId xmlns:p14="http://schemas.microsoft.com/office/powerpoint/2010/main" val="334958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0DDED88A-9AC3-495C-9276-8CD25F10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9BA631-56B9-4940-B296-197EAD59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Four clusters. What do they mean?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A1EEF2-3E04-4AE5-8145-751A7BFE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B9FA18E2-CE82-43B4-8F96-750D0B78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TF–IDF(t,d) = TF(t,d) × log[N/DF(t)]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A8F1D175-65CE-4BDF-A651-BFD4DA8F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rng = np.random.defaultrng(9) noise = rng.uniform(0, 1, size=(220, 2)) km4 = KMeans(nclusters=4, ninit=20, randomstate=0).fit(noise)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1387781-2C7E-495B-A437-C5F1FBCC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EE85E1D6-6E64-4DD7-89A7-60E364DF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rng = np.random.defaultrng(9) noise = rng.uniform(0, 1, size=(220, 2)) km4 = KMeans(nclusters=4,…</a:t>
            </a:r>
          </a:p>
        </p:txBody>
      </p:sp>
      <p:sp>
        <p:nvSpPr>
          <p:cNvPr id="8" name="cluster-0-0">
            <a:extLst xmlns:a="http://schemas.openxmlformats.org/drawingml/2006/main">
              <a:ext uri="{FF2B5EF4-FFF2-40B4-BE49-F238E27FC236}">
                <a16:creationId xmlns:a16="http://schemas.microsoft.com/office/drawing/2014/main" id="{FA24A445-7AE4-41C8-B787-6DEC257B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3114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uster-0-1">
            <a:extLst xmlns:a="http://schemas.openxmlformats.org/drawingml/2006/main">
              <a:ext uri="{FF2B5EF4-FFF2-40B4-BE49-F238E27FC236}">
                <a16:creationId xmlns:a16="http://schemas.microsoft.com/office/drawing/2014/main" id="{A229D717-8C7E-4B93-820F-CBBD5328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uster-0-2">
            <a:extLst xmlns:a="http://schemas.openxmlformats.org/drawingml/2006/main">
              <a:ext uri="{FF2B5EF4-FFF2-40B4-BE49-F238E27FC236}">
                <a16:creationId xmlns:a16="http://schemas.microsoft.com/office/drawing/2014/main" id="{1820CB78-169E-4232-85D5-2DD4B957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60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uster-0-3">
            <a:extLst xmlns:a="http://schemas.openxmlformats.org/drawingml/2006/main">
              <a:ext uri="{FF2B5EF4-FFF2-40B4-BE49-F238E27FC236}">
                <a16:creationId xmlns:a16="http://schemas.microsoft.com/office/drawing/2014/main" id="{168E9AB7-3AC8-4DE8-BE0B-86D53320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110" y="3533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uster-0-4">
            <a:extLst xmlns:a="http://schemas.openxmlformats.org/drawingml/2006/main">
              <a:ext uri="{FF2B5EF4-FFF2-40B4-BE49-F238E27FC236}">
                <a16:creationId xmlns:a16="http://schemas.microsoft.com/office/drawing/2014/main" id="{1C2AC577-1C6D-4B63-B7C0-787BF90B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260" y="3629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uster-0-5">
            <a:extLst xmlns:a="http://schemas.openxmlformats.org/drawingml/2006/main">
              <a:ext uri="{FF2B5EF4-FFF2-40B4-BE49-F238E27FC236}">
                <a16:creationId xmlns:a16="http://schemas.microsoft.com/office/drawing/2014/main" id="{FD62C64F-7A3B-4510-B404-8FF7848E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762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luster-0-6">
            <a:extLst xmlns:a="http://schemas.openxmlformats.org/drawingml/2006/main">
              <a:ext uri="{FF2B5EF4-FFF2-40B4-BE49-F238E27FC236}">
                <a16:creationId xmlns:a16="http://schemas.microsoft.com/office/drawing/2014/main" id="{73E8DCF2-4146-460B-8683-793A0D43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2962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uster-0-7">
            <a:extLst xmlns:a="http://schemas.openxmlformats.org/drawingml/2006/main">
              <a:ext uri="{FF2B5EF4-FFF2-40B4-BE49-F238E27FC236}">
                <a16:creationId xmlns:a16="http://schemas.microsoft.com/office/drawing/2014/main" id="{2ED35954-8974-42BC-832E-D616CA0D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710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entroid-0">
            <a:extLst xmlns:a="http://schemas.openxmlformats.org/drawingml/2006/main">
              <a:ext uri="{FF2B5EF4-FFF2-40B4-BE49-F238E27FC236}">
                <a16:creationId xmlns:a16="http://schemas.microsoft.com/office/drawing/2014/main" id="{07138B4D-34B2-4CBB-9114-5283E6B3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uster-1-0">
            <a:extLst xmlns:a="http://schemas.openxmlformats.org/drawingml/2006/main">
              <a:ext uri="{FF2B5EF4-FFF2-40B4-BE49-F238E27FC236}">
                <a16:creationId xmlns:a16="http://schemas.microsoft.com/office/drawing/2014/main" id="{FFFCFBE8-F2F9-4208-BFF1-FE34F905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445" y="2686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uster-1-1">
            <a:extLst xmlns:a="http://schemas.openxmlformats.org/drawingml/2006/main">
              <a:ext uri="{FF2B5EF4-FFF2-40B4-BE49-F238E27FC236}">
                <a16:creationId xmlns:a16="http://schemas.microsoft.com/office/drawing/2014/main" id="{09957512-7E6B-407A-8956-15A9070B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195" y="245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uster-1-2">
            <a:extLst xmlns:a="http://schemas.openxmlformats.org/drawingml/2006/main">
              <a:ext uri="{FF2B5EF4-FFF2-40B4-BE49-F238E27FC236}">
                <a16:creationId xmlns:a16="http://schemas.microsoft.com/office/drawing/2014/main" id="{661B1C8B-6459-4C12-BE6C-19F1CC93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045" y="2743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uster-1-3">
            <a:extLst xmlns:a="http://schemas.openxmlformats.org/drawingml/2006/main">
              <a:ext uri="{FF2B5EF4-FFF2-40B4-BE49-F238E27FC236}">
                <a16:creationId xmlns:a16="http://schemas.microsoft.com/office/drawing/2014/main" id="{1AE14452-8F20-4AB2-8EDD-05EC62BD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595" y="3105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uster-1-4">
            <a:extLst xmlns:a="http://schemas.openxmlformats.org/drawingml/2006/main">
              <a:ext uri="{FF2B5EF4-FFF2-40B4-BE49-F238E27FC236}">
                <a16:creationId xmlns:a16="http://schemas.microsoft.com/office/drawing/2014/main" id="{B63BA5B9-7C27-4A1C-87EF-3A914A8B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745" y="3200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luster-1-5">
            <a:extLst xmlns:a="http://schemas.openxmlformats.org/drawingml/2006/main">
              <a:ext uri="{FF2B5EF4-FFF2-40B4-BE49-F238E27FC236}">
                <a16:creationId xmlns:a16="http://schemas.microsoft.com/office/drawing/2014/main" id="{F0F1E44C-6AEC-42B7-A847-B900E418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745" y="3333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luster-1-6">
            <a:extLst xmlns:a="http://schemas.openxmlformats.org/drawingml/2006/main">
              <a:ext uri="{FF2B5EF4-FFF2-40B4-BE49-F238E27FC236}">
                <a16:creationId xmlns:a16="http://schemas.microsoft.com/office/drawing/2014/main" id="{4E4CD65E-9ADD-40DE-A9C4-1AB61298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695" y="2533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uster-1-7">
            <a:extLst xmlns:a="http://schemas.openxmlformats.org/drawingml/2006/main">
              <a:ext uri="{FF2B5EF4-FFF2-40B4-BE49-F238E27FC236}">
                <a16:creationId xmlns:a16="http://schemas.microsoft.com/office/drawing/2014/main" id="{54AE7395-F286-41BD-B3C2-E7C85BA5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195" y="2952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entroid-1">
            <a:extLst xmlns:a="http://schemas.openxmlformats.org/drawingml/2006/main">
              <a:ext uri="{FF2B5EF4-FFF2-40B4-BE49-F238E27FC236}">
                <a16:creationId xmlns:a16="http://schemas.microsoft.com/office/drawing/2014/main" id="{AAE0AEB4-66DE-4B35-82A6-CE05AF9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9245" y="2762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luster-2-0">
            <a:extLst xmlns:a="http://schemas.openxmlformats.org/drawingml/2006/main">
              <a:ext uri="{FF2B5EF4-FFF2-40B4-BE49-F238E27FC236}">
                <a16:creationId xmlns:a16="http://schemas.microsoft.com/office/drawing/2014/main" id="{EE078485-0634-421C-9A57-F590BAF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470" y="4486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luster-2-1">
            <a:extLst xmlns:a="http://schemas.openxmlformats.org/drawingml/2006/main">
              <a:ext uri="{FF2B5EF4-FFF2-40B4-BE49-F238E27FC236}">
                <a16:creationId xmlns:a16="http://schemas.microsoft.com/office/drawing/2014/main" id="{B4C88030-171F-48C2-BEC9-AF309718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uster-2-2">
            <a:extLst xmlns:a="http://schemas.openxmlformats.org/drawingml/2006/main">
              <a:ext uri="{FF2B5EF4-FFF2-40B4-BE49-F238E27FC236}">
                <a16:creationId xmlns:a16="http://schemas.microsoft.com/office/drawing/2014/main" id="{1F12D38E-0803-4C08-B7DA-6C263DFC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070" y="4543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luster-2-3">
            <a:extLst xmlns:a="http://schemas.openxmlformats.org/drawingml/2006/main">
              <a:ext uri="{FF2B5EF4-FFF2-40B4-BE49-F238E27FC236}">
                <a16:creationId xmlns:a16="http://schemas.microsoft.com/office/drawing/2014/main" id="{AE5D1E79-A4C6-440F-9BB3-E5452742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62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luster-2-4">
            <a:extLst xmlns:a="http://schemas.openxmlformats.org/drawingml/2006/main">
              <a:ext uri="{FF2B5EF4-FFF2-40B4-BE49-F238E27FC236}">
                <a16:creationId xmlns:a16="http://schemas.microsoft.com/office/drawing/2014/main" id="{27499A36-CBC4-408E-B502-C76CEFF2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770" y="5000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luster-2-5">
            <a:extLst xmlns:a="http://schemas.openxmlformats.org/drawingml/2006/main">
              <a:ext uri="{FF2B5EF4-FFF2-40B4-BE49-F238E27FC236}">
                <a16:creationId xmlns:a16="http://schemas.microsoft.com/office/drawing/2014/main" id="{76489826-C1E6-461B-A06F-7F750B8A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770" y="5133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luster-2-6">
            <a:extLst xmlns:a="http://schemas.openxmlformats.org/drawingml/2006/main">
              <a:ext uri="{FF2B5EF4-FFF2-40B4-BE49-F238E27FC236}">
                <a16:creationId xmlns:a16="http://schemas.microsoft.com/office/drawing/2014/main" id="{ECF3AD7D-B467-452F-AE3F-36FA21E6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4333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luster-2-7">
            <a:extLst xmlns:a="http://schemas.openxmlformats.org/drawingml/2006/main">
              <a:ext uri="{FF2B5EF4-FFF2-40B4-BE49-F238E27FC236}">
                <a16:creationId xmlns:a16="http://schemas.microsoft.com/office/drawing/2014/main" id="{044C571A-840C-44CE-BBAA-50F89A3E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220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entroid-2">
            <a:extLst xmlns:a="http://schemas.openxmlformats.org/drawingml/2006/main">
              <a:ext uri="{FF2B5EF4-FFF2-40B4-BE49-F238E27FC236}">
                <a16:creationId xmlns:a16="http://schemas.microsoft.com/office/drawing/2014/main" id="{686B992F-6E35-4C1C-8671-7316EA5A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4562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luster-note">
            <a:extLst xmlns:a="http://schemas.openxmlformats.org/drawingml/2006/main">
              <a:ext uri="{FF2B5EF4-FFF2-40B4-BE49-F238E27FC236}">
                <a16:creationId xmlns:a16="http://schemas.microsoft.com/office/drawing/2014/main" id="{772BDB3D-00EC-4B24-9FA1-713C301B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24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Distance creates the grouping—validation gives it meaning</a:t>
            </a:r>
          </a:p>
        </p:txBody>
      </p:sp>
      <p:sp>
        <p:nvSpPr>
          <p:cNvPr id="3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A072C72-30F2-481B-B459-56FA6FF0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4A5A1D-49F5-447F-B226-F402233C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3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4C95A16-408F-487E-8544-A79BCD03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7/50</a:t>
            </a:r>
          </a:p>
        </p:txBody>
      </p:sp>
    </p:spTree>
    <p:extLst>
      <p:ext uri="{BB962C8B-B14F-4D97-AF65-F5344CB8AC3E}">
        <p14:creationId xmlns:p14="http://schemas.microsoft.com/office/powerpoint/2010/main" val="2038070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0ECBB4B-1461-4704-A8F3-DE65C247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37B378-0354-49A9-83CE-AFDA6AD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 the burden of proof is yours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606CDA8-FD08-4243-96D1-4A89546F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6C8200E7-0E40-4B2D-A01C-0F3622CE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980F962F-4019-442D-9E9E-29BF953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algorithm will always return an answer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FD31195-B114-4F62-B980-AF3A7BA1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C10F7CB8-AE64-4B9E-8AD6-DAEB7698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answer will always look convincing when plotted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D6743C7-21D0-4A30-A4A9-7985631A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72770E3-A1DB-43FB-BDCC-94D552E5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Nothing in the output tells you whether the structure exists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D9611FBF-75EC-4DB3-AC4F-5611CB4E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 supervised model can be wrong in a way the test set exposes.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33D65CF-DE20-4983-98F0-B5D11D97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B341B5-4667-423A-B459-C17AACE1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B9C2C9-6938-473F-99CA-7D964748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8/50</a:t>
            </a:r>
          </a:p>
        </p:txBody>
      </p:sp>
    </p:spTree>
    <p:extLst>
      <p:ext uri="{BB962C8B-B14F-4D97-AF65-F5344CB8AC3E}">
        <p14:creationId xmlns:p14="http://schemas.microsoft.com/office/powerpoint/2010/main" val="1787150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49CE9C2F-6D89-4647-8A90-4E38A92B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3771DC-3CD9-4460-B898-435AC741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k-means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386DBC0-C6AA-49D2-B082-8C828213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D0D3B68-C9B4-4F41-AF30-94C1F878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K-means: min Σᵢ ||xᵢ − μ_{cᵢ}||²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16AC16EF-0FFE-478F-ACE4-29D262A9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k-means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B774D408-227F-408B-A827-E08C200D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4F7DD695-A62A-4357-B103-9E0C7F27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k-means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6f335cac9142dd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EAEA812-979C-40E9-87B3-0EF14E1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AA543EC-7136-47DA-B39C-7DE4B616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8B62C0A-DF95-44D8-9C76-2E06069F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9/50</a:t>
            </a:r>
          </a:p>
        </p:txBody>
      </p:sp>
    </p:spTree>
    <p:extLst>
      <p:ext uri="{BB962C8B-B14F-4D97-AF65-F5344CB8AC3E}">
        <p14:creationId xmlns:p14="http://schemas.microsoft.com/office/powerpoint/2010/main" val="3694114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ED833222-BA3E-404D-AC01-5944DC3C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BD4BFC-2AEF-4B12-9C65-BE0AB054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objective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D3F2524-3C6D-4E0E-9284-88B38716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E44C720D-5C97-4489-90F1-5CE0FBE2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min_C_1,dots,C_k Σ_j=1^kΣ_i in C_j|x_i - μ_j|², μ_j = (1)/(|C_j|)Σ_i in C_j x_i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962D52A-4C60-403A-B31B-5AA43B75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muj = frac1|Cj|sumi in Cj xi This problem is NP-hard. You are not going to solve it. You are going to find a local minimum and be honest about that.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ED94DEE-9F2A-4BF0-A81C-4E42A96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4C863752-DFB9-4423-BDED-347CC7F0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muj = frac1|Cj|sumi in Cj xi This problem is NP-hard.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F99DAD06-6CC3-4970-B1BB-ACE7DA69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26BB7C2C-3A23-434E-A077-EFA4A16D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 A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AB823015-8E57-4B7B-B2E9-643D78B5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5E843A7-5BA8-4B34-B42C-1FEEB980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Angle θ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980018C-E331-4F69-B374-7BCF98B9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5A5D1B6-05AE-4432-8E0D-998B4122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 B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F99D2A8-5D64-4ED0-A008-8EDA4E33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BD9CE8-DA91-4E77-AC03-8AB1FB66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D4BC32C-67A4-4AD1-9A9B-AAF6DA5F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10/50</a:t>
            </a:r>
          </a:p>
        </p:txBody>
      </p:sp>
    </p:spTree>
    <p:extLst>
      <p:ext uri="{BB962C8B-B14F-4D97-AF65-F5344CB8AC3E}">
        <p14:creationId xmlns:p14="http://schemas.microsoft.com/office/powerpoint/2010/main" val="10386141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14CD8352-9733-46BB-8A1F-0552950E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D2DF45-2099-4909-B191-07D1529A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Lloyd's algorithm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4F28087-4749-41AD-8FE6-1F947707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3d8ec48fa64f39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773E808D-4C35-4A9F-9946-19063201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01143C8D-70A2-4AF3-8F8B-951BAE4F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1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Step 2 is optimal given the assignments (differentiate the objective in muj, set to zero — the…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6FD933F2-0A9E-46B3-A505-6957FA2B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9C86ED97-8874-48CB-905B-EEDC6D60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Step 1 is optimal given the centroids.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8C4130BD-8269-4334-94B2-365293BD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5FC00FB0-0BE3-4DA8-9BA9-F56BF560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 the objective decreases monotonically, and there are finitely many partitions.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3C6A257F-ACB8-498A-9F09-4C4757BA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8ED7BAF-9CF3-4153-93D1-DB5C3BD6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262810-73C4-4BD3-A6B3-51810A19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3629E0C-1F97-469C-BED7-F15EA9D5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11/50</a:t>
            </a:r>
          </a:p>
        </p:txBody>
      </p:sp>
      <p:sp>
        <p:nvSpPr>
          <p:cNvPr id="17" name="media-matte-kmeans_clusters.png">
            <a:extLst xmlns:a="http://schemas.openxmlformats.org/drawingml/2006/main">
              <a:ext uri="{FF2B5EF4-FFF2-40B4-BE49-F238E27FC236}">
                <a16:creationId xmlns:a16="http://schemas.microsoft.com/office/drawing/2014/main" id="{597C8E7A-929A-4DE4-9BFB-C506758A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3e0b5828d4b2d"/>
          <a:stretch xmlns:a="http://schemas.openxmlformats.org/drawingml/2006/main"/>
        </p:blipFill>
        <p:spPr>
          <a:xfrm xmlns:a="http://schemas.openxmlformats.org/drawingml/2006/main">
            <a:off x="845820" y="1600200"/>
            <a:ext cx="60807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8026918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7DFCF22C-FE03-4E25-A6DC-4EB746EC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824FB2-8FD2-47CD-B28A-DD63893F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Watch it converge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3367839-151F-4A1E-B1BD-C16F86C0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47B6EBE3-F389-46A8-A5C4-03F71C88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133E9AFC-6C5F-432E-994E-81F80E91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F7FFFD6B-D31D-4CD3-BCA2-66217F7C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F958675-1AAF-481D-943A-90E56F77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09-clustering-and-text-as-data/demo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session09_clustering_text_demo.py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D3144311-B320-44BE-87AB-4F3208EB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859EF601-80DF-448E-A86E-E7F2F39A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rng = np.random.default_rng(21)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cent_true = np.array([[0, 0], [3.2, .4], [1.4, 3.0]])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pts = np.vstack([c + rng.normal(0, .78, (70, 2)) for c in cent_true])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mu = np.array([[-1.4, 2.6], [-1.0, -1.4], [-.6, .4]])   # a deliberately bad start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snaps, obj = [], []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it in range(7):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dist = ((pts[:, None, :] - mu[None]) ** 2).sum(-1)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lab = dist.argmin(1)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obj.append(dist.min(1).sum())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snaps.append((mu.copy(), lab.copy()))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mu = np.array([pts[lab == j].mean(0) if (lab == j).any() else mu[j] for j in range(3)])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0D384FFB-9878-4369-9607-9C838738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C5659AE-7A4C-4F2C-A9C7-D52BD759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C75CBA0-FD7E-4D0C-A59E-DAE849A3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78EABEB-F389-4798-BABF-843A8A4C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12/50</a:t>
            </a:r>
          </a:p>
        </p:txBody>
      </p:sp>
    </p:spTree>
    <p:extLst>
      <p:ext uri="{BB962C8B-B14F-4D97-AF65-F5344CB8AC3E}">
        <p14:creationId xmlns:p14="http://schemas.microsoft.com/office/powerpoint/2010/main" val="18056742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0DDED88A-9AC3-495C-9276-8CD25F10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9BA631-56B9-4940-B296-197EAD59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Watch it converge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A1EEF2-3E04-4AE5-8145-751A7BFE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B9FA18E2-CE82-43B4-8F96-750D0B78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TF–IDF(t,d) = TF(t,d) × log[N/DF(t)]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A8F1D175-65CE-4BDF-A651-BFD4DA8F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rng = np.random.defaultrng(21) centtrue = np.array([[0, 0], [3.2, .4], [1.4, 3.0]]) pts = np.vstack([c + rng.normal(0, .78, (70, 2)) for c in centtrue])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1387781-2C7E-495B-A437-C5F1FBCC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EE85E1D6-6E64-4DD7-89A7-60E364DF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rng = np.random.defaultrng(21) centtrue = np.array([[0, 0], [3.2, .4], [1.4, 3.0]]) pts =…</a:t>
            </a:r>
          </a:p>
        </p:txBody>
      </p:sp>
      <p:sp>
        <p:nvSpPr>
          <p:cNvPr id="8" name="cluster-0-0">
            <a:extLst xmlns:a="http://schemas.openxmlformats.org/drawingml/2006/main">
              <a:ext uri="{FF2B5EF4-FFF2-40B4-BE49-F238E27FC236}">
                <a16:creationId xmlns:a16="http://schemas.microsoft.com/office/drawing/2014/main" id="{FA24A445-7AE4-41C8-B787-6DEC257B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3114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uster-0-1">
            <a:extLst xmlns:a="http://schemas.openxmlformats.org/drawingml/2006/main">
              <a:ext uri="{FF2B5EF4-FFF2-40B4-BE49-F238E27FC236}">
                <a16:creationId xmlns:a16="http://schemas.microsoft.com/office/drawing/2014/main" id="{A229D717-8C7E-4B93-820F-CBBD5328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uster-0-2">
            <a:extLst xmlns:a="http://schemas.openxmlformats.org/drawingml/2006/main">
              <a:ext uri="{FF2B5EF4-FFF2-40B4-BE49-F238E27FC236}">
                <a16:creationId xmlns:a16="http://schemas.microsoft.com/office/drawing/2014/main" id="{1820CB78-169E-4232-85D5-2DD4B957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60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uster-0-3">
            <a:extLst xmlns:a="http://schemas.openxmlformats.org/drawingml/2006/main">
              <a:ext uri="{FF2B5EF4-FFF2-40B4-BE49-F238E27FC236}">
                <a16:creationId xmlns:a16="http://schemas.microsoft.com/office/drawing/2014/main" id="{168E9AB7-3AC8-4DE8-BE0B-86D53320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110" y="3533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uster-0-4">
            <a:extLst xmlns:a="http://schemas.openxmlformats.org/drawingml/2006/main">
              <a:ext uri="{FF2B5EF4-FFF2-40B4-BE49-F238E27FC236}">
                <a16:creationId xmlns:a16="http://schemas.microsoft.com/office/drawing/2014/main" id="{1C2AC577-1C6D-4B63-B7C0-787BF90B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260" y="3629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uster-0-5">
            <a:extLst xmlns:a="http://schemas.openxmlformats.org/drawingml/2006/main">
              <a:ext uri="{FF2B5EF4-FFF2-40B4-BE49-F238E27FC236}">
                <a16:creationId xmlns:a16="http://schemas.microsoft.com/office/drawing/2014/main" id="{FD62C64F-7A3B-4510-B404-8FF7848E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762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luster-0-6">
            <a:extLst xmlns:a="http://schemas.openxmlformats.org/drawingml/2006/main">
              <a:ext uri="{FF2B5EF4-FFF2-40B4-BE49-F238E27FC236}">
                <a16:creationId xmlns:a16="http://schemas.microsoft.com/office/drawing/2014/main" id="{73E8DCF2-4146-460B-8683-793A0D43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2962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uster-0-7">
            <a:extLst xmlns:a="http://schemas.openxmlformats.org/drawingml/2006/main">
              <a:ext uri="{FF2B5EF4-FFF2-40B4-BE49-F238E27FC236}">
                <a16:creationId xmlns:a16="http://schemas.microsoft.com/office/drawing/2014/main" id="{2ED35954-8974-42BC-832E-D616CA0D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710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entroid-0">
            <a:extLst xmlns:a="http://schemas.openxmlformats.org/drawingml/2006/main">
              <a:ext uri="{FF2B5EF4-FFF2-40B4-BE49-F238E27FC236}">
                <a16:creationId xmlns:a16="http://schemas.microsoft.com/office/drawing/2014/main" id="{07138B4D-34B2-4CBB-9114-5283E6B3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uster-1-0">
            <a:extLst xmlns:a="http://schemas.openxmlformats.org/drawingml/2006/main">
              <a:ext uri="{FF2B5EF4-FFF2-40B4-BE49-F238E27FC236}">
                <a16:creationId xmlns:a16="http://schemas.microsoft.com/office/drawing/2014/main" id="{FFFCFBE8-F2F9-4208-BFF1-FE34F905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445" y="2686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uster-1-1">
            <a:extLst xmlns:a="http://schemas.openxmlformats.org/drawingml/2006/main">
              <a:ext uri="{FF2B5EF4-FFF2-40B4-BE49-F238E27FC236}">
                <a16:creationId xmlns:a16="http://schemas.microsoft.com/office/drawing/2014/main" id="{09957512-7E6B-407A-8956-15A9070B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195" y="245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uster-1-2">
            <a:extLst xmlns:a="http://schemas.openxmlformats.org/drawingml/2006/main">
              <a:ext uri="{FF2B5EF4-FFF2-40B4-BE49-F238E27FC236}">
                <a16:creationId xmlns:a16="http://schemas.microsoft.com/office/drawing/2014/main" id="{661B1C8B-6459-4C12-BE6C-19F1CC93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045" y="2743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uster-1-3">
            <a:extLst xmlns:a="http://schemas.openxmlformats.org/drawingml/2006/main">
              <a:ext uri="{FF2B5EF4-FFF2-40B4-BE49-F238E27FC236}">
                <a16:creationId xmlns:a16="http://schemas.microsoft.com/office/drawing/2014/main" id="{1AE14452-8F20-4AB2-8EDD-05EC62BD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595" y="3105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uster-1-4">
            <a:extLst xmlns:a="http://schemas.openxmlformats.org/drawingml/2006/main">
              <a:ext uri="{FF2B5EF4-FFF2-40B4-BE49-F238E27FC236}">
                <a16:creationId xmlns:a16="http://schemas.microsoft.com/office/drawing/2014/main" id="{B63BA5B9-7C27-4A1C-87EF-3A914A8B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745" y="3200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luster-1-5">
            <a:extLst xmlns:a="http://schemas.openxmlformats.org/drawingml/2006/main">
              <a:ext uri="{FF2B5EF4-FFF2-40B4-BE49-F238E27FC236}">
                <a16:creationId xmlns:a16="http://schemas.microsoft.com/office/drawing/2014/main" id="{F0F1E44C-6AEC-42B7-A847-B900E418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745" y="3333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luster-1-6">
            <a:extLst xmlns:a="http://schemas.openxmlformats.org/drawingml/2006/main">
              <a:ext uri="{FF2B5EF4-FFF2-40B4-BE49-F238E27FC236}">
                <a16:creationId xmlns:a16="http://schemas.microsoft.com/office/drawing/2014/main" id="{4E4CD65E-9ADD-40DE-A9C4-1AB61298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695" y="2533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uster-1-7">
            <a:extLst xmlns:a="http://schemas.openxmlformats.org/drawingml/2006/main">
              <a:ext uri="{FF2B5EF4-FFF2-40B4-BE49-F238E27FC236}">
                <a16:creationId xmlns:a16="http://schemas.microsoft.com/office/drawing/2014/main" id="{54AE7395-F286-41BD-B3C2-E7C85BA5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195" y="2952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entroid-1">
            <a:extLst xmlns:a="http://schemas.openxmlformats.org/drawingml/2006/main">
              <a:ext uri="{FF2B5EF4-FFF2-40B4-BE49-F238E27FC236}">
                <a16:creationId xmlns:a16="http://schemas.microsoft.com/office/drawing/2014/main" id="{AAE0AEB4-66DE-4B35-82A6-CE05AF9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9245" y="2762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luster-2-0">
            <a:extLst xmlns:a="http://schemas.openxmlformats.org/drawingml/2006/main">
              <a:ext uri="{FF2B5EF4-FFF2-40B4-BE49-F238E27FC236}">
                <a16:creationId xmlns:a16="http://schemas.microsoft.com/office/drawing/2014/main" id="{EE078485-0634-421C-9A57-F590BAF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470" y="4486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luster-2-1">
            <a:extLst xmlns:a="http://schemas.openxmlformats.org/drawingml/2006/main">
              <a:ext uri="{FF2B5EF4-FFF2-40B4-BE49-F238E27FC236}">
                <a16:creationId xmlns:a16="http://schemas.microsoft.com/office/drawing/2014/main" id="{B4C88030-171F-48C2-BEC9-AF309718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uster-2-2">
            <a:extLst xmlns:a="http://schemas.openxmlformats.org/drawingml/2006/main">
              <a:ext uri="{FF2B5EF4-FFF2-40B4-BE49-F238E27FC236}">
                <a16:creationId xmlns:a16="http://schemas.microsoft.com/office/drawing/2014/main" id="{1F12D38E-0803-4C08-B7DA-6C263DFC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070" y="4543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luster-2-3">
            <a:extLst xmlns:a="http://schemas.openxmlformats.org/drawingml/2006/main">
              <a:ext uri="{FF2B5EF4-FFF2-40B4-BE49-F238E27FC236}">
                <a16:creationId xmlns:a16="http://schemas.microsoft.com/office/drawing/2014/main" id="{AE5D1E79-A4C6-440F-9BB3-E5452742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62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luster-2-4">
            <a:extLst xmlns:a="http://schemas.openxmlformats.org/drawingml/2006/main">
              <a:ext uri="{FF2B5EF4-FFF2-40B4-BE49-F238E27FC236}">
                <a16:creationId xmlns:a16="http://schemas.microsoft.com/office/drawing/2014/main" id="{27499A36-CBC4-408E-B502-C76CEFF2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770" y="5000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luster-2-5">
            <a:extLst xmlns:a="http://schemas.openxmlformats.org/drawingml/2006/main">
              <a:ext uri="{FF2B5EF4-FFF2-40B4-BE49-F238E27FC236}">
                <a16:creationId xmlns:a16="http://schemas.microsoft.com/office/drawing/2014/main" id="{76489826-C1E6-461B-A06F-7F750B8A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770" y="5133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luster-2-6">
            <a:extLst xmlns:a="http://schemas.openxmlformats.org/drawingml/2006/main">
              <a:ext uri="{FF2B5EF4-FFF2-40B4-BE49-F238E27FC236}">
                <a16:creationId xmlns:a16="http://schemas.microsoft.com/office/drawing/2014/main" id="{ECF3AD7D-B467-452F-AE3F-36FA21E6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4333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luster-2-7">
            <a:extLst xmlns:a="http://schemas.openxmlformats.org/drawingml/2006/main">
              <a:ext uri="{FF2B5EF4-FFF2-40B4-BE49-F238E27FC236}">
                <a16:creationId xmlns:a16="http://schemas.microsoft.com/office/drawing/2014/main" id="{044C571A-840C-44CE-BBAA-50F89A3E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220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entroid-2">
            <a:extLst xmlns:a="http://schemas.openxmlformats.org/drawingml/2006/main">
              <a:ext uri="{FF2B5EF4-FFF2-40B4-BE49-F238E27FC236}">
                <a16:creationId xmlns:a16="http://schemas.microsoft.com/office/drawing/2014/main" id="{686B992F-6E35-4C1C-8671-7316EA5A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4562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luster-note">
            <a:extLst xmlns:a="http://schemas.openxmlformats.org/drawingml/2006/main">
              <a:ext uri="{FF2B5EF4-FFF2-40B4-BE49-F238E27FC236}">
                <a16:creationId xmlns:a16="http://schemas.microsoft.com/office/drawing/2014/main" id="{772BDB3D-00EC-4B24-9FA1-713C301B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24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Distance creates the grouping—validation gives it meaning</a:t>
            </a:r>
          </a:p>
        </p:txBody>
      </p:sp>
      <p:sp>
        <p:nvSpPr>
          <p:cNvPr id="3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A072C72-30F2-481B-B459-56FA6FF0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4A5A1D-49F5-447F-B226-F402233C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3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4C95A16-408F-487E-8544-A79BCD03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13/50</a:t>
            </a:r>
          </a:p>
        </p:txBody>
      </p:sp>
    </p:spTree>
    <p:extLst>
      <p:ext uri="{BB962C8B-B14F-4D97-AF65-F5344CB8AC3E}">
        <p14:creationId xmlns:p14="http://schemas.microsoft.com/office/powerpoint/2010/main" val="20380707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63063127-0A25-446E-A996-9C542DAF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8B2719-8204-4889-BEF5-A4E790D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Local minima are the normal case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06B2FE1-84A9-464C-8315-AF1B9077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189A1ADA-AA71-41FC-A715-0BD5ACE3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Different starts give different answers. Not slightly different — structurally different, with different cluster counts in each group. the nearest existing centroid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21404D43-EC70-482D-9759-78B59ECE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80EACB67-A573-455F-A251-87FFAFFF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it many times from different starts: ninit=20, not the default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EAC2B900-B9C4-458F-9338-3725050D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0227F145-910E-4689-B32B-DD997F33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31E368CD-327E-4210-898D-DADE8C8A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Or use k-means++, which seeds centroids with probability proportional to squared distance from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AD4FF9DC-26F1-4AE5-AB51-18C19313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D26CFF24-A450-4096-91E7-F59A269B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D6DEE46C-4D3D-45D2-A48B-ACEC5B85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k-means++ is O(log k)-competitive in expectation — a guarantee about the average, not about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F4BBC2AF-5E01-4E14-BBED-B1DA21B4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10A46095-EB9B-4F5C-B13F-09A500B4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027DAC7D-95B7-4705-94BC-3E98CED5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Different starts give different answers.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053520C6-23FE-46C4-A26D-44F518E5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FF4B01A-0BDD-4A99-8E34-4B8745F9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9CF2448-FB1F-4CB1-8543-37251D49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0EFEE0F-38F8-44DA-95C4-4795A389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14/50</a:t>
            </a:r>
          </a:p>
        </p:txBody>
      </p:sp>
    </p:spTree>
    <p:extLst>
      <p:ext uri="{BB962C8B-B14F-4D97-AF65-F5344CB8AC3E}">
        <p14:creationId xmlns:p14="http://schemas.microsoft.com/office/powerpoint/2010/main" val="18481632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49CE9C2F-6D89-4647-8A90-4E38A92B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3771DC-3CD9-4460-B898-435AC741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Nearest-centroid means straight boundaries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386DBC0-C6AA-49D2-B082-8C828213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D0D3B68-C9B4-4F41-AF30-94C1F878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K-means: min Σᵢ ||xᵢ − μ_{cᵢ}||²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16AC16EF-0FFE-478F-ACE4-29D262A9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figsize=(7.6, 3.0)) kmv = KMeans(nclusters=3, ninit=20, randomstate=0).fit(pts) gx, gy = np.meshgrid(np.linspace(-2.6, 5.6, 320), np.linspace(-2.6, 5.4, 320))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B774D408-227F-408B-A827-E08C200D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4F7DD695-A62A-4357-B103-9E0C7F27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figsize=(7.6, 3.0)) kmv = KMeans(nclusters=3, ninit=20,…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214cefb6fb419c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EAEA812-979C-40E9-87B3-0EF14E1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AA543EC-7136-47DA-B39C-7DE4B616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8B62C0A-DF95-44D8-9C76-2E06069F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15/50</a:t>
            </a:r>
          </a:p>
        </p:txBody>
      </p:sp>
    </p:spTree>
    <p:extLst>
      <p:ext uri="{BB962C8B-B14F-4D97-AF65-F5344CB8AC3E}">
        <p14:creationId xmlns:p14="http://schemas.microsoft.com/office/powerpoint/2010/main" val="3694114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41027FEB-3706-4B45-BEFA-F8D58AE6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E181C1-E8A7-4303-A374-71EEFEAC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Nearest-centroid means straight boundaries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CAB7C0C-1BEA-4E0B-861F-AAF1FAB7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E9283796-FB0C-4C5C-A394-64C0AAAE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E884D5F3-D490-45B2-B544-D23C5430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Nearest-centroid means…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9A74B8E1-1D29-4EC0-BF1E-559245D7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182AEDD8-4D64-436D-9818-84C3FF6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figsize=(7.6, 3.0)) kmv = KMeans(nclusters=3, ninit=20,…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5B41C41-47DC-46ED-87E6-1FFF1E38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7196D40A-8D65-4211-A216-5E503AF5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Embedding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BDF5278E-4776-4557-A7DC-D86EA3D6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716B2B98-1F90-45D1-ACFF-5C833F2A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the unit and representation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163C6DE4-698D-4AF5-A1C1-685E04E8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48B4AB46-C97E-4266-BD40-D2B2C1AE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Centroid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6BD4C5EA-45DB-479D-9619-C848EBD3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1F55D5D7-18E3-4656-BC7A-9AB09073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multiple structures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51A66B2C-3F45-470E-8997-2758EC23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213C01D-6117-4297-BE4F-EA34B7D9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A7497A-6A5A-4B8B-B237-1A99163F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9BAC203-079C-4497-AB25-F6EADFD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16/50</a:t>
            </a:r>
          </a:p>
        </p:txBody>
      </p:sp>
    </p:spTree>
    <p:extLst>
      <p:ext uri="{BB962C8B-B14F-4D97-AF65-F5344CB8AC3E}">
        <p14:creationId xmlns:p14="http://schemas.microsoft.com/office/powerpoint/2010/main" val="3349587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ED833222-BA3E-404D-AC01-5944DC3C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BD4BFC-2AEF-4B12-9C65-BE0AB054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Say precisely what is assumed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D3F2524-3C6D-4E0E-9284-88B38716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E44C720D-5C97-4489-90F1-5CE0FBE2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cos(a,b) = aᵀb / (||a||·||b||)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962D52A-4C60-403A-B31B-5AA43B75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Because clusters are defined by nearest centroid, the boundaries are perpendicular bisectors — a Those shapes are forced by the algorithm, not discovered in the data. Say which you are doing.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ED94DEE-9F2A-4BF0-A81C-4E42A96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4C863752-DFB9-4423-BDED-347CC7F0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Elongated or nested structures will be cut incorrectly no matter how well you optimise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F99DAD06-6CC3-4970-B1BB-ACE7DA69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26BB7C2C-3A23-434E-A077-EFA4A16D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 A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AB823015-8E57-4B7B-B2E9-643D78B5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5E843A7-5BA8-4B34-B42C-1FEEB980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Angle θ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980018C-E331-4F69-B374-7BCF98B9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5A5D1B6-05AE-4432-8E0D-998B4122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 B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F99D2A8-5D64-4ED0-A008-8EDA4E33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BD9CE8-DA91-4E77-AC03-8AB1FB66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D4BC32C-67A4-4AD1-9A9B-AAF6DA5F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17/50</a:t>
            </a:r>
          </a:p>
        </p:txBody>
      </p:sp>
    </p:spTree>
    <p:extLst>
      <p:ext uri="{BB962C8B-B14F-4D97-AF65-F5344CB8AC3E}">
        <p14:creationId xmlns:p14="http://schemas.microsoft.com/office/powerpoint/2010/main" val="10386141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0ECBB4B-1461-4704-A8F3-DE65C247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37B378-0354-49A9-83CE-AFDA6AD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Merge upward instead of partitioning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606CDA8-FD08-4243-96D1-4A89546F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6C8200E7-0E40-4B2D-A01C-0F3622CE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980F962F-4019-442D-9E9E-29BF953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Start with every point its own cluster; repeatedly merge the two closest.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FD31195-B114-4F62-B980-AF3A7BA1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C10F7CB8-AE64-4B9E-8AD6-DAEB7698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linkage function defines "closest":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D6743C7-21D0-4A30-A4A9-7985631A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72770E3-A1DB-43FB-BDCC-94D552E5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the unit and representation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D9611FBF-75EC-4DB3-AC4F-5611CB4E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Fit multiple structures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33D65CF-DE20-4983-98F0-B5D11D97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B341B5-4667-423A-B459-C17AACE1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B9C2C9-6938-473F-99CA-7D964748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18/50</a:t>
            </a:r>
          </a:p>
        </p:txBody>
      </p:sp>
    </p:spTree>
    <p:extLst>
      <p:ext uri="{BB962C8B-B14F-4D97-AF65-F5344CB8AC3E}">
        <p14:creationId xmlns:p14="http://schemas.microsoft.com/office/powerpoint/2010/main" val="17871507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14CD8352-9733-46BB-8A1F-0552950E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D2DF45-2099-4909-B191-07D1529A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Linkage is not a detail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4F28087-4749-41AD-8FE6-1F947707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2076f8bd044069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773E808D-4C35-4A9F-9946-19063201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01143C8D-70A2-4AF3-8F8B-951BAE4F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sub = ZP.copy() fig, axes = plt.subplots(1, 2, figsize=(7.8, 3.0)) for ax, meth in zip(axes,…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6FD933F2-0A9E-46B3-A505-6957FA2B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9C86ED97-8874-48CB-905B-EEDC6D60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1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sub = ZP.copy() fig, axes = plt.subplots(1, 2, figsize=(7.8, 3.0)) for ax, meth in zip(axes, ["single",…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8C4130BD-8269-4334-94B2-365293BD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5FC00FB0-0BE3-4DA8-9BA9-F56BF560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the unit and representation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3C6A257F-ACB8-498A-9F09-4C4757BA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8ED7BAF-9CF3-4153-93D1-DB5C3BD6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262810-73C4-4BD3-A6B3-51810A19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3629E0C-1F97-469C-BED7-F15EA9D5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19/50</a:t>
            </a:r>
          </a:p>
        </p:txBody>
      </p:sp>
      <p:sp>
        <p:nvSpPr>
          <p:cNvPr id="17" name="media-matte-kmeans_clusters.png">
            <a:extLst xmlns:a="http://schemas.openxmlformats.org/drawingml/2006/main">
              <a:ext uri="{FF2B5EF4-FFF2-40B4-BE49-F238E27FC236}">
                <a16:creationId xmlns:a16="http://schemas.microsoft.com/office/drawing/2014/main" id="{DBA38AB5-B6EA-43C4-BC7A-8CB57024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5e4a0201d419d"/>
          <a:stretch xmlns:a="http://schemas.openxmlformats.org/drawingml/2006/main"/>
        </p:blipFill>
        <p:spPr>
          <a:xfrm xmlns:a="http://schemas.openxmlformats.org/drawingml/2006/main">
            <a:off x="845820" y="1600200"/>
            <a:ext cx="60807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8026918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7DFCF22C-FE03-4E25-A6DC-4EB746EC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824FB2-8FD2-47CD-B28A-DD63893F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Linkage is not a detail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3367839-151F-4A1E-B1BD-C16F86C0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47B6EBE3-F389-46A8-A5C4-03F71C88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133E9AFC-6C5F-432E-994E-81F80E91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F7FFFD6B-D31D-4CD3-BCA2-66217F7C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F958675-1AAF-481D-943A-90E56F77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09-clustering-and-text-as-data/demo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session09_clustering_text_demo.py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D3144311-B320-44BE-87AB-4F3208EB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859EF601-80DF-448E-A86E-E7F2F39A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sub = ZP.copy()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axes = plt.subplots(1, 2, figsize=(7.8, 3.0))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ax, meth in zip(axes, ["single", "ward"]):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Zl = linkage(sub.to_numpy(), method=meth)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dendrogram(Zl, ax=ax, labels=sub.index.to_list(), leaf_font_size=6,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color_threshold=Zl[-3, 2], above_threshold_color=CL.muted)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ax.set_title(f"{meth} linkage", fontsize=9.5)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ax.grid(visible=False); ax.tick_params(axis="x", labelrotation=90)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ax.set_ylabel("merge height", fontsize=8)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plt.show()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0D384FFB-9878-4369-9607-9C838738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C5659AE-7A4C-4F2C-A9C7-D52BD759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C75CBA0-FD7E-4D0C-A59E-DAE849A3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78EABEB-F389-4798-BABF-843A8A4C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20/50</a:t>
            </a:r>
          </a:p>
        </p:txBody>
      </p:sp>
    </p:spTree>
    <p:extLst>
      <p:ext uri="{BB962C8B-B14F-4D97-AF65-F5344CB8AC3E}">
        <p14:creationId xmlns:p14="http://schemas.microsoft.com/office/powerpoint/2010/main" val="18056742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0DDED88A-9AC3-495C-9276-8CD25F10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9BA631-56B9-4940-B296-197EAD59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Choosing k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A1EEF2-3E04-4AE5-8145-751A7BFE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B9FA18E2-CE82-43B4-8F96-750D0B78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K-means: min Σᵢ ||xᵢ − μ_{cᵢ}||²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A8F1D175-65CE-4BDF-A651-BFD4DA8F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Choosing k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1387781-2C7E-495B-A437-C5F1FBCC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EE85E1D6-6E64-4DD7-89A7-60E364DF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 · Choosing k</a:t>
            </a:r>
          </a:p>
        </p:txBody>
      </p:sp>
      <p:sp>
        <p:nvSpPr>
          <p:cNvPr id="8" name="cluster-0-0">
            <a:extLst xmlns:a="http://schemas.openxmlformats.org/drawingml/2006/main">
              <a:ext uri="{FF2B5EF4-FFF2-40B4-BE49-F238E27FC236}">
                <a16:creationId xmlns:a16="http://schemas.microsoft.com/office/drawing/2014/main" id="{FA24A445-7AE4-41C8-B787-6DEC257B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3114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uster-0-1">
            <a:extLst xmlns:a="http://schemas.openxmlformats.org/drawingml/2006/main">
              <a:ext uri="{FF2B5EF4-FFF2-40B4-BE49-F238E27FC236}">
                <a16:creationId xmlns:a16="http://schemas.microsoft.com/office/drawing/2014/main" id="{A229D717-8C7E-4B93-820F-CBBD5328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uster-0-2">
            <a:extLst xmlns:a="http://schemas.openxmlformats.org/drawingml/2006/main">
              <a:ext uri="{FF2B5EF4-FFF2-40B4-BE49-F238E27FC236}">
                <a16:creationId xmlns:a16="http://schemas.microsoft.com/office/drawing/2014/main" id="{1820CB78-169E-4232-85D5-2DD4B957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60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uster-0-3">
            <a:extLst xmlns:a="http://schemas.openxmlformats.org/drawingml/2006/main">
              <a:ext uri="{FF2B5EF4-FFF2-40B4-BE49-F238E27FC236}">
                <a16:creationId xmlns:a16="http://schemas.microsoft.com/office/drawing/2014/main" id="{168E9AB7-3AC8-4DE8-BE0B-86D53320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110" y="3533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uster-0-4">
            <a:extLst xmlns:a="http://schemas.openxmlformats.org/drawingml/2006/main">
              <a:ext uri="{FF2B5EF4-FFF2-40B4-BE49-F238E27FC236}">
                <a16:creationId xmlns:a16="http://schemas.microsoft.com/office/drawing/2014/main" id="{1C2AC577-1C6D-4B63-B7C0-787BF90B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260" y="3629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uster-0-5">
            <a:extLst xmlns:a="http://schemas.openxmlformats.org/drawingml/2006/main">
              <a:ext uri="{FF2B5EF4-FFF2-40B4-BE49-F238E27FC236}">
                <a16:creationId xmlns:a16="http://schemas.microsoft.com/office/drawing/2014/main" id="{FD62C64F-7A3B-4510-B404-8FF7848E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762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luster-0-6">
            <a:extLst xmlns:a="http://schemas.openxmlformats.org/drawingml/2006/main">
              <a:ext uri="{FF2B5EF4-FFF2-40B4-BE49-F238E27FC236}">
                <a16:creationId xmlns:a16="http://schemas.microsoft.com/office/drawing/2014/main" id="{73E8DCF2-4146-460B-8683-793A0D43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2962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uster-0-7">
            <a:extLst xmlns:a="http://schemas.openxmlformats.org/drawingml/2006/main">
              <a:ext uri="{FF2B5EF4-FFF2-40B4-BE49-F238E27FC236}">
                <a16:creationId xmlns:a16="http://schemas.microsoft.com/office/drawing/2014/main" id="{2ED35954-8974-42BC-832E-D616CA0D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710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entroid-0">
            <a:extLst xmlns:a="http://schemas.openxmlformats.org/drawingml/2006/main">
              <a:ext uri="{FF2B5EF4-FFF2-40B4-BE49-F238E27FC236}">
                <a16:creationId xmlns:a16="http://schemas.microsoft.com/office/drawing/2014/main" id="{07138B4D-34B2-4CBB-9114-5283E6B3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uster-1-0">
            <a:extLst xmlns:a="http://schemas.openxmlformats.org/drawingml/2006/main">
              <a:ext uri="{FF2B5EF4-FFF2-40B4-BE49-F238E27FC236}">
                <a16:creationId xmlns:a16="http://schemas.microsoft.com/office/drawing/2014/main" id="{FFFCFBE8-F2F9-4208-BFF1-FE34F905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445" y="2686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uster-1-1">
            <a:extLst xmlns:a="http://schemas.openxmlformats.org/drawingml/2006/main">
              <a:ext uri="{FF2B5EF4-FFF2-40B4-BE49-F238E27FC236}">
                <a16:creationId xmlns:a16="http://schemas.microsoft.com/office/drawing/2014/main" id="{09957512-7E6B-407A-8956-15A9070B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195" y="245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uster-1-2">
            <a:extLst xmlns:a="http://schemas.openxmlformats.org/drawingml/2006/main">
              <a:ext uri="{FF2B5EF4-FFF2-40B4-BE49-F238E27FC236}">
                <a16:creationId xmlns:a16="http://schemas.microsoft.com/office/drawing/2014/main" id="{661B1C8B-6459-4C12-BE6C-19F1CC93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045" y="2743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uster-1-3">
            <a:extLst xmlns:a="http://schemas.openxmlformats.org/drawingml/2006/main">
              <a:ext uri="{FF2B5EF4-FFF2-40B4-BE49-F238E27FC236}">
                <a16:creationId xmlns:a16="http://schemas.microsoft.com/office/drawing/2014/main" id="{1AE14452-8F20-4AB2-8EDD-05EC62BD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595" y="3105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uster-1-4">
            <a:extLst xmlns:a="http://schemas.openxmlformats.org/drawingml/2006/main">
              <a:ext uri="{FF2B5EF4-FFF2-40B4-BE49-F238E27FC236}">
                <a16:creationId xmlns:a16="http://schemas.microsoft.com/office/drawing/2014/main" id="{B63BA5B9-7C27-4A1C-87EF-3A914A8B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745" y="3200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luster-1-5">
            <a:extLst xmlns:a="http://schemas.openxmlformats.org/drawingml/2006/main">
              <a:ext uri="{FF2B5EF4-FFF2-40B4-BE49-F238E27FC236}">
                <a16:creationId xmlns:a16="http://schemas.microsoft.com/office/drawing/2014/main" id="{F0F1E44C-6AEC-42B7-A847-B900E418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745" y="3333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luster-1-6">
            <a:extLst xmlns:a="http://schemas.openxmlformats.org/drawingml/2006/main">
              <a:ext uri="{FF2B5EF4-FFF2-40B4-BE49-F238E27FC236}">
                <a16:creationId xmlns:a16="http://schemas.microsoft.com/office/drawing/2014/main" id="{4E4CD65E-9ADD-40DE-A9C4-1AB61298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695" y="2533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uster-1-7">
            <a:extLst xmlns:a="http://schemas.openxmlformats.org/drawingml/2006/main">
              <a:ext uri="{FF2B5EF4-FFF2-40B4-BE49-F238E27FC236}">
                <a16:creationId xmlns:a16="http://schemas.microsoft.com/office/drawing/2014/main" id="{54AE7395-F286-41BD-B3C2-E7C85BA5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195" y="2952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entroid-1">
            <a:extLst xmlns:a="http://schemas.openxmlformats.org/drawingml/2006/main">
              <a:ext uri="{FF2B5EF4-FFF2-40B4-BE49-F238E27FC236}">
                <a16:creationId xmlns:a16="http://schemas.microsoft.com/office/drawing/2014/main" id="{AAE0AEB4-66DE-4B35-82A6-CE05AF9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9245" y="2762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luster-2-0">
            <a:extLst xmlns:a="http://schemas.openxmlformats.org/drawingml/2006/main">
              <a:ext uri="{FF2B5EF4-FFF2-40B4-BE49-F238E27FC236}">
                <a16:creationId xmlns:a16="http://schemas.microsoft.com/office/drawing/2014/main" id="{EE078485-0634-421C-9A57-F590BAF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470" y="4486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luster-2-1">
            <a:extLst xmlns:a="http://schemas.openxmlformats.org/drawingml/2006/main">
              <a:ext uri="{FF2B5EF4-FFF2-40B4-BE49-F238E27FC236}">
                <a16:creationId xmlns:a16="http://schemas.microsoft.com/office/drawing/2014/main" id="{B4C88030-171F-48C2-BEC9-AF309718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uster-2-2">
            <a:extLst xmlns:a="http://schemas.openxmlformats.org/drawingml/2006/main">
              <a:ext uri="{FF2B5EF4-FFF2-40B4-BE49-F238E27FC236}">
                <a16:creationId xmlns:a16="http://schemas.microsoft.com/office/drawing/2014/main" id="{1F12D38E-0803-4C08-B7DA-6C263DFC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070" y="4543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luster-2-3">
            <a:extLst xmlns:a="http://schemas.openxmlformats.org/drawingml/2006/main">
              <a:ext uri="{FF2B5EF4-FFF2-40B4-BE49-F238E27FC236}">
                <a16:creationId xmlns:a16="http://schemas.microsoft.com/office/drawing/2014/main" id="{AE5D1E79-A4C6-440F-9BB3-E5452742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62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luster-2-4">
            <a:extLst xmlns:a="http://schemas.openxmlformats.org/drawingml/2006/main">
              <a:ext uri="{FF2B5EF4-FFF2-40B4-BE49-F238E27FC236}">
                <a16:creationId xmlns:a16="http://schemas.microsoft.com/office/drawing/2014/main" id="{27499A36-CBC4-408E-B502-C76CEFF2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770" y="5000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luster-2-5">
            <a:extLst xmlns:a="http://schemas.openxmlformats.org/drawingml/2006/main">
              <a:ext uri="{FF2B5EF4-FFF2-40B4-BE49-F238E27FC236}">
                <a16:creationId xmlns:a16="http://schemas.microsoft.com/office/drawing/2014/main" id="{76489826-C1E6-461B-A06F-7F750B8A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770" y="5133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luster-2-6">
            <a:extLst xmlns:a="http://schemas.openxmlformats.org/drawingml/2006/main">
              <a:ext uri="{FF2B5EF4-FFF2-40B4-BE49-F238E27FC236}">
                <a16:creationId xmlns:a16="http://schemas.microsoft.com/office/drawing/2014/main" id="{ECF3AD7D-B467-452F-AE3F-36FA21E6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4333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luster-2-7">
            <a:extLst xmlns:a="http://schemas.openxmlformats.org/drawingml/2006/main">
              <a:ext uri="{FF2B5EF4-FFF2-40B4-BE49-F238E27FC236}">
                <a16:creationId xmlns:a16="http://schemas.microsoft.com/office/drawing/2014/main" id="{044C571A-840C-44CE-BBAA-50F89A3E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220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entroid-2">
            <a:extLst xmlns:a="http://schemas.openxmlformats.org/drawingml/2006/main">
              <a:ext uri="{FF2B5EF4-FFF2-40B4-BE49-F238E27FC236}">
                <a16:creationId xmlns:a16="http://schemas.microsoft.com/office/drawing/2014/main" id="{686B992F-6E35-4C1C-8671-7316EA5A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4562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luster-note">
            <a:extLst xmlns:a="http://schemas.openxmlformats.org/drawingml/2006/main">
              <a:ext uri="{FF2B5EF4-FFF2-40B4-BE49-F238E27FC236}">
                <a16:creationId xmlns:a16="http://schemas.microsoft.com/office/drawing/2014/main" id="{772BDB3D-00EC-4B24-9FA1-713C301B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24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Distance creates the grouping—validation gives it meaning</a:t>
            </a:r>
          </a:p>
        </p:txBody>
      </p:sp>
      <p:sp>
        <p:nvSpPr>
          <p:cNvPr id="3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A072C72-30F2-481B-B459-56FA6FF0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4A5A1D-49F5-447F-B226-F402233C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3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4C95A16-408F-487E-8544-A79BCD03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21/50</a:t>
            </a:r>
          </a:p>
        </p:txBody>
      </p:sp>
    </p:spTree>
    <p:extLst>
      <p:ext uri="{BB962C8B-B14F-4D97-AF65-F5344CB8AC3E}">
        <p14:creationId xmlns:p14="http://schemas.microsoft.com/office/powerpoint/2010/main" val="20380707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49CE9C2F-6D89-4647-8A90-4E38A92B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3771DC-3CD9-4460-B898-435AC741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Three criteria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386DBC0-C6AA-49D2-B082-8C828213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D0D3B68-C9B4-4F41-AF30-94C1F878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TF–IDF(t,d) = TF(t,d) × log[N/DF(t)]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16AC16EF-0FFE-478F-ACE4-29D262A9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kink. Often no kink exists cluster and bi to the nearest other. Average over i, maximise over k k = 1, i.e. no cluster structure — which is why it is worth the extra effort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B774D408-227F-408B-A827-E08C200D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4F7DD695-A62A-4357-B103-9E0C7F27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Elbow — plot within-cluster SS against k. It always decreases, so you are looking for a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f66173a12746fb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EAEA812-979C-40E9-87B3-0EF14E1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AA543EC-7136-47DA-B39C-7DE4B616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8B62C0A-DF95-44D8-9C76-2E06069F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22/50</a:t>
            </a:r>
          </a:p>
        </p:txBody>
      </p:sp>
    </p:spTree>
    <p:extLst>
      <p:ext uri="{BB962C8B-B14F-4D97-AF65-F5344CB8AC3E}">
        <p14:creationId xmlns:p14="http://schemas.microsoft.com/office/powerpoint/2010/main" val="3694114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ED833222-BA3E-404D-AC01-5944DC3C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BD4BFC-2AEF-4B12-9C65-BE0AB054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Silhouette, by hand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D3F2524-3C6D-4E0E-9284-88B38716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E44C720D-5C97-4489-90F1-5CE0FBE2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cos(a,b) = aᵀb / (||a||·||b||)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962D52A-4C60-403A-B31B-5AA43B75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Near 1: well clustered. Near 0: on a boundary. Negative: it belongs somewhere else. A clustering with many negative silhouettes is a clustering you should not report.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ED94DEE-9F2A-4BF0-A81C-4E42A96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4C863752-DFB9-4423-BDED-347CC7F0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Near 1: well clustered.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F99DAD06-6CC3-4970-B1BB-ACE7DA69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26BB7C2C-3A23-434E-A077-EFA4A16D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 A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AB823015-8E57-4B7B-B2E9-643D78B5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5E843A7-5BA8-4B34-B42C-1FEEB980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Angle θ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980018C-E331-4F69-B374-7BCF98B9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5A5D1B6-05AE-4432-8E0D-998B4122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 B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F99D2A8-5D64-4ED0-A008-8EDA4E33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BD9CE8-DA91-4E77-AC03-8AB1FB66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D4BC32C-67A4-4AD1-9A9B-AAF6DA5F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23/50</a:t>
            </a:r>
          </a:p>
        </p:txBody>
      </p:sp>
    </p:spTree>
    <p:extLst>
      <p:ext uri="{BB962C8B-B14F-4D97-AF65-F5344CB8AC3E}">
        <p14:creationId xmlns:p14="http://schemas.microsoft.com/office/powerpoint/2010/main" val="10386141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391BFEFF-159A-416F-8FF8-1AAE45BE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0010E155-E564-4DA1-862D-2D7FD38E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Both criteria, on our 30 countries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E9CA924A-5363-4B30-AE3F-05DC6988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294C0D7B-3889-4D6A-AD05-5C78FC99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8380FBED-E9A8-4DDA-8683-907593EF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K-means always returns k clusters—even when the data are generated from uniform noise.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54280BE5-156A-4ED9-BFCB-671558A8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A20D1017-CAAE-49C8-BC65-15402128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Scaling and text preprocessing are documented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339C5B8-F27C-4FA5-B485-A5851139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33AA124-9503-440D-BB68-E30FBF8A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2DD6927-0B68-4A9C-ABBD-75E49F32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24/50</a:t>
            </a:r>
          </a:p>
        </p:txBody>
      </p:sp>
    </p:spTree>
    <p:extLst>
      <p:ext uri="{BB962C8B-B14F-4D97-AF65-F5344CB8AC3E}">
        <p14:creationId xmlns:p14="http://schemas.microsoft.com/office/powerpoint/2010/main" val="127191030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41027FEB-3706-4B45-BEFA-F8D58AE6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E181C1-E8A7-4303-A374-71EEFEAC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And they do not agree with the truth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CAB7C0C-1BEA-4E0B-861F-AAF1FAB7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E9283796-FB0C-4C5C-A394-64C0AAAE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E884D5F3-D490-45B2-B544-D23C5430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And they do not agree…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9A74B8E1-1D29-4EC0-BF1E-559245D7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182AEDD8-4D64-436D-9818-84C3FF6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figsize=(7.7, 2.9)) axes[0].plot(list(ks), inertia, "o-",…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5B41C41-47DC-46ED-87E6-1FFF1E38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7196D40A-8D65-4211-A216-5E503AF5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Embedding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BDF5278E-4776-4557-A7DC-D86EA3D6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716B2B98-1F90-45D1-ACFF-5C833F2A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the unit and representation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163C6DE4-698D-4AF5-A1C1-685E04E8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48B4AB46-C97E-4266-BD40-D2B2C1AE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Centroid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6BD4C5EA-45DB-479D-9619-C848EBD3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1F55D5D7-18E3-4656-BC7A-9AB09073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multiple structures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51A66B2C-3F45-470E-8997-2758EC23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213C01D-6117-4297-BE4F-EA34B7D9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A7497A-6A5A-4B8B-B237-1A99163F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9BAC203-079C-4497-AB25-F6EADFD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25/50</a:t>
            </a:r>
          </a:p>
        </p:txBody>
      </p:sp>
    </p:spTree>
    <p:extLst>
      <p:ext uri="{BB962C8B-B14F-4D97-AF65-F5344CB8AC3E}">
        <p14:creationId xmlns:p14="http://schemas.microsoft.com/office/powerpoint/2010/main" val="3349587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0ECBB4B-1461-4704-A8F3-DE65C247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37B378-0354-49A9-83CE-AFDA6AD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And they do not agree with the truth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606CDA8-FD08-4243-96D1-4A89546F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6C8200E7-0E40-4B2D-A01C-0F3622CE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980F962F-4019-442D-9E9E-29BF953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axes = plt.subplots(1, 2, figsize=(7.7, 2.9)) axes[0].plot(list(ks), inertia, "o-",…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FD31195-B114-4F62-B980-AF3A7BA1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C10F7CB8-AE64-4B9E-8AD6-DAEB7698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the unit and representation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D6743C7-21D0-4A30-A4A9-7985631A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72770E3-A1DB-43FB-BDCC-94D552E5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multiple structures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D9611FBF-75EC-4DB3-AC4F-5611CB4E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Validate against null data and human judgement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33D65CF-DE20-4983-98F0-B5D11D97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B341B5-4667-423A-B459-C17AACE1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B9C2C9-6938-473F-99CA-7D964748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26/50</a:t>
            </a:r>
          </a:p>
        </p:txBody>
      </p:sp>
    </p:spTree>
    <p:extLst>
      <p:ext uri="{BB962C8B-B14F-4D97-AF65-F5344CB8AC3E}">
        <p14:creationId xmlns:p14="http://schemas.microsoft.com/office/powerpoint/2010/main" val="17871507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14CD8352-9733-46BB-8A1F-0552950E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D2DF45-2099-4909-B191-07D1529A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to do about that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4F28087-4749-41AD-8FE6-1F947707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08b1d528da4e49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773E808D-4C35-4A9F-9946-19063201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01143C8D-70A2-4AF3-8F8B-951BAE4F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Say how many restarts you ran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6FD933F2-0A9E-46B3-A505-6957FA2B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9C86ED97-8874-48CB-905B-EEDC6D60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Say which criteria you computed, including the ones that disagreed with your choice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8C4130BD-8269-4334-94B2-365293BD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5FC00FB0-0BE3-4DA8-9BA9-F56BF560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If the gap statistic returns k=1, say so and stop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3C6A257F-ACB8-498A-9F09-4C4757BA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8ED7BAF-9CF3-4153-93D1-DB5C3BD6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262810-73C4-4BD3-A6B3-51810A19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3629E0C-1F97-469C-BED7-F15EA9D5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27/50</a:t>
            </a:r>
          </a:p>
        </p:txBody>
      </p:sp>
      <p:sp>
        <p:nvSpPr>
          <p:cNvPr id="17" name="media-matte-kmeans_clusters.png">
            <a:extLst xmlns:a="http://schemas.openxmlformats.org/drawingml/2006/main">
              <a:ext uri="{FF2B5EF4-FFF2-40B4-BE49-F238E27FC236}">
                <a16:creationId xmlns:a16="http://schemas.microsoft.com/office/drawing/2014/main" id="{37B91E49-CFA8-4FF8-A6C1-A4502562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f10262b9a41a7"/>
          <a:stretch xmlns:a="http://schemas.openxmlformats.org/drawingml/2006/main"/>
        </p:blipFill>
        <p:spPr>
          <a:xfrm xmlns:a="http://schemas.openxmlformats.org/drawingml/2006/main">
            <a:off x="845820" y="1600200"/>
            <a:ext cx="60807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80269187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7DFCF22C-FE03-4E25-A6DC-4EB746EC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824FB2-8FD2-47CD-B28A-DD63893F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Bag of words, and TF-IDF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3367839-151F-4A1E-B1BD-C16F86C0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47B6EBE3-F389-46A8-A5C4-03F71C88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133E9AFC-6C5F-432E-994E-81F80E91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F7FFFD6B-D31D-4CD3-BCA2-66217F7C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F958675-1AAF-481D-943A-90E56F77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09-clustering-and-text-as-data/demo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session09_clustering_text_demo.py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D3144311-B320-44BE-87AB-4F3208EB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859EF601-80DF-448E-A86E-E7F2F39A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sklearn.cluster import KMeans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sklearn.metrics import silhouette_score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np.array([[0,0],[.1,.2],[3,3],[3.2,2.9],[6,0],[6.1,.2]])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z = KMeans(3, n_init=20, random_state=60033).fit_predict(X)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print(z, silhouette_score(X,z))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0D384FFB-9878-4369-9607-9C838738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C5659AE-7A4C-4F2C-A9C7-D52BD759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C75CBA0-FD7E-4D0C-A59E-DAE849A3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78EABEB-F389-4798-BABF-843A8A4C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28/50</a:t>
            </a:r>
          </a:p>
        </p:txBody>
      </p:sp>
    </p:spTree>
    <p:extLst>
      <p:ext uri="{BB962C8B-B14F-4D97-AF65-F5344CB8AC3E}">
        <p14:creationId xmlns:p14="http://schemas.microsoft.com/office/powerpoint/2010/main" val="18056742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63063127-0A25-446E-A996-9C542DAF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8B2719-8204-4889-BEF5-A4E790D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Bag of words, and TF-IDF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06B2FE1-84A9-464C-8315-AF1B9077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189A1ADA-AA71-41FC-A715-0BD5ACE3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underbracelogfracN1 + nthow rare t is overall The idf factor downweights ubiquitous terms. A word appearing in every document carries no information about which…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21404D43-EC70-482D-9759-78B59ECE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80EACB67-A573-455F-A251-87FFAFFF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underbracelogfracN1 + nthow rare t is overall The idf factor downweights ubiquitous terms.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EAC2B900-B9C4-458F-9338-3725050D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0227F145-910E-4689-B32B-DD997F33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31E368CD-327E-4210-898D-DADE8C8A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0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word appearing in every document carries no information about which document you are looking at.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AD4FF9DC-26F1-4AE5-AB51-18C19313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D26CFF24-A450-4096-91E7-F59A269B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D6DEE46C-4D3D-45D2-A48B-ACEC5B85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the unit and representation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F4BBC2AF-5E01-4E14-BBED-B1DA21B4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10A46095-EB9B-4F5C-B13F-09A500B4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027DAC7D-95B7-4705-94BC-3E98CED5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multiple structures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053520C6-23FE-46C4-A26D-44F518E5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FF4B01A-0BDD-4A99-8E34-4B8745F9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9CF2448-FB1F-4CB1-8543-37251D49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0EFEE0F-38F8-44DA-95C4-4795A389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29/50</a:t>
            </a:r>
          </a:p>
        </p:txBody>
      </p:sp>
    </p:spTree>
    <p:extLst>
      <p:ext uri="{BB962C8B-B14F-4D97-AF65-F5344CB8AC3E}">
        <p14:creationId xmlns:p14="http://schemas.microsoft.com/office/powerpoint/2010/main" val="184816329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0DDED88A-9AC3-495C-9276-8CD25F10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9BA631-56B9-4940-B296-197EAD59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one, on 1,980 central-bank documents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A1EEF2-3E04-4AE5-8145-751A7BFE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B9FA18E2-CE82-43B4-8F96-750D0B78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K-means: min Σᵢ ||xᵢ − μ_{cᵢ}||²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A8F1D175-65CE-4BDF-A651-BFD4DA8F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vec = TfidfVectorizer(stopwords="english", mindf=5, maxdf=0.9) Xt = vec.fittransform(docs["text"]) terms = np.array(vec.getfeaturenamesout())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1387781-2C7E-495B-A437-C5F1FBCC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EE85E1D6-6E64-4DD7-89A7-60E364DF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vec = TfidfVectorizer(stopwords="english", mindf=5, maxdf=0.9) Xt = vec.fittransform(docs["text"])…</a:t>
            </a:r>
          </a:p>
        </p:txBody>
      </p:sp>
      <p:sp>
        <p:nvSpPr>
          <p:cNvPr id="8" name="cluster-0-0">
            <a:extLst xmlns:a="http://schemas.openxmlformats.org/drawingml/2006/main">
              <a:ext uri="{FF2B5EF4-FFF2-40B4-BE49-F238E27FC236}">
                <a16:creationId xmlns:a16="http://schemas.microsoft.com/office/drawing/2014/main" id="{FA24A445-7AE4-41C8-B787-6DEC257B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3114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uster-0-1">
            <a:extLst xmlns:a="http://schemas.openxmlformats.org/drawingml/2006/main">
              <a:ext uri="{FF2B5EF4-FFF2-40B4-BE49-F238E27FC236}">
                <a16:creationId xmlns:a16="http://schemas.microsoft.com/office/drawing/2014/main" id="{A229D717-8C7E-4B93-820F-CBBD5328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uster-0-2">
            <a:extLst xmlns:a="http://schemas.openxmlformats.org/drawingml/2006/main">
              <a:ext uri="{FF2B5EF4-FFF2-40B4-BE49-F238E27FC236}">
                <a16:creationId xmlns:a16="http://schemas.microsoft.com/office/drawing/2014/main" id="{1820CB78-169E-4232-85D5-2DD4B957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60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uster-0-3">
            <a:extLst xmlns:a="http://schemas.openxmlformats.org/drawingml/2006/main">
              <a:ext uri="{FF2B5EF4-FFF2-40B4-BE49-F238E27FC236}">
                <a16:creationId xmlns:a16="http://schemas.microsoft.com/office/drawing/2014/main" id="{168E9AB7-3AC8-4DE8-BE0B-86D53320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110" y="3533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uster-0-4">
            <a:extLst xmlns:a="http://schemas.openxmlformats.org/drawingml/2006/main">
              <a:ext uri="{FF2B5EF4-FFF2-40B4-BE49-F238E27FC236}">
                <a16:creationId xmlns:a16="http://schemas.microsoft.com/office/drawing/2014/main" id="{1C2AC577-1C6D-4B63-B7C0-787BF90B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260" y="3629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uster-0-5">
            <a:extLst xmlns:a="http://schemas.openxmlformats.org/drawingml/2006/main">
              <a:ext uri="{FF2B5EF4-FFF2-40B4-BE49-F238E27FC236}">
                <a16:creationId xmlns:a16="http://schemas.microsoft.com/office/drawing/2014/main" id="{FD62C64F-7A3B-4510-B404-8FF7848E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762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luster-0-6">
            <a:extLst xmlns:a="http://schemas.openxmlformats.org/drawingml/2006/main">
              <a:ext uri="{FF2B5EF4-FFF2-40B4-BE49-F238E27FC236}">
                <a16:creationId xmlns:a16="http://schemas.microsoft.com/office/drawing/2014/main" id="{73E8DCF2-4146-460B-8683-793A0D43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2962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uster-0-7">
            <a:extLst xmlns:a="http://schemas.openxmlformats.org/drawingml/2006/main">
              <a:ext uri="{FF2B5EF4-FFF2-40B4-BE49-F238E27FC236}">
                <a16:creationId xmlns:a16="http://schemas.microsoft.com/office/drawing/2014/main" id="{2ED35954-8974-42BC-832E-D616CA0D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710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entroid-0">
            <a:extLst xmlns:a="http://schemas.openxmlformats.org/drawingml/2006/main">
              <a:ext uri="{FF2B5EF4-FFF2-40B4-BE49-F238E27FC236}">
                <a16:creationId xmlns:a16="http://schemas.microsoft.com/office/drawing/2014/main" id="{07138B4D-34B2-4CBB-9114-5283E6B3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uster-1-0">
            <a:extLst xmlns:a="http://schemas.openxmlformats.org/drawingml/2006/main">
              <a:ext uri="{FF2B5EF4-FFF2-40B4-BE49-F238E27FC236}">
                <a16:creationId xmlns:a16="http://schemas.microsoft.com/office/drawing/2014/main" id="{FFFCFBE8-F2F9-4208-BFF1-FE34F905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445" y="2686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uster-1-1">
            <a:extLst xmlns:a="http://schemas.openxmlformats.org/drawingml/2006/main">
              <a:ext uri="{FF2B5EF4-FFF2-40B4-BE49-F238E27FC236}">
                <a16:creationId xmlns:a16="http://schemas.microsoft.com/office/drawing/2014/main" id="{09957512-7E6B-407A-8956-15A9070B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195" y="245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uster-1-2">
            <a:extLst xmlns:a="http://schemas.openxmlformats.org/drawingml/2006/main">
              <a:ext uri="{FF2B5EF4-FFF2-40B4-BE49-F238E27FC236}">
                <a16:creationId xmlns:a16="http://schemas.microsoft.com/office/drawing/2014/main" id="{661B1C8B-6459-4C12-BE6C-19F1CC93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045" y="2743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uster-1-3">
            <a:extLst xmlns:a="http://schemas.openxmlformats.org/drawingml/2006/main">
              <a:ext uri="{FF2B5EF4-FFF2-40B4-BE49-F238E27FC236}">
                <a16:creationId xmlns:a16="http://schemas.microsoft.com/office/drawing/2014/main" id="{1AE14452-8F20-4AB2-8EDD-05EC62BD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595" y="3105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uster-1-4">
            <a:extLst xmlns:a="http://schemas.openxmlformats.org/drawingml/2006/main">
              <a:ext uri="{FF2B5EF4-FFF2-40B4-BE49-F238E27FC236}">
                <a16:creationId xmlns:a16="http://schemas.microsoft.com/office/drawing/2014/main" id="{B63BA5B9-7C27-4A1C-87EF-3A914A8B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745" y="3200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luster-1-5">
            <a:extLst xmlns:a="http://schemas.openxmlformats.org/drawingml/2006/main">
              <a:ext uri="{FF2B5EF4-FFF2-40B4-BE49-F238E27FC236}">
                <a16:creationId xmlns:a16="http://schemas.microsoft.com/office/drawing/2014/main" id="{F0F1E44C-6AEC-42B7-A847-B900E418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745" y="3333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luster-1-6">
            <a:extLst xmlns:a="http://schemas.openxmlformats.org/drawingml/2006/main">
              <a:ext uri="{FF2B5EF4-FFF2-40B4-BE49-F238E27FC236}">
                <a16:creationId xmlns:a16="http://schemas.microsoft.com/office/drawing/2014/main" id="{4E4CD65E-9ADD-40DE-A9C4-1AB61298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695" y="2533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uster-1-7">
            <a:extLst xmlns:a="http://schemas.openxmlformats.org/drawingml/2006/main">
              <a:ext uri="{FF2B5EF4-FFF2-40B4-BE49-F238E27FC236}">
                <a16:creationId xmlns:a16="http://schemas.microsoft.com/office/drawing/2014/main" id="{54AE7395-F286-41BD-B3C2-E7C85BA5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195" y="2952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entroid-1">
            <a:extLst xmlns:a="http://schemas.openxmlformats.org/drawingml/2006/main">
              <a:ext uri="{FF2B5EF4-FFF2-40B4-BE49-F238E27FC236}">
                <a16:creationId xmlns:a16="http://schemas.microsoft.com/office/drawing/2014/main" id="{AAE0AEB4-66DE-4B35-82A6-CE05AF9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9245" y="2762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luster-2-0">
            <a:extLst xmlns:a="http://schemas.openxmlformats.org/drawingml/2006/main">
              <a:ext uri="{FF2B5EF4-FFF2-40B4-BE49-F238E27FC236}">
                <a16:creationId xmlns:a16="http://schemas.microsoft.com/office/drawing/2014/main" id="{EE078485-0634-421C-9A57-F590BAF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470" y="4486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luster-2-1">
            <a:extLst xmlns:a="http://schemas.openxmlformats.org/drawingml/2006/main">
              <a:ext uri="{FF2B5EF4-FFF2-40B4-BE49-F238E27FC236}">
                <a16:creationId xmlns:a16="http://schemas.microsoft.com/office/drawing/2014/main" id="{B4C88030-171F-48C2-BEC9-AF309718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uster-2-2">
            <a:extLst xmlns:a="http://schemas.openxmlformats.org/drawingml/2006/main">
              <a:ext uri="{FF2B5EF4-FFF2-40B4-BE49-F238E27FC236}">
                <a16:creationId xmlns:a16="http://schemas.microsoft.com/office/drawing/2014/main" id="{1F12D38E-0803-4C08-B7DA-6C263DFC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070" y="4543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luster-2-3">
            <a:extLst xmlns:a="http://schemas.openxmlformats.org/drawingml/2006/main">
              <a:ext uri="{FF2B5EF4-FFF2-40B4-BE49-F238E27FC236}">
                <a16:creationId xmlns:a16="http://schemas.microsoft.com/office/drawing/2014/main" id="{AE5D1E79-A4C6-440F-9BB3-E5452742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62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luster-2-4">
            <a:extLst xmlns:a="http://schemas.openxmlformats.org/drawingml/2006/main">
              <a:ext uri="{FF2B5EF4-FFF2-40B4-BE49-F238E27FC236}">
                <a16:creationId xmlns:a16="http://schemas.microsoft.com/office/drawing/2014/main" id="{27499A36-CBC4-408E-B502-C76CEFF2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770" y="5000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luster-2-5">
            <a:extLst xmlns:a="http://schemas.openxmlformats.org/drawingml/2006/main">
              <a:ext uri="{FF2B5EF4-FFF2-40B4-BE49-F238E27FC236}">
                <a16:creationId xmlns:a16="http://schemas.microsoft.com/office/drawing/2014/main" id="{76489826-C1E6-461B-A06F-7F750B8A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770" y="5133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luster-2-6">
            <a:extLst xmlns:a="http://schemas.openxmlformats.org/drawingml/2006/main">
              <a:ext uri="{FF2B5EF4-FFF2-40B4-BE49-F238E27FC236}">
                <a16:creationId xmlns:a16="http://schemas.microsoft.com/office/drawing/2014/main" id="{ECF3AD7D-B467-452F-AE3F-36FA21E6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4333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luster-2-7">
            <a:extLst xmlns:a="http://schemas.openxmlformats.org/drawingml/2006/main">
              <a:ext uri="{FF2B5EF4-FFF2-40B4-BE49-F238E27FC236}">
                <a16:creationId xmlns:a16="http://schemas.microsoft.com/office/drawing/2014/main" id="{044C571A-840C-44CE-BBAA-50F89A3E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220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entroid-2">
            <a:extLst xmlns:a="http://schemas.openxmlformats.org/drawingml/2006/main">
              <a:ext uri="{FF2B5EF4-FFF2-40B4-BE49-F238E27FC236}">
                <a16:creationId xmlns:a16="http://schemas.microsoft.com/office/drawing/2014/main" id="{686B992F-6E35-4C1C-8671-7316EA5A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4562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luster-note">
            <a:extLst xmlns:a="http://schemas.openxmlformats.org/drawingml/2006/main">
              <a:ext uri="{FF2B5EF4-FFF2-40B4-BE49-F238E27FC236}">
                <a16:creationId xmlns:a16="http://schemas.microsoft.com/office/drawing/2014/main" id="{772BDB3D-00EC-4B24-9FA1-713C301B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24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Distance creates the grouping—validation gives it meaning</a:t>
            </a:r>
          </a:p>
        </p:txBody>
      </p:sp>
      <p:sp>
        <p:nvSpPr>
          <p:cNvPr id="3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A072C72-30F2-481B-B459-56FA6FF0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4A5A1D-49F5-447F-B226-F402233C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3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4C95A16-408F-487E-8544-A79BCD03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30/50</a:t>
            </a:r>
          </a:p>
        </p:txBody>
      </p:sp>
    </p:spTree>
    <p:extLst>
      <p:ext uri="{BB962C8B-B14F-4D97-AF65-F5344CB8AC3E}">
        <p14:creationId xmlns:p14="http://schemas.microsoft.com/office/powerpoint/2010/main" val="203807079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49CE9C2F-6D89-4647-8A90-4E38A92B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3771DC-3CD9-4460-B898-435AC741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the idf weights are doing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386DBC0-C6AA-49D2-B082-8C828213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D0D3B68-C9B4-4F41-AF30-94C1F878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TF–IDF(t,d) = TF(t,d) × log[N/DF(t)]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16AC16EF-0FFE-478F-ACE4-29D262A9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idf = pd.Series(vec.idf, index=terms).sortvalues() lo, hi = idf.head(7), idf.tail(7) fig, axes = plt.subplots(1, 2, figsize=(7.6, 2.85), sharex=True)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B774D408-227F-408B-A827-E08C200D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4F7DD695-A62A-4357-B103-9E0C7F27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idf = pd.Series(vec.idf, index=terms).sortvalues() lo, hi = idf.head(7), idf.tail(7) fig, axes =…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7f4304e3e748e8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EAEA812-979C-40E9-87B3-0EF14E1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AA543EC-7136-47DA-B39C-7DE4B616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8B62C0A-DF95-44D8-9C76-2E06069F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31/50</a:t>
            </a:r>
          </a:p>
        </p:txBody>
      </p:sp>
    </p:spTree>
    <p:extLst>
      <p:ext uri="{BB962C8B-B14F-4D97-AF65-F5344CB8AC3E}">
        <p14:creationId xmlns:p14="http://schemas.microsoft.com/office/powerpoint/2010/main" val="3694114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ED833222-BA3E-404D-AC01-5944DC3C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BD4BFC-2AEF-4B12-9C65-BE0AB054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the idf weights are doing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D3F2524-3C6D-4E0E-9284-88B38716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E44C720D-5C97-4489-90F1-5CE0FBE2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cos(a,b) = aᵀb / (||a||·||b||)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962D52A-4C60-403A-B31B-5AA43B75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idf = pd.Series(vec.idf, index=terms).sortvalues() lo, hi = idf.head(7), idf.tail(7) fig, axes = plt.subplots(1, 2, figsize=(7.6, 2.85), sharex=True)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ED94DEE-9F2A-4BF0-A81C-4E42A96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4C863752-DFB9-4423-BDED-347CC7F0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idf = pd.Series(vec.idf, index=terms).sortvalues() lo, hi = idf.head(7), idf.tail(7) fig, axes =…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F99DAD06-6CC3-4970-B1BB-ACE7DA69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26BB7C2C-3A23-434E-A077-EFA4A16D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 A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AB823015-8E57-4B7B-B2E9-643D78B5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5E843A7-5BA8-4B34-B42C-1FEEB980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Angle θ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980018C-E331-4F69-B374-7BCF98B9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5A5D1B6-05AE-4432-8E0D-998B4122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 B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F99D2A8-5D64-4ED0-A008-8EDA4E33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BD9CE8-DA91-4E77-AC03-8AB1FB66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D4BC32C-67A4-4AD1-9A9B-AAF6DA5F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32/50</a:t>
            </a:r>
          </a:p>
        </p:txBody>
      </p:sp>
    </p:spTree>
    <p:extLst>
      <p:ext uri="{BB962C8B-B14F-4D97-AF65-F5344CB8AC3E}">
        <p14:creationId xmlns:p14="http://schemas.microsoft.com/office/powerpoint/2010/main" val="10386141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41027FEB-3706-4B45-BEFA-F8D58AE6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E181C1-E8A7-4303-A374-71EEFEAC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 the documents and read the result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CAB7C0C-1BEA-4E0B-861F-AAF1FAB7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E9283796-FB0C-4C5C-A394-64C0AAAE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E884D5F3-D490-45B2-B544-D23C5430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 the documents…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9A74B8E1-1D29-4EC0-BF1E-559245D7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182AEDD8-4D64-436D-9818-84C3FF6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kmt = KMeans(nclusters=3, ninit=20, randomstate=0).fit(Xt) for c in range(3): top =…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5B41C41-47DC-46ED-87E6-1FFF1E38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7196D40A-8D65-4211-A216-5E503AF5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Silhouette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BDF5278E-4776-4557-A7DC-D86EA3D6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716B2B98-1F90-45D1-ACFF-5C833F2A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the unit and representation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163C6DE4-698D-4AF5-A1C1-685E04E8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48B4AB46-C97E-4266-BD40-D2B2C1AE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Embedding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6BD4C5EA-45DB-479D-9619-C848EBD3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1F55D5D7-18E3-4656-BC7A-9AB09073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multiple structures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51A66B2C-3F45-470E-8997-2758EC23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213C01D-6117-4297-BE4F-EA34B7D9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A7497A-6A5A-4B8B-B237-1A99163F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9BAC203-079C-4497-AB25-F6EADFD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33/50</a:t>
            </a:r>
          </a:p>
        </p:txBody>
      </p:sp>
    </p:spTree>
    <p:extLst>
      <p:ext uri="{BB962C8B-B14F-4D97-AF65-F5344CB8AC3E}">
        <p14:creationId xmlns:p14="http://schemas.microsoft.com/office/powerpoint/2010/main" val="33495870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0ECBB4B-1461-4704-A8F3-DE65C247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37B378-0354-49A9-83CE-AFDA6AD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 the documents and read the result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606CDA8-FD08-4243-96D1-4A89546F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6C8200E7-0E40-4B2D-A01C-0F3622CE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980F962F-4019-442D-9E9E-29BF953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kmt = KMeans(nclusters=3, ninit=20, randomstate=0).fit(Xt) for c in range(3): top =…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FD31195-B114-4F62-B980-AF3A7BA1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C10F7CB8-AE64-4B9E-8AD6-DAEB7698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the unit and representation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D6743C7-21D0-4A30-A4A9-7985631A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72770E3-A1DB-43FB-BDCC-94D552E5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multiple structures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D9611FBF-75EC-4DB3-AC4F-5611CB4E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Validate against null data and human judgement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33D65CF-DE20-4983-98F0-B5D11D97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B341B5-4667-423A-B459-C17AACE1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B9C2C9-6938-473F-99CA-7D964748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34/50</a:t>
            </a:r>
          </a:p>
        </p:txBody>
      </p:sp>
    </p:spTree>
    <p:extLst>
      <p:ext uri="{BB962C8B-B14F-4D97-AF65-F5344CB8AC3E}">
        <p14:creationId xmlns:p14="http://schemas.microsoft.com/office/powerpoint/2010/main" val="178715072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14CD8352-9733-46BB-8A1F-0552950E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D2DF45-2099-4909-B191-07D1529A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Dense embeddings, and cosine · read the mathematics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4F28087-4749-41AD-8FE6-1F947707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3930acff194e55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773E808D-4C35-4A9F-9946-19063201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01143C8D-70A2-4AF3-8F8B-951BAE4F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3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model maps each document to vd in mathbbR^m (m typically 384–1024), trained so that semantically…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6FD933F2-0A9E-46B3-A505-6957FA2B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9C86ED97-8874-48CB-905B-EEDC6D60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300-word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8C4130BD-8269-4334-94B2-365293BD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5FC00FB0-0BE3-4DA8-9BA9-F56BF560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the unit and representation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3C6A257F-ACB8-498A-9F09-4C4757BA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8ED7BAF-9CF3-4153-93D1-DB5C3BD6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262810-73C4-4BD3-A6B3-51810A19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3629E0C-1F97-469C-BED7-F15EA9D5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35/50</a:t>
            </a:r>
          </a:p>
        </p:txBody>
      </p:sp>
      <p:sp>
        <p:nvSpPr>
          <p:cNvPr id="17" name="media-matte-kmeans_clusters.png">
            <a:extLst xmlns:a="http://schemas.openxmlformats.org/drawingml/2006/main">
              <a:ext uri="{FF2B5EF4-FFF2-40B4-BE49-F238E27FC236}">
                <a16:creationId xmlns:a16="http://schemas.microsoft.com/office/drawing/2014/main" id="{7361A760-2339-4A1B-8A75-18463AD8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64645c41b4c5a"/>
          <a:stretch xmlns:a="http://schemas.openxmlformats.org/drawingml/2006/main"/>
        </p:blipFill>
        <p:spPr>
          <a:xfrm xmlns:a="http://schemas.openxmlformats.org/drawingml/2006/main">
            <a:off x="845820" y="1600200"/>
            <a:ext cx="60807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80269187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7DFCF22C-FE03-4E25-A6DC-4EB746EC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824FB2-8FD2-47CD-B28A-DD63893F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Similarity is a matrix you can look at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3367839-151F-4A1E-B1BD-C16F86C0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47B6EBE3-F389-46A8-A5C4-03F71C88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133E9AFC-6C5F-432E-994E-81F80E91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F7FFFD6B-D31D-4CD3-BCA2-66217F7C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F958675-1AAF-481D-943A-90E56F77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09-clustering-and-text-as-data/demo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session09_clustering_text_demo.py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D3144311-B320-44BE-87AB-4F3208EB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859EF601-80DF-448E-A86E-E7F2F39A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992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samp = (docs.assign(tone_grp=kmt.labels_)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.groupby("tone_grp", group_keys=False)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.head(4).reset_index(drop=True))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 = cosine_similarity(vec.transform(samp["text"]))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fig, ax = plt.subplots(figsize=(5.4, 3.2))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 = ax.imshow(S, cmap="RdBu_r", vmin=0, vmax=1)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ax.set_xticks(range(len(samp))); ax.set_yticks(range(len(samp)))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lab = [f"grp{g}·{i%4}" for i, g in enumerate(samp["tone_grp"])]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ax.set_xticklabels(lab, fontsize=6.5, rotation=90); ax.set_yticklabels(lab, fontsize=6.5)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b in (3.5, 7.5):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ax.axhline(b, color=CL.ink, lw=1.4); ax.axvline(b, color=CL.ink, lw=1.4)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fig.colorbar(im, ax=ax, shrink=.8, label="cosine similarity")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0D384FFB-9878-4369-9607-9C838738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C5659AE-7A4C-4F2C-A9C7-D52BD759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C75CBA0-FD7E-4D0C-A59E-DAE849A3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78EABEB-F389-4798-BABF-843A8A4C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36/50</a:t>
            </a:r>
          </a:p>
        </p:txBody>
      </p:sp>
    </p:spTree>
    <p:extLst>
      <p:ext uri="{BB962C8B-B14F-4D97-AF65-F5344CB8AC3E}">
        <p14:creationId xmlns:p14="http://schemas.microsoft.com/office/powerpoint/2010/main" val="180567422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0DDED88A-9AC3-495C-9276-8CD25F10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9BA631-56B9-4940-B296-197EAD59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Similarity is a matrix you can look at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AA1EEF2-3E04-4AE5-8145-751A7BFE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B9FA18E2-CE82-43B4-8F96-750D0B78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TF–IDF(t,d) = TF(t,d) × log[N/DF(t)]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A8F1D175-65CE-4BDF-A651-BFD4DA8F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samp = (docs.assign(tonegrp=kmt.labels) .groupby("tonegrp", groupkeys=False) .head(4).resetindex(drop=True))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1387781-2C7E-495B-A437-C5F1FBCC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EE85E1D6-6E64-4DD7-89A7-60E364DF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samp = (docs.assign(tonegrp=kmt.labels) .groupby("tonegrp", groupkeys=False)…</a:t>
            </a:r>
          </a:p>
        </p:txBody>
      </p:sp>
      <p:sp>
        <p:nvSpPr>
          <p:cNvPr id="8" name="cluster-0-0">
            <a:extLst xmlns:a="http://schemas.openxmlformats.org/drawingml/2006/main">
              <a:ext uri="{FF2B5EF4-FFF2-40B4-BE49-F238E27FC236}">
                <a16:creationId xmlns:a16="http://schemas.microsoft.com/office/drawing/2014/main" id="{FA24A445-7AE4-41C8-B787-6DEC257B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3114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uster-0-1">
            <a:extLst xmlns:a="http://schemas.openxmlformats.org/drawingml/2006/main">
              <a:ext uri="{FF2B5EF4-FFF2-40B4-BE49-F238E27FC236}">
                <a16:creationId xmlns:a16="http://schemas.microsoft.com/office/drawing/2014/main" id="{A229D717-8C7E-4B93-820F-CBBD5328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710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uster-0-2">
            <a:extLst xmlns:a="http://schemas.openxmlformats.org/drawingml/2006/main">
              <a:ext uri="{FF2B5EF4-FFF2-40B4-BE49-F238E27FC236}">
                <a16:creationId xmlns:a16="http://schemas.microsoft.com/office/drawing/2014/main" id="{1820CB78-169E-4232-85D5-2DD4B957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60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uster-0-3">
            <a:extLst xmlns:a="http://schemas.openxmlformats.org/drawingml/2006/main">
              <a:ext uri="{FF2B5EF4-FFF2-40B4-BE49-F238E27FC236}">
                <a16:creationId xmlns:a16="http://schemas.microsoft.com/office/drawing/2014/main" id="{168E9AB7-3AC8-4DE8-BE0B-86D53320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110" y="3533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uster-0-4">
            <a:extLst xmlns:a="http://schemas.openxmlformats.org/drawingml/2006/main">
              <a:ext uri="{FF2B5EF4-FFF2-40B4-BE49-F238E27FC236}">
                <a16:creationId xmlns:a16="http://schemas.microsoft.com/office/drawing/2014/main" id="{1C2AC577-1C6D-4B63-B7C0-787BF90B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260" y="3629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uster-0-5">
            <a:extLst xmlns:a="http://schemas.openxmlformats.org/drawingml/2006/main">
              <a:ext uri="{FF2B5EF4-FFF2-40B4-BE49-F238E27FC236}">
                <a16:creationId xmlns:a16="http://schemas.microsoft.com/office/drawing/2014/main" id="{FD62C64F-7A3B-4510-B404-8FF7848E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3762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luster-0-6">
            <a:extLst xmlns:a="http://schemas.openxmlformats.org/drawingml/2006/main">
              <a:ext uri="{FF2B5EF4-FFF2-40B4-BE49-F238E27FC236}">
                <a16:creationId xmlns:a16="http://schemas.microsoft.com/office/drawing/2014/main" id="{73E8DCF2-4146-460B-8683-793A0D43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2962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uster-0-7">
            <a:extLst xmlns:a="http://schemas.openxmlformats.org/drawingml/2006/main">
              <a:ext uri="{FF2B5EF4-FFF2-40B4-BE49-F238E27FC236}">
                <a16:creationId xmlns:a16="http://schemas.microsoft.com/office/drawing/2014/main" id="{2ED35954-8974-42BC-832E-D616CA0D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710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entroid-0">
            <a:extLst xmlns:a="http://schemas.openxmlformats.org/drawingml/2006/main">
              <a:ext uri="{FF2B5EF4-FFF2-40B4-BE49-F238E27FC236}">
                <a16:creationId xmlns:a16="http://schemas.microsoft.com/office/drawing/2014/main" id="{07138B4D-34B2-4CBB-9114-5283E6B3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uster-1-0">
            <a:extLst xmlns:a="http://schemas.openxmlformats.org/drawingml/2006/main">
              <a:ext uri="{FF2B5EF4-FFF2-40B4-BE49-F238E27FC236}">
                <a16:creationId xmlns:a16="http://schemas.microsoft.com/office/drawing/2014/main" id="{FFFCFBE8-F2F9-4208-BFF1-FE34F905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445" y="2686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uster-1-1">
            <a:extLst xmlns:a="http://schemas.openxmlformats.org/drawingml/2006/main">
              <a:ext uri="{FF2B5EF4-FFF2-40B4-BE49-F238E27FC236}">
                <a16:creationId xmlns:a16="http://schemas.microsoft.com/office/drawing/2014/main" id="{09957512-7E6B-407A-8956-15A9070B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195" y="245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uster-1-2">
            <a:extLst xmlns:a="http://schemas.openxmlformats.org/drawingml/2006/main">
              <a:ext uri="{FF2B5EF4-FFF2-40B4-BE49-F238E27FC236}">
                <a16:creationId xmlns:a16="http://schemas.microsoft.com/office/drawing/2014/main" id="{661B1C8B-6459-4C12-BE6C-19F1CC93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045" y="2743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uster-1-3">
            <a:extLst xmlns:a="http://schemas.openxmlformats.org/drawingml/2006/main">
              <a:ext uri="{FF2B5EF4-FFF2-40B4-BE49-F238E27FC236}">
                <a16:creationId xmlns:a16="http://schemas.microsoft.com/office/drawing/2014/main" id="{1AE14452-8F20-4AB2-8EDD-05EC62BD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595" y="3105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uster-1-4">
            <a:extLst xmlns:a="http://schemas.openxmlformats.org/drawingml/2006/main">
              <a:ext uri="{FF2B5EF4-FFF2-40B4-BE49-F238E27FC236}">
                <a16:creationId xmlns:a16="http://schemas.microsoft.com/office/drawing/2014/main" id="{B63BA5B9-7C27-4A1C-87EF-3A914A8B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745" y="3200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luster-1-5">
            <a:extLst xmlns:a="http://schemas.openxmlformats.org/drawingml/2006/main">
              <a:ext uri="{FF2B5EF4-FFF2-40B4-BE49-F238E27FC236}">
                <a16:creationId xmlns:a16="http://schemas.microsoft.com/office/drawing/2014/main" id="{F0F1E44C-6AEC-42B7-A847-B900E418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9745" y="3333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luster-1-6">
            <a:extLst xmlns:a="http://schemas.openxmlformats.org/drawingml/2006/main">
              <a:ext uri="{FF2B5EF4-FFF2-40B4-BE49-F238E27FC236}">
                <a16:creationId xmlns:a16="http://schemas.microsoft.com/office/drawing/2014/main" id="{4E4CD65E-9ADD-40DE-A9C4-1AB61298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695" y="2533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uster-1-7">
            <a:extLst xmlns:a="http://schemas.openxmlformats.org/drawingml/2006/main">
              <a:ext uri="{FF2B5EF4-FFF2-40B4-BE49-F238E27FC236}">
                <a16:creationId xmlns:a16="http://schemas.microsoft.com/office/drawing/2014/main" id="{54AE7395-F286-41BD-B3C2-E7C85BA5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195" y="2952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entroid-1">
            <a:extLst xmlns:a="http://schemas.openxmlformats.org/drawingml/2006/main">
              <a:ext uri="{FF2B5EF4-FFF2-40B4-BE49-F238E27FC236}">
                <a16:creationId xmlns:a16="http://schemas.microsoft.com/office/drawing/2014/main" id="{AAE0AEB4-66DE-4B35-82A6-CE05AF9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9245" y="2762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luster-2-0">
            <a:extLst xmlns:a="http://schemas.openxmlformats.org/drawingml/2006/main">
              <a:ext uri="{FF2B5EF4-FFF2-40B4-BE49-F238E27FC236}">
                <a16:creationId xmlns:a16="http://schemas.microsoft.com/office/drawing/2014/main" id="{EE078485-0634-421C-9A57-F590BAF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470" y="4486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luster-2-1">
            <a:extLst xmlns:a="http://schemas.openxmlformats.org/drawingml/2006/main">
              <a:ext uri="{FF2B5EF4-FFF2-40B4-BE49-F238E27FC236}">
                <a16:creationId xmlns:a16="http://schemas.microsoft.com/office/drawing/2014/main" id="{B4C88030-171F-48C2-BEC9-AF309718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uster-2-2">
            <a:extLst xmlns:a="http://schemas.openxmlformats.org/drawingml/2006/main">
              <a:ext uri="{FF2B5EF4-FFF2-40B4-BE49-F238E27FC236}">
                <a16:creationId xmlns:a16="http://schemas.microsoft.com/office/drawing/2014/main" id="{1F12D38E-0803-4C08-B7DA-6C263DFC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070" y="4543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luster-2-3">
            <a:extLst xmlns:a="http://schemas.openxmlformats.org/drawingml/2006/main">
              <a:ext uri="{FF2B5EF4-FFF2-40B4-BE49-F238E27FC236}">
                <a16:creationId xmlns:a16="http://schemas.microsoft.com/office/drawing/2014/main" id="{AE5D1E79-A4C6-440F-9BB3-E5452742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620" y="4905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luster-2-4">
            <a:extLst xmlns:a="http://schemas.openxmlformats.org/drawingml/2006/main">
              <a:ext uri="{FF2B5EF4-FFF2-40B4-BE49-F238E27FC236}">
                <a16:creationId xmlns:a16="http://schemas.microsoft.com/office/drawing/2014/main" id="{27499A36-CBC4-408E-B502-C76CEFF2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770" y="5000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luster-2-5">
            <a:extLst xmlns:a="http://schemas.openxmlformats.org/drawingml/2006/main">
              <a:ext uri="{FF2B5EF4-FFF2-40B4-BE49-F238E27FC236}">
                <a16:creationId xmlns:a16="http://schemas.microsoft.com/office/drawing/2014/main" id="{76489826-C1E6-461B-A06F-7F750B8A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770" y="5133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luster-2-6">
            <a:extLst xmlns:a="http://schemas.openxmlformats.org/drawingml/2006/main">
              <a:ext uri="{FF2B5EF4-FFF2-40B4-BE49-F238E27FC236}">
                <a16:creationId xmlns:a16="http://schemas.microsoft.com/office/drawing/2014/main" id="{ECF3AD7D-B467-452F-AE3F-36FA21E6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4333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luster-2-7">
            <a:extLst xmlns:a="http://schemas.openxmlformats.org/drawingml/2006/main">
              <a:ext uri="{FF2B5EF4-FFF2-40B4-BE49-F238E27FC236}">
                <a16:creationId xmlns:a16="http://schemas.microsoft.com/office/drawing/2014/main" id="{044C571A-840C-44CE-BBAA-50F89A3E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220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entroid-2">
            <a:extLst xmlns:a="http://schemas.openxmlformats.org/drawingml/2006/main">
              <a:ext uri="{FF2B5EF4-FFF2-40B4-BE49-F238E27FC236}">
                <a16:creationId xmlns:a16="http://schemas.microsoft.com/office/drawing/2014/main" id="{686B992F-6E35-4C1C-8671-7316EA5A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4562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luster-note">
            <a:extLst xmlns:a="http://schemas.openxmlformats.org/drawingml/2006/main">
              <a:ext uri="{FF2B5EF4-FFF2-40B4-BE49-F238E27FC236}">
                <a16:creationId xmlns:a16="http://schemas.microsoft.com/office/drawing/2014/main" id="{772BDB3D-00EC-4B24-9FA1-713C301B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24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Distance creates the grouping—validation gives it meaning</a:t>
            </a:r>
          </a:p>
        </p:txBody>
      </p:sp>
      <p:sp>
        <p:nvSpPr>
          <p:cNvPr id="3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A072C72-30F2-481B-B459-56FA6FF0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4A5A1D-49F5-447F-B226-F402233C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3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4C95A16-408F-487E-8544-A79BCD03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37/50</a:t>
            </a:r>
          </a:p>
        </p:txBody>
      </p:sp>
    </p:spTree>
    <p:extLst>
      <p:ext uri="{BB962C8B-B14F-4D97-AF65-F5344CB8AC3E}">
        <p14:creationId xmlns:p14="http://schemas.microsoft.com/office/powerpoint/2010/main" val="203807079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49CE9C2F-6D89-4647-8A90-4E38A92B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SECTION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3771DC-3CD9-4460-B898-435AC741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Validity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386DBC0-C6AA-49D2-B082-8C828213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6D0D3B68-C9B4-4F41-AF30-94C1F878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cos(a,b) = aᵀb / (||a||·||b||)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16AC16EF-0FFE-478F-ACE4-29D262A9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Validity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B774D408-227F-408B-A827-E08C200D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4F7DD695-A62A-4357-B103-9E0C7F27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7 · Validity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24550" y="16573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0abc38f0434fd0"/>
          </a:graphicData>
        </a:graphic>
      </p:graphicFrame>
      <p:sp>
        <p:nvSpPr>
          <p:cNvPr id="9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EAEA812-979C-40E9-87B3-0EF14E1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AA543EC-7136-47DA-B39C-7DE4B616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8B62C0A-DF95-44D8-9C76-2E06069F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38/50</a:t>
            </a:r>
          </a:p>
        </p:txBody>
      </p:sp>
    </p:spTree>
    <p:extLst>
      <p:ext uri="{BB962C8B-B14F-4D97-AF65-F5344CB8AC3E}">
        <p14:creationId xmlns:p14="http://schemas.microsoft.com/office/powerpoint/2010/main" val="36941145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ED833222-BA3E-404D-AC01-5944DC3C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BD4BFC-2AEF-4B12-9C65-BE0AB054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Four questions about any text-derived measure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D3F2524-3C6D-4E0E-9284-88B38716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E44C720D-5C97-4489-90F1-5CE0FBE2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K-means: min Σᵢ ||xᵢ − μ_{cᵢ}||²</a:t>
            </a:r>
          </a:p>
        </p:txBody>
      </p:sp>
      <p:sp>
        <p:nvSpPr>
          <p:cNvPr id="5" name="equation-reading">
            <a:extLst xmlns:a="http://schemas.openxmlformats.org/drawingml/2006/main">
              <a:ext uri="{FF2B5EF4-FFF2-40B4-BE49-F238E27FC236}">
                <a16:creationId xmlns:a16="http://schemas.microsoft.com/office/drawing/2014/main" id="{6962D52A-4C60-403A-B31B-5AA43B75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you claim? Do this. Actually read them. If your finding depends on a stemming choice, you do not have a finding.</a:t>
            </a:r>
          </a:p>
        </p:txBody>
      </p:sp>
      <p:sp>
        <p:nvSpPr>
          <p:cNvPr id="6" name="equation-prompt">
            <a:extLst xmlns:a="http://schemas.openxmlformats.org/drawingml/2006/main">
              <a:ext uri="{FF2B5EF4-FFF2-40B4-BE49-F238E27FC236}">
                <a16:creationId xmlns:a16="http://schemas.microsoft.com/office/drawing/2014/main" id="{5ED94DEE-9F2A-4BF0-A81C-4E42A96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7" name="equation-prompt-copy">
            <a:extLst xmlns:a="http://schemas.openxmlformats.org/drawingml/2006/main">
              <a:ext uri="{FF2B5EF4-FFF2-40B4-BE49-F238E27FC236}">
                <a16:creationId xmlns:a16="http://schemas.microsoft.com/office/drawing/2014/main" id="{4C863752-DFB9-4423-BDED-347CC7F0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Face validity — read a random sample of high- and low-scoring documents. Do they look like</a:t>
            </a:r>
          </a:p>
        </p:txBody>
      </p:sp>
      <p:cxnSp>
        <p:nvCxnSpPr>
          <p:cNvPr id="44" name="workflow-edge-0"/>
          <p:cNvCxnSpPr/>
          <p:nvPr/>
        </p:nvCxnSpPr>
        <p:spPr>
          <a:xfrm xmlns:a="http://schemas.openxmlformats.org/drawingml/2006/main">
            <a:off x="763270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45" name="workflow-edge-1"/>
          <p:cNvCxnSpPr/>
          <p:nvPr/>
        </p:nvCxnSpPr>
        <p:spPr>
          <a:xfrm xmlns:a="http://schemas.openxmlformats.org/drawingml/2006/main">
            <a:off x="9683750" y="3800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0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F99DAD06-6CC3-4970-B1BB-ACE7DA69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26BB7C2C-3A23-434E-A077-EFA4A16D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 A</a:t>
            </a:r>
          </a:p>
        </p:txBody>
      </p:sp>
      <p:sp>
        <p:nvSpPr>
          <p:cNvPr id="12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AB823015-8E57-4B7B-B2E9-643D78B5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5E843A7-5BA8-4B34-B42C-1FEEB980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Angle θ</a:t>
            </a:r>
          </a:p>
        </p:txBody>
      </p:sp>
      <p:sp>
        <p:nvSpPr>
          <p:cNvPr id="14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980018C-E331-4F69-B374-7BCF98B9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828800"/>
            <a:ext cx="1708150" cy="3943350"/>
          </a:xfrm>
          <a:prstGeom xmlns:a="http://schemas.openxmlformats.org/drawingml/2006/main" prst="roundRect">
            <a:avLst>
              <a:gd name="adj" fmla="val 446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5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35A5D1B6-05AE-4432-8E0D-998B4122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00" y="1943100"/>
            <a:ext cx="15176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 B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F99D2A8-5D64-4ED0-A008-8EDA4E33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BD9CE8-DA91-4E77-AC03-8AB1FB66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D4BC32C-67A4-4AD1-9A9B-AAF6DA5F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39/50</a:t>
            </a:r>
          </a:p>
        </p:txBody>
      </p:sp>
    </p:spTree>
    <p:extLst>
      <p:ext uri="{BB962C8B-B14F-4D97-AF65-F5344CB8AC3E}">
        <p14:creationId xmlns:p14="http://schemas.microsoft.com/office/powerpoint/2010/main" val="103861418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63063127-0A25-446E-A996-9C542DAF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ASSUMPTIONS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8B2719-8204-4889-BEF5-A4E790D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a dictionary index, then test it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06B2FE1-84A9-464C-8315-AF1B9077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189A1ADA-AA71-41FC-A715-0BD5ACE3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POS = "robust", "balanced", "anchored", "confidence", "orderly", "sustained", "steady", "resilient", "stable" NEG = "volatile", "unpredictable", "tension", "unclear",…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21404D43-EC70-482D-9759-78B59ECE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80EACB67-A573-455F-A251-87FFAFFF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POS = "robust", "balanced", "anchored", "confidence", "orderly", "sustained", "steady",…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EAC2B900-B9C4-458F-9338-3725050D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0227F145-910E-4689-B32B-DD997F33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31E368CD-327E-4210-898D-DADE8C8A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0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POS = "robust", "balanced", "anchored", "confidence", "orderly", "sustained", "steady", "resilient",…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AD4FF9DC-26F1-4AE5-AB51-18C19313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D26CFF24-A450-4096-91E7-F59A269B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D6DEE46C-4D3D-45D2-A48B-ACEC5B85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the unit and representation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F4BBC2AF-5E01-4E14-BBED-B1DA21B4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10A46095-EB9B-4F5C-B13F-09A500B4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027DAC7D-95B7-4705-94BC-3E98CED5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multiple structures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053520C6-23FE-46C4-A26D-44F518E5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Ask which assumption is most fragile in your article replication—and what observable evidence would reveal the failure.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FF4B01A-0BDD-4A99-8E34-4B8745F9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9CF2448-FB1F-4CB1-8543-37251D49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0EFEE0F-38F8-44DA-95C4-4795A389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40/50</a:t>
            </a:r>
          </a:p>
        </p:txBody>
      </p:sp>
    </p:spTree>
    <p:extLst>
      <p:ext uri="{BB962C8B-B14F-4D97-AF65-F5344CB8AC3E}">
        <p14:creationId xmlns:p14="http://schemas.microsoft.com/office/powerpoint/2010/main" val="184816329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41027FEB-3706-4B45-BEFA-F8D58AE6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VOCABULARY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E181C1-E8A7-4303-A374-71EEFEAC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Does it behave?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CAB7C0C-1BEA-4E0B-861F-AAF1FAB7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E9283796-FB0C-4C5C-A394-64C0AAAE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rm-title-0">
            <a:extLst xmlns:a="http://schemas.openxmlformats.org/drawingml/2006/main">
              <a:ext uri="{FF2B5EF4-FFF2-40B4-BE49-F238E27FC236}">
                <a16:creationId xmlns:a16="http://schemas.microsoft.com/office/drawing/2014/main" id="{E884D5F3-D490-45B2-B544-D23C5430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Does it behave?</a:t>
            </a:r>
          </a:p>
        </p:txBody>
      </p:sp>
      <p:sp>
        <p:nvSpPr>
          <p:cNvPr id="6" name="rule-48-316">
            <a:extLst xmlns:a="http://schemas.openxmlformats.org/drawingml/2006/main">
              <a:ext uri="{FF2B5EF4-FFF2-40B4-BE49-F238E27FC236}">
                <a16:creationId xmlns:a16="http://schemas.microsoft.com/office/drawing/2014/main" id="{9A74B8E1-1D29-4EC0-BF1E-559245D7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body-0">
            <a:extLst xmlns:a="http://schemas.openxmlformats.org/drawingml/2006/main">
              <a:ext uri="{FF2B5EF4-FFF2-40B4-BE49-F238E27FC236}">
                <a16:creationId xmlns:a16="http://schemas.microsoft.com/office/drawing/2014/main" id="{182AEDD8-4D64-436D-9818-84C3FF6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plt.subplots(figsize=(6.8, 2.9)) ax.plot(byyear.index, byyear.tonumpy(), "o-",…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5B41C41-47DC-46ED-87E6-1FFF1E38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rm-title-1">
            <a:extLst xmlns:a="http://schemas.openxmlformats.org/drawingml/2006/main">
              <a:ext uri="{FF2B5EF4-FFF2-40B4-BE49-F238E27FC236}">
                <a16:creationId xmlns:a16="http://schemas.microsoft.com/office/drawing/2014/main" id="{7196D40A-8D65-4211-A216-5E503AF5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Centroid</a:t>
            </a:r>
          </a:p>
        </p:txBody>
      </p:sp>
      <p:sp>
        <p:nvSpPr>
          <p:cNvPr id="10" name="rule-446-316">
            <a:extLst xmlns:a="http://schemas.openxmlformats.org/drawingml/2006/main">
              <a:ext uri="{FF2B5EF4-FFF2-40B4-BE49-F238E27FC236}">
                <a16:creationId xmlns:a16="http://schemas.microsoft.com/office/drawing/2014/main" id="{BDF5278E-4776-4557-A7DC-D86EA3D6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body-1">
            <a:extLst xmlns:a="http://schemas.openxmlformats.org/drawingml/2006/main">
              <a:ext uri="{FF2B5EF4-FFF2-40B4-BE49-F238E27FC236}">
                <a16:creationId xmlns:a16="http://schemas.microsoft.com/office/drawing/2014/main" id="{716B2B98-1F90-45D1-ACFF-5C833F2A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the unit and representation</a:t>
            </a:r>
          </a:p>
        </p:txBody>
      </p:sp>
      <p:sp>
        <p:nvSpPr>
          <p:cNvPr id="12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163C6DE4-698D-4AF5-A1C1-685E04E8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rm-title-2">
            <a:extLst xmlns:a="http://schemas.openxmlformats.org/drawingml/2006/main">
              <a:ext uri="{FF2B5EF4-FFF2-40B4-BE49-F238E27FC236}">
                <a16:creationId xmlns:a16="http://schemas.microsoft.com/office/drawing/2014/main" id="{48B4AB46-C97E-4266-BD40-D2B2C1AE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Silhouette</a:t>
            </a:r>
          </a:p>
        </p:txBody>
      </p:sp>
      <p:sp>
        <p:nvSpPr>
          <p:cNvPr id="14" name="rule-844-316">
            <a:extLst xmlns:a="http://schemas.openxmlformats.org/drawingml/2006/main">
              <a:ext uri="{FF2B5EF4-FFF2-40B4-BE49-F238E27FC236}">
                <a16:creationId xmlns:a16="http://schemas.microsoft.com/office/drawing/2014/main" id="{6BD4C5EA-45DB-479D-9619-C848EBD3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rm-body-2">
            <a:extLst xmlns:a="http://schemas.openxmlformats.org/drawingml/2006/main">
              <a:ext uri="{FF2B5EF4-FFF2-40B4-BE49-F238E27FC236}">
                <a16:creationId xmlns:a16="http://schemas.microsoft.com/office/drawing/2014/main" id="{1F55D5D7-18E3-4656-BC7A-9AB09073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multiple structures</a:t>
            </a:r>
          </a:p>
        </p:txBody>
      </p:sp>
      <p:sp>
        <p:nvSpPr>
          <p:cNvPr id="16" name="definition-footer">
            <a:extLst xmlns:a="http://schemas.openxmlformats.org/drawingml/2006/main">
              <a:ext uri="{FF2B5EF4-FFF2-40B4-BE49-F238E27FC236}">
                <a16:creationId xmlns:a16="http://schemas.microsoft.com/office/drawing/2014/main" id="{51A66B2C-3F45-470E-8997-2758EC23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 definition becomes useful when it changes what you compute or what you are allowed to claim.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213C01D-6117-4297-BE4F-EA34B7D9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A7497A-6A5A-4B8B-B237-1A99163F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9BAC203-079C-4497-AB25-F6EADFD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41/50</a:t>
            </a:r>
          </a:p>
        </p:txBody>
      </p:sp>
    </p:spTree>
    <p:extLst>
      <p:ext uri="{BB962C8B-B14F-4D97-AF65-F5344CB8AC3E}">
        <p14:creationId xmlns:p14="http://schemas.microsoft.com/office/powerpoint/2010/main" val="33495870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0ECBB4B-1461-4704-A8F3-DE65C247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37B378-0354-49A9-83CE-AFDA6AD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Does it behave? · Python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606CDA8-FD08-4243-96D1-4A89546F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9" name="workflow-edge-0"/>
          <p:cNvCxnSpPr/>
          <p:nvPr/>
        </p:nvCxnSpPr>
        <p:spPr>
          <a:xfrm xmlns:a="http://schemas.openxmlformats.org/drawingml/2006/main">
            <a:off x="401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30" name="workflow-edge-1"/>
          <p:cNvCxnSpPr/>
          <p:nvPr/>
        </p:nvCxnSpPr>
        <p:spPr>
          <a:xfrm xmlns:a="http://schemas.openxmlformats.org/drawingml/2006/main">
            <a:off x="7829550" y="3238500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6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6C8200E7-0E40-4B2D-A01C-0F3622CE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980F962F-4019-442D-9E9E-29BF953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fig, ax = plt.subplots(figsize=(6.8, 2.9)) ax.plot(byyear.index, byyear.tonumpy(), "o-",…</a:t>
            </a:r>
          </a:p>
        </p:txBody>
      </p:sp>
      <p:sp>
        <p:nvSpPr>
          <p:cNvPr id="8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FD31195-B114-4F62-B980-AF3A7BA1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C10F7CB8-AE64-4B9E-8AD6-DAEB7698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the unit and representation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D6743C7-21D0-4A30-A4A9-7985631A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4671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72770E3-A1DB-43FB-BDCC-94D552E5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2766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Fit multiple structures</a:t>
            </a:r>
          </a:p>
        </p:txBody>
      </p:sp>
      <p:sp>
        <p:nvSpPr>
          <p:cNvPr id="12" name="workflow-warning">
            <a:extLst xmlns:a="http://schemas.openxmlformats.org/drawingml/2006/main">
              <a:ext uri="{FF2B5EF4-FFF2-40B4-BE49-F238E27FC236}">
                <a16:creationId xmlns:a16="http://schemas.microsoft.com/office/drawing/2014/main" id="{D9611FBF-75EC-4DB3-AC4F-5611CB4E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Validate against null data and human judgement</a:t>
            </a:r>
          </a:p>
        </p:txBody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33D65CF-DE20-4983-98F0-B5D11D97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B341B5-4667-423A-B459-C17AACE1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B9C2C9-6938-473F-99CA-7D964748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42/50</a:t>
            </a:r>
          </a:p>
        </p:txBody>
      </p:sp>
    </p:spTree>
    <p:extLst>
      <p:ext uri="{BB962C8B-B14F-4D97-AF65-F5344CB8AC3E}">
        <p14:creationId xmlns:p14="http://schemas.microsoft.com/office/powerpoint/2010/main" val="178715072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14CD8352-9733-46BB-8A1F-0552950E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VISUAL EXPLANATION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D2DF45-2099-4909-B191-07D1529A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three boxes still open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4F28087-4749-41AD-8FE6-1F947707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6858000" cy="4343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8e20eb325940c5"/>
          </a:graphicData>
        </a:graphic>
      </p:graphicFrame>
      <p:sp>
        <p:nvSpPr>
          <p:cNvPr id="5" name="evidence-rail-title">
            <a:extLst xmlns:a="http://schemas.openxmlformats.org/drawingml/2006/main">
              <a:ext uri="{FF2B5EF4-FFF2-40B4-BE49-F238E27FC236}">
                <a16:creationId xmlns:a16="http://schemas.microsoft.com/office/drawing/2014/main" id="{773E808D-4C35-4A9F-9946-19063201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READ THE FIGURE</a:t>
            </a:r>
          </a:p>
        </p:txBody>
      </p:sp>
      <p:sp>
        <p:nvSpPr>
          <p:cNvPr id="6" name="evidence-q-0">
            <a:extLst xmlns:a="http://schemas.openxmlformats.org/drawingml/2006/main">
              <a:ext uri="{FF2B5EF4-FFF2-40B4-BE49-F238E27FC236}">
                <a16:creationId xmlns:a16="http://schemas.microsoft.com/office/drawing/2014/main" id="{01143C8D-70A2-4AF3-8F8B-951BAE4F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7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Face validity: nobody has read a single document. Do that before the next slide is written</a:t>
            </a:r>
          </a:p>
        </p:txBody>
      </p:sp>
      <p:sp>
        <p:nvSpPr>
          <p:cNvPr id="7" name="rule-824-312">
            <a:extLst xmlns:a="http://schemas.openxmlformats.org/drawingml/2006/main">
              <a:ext uri="{FF2B5EF4-FFF2-40B4-BE49-F238E27FC236}">
                <a16:creationId xmlns:a16="http://schemas.microsoft.com/office/drawing/2014/main" id="{6FD933F2-0A9E-46B3-A505-6957FA2B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q-1">
            <a:extLst xmlns:a="http://schemas.openxmlformats.org/drawingml/2006/main">
              <a:ext uri="{FF2B5EF4-FFF2-40B4-BE49-F238E27FC236}">
                <a16:creationId xmlns:a16="http://schemas.microsoft.com/office/drawing/2014/main" id="{9C86ED97-8874-48CB-905B-EEDC6D60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Convergent validity: only 15 country-years merge onto the macro panel. A correlation on</a:t>
            </a:r>
          </a:p>
        </p:txBody>
      </p:sp>
      <p:sp>
        <p:nvSpPr>
          <p:cNvPr id="9" name="rule-824-414">
            <a:extLst xmlns:a="http://schemas.openxmlformats.org/drawingml/2006/main">
              <a:ext uri="{FF2B5EF4-FFF2-40B4-BE49-F238E27FC236}">
                <a16:creationId xmlns:a16="http://schemas.microsoft.com/office/drawing/2014/main" id="{8C4130BD-8269-4334-94B2-365293BD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q-2">
            <a:extLst xmlns:a="http://schemas.openxmlformats.org/drawingml/2006/main">
              <a:ext uri="{FF2B5EF4-FFF2-40B4-BE49-F238E27FC236}">
                <a16:creationId xmlns:a16="http://schemas.microsoft.com/office/drawing/2014/main" id="{5FC00FB0-0BE3-4DA8-9BA9-F56BF560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Robustness: swap stable out of the positive list and rerun. If the story moves, the story</a:t>
            </a:r>
          </a:p>
        </p:txBody>
      </p:sp>
      <p:sp>
        <p:nvSpPr>
          <p:cNvPr id="11" name="rule-824-516">
            <a:extLst xmlns:a="http://schemas.openxmlformats.org/drawingml/2006/main">
              <a:ext uri="{FF2B5EF4-FFF2-40B4-BE49-F238E27FC236}">
                <a16:creationId xmlns:a16="http://schemas.microsoft.com/office/drawing/2014/main" id="{3C6A257F-ACB8-498A-9F09-4C4757BA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8ED7BAF-9CF3-4153-93D1-DB5C3BD6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262810-73C4-4BD3-A6B3-51810A19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3629E0C-1F97-469C-BED7-F15EA9D5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43/50</a:t>
            </a:r>
          </a:p>
        </p:txBody>
      </p:sp>
      <p:sp>
        <p:nvSpPr>
          <p:cNvPr id="17" name="media-matte-kmeans_clusters.png">
            <a:extLst xmlns:a="http://schemas.openxmlformats.org/drawingml/2006/main">
              <a:ext uri="{FF2B5EF4-FFF2-40B4-BE49-F238E27FC236}">
                <a16:creationId xmlns:a16="http://schemas.microsoft.com/office/drawing/2014/main" id="{901593FA-8D0E-4012-8160-C384A8B1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dbb6a18fd4e00"/>
          <a:stretch xmlns:a="http://schemas.openxmlformats.org/drawingml/2006/main"/>
        </p:blipFill>
        <p:spPr>
          <a:xfrm xmlns:a="http://schemas.openxmlformats.org/drawingml/2006/main">
            <a:off x="845820" y="1600200"/>
            <a:ext cx="6080760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</p:spTree>
    <p:extLst>
      <p:ext uri="{BB962C8B-B14F-4D97-AF65-F5344CB8AC3E}">
        <p14:creationId xmlns:p14="http://schemas.microsoft.com/office/powerpoint/2010/main" val="180269187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7DFCF22C-FE03-4E25-A6DC-4EB746EC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PYTHON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824FB2-8FD2-47CD-B28A-DD63893F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Takeaways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3367839-151F-4A1E-B1BD-C16F86C0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location-title">
            <a:extLst xmlns:a="http://schemas.openxmlformats.org/drawingml/2006/main">
              <a:ext uri="{FF2B5EF4-FFF2-40B4-BE49-F238E27FC236}">
                <a16:creationId xmlns:a16="http://schemas.microsoft.com/office/drawing/2014/main" id="{47B6EBE3-F389-46A8-A5C4-03F71C88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START FROM THE DESKTOP CLONE</a:t>
            </a:r>
          </a:p>
        </p:txBody>
      </p:sp>
      <p:sp>
        <p:nvSpPr>
          <p:cNvPr id="5" name="code-location">
            <a:extLst xmlns:a="http://schemas.openxmlformats.org/drawingml/2006/main">
              <a:ext uri="{FF2B5EF4-FFF2-40B4-BE49-F238E27FC236}">
                <a16:creationId xmlns:a16="http://schemas.microsoft.com/office/drawing/2014/main" id="{133E9AFC-6C5F-432E-994E-81F80E91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~/Desktop/quantitative-methods</a:t>
            </a:r>
          </a:p>
        </p:txBody>
      </p:sp>
      <p:sp>
        <p:nvSpPr>
          <p:cNvPr id="6" name="code-command-title">
            <a:extLst xmlns:a="http://schemas.openxmlformats.org/drawingml/2006/main">
              <a:ext uri="{FF2B5EF4-FFF2-40B4-BE49-F238E27FC236}">
                <a16:creationId xmlns:a16="http://schemas.microsoft.com/office/drawing/2014/main" id="{F7FFFD6B-D31D-4CD3-BCA2-66217F7C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RUN THE COMPLETE SESSION DEMO</a:t>
            </a:r>
          </a:p>
        </p:txBody>
      </p:sp>
      <p:sp>
        <p:nvSpPr>
          <p:cNvPr id="7" name="code-command">
            <a:extLst xmlns:a="http://schemas.openxmlformats.org/drawingml/2006/main">
              <a:ext uri="{FF2B5EF4-FFF2-40B4-BE49-F238E27FC236}">
                <a16:creationId xmlns:a16="http://schemas.microsoft.com/office/drawing/2014/main" id="{5F958675-1AAF-481D-943A-90E56F77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09-clustering-and-text-as-data/demo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session09_clustering_text_demo.py</a:t>
            </a:r>
          </a:p>
        </p:txBody>
      </p:sp>
      <p:sp>
        <p:nvSpPr>
          <p:cNvPr id="8" name="code-windows">
            <a:extLst xmlns:a="http://schemas.openxmlformats.org/drawingml/2006/main">
              <a:ext uri="{FF2B5EF4-FFF2-40B4-BE49-F238E27FC236}">
                <a16:creationId xmlns:a16="http://schemas.microsoft.com/office/drawing/2014/main" id="{D3144311-B320-44BE-87AB-4F3208EB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36273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36273"/>
                </a:solidFill>
                <a:latin typeface="Menlo"/>
                <a:ea typeface="Menlo"/>
                <a:cs typeface="Menlo"/>
              </a:rPr>
              <a:t>Windows activation: .venv\Scripts\activate</a:t>
            </a:r>
          </a:p>
        </p:txBody>
      </p:sp>
      <p:sp>
        <p:nvSpPr>
          <p:cNvPr id="9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859EF601-80DF-448E-A86E-E7F2F39A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5791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sklearn.cluster import KMeans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sklearn.metrics import silhouette_score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X = np.array([[0,0],[.1,.2],[3,3],[3.2,2.9],[6,0],[6.1,.2]])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z = KMeans(3, n_init=20, random_state=60033).fit_predict(X)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print(z, silhouette_score(X,z))</a:t>
            </a:r>
          </a:p>
        </p:txBody>
      </p:sp>
      <p:sp>
        <p:nvSpPr>
          <p:cNvPr id="10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0D384FFB-9878-4369-9607-9C838738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57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Copy/paste the terminal block exactly. The full demo imports everything it needs, sets its seed, and saves the figure locally.</a:t>
            </a:r>
          </a:p>
        </p:txBody>
      </p:sp>
      <p:sp>
        <p:nvSpPr>
          <p:cNvPr id="11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C5659AE-7A4C-4F2C-A9C7-D52BD759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C75CBA0-FD7E-4D0C-A59E-DAE849A3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78EABEB-F389-4798-BABF-843A8A4C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44/50</a:t>
            </a:r>
          </a:p>
        </p:txBody>
      </p:sp>
    </p:spTree>
    <p:extLst>
      <p:ext uri="{BB962C8B-B14F-4D97-AF65-F5344CB8AC3E}">
        <p14:creationId xmlns:p14="http://schemas.microsoft.com/office/powerpoint/2010/main" val="180567422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ailure-kicker">
            <a:extLst xmlns:a="http://schemas.openxmlformats.org/drawingml/2006/main">
              <a:ext uri="{FF2B5EF4-FFF2-40B4-BE49-F238E27FC236}">
                <a16:creationId xmlns:a16="http://schemas.microsoft.com/office/drawing/2014/main" id="{391BFEFF-159A-416F-8FF8-1AAE45BE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LECTURE · FAILURE MODE</a:t>
            </a:r>
          </a:p>
        </p:txBody>
      </p:sp>
      <p:sp>
        <p:nvSpPr>
          <p:cNvPr id="2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0010E155-E564-4DA1-862D-2D7FD38E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loses marks</a:t>
            </a:r>
          </a:p>
        </p:txBody>
      </p:sp>
      <p:sp>
        <p:nvSpPr>
          <p:cNvPr id="3" name="rule-48-350">
            <a:extLst xmlns:a="http://schemas.openxmlformats.org/drawingml/2006/main">
              <a:ext uri="{FF2B5EF4-FFF2-40B4-BE49-F238E27FC236}">
                <a16:creationId xmlns:a16="http://schemas.microsoft.com/office/drawing/2014/main" id="{E9CA924A-5363-4B30-AE3F-05DC6988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ailure-left-title">
            <a:extLst xmlns:a="http://schemas.openxmlformats.org/drawingml/2006/main">
              <a:ext uri="{FF2B5EF4-FFF2-40B4-BE49-F238E27FC236}">
                <a16:creationId xmlns:a16="http://schemas.microsoft.com/office/drawing/2014/main" id="{294C0D7B-3889-4D6A-AD05-5C78FC99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5" name="failure-left">
            <a:extLst xmlns:a="http://schemas.openxmlformats.org/drawingml/2006/main">
              <a:ext uri="{FF2B5EF4-FFF2-40B4-BE49-F238E27FC236}">
                <a16:creationId xmlns:a16="http://schemas.microsoft.com/office/drawing/2014/main" id="{8380FBED-E9A8-4DDA-8683-907593EF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K-means always returns k clusters—even when the data are generated from uniform noise.</a:t>
            </a:r>
          </a:p>
        </p:txBody>
      </p:sp>
      <p:sp>
        <p:nvSpPr>
          <p:cNvPr id="6" name="failure-right-title">
            <a:extLst xmlns:a="http://schemas.openxmlformats.org/drawingml/2006/main">
              <a:ext uri="{FF2B5EF4-FFF2-40B4-BE49-F238E27FC236}">
                <a16:creationId xmlns:a16="http://schemas.microsoft.com/office/drawing/2014/main" id="{54280BE5-156A-4ED9-BFCB-671558A8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90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7" name="failure-right">
            <a:extLst xmlns:a="http://schemas.openxmlformats.org/drawingml/2006/main">
              <a:ext uri="{FF2B5EF4-FFF2-40B4-BE49-F238E27FC236}">
                <a16:creationId xmlns:a16="http://schemas.microsoft.com/office/drawing/2014/main" id="{A20D1017-CAAE-49C8-BC65-15402128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 is not chosen from one attractive chart</a:t>
            </a:r>
          </a:p>
        </p:txBody>
      </p:sp>
      <p:sp>
        <p:nvSpPr>
          <p:cNvPr id="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339C5B8-F27C-4FA5-B485-A5851139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33AA124-9503-440D-BB68-E30FBF8A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2DD6927-0B68-4A9C-ABBD-75E49F32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Lecture · 45/50</a:t>
            </a:r>
          </a:p>
        </p:txBody>
      </p:sp>
    </p:spTree>
    <p:extLst>
      <p:ext uri="{BB962C8B-B14F-4D97-AF65-F5344CB8AC3E}">
        <p14:creationId xmlns:p14="http://schemas.microsoft.com/office/powerpoint/2010/main" val="127191030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0B40C4D2-B756-412B-81D5-41F66418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3D03B7-19F7-4CE4-BAEE-44649DA0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Now, the practice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D5963F0-DF9B-4DD9-ACE3-2D73902C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D6B6DD74-BED9-4CC1-A123-5B485876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C2FFD56A-FD50-4CFD-A9AC-3007D339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8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Ninety minutes, in your groups. You will cluster a corpus, defend your k against at least two criteria, build a text-derived index — and then spend the last half hour trying to break it. Notes: 01-lecture/README.md · practice brief: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D6EB8ABD-7E64-4902-ADAC-CC676500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40E65CA8-F4E0-4D18-817C-11553A00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9C41E2FB-2349-4201-A8DB-85576774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K-means always returns k clusters—even when the data are generated from uniform noise.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6B769A90-1C3C-4B1A-A761-8C3BA3DA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Estimate + comparison + uncertainty + assumption +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BA49412-6633-47DB-9C77-AB4F3E07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82A836-B0B2-4E62-BAAA-6198EF9C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28E5F08-2D5B-4AAD-A387-66A5A4C5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46/50</a:t>
            </a:r>
          </a:p>
        </p:txBody>
      </p:sp>
    </p:spTree>
    <p:extLst>
      <p:ext uri="{BB962C8B-B14F-4D97-AF65-F5344CB8AC3E}">
        <p14:creationId xmlns:p14="http://schemas.microsoft.com/office/powerpoint/2010/main" val="121883287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693F30FC-CA8E-43D0-86DA-53E49094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REQUIRED READING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127E4A-D011-464F-B3E3-6D372804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article becomes the practice challenge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E6FF387-8820-4534-BF51-506F699D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ading-status-0">
            <a:extLst xmlns:a="http://schemas.openxmlformats.org/drawingml/2006/main">
              <a:ext uri="{FF2B5EF4-FFF2-40B4-BE49-F238E27FC236}">
                <a16:creationId xmlns:a16="http://schemas.microsoft.com/office/drawing/2014/main" id="{3722DF3B-2EFC-469C-BBEE-4D8B27A9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READ BEFORE CLASS</a:t>
            </a:r>
          </a:p>
        </p:txBody>
      </p:sp>
      <p:sp>
        <p:nvSpPr>
          <p:cNvPr id="5" name="reading-title-0">
            <a:extLst xmlns:a="http://schemas.openxmlformats.org/drawingml/2006/main">
              <a:ext uri="{FF2B5EF4-FFF2-40B4-BE49-F238E27FC236}">
                <a16:creationId xmlns:a16="http://schemas.microsoft.com/office/drawing/2014/main" id="{B6DA2C8C-D5D6-49EB-8282-B04988DC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Bennani &amp; Romelli (2024) — Tone during Federal Reserve Meetings</a:t>
            </a:r>
          </a:p>
        </p:txBody>
      </p:sp>
      <p:sp>
        <p:nvSpPr>
          <p:cNvPr id="6" name="reading-why-0">
            <a:extLst xmlns:a="http://schemas.openxmlformats.org/drawingml/2006/main">
              <a:ext uri="{FF2B5EF4-FFF2-40B4-BE49-F238E27FC236}">
                <a16:creationId xmlns:a16="http://schemas.microsoft.com/office/drawing/2014/main" id="{6D542110-4A8C-4D45-9309-82747BC7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article: text-based measurement in monetary-policy deliberation</a:t>
            </a:r>
          </a:p>
        </p:txBody>
      </p:sp>
      <p:sp>
        <p:nvSpPr>
          <p:cNvPr id="7" name="reading-url-0">
            <a:extLst xmlns:a="http://schemas.openxmlformats.org/drawingml/2006/main">
              <a:ext uri="{FF2B5EF4-FFF2-40B4-BE49-F238E27FC236}">
                <a16:creationId xmlns:a16="http://schemas.microsoft.com/office/drawing/2014/main" id="{B722FFE6-50F7-4435-8CCC-9B860FDF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https://doi.org/10.1016/j.jimonfin.2024.103161</a:t>
            </a:r>
          </a:p>
        </p:txBody>
      </p:sp>
      <p:sp>
        <p:nvSpPr>
          <p:cNvPr id="8" name="rule-48-348">
            <a:extLst xmlns:a="http://schemas.openxmlformats.org/drawingml/2006/main">
              <a:ext uri="{FF2B5EF4-FFF2-40B4-BE49-F238E27FC236}">
                <a16:creationId xmlns:a16="http://schemas.microsoft.com/office/drawing/2014/main" id="{0B47E8BB-532A-426A-80FB-70E07FE3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ading-status-1">
            <a:extLst xmlns:a="http://schemas.openxmlformats.org/drawingml/2006/main">
              <a:ext uri="{FF2B5EF4-FFF2-40B4-BE49-F238E27FC236}">
                <a16:creationId xmlns:a16="http://schemas.microsoft.com/office/drawing/2014/main" id="{242BD05B-DAA8-4D2E-BF99-84B3FAE3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10" name="reading-title-1">
            <a:extLst xmlns:a="http://schemas.openxmlformats.org/drawingml/2006/main">
              <a:ext uri="{FF2B5EF4-FFF2-40B4-BE49-F238E27FC236}">
                <a16:creationId xmlns:a16="http://schemas.microsoft.com/office/drawing/2014/main" id="{B13CC019-D561-4182-A158-7BEADE00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Harvard Dataverse 10.7910/DVN/TZEN38</a:t>
            </a:r>
          </a:p>
        </p:txBody>
      </p:sp>
      <p:sp>
        <p:nvSpPr>
          <p:cNvPr id="11" name="reading-why-1">
            <a:extLst xmlns:a="http://schemas.openxmlformats.org/drawingml/2006/main">
              <a:ext uri="{FF2B5EF4-FFF2-40B4-BE49-F238E27FC236}">
                <a16:creationId xmlns:a16="http://schemas.microsoft.com/office/drawing/2014/main" id="{DAA58B13-3CCB-4FB6-A4E6-C2F4A837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Required replication package: public tone data, codebooks, and analysis files</a:t>
            </a:r>
          </a:p>
        </p:txBody>
      </p:sp>
      <p:sp>
        <p:nvSpPr>
          <p:cNvPr id="12" name="reading-url-1">
            <a:extLst xmlns:a="http://schemas.openxmlformats.org/drawingml/2006/main">
              <a:ext uri="{FF2B5EF4-FFF2-40B4-BE49-F238E27FC236}">
                <a16:creationId xmlns:a16="http://schemas.microsoft.com/office/drawing/2014/main" id="{8411387A-6E12-431E-BC1C-0EB72DE4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https://doi.org/10.7910/DVN/TZEN38</a:t>
            </a:r>
          </a:p>
        </p:txBody>
      </p:sp>
      <p:sp>
        <p:nvSpPr>
          <p:cNvPr id="13" name="rule-48-526">
            <a:extLst xmlns:a="http://schemas.openxmlformats.org/drawingml/2006/main">
              <a:ext uri="{FF2B5EF4-FFF2-40B4-BE49-F238E27FC236}">
                <a16:creationId xmlns:a16="http://schemas.microsoft.com/office/drawing/2014/main" id="{CDFAC209-9947-476D-9720-76380FA4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ading-status-2">
            <a:extLst xmlns:a="http://schemas.openxmlformats.org/drawingml/2006/main">
              <a:ext uri="{FF2B5EF4-FFF2-40B4-BE49-F238E27FC236}">
                <a16:creationId xmlns:a16="http://schemas.microsoft.com/office/drawing/2014/main" id="{CE5CCD01-54B4-4162-8605-CF4A29E9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5" name="reading-title-2">
            <a:extLst xmlns:a="http://schemas.openxmlformats.org/drawingml/2006/main">
              <a:ext uri="{FF2B5EF4-FFF2-40B4-BE49-F238E27FC236}">
                <a16:creationId xmlns:a16="http://schemas.microsoft.com/office/drawing/2014/main" id="{BF8B0F3E-9798-45DB-9996-6D25FBAF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ISLR, unsupervised learning chapter</a:t>
            </a:r>
          </a:p>
        </p:txBody>
      </p:sp>
      <p:sp>
        <p:nvSpPr>
          <p:cNvPr id="16" name="reading-why-2">
            <a:extLst xmlns:a="http://schemas.openxmlformats.org/drawingml/2006/main">
              <a:ext uri="{FF2B5EF4-FFF2-40B4-BE49-F238E27FC236}">
                <a16:creationId xmlns:a16="http://schemas.microsoft.com/office/drawing/2014/main" id="{162BEA3A-5368-4F94-A7BD-FC57F37E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review of clustering and unsupervised validation</a:t>
            </a:r>
          </a:p>
        </p:txBody>
      </p:sp>
      <p:sp>
        <p:nvSpPr>
          <p:cNvPr id="17" name="reading-url-2">
            <a:extLst xmlns:a="http://schemas.openxmlformats.org/drawingml/2006/main">
              <a:ext uri="{FF2B5EF4-FFF2-40B4-BE49-F238E27FC236}">
                <a16:creationId xmlns:a16="http://schemas.microsoft.com/office/drawing/2014/main" id="{E7643785-F585-4987-9C5A-625DA843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9A2E3C3-9EAC-4953-BC1A-F6A3C2CD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C135A1A-753C-43F4-8DDD-F1E703FD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C12B471-5580-4CCA-88EC-5B8C2F14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47/50</a:t>
            </a:r>
          </a:p>
        </p:txBody>
      </p:sp>
    </p:spTree>
    <p:extLst>
      <p:ext uri="{BB962C8B-B14F-4D97-AF65-F5344CB8AC3E}">
        <p14:creationId xmlns:p14="http://schemas.microsoft.com/office/powerpoint/2010/main" val="145524221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0B40C4D2-B756-412B-81D5-41F66418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3D03B7-19F7-4CE4-BAEE-44649DA0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output into a defensible sentence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D5963F0-DF9B-4DD9-ACE3-2D73902C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y-label">
            <a:extLst xmlns:a="http://schemas.openxmlformats.org/drawingml/2006/main">
              <a:ext uri="{FF2B5EF4-FFF2-40B4-BE49-F238E27FC236}">
                <a16:creationId xmlns:a16="http://schemas.microsoft.com/office/drawing/2014/main" id="{D6B6DD74-BED9-4CC1-A123-5B485876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SAY</a:t>
            </a:r>
          </a:p>
        </p:txBody>
      </p:sp>
      <p:sp>
        <p:nvSpPr>
          <p:cNvPr id="5" name="say-copy">
            <a:extLst xmlns:a="http://schemas.openxmlformats.org/drawingml/2006/main">
              <a:ext uri="{FF2B5EF4-FFF2-40B4-BE49-F238E27FC236}">
                <a16:creationId xmlns:a16="http://schemas.microsoft.com/office/drawing/2014/main" id="{C2FFD56A-FD50-4CFD-A9AC-3007D339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Report sensitivity to k, seed, representation, and validation criterion before naming any cluster.</a:t>
            </a:r>
          </a:p>
        </p:txBody>
      </p:sp>
      <p:sp>
        <p:nvSpPr>
          <p:cNvPr id="6" name="interpretation-divider">
            <a:extLst xmlns:a="http://schemas.openxmlformats.org/drawingml/2006/main">
              <a:ext uri="{FF2B5EF4-FFF2-40B4-BE49-F238E27FC236}">
                <a16:creationId xmlns:a16="http://schemas.microsoft.com/office/drawing/2014/main" id="{D6EB8ABD-7E64-4902-ADAC-CC676500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void-label">
            <a:extLst xmlns:a="http://schemas.openxmlformats.org/drawingml/2006/main">
              <a:ext uri="{FF2B5EF4-FFF2-40B4-BE49-F238E27FC236}">
                <a16:creationId xmlns:a16="http://schemas.microsoft.com/office/drawing/2014/main" id="{40E65CA8-F4E0-4D18-817C-11553A00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AVOID</a:t>
            </a:r>
          </a:p>
        </p:txBody>
      </p:sp>
      <p:sp>
        <p:nvSpPr>
          <p:cNvPr id="8" name="avoid-copy">
            <a:extLst xmlns:a="http://schemas.openxmlformats.org/drawingml/2006/main">
              <a:ext uri="{FF2B5EF4-FFF2-40B4-BE49-F238E27FC236}">
                <a16:creationId xmlns:a16="http://schemas.microsoft.com/office/drawing/2014/main" id="{9C41E2FB-2349-4201-A8DB-85576774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K-means always returns k clusters—even when the data are generated from uniform noise.</a:t>
            </a:r>
          </a:p>
        </p:txBody>
      </p:sp>
      <p:sp>
        <p:nvSpPr>
          <p:cNvPr id="9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6B769A90-1C3C-4B1A-A761-8C3BA3DA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Name the unit, estimate, benchmark, uncertainty, assumption, and limitation.</a:t>
            </a:r>
          </a:p>
        </p:txBody>
      </p:sp>
      <p:sp>
        <p:nvSpPr>
          <p:cNvPr id="1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BA49412-6633-47DB-9C77-AB4F3E07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82A836-B0B2-4E62-BAAA-6198EF9C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28E5F08-2D5B-4AAD-A387-66A5A4C5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48/50</a:t>
            </a:r>
          </a:p>
        </p:txBody>
      </p:sp>
    </p:spTree>
    <p:extLst>
      <p:ext uri="{BB962C8B-B14F-4D97-AF65-F5344CB8AC3E}">
        <p14:creationId xmlns:p14="http://schemas.microsoft.com/office/powerpoint/2010/main" val="121883287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63063127-0A25-446E-A996-9C542DAF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LIMITATIONS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8B2719-8204-4889-BEF5-A4E790D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this method does not give you for free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906B2FE1-84A9-464C-8315-AF1B9077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sumption-lead">
            <a:extLst xmlns:a="http://schemas.openxmlformats.org/drawingml/2006/main">
              <a:ext uri="{FF2B5EF4-FFF2-40B4-BE49-F238E27FC236}">
                <a16:creationId xmlns:a16="http://schemas.microsoft.com/office/drawing/2014/main" id="{189A1ADA-AA71-41FC-A715-0BD5ACE3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K-means always returns k clusters—even when the data are generated from uniform noise.</a:t>
            </a:r>
          </a:p>
        </p:txBody>
      </p:sp>
      <p:sp>
        <p:nvSpPr>
          <p:cNvPr id="5" name="assumption-dot-0">
            <a:extLst xmlns:a="http://schemas.openxmlformats.org/drawingml/2006/main">
              <a:ext uri="{FF2B5EF4-FFF2-40B4-BE49-F238E27FC236}">
                <a16:creationId xmlns:a16="http://schemas.microsoft.com/office/drawing/2014/main" id="{21404D43-EC70-482D-9759-78B59ECE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ssumption-0">
            <a:extLst xmlns:a="http://schemas.openxmlformats.org/drawingml/2006/main">
              <a:ext uri="{FF2B5EF4-FFF2-40B4-BE49-F238E27FC236}">
                <a16:creationId xmlns:a16="http://schemas.microsoft.com/office/drawing/2014/main" id="{80EACB67-A573-455F-A251-87FFAFFF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Distance matches the construct</a:t>
            </a:r>
          </a:p>
        </p:txBody>
      </p:sp>
      <p:sp>
        <p:nvSpPr>
          <p:cNvPr id="7" name="rule-710-254">
            <a:extLst xmlns:a="http://schemas.openxmlformats.org/drawingml/2006/main">
              <a:ext uri="{FF2B5EF4-FFF2-40B4-BE49-F238E27FC236}">
                <a16:creationId xmlns:a16="http://schemas.microsoft.com/office/drawing/2014/main" id="{EAC2B900-B9C4-458F-9338-3725050D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sumption-dot-1">
            <a:extLst xmlns:a="http://schemas.openxmlformats.org/drawingml/2006/main">
              <a:ext uri="{FF2B5EF4-FFF2-40B4-BE49-F238E27FC236}">
                <a16:creationId xmlns:a16="http://schemas.microsoft.com/office/drawing/2014/main" id="{0227F145-910E-4689-B32B-DD997F33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31E368CD-327E-4210-898D-DADE8C8A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Scaling and text preprocessing are documented</a:t>
            </a:r>
          </a:p>
        </p:txBody>
      </p:sp>
      <p:sp>
        <p:nvSpPr>
          <p:cNvPr id="10" name="rule-710-350">
            <a:extLst xmlns:a="http://schemas.openxmlformats.org/drawingml/2006/main">
              <a:ext uri="{FF2B5EF4-FFF2-40B4-BE49-F238E27FC236}">
                <a16:creationId xmlns:a16="http://schemas.microsoft.com/office/drawing/2014/main" id="{AD4FF9DC-26F1-4AE5-AB51-18C19313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sumption-dot-2">
            <a:extLst xmlns:a="http://schemas.openxmlformats.org/drawingml/2006/main">
              <a:ext uri="{FF2B5EF4-FFF2-40B4-BE49-F238E27FC236}">
                <a16:creationId xmlns:a16="http://schemas.microsoft.com/office/drawing/2014/main" id="{D26CFF24-A450-4096-91E7-F59A269B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D6DEE46C-4D3D-45D2-A48B-ACEC5B85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 is not chosen from one attractive chart</a:t>
            </a:r>
          </a:p>
        </p:txBody>
      </p:sp>
      <p:sp>
        <p:nvSpPr>
          <p:cNvPr id="13" name="rule-710-446">
            <a:extLst xmlns:a="http://schemas.openxmlformats.org/drawingml/2006/main">
              <a:ext uri="{FF2B5EF4-FFF2-40B4-BE49-F238E27FC236}">
                <a16:creationId xmlns:a16="http://schemas.microsoft.com/office/drawing/2014/main" id="{F4BBC2AF-5E01-4E14-BBED-B1DA21B4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mption-dot-3">
            <a:extLst xmlns:a="http://schemas.openxmlformats.org/drawingml/2006/main">
              <a:ext uri="{FF2B5EF4-FFF2-40B4-BE49-F238E27FC236}">
                <a16:creationId xmlns:a16="http://schemas.microsoft.com/office/drawing/2014/main" id="{10A46095-EB9B-4F5C-B13F-09A500B4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027DAC7D-95B7-4705-94BC-3E98CED5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Clusters are treated as hypotheses, not natural kinds</a:t>
            </a:r>
          </a:p>
        </p:txBody>
      </p:sp>
      <p:sp>
        <p:nvSpPr>
          <p:cNvPr id="16" name="assumption-callout">
            <a:extLst xmlns:a="http://schemas.openxmlformats.org/drawingml/2006/main">
              <a:ext uri="{FF2B5EF4-FFF2-40B4-BE49-F238E27FC236}">
                <a16:creationId xmlns:a16="http://schemas.microsoft.com/office/drawing/2014/main" id="{053520C6-23FE-46C4-A26D-44F518E5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limitation is not a disclaimer at the end. It determines the design, diagnostic, and wording of the result.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FF4B01A-0BDD-4A99-8E34-4B8745F9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9CF2448-FB1F-4CB1-8543-37251D49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0EFEE0F-38F8-44DA-95C4-4795A389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49/50</a:t>
            </a:r>
          </a:p>
        </p:txBody>
      </p:sp>
    </p:spTree>
    <p:extLst>
      <p:ext uri="{BB962C8B-B14F-4D97-AF65-F5344CB8AC3E}">
        <p14:creationId xmlns:p14="http://schemas.microsoft.com/office/powerpoint/2010/main" val="184816329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01C2F972-0CDA-48AB-A5AB-A097D38E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LECTURE · NEXT 90 MINUTES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49B01D-D608-4196-81B3-58701AEF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and challenge a central-bank tone index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6FD8C9D-2475-4C02-8800-0F65951D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31F77EE7-D4DF-4B6A-BC65-5B28E1E7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one article result, rebuild the text measure, and treat validity as the main result.</a:t>
            </a:r>
          </a:p>
        </p:txBody>
      </p:sp>
      <p:sp>
        <p:nvSpPr>
          <p:cNvPr id="5" name="practice-step-0">
            <a:extLst xmlns:a="http://schemas.openxmlformats.org/drawingml/2006/main">
              <a:ext uri="{FF2B5EF4-FFF2-40B4-BE49-F238E27FC236}">
                <a16:creationId xmlns:a16="http://schemas.microsoft.com/office/drawing/2014/main" id="{79950CC0-AC10-438A-A1CB-279479ED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practice-task-0">
            <a:extLst xmlns:a="http://schemas.openxmlformats.org/drawingml/2006/main">
              <a:ext uri="{FF2B5EF4-FFF2-40B4-BE49-F238E27FC236}">
                <a16:creationId xmlns:a16="http://schemas.microsoft.com/office/drawing/2014/main" id="{0094D2F5-6C07-4509-8EAC-C21AB093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State how the article constructs tone</a:t>
            </a:r>
          </a:p>
        </p:txBody>
      </p:sp>
      <p:sp>
        <p:nvSpPr>
          <p:cNvPr id="7" name="practice-step-1">
            <a:extLst xmlns:a="http://schemas.openxmlformats.org/drawingml/2006/main">
              <a:ext uri="{FF2B5EF4-FFF2-40B4-BE49-F238E27FC236}">
                <a16:creationId xmlns:a16="http://schemas.microsoft.com/office/drawing/2014/main" id="{0E52C4DE-7AAB-4DF6-A33C-C1C4B05C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practice-task-1">
            <a:extLst xmlns:a="http://schemas.openxmlformats.org/drawingml/2006/main">
              <a:ext uri="{FF2B5EF4-FFF2-40B4-BE49-F238E27FC236}">
                <a16:creationId xmlns:a16="http://schemas.microsoft.com/office/drawing/2014/main" id="{502FAF22-81F3-4E66-92F4-1941F17D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reported tone result</a:t>
            </a:r>
          </a:p>
        </p:txBody>
      </p:sp>
      <p:sp>
        <p:nvSpPr>
          <p:cNvPr id="9" name="practice-step-2">
            <a:extLst xmlns:a="http://schemas.openxmlformats.org/drawingml/2006/main">
              <a:ext uri="{FF2B5EF4-FFF2-40B4-BE49-F238E27FC236}">
                <a16:creationId xmlns:a16="http://schemas.microsoft.com/office/drawing/2014/main" id="{001EC83B-9BA6-4C76-B9C2-321EF4A2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practice-task-2">
            <a:extLst xmlns:a="http://schemas.openxmlformats.org/drawingml/2006/main">
              <a:ext uri="{FF2B5EF4-FFF2-40B4-BE49-F238E27FC236}">
                <a16:creationId xmlns:a16="http://schemas.microsoft.com/office/drawing/2014/main" id="{5B0C8DD5-5FC7-4D70-8568-58CF3EF2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TF-IDF and an alternative index</a:t>
            </a:r>
          </a:p>
        </p:txBody>
      </p:sp>
      <p:sp>
        <p:nvSpPr>
          <p:cNvPr id="11" name="practice-step-3">
            <a:extLst xmlns:a="http://schemas.openxmlformats.org/drawingml/2006/main">
              <a:ext uri="{FF2B5EF4-FFF2-40B4-BE49-F238E27FC236}">
                <a16:creationId xmlns:a16="http://schemas.microsoft.com/office/drawing/2014/main" id="{A761B43A-31CC-47E0-9656-AF5316BC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practice-task-3">
            <a:extLst xmlns:a="http://schemas.openxmlformats.org/drawingml/2006/main">
              <a:ext uri="{FF2B5EF4-FFF2-40B4-BE49-F238E27FC236}">
                <a16:creationId xmlns:a16="http://schemas.microsoft.com/office/drawing/2014/main" id="{F3BCC3C0-672B-4A10-84CB-6FFB6210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clustering and null-data choices</a:t>
            </a:r>
          </a:p>
        </p:txBody>
      </p:sp>
      <p:sp>
        <p:nvSpPr>
          <p:cNvPr id="13" name="practice-step-4">
            <a:extLst xmlns:a="http://schemas.openxmlformats.org/drawingml/2006/main">
              <a:ext uri="{FF2B5EF4-FFF2-40B4-BE49-F238E27FC236}">
                <a16:creationId xmlns:a16="http://schemas.microsoft.com/office/drawing/2014/main" id="{E2394B61-511B-4398-8895-996ED997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4" name="practice-task-4">
            <a:extLst xmlns:a="http://schemas.openxmlformats.org/drawingml/2006/main">
              <a:ext uri="{FF2B5EF4-FFF2-40B4-BE49-F238E27FC236}">
                <a16:creationId xmlns:a16="http://schemas.microsoft.com/office/drawing/2014/main" id="{C87C9709-987B-41A8-A748-58563244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Validate by reading extreme documents</a:t>
            </a:r>
          </a:p>
        </p:txBody>
      </p:sp>
      <p:sp>
        <p:nvSpPr>
          <p:cNvPr id="15" name="practice-callout-bg">
            <a:extLst xmlns:a="http://schemas.openxmlformats.org/drawingml/2006/main">
              <a:ext uri="{FF2B5EF4-FFF2-40B4-BE49-F238E27FC236}">
                <a16:creationId xmlns:a16="http://schemas.microsoft.com/office/drawing/2014/main" id="{AE94D375-86CF-472B-A3CD-867B0CA1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505200" cy="3714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practice-callout-label">
            <a:extLst xmlns:a="http://schemas.openxmlformats.org/drawingml/2006/main">
              <a:ext uri="{FF2B5EF4-FFF2-40B4-BE49-F238E27FC236}">
                <a16:creationId xmlns:a16="http://schemas.microsoft.com/office/drawing/2014/main" id="{5554E5E5-DF80-4946-B10C-C3416FC0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AIM FOR</a:t>
            </a:r>
          </a:p>
        </p:txBody>
      </p:sp>
      <p:sp>
        <p:nvSpPr>
          <p:cNvPr id="17" name="practice-callout">
            <a:extLst xmlns:a="http://schemas.openxmlformats.org/drawingml/2006/main">
              <a:ext uri="{FF2B5EF4-FFF2-40B4-BE49-F238E27FC236}">
                <a16:creationId xmlns:a16="http://schemas.microsoft.com/office/drawing/2014/main" id="{2458EE4F-0AE5-4926-B95F-E8C295DA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reproducible result.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comparison.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stressed assumption.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short group presentation.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CBF56B3-0876-4973-99C5-579BBF33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5C68DF-45BE-49A3-94FF-0E6A87A1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2EA1A81-B0F7-4F03-B9DA-05717451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Lecture · 50/50</a:t>
            </a:r>
          </a:p>
        </p:txBody>
      </p:sp>
    </p:spTree>
    <p:extLst>
      <p:ext uri="{BB962C8B-B14F-4D97-AF65-F5344CB8AC3E}">
        <p14:creationId xmlns:p14="http://schemas.microsoft.com/office/powerpoint/2010/main" val="394317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MATH60033A Session 09 Lecture</dc:title>
  <dcterms:created xsi:type="dcterms:W3CDTF">2026-08-23T23:39:03.3130000Z</dcterms:created>
  <dcterms:modified xsi:type="dcterms:W3CDTF">2026-08-23T23:39:03.3130000Z</dcterms:modified>
</coreProperties>
</file>