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Clustering, Embeddings, and Text as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09 · Measuring what institutions talk about, and what that measurement is worth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90 minutes ahead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0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b="1" /><a:t>0–10</a:t></a:r></a:p></a:txBody></a:tc><a:tc><a:txBody><a:bodyPr /><a:lstStyle /><a:p><a:pPr lvl="0" indent="0" marL="0"><a:buNone /></a:pPr><a:r><a:rPr /><a:t>Clustering: structure without a label</a:t></a:r></a:p></a:txBody></a:tc></a:tr><a:tr h="0"><a:tc><a:txBody><a:bodyPr /><a:lstStyle /><a:p><a:pPr lvl="0" indent="0" marL="0"><a:buNone /></a:pPr><a:r><a:rPr b="1" /><a:t>10–30</a:t></a:r></a:p></a:txBody></a:tc><a:tc><a:txBody><a:bodyPr /><a:lstStyle /><a:p><a:pPr lvl="0" indent="0" marL="0"><a:buNone /></a:pPr><a14:m><m:oMath xmlns:m="http://schemas.openxmlformats.org/officeDocument/2006/math"><m:r><m:t>k</m:t></m:r></m:oMath></a14:m><a:r><a:rPr /><a:t>-means, and choosing </a:t></a:r><a14:m><m:oMath xmlns:m="http://schemas.openxmlformats.org/officeDocument/2006/math"><m:r><m:t>k</m:t></m:r></m:oMath></a14:m></a:p></a:txBody></a:tc></a:tr><a:tr h="0"><a:tc><a:txBody><a:bodyPr /><a:lstStyle /><a:p><a:pPr lvl="0" indent="0" marL="0"><a:buNone /></a:pPr><a:r><a:rPr b="1" /><a:t>30–45</a:t></a:r></a:p></a:txBody></a:tc><a:tc><a:txBody><a:bodyPr /><a:lstStyle /><a:p><a:pPr lvl="0" indent="0" marL="0"><a:buNone /></a:pPr><a:r><a:rPr /><a:t>Turning text into numbers</a:t></a:r></a:p></a:txBody></a:tc></a:tr><a:tr h="0"><a:tc><a:txBody><a:bodyPr /><a:lstStyle /><a:p><a:pPr lvl="0" indent="0" marL="0"><a:buNone /></a:pPr><a:r><a:rPr b="1" /><a:t>45–60</a:t></a:r></a:p></a:txBody></a:tc><a:tc><a:txBody><a:bodyPr /><a:lstStyle /><a:p><a:pPr lvl="0" indent="0" marL="0"><a:buNone /></a:pPr><a:r><a:rPr /><a:t>Embeddings, computed locally</a:t></a:r></a:p></a:txBody></a:tc></a:tr><a:tr h="0"><a:tc><a:txBody><a:bodyPr /><a:lstStyle /><a:p><a:pPr lvl="0" indent="0" marL="0"><a:buNone /></a:pPr><a:r><a:rPr b="1" /><a:t>60–85</a:t></a:r></a:p></a:txBody></a:tc><a:tc><a:txBody><a:bodyPr /><a:lstStyle /><a:p><a:pPr lvl="0" indent="0" marL="0"><a:buNone /></a:pPr><a:r><a:rPr /><a:t>Validity: what does the number measure?</a:t></a:r></a:p></a:txBody></a:tc></a:tr><a:tr h="0"><a:tc><a:txBody><a:bodyPr /><a:lstStyle /><a:p><a:pPr lvl="0" indent="0" marL="0"><a:buNone /></a:pPr><a:r><a:rPr b="1" /><a:t>85–90</a:t></a:r></a:p></a:txBody></a:tc><a:tc><a:txBody><a:bodyPr /><a:lstStyle /><a:p><a:pPr lvl="0" indent="0" marL="0"><a:buNone /></a:pPr><a:r><a:rPr /><a:t>Handoff to the lab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Bennani &amp; Romelli</a:t>
            </a:r>
            <a:r>
              <a:rPr/>
              <a:t>, </a:t>
            </a:r>
            <a:r>
              <a:rPr i="1"/>
              <a:t>Exploring the informativeness and drivers of tone during committee meetings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Harvard Dataverse, DOI 10.7910/DVN/TZEN38 · CC BY 4.0</a:t>
            </a:r>
          </a:p>
          <a:p>
            <a:pPr lvl="0" indent="0" marL="0">
              <a:buNone/>
            </a:pPr>
            <a:r>
              <a:rPr/>
              <a:t>Read it for the </a:t>
            </a:r>
            <a:r>
              <a:rPr b="1"/>
              <a:t>measurement argument</a:t>
            </a:r>
            <a:r>
              <a:rPr/>
              <a:t>, not the results: how do they justify that their tone index measures tone? That question is today’s real subject.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Do European economies fall into recognisable types, and does what central banks say track what their economies do?</a:t>
            </a:r>
          </a:p>
          <a:p>
            <a:pPr lvl="0" indent="0" marL="0">
              <a:buNone/>
            </a:pPr>
            <a:r>
              <a:rPr/>
              <a:t>Two unsupervised problems: one on numbers, one on words.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Clustering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-means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Choose centroids to minimise within-cluster sum of squares: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.</m:t>
                          </m:r>
                          <m:r>
                            <m:rPr>
                              <m:sty m:val="p"/>
                            </m:rPr>
                            <m:t>.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lim>
                      </m:limLow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</m:nary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Iterate: assign each point to its nearest centroid, recompute centroids, repeat.</a:t>
                </a:r>
              </a:p>
              <a:p>
                <a:pPr lvl="0" indent="0" marL="0">
                  <a:buNone/>
                </a:pPr>
                <a:r>
                  <a:rPr/>
                  <a:t>The objective is </a:t>
                </a:r>
                <a:r>
                  <a:rPr b="1"/>
                  <a:t>non-convex</a:t>
                </a:r>
                <a:r>
                  <a:rPr/>
                  <a:t>. You converge to a local optimum that depends on the initialisation. Always run multiple restarts — </a:t>
                </a:r>
                <a:r>
                  <a:rPr>
                    <a:latin typeface="Courier"/>
                  </a:rPr>
                  <a:t>n_init=20</a:t>
                </a:r>
                <a:r>
                  <a:rPr/>
                  <a:t>, not the default.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What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-means assumes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Clusters are </a:t>
                </a:r>
                <a:r>
                  <a:rPr b="1"/>
                  <a:t>spherical</a:t>
                </a:r>
                <a:r>
                  <a:rPr/>
                  <a:t> and of similar spread</a:t>
                </a:r>
              </a:p>
              <a:p>
                <a:pPr lvl="0"/>
                <a:r>
                  <a:rPr/>
                  <a:t>Distance is meaningful — so </a:t>
                </a:r>
                <a:r>
                  <a:rPr b="1"/>
                  <a:t>standardise first</a:t>
                </a:r>
              </a:p>
              <a:p>
                <a:pPr lvl="0"/>
                <a:r>
                  <a:rPr/>
                  <a:t>Every point belongs to exactly one cluster</a:t>
                </a:r>
              </a:p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is known</a:t>
                </a:r>
              </a:p>
              <a:p>
                <a:pPr lvl="0" indent="0" marL="0">
                  <a:buNone/>
                </a:pPr>
                <a:r>
                  <a:rPr/>
                  <a:t>Economic data rarely satisfy the first. That is not fatal; it means the clusters are a summary, not a discovery.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Choosing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Elbow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WCSS stops falling fast. Often no elbow exists.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Silhouette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much closer a point is to its own cluster than the next.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Gap statistic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Compares WCSS with that of uniform random data.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the clusters survive resampling?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Stability is the one that matters for a claim. If a country changes cluster across bootstrap resamples, your typology is not a finding.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-means will always return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clusters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Even in data with no structure at all. The algorithm cannot tell you that the answer is “there are no types” — it will happily partition noise.</a:t>
                </a:r>
              </a:p>
              <a:p>
                <a:pPr lvl="0" indent="0" marL="0">
                  <a:buNone/>
                </a:pPr>
                <a:r>
                  <a:rPr/>
                  <a:t>The spine contains </a:t>
                </a:r>
                <a:r>
                  <a:rPr b="1"/>
                  <a:t>four</a:t>
                </a:r>
                <a:r>
                  <a:rPr/>
                  <a:t> country types by construction — and the silhouette score on the country profiles is </a:t>
                </a:r>
                <a:r>
                  <a:rPr b="1"/>
                  <a:t>highest at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, not at 4.</a:t>
                </a:r>
              </a:p>
              <a:p>
                <a:pPr lvl="0" indent="0" marL="0">
                  <a:buNone/>
                </a:pPr>
                <a:r>
                  <a:rPr/>
                  <a:t>Read that again. On data where we </a:t>
                </a:r>
                <a:r>
                  <a:rPr i="1"/>
                  <a:t>know</a:t>
                </a:r>
                <a:r>
                  <a:rPr/>
                  <a:t> the answer is four, the standard diagnostic points to six, and does so with a perfectly respectable-looking score. This is not a trick example. It is the normal situation, and you would never have known.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Text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corpora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>
                <a:latin typeface="Courier"/>
              </a:rPr>
              <a:t>cb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"data/spine/angle_e_centralbank.parquet"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"data/spine/angle_e_national.parquet"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(cb.shape, nat.shape)      </a:t>
            </a:r>
            <a:r>
              <a:rPr i="1">
                <a:solidFill>
                  <a:srgbClr val="60A0B0"/>
                </a:solidFill>
                <a:latin typeface="Courier"/>
              </a:rPr>
              <a:t># (1980, 7) and (1280, 7)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(cb.columns.tolist())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doc_id, date, institution, country, doc_type, n_words, text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trap, and it is a big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Corpus composition drives raw counts.</a:t>
            </a:r>
            <a:r>
              <a:rPr/>
              <a:t> If a central bank publishes more documents in 2022 than in 2015, the raw frequency of </a:t>
            </a:r>
            <a:r>
              <a:rPr i="1"/>
              <a:t>any</a:t>
            </a:r>
            <a:r>
              <a:rPr/>
              <a:t> term rises — with no change whatsoever in how much attention it pays.</a:t>
            </a:r>
          </a:p>
          <a:p>
            <a:pPr lvl="0" indent="0" marL="0">
              <a:buNone/>
            </a:pPr>
            <a:r>
              <a:rPr/>
              <a:t>Normalise. Per document, or per thousand words, or as a share of that period’s corpus. Then </a:t>
            </a:r>
            <a:r>
              <a:rPr b="1"/>
              <a:t>say in the caption which one you chose</a:t>
            </a:r>
            <a:r>
              <a:rPr/>
              <a:t>, because the three give different pictures.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Bag of words, then TF-IDF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Term frequency times inverse document frequency: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tfidf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tf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df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Common-everywhere terms are down-weighted</a:t>
                </a:r>
              </a:p>
              <a:p>
                <a:pPr lvl="0"/>
                <a:r>
                  <a:rPr/>
                  <a:t>Distinctive terms are up-weighted</a:t>
                </a:r>
              </a:p>
              <a:p>
                <a:pPr lvl="0"/>
                <a:r>
                  <a:rPr/>
                  <a:t>Word order is discarded entirely</a:t>
                </a:r>
              </a:p>
              <a:p>
                <a:pPr lvl="0" indent="0" marL="0">
                  <a:buNone/>
                </a:pPr>
                <a:r>
                  <a:rPr/>
                  <a:t>“The bank will not raise rates” and “the bank will raise rates” are nearly identical documents to TF-IDF. Know what you have thrown away.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sklearn.feature_extraction.text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TfidfVectorizer</a:t>
            </a:r>
            <a:br/>
            <a:br/>
            <a:r>
              <a:rPr>
                <a:latin typeface="Courier"/>
              </a:rPr>
              <a:t>tf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TfidfVectorizer(max_features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5000</a:t>
            </a:r>
            <a:r>
              <a:rPr>
                <a:latin typeface="Courier"/>
              </a:rPr>
              <a:t>, stop_words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"english"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ngram_range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 min_df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tf.fit_transform(cb[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latin typeface="Courier"/>
              </a:rPr>
              <a:t>])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(Xt.shape)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ngram_range=(1,2)</a:t>
            </a:r>
            <a:r>
              <a:rPr/>
              <a:t> keeps two-word phrases, which recovers a little of the negation TF-IDF otherwise loses.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Embeddings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embeddings differ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TF-IDF has one dimension per term; two documents sharing no vocabulary are orthogonal even if they say the same thing.</a:t>
            </a:r>
          </a:p>
          <a:p>
            <a:pPr lvl="0" indent="0" marL="0">
              <a:buNone/>
            </a:pPr>
            <a:r>
              <a:rPr/>
              <a:t>An embedding maps a document to a dense vector where </a:t>
            </a:r>
            <a:r>
              <a:rPr b="1"/>
              <a:t>proximity tracks meaning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“Inflationary pressures persist” and “price growth remains elevated” share almost no words and sit close together in embedding space.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Computed on your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</a:rPr>
              <a:t>ollama pull nomic-embed-text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requests,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embed(text):</a:t>
            </a:r>
            <a:br/>
            <a:r>
              <a:rPr>
                <a:latin typeface="Courier"/>
              </a:rPr>
              <a:t>    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requests.post(</a:t>
            </a:r>
            <a:r>
              <a:rPr>
                <a:solidFill>
                  <a:srgbClr val="4070A0"/>
                </a:solidFill>
                <a:latin typeface="Courier"/>
              </a:rPr>
              <a:t>"http://localhost:11434/api/embeddings"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json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"model"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"nomic-embed-text"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"prompt"</a:t>
            </a:r>
            <a:r>
              <a:rPr>
                <a:latin typeface="Courier"/>
              </a:rPr>
              <a:t>: text[:</a:t>
            </a:r>
            <a:r>
              <a:rPr>
                <a:solidFill>
                  <a:srgbClr val="40A070"/>
                </a:solidFill>
                <a:latin typeface="Courier"/>
              </a:rPr>
              <a:t>8000</a:t>
            </a:r>
            <a:r>
              <a:rPr>
                <a:latin typeface="Courier"/>
              </a:rPr>
              <a:t>]})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np.array(r.json()[</a:t>
            </a:r>
            <a:r>
              <a:rPr>
                <a:solidFill>
                  <a:srgbClr val="4070A0"/>
                </a:solidFill>
                <a:latin typeface="Courier"/>
              </a:rPr>
              <a:t>"embedding"</a:t>
            </a:r>
            <a:r>
              <a:rPr>
                <a:latin typeface="Courier"/>
              </a:rPr>
              <a:t>])</a:t>
            </a:r>
            <a:br/>
            <a:br/>
            <a:r>
              <a:rPr>
                <a:latin typeface="Courier"/>
              </a:rPr>
              <a:t>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np.vstack([embed(t)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cb[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latin typeface="Courier"/>
              </a:rPr>
              <a:t>].head(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)])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(E.shape)</a:t>
            </a:r>
          </a:p>
          <a:p>
            <a:pPr lvl="0" indent="0" marL="0">
              <a:buNone/>
            </a:pPr>
            <a:r>
              <a:rPr/>
              <a:t>No API key, no cost, and the documents never leave your laptop — which for licensed text is not a convenience but a requirement.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embeddings cost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Opacity.</a:t>
            </a:r>
            <a:r>
              <a:rPr/>
              <a:t> You cannot say which words drove a result.</a:t>
            </a:r>
          </a:p>
          <a:p>
            <a:pPr lvl="0"/>
            <a:r>
              <a:rPr b="1"/>
              <a:t>Model dependence.</a:t>
            </a:r>
            <a:r>
              <a:rPr/>
              <a:t> A different embedding model gives different distances.</a:t>
            </a:r>
          </a:p>
          <a:p>
            <a:pPr lvl="0"/>
            <a:r>
              <a:rPr b="1"/>
              <a:t>Training baggage.</a:t>
            </a:r>
            <a:r>
              <a:rPr/>
              <a:t> Whatever was in the training corpus is in your geometry.</a:t>
            </a:r>
          </a:p>
          <a:p>
            <a:pPr lvl="0" indent="0" marL="0">
              <a:buNone/>
            </a:pPr>
            <a:r>
              <a:rPr/>
              <a:t>Report the model and version. “We embedded the documents” is not reproducible; </a:t>
            </a:r>
            <a:r>
              <a:rPr>
                <a:latin typeface="Courier"/>
              </a:rPr>
              <a:t>nomic-embed-text</a:t>
            </a:r>
            <a:r>
              <a:rPr/>
              <a:t> via Ollama is.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Validity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that outranks the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have built a number. </a:t>
            </a:r>
            <a:r>
              <a:rPr b="1"/>
              <a:t>What does it measure?</a:t>
            </a:r>
          </a:p>
          <a:p>
            <a:pPr lvl="0"/>
            <a:r>
              <a:rPr b="1"/>
              <a:t>Face validity</a:t>
            </a:r>
            <a:r>
              <a:rPr/>
              <a:t> — does it look right on documents you have read?</a:t>
            </a:r>
          </a:p>
          <a:p>
            <a:pPr lvl="0"/>
            <a:r>
              <a:rPr b="1"/>
              <a:t>Convergent</a:t>
            </a:r>
            <a:r>
              <a:rPr/>
              <a:t> — does it agree with an independent measure?</a:t>
            </a:r>
          </a:p>
          <a:p>
            <a:pPr lvl="0"/>
            <a:r>
              <a:rPr b="1"/>
              <a:t>Predictive</a:t>
            </a:r>
            <a:r>
              <a:rPr/>
              <a:t> — does it forecast something it should?</a:t>
            </a:r>
          </a:p>
          <a:p>
            <a:pPr lvl="0"/>
            <a:r>
              <a:rPr b="1"/>
              <a:t>Discriminant</a:t>
            </a:r>
            <a:r>
              <a:rPr/>
              <a:t> — does it </a:t>
            </a:r>
            <a:r>
              <a:rPr i="1"/>
              <a:t>fail</a:t>
            </a:r>
            <a:r>
              <a:rPr/>
              <a:t> to correlate with things it should not?</a:t>
            </a:r>
          </a:p>
          <a:p>
            <a:pPr lvl="0" indent="0" marL="0">
              <a:buNone/>
            </a:pPr>
            <a:r>
              <a:rPr/>
              <a:t>The last one is the one people skip, and it is the strongest evidence. A tone index that correlates with everything is measuring document length.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that immediately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cb[</a:t>
            </a:r>
            <a:r>
              <a:rPr>
                <a:solidFill>
                  <a:srgbClr val="4070A0"/>
                </a:solidFill>
                <a:latin typeface="Courier"/>
              </a:rPr>
              <a:t>"tone_proxy"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...          </a:t>
            </a:r>
            <a:r>
              <a:rPr i="1">
                <a:solidFill>
                  <a:srgbClr val="60A0B0"/>
                </a:solidFill>
                <a:latin typeface="Courier"/>
              </a:rPr>
              <a:t># whatever you construct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(cb[[</a:t>
            </a:r>
            <a:r>
              <a:rPr>
                <a:solidFill>
                  <a:srgbClr val="4070A0"/>
                </a:solidFill>
                <a:latin typeface="Courier"/>
              </a:rPr>
              <a:t>"tone_proxy"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"n_words"</a:t>
            </a:r>
            <a:r>
              <a:rPr>
                <a:latin typeface="Courier"/>
              </a:rPr>
              <a:t>]].corr().iloc[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If your index correlates strongly with </a:t>
            </a:r>
            <a:r>
              <a:rPr>
                <a:latin typeface="Courier"/>
              </a:rPr>
              <a:t>n_words</a:t>
            </a:r>
            <a:r>
              <a:rPr/>
              <a:t>, you have built a length detector with extra steps. This is the single most common failure in text-as-data work, and it is one line to test for.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construct is not a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Session 01 distinction, returning with teeth.</a:t>
            </a:r>
          </a:p>
          <a:p>
            <a:pPr lvl="0" indent="0" marL="0">
              <a:buNone/>
            </a:pPr>
            <a:r>
              <a:rPr/>
              <a:t>An “attention index” built from term frequencies is a </a:t>
            </a:r>
            <a:r>
              <a:rPr b="1"/>
              <a:t>thing you constructed</a:t>
            </a:r>
            <a:r>
              <a:rPr/>
              <a:t>. It may be useful. It is not an observation of institutional attention, and the gap between those two is where careless papers live.</a:t>
            </a:r>
          </a:p>
          <a:p>
            <a:pPr lvl="0" indent="0" marL="0">
              <a:buNone/>
            </a:pPr>
            <a:r>
              <a:rPr/>
              <a:t>Say “our index of X”, never “X”. The extra three words are the whole discipline.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Doing it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 the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sklearn.cluster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KMeans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sklearn.preprocessing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StandardScaler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sklearn.metrics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silhouette_score</a:t>
            </a:r>
            <a:br/>
            <a:br/>
            <a:r>
              <a:rPr>
                <a:latin typeface="Courier"/>
              </a:rPr>
              <a:t>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"data/spine/core.parquet"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prof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core.groupby(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)[[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"productivity_idx"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"employment_ths"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"gfcf_meur"</a:t>
            </a:r>
            <a:r>
              <a:rPr>
                <a:latin typeface="Courier"/>
              </a:rPr>
              <a:t>]].mean()</a:t>
            </a:r>
            <a:br/>
            <a:r>
              <a:rPr>
                <a:latin typeface="Courier"/>
              </a:rPr>
              <a:t>Z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StandardScaler().fit_transform(prof)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km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KMeans(k, n_init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).fit(Z)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(k,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(silhouette_score(Z, km.labels_),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whether it is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rng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np.random.default_rng(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base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KMeans(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n_init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).fit_predict(Z)</a:t>
            </a:r>
            <a:br/>
            <a:br/>
            <a:r>
              <a:rPr>
                <a:latin typeface="Courier"/>
              </a:rPr>
              <a:t>agree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rng.choice(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(Z),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(Z), replace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lab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KMeans(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n_init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).fit_predict(Z[idx])</a:t>
            </a:r>
            <a:br/>
            <a:r>
              <a:rPr>
                <a:latin typeface="Courier"/>
              </a:rPr>
              <a:t>    agree.append((lab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base[idx]).mean())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"mean agreement:"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(np.mean(agree),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Labels are arbitrary across runs, so this is a crude check — use the adjusted Rand index for a proper one. The point stands: measure stability, do not assume it.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 the words to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cb[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pd.to_datetime(cb[</a:t>
            </a:r>
            <a:r>
              <a:rPr>
                <a:solidFill>
                  <a:srgbClr val="4070A0"/>
                </a:solidFill>
                <a:latin typeface="Courier"/>
              </a:rPr>
              <a:t>"date"</a:t>
            </a:r>
            <a:r>
              <a:rPr>
                <a:latin typeface="Courier"/>
              </a:rPr>
              <a:t>]).dt.year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normalise: share of that year's words, not raw counts</a:t>
            </a:r>
            <a:br/>
            <a:r>
              <a:rPr>
                <a:latin typeface="Courier"/>
              </a:rPr>
              <a:t>per_year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(cb.assign(hits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cb.text.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.count(</a:t>
            </a:r>
            <a:r>
              <a:rPr>
                <a:solidFill>
                  <a:srgbClr val="4070A0"/>
                </a:solidFill>
                <a:latin typeface="Courier"/>
              </a:rPr>
              <a:t>r"</a:t>
            </a:r>
            <a:r>
              <a:rPr>
                <a:solidFill>
                  <a:srgbClr val="06287E"/>
                </a:solidFill>
                <a:latin typeface="Courier"/>
              </a:rPr>
              <a:t>(?i)</a:t>
            </a:r>
            <a:r>
              <a:rPr>
                <a:solidFill>
                  <a:srgbClr val="40A070"/>
                </a:solidFill>
                <a:latin typeface="Courier"/>
              </a:rPr>
              <a:t>\b</a:t>
            </a:r>
            <a:r>
              <a:rPr>
                <a:solidFill>
                  <a:srgbClr val="4070A0"/>
                </a:solidFill>
                <a:latin typeface="Courier"/>
              </a:rPr>
              <a:t>productivit"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      .groupby(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)[[</a:t>
            </a:r>
            <a:r>
              <a:rPr>
                <a:solidFill>
                  <a:srgbClr val="4070A0"/>
                </a:solidFill>
                <a:latin typeface="Courier"/>
              </a:rPr>
              <a:t>"hits"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"n_words"</a:t>
            </a:r>
            <a:r>
              <a:rPr>
                <a:latin typeface="Courier"/>
              </a:rPr>
              <a:t>]].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())</a:t>
            </a:r>
            <a:br/>
            <a:r>
              <a:rPr>
                <a:latin typeface="Courier"/>
              </a:rPr>
              <a:t>per_year[</a:t>
            </a:r>
            <a:r>
              <a:rPr>
                <a:solidFill>
                  <a:srgbClr val="4070A0"/>
                </a:solidFill>
                <a:latin typeface="Courier"/>
              </a:rPr>
              <a:t>"rate_per_10k"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per_year.hits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per_year.n_words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10_000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(per_year.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Compare the raw </a:t>
            </a:r>
            <a:r>
              <a:rPr>
                <a:latin typeface="Courier"/>
              </a:rPr>
              <a:t>hits</a:t>
            </a:r>
            <a:r>
              <a:rPr/>
              <a:t> column against </a:t>
            </a:r>
            <a:r>
              <a:rPr>
                <a:latin typeface="Courier"/>
              </a:rPr>
              <a:t>rate_per_10k</a:t>
            </a:r>
            <a:r>
              <a:rPr/>
              <a:t>. If they tell different stories, the raw one was measuring publication volume.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Your </a:t>
                </a:r>
                <a:r>
                  <a:rPr b="1"/>
                  <a:t>normalisation</a:t>
                </a:r>
                <a:r>
                  <a:rPr/>
                  <a:t>, in the caption of every text figure</a:t>
                </a:r>
              </a:p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, how you chose it, and the stability evidence</a:t>
                </a:r>
              </a:p>
              <a:p>
                <a:pPr lvl="0"/>
                <a:r>
                  <a:rPr/>
                  <a:t>The embedding model and version if you used one</a:t>
                </a:r>
              </a:p>
              <a:p>
                <a:pPr lvl="0"/>
                <a:r>
                  <a:rPr/>
                  <a:t>The discriminant check against </a:t>
                </a:r>
                <a:r>
                  <a:rPr>
                    <a:latin typeface="Courier"/>
                  </a:rPr>
                  <a:t>n_words</a:t>
                </a:r>
              </a:p>
              <a:p>
                <a:pPr lvl="0"/>
                <a:r>
                  <a:rPr/>
                  <a:t>“Our index of X” phrasing throughout</a:t>
                </a:r>
              </a:p>
            </p:txBody>
          </p:sp>
        </mc:Choice>
      </mc:AlternateContent>
    </p:spTree>
  </p:cSld>
</p:sld>
</file>

<file path=ppt/slides/slide3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Common mistakes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Mistake</a:t></a:r></a:p></a:txBody><a:tcPr /></a:tc><a:tc><a:txBody><a:bodyPr /><a:lstStyle /><a:p><a:pPr lvl="0" indent="0" marL="0"><a:buNone /></a:pPr><a:r><a:rPr /><a:t>Consequence</a:t></a:r></a:p></a:txBody><a:tcPr /></a:tc></a:tr><a:tr h="0"><a:tc><a:txBody><a:bodyPr /><a:lstStyle /><a:p><a:pPr lvl="0" indent="0" marL="0"><a:buNone /></a:pPr><a:r><a:rPr /><a:t>Raw term counts over time</a:t></a:r></a:p></a:txBody></a:tc><a:tc><a:txBody><a:bodyPr /><a:lstStyle /><a:p><a:pPr lvl="0" indent="0" marL="0"><a:buNone /></a:pPr><a:r><a:rPr /><a:t>Measures publication volume</a:t></a:r></a:p></a:txBody></a:tc></a:tr><a:tr h="0"><a:tc><a:txBody><a:bodyPr /><a:lstStyle /><a:p><a:pPr lvl="0" indent="0" marL="0"><a:buNone /></a:pPr><a14:m><m:oMath xmlns:m="http://schemas.openxmlformats.org/officeDocument/2006/math"><m:r><m:t>k</m:t></m:r></m:oMath></a14:m><a:r><a:rPr /><a:t> from the elbow alone</a:t></a:r></a:p></a:txBody></a:tc><a:tc><a:txBody><a:bodyPr /><a:lstStyle /><a:p><a:pPr lvl="0" indent="0" marL="0"><a:buNone /></a:pPr><a:r><a:rPr /><a:t>Elbow often absent; </a:t></a:r><a14:m><m:oMath xmlns:m="http://schemas.openxmlformats.org/officeDocument/2006/math"><m:r><m:t>k</m:t></m:r></m:oMath></a14:m><a:r><a:rPr /><a:t> unjustified</a:t></a:r></a:p></a:txBody></a:tc></a:tr><a:tr h="0"><a:tc><a:txBody><a:bodyPr /><a:lstStyle /><a:p><a:pPr lvl="0" indent="0" marL="0"><a:buNone /></a:pPr><a:r><a:rPr /><a:t>One </a:t></a:r><a14:m><m:oMath xmlns:m="http://schemas.openxmlformats.org/officeDocument/2006/math"><m:r><m:t>k</m:t></m:r></m:oMath></a14:m><a:r><a:rPr /><a:t>-means run</a:t></a:r></a:p></a:txBody></a:tc><a:tc><a:txBody><a:bodyPr /><a:lstStyle /><a:p><a:pPr lvl="0" indent="0" marL="0"><a:buNone /></a:pPr><a:r><a:rPr /><a:t>Local optimum</a:t></a:r></a:p></a:txBody></a:tc></a:tr><a:tr h="0"><a:tc><a:txBody><a:bodyPr /><a:lstStyle /><a:p><a:pPr lvl="0" indent="0" marL="0"><a:buNone /></a:pPr><a:r><a:rPr /><a:t>Naming clusters as types</a:t></a:r></a:p></a:txBody></a:tc><a:tc><a:txBody><a:bodyPr /><a:lstStyle /><a:p><a:pPr lvl="0" indent="0" marL="0"><a:buNone /></a:pPr><a:r><a:rPr /><a:t>A summary presented as a discovery</a:t></a:r></a:p></a:txBody></a:tc></a:tr><a:tr h="0"><a:tc><a:txBody><a:bodyPr /><a:lstStyle /><a:p><a:pPr lvl="0" indent="0" marL="0"><a:buNone /></a:pPr><a:r><a:rPr /><a:t>No length check</a:t></a:r></a:p></a:txBody></a:tc><a:tc><a:txBody><a:bodyPr /><a:lstStyle /><a:p><a:pPr lvl="0" indent="0" marL="0"><a:buNone /></a:pPr><a:r><a:rPr /><a:t>Index may just be document length</a:t></a:r></a:p></a:txBody></a:tc></a:tr></a:tbl></a:graphicData></a:graphic></p:graphicFrame></p:spTree></p:cSld>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Download the Bennani &amp; Romelli package; read how they justify their index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Cluster the countries; choose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with evidence and test stability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Compare your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with the </a:t>
                </a:r>
                <a:r>
                  <a:rPr b="1"/>
                  <a:t>four</a:t>
                </a:r>
                <a:r>
                  <a:rPr/>
                  <a:t> types the spine was built from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Build one text index, normalised, and run the </a:t>
                </a:r>
                <a:r>
                  <a:rPr>
                    <a:latin typeface="Courier"/>
                  </a:rPr>
                  <a:t>n_words</a:t>
                </a:r>
                <a:r>
                  <a:rPr/>
                  <a:t> check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Three sentences using construct language, not measurement language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Clustering, Embeddings, and Text as Data</dc:title>
  <dc:creator>Thierry Warin</dc:creator>
  <cp:keywords/>
  <dcterms:created xsi:type="dcterms:W3CDTF">2026-08-19T20:03:05Z</dcterms:created>
  <dcterms:modified xsi:type="dcterms:W3CDTF">2026-08-19T20:03:05Z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19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09 · Measuring what institutions talk about, and what that measurement is worth</vt:lpwstr>
  </property>
  <property fmtid="{D5CDD505-2E9C-101B-9397-08002B2CF9AE}" pid="16" name="toc-title">
    <vt:lpwstr>Table of contents</vt:lpwstr>
  </property>
</Properties>
</file>