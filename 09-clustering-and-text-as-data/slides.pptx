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II: Clustering, Embeddings,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These slides follow the notes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9.1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</a:t></a:r></a:p></a:txBody></a:tc></a:tr><a:tr h="0"><a:tc><a:txBody><a:bodyPr /><a:lstStyle /><a:p><a:pPr lvl="0" indent="0" marL="0"><a:buNone /></a:pPr><a:r><a:rPr b="1" /><a:t>9.2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9.3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9.4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9.5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9.1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observations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 minimising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problem is </a:t>
                </a:r>
                <a:r>
                  <a:rPr b="1"/>
                  <a:t>NP-hard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steps, each weakly decreasing the objective: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Assign: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Update: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mean of points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Step 2 is optimal given assignments (differentiate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zero); step 1 is optimal given centroids.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terminates — and where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decreases monotonically and there are finitely many partitions, so the algorithm terminates — </a:t>
                </a:r>
                <a:r>
                  <a:rPr b="1"/>
                  <a:t>at a local minimum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Run it many times from different starts (</a:t>
                </a:r>
                <a:r>
                  <a:rPr>
                    <a:latin typeface="Courier"/>
                  </a:rPr>
                  <a:t>n_init</a:t>
                </a:r>
                <a:r>
                  <a:rPr/>
                  <a:t>), 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 and gives an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guarantee in expectation.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Euclidean objective assumes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nearest-centroid, the decision boundaries are the perpendicular bisectors between centroids — a </a:t>
            </a:r>
            <a:r>
              <a:rPr b="1"/>
              <a:t>Voronoi tessellation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i="1"/>
              <a:t>forces</a:t>
            </a:r>
            <a:r>
              <a:rPr/>
              <a:t> convex, roughly spherical, similarly-sized clusters. Elongated or nested structures will be cut incorrectly </a:t>
            </a:r>
            <a:r>
              <a:rPr b="1"/>
              <a:t>no matter how well you optimise.</a:t>
            </a:r>
          </a:p>
          <a:p>
            <a:pPr lvl="0" indent="0" marL="0">
              <a:buNone/>
            </a:pPr>
            <a:r>
              <a:rPr/>
              <a:t>If that assumption is wrong: a Gaussian mixture (covariance structure, soft assignments via EM), or DBSCAN / spectral clustering for non-convex shapes.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9.2 Hierarchical clustering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Linkage defines “closest”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Build a dendrogram bottom-up, merging the two closest clusters at each step.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invariant to monotone transforms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/><a:t>Same criterion as </a:t></a:r><a14:m><m:oMath xmlns:m="http://schemas.openxmlformats.org/officeDocument/2006/math"><m:r><m:t>k</m:t></m:r></m:oMath></a14:m><a:r><a:rPr /><a:t>-means; the default to try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Advantage: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 — the dendrogram shows structure at every resolution</a:t>
                </a:r>
              </a:p>
              <a:p>
                <a:pPr lvl="0"/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9.3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b="1"/>
                  <a:t>always</a:t>
                </a:r>
                <a:r>
                  <a:rPr/>
                  <a:t> decreases, so look for a kink.</a:t>
                </a:r>
              </a:p>
              <a:p>
                <a:pPr lvl="0" indent="0" marL="0">
                  <a:buNone/>
                </a:pPr>
                <a:r>
                  <a:rPr/>
                  <a:t>Often no kink exists. A single elbow plot is not evidence.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Silhouette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max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 cluster.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1</a:t>
                </a:r>
                <a:r>
                  <a:rPr/>
                  <a:t> — well clustered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0</a:t>
                </a:r>
                <a:r>
                  <a:rPr/>
                  <a:t> — on a boundary</a:t>
                </a:r>
              </a:p>
              <a:p>
                <a:pPr lvl="0"/>
                <a:r>
                  <a:rPr b="1"/>
                  <a:t>negative</a:t>
                </a:r>
                <a:r>
                  <a:rPr/>
                  <a:t> — probably misassigned</a:t>
                </a:r>
              </a:p>
              <a:p>
                <a:pPr lvl="0" indent="0" marL="0">
                  <a:buNone/>
                </a:pPr>
                <a:r>
                  <a:rPr/>
                  <a:t>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 reference distribution — uniform over the data’s bounding box, or a PCA-aligned box. Choose the smallest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where the gap exceeds the next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’s gap minus one standard error.</a:t>
                </a:r>
              </a:p>
              <a:p>
                <a:pPr lvl="0" indent="0" marL="0">
                  <a:buNone/>
                </a:pPr>
                <a:r>
                  <a:rPr/>
                  <a:t>This one </a:t>
                </a:r>
                <a:r>
                  <a:rPr b="1"/>
                  <a:t>can return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“no cluster structure”. Which is why it is worth the extra effort: it is the only one of the three that can tell you to stop.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at least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report disagreement.</a:t>
            </a:r>
            <a:r>
              <a:rPr/>
              <a:t> On the course spine — built from </a:t>
            </a:r>
            <a:r>
              <a:rPr b="1"/>
              <a:t>four</a:t>
            </a:r>
            <a:r>
              <a:rPr/>
              <a:t> country types — the silhouette score on the country profiles peaks at </a:t>
            </a:r>
            <a:r>
              <a:rPr b="1"/>
              <a:t>six</a:t>
            </a:r>
            <a:r>
              <a:rPr/>
              <a:t>. The diagnostic is confidently wrong, on data where we happen to know the answer.</a:t>
            </a:r>
          </a:p>
          <a:p>
            <a:pPr lvl="0" indent="0" marL="0">
              <a:buNone/>
            </a:pPr>
            <a:r>
              <a:rPr/>
              <a:t>You will not have that luxury with real data. Which is the point of noticing it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9.4 Representing text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 /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term frequency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inverse document frequency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</a:t>
                </a:r>
              </a:p>
              <a:p>
                <a:pPr lvl="0" indent="0" marL="0">
                  <a:buNone/>
                </a:pPr>
                <a:r>
                  <a:rPr/>
                  <a:t>The result is a very sparse, very high-dimensional matrix — exactly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Sessions 05 and 06, so </a:t>
                </a:r>
                <a:r>
                  <a:rPr b="1"/>
                  <a:t>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bag-of-words throws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Word order, entirely.</a:t>
            </a:r>
          </a:p>
          <a:p>
            <a:pPr lvl="0" indent="0" marL="1270000">
              <a:buNone/>
            </a:pPr>
            <a:r>
              <a:rPr sz="2000" i="1"/>
              <a:t>“Inflation is not a concern”</a:t>
            </a:r>
            <a:r>
              <a:rPr sz="2000"/>
              <a:t> and </a:t>
            </a:r>
            <a:r>
              <a:rPr sz="2000" i="1"/>
              <a:t>“a concern is not inflation”</a:t>
            </a:r>
            <a:r>
              <a:rPr sz="2000"/>
              <a:t> are </a:t>
            </a:r>
            <a:r>
              <a:rPr sz="2000" b="1"/>
              <a:t>identical vectors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Two-word n-grams recover a little of the negation. Not all of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(typically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= 384 to 1024), trained so that semantically similar texts have similar vectors. Similarity by cosine: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magnitude — which is what you want when documents differ in length.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Generated locally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generate embeddings </a:t>
            </a:r>
            <a:r>
              <a:rPr b="1"/>
              <a:t>on your own machine</a:t>
            </a:r>
            <a:r>
              <a:rPr/>
              <a:t> in the lab.</a:t>
            </a:r>
          </a:p>
          <a:p>
            <a:pPr lvl="0" indent="0" marL="0">
              <a:buNone/>
            </a:pPr>
            <a:r>
              <a:rPr/>
              <a:t>The corpus never leaves it. That is both a methodological and a governance point, and it is worth saying out loud in a paper.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is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counting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9.5 Validity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 to measure?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the index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 and model?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this. Actually read them.</a:t>
            </a:r>
            <a:r>
              <a:rPr/>
              <a:t> It takes twenty minutes and it has killed more bad indices than any statistic.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fourth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your finding depends on a stemming choice, </a:t>
            </a:r>
            <a:r>
              <a:rPr sz="2000" b="1"/>
              <a:t>you do not have a finding.</a:t>
            </a:r>
          </a:p>
          <a:p>
            <a:pPr lvl="0" indent="0" marL="0">
              <a:buNone/>
            </a:pPr>
            <a:r>
              <a:rPr/>
              <a:t>Also check your index against document length. An index that correlates strongly with word count is a length detector with extra steps — and that is one line to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Cluster your project’s units; report </a:t>
                </a:r>
                <a:r>
                  <a:rPr b="1"/>
                  <a:t>two</a:t>
                </a:r>
                <a:r>
                  <a:rPr/>
                  <a:t>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any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Test stability under resampling — do units change cluster?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measure, normalised per thousand words, not raw counts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all four validity checks, including the length correlation</a:t>
                </a:r>
              </a:p>
              <a:p>
                <a:pPr lvl="0" indent="0" marL="0">
                  <a:buNone/>
                </a:pPr>
                <a:r>
                  <a:rPr/>
                  <a:t>Corpus composition drives raw counts. If more documents are published, term frequency rises with no change in attention. </a:t>
                </a:r>
                <a:r>
                  <a:rPr b="1"/>
                  <a:t>Normalise, and say how in the caption.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representation, the normalisation, the model and version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your index, and what it correlates with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say “our index of X”, never “X”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II: Clustering, Embeddings, Text as Data</dc:title>
  <dc:creator>Thierry Warin</dc:creator>
  <cp:keywords/>
  <dcterms:created xsi:type="dcterms:W3CDTF">2026-08-20T19:40:16Z</dcterms:created>
  <dcterms:modified xsi:type="dcterms:W3CDTF">2026-08-20T19:40:16Z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Lecture, first half</vt:lpwstr>
  </property>
  <property fmtid="{D5CDD505-2E9C-101B-9397-08002B2CF9AE}" pid="16" name="toc-title">
    <vt:lpwstr>Table of contents</vt:lpwstr>
  </property>
</Properties>
</file>