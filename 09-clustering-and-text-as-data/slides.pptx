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Unsupervised II: Clustering, Embeddings, Text as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09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do you measure something that only exists as words?</a:t>
            </a:r>
          </a:p>
        </p:txBody>
      </p:sp>
    </p:spTree>
  </p:cSld>
</p:sld>
</file>

<file path=ppt/slides/slide3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These slides follow the notes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0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b="1" /><a:t>9.1</a:t></a:r></a:p></a:txBody></a:tc><a:tc><a:txBody><a:bodyPr /><a:lstStyle /><a:p><a:pPr lvl="0" indent="0" marL="0"><a:buNone /></a:pPr><a14:m><m:oMath xmlns:m="http://schemas.openxmlformats.org/officeDocument/2006/math"><m:r><m:t>k</m:t></m:r></m:oMath></a14:m><a:r><a:rPr /><a:t>-means</a:t></a:r></a:p></a:txBody></a:tc></a:tr><a:tr h="0"><a:tc><a:txBody><a:bodyPr /><a:lstStyle /><a:p><a:pPr lvl="0" indent="0" marL="0"><a:buNone /></a:pPr><a:r><a:rPr b="1" /><a:t>9.2</a:t></a:r></a:p></a:txBody></a:tc><a:tc><a:txBody><a:bodyPr /><a:lstStyle /><a:p><a:pPr lvl="0" indent="0" marL="0"><a:buNone /></a:pPr><a:r><a:rPr /><a:t>Hierarchical clustering</a:t></a:r></a:p></a:txBody></a:tc></a:tr><a:tr h="0"><a:tc><a:txBody><a:bodyPr /><a:lstStyle /><a:p><a:pPr lvl="0" indent="0" marL="0"><a:buNone /></a:pPr><a:r><a:rPr b="1" /><a:t>9.3</a:t></a:r></a:p></a:txBody></a:tc><a:tc><a:txBody><a:bodyPr /><a:lstStyle /><a:p><a:pPr lvl="0" indent="0" marL="0"><a:buNone /></a:pPr><a:r><a:rPr /><a:t>Choosing </a:t></a:r><a14:m><m:oMath xmlns:m="http://schemas.openxmlformats.org/officeDocument/2006/math"><m:r><m:t>k</m:t></m:r></m:oMath></a14:m></a:p></a:txBody></a:tc></a:tr><a:tr h="0"><a:tc><a:txBody><a:bodyPr /><a:lstStyle /><a:p><a:pPr lvl="0" indent="0" marL="0"><a:buNone /></a:pPr><a:r><a:rPr b="1" /><a:t>9.4</a:t></a:r></a:p></a:txBody></a:tc><a:tc><a:txBody><a:bodyPr /><a:lstStyle /><a:p><a:pPr lvl="0" indent="0" marL="0"><a:buNone /></a:pPr><a:r><a:rPr /><a:t>Representing text</a:t></a:r></a:p></a:txBody></a:tc></a:tr><a:tr h="0"><a:tc><a:txBody><a:bodyPr /><a:lstStyle /><a:p><a:pPr lvl="0" indent="0" marL="0"><a:buNone /></a:pPr><a:r><a:rPr b="1" /><a:t>9.5</a:t></a:r></a:p></a:txBody></a:tc><a:tc><a:txBody><a:bodyPr /><a:lstStyle /><a:p><a:pPr lvl="0" indent="0" marL="0"><a:buNone /></a:pPr><a:r><a:rPr /><a:t>Validity — the part that is actually hard</a:t></a:r></a:p></a:txBody></a:tc></a:tr></a:tbl></a:graphicData></a:graphic></p:graphicFrame></p:spTree></p:cSld>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numbering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722313" y="3305176"/>
                <a:ext cx="7772400" cy="1021556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9.1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-means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objective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Partition observations into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clusters minimising within-cluster sum of squares: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k</m:t>
                              </m:r>
                            </m:sub>
                          </m:sSub>
                        </m:lim>
                      </m:limLow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k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∈</m:t>
                              </m:r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</m:sSub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</m:nary>
                        </m:e>
                      </m:nary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s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d>
                            <m:dPr>
                              <m:begChr m:val="|"/>
                              <m:sepChr m:val=""/>
                              <m:endChr m:val="|"/>
                              <m:grow/>
                            </m:dPr>
                            <m:e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problem is </a:t>
                </a:r>
                <a:r>
                  <a:rPr b="1"/>
                  <a:t>NP-hard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Lloyd’s algorithm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Two steps, each weakly decreasing the objective: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Assign: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←</m:t>
                    </m:r>
                    <m:r>
                      <m:rPr>
                        <m:sty m:val="p"/>
                      </m:rPr>
                      <m:t>arg</m:t>
                    </m:r>
                    <m:sSub>
                      <m:e>
                        <m:r>
                          <m:rPr>
                            <m:sty m:val="p"/>
                          </m:rPr>
                          <m:t>min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∥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sSup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Update: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←</m:t>
                    </m:r>
                  </m:oMath>
                </a14:m>
                <a:r>
                  <a:rPr/>
                  <a:t> mean of points assigned to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Step 2 is optimal given assignments (differentiate in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, set to zero); step 1 is optimal given centroids.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it terminates — and where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objective decreases monotonically and there are finitely many partitions, so the algorithm terminates — </a:t>
                </a:r>
                <a:r>
                  <a:rPr b="1"/>
                  <a:t>at a local minimum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Run it many times from different starts (</a:t>
                </a:r>
                <a:r>
                  <a:rPr>
                    <a:latin typeface="Courier"/>
                  </a:rPr>
                  <a:t>n_init</a:t>
                </a:r>
                <a:r>
                  <a:rPr/>
                  <a:t>), or use </a:t>
                </a:r>
                <a:r>
                  <a:rPr b="1"/>
                  <a:t>k-means++</a:t>
                </a:r>
                <a:r>
                  <a:rPr/>
                  <a:t>, which seeds centroids with probability proportional to squared distance from the nearest existing centroid and gives an </a:t>
                </a:r>
                <a14:m>
                  <m:oMath xmlns:m="http://schemas.openxmlformats.org/officeDocument/2006/math">
                    <m:r>
                      <m:t>O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log</m:t>
                        </m:r>
                        <m:r>
                          <m:t>k</m:t>
                        </m:r>
                      </m:e>
                    </m:d>
                  </m:oMath>
                </a14:m>
                <a:r>
                  <a:rPr/>
                  <a:t>-competitive guarantee in expectation.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the Euclidean objective assumes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Because clusters are defined by nearest-centroid, the decision boundaries are the perpendicular bisectors between centroids — a </a:t>
            </a:r>
            <a:r>
              <a:rPr b="1"/>
              <a:t>Voronoi tessellation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This </a:t>
            </a:r>
            <a:r>
              <a:rPr i="1"/>
              <a:t>forces</a:t>
            </a:r>
            <a:r>
              <a:rPr/>
              <a:t> convex, roughly spherical, similarly-sized clusters. Elongated or nested structures will be cut incorrectly </a:t>
            </a:r>
            <a:r>
              <a:rPr b="1"/>
              <a:t>no matter how well you optimise.</a:t>
            </a:r>
          </a:p>
          <a:p>
            <a:pPr lvl="0" indent="0" marL="0">
              <a:buNone/>
            </a:pPr>
            <a:r>
              <a:rPr/>
              <a:t>If that assumption is wrong: a Gaussian mixture (covariance structure, soft assignments via EM), or DBSCAN / spectral clustering for non-convex shapes.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9.2 Hierarchical clustering</a:t>
            </a:r>
          </a:p>
        </p:txBody>
      </p:sp>
    </p:spTree>
  </p:cSld>
</p:sld>
</file>

<file path=ppt/slides/slide11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Linkage defines “closest”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Build a dendrogram bottom-up, merging the two closest clusters at each step.</a:t></a:r></a:p></p:txBody></p:sp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701800" /><a:gridCol w="1701800" /><a:gridCol w="1701800" /></a:tblGrid><a:tr h="0"><a:tc><a:txBody><a:bodyPr /><a:lstStyle /><a:p><a:pPr lvl="0" indent="0" marL="0"><a:buNone /></a:pPr><a:r><a:rPr /><a:t>Linkage</a:t></a:r></a:p></a:txBody><a:tcPr /></a:tc><a:tc><a:txBody><a:bodyPr /><a:lstStyle /><a:p><a:pPr lvl="0" indent="0" marL="0"><a:buNone /></a:pPr><a14:m><m:oMath xmlns:m="http://schemas.openxmlformats.org/officeDocument/2006/math"><m:r><m:t>d</m:t></m:r><m:d><m:dPr><m:begChr m:val="(" /><m:sepChr m:val="" /><m:endChr m:val=")" /><m:grow /></m:dPr><m:e><m:r><m:t>A</m:t></m:r><m:r><m:rPr><m:sty m:val="p" /></m:rPr><m:t>,</m:t></m:r><m:r><m:t>B</m:t></m:r></m:e></m:d></m:oMath></a14:m></a:p></a:txBody><a:tcPr /></a:tc><a:tc><a:txBody><a:bodyPr /><a:lstStyle /><a:p><a:pPr lvl="0" indent="0" marL="0"><a:buNone /></a:pPr><a:r><a:rPr /><a:t>Behaviour</a:t></a:r></a:p></a:txBody><a:tcPr /></a:tc></a:tr><a:tr h="0"><a:tc><a:txBody><a:bodyPr /><a:lstStyle /><a:p><a:pPr lvl="0" indent="0" marL="0"><a:buNone /></a:pPr><a:r><a:rPr /><a:t>Single</a:t></a:r></a:p></a:txBody></a:tc><a:tc><a:txBody><a:bodyPr /><a:lstStyle /><a:p><a:pPr lvl="0" indent="0" marL="0"><a:buNone /></a:pPr><a14:m><m:oMath xmlns:m="http://schemas.openxmlformats.org/officeDocument/2006/math"><m:sSub><m:e><m:r><m:rPr><m:sty m:val="p" /></m:rPr><m:t>min</m:t></m:r></m:e><m:sub><m:r><m:t>a</m:t></m:r><m:r><m:rPr><m:sty m:val="p" /></m:rPr><m:t>,</m:t></m:r><m:r><m:t>b</m:t></m:r></m:sub></m:sSub><m:r><m:rPr><m:sty m:val="p" /></m:rPr><m:t>∥</m:t></m:r><m:r><m:t>a</m:t></m:r><m:r><m:rPr><m:sty m:val="p" /></m:rPr><m:t>−</m:t></m:r><m:r><m:t>b</m:t></m:r><m:r><m:rPr><m:sty m:val="p" /></m:rPr><m:t>∥</m:t></m:r></m:oMath></a14:m></a:p></a:txBody></a:tc><a:tc><a:txBody><a:bodyPr /><a:lstStyle /><a:p><a:pPr lvl="0" indent="0" marL="0"><a:buNone /></a:pPr><a:r><a:rPr /><a:t>Chaining; elongated shapes; unstable</a:t></a:r></a:p></a:txBody></a:tc></a:tr><a:tr h="0"><a:tc><a:txBody><a:bodyPr /><a:lstStyle /><a:p><a:pPr lvl="0" indent="0" marL="0"><a:buNone /></a:pPr><a:r><a:rPr /><a:t>Complete</a:t></a:r></a:p></a:txBody></a:tc><a:tc><a:txBody><a:bodyPr /><a:lstStyle /><a:p><a:pPr lvl="0" indent="0" marL="0"><a:buNone /></a:pPr><a14:m><m:oMath xmlns:m="http://schemas.openxmlformats.org/officeDocument/2006/math"><m:sSub><m:e><m:r><m:rPr><m:sty m:val="p" /></m:rPr><m:t>max</m:t></m:r></m:e><m:sub><m:r><m:t>a</m:t></m:r><m:r><m:rPr><m:sty m:val="p" /></m:rPr><m:t>,</m:t></m:r><m:r><m:t>b</m:t></m:r></m:sub></m:sSub><m:r><m:rPr><m:sty m:val="p" /></m:rPr><m:t>∥</m:t></m:r><m:r><m:t>a</m:t></m:r><m:r><m:rPr><m:sty m:val="p" /></m:rPr><m:t>−</m:t></m:r><m:r><m:t>b</m:t></m:r><m:r><m:rPr><m:sty m:val="p" /></m:rPr><m:t>∥</m:t></m:r></m:oMath></a14:m></a:p></a:txBody></a:tc><a:tc><a:txBody><a:bodyPr /><a:lstStyle /><a:p><a:pPr lvl="0" indent="0" marL="0"><a:buNone /></a:pPr><a:r><a:rPr /><a:t>Compact, similar-diameter clusters</a:t></a:r></a:p></a:txBody></a:tc></a:tr><a:tr h="0"><a:tc><a:txBody><a:bodyPr /><a:lstStyle /><a:p><a:pPr lvl="0" indent="0" marL="0"><a:buNone /></a:pPr><a:r><a:rPr /><a:t>Average</a:t></a:r></a:p></a:txBody></a:tc><a:tc><a:txBody><a:bodyPr /><a:lstStyle /><a:p><a:pPr lvl="0" indent="0" marL="0"><a:buNone /></a:pPr><a:r><a:rPr /><a:t>mean pairwise distance</a:t></a:r></a:p></a:txBody></a:tc><a:tc><a:txBody><a:bodyPr /><a:lstStyle /><a:p><a:pPr lvl="0" indent="0" marL="0"><a:buNone /></a:pPr><a:r><a:rPr /><a:t>Compromise; not invariant to monotone transforms</a:t></a:r></a:p></a:txBody></a:tc></a:tr><a:tr h="0"><a:tc><a:txBody><a:bodyPr /><a:lstStyle /><a:p><a:pPr lvl="0" indent="0" marL="0"><a:buNone /></a:pPr><a:r><a:rPr b="1" /><a:t>Ward</a:t></a:r></a:p></a:txBody></a:tc><a:tc><a:txBody><a:bodyPr /><a:lstStyle /><a:p><a:pPr lvl="0" indent="0" marL="0"><a:buNone /></a:pPr><a:r><a:rPr /><a:t>increase in within-cluster SS</a:t></a:r></a:p></a:txBody></a:tc><a:tc><a:txBody><a:bodyPr /><a:lstStyle /><a:p><a:pPr lvl="0" indent="0" marL="0"><a:buNone /></a:pPr><a:r><a:rPr /><a:t>Same criterion as </a:t></a:r><a14:m><m:oMath xmlns:m="http://schemas.openxmlformats.org/officeDocument/2006/math"><m:r><m:t>k</m:t></m:r></m:oMath></a14:m><a:r><a:rPr /><a:t>-means; the default to try</a:t></a:r></a:p></a:txBody></a:tc></a:tr></a:tbl></a:graphicData></a:graphic></p:graphicFrame></p:spTree></p:cSld>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trade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Advantage:</a:t>
                </a:r>
                <a:r>
                  <a:rPr/>
                  <a:t> you need not fix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in advance — the dendrogram shows structure at every resolution</a:t>
                </a:r>
              </a:p>
              <a:p>
                <a:pPr lvl="0"/>
                <a:r>
                  <a:rPr b="1"/>
                  <a:t>Cost: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O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p>
                          <m:e>
                            <m:r>
                              <m:t>n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/>
                  <a:t> memory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722313" y="3305176"/>
                <a:ext cx="7772400" cy="1021556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9.3 Choosing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Elbow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Plot within-cluster SS against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. It </a:t>
                </a:r>
                <a:r>
                  <a:rPr b="1"/>
                  <a:t>always</a:t>
                </a:r>
                <a:r>
                  <a:rPr/>
                  <a:t> decreases, so look for a kink.</a:t>
                </a:r>
              </a:p>
              <a:p>
                <a:pPr lvl="0" indent="0" marL="0">
                  <a:buNone/>
                </a:pPr>
                <a:r>
                  <a:rPr/>
                  <a:t>Often no kink exists. A single elbow plot is not evidence.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Silhouette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observation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b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p"/>
                            </m:rPr>
                            <m:t>max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a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sSub>
                                <m:e>
                                  <m:r>
                                    <m:t>b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with </a:t>
                </a:r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the mean distance to its own cluster and </a:t>
                </a:r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to the nearest other cluster.</a:t>
                </a:r>
              </a:p>
              <a:p>
                <a:pPr lvl="0"/>
                <a:r>
                  <a:rPr/>
                  <a:t>near </a:t>
                </a:r>
                <a:r>
                  <a:rPr b="1"/>
                  <a:t>1</a:t>
                </a:r>
                <a:r>
                  <a:rPr/>
                  <a:t> — well clustered</a:t>
                </a:r>
              </a:p>
              <a:p>
                <a:pPr lvl="0"/>
                <a:r>
                  <a:rPr/>
                  <a:t>near </a:t>
                </a:r>
                <a:r>
                  <a:rPr b="1"/>
                  <a:t>0</a:t>
                </a:r>
                <a:r>
                  <a:rPr/>
                  <a:t> — on a boundary</a:t>
                </a:r>
              </a:p>
              <a:p>
                <a:pPr lvl="0"/>
                <a:r>
                  <a:rPr b="1"/>
                  <a:t>negative</a:t>
                </a:r>
                <a:r>
                  <a:rPr/>
                  <a:t> — probably misassigned</a:t>
                </a:r>
              </a:p>
              <a:p>
                <a:pPr lvl="0" indent="0" marL="0">
                  <a:buNone/>
                </a:pPr>
                <a:r>
                  <a:rPr/>
                  <a:t>Average over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, maximise over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Gap statistic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Compare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log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to its expectation under a null reference distribution — uniform over the data’s bounding box, or a PCA-aligned box. Choose the smallest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where the gap exceeds the next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’s gap minus one standard error.</a:t>
                </a:r>
              </a:p>
              <a:p>
                <a:pPr lvl="0" indent="0" marL="0">
                  <a:buNone/>
                </a:pPr>
                <a:r>
                  <a:rPr/>
                  <a:t>This one </a:t>
                </a:r>
                <a:r>
                  <a:rPr b="1"/>
                  <a:t>can return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 — “no cluster structure”. Which is why it is worth the extra effort: it is the only one of the three that can tell you to stop.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Report at least two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And report disagreement.</a:t>
            </a:r>
            <a:r>
              <a:rPr/>
              <a:t> On the course spine — built from </a:t>
            </a:r>
            <a:r>
              <a:rPr b="1"/>
              <a:t>four</a:t>
            </a:r>
            <a:r>
              <a:rPr/>
              <a:t> country types — the silhouette score on the country profiles peaks at </a:t>
            </a:r>
            <a:r>
              <a:rPr b="1"/>
              <a:t>six</a:t>
            </a:r>
            <a:r>
              <a:rPr/>
              <a:t>. The diagnostic is confidently wrong, on data where we happen to know the answer.</a:t>
            </a:r>
          </a:p>
          <a:p>
            <a:pPr lvl="0" indent="0" marL="0">
              <a:buNone/>
            </a:pPr>
            <a:r>
              <a:rPr/>
              <a:t>You will not have that luxury with real data. Which is the point of noticing it here.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9.4 Representing text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Bag of words / TF-IDF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t</m:t>
                      </m:r>
                      <m:r>
                        <m:rPr>
                          <m:sty m:val="p"/>
                        </m:rPr>
                        <m:t>f</m:t>
                      </m:r>
                      <m:r>
                        <m:rPr>
                          <m:nor/>
                          <m:sty m:val="p"/>
                        </m:rPr>
                        <m:t>-</m:t>
                      </m:r>
                      <m:r>
                        <m:rPr>
                          <m:sty m:val="p"/>
                        </m:rPr>
                        <m:t>i</m:t>
                      </m:r>
                      <m:r>
                        <m:rPr>
                          <m:sty m:val="p"/>
                        </m:rPr>
                        <m:t>d</m:t>
                      </m:r>
                      <m:r>
                        <m:rPr>
                          <m:sty m:val="p"/>
                        </m:rP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limLow>
                        <m:e>
                          <m:limLow>
                            <m:e>
                              <m:sSub>
                                <m:e>
                                  <m:r>
                                    <m:t>f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d</m:t>
                                  </m:r>
                                </m:sub>
                              </m:sSub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term frequency</m:t>
                          </m:r>
                        </m:lim>
                      </m:limLow>
                      <m:r>
                        <m:rPr>
                          <m:sty m:val="p"/>
                        </m:rPr>
                        <m:t>×</m:t>
                      </m:r>
                      <m:limLow>
                        <m:e>
                          <m:limLow>
                            <m:e>
                              <m:r>
                                <m:rPr>
                                  <m:sty m:val="p"/>
                                </m:rPr>
                                <m:t>log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t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inverse document frequency</m:t>
                          </m:r>
                        </m:lim>
                      </m:limLow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idf factor downweights ubiquitous terms.</a:t>
                </a:r>
              </a:p>
              <a:p>
                <a:pPr lvl="0" indent="0" marL="0">
                  <a:buNone/>
                </a:pPr>
                <a:r>
                  <a:rPr/>
                  <a:t>The result is a very sparse, very high-dimensional matrix — exactly the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≫</m:t>
                    </m:r>
                    <m:r>
                      <m:t>n</m:t>
                    </m:r>
                  </m:oMath>
                </a14:m>
                <a:r>
                  <a:rPr/>
                  <a:t> setting of Sessions 05 and 06, so </a:t>
                </a:r>
                <a:r>
                  <a:rPr b="1"/>
                  <a:t>penalised regression is the natural supervised tool on top of it.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bag-of-words throws 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Word order, entirely.</a:t>
            </a:r>
          </a:p>
          <a:p>
            <a:pPr lvl="0" indent="0" marL="1270000">
              <a:buNone/>
            </a:pPr>
            <a:r>
              <a:rPr sz="2000" i="1"/>
              <a:t>“Inflation is not a concern”</a:t>
            </a:r>
            <a:r>
              <a:rPr sz="2000"/>
              <a:t> and </a:t>
            </a:r>
            <a:r>
              <a:rPr sz="2000" i="1"/>
              <a:t>“a concern is not inflation”</a:t>
            </a:r>
            <a:r>
              <a:rPr sz="2000"/>
              <a:t> are </a:t>
            </a:r>
            <a:r>
              <a:rPr sz="2000" b="1"/>
              <a:t>identical vectors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Two-word n-grams recover a little of the negation. Not all of it.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Dense embeddings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model maps each document to </a:t>
                </a:r>
                <a14:m>
                  <m:oMath xmlns:m="http://schemas.openxmlformats.org/officeDocument/2006/math">
                    <m:sSub>
                      <m:e>
                        <m:r>
                          <m:t>v</m:t>
                        </m:r>
                      </m:e>
                      <m:sub>
                        <m:r>
                          <m:t>d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sSup>
                      <m:e>
                        <m:r>
                          <m:rPr>
                            <m:sty m:val="p"/>
                            <m:scr m:val="double-struck"/>
                          </m:rPr>
                          <m:t>R</m:t>
                        </m:r>
                      </m:e>
                      <m:sup>
                        <m:r>
                          <m:t>m</m:t>
                        </m:r>
                      </m:sup>
                    </m:sSup>
                  </m:oMath>
                </a14:m>
                <a:r>
                  <a:rPr/>
                  <a:t> (typically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= 384 to 1024), trained so that semantically similar texts have similar vectors. Similarity by cosine: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cos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a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b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Sup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a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bSup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b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p"/>
                            </m:rPr>
                            <m:t>∥</m:t>
                          </m:r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a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rPr>
                              <m:sty m:val="p"/>
                            </m:rPr>
                            <m:t>∥</m:t>
                          </m:r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b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∥</m:t>
                          </m:r>
                        </m:den>
                      </m:f>
                      <m:r>
                        <m:rPr>
                          <m:sty m:val="p"/>
                        </m:rPr>
                        <m:t>∈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Cosine ignores magnitude — which is what you want when documents differ in length.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Generated locally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will generate embeddings </a:t>
            </a:r>
            <a:r>
              <a:rPr b="1"/>
              <a:t>on your own machine</a:t>
            </a:r>
            <a:r>
              <a:rPr/>
              <a:t> in the lab.</a:t>
            </a:r>
          </a:p>
          <a:p>
            <a:pPr lvl="0" indent="0" marL="0">
              <a:buNone/>
            </a:pPr>
            <a:r>
              <a:rPr/>
              <a:t>The corpus never leaves it. That is both a methodological and a governance point, and it is worth saying out loud in a paper.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 not assume sophistication is progress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Dictionary methods</a:t>
            </a:r>
            <a:r>
              <a:rPr/>
              <a:t> — counting terms from a pre-specified list — remain widely used in economics precisely because they are </a:t>
            </a:r>
            <a:r>
              <a:rPr b="1"/>
              <a:t>transparent and auditable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An embedding-based index that nobody can interrogate may be </a:t>
            </a:r>
            <a:r>
              <a:rPr i="1"/>
              <a:t>less</a:t>
            </a:r>
            <a:r>
              <a:rPr/>
              <a:t> useful for policy than a word count anyone can check.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9.5 Validity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questions about any text-derived measure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Face validity</a:t>
            </a:r>
            <a:r>
              <a:rPr/>
              <a:t> — read a random sample of high- and low-scoring documents. Do they look like what you claim to measure?</a:t>
            </a:r>
          </a:p>
          <a:p>
            <a:pPr lvl="0" indent="-342900" marL="342900">
              <a:buAutoNum type="arabicPeriod"/>
            </a:pPr>
            <a:r>
              <a:rPr b="1"/>
              <a:t>Convergent validity</a:t>
            </a:r>
            <a:r>
              <a:rPr/>
              <a:t> — does the index correlate with independent measures of the same construct?</a:t>
            </a:r>
          </a:p>
          <a:p>
            <a:pPr lvl="0" indent="-342900" marL="342900">
              <a:buAutoNum type="arabicPeriod"/>
            </a:pPr>
            <a:r>
              <a:rPr b="1"/>
              <a:t>Predictive validity</a:t>
            </a:r>
            <a:r>
              <a:rPr/>
              <a:t> — does it forecast something it should?</a:t>
            </a:r>
          </a:p>
          <a:p>
            <a:pPr lvl="0" indent="-342900" marL="342900">
              <a:buAutoNum type="arabicPeriod"/>
            </a:pPr>
            <a:r>
              <a:rPr b="1"/>
              <a:t>Robustness</a:t>
            </a:r>
            <a:r>
              <a:rPr/>
              <a:t> — does it survive changes in preprocessing, vocabulary and model?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the first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Do this. Actually read them.</a:t>
            </a:r>
            <a:r>
              <a:rPr/>
              <a:t> It takes twenty minutes and it has killed more bad indices than any statistic.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the fourth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If your finding depends on a stemming choice, </a:t>
            </a:r>
            <a:r>
              <a:rPr sz="2000" b="1"/>
              <a:t>you do not have a finding.</a:t>
            </a:r>
          </a:p>
          <a:p>
            <a:pPr lvl="0" indent="0" marL="0">
              <a:buNone/>
            </a:pPr>
            <a:r>
              <a:rPr/>
              <a:t>Also check your index against document length. An index that correlates strongly with word count is a length detector with extra steps — and that is one line to test.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lab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do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Cluster your project’s units; report </a:t>
                </a:r>
                <a:r>
                  <a:rPr b="1"/>
                  <a:t>two</a:t>
                </a:r>
                <a:r>
                  <a:rPr/>
                  <a:t> criteria for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and any disagreement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Test stability under resampling — do units change cluster?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Build one text measure, normalised per thousand words, not raw counts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Run all four validity checks, including the length correlation</a:t>
                </a:r>
              </a:p>
              <a:p>
                <a:pPr lvl="0" indent="0" marL="0">
                  <a:buNone/>
                </a:pPr>
                <a:r>
                  <a:rPr/>
                  <a:t>Corpus composition drives raw counts. If more documents are published, term frequency rises with no change in attention. </a:t>
                </a:r>
                <a:r>
                  <a:rPr b="1"/>
                  <a:t>Normalise, and say how in the caption.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What I did</a:t>
            </a:r>
            <a:r>
              <a:rPr/>
              <a:t> — the representation, the normalisation, the model and version</a:t>
            </a:r>
          </a:p>
          <a:p>
            <a:pPr lvl="0" indent="-342900" marL="342900">
              <a:buAutoNum type="arabicPeriod"/>
            </a:pPr>
            <a:r>
              <a:rPr b="1"/>
              <a:t>The number</a:t>
            </a:r>
            <a:r>
              <a:rPr/>
              <a:t> — your index, and what it correlates with</a:t>
            </a:r>
          </a:p>
          <a:p>
            <a:pPr lvl="0" indent="-342900" marL="342900">
              <a:buAutoNum type="arabicPeriod"/>
            </a:pPr>
            <a:r>
              <a:rPr b="1"/>
              <a:t>The catch</a:t>
            </a:r>
            <a:r>
              <a:rPr/>
              <a:t> — say “our index of X”, never “X”</a:t>
            </a:r>
          </a:p>
          <a:p>
            <a:pPr lvl="0" indent="0" marL="0">
              <a:buNone/>
            </a:pPr>
            <a:r>
              <a:rPr/>
              <a:t>Full brief: </a:t>
            </a:r>
            <a:r>
              <a:rPr>
                <a:hlinkClick r:id="rId2"/>
                <a:latin typeface="Courier"/>
              </a:rPr>
              <a:t>02-lab/README.md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Unsupervised II: Clustering, Embeddings, Text as Data</dc:title>
  <dc:creator>Thierry Warin</dc:creator>
  <cp:keywords/>
  <dcterms:created xsi:type="dcterms:W3CDTF">2026-08-20T19:24:17Z</dcterms:created>
  <dcterms:modified xsi:type="dcterms:W3CDTF">2026-08-20T19:24:17Z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09 · Lecture, first half</vt:lpwstr>
  </property>
  <property fmtid="{D5CDD505-2E9C-101B-9397-08002B2CF9AE}" pid="16" name="toc-title">
    <vt:lpwstr>Table of contents</vt:lpwstr>
  </property>
</Properties>
</file>