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Relationship Id="rId3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Clustering, Embeddings, and Text as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09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do you measure something that only exists as words?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Outline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1</a:t></a:r></a:p></a:txBody></a:tc><a:tc><a:txBody><a:bodyPr /><a:lstStyle /><a:p><a:pPr lvl="0" indent="0" marL="0"><a:buNone /></a:pPr><a:r><a:rPr /><a:t>The warning that comes first</a:t></a:r></a:p></a:txBody></a:tc></a:tr><a:tr h="0"><a:tc><a:txBody><a:bodyPr /><a:lstStyle /><a:p><a:pPr lvl="0" indent="0" marL="0"><a:buNone /></a:pPr><a:r><a:rPr b="1" /><a:t>2</a:t></a:r></a:p></a:txBody></a:tc><a:tc><a:txBody><a:bodyPr /><a:lstStyle /><a:p><a:pPr lvl="0" indent="0" marL="0"><a:buNone /></a:pPr><a:r><a:rPr /><a:t>k-means: the objective and the algorithm</a:t></a:r></a:p></a:txBody></a:tc></a:tr><a:tr h="0"><a:tc><a:txBody><a:bodyPr /><a:lstStyle /><a:p><a:pPr lvl="0" indent="0" marL="0"><a:buNone /></a:pPr><a:r><a:rPr b="1" /><a:t>3</a:t></a:r></a:p></a:txBody></a:tc><a:tc><a:txBody><a:bodyPr /><a:lstStyle /><a:p><a:pPr lvl="0" indent="0" marL="0"><a:buNone /></a:pPr><a:r><a:rPr /><a:t>What the algorithm assumes</a:t></a:r></a:p></a:txBody></a:tc></a:tr><a:tr h="0"><a:tc><a:txBody><a:bodyPr /><a:lstStyle /><a:p><a:pPr lvl="0" indent="0" marL="0"><a:buNone /></a:pPr><a:r><a:rPr b="1" /><a:t>4</a:t></a:r></a:p></a:txBody></a:tc><a:tc><a:txBody><a:bodyPr /><a:lstStyle /><a:p><a:pPr lvl="0" indent="0" marL="0"><a:buNone /></a:pPr><a:r><a:rPr /><a:t>Hierarchical clustering</a:t></a:r></a:p></a:txBody></a:tc></a:tr><a:tr h="0"><a:tc><a:txBody><a:bodyPr /><a:lstStyle /><a:p><a:pPr lvl="0" indent="0" marL="0"><a:buNone /></a:pPr><a:r><a:rPr b="1" /><a:t>5</a:t></a:r></a:p></a:txBody></a:tc><a:tc><a:txBody><a:bodyPr /><a:lstStyle /><a:p><a:pPr lvl="0" indent="0" marL="0"><a:buNone /></a:pPr><a:r><a:rPr /><a:t>Choosing </a:t></a:r><a14:m><m:oMath xmlns:m="http://schemas.openxmlformats.org/officeDocument/2006/math"><m:r><m:t>k</m:t></m:r></m:oMath></a14:m></a:p></a:txBody></a:tc></a:tr><a:tr h="0"><a:tc><a:txBody><a:bodyPr /><a:lstStyle /><a:p><a:pPr lvl="0" indent="0" marL="0"><a:buNone /></a:pPr><a:r><a:rPr b="1" /><a:t>6</a:t></a:r></a:p></a:txBody></a:tc><a:tc><a:txBody><a:bodyPr /><a:lstStyle /><a:p><a:pPr lvl="0" indent="0" marL="0"><a:buNone /></a:pPr><a:r><a:rPr /><a:t>Representing text</a:t></a:r></a:p></a:txBody></a:tc></a:tr><a:tr h="0"><a:tc><a:txBody><a:bodyPr /><a:lstStyle /><a:p><a:pPr lvl="0" indent="0" marL="0"><a:buNone /></a:pPr><a:r><a:rPr b="1" /><a:t>7</a:t></a:r></a:p></a:txBody></a:tc><a:tc><a:txBody><a:bodyPr /><a:lstStyle /><a:p><a:pPr lvl="0" indent="0" marL="0"><a:buNone /></a:pPr><a:r><a:rPr /><a:t>Validity — the part that is actually hard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State the k-means objective and prove that Lloyd’s algorithm </a:t>
            </a:r>
            <a:r>
              <a:rPr b="1"/>
              <a:t>converges</a:t>
            </a:r>
            <a:r>
              <a:rPr/>
              <a:t> — and to what</a:t>
            </a:r>
          </a:p>
          <a:p>
            <a:pPr lvl="0"/>
            <a:r>
              <a:rPr/>
              <a:t>Draw the Voronoi tessellation and say which cluster shapes it </a:t>
            </a:r>
            <a:r>
              <a:rPr b="1"/>
              <a:t>cannot</a:t>
            </a:r>
            <a:r>
              <a:rPr/>
              <a:t> find</a:t>
            </a:r>
          </a:p>
          <a:p>
            <a:pPr lvl="0"/>
            <a:r>
              <a:rPr/>
              <a:t>Compute a silhouette by hand and read its sign</a:t>
            </a:r>
          </a:p>
          <a:p>
            <a:pPr lvl="0"/>
            <a:r>
              <a:rPr/>
              <a:t>Build a TF-IDF matrix and say what word order costs you</a:t>
            </a:r>
          </a:p>
          <a:p>
            <a:pPr lvl="0"/>
            <a:r>
              <a:rPr/>
              <a:t>Apply four validity criteria to a text-derived index, and </a:t>
            </a:r>
            <a:r>
              <a:rPr b="1"/>
              <a:t>actually read the documents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Start with the warning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clusters. What do they mean?</a:t>
            </a:r>
          </a:p>
        </p:txBody>
      </p:sp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44600"/>
            <a:ext cx="82296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is </a:t>
            </a:r>
            <a:r>
              <a:rPr b="1"/>
              <a:t>no structure in that data</a:t>
            </a:r>
            <a:r>
              <a:rPr/>
              <a:t>. There cannot be — it is uniform noise. Every clustering algorithm returns clusters, including on noise.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the burden of proof is yours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supervised model can be wrong in a way the test set exposes. An unsupervised model </a:t>
            </a:r>
            <a:r>
              <a:rPr b="1"/>
              <a:t>cannot</a:t>
            </a:r>
            <a:r>
              <a:rPr/>
              <a:t>. There is no held-out label to contradict you.</a:t>
            </a:r>
          </a:p>
          <a:p>
            <a:pPr lvl="0"/>
            <a:r>
              <a:rPr/>
              <a:t>The algorithm will always return an answer</a:t>
            </a:r>
          </a:p>
          <a:p>
            <a:pPr lvl="0"/>
            <a:r>
              <a:rPr/>
              <a:t>The answer will always look convincing when plotted</a:t>
            </a:r>
          </a:p>
          <a:p>
            <a:pPr lvl="0"/>
            <a:r>
              <a:rPr/>
              <a:t>Nothing in the output tells you whether the structure exists</a:t>
            </a:r>
          </a:p>
          <a:p>
            <a:pPr lvl="0" indent="0" marL="0">
              <a:buNone/>
            </a:pPr>
            <a:r>
              <a:rPr/>
              <a:t>Everything in this session is therefore about </a:t>
            </a:r>
            <a:r>
              <a:rPr b="1"/>
              <a:t>evidence</a:t>
            </a:r>
            <a:r>
              <a:rPr/>
              <a:t>, not about algorithms. The algorithms are twenty lines each.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k-means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problem is </a:t>
                </a:r>
                <a:r>
                  <a:rPr b="1"/>
                  <a:t>NP-hard</a:t>
                </a:r>
                <a:r>
                  <a:rPr/>
                  <a:t>. You are not going to solve it. You are going to find a local minimum and be honest about that.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Lloyd’s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1 · Assign.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min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each point to its nearest centroid.</a:t>
                </a:r>
              </a:p>
              <a:p>
                <a:pPr lvl="0" indent="0" marL="0">
                  <a:buNone/>
                </a:pPr>
                <a:r>
                  <a:rPr b="1"/>
                  <a:t>2 · Update.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</m:oMath>
                </a14:m>
                <a:r>
                  <a:rPr/>
                  <a:t> the mean of the points now assigned to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Step 2 is </a:t>
                </a:r>
                <a:r>
                  <a:rPr b="1"/>
                  <a:t>optimal given the assignments</a:t>
                </a:r>
                <a:r>
                  <a:rPr/>
                  <a:t> (differentiate the objective in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, set to zero — the answer is the mean). Step 1 is </a:t>
                </a:r>
                <a:r>
                  <a:rPr b="1"/>
                  <a:t>optimal given the centroids</a:t>
                </a:r>
                <a:r>
                  <a:rPr/>
                  <a:t>. So the objective decreases monotonically, and there are finitely many partitions. Hence it terminates.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it converge</a:t>
            </a:r>
          </a:p>
        </p:txBody>
      </p:sp>
      <p:pic>
        <p:nvPicPr>
          <p:cNvPr descr="slides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82296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Monotone decrease, then a flat line. The flat line is convergence; it is not optimality.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minima are the normal case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Different starts give different answers. Not slightly different — </a:t>
                </a:r>
                <a:r>
                  <a:rPr b="1"/>
                  <a:t>structurally</a:t>
                </a:r>
                <a:r>
                  <a:rPr/>
                  <a:t> different, with different cluster counts in each group.</a:t>
                </a:r>
              </a:p>
              <a:p>
                <a:pPr lvl="0"/>
                <a:r>
                  <a:rPr/>
                  <a:t>Run it many times from different starts: </a:t>
                </a:r>
                <a:r>
                  <a:rPr>
                    <a:latin typeface="Courier"/>
                  </a:rPr>
                  <a:t>n_init=20</a:t>
                </a:r>
                <a:r>
                  <a:rPr/>
                  <a:t>, not the default</a:t>
                </a:r>
              </a:p>
              <a:p>
                <a:pPr lvl="0"/>
                <a:r>
                  <a:rPr/>
                  <a:t>Or use </a:t>
                </a:r>
                <a:r>
                  <a:rPr b="1"/>
                  <a:t>k-means++</a:t>
                </a:r>
                <a:r>
                  <a:rPr/>
                  <a:t>, which seeds centroids with probability proportional to squared distance from the nearest existing centroid</a:t>
                </a:r>
              </a:p>
              <a:p>
                <a:pPr lvl="0"/>
                <a:r>
                  <a:rPr/>
                  <a:t>k-means++ is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k</m:t>
                        </m:r>
                      </m:e>
                    </m:d>
                  </m:oMath>
                </a14:m>
                <a:r>
                  <a:rPr/>
                  <a:t>-competitive </a:t>
                </a:r>
                <a:r>
                  <a:rPr b="1"/>
                  <a:t>in expectation</a:t>
                </a:r>
                <a:r>
                  <a:rPr/>
                  <a:t> — a guarantee about the average, not about your run</a:t>
                </a:r>
              </a:p>
              <a:p>
                <a:pPr lvl="0" indent="0" marL="0">
                  <a:buNone/>
                </a:pPr>
                <a:r>
                  <a:rPr/>
                  <a:t>Report the number of restarts. A clustering from one restart is not a result.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What the algorithm assumes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Nearest-centroid means straight boundaries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82296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right-hand panel is not a tuning failure. </a:t>
            </a:r>
            <a:r>
              <a:rPr b="1"/>
              <a:t>No</a:t>
            </a:r>
            <a:r>
              <a:rPr/>
              <a:t> value of </a:t>
            </a:r>
            <a:r>
              <a:rPr>
                <a:latin typeface="Courier"/>
              </a:rPr>
              <a:t>n_init</a:t>
            </a:r>
            <a:r>
              <a:rPr/>
              <a:t> fixes it. The objective itself forbids the correct answer.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Say precisely what is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clusters are defined by nearest centroid, the boundaries are perpendicular bisectors — a </a:t>
            </a:r>
            <a:r>
              <a:rPr b="1"/>
              <a:t>Voronoi tessellation</a:t>
            </a:r>
            <a:r>
              <a:rPr/>
              <a:t>. That </a:t>
            </a:r>
            <a:r>
              <a:rPr i="1"/>
              <a:t>forces</a:t>
            </a:r>
            <a:r>
              <a:rPr/>
              <a:t> clusters that are convex, roughly spherical, and of similar size.</a:t>
            </a:r>
          </a:p>
          <a:p>
            <a:pPr lvl="0"/>
            <a:r>
              <a:rPr/>
              <a:t>Elongated or nested structures will be cut incorrectly no matter how well you optimise</a:t>
            </a:r>
          </a:p>
          <a:p>
            <a:pPr lvl="0"/>
            <a:r>
              <a:rPr b="1"/>
              <a:t>Gaussian mixture</a:t>
            </a:r>
            <a:r>
              <a:rPr/>
              <a:t> (EM): allows covariance structure, gives </a:t>
            </a:r>
            <a:r>
              <a:rPr i="1"/>
              <a:t>soft</a:t>
            </a:r>
            <a:r>
              <a:rPr/>
              <a:t> assignments</a:t>
            </a:r>
          </a:p>
          <a:p>
            <a:pPr lvl="0"/>
            <a:r>
              <a:rPr b="1"/>
              <a:t>DBSCAN / spectral clustering</a:t>
            </a:r>
            <a:r>
              <a:rPr/>
              <a:t>: for non-convex shapes</a:t>
            </a:r>
          </a:p>
          <a:p>
            <a:pPr lvl="0" indent="0" marL="0">
              <a:buNone/>
            </a:pPr>
            <a:r>
              <a:rPr/>
              <a:t>Those shapes are </a:t>
            </a:r>
            <a:r>
              <a:rPr b="1"/>
              <a:t>forced by the algorithm, not discovered in the data</a:t>
            </a:r>
            <a:r>
              <a:rPr/>
              <a:t>. Say which you are doing.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Hierarchical clustering</a:t>
            </a:r>
          </a:p>
        </p:txBody>
      </p:sp>
    </p:spTree>
  </p:cSld>
</p:sld>
</file>

<file path=ppt/slides/slide2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Merge upward instead of partitioning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Start with every point its own cluster; repeatedly merge the two </a:t></a:r><a:r><a:rPr b="1" /><a:t>closest</a:t></a:r><a:r><a:rPr /><a:t>. The linkage function defines “closest”: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Linkage</a:t></a:r></a:p></a:txBody><a:tcPr /></a:tc><a:tc><a:txBody><a:bodyPr /><a:lstStyle /><a:p><a:pPr lvl="0" indent="0" marL="0"><a:buNone /></a:pPr><a14:m><m:oMath xmlns:m="http://schemas.openxmlformats.org/officeDocument/2006/math"><m:r><m:t>d</m:t></m:r><m:d><m:dPr><m:begChr m:val="(" /><m:sepChr m:val="" /><m:endChr m:val=")" /><m:grow /></m:dPr><m:e><m:r><m:t>A</m:t></m:r><m:r><m:rPr><m:sty m:val="p" /></m:rPr><m:t>,</m:t></m:r><m:r><m:t>B</m:t></m:r></m:e></m:d></m:oMath></a14:m></a:p></a:txBody><a:tcPr /></a:tc><a:tc><a:txBody><a:bodyPr /><a:lstStyle /><a:p><a:pPr lvl="0" indent="0" marL="0"><a:buNone /></a:pPr><a:r><a:rPr /><a:t>Behaviour</a:t></a:r></a:p></a:txBody><a:tcPr /></a:tc></a:tr><a:tr h="0"><a:tc><a:txBody><a:bodyPr /><a:lstStyle /><a:p><a:pPr lvl="0" indent="0" marL="0"><a:buNone /></a:pPr><a:r><a:rPr /><a:t>Single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min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chaining; elongated shapes; unstable</a:t></a:r></a:p></a:txBody></a:tc></a:tr><a:tr h="0"><a:tc><a:txBody><a:bodyPr /><a:lstStyle /><a:p><a:pPr lvl="0" indent="0" marL="0"><a:buNone /></a:pPr><a:r><a:rPr /><a:t>Complete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max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compact, similar-diameter clusters</a:t></a:r></a:p></a:txBody></a:tc></a:tr><a:tr h="0"><a:tc><a:txBody><a:bodyPr /><a:lstStyle /><a:p><a:pPr lvl="0" indent="0" marL="0"><a:buNone /></a:pPr><a:r><a:rPr /><a:t>Average</a:t></a:r></a:p></a:txBody></a:tc><a:tc><a:txBody><a:bodyPr /><a:lstStyle /><a:p><a:pPr lvl="0" indent="0" marL="0"><a:buNone /></a:pPr><a:r><a:rPr /><a:t>mean pairwise distance</a:t></a:r></a:p></a:txBody></a:tc><a:tc><a:txBody><a:bodyPr /><a:lstStyle /><a:p><a:pPr lvl="0" indent="0" marL="0"><a:buNone /></a:pPr><a:r><a:rPr /><a:t>compromise; not transform-invariant</a:t></a:r></a:p></a:txBody></a:tc></a:tr><a:tr h="0"><a:tc><a:txBody><a:bodyPr /><a:lstStyle /><a:p><a:pPr lvl="0" indent="0" marL="0"><a:buNone /></a:pPr><a:r><a:rPr b="1" /><a:t>Ward</a:t></a:r></a:p></a:txBody></a:tc><a:tc><a:txBody><a:bodyPr /><a:lstStyle /><a:p><a:pPr lvl="0" indent="0" marL="0"><a:buNone /></a:pPr><a:r><a:rPr /><a:t>increase in within-cluster SS</a:t></a:r></a:p></a:txBody></a:tc><a:tc><a:txBody><a:bodyPr /><a:lstStyle /><a:p><a:pPr lvl="0" indent="0" marL="0"><a:buNone /></a:pPr><a:r><a:rPr b="1" /><a:t>minimises the k-means criterion</a:t></a:r><a:r><a:rPr /><a:t> — try this first</a:t></a:r></a:p></a:txBody></a:tc></a:tr></a:tbl></a:graphicData></a:graphic></p:graphicFrame></p:spTree></p:cSld>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Linkage is not a detail</a:t>
            </a:r>
          </a:p>
        </p:txBody>
      </p:sp>
      <p:pic>
        <p:nvPicPr>
          <p:cNvPr descr="slides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33500"/>
            <a:ext cx="8229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Thirty European countries, same 13 standardised indicators. Single linkage chains them into one long ladder; Ward produces balanced groups.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gain and what it costs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Gain:</a:t>
                </a:r>
                <a:r>
                  <a:rPr/>
                  <a:t> you need not fix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in advance. The dendrogram shows structure at </a:t>
                </a:r>
                <a:r>
                  <a:rPr i="1"/>
                  <a:t>every</a:t>
                </a:r>
                <a:r>
                  <a:rPr/>
                  <a:t> resolution, and you cut it where the merge heights jump.</a:t>
                </a:r>
              </a:p>
              <a:p>
                <a:pPr lvl="0" indent="0" marL="0">
                  <a:buNone/>
                </a:pPr>
                <a:r>
                  <a:rPr b="1"/>
                  <a:t>Cost: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r>
                              <m:t>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memory. Thirty countries is free; three hundred thousand documents is not.</a:t>
                </a:r>
              </a:p>
              <a:p>
                <a:pPr lvl="0" indent="0" marL="0">
                  <a:buNone/>
                </a:pPr>
                <a:r>
                  <a:rPr/>
                  <a:t>Ward minimises the same within-cluster sum of squares as k-means — so a Ward dendrogram cut at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and a k-means run with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usually agree. When they do not, look at your data, not your code.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1850000"/>
                <a:ext cx="7772400" cy="1300000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5 · 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Elbow</a:t>
                </a:r>
                <a:r>
                  <a:rPr/>
                  <a:t> — plot within-cluster SS against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 It </a:t>
                </a:r>
                <a:r>
                  <a:rPr i="1"/>
                  <a:t>always</a:t>
                </a:r>
                <a:r>
                  <a:rPr/>
                  <a:t> decreases, so you are looking for a kink. Often no kink exists</a:t>
                </a:r>
              </a:p>
              <a:p>
                <a:pPr lvl="0"/>
                <a:r>
                  <a:rPr b="1"/>
                  <a:t>Silhouette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b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m:t>max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a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b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den>
                    </m:f>
                  </m:oMath>
                </a14:m>
                <a:r>
                  <a:rPr/>
                  <a:t>, with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mean distance to its own cluster and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to the nearest other. Average over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, maximise over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  <a:p>
                <a:pPr lvl="0"/>
                <a:r>
                  <a:rPr b="1"/>
                  <a:t>Gap statistic</a:t>
                </a:r>
                <a:r>
                  <a:rPr/>
                  <a:t> — compare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to its expectation under a null. It can return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k</m:t>
                    </m:r>
                    <m:r>
                      <m:rPr>
                        <m:sty m:val="b"/>
                      </m:rPr>
                      <m:t>=</m:t>
                    </m:r>
                    <m:r>
                      <m:rPr>
                        <m:sty m:val="b"/>
                      </m:rPr>
                      <m:t>1</m:t>
                    </m:r>
                  </m:oMath>
                </a14:m>
                <a:r>
                  <a:rPr/>
                  <a:t>, i.e. </a:t>
                </a:r>
                <a:r>
                  <a:rPr i="1"/>
                  <a:t>no cluster structure</a:t>
                </a:r>
                <a:r>
                  <a:rPr/>
                  <a:t> — which is why it is worth the extra effort</a:t>
                </a:r>
              </a:p>
            </p:txBody>
          </p:sp>
        </mc:Choice>
      </mc:AlternateContent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Silhouette, by hand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651000" /><a:gridCol w="1651000" /><a:gridCol w="1651000" /><a:gridCol w="1651000" /><a:gridCol w="1651000" /></a:tblGrid><a:tr h="0"><a:tc><a:txBody><a:bodyPr /><a:lstStyle /><a:p><a:endParaRPr /></a:p></a:txBody><a:tcPr /></a:tc><a:tc><a:txBody><a:bodyPr /><a:lstStyle /><a:p><a:pPr lvl="0" indent="0" marL="0"><a:buNone /></a:pPr><a14:m><m:oMath xmlns:m="http://schemas.openxmlformats.org/officeDocument/2006/math"><m:sSub><m:e><m:r><m:t>a</m:t></m:r></m:e><m:sub><m:r><m:t>i</m:t></m:r></m:sub></m:sSub></m:oMath></a14:m></a:p></a:txBody><a:tcPr /></a:tc><a:tc><a:txBody><a:bodyPr /><a:lstStyle /><a:p><a:pPr lvl="0" indent="0" marL="0"><a:buNone /></a:pPr><a14:m><m:oMath xmlns:m="http://schemas.openxmlformats.org/officeDocument/2006/math"><m:sSub><m:e><m:r><m:t>b</m:t></m:r></m:e><m:sub><m:r><m:t>i</m:t></m:r></m:sub></m:sSub></m:oMath></a14:m></a:p></a:txBody><a:tcPr /></a:tc><a:tc><a:txBody><a:bodyPr /><a:lstStyle /><a:p><a:pPr lvl="0" indent="0" marL="0"><a:buNone /></a:pPr><a14:m><m:oMath xmlns:m="http://schemas.openxmlformats.org/officeDocument/2006/math"><m:sSub><m:e><m:r><m:t>s</m:t></m:r></m:e><m:sub><m:r><m:t>i</m:t></m:r></m:sub></m:sSub></m:oMath></a14:m></a:p></a:txBody><a:tcPr /></a:tc><a:tc><a:txBody><a:bodyPr /><a:lstStyle /><a:p><a:pPr lvl="0" indent="0" marL="0"><a:buNone /></a:pPr><a:r><a:rPr /><a:t>reading</a:t></a:r></a:p></a:txBody><a:tcPr /></a:tc></a:tr><a:tr h="0"><a:tc><a:txBody><a:bodyPr /><a:lstStyle /><a:p><a:pPr lvl="0" indent="0" marL="0"><a:buNone /></a:pPr><a:r><a:rPr /><a:t>point A</a:t></a:r></a:p></a:txBody></a:tc><a:tc><a:txBody><a:bodyPr /><a:lstStyle /><a:p><a:pPr lvl="0" indent="0" marL="0"><a:buNone /></a:pPr><a14:m><m:oMath xmlns:m="http://schemas.openxmlformats.org/officeDocument/2006/math"><m:r><m:t>1.2</m:t></m:r></m:oMath></a14:m></a:p></a:txBody></a:tc><a:tc><a:txBody><a:bodyPr /><a:lstStyle /><a:p><a:pPr lvl="0" indent="0" marL="0"><a:buNone /></a:pPr><a14:m><m:oMath xmlns:m="http://schemas.openxmlformats.org/officeDocument/2006/math"><m:r><m:t>2.0</m:t></m:r></m:oMath></a14:m></a:p></a:txBody></a:tc><a:tc><a:txBody><a:bodyPr /><a:lstStyle /><a:p><a:pPr lvl="0" indent="0" marL="0"><a:buNone /></a:pPr><a14:m><m:oMath xmlns:m="http://schemas.openxmlformats.org/officeDocument/2006/math"><m:d><m:dPr><m:begChr m:val="(" /><m:sepChr m:val="" /><m:endChr m:val=")" /><m:grow /></m:dPr><m:e><m:r><m:t>2.0</m:t></m:r><m:r><m:rPr><m:sty m:val="p" /></m:rPr><m:t>−</m:t></m:r><m:r><m:t>1.2</m:t></m:r></m:e></m:d><m:r><m:rPr><m:sty m:val="p" /></m:rPr><m:t>/</m:t></m:r><m:r><m:t>2.0</m:t></m:r><m:r><m:rPr><m:sty m:val="p" /></m:rPr><m:t>=</m:t></m:r><m:r><m:rPr><m:sty m:val="b" /></m:rPr><m:t>+</m:t></m:r><m:r><m:rPr><m:sty m:val="b" /></m:rPr><m:t>0.40</m:t></m:r></m:oMath></a14:m></a:p></a:txBody></a:tc><a:tc><a:txBody><a:bodyPr /><a:lstStyle /><a:p><a:pPr lvl="0" indent="0" marL="0"><a:buNone /></a:pPr><a:r><a:rPr /><a:t>comfortably in its cluster</a:t></a:r></a:p></a:txBody></a:tc></a:tr><a:tr h="0"><a:tc><a:txBody><a:bodyPr /><a:lstStyle /><a:p><a:pPr lvl="0" indent="0" marL="0"><a:buNone /></a:pPr><a:r><a:rPr /><a:t>point B</a:t></a:r></a:p></a:txBody></a:tc><a:tc><a:txBody><a:bodyPr /><a:lstStyle /><a:p><a:pPr lvl="0" indent="0" marL="0"><a:buNone /></a:pPr><a14:m><m:oMath xmlns:m="http://schemas.openxmlformats.org/officeDocument/2006/math"><m:r><m:t>2.0</m:t></m:r></m:oMath></a14:m></a:p></a:txBody></a:tc><a:tc><a:txBody><a:bodyPr /><a:lstStyle /><a:p><a:pPr lvl="0" indent="0" marL="0"><a:buNone /></a:pPr><a14:m><m:oMath xmlns:m="http://schemas.openxmlformats.org/officeDocument/2006/math"><m:r><m:t>1.2</m:t></m:r></m:oMath></a14:m></a:p></a:txBody></a:tc><a:tc><a:txBody><a:bodyPr /><a:lstStyle /><a:p><a:pPr lvl="0" indent="0" marL="0"><a:buNone /></a:pPr><a14:m><m:oMath xmlns:m="http://schemas.openxmlformats.org/officeDocument/2006/math"><m:d><m:dPr><m:begChr m:val="(" /><m:sepChr m:val="" /><m:endChr m:val=")" /><m:grow /></m:dPr><m:e><m:r><m:t>1.2</m:t></m:r><m:r><m:rPr><m:sty m:val="p" /></m:rPr><m:t>−</m:t></m:r><m:r><m:t>2.0</m:t></m:r></m:e></m:d><m:r><m:rPr><m:sty m:val="p" /></m:rPr><m:t>/</m:t></m:r><m:r><m:t>2.0</m:t></m:r><m:r><m:rPr><m:sty m:val="p" /></m:rPr><m:t>=</m:t></m:r><m:r><m:rPr><m:sty m:val="b" /></m:rPr><m:t>−</m:t></m:r><m:r><m:rPr><m:sty m:val="b" /></m:rPr><m:t>0.40</m:t></m:r></m:oMath></a14:m></a:p></a:txBody></a:tc><a:tc><a:txBody><a:bodyPr /><a:lstStyle /><a:p><a:pPr lvl="0" indent="0" marL="0"><a:buNone /></a:pPr><a:r><a:rPr b="1" /><a:t>probably misassigned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Near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: well clustered. Near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: on a boundary. </a:t>
                </a:r>
                <a:r>
                  <a:rPr b="1"/>
                  <a:t>Negative: it belongs somewhere else.</a:t>
                </a:r>
                <a:r>
                  <a:rPr/>
                  <a:t> A clustering with many negative silhouettes is a clustering you should not report.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criteria, on our 30 countries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ks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inertia, sils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[],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ks:</a:t>
            </a:r>
            <a:br/>
            <a:r>
              <a:rPr>
                <a:latin typeface="Courier"/>
              </a:rPr>
              <a:t>    km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KMeans(n_clusters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k,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).fit(ZP)</a:t>
            </a:r>
            <a:br/>
            <a:r>
              <a:rPr>
                <a:latin typeface="Courier"/>
              </a:rPr>
              <a:t>    inertia.append(km.inertia_)</a:t>
            </a:r>
            <a:br/>
            <a:r>
              <a:rPr>
                <a:latin typeface="Courier"/>
              </a:rPr>
              <a:t>    sils.append(silhouette_score(ZP, km.labels_))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f"elbow: within-cluster SS falls smoothly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inertia[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4070A0"/>
                </a:solidFill>
                <a:latin typeface="Courier"/>
              </a:rPr>
              <a:t>:.0f}</a:t>
            </a:r>
            <a:r>
              <a:rPr>
                <a:solidFill>
                  <a:srgbClr val="BB6688"/>
                </a:solidFill>
                <a:latin typeface="Courier"/>
              </a:rPr>
              <a:t> -&gt;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inertia[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4070A0"/>
                </a:solidFill>
                <a:latin typeface="Courier"/>
              </a:rPr>
              <a:t>:.0f}</a:t>
            </a:r>
            <a:r>
              <a:rPr>
                <a:solidFill>
                  <a:srgbClr val="BB6688"/>
                </a:solidFill>
                <a:latin typeface="Courier"/>
              </a:rPr>
              <a:t>, no kink"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f"silhouette is maximised at k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(ks)[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(np.argmax(sils))]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BB6688"/>
                </a:solidFill>
                <a:latin typeface="Courier"/>
              </a:rPr>
              <a:t>f"  (score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(sils)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)"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elbow: within-cluster SS falls smoothly 298 -&gt; 98, no kink
silhouette is maximised at k = 2  (score 0.287)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n_init=20</a:t>
            </a:r>
            <a:r>
              <a:rPr/>
              <a:t> because a single restart is not a result. Every number here is the best of 20 runs.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they do not agree with the truth</a:t>
            </a:r>
          </a:p>
        </p:txBody>
      </p:sp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data-generating process has </a:t>
            </a:r>
            <a:r>
              <a:rPr b="1"/>
              <a:t>four</a:t>
            </a:r>
            <a:r>
              <a:rPr/>
              <a:t> country types. The elbow shows nothing and the silhouette prefers </a:t>
            </a:r>
            <a:r>
              <a:rPr b="1"/>
              <a:t>two</a:t>
            </a:r>
            <a:r>
              <a:rPr/>
              <a:t>. Neither criterion is an oracle.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about that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Report </a:t>
                </a:r>
                <a:r>
                  <a:rPr b="1"/>
                  <a:t>at least two</a:t>
                </a:r>
                <a:r>
                  <a:rPr/>
                  <a:t> criteria, and report the disagreement. A single elbow plot is not evidence — it is a plot.</a:t>
                </a:r>
              </a:p>
              <a:p>
                <a:pPr lvl="0"/>
                <a:r>
                  <a:rPr/>
                  <a:t>Say how many restarts you ran</a:t>
                </a:r>
              </a:p>
              <a:p>
                <a:pPr lvl="0"/>
                <a:r>
                  <a:rPr/>
                  <a:t>Say which criteria you computed, including the ones that disagreed with your choice</a:t>
                </a:r>
              </a:p>
              <a:p>
                <a:pPr lvl="0"/>
                <a:r>
                  <a:rPr/>
                  <a:t>If the gap statistic returns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 </a:t>
                </a:r>
                <a:r>
                  <a:rPr b="1"/>
                  <a:t>say so</a:t>
                </a:r>
                <a:r>
                  <a:rPr/>
                  <a:t> and stop</a:t>
                </a:r>
              </a:p>
              <a:p>
                <a:pPr lvl="0" indent="0" marL="0">
                  <a:buNone/>
                </a:pPr>
                <a:r>
                  <a:rPr/>
                  <a:t>“We chose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</m:t>
                    </m:r>
                  </m:oMath>
                </a14:m>
                <a:r>
                  <a:rPr/>
                  <a:t> because it was interpretable” is an acceptable sentence, </a:t>
                </a:r>
                <a:r>
                  <a:rPr i="1"/>
                  <a:t>provided you write it</a:t>
                </a:r>
                <a:r>
                  <a:rPr/>
                  <a:t>. What is not acceptable is presenting it as what the data said.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Representing text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 of words, and TF-IDF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f</m:t>
                      </m:r>
                      <m:r>
                        <m:rPr>
                          <m:nor/>
                          <m:sty m:val="p"/>
                        </m:rPr>
                        <m:t>-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how often </m:t>
                          </m:r>
                          <m:r>
                            <m:t>t</m:t>
                          </m:r>
                          <m:r>
                            <m:rPr>
                              <m:nor/>
                              <m:sty m:val="p"/>
                            </m:rPr>
                            <m:t> is in </m:t>
                          </m:r>
                          <m:r>
                            <m:t>d</m:t>
                          </m:r>
                        </m:lim>
                      </m:limLow>
                      <m:r>
                        <m:rPr>
                          <m:sty m:val="p"/>
                        </m:rPr>
                        <m:t>×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t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how rare </m:t>
                          </m:r>
                          <m:r>
                            <m:t>t</m:t>
                          </m:r>
                          <m:r>
                            <m:rPr>
                              <m:nor/>
                              <m:sty m:val="p"/>
                            </m:rPr>
                            <m:t> is overall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idf factor downweights ubiquitous terms. A word appearing in every document carries no information about which document you are looking at.</a:t>
                </a:r>
              </a:p>
              <a:p>
                <a:pPr lvl="0" indent="0" marL="0">
                  <a:buNone/>
                </a:pPr>
                <a:r>
                  <a:rPr/>
                  <a:t>And the cost: bag-of-words discards word order </a:t>
                </a:r>
                <a:r>
                  <a:rPr b="1"/>
                  <a:t>entirely</a:t>
                </a:r>
                <a:r>
                  <a:rPr/>
                  <a:t>. </a:t>
                </a:r>
                <a:r>
                  <a:rPr i="1"/>
                  <a:t>“Inflation is not a concern”</a:t>
                </a:r>
                <a:r>
                  <a:rPr/>
                  <a:t> and </a:t>
                </a:r>
                <a:r>
                  <a:rPr i="1"/>
                  <a:t>“a concern is not inflation”</a:t>
                </a:r>
                <a:r>
                  <a:rPr/>
                  <a:t> are the </a:t>
                </a:r>
                <a:r>
                  <a:rPr b="1"/>
                  <a:t>same vector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one, on 1,980 central-bank documents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vec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TfidfVectorizer(stop_words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"english"</a:t>
                </a:r>
                <a:r>
                  <a:rPr>
                    <a:latin typeface="Courier"/>
                  </a:rPr>
                  <a:t>, min_df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5</a:t>
                </a:r>
                <a:r>
                  <a:rPr>
                    <a:latin typeface="Courier"/>
                  </a:rPr>
                  <a:t>, max_df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0.9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latin typeface="Courier"/>
                  </a:rPr>
                  <a:t>Xt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vec.fit_transform(docs[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"text"</a:t>
                </a:r>
                <a:r>
                  <a:rPr>
                    <a:latin typeface="Courier"/>
                  </a:rPr>
                  <a:t>])</a:t>
                </a:r>
                <a:br/>
                <a:r>
                  <a:rPr>
                    <a:latin typeface="Courier"/>
                  </a:rPr>
                  <a:t>terms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np.array(vec.get_feature_names_out())</a:t>
                </a:r>
                <a:br/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f"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Xt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.</a:t>
                </a:r>
                <a:r>
                  <a:rPr>
                    <a:latin typeface="Courier"/>
                  </a:rPr>
                  <a:t>shape[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0</a:t>
                </a:r>
                <a:r>
                  <a:rPr>
                    <a:latin typeface="Courier"/>
                  </a:rPr>
                  <a:t>]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 documents x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Xt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.</a:t>
                </a:r>
                <a:r>
                  <a:rPr>
                    <a:latin typeface="Courier"/>
                  </a:rPr>
                  <a:t>shape[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1</a:t>
                </a:r>
                <a:r>
                  <a:rPr>
                    <a:latin typeface="Courier"/>
                  </a:rPr>
                  <a:t>]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 terms"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f"density: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Xt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.</a:t>
                </a:r>
                <a:r>
                  <a:rPr>
                    <a:latin typeface="Courier"/>
                  </a:rPr>
                  <a:t>nnz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/</a:t>
                </a:r>
                <a:r>
                  <a:rPr>
                    <a:latin typeface="Courier"/>
                  </a:rPr>
                  <a:t> (Xt.shape[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0</a:t>
                </a:r>
                <a:r>
                  <a:rPr>
                    <a:latin typeface="Courier"/>
                  </a:rPr>
                  <a:t>]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*</a:t>
                </a:r>
                <a:r>
                  <a:rPr>
                    <a:latin typeface="Courier"/>
                  </a:rPr>
                  <a:t> Xt.shape[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1</a:t>
                </a:r>
                <a:r>
                  <a:rPr>
                    <a:latin typeface="Courier"/>
                  </a:rPr>
                  <a:t>])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:.1%}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 of cells non-zero"</a:t>
                </a:r>
                <a:r>
                  <a:rPr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1980 documents x 45 terms
density: 62.4% of cells non-zero</a:t>
                </a:r>
              </a:p>
              <a:p>
                <a:pPr lvl="0" indent="0" marL="0">
                  <a:buNone/>
                </a:pPr>
                <a:r>
                  <a:rPr b="1"/>
                  <a:t>Read that vocabulary size.</a:t>
                </a:r>
                <a:r>
                  <a:rPr/>
                  <a:t> Forty-five terms, and most cells filled. This corpus is synthetic. A real central-bank corpus has 10,000+ terms and is over 99% sparse — which is the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setting of Session 05, so penalised regression is the natural supervised tool on top of it.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idf weights are doing</a:t>
            </a:r>
          </a:p>
        </p:txBody>
      </p:sp>
      <p:pic>
        <p:nvPicPr>
          <p:cNvPr descr="slides_files/figure-pptx/cell-10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71600"/>
            <a:ext cx="8229600" cy="303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rare words in this corpus are the anxious ones. That is a fact about the corpus, and it is about to become a finding.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 the documents and read the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kmt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KMeans(n_clusters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).fit(Xt)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top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terms[np.argsort(kmt.cluster_centers_[c])[::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][:</a:t>
            </a:r>
            <a:r>
              <a:rPr>
                <a:solidFill>
                  <a:srgbClr val="40A070"/>
                </a:solidFill>
                <a:latin typeface="Courier"/>
              </a:rPr>
              <a:t>7</a:t>
            </a:r>
            <a:r>
              <a:rPr>
                <a:latin typeface="Courier"/>
              </a:rPr>
              <a:t>]]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f"cluster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c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 (n=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(kmt.labels_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c)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4070A0"/>
                </a:solidFill>
                <a:latin typeface="Courier"/>
              </a:rPr>
              <a:t>:4d}</a:t>
            </a:r>
            <a:r>
              <a:rPr>
                <a:solidFill>
                  <a:srgbClr val="BB6688"/>
                </a:solidFill>
                <a:latin typeface="Courier"/>
              </a:rPr>
              <a:t>):  </a:t>
            </a:r>
            <a:r>
              <a:rPr>
                <a:solidFill>
                  <a:srgbClr val="4070A0"/>
                </a:solidFill>
                <a:latin typeface="Courier"/>
              </a:rPr>
              <a:t>{', '.</a:t>
            </a:r>
            <a:r>
              <a:rPr>
                <a:latin typeface="Courier"/>
              </a:rPr>
              <a:t>join(top)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\n</a:t>
            </a:r>
            <a:r>
              <a:rPr>
                <a:solidFill>
                  <a:srgbClr val="BB6688"/>
                </a:solidFill>
                <a:latin typeface="Courier"/>
              </a:rPr>
              <a:t>adjusted Rand vs document type 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adjusted_rand_score(docs.doc_type, kmt.labels_)</a:t>
            </a:r>
            <a:r>
              <a:rPr>
                <a:solidFill>
                  <a:srgbClr val="4070A0"/>
                </a:solidFill>
                <a:latin typeface="Courier"/>
              </a:rPr>
              <a:t>:+.3f}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f"adjusted Rand vs institution   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adjusted_rand_score(docs.institution, kmt.labels_)</a:t>
            </a:r>
            <a:r>
              <a:rPr>
                <a:solidFill>
                  <a:srgbClr val="4070A0"/>
                </a:solidFill>
                <a:latin typeface="Courier"/>
              </a:rPr>
              <a:t>:+.3f}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cluster 0  (n= 753):  inflation, robust, balanced, anchored, confidence, orderly, sustained
cluster 1  (n= 826):  inflation, volatile, unpredictable, tension, unclear, fragile, risks
cluster 2  (n= 401):  artificial, intelligence, inflation, robust, anchored, moderate, resilient
adjusted Rand vs document type : -0.001
adjusted Rand vs institution   : +0.000</a:t>
            </a:r>
          </a:p>
          <a:p>
            <a:pPr lvl="0" indent="0" marL="0">
              <a:buNone/>
            </a:pPr>
            <a:r>
              <a:rPr/>
              <a:t>The clusters recover </a:t>
            </a:r>
            <a:r>
              <a:rPr b="1"/>
              <a:t>tone</a:t>
            </a:r>
            <a:r>
              <a:rPr/>
              <a:t> — calm, anxious, and an AI-themed group. They recover the metadata </a:t>
            </a:r>
            <a:r>
              <a:rPr b="1"/>
              <a:t>not at all</a:t>
            </a:r>
            <a:r>
              <a:rPr/>
              <a:t>. The algorithm answered a question you did not ask.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Dense embeddings, and cosine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maps each document to 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m</m:t>
                        </m:r>
                      </m:sup>
                    </m:sSup>
                  </m:oMath>
                </a14:m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typically 384–1024), trained so that semantically similar texts have similar vectors: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cos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bSup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 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</m:den>
                      </m:f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Cosine ignores </a:t>
                </a:r>
                <a:r>
                  <a:rPr b="1"/>
                  <a:t>magnitude</a:t>
                </a:r>
                <a:r>
                  <a:rPr/>
                  <a:t>, which is what you want when documents differ in length. A 300-word speech and a 30-word release about the same thing should be close.</a:t>
                </a:r>
              </a:p>
              <a:p>
                <a:pPr lvl="0" indent="0" marL="0">
                  <a:buNone/>
                </a:pPr>
                <a:r>
                  <a:rPr/>
                  <a:t>In the practice you generate embeddings </a:t>
                </a:r>
                <a:r>
                  <a:rPr b="1"/>
                  <a:t>locally</a:t>
                </a:r>
                <a:r>
                  <a:rPr/>
                  <a:t>. The corpus never leaves your machine — a methodological point and a governance one.</a:t>
                </a:r>
              </a:p>
            </p:txBody>
          </p:sp>
        </mc:Choice>
      </mc:AlternateContent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Similarity is a matrix you can look at</a:t>
            </a:r>
          </a:p>
        </p:txBody>
      </p:sp>
      <p:pic>
        <p:nvPicPr>
          <p:cNvPr descr="slides_files/figure-pptx/cell-12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38400" y="1193800"/>
            <a:ext cx="4267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Blocks along the diagonal are documents from the same tone group. The block structure is the clustering, seen from the other side.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not assume sophistication wins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Dictionary methods</a:t>
            </a:r>
            <a:r>
              <a:rPr/>
              <a:t> — count terms from a pre-specified list — remain widely used in economics precisely because they are </a:t>
            </a:r>
            <a:r>
              <a:rPr b="1"/>
              <a:t>transparent and auditable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An embedding-based index that nobody can interrogate may be </a:t>
            </a:r>
            <a:r>
              <a:rPr i="1"/>
              <a:t>less</a:t>
            </a:r>
            <a:r>
              <a:rPr/>
              <a:t> useful for policy than a word count anyone can check. A central banker can argue with a word list. They cannot argue with a 1,024-dimensional vector.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Validity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questions about any text-derived measure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Face validity</a:t>
            </a:r>
            <a:r>
              <a:rPr/>
              <a:t> — read a random sample of high- and low-scoring documents. Do they look like what you claim? </a:t>
            </a:r>
            <a:r>
              <a:rPr i="1"/>
              <a:t>Do this. Actually read them.</a:t>
            </a:r>
          </a:p>
          <a:p>
            <a:pPr lvl="0" indent="-342900" marL="342900">
              <a:buAutoNum type="arabicPeriod"/>
            </a:pPr>
            <a:r>
              <a:rPr b="1"/>
              <a:t>Convergent validity</a:t>
            </a:r>
            <a:r>
              <a:rPr/>
              <a:t> — does it correlate with independent measures of the same construct?</a:t>
            </a:r>
          </a:p>
          <a:p>
            <a:pPr lvl="0" indent="-342900" marL="342900">
              <a:buAutoNum type="arabicPeriod"/>
            </a:pPr>
            <a:r>
              <a:rPr b="1"/>
              <a:t>Predictive validity</a:t>
            </a:r>
            <a:r>
              <a:rPr/>
              <a:t> — does it forecast something it should?</a:t>
            </a:r>
          </a:p>
          <a:p>
            <a:pPr lvl="0" indent="-342900" marL="342900">
              <a:buAutoNum type="arabicPeriod"/>
            </a:pPr>
            <a:r>
              <a:rPr b="1"/>
              <a:t>Robustness</a:t>
            </a:r>
            <a:r>
              <a:rPr/>
              <a:t> — does it survive changes in preprocessing, vocabulary, and model?</a:t>
            </a:r>
          </a:p>
          <a:p>
            <a:pPr lvl="0" indent="0" marL="0">
              <a:buNone/>
            </a:pPr>
            <a:r>
              <a:rPr/>
              <a:t>If your finding depends on a stemming choice, you do not have a finding.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dictionary index, then test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POS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</a:t>
            </a:r>
            <a:r>
              <a:rPr>
                <a:solidFill>
                  <a:srgbClr val="4070A0"/>
                </a:solidFill>
                <a:latin typeface="Courier"/>
              </a:rPr>
              <a:t>"robust"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"balanced"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"anchored"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"confidence"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"orderly"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</a:t>
            </a:r>
            <a:r>
              <a:rPr>
                <a:solidFill>
                  <a:srgbClr val="4070A0"/>
                </a:solidFill>
                <a:latin typeface="Courier"/>
              </a:rPr>
              <a:t>"sustained"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"steady"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"resilient"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"stable"</a:t>
            </a:r>
            <a:r>
              <a:rPr>
                <a:latin typeface="Courier"/>
              </a:rPr>
              <a:t>}</a:t>
            </a:r>
            <a:br/>
            <a:r>
              <a:rPr>
                <a:latin typeface="Courier"/>
              </a:rPr>
              <a:t>NEG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</a:t>
            </a:r>
            <a:r>
              <a:rPr>
                <a:solidFill>
                  <a:srgbClr val="4070A0"/>
                </a:solidFill>
                <a:latin typeface="Courier"/>
              </a:rPr>
              <a:t>"volatile"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"unpredictable"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"tension"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"unclear"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"fragile"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"risks"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</a:t>
            </a:r>
            <a:r>
              <a:rPr>
                <a:solidFill>
                  <a:srgbClr val="4070A0"/>
                </a:solidFill>
                <a:latin typeface="Courier"/>
              </a:rPr>
              <a:t>"risk"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"uncertain"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"uncertainty"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"downside"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"concerns"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"concern"</a:t>
            </a:r>
            <a:r>
              <a:rPr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tone(text):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"""Net share of tone words, in percentage points of the document."""</a:t>
            </a:r>
            <a:br/>
            <a:r>
              <a:rPr>
                <a:latin typeface="Courier"/>
              </a:rPr>
              <a:t>    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re.findall(</a:t>
            </a:r>
            <a:r>
              <a:rPr>
                <a:solidFill>
                  <a:srgbClr val="4070A0"/>
                </a:solidFill>
                <a:latin typeface="Courier"/>
              </a:rPr>
              <a:t>r"</a:t>
            </a:r>
            <a:r>
              <a:rPr>
                <a:solidFill>
                  <a:srgbClr val="BC7A00"/>
                </a:solidFill>
                <a:latin typeface="Courier"/>
              </a:rPr>
              <a:t>[a-z]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4070A0"/>
                </a:solidFill>
                <a:latin typeface="Courier"/>
              </a:rPr>
              <a:t>"</a:t>
            </a:r>
            <a:r>
              <a:rPr>
                <a:latin typeface="Courier"/>
              </a:rPr>
              <a:t>, text.lower())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(x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POS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w)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(x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NEG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w))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(w),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docs[</a:t>
            </a:r>
            <a:r>
              <a:rPr>
                <a:solidFill>
                  <a:srgbClr val="4070A0"/>
                </a:solidFill>
                <a:latin typeface="Courier"/>
              </a:rPr>
              <a:t>"tone"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docs[</a:t>
            </a:r>
            <a:r>
              <a:rPr>
                <a:solidFill>
                  <a:srgbClr val="4070A0"/>
                </a:solidFill>
                <a:latin typeface="Courier"/>
              </a:rPr>
              <a:t>"text"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map</a:t>
            </a:r>
            <a:r>
              <a:rPr>
                <a:latin typeface="Courier"/>
              </a:rPr>
              <a:t>(tone)</a:t>
            </a:r>
            <a:br/>
            <a:r>
              <a:rPr>
                <a:latin typeface="Courier"/>
              </a:rPr>
              <a:t>by_year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docs.groupby(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)[</a:t>
            </a:r>
            <a:r>
              <a:rPr>
                <a:solidFill>
                  <a:srgbClr val="4070A0"/>
                </a:solidFill>
                <a:latin typeface="Courier"/>
              </a:rPr>
              <a:t>"tone"</a:t>
            </a:r>
            <a:r>
              <a:rPr>
                <a:latin typeface="Courier"/>
              </a:rPr>
              <a:t>].mean()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f"most positive year: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by_year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idxmax()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 (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by_year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4070A0"/>
                </a:solidFill>
                <a:latin typeface="Courier"/>
              </a:rPr>
              <a:t>:+.2f}</a:t>
            </a:r>
            <a:r>
              <a:rPr>
                <a:solidFill>
                  <a:srgbClr val="BB6688"/>
                </a:solidFill>
                <a:latin typeface="Courier"/>
              </a:rPr>
              <a:t>)"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f"most negative year: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by_year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idxmin()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 (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by_year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4070A0"/>
                </a:solidFill>
                <a:latin typeface="Courier"/>
              </a:rPr>
              <a:t>:+.2f}</a:t>
            </a:r>
            <a:r>
              <a:rPr>
                <a:solidFill>
                  <a:srgbClr val="BB6688"/>
                </a:solidFill>
                <a:latin typeface="Courier"/>
              </a:rPr>
              <a:t>)"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most positive year: 2014  (+6.38)
most negative year: 2022  (-3.15)</a:t>
            </a:r>
          </a:p>
          <a:p>
            <a:pPr lvl="0" indent="0" marL="0">
              <a:buNone/>
            </a:pPr>
            <a:r>
              <a:rPr/>
              <a:t>Twelve lines, no model, and every step is legible to someone who has never opened a Python file.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Does it behave?</a:t>
            </a:r>
          </a:p>
        </p:txBody>
      </p:sp>
      <p:pic>
        <p:nvPicPr>
          <p:cNvPr descr="slides_files/figure-pptx/cell-1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" y="1193800"/>
            <a:ext cx="7899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index turns negative exactly where the spine documents a structural break. That is </a:t>
            </a:r>
            <a:r>
              <a:rPr b="1"/>
              <a:t>predictive validity</a:t>
            </a:r>
            <a:r>
              <a:rPr/>
              <a:t> — one of four boxes, and the only one this slide ticks.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boxes still open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Face validity</a:t>
                </a:r>
                <a:r>
                  <a:rPr/>
                  <a:t>: nobody has read a single document. Do that before the next slide is written</a:t>
                </a:r>
              </a:p>
              <a:p>
                <a:pPr lvl="0"/>
                <a:r>
                  <a:rPr b="1"/>
                  <a:t>Convergent validity</a:t>
                </a:r>
                <a:r>
                  <a:rPr/>
                  <a:t>: only 15 country-years merge onto the macro panel. A correlation 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15</m:t>
                    </m:r>
                  </m:oMath>
                </a14:m>
                <a:r>
                  <a:rPr/>
                  <a:t> is </a:t>
                </a:r>
                <a:r>
                  <a:rPr b="1"/>
                  <a:t>not</a:t>
                </a:r>
                <a:r>
                  <a:rPr/>
                  <a:t> evidence, and reporting it as such is worse than reporting nothing</a:t>
                </a:r>
              </a:p>
              <a:p>
                <a:pPr lvl="0"/>
                <a:r>
                  <a:rPr b="1"/>
                  <a:t>Robustness</a:t>
                </a:r>
                <a:r>
                  <a:rPr/>
                  <a:t>: swap </a:t>
                </a:r>
                <a:r>
                  <a:rPr>
                    <a:latin typeface="Courier"/>
                  </a:rPr>
                  <a:t>stable</a:t>
                </a:r>
                <a:r>
                  <a:rPr/>
                  <a:t> out of the positive list and rerun. If the story moves, the story was the word list</a:t>
                </a:r>
              </a:p>
              <a:p>
                <a:pPr lvl="0" indent="0" marL="0">
                  <a:buNone/>
                </a:pPr>
                <a:r>
                  <a:rPr/>
                  <a:t>The seductive part of text-as-data is that you always get a number. The number is the easy part.</a:t>
                </a:r>
              </a:p>
            </p:txBody>
          </p:sp>
        </mc:Choice>
      </mc:AlternateContent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Every clustering algorithm returns clusters, </a:t>
                </a:r>
                <a:r>
                  <a:rPr b="1"/>
                  <a:t>including on noise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Lloyd’s algorithm converges — to a </a:t>
                </a:r>
                <a:r>
                  <a:rPr b="1"/>
                  <a:t>local</a:t>
                </a:r>
                <a:r>
                  <a:rPr/>
                  <a:t> minimum. Report your restarts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k-means forces convex, similar-sized clusters. That is an assumption, not a finding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Ward linkage minimises the k-means criterion, without fixing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in advance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at least two criteria for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report the disagreement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TF-IDF is the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setting again. Word order is gone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Validity is four questions, and the first one is </a:t>
                </a:r>
                <a:r>
                  <a:rPr b="1"/>
                  <a:t>read the documents</a:t>
                </a:r>
              </a:p>
            </p:txBody>
          </p:sp>
        </mc:Choice>
      </mc:AlternateContent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marks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One restart, one elbow plot, one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  <a:p>
                <a:pPr lvl="0"/>
                <a:r>
                  <a:rPr/>
                  <a:t>Naming clusters (“this is the periphery”) without showing what distinguishes them</a:t>
                </a:r>
              </a:p>
              <a:p>
                <a:pPr lvl="0"/>
                <a:r>
                  <a:rPr/>
                  <a:t>Reporting a clustering without saying whether the shapes were plausible</a:t>
                </a:r>
              </a:p>
              <a:p>
                <a:pPr lvl="0"/>
                <a:r>
                  <a:rPr/>
                  <a:t>A text index with no face-validity check</a:t>
                </a:r>
              </a:p>
              <a:p>
                <a:pPr lvl="0"/>
                <a:r>
                  <a:rPr/>
                  <a:t>A correlation on 15 observations, offered as convergent validity</a:t>
                </a:r>
              </a:p>
            </p:txBody>
          </p:sp>
        </mc:Choice>
      </mc:AlternateContent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the practice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Ninety minutes, in your groups. You will cluster a corpus, defend your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against at least two criteria, build a text-derived index — and then spend the last half hour trying to break it.</a:t>
                </a:r>
              </a:p>
              <a:p>
                <a:pPr lvl="0" indent="0" marL="0">
                  <a:buNone/>
                </a:pPr>
                <a:r>
                  <a:rPr/>
                  <a:t>Notes: </a:t>
                </a:r>
                <a:r>
                  <a:rPr>
                    <a:hlinkClick r:id="rId2"/>
                    <a:latin typeface="Courier"/>
                  </a:rPr>
                  <a:t>01-lecture/README.md</a:t>
                </a:r>
                <a:r>
                  <a:rPr/>
                  <a:t> · practice brief: </a:t>
                </a:r>
                <a:r>
                  <a:rPr>
                    <a:hlinkClick r:id="rId3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Clustering, Embeddings, and Text as Data</dc:title>
  <dc:creator>Thierry Warin</dc:creator>
  <cp:keywords/>
  <dcterms:created xsi:type="dcterms:W3CDTF">2026-08-22T20:14:59Z</dcterms:created>
  <dcterms:modified xsi:type="dcterms:W3CDTF">2026-08-22T20:14:59Z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22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09 · Lecture, first half</vt:lpwstr>
  </property>
  <property fmtid="{D5CDD505-2E9C-101B-9397-08002B2CF9AE}" pid="18" name="toc-title">
    <vt:lpwstr>Table of contents</vt:lpwstr>
  </property>
</Properties>
</file>