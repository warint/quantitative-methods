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4bdb5987b94daa" /><Relationship Type="http://schemas.openxmlformats.org/officeDocument/2006/relationships/extended-properties" Target="/docProps/app.xml" Id="Rbfd39a97d7844dca" /><Relationship Type="http://schemas.openxmlformats.org/officeDocument/2006/relationships/officeDocument" Target="/ppt/presentation.xml" Id="R8380fabbcb6c4f8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1e3213d6c4c4ea9"/>
  </p:sldMasterIdLst>
  <p:notesMasterIdLst>
    <p:notesMasterId xmlns:r="http://schemas.openxmlformats.org/officeDocument/2006/relationships" r:id="R38257f64ffa240e1"/>
  </p:notesMasterIdLst>
  <p:sldIdLst>
    <p:sldId xmlns:r="http://schemas.openxmlformats.org/officeDocument/2006/relationships" id="256" r:id="Rca416f965993409b"/>
    <p:sldId xmlns:r="http://schemas.openxmlformats.org/officeDocument/2006/relationships" id="257" r:id="Ra7bdaadd06954060"/>
    <p:sldId xmlns:r="http://schemas.openxmlformats.org/officeDocument/2006/relationships" id="258" r:id="Rf53112af34ba48a7"/>
    <p:sldId xmlns:r="http://schemas.openxmlformats.org/officeDocument/2006/relationships" id="259" r:id="Re45c31a7123044a3"/>
    <p:sldId xmlns:r="http://schemas.openxmlformats.org/officeDocument/2006/relationships" id="260" r:id="R4f2cd853987c4dbf"/>
    <p:sldId xmlns:r="http://schemas.openxmlformats.org/officeDocument/2006/relationships" id="261" r:id="R38a55d36dea740d5"/>
    <p:sldId xmlns:r="http://schemas.openxmlformats.org/officeDocument/2006/relationships" id="262" r:id="Rf7020de147544567"/>
    <p:sldId xmlns:r="http://schemas.openxmlformats.org/officeDocument/2006/relationships" id="263" r:id="R57607d0d02bc4c1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fa515bf087a481d" /><Relationship Type="http://schemas.openxmlformats.org/officeDocument/2006/relationships/slideMaster" Target="/ppt/slideMasters/slideMaster1.xml" Id="R81e3213d6c4c4ea9" /><Relationship Type="http://schemas.openxmlformats.org/officeDocument/2006/relationships/notesMaster" Target="/ppt/notesMasters/notesMaster1.xml" Id="R38257f64ffa240e1" /><Relationship Type="http://schemas.openxmlformats.org/officeDocument/2006/relationships/presProps" Target="/ppt/presProps.xml" Id="R0077278cec734d30" /><Relationship Type="http://schemas.openxmlformats.org/officeDocument/2006/relationships/tableStyles" Target="/ppt/tableStyles.xml" Id="Rc6418111af724abe" /><Relationship Type="http://schemas.openxmlformats.org/officeDocument/2006/relationships/slide" Target="/ppt/slides/slide1.xml" Id="Rca416f965993409b" /><Relationship Type="http://schemas.openxmlformats.org/officeDocument/2006/relationships/slide" Target="/ppt/slides/slide2.xml" Id="Ra7bdaadd06954060" /><Relationship Type="http://schemas.openxmlformats.org/officeDocument/2006/relationships/slide" Target="/ppt/slides/slide3.xml" Id="Rf53112af34ba48a7" /><Relationship Type="http://schemas.openxmlformats.org/officeDocument/2006/relationships/slide" Target="/ppt/slides/slide4.xml" Id="Re45c31a7123044a3" /><Relationship Type="http://schemas.openxmlformats.org/officeDocument/2006/relationships/slide" Target="/ppt/slides/slide5.xml" Id="R4f2cd853987c4dbf" /><Relationship Type="http://schemas.openxmlformats.org/officeDocument/2006/relationships/slide" Target="/ppt/slides/slide6.xml" Id="R38a55d36dea740d5" /><Relationship Type="http://schemas.openxmlformats.org/officeDocument/2006/relationships/slide" Target="/ppt/slides/slide7.xml" Id="Rf7020de147544567" /><Relationship Type="http://schemas.openxmlformats.org/officeDocument/2006/relationships/slide" Target="/ppt/slides/slide8.xml" Id="R57607d0d02bc4c1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e317ef30c1647f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9964c3511fb4062" /><Relationship Type="http://schemas.openxmlformats.org/officeDocument/2006/relationships/notesMaster" Target="/ppt/notesMasters/notesMaster1.xml" Id="R272157d78d4a439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0719cccabf140a9" /><Relationship Type="http://schemas.openxmlformats.org/officeDocument/2006/relationships/notesMaster" Target="/ppt/notesMasters/notesMaster1.xml" Id="Red05933c14154fd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981ffde14174ddd" /><Relationship Type="http://schemas.openxmlformats.org/officeDocument/2006/relationships/notesMaster" Target="/ppt/notesMasters/notesMaster1.xml" Id="Rb1d994836965476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5df7438569d4c7c" /><Relationship Type="http://schemas.openxmlformats.org/officeDocument/2006/relationships/notesMaster" Target="/ppt/notesMasters/notesMaster1.xml" Id="R8ba76979d4ac4f6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dd987fc7b214166" /><Relationship Type="http://schemas.openxmlformats.org/officeDocument/2006/relationships/notesMaster" Target="/ppt/notesMasters/notesMaster1.xml" Id="Rc61cc4a3db164a8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1810d5e572f4977" /><Relationship Type="http://schemas.openxmlformats.org/officeDocument/2006/relationships/notesMaster" Target="/ppt/notesMasters/notesMaster1.xml" Id="R21fd59f041934ad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090926dc8ab47f0" /><Relationship Type="http://schemas.openxmlformats.org/officeDocument/2006/relationships/notesMaster" Target="/ppt/notesMasters/notesMaster1.xml" Id="Rc4a14eaa6e34489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cefd19c5726486e" /><Relationship Type="http://schemas.openxmlformats.org/officeDocument/2006/relationships/notesMaster" Target="/ppt/notesMasters/notesMaster1.xml" Id="R3de6289557de487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question: 90 minutes in groups: Reproduce one article result, rebuild the text measure, and treat validity as the main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09-clustering-and-text-as-data/slides.qmd</a:t>
            </a:r>
          </a:p>
          <a:p xmlns:a="http://schemas.openxmlformats.org/drawingml/2006/main">
            <a:r>
              <a:t>- Bennani &amp; Romelli (2024) — Tone during Federal Reserve Meetings — https://doi.org/10.1016/j.jimonfin.2024.103161</a:t>
            </a:r>
          </a:p>
          <a:p xmlns:a="http://schemas.openxmlformats.org/drawingml/2006/main">
            <a:r>
              <a:t>- Harvard Dataverse 10.7910/DVN/TZEN38 — https://doi.org/10.7910/DVN/TZEN38</a:t>
            </a:r>
          </a:p>
          <a:p xmlns:a="http://schemas.openxmlformats.org/drawingml/2006/main">
            <a:r>
              <a:t>- ISLR, unsupervised learning chapter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Groups work collaboratively. Assign a driver, a checker, and a narrator, then rotate roles halfway through.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09-clustering-and-text-as-data/02-practice/README.md</a:t>
            </a:r>
          </a:p>
          <a:p xmlns:a="http://schemas.openxmlformats.org/drawingml/2006/main">
            <a:r>
              <a:t>- Bennani &amp; Romelli (2024) — Tone during Federal Reserve Meetings — https://doi.org/10.1016/j.jimonfin.2024.103161</a:t>
            </a:r>
          </a:p>
          <a:p xmlns:a="http://schemas.openxmlformats.org/drawingml/2006/main">
            <a:r>
              <a:t>- Harvard Dataverse 10.7910/DVN/TZEN38 — https://doi.org/10.7910/DVN/TZEN38</a:t>
            </a:r>
          </a:p>
          <a:p xmlns:a="http://schemas.openxmlformats.org/drawingml/2006/main">
            <a:r>
              <a:t>- ISLR, unsupervised learning chapter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Call time at each transition. The one-slide presentation is the in-class product, not homework.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09-clustering-and-text-as-data/02-practice/README.md</a:t>
            </a:r>
          </a:p>
          <a:p xmlns:a="http://schemas.openxmlformats.org/drawingml/2006/main">
            <a:r>
              <a:t>- Bennani &amp; Romelli (2024) — Tone during Federal Reserve Meetings — https://doi.org/10.1016/j.jimonfin.2024.103161</a:t>
            </a:r>
          </a:p>
          <a:p xmlns:a="http://schemas.openxmlformats.org/drawingml/2006/main">
            <a:r>
              <a:t>- Harvard Dataverse 10.7910/DVN/TZEN38 — https://doi.org/10.7910/DVN/TZEN38</a:t>
            </a:r>
          </a:p>
          <a:p xmlns:a="http://schemas.openxmlformats.org/drawingml/2006/main">
            <a:r>
              <a:t>- ISLR, unsupervised learning chapter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If the demo fails, fix the environment before starting the research task.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09-clustering-and-text-as-data/02-practice/README.md</a:t>
            </a:r>
          </a:p>
          <a:p xmlns:a="http://schemas.openxmlformats.org/drawingml/2006/main">
            <a:r>
              <a:t>- Bennani &amp; Romelli (2024) — Tone during Federal Reserve Meetings — https://doi.org/10.1016/j.jimonfin.2024.103161</a:t>
            </a:r>
          </a:p>
          <a:p xmlns:a="http://schemas.openxmlformats.org/drawingml/2006/main">
            <a:r>
              <a:t>- Harvard Dataverse 10.7910/DVN/TZEN38 — https://doi.org/10.7910/DVN/TZEN38</a:t>
            </a:r>
          </a:p>
          <a:p xmlns:a="http://schemas.openxmlformats.org/drawingml/2006/main">
            <a:r>
              <a:t>- ISLR, unsupervised learning chapter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Assign one member to narrate why each transition exists while another types.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09-clustering-and-text-as-data/02-practice/README.md</a:t>
            </a:r>
          </a:p>
          <a:p xmlns:a="http://schemas.openxmlformats.org/drawingml/2006/main">
            <a:r>
              <a:t>- Bennani &amp; Romelli (2024) — Tone during Federal Reserve Meetings — https://doi.org/10.1016/j.jimonfin.2024.103161</a:t>
            </a:r>
          </a:p>
          <a:p xmlns:a="http://schemas.openxmlformats.org/drawingml/2006/main">
            <a:r>
              <a:t>- Harvard Dataverse 10.7910/DVN/TZEN38 — https://doi.org/10.7910/DVN/TZEN38</a:t>
            </a:r>
          </a:p>
          <a:p xmlns:a="http://schemas.openxmlformats.org/drawingml/2006/main">
            <a:r>
              <a:t>- ISLR, unsupervised learning chapter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failure is the learning objective. Do not let groups skip it after obtaining a clean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09-clustering-and-text-as-data/02-practice/README.md</a:t>
            </a:r>
          </a:p>
          <a:p xmlns:a="http://schemas.openxmlformats.org/drawingml/2006/main">
            <a:r>
              <a:t>- Bennani &amp; Romelli (2024) — Tone during Federal Reserve Meetings — https://doi.org/10.1016/j.jimonfin.2024.103161</a:t>
            </a:r>
          </a:p>
          <a:p xmlns:a="http://schemas.openxmlformats.org/drawingml/2006/main">
            <a:r>
              <a:t>- Harvard Dataverse 10.7910/DVN/TZEN38 — https://doi.org/10.7910/DVN/TZEN38</a:t>
            </a:r>
          </a:p>
          <a:p xmlns:a="http://schemas.openxmlformats.org/drawingml/2006/main">
            <a:r>
              <a:t>- ISLR, unsupervised learning chapter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Draw the presenter after the group is called. This makes shared understanding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09-clustering-and-text-as-data/02-practice/README.md</a:t>
            </a:r>
          </a:p>
          <a:p xmlns:a="http://schemas.openxmlformats.org/drawingml/2006/main">
            <a:r>
              <a:t>- Bennani &amp; Romelli (2024) — Tone during Federal Reserve Meetings — https://doi.org/10.1016/j.jimonfin.2024.103161</a:t>
            </a:r>
          </a:p>
          <a:p xmlns:a="http://schemas.openxmlformats.org/drawingml/2006/main">
            <a:r>
              <a:t>- Harvard Dataverse 10.7910/DVN/TZEN38 — https://doi.org/10.7910/DVN/TZEN38</a:t>
            </a:r>
          </a:p>
          <a:p xmlns:a="http://schemas.openxmlformats.org/drawingml/2006/main">
            <a:r>
              <a:t>- ISLR, unsupervised learning chapter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QMIB Lab App is an optional post-class knowledge check. Completion can count toward participation; it is not preparation for the next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QMIB Lab App: /Users/thierrywarin/Desktop/QMIB-lab-app/README.md</a:t>
            </a:r>
          </a:p>
          <a:p xmlns:a="http://schemas.openxmlformats.org/drawingml/2006/main">
            <a:r>
              <a:t>- Course source: 09-clustering-and-text-as-data/02-practice/README.md</a:t>
            </a:r>
          </a:p>
          <a:p xmlns:a="http://schemas.openxmlformats.org/drawingml/2006/main">
            <a:r>
              <a:t>- Bennani &amp; Romelli (2024) — Tone during Federal Reserve Meetings — https://doi.org/10.1016/j.jimonfin.2024.103161</a:t>
            </a:r>
          </a:p>
          <a:p xmlns:a="http://schemas.openxmlformats.org/drawingml/2006/main">
            <a:r>
              <a:t>- Harvard Dataverse 10.7910/DVN/TZEN38 — https://doi.org/10.7910/DVN/TZEN38</a:t>
            </a:r>
          </a:p>
          <a:p xmlns:a="http://schemas.openxmlformats.org/drawingml/2006/main">
            <a:r>
              <a:t>- ISLR, unsupervised learning chapter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b7a4d2059d4e5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bd246442d794e25" /><Relationship Type="http://schemas.openxmlformats.org/officeDocument/2006/relationships/slideLayout" Target="/ppt/slideLayouts/slideLayout1.xml" Id="R15c34ba39ec44b1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5c34ba39ec44b1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a878ec04964a80" /><Relationship Type="http://schemas.openxmlformats.org/officeDocument/2006/relationships/notesSlide" Target="/ppt/notesSlides/notesSlide1.xml" Id="R3beba8536200440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56bc42bca046c8" /><Relationship Type="http://schemas.openxmlformats.org/officeDocument/2006/relationships/notesSlide" Target="/ppt/notesSlides/notesSlide2.xml" Id="Rb9e3e2943f5c4a6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af66ceda2b4241" /><Relationship Type="http://schemas.openxmlformats.org/officeDocument/2006/relationships/notesSlide" Target="/ppt/notesSlides/notesSlide3.xml" Id="R1ada8cae217042e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994c4bfae84d7a" /><Relationship Type="http://schemas.openxmlformats.org/officeDocument/2006/relationships/notesSlide" Target="/ppt/notesSlides/notesSlide4.xml" Id="R3c397153b603499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18edb999c74cd6" /><Relationship Type="http://schemas.openxmlformats.org/officeDocument/2006/relationships/notesSlide" Target="/ppt/notesSlides/notesSlide5.xml" Id="R9a925f06be874a6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9585eecf674e83" /><Relationship Type="http://schemas.openxmlformats.org/officeDocument/2006/relationships/notesSlide" Target="/ppt/notesSlides/notesSlide6.xml" Id="R62ead28f9107475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c61879ab284573" /><Relationship Type="http://schemas.openxmlformats.org/officeDocument/2006/relationships/notesSlide" Target="/ppt/notesSlides/notesSlide7.xml" Id="Rf3b4155b088a4a4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e1b26be2ee4f5f" /><Relationship Type="http://schemas.openxmlformats.org/officeDocument/2006/relationships/notesSlide" Target="/ppt/notesSlides/notesSlide8.xml" Id="R3f4ca68fe213433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BD5C4EE3-B88D-48AF-8E42-A57FD2579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MATH60033A · SESSION 09 · IN-CLASS PRACTICE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F3906594-BFEC-4155-9F4D-E870B5936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55721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5857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5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Replicate and challenge a central-bank tone index</a:t>
            </a:r>
          </a:p>
        </p:txBody>
      </p:sp>
      <p:sp>
        <p:nvSpPr>
          <p:cNvPr id="3" name="cover-hook">
            <a:extLst xmlns:a="http://schemas.openxmlformats.org/drawingml/2006/main">
              <a:ext uri="{FF2B5EF4-FFF2-40B4-BE49-F238E27FC236}">
                <a16:creationId xmlns:a16="http://schemas.microsoft.com/office/drawing/2014/main" id="{A5B616D5-5571-4C30-A00D-3B4F2D740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62350"/>
            <a:ext cx="5095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90 minutes in groups: Reproduce one article result, rebuild the text measure, and treat validity as the main result.</a:t>
            </a:r>
          </a:p>
        </p:txBody>
      </p:sp>
      <p:sp>
        <p:nvSpPr>
          <p:cNvPr id="4" name="cover-author">
            <a:extLst xmlns:a="http://schemas.openxmlformats.org/drawingml/2006/main">
              <a:ext uri="{FF2B5EF4-FFF2-40B4-BE49-F238E27FC236}">
                <a16:creationId xmlns:a16="http://schemas.microsoft.com/office/drawing/2014/main" id="{24E2DB79-687F-4366-8043-9A0B1457A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340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Thierry Warin</a:t>
            </a:r>
          </a:p>
        </p:txBody>
      </p:sp>
      <p:sp>
        <p:nvSpPr>
          <p:cNvPr id="5" name="motif-field">
            <a:extLst xmlns:a="http://schemas.openxmlformats.org/drawingml/2006/main">
              <a:ext uri="{FF2B5EF4-FFF2-40B4-BE49-F238E27FC236}">
                <a16:creationId xmlns:a16="http://schemas.microsoft.com/office/drawing/2014/main" id="{D38844BB-6599-4BA0-A37F-7EEFE34F8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1950"/>
            <a:ext cx="5400675" cy="5734050"/>
          </a:xfrm>
          <a:prstGeom xmlns:a="http://schemas.openxmlformats.org/drawingml/2006/main" prst="roundRect">
            <a:avLst>
              <a:gd name="adj" fmla="val 1411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6" name="cluster-0-0">
            <a:extLst xmlns:a="http://schemas.openxmlformats.org/drawingml/2006/main">
              <a:ext uri="{FF2B5EF4-FFF2-40B4-BE49-F238E27FC236}">
                <a16:creationId xmlns:a16="http://schemas.microsoft.com/office/drawing/2014/main" id="{D7E9B99B-D636-4D82-B38C-51F7C1EBD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8639" y="2447163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luster-0-1">
            <a:extLst xmlns:a="http://schemas.openxmlformats.org/drawingml/2006/main">
              <a:ext uri="{FF2B5EF4-FFF2-40B4-BE49-F238E27FC236}">
                <a16:creationId xmlns:a16="http://schemas.microsoft.com/office/drawing/2014/main" id="{A2F5C6E5-5D86-4D23-8ED4-246DB8CDE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4389" y="2218563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luster-0-2">
            <a:extLst xmlns:a="http://schemas.openxmlformats.org/drawingml/2006/main">
              <a:ext uri="{FF2B5EF4-FFF2-40B4-BE49-F238E27FC236}">
                <a16:creationId xmlns:a16="http://schemas.microsoft.com/office/drawing/2014/main" id="{18A7E737-614D-4FFE-A68A-416C5DA06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8239" y="2504313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luster-0-3">
            <a:extLst xmlns:a="http://schemas.openxmlformats.org/drawingml/2006/main">
              <a:ext uri="{FF2B5EF4-FFF2-40B4-BE49-F238E27FC236}">
                <a16:creationId xmlns:a16="http://schemas.microsoft.com/office/drawing/2014/main" id="{2F0EF87D-F0EA-421D-A1F8-2137D79A9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7789" y="2866263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luster-0-4">
            <a:extLst xmlns:a="http://schemas.openxmlformats.org/drawingml/2006/main">
              <a:ext uri="{FF2B5EF4-FFF2-40B4-BE49-F238E27FC236}">
                <a16:creationId xmlns:a16="http://schemas.microsoft.com/office/drawing/2014/main" id="{96F8EB49-E778-436F-ABD9-ED7BE84AA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2939" y="2961513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luster-0-5">
            <a:extLst xmlns:a="http://schemas.openxmlformats.org/drawingml/2006/main">
              <a:ext uri="{FF2B5EF4-FFF2-40B4-BE49-F238E27FC236}">
                <a16:creationId xmlns:a16="http://schemas.microsoft.com/office/drawing/2014/main" id="{AB859FEB-BD41-4F7B-9878-4A1A54556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3939" y="3094863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luster-0-6">
            <a:extLst xmlns:a="http://schemas.openxmlformats.org/drawingml/2006/main">
              <a:ext uri="{FF2B5EF4-FFF2-40B4-BE49-F238E27FC236}">
                <a16:creationId xmlns:a16="http://schemas.microsoft.com/office/drawing/2014/main" id="{7E286C2D-4721-4B79-92D2-A690DC29C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889" y="2294763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luster-0-7">
            <a:extLst xmlns:a="http://schemas.openxmlformats.org/drawingml/2006/main">
              <a:ext uri="{FF2B5EF4-FFF2-40B4-BE49-F238E27FC236}">
                <a16:creationId xmlns:a16="http://schemas.microsoft.com/office/drawing/2014/main" id="{45792D16-4B37-4651-9732-3EFA909E7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3389" y="2713863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entroid-0">
            <a:extLst xmlns:a="http://schemas.openxmlformats.org/drawingml/2006/main">
              <a:ext uri="{FF2B5EF4-FFF2-40B4-BE49-F238E27FC236}">
                <a16:creationId xmlns:a16="http://schemas.microsoft.com/office/drawing/2014/main" id="{2C4CCEDA-3333-4925-9671-7F31A2336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3439" y="2523363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luster-1-0">
            <a:extLst xmlns:a="http://schemas.openxmlformats.org/drawingml/2006/main">
              <a:ext uri="{FF2B5EF4-FFF2-40B4-BE49-F238E27FC236}">
                <a16:creationId xmlns:a16="http://schemas.microsoft.com/office/drawing/2014/main" id="{D6FF1C75-28C5-40D5-BEBE-787BEA5E7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4651" y="1938528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luster-1-1">
            <a:extLst xmlns:a="http://schemas.openxmlformats.org/drawingml/2006/main">
              <a:ext uri="{FF2B5EF4-FFF2-40B4-BE49-F238E27FC236}">
                <a16:creationId xmlns:a16="http://schemas.microsoft.com/office/drawing/2014/main" id="{7C4962B9-32A5-4BE3-A27C-769670569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0401" y="1709928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luster-1-2">
            <a:extLst xmlns:a="http://schemas.openxmlformats.org/drawingml/2006/main">
              <a:ext uri="{FF2B5EF4-FFF2-40B4-BE49-F238E27FC236}">
                <a16:creationId xmlns:a16="http://schemas.microsoft.com/office/drawing/2014/main" id="{A6AA9406-618F-4EBA-AF3E-FA2EB8FAE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4251" y="1995678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luster-1-3">
            <a:extLst xmlns:a="http://schemas.openxmlformats.org/drawingml/2006/main">
              <a:ext uri="{FF2B5EF4-FFF2-40B4-BE49-F238E27FC236}">
                <a16:creationId xmlns:a16="http://schemas.microsoft.com/office/drawing/2014/main" id="{B72EDE40-8ADA-416B-ABE4-AF35E1983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3801" y="2357628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luster-1-4">
            <a:extLst xmlns:a="http://schemas.openxmlformats.org/drawingml/2006/main">
              <a:ext uri="{FF2B5EF4-FFF2-40B4-BE49-F238E27FC236}">
                <a16:creationId xmlns:a16="http://schemas.microsoft.com/office/drawing/2014/main" id="{77EC59E7-256C-42D3-B553-E1EBA0E51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8951" y="2452878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luster-1-5">
            <a:extLst xmlns:a="http://schemas.openxmlformats.org/drawingml/2006/main">
              <a:ext uri="{FF2B5EF4-FFF2-40B4-BE49-F238E27FC236}">
                <a16:creationId xmlns:a16="http://schemas.microsoft.com/office/drawing/2014/main" id="{A964E009-4614-4163-992A-1A1DB43D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951" y="2586228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cluster-1-6">
            <a:extLst xmlns:a="http://schemas.openxmlformats.org/drawingml/2006/main">
              <a:ext uri="{FF2B5EF4-FFF2-40B4-BE49-F238E27FC236}">
                <a16:creationId xmlns:a16="http://schemas.microsoft.com/office/drawing/2014/main" id="{0AF9F882-4FB7-4D72-9952-049FD509C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1901" y="1786128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luster-1-7">
            <a:extLst xmlns:a="http://schemas.openxmlformats.org/drawingml/2006/main">
              <a:ext uri="{FF2B5EF4-FFF2-40B4-BE49-F238E27FC236}">
                <a16:creationId xmlns:a16="http://schemas.microsoft.com/office/drawing/2014/main" id="{7D9E9D8D-DAA5-46E9-AD65-239395603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9401" y="2205228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centroid-1">
            <a:extLst xmlns:a="http://schemas.openxmlformats.org/drawingml/2006/main">
              <a:ext uri="{FF2B5EF4-FFF2-40B4-BE49-F238E27FC236}">
                <a16:creationId xmlns:a16="http://schemas.microsoft.com/office/drawing/2014/main" id="{AFF8A839-D5D6-4424-B1FB-A03FDF709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9451" y="2014728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cluster-2-0">
            <a:extLst xmlns:a="http://schemas.openxmlformats.org/drawingml/2006/main">
              <a:ext uri="{FF2B5EF4-FFF2-40B4-BE49-F238E27FC236}">
                <a16:creationId xmlns:a16="http://schemas.microsoft.com/office/drawing/2014/main" id="{994746CE-08DA-485F-9671-F8C811018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9948" y="407479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cluster-2-1">
            <a:extLst xmlns:a="http://schemas.openxmlformats.org/drawingml/2006/main">
              <a:ext uri="{FF2B5EF4-FFF2-40B4-BE49-F238E27FC236}">
                <a16:creationId xmlns:a16="http://schemas.microsoft.com/office/drawing/2014/main" id="{CAFB4D76-E21C-422B-B49A-7178FE0EA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5698" y="384619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cluster-2-2">
            <a:extLst xmlns:a="http://schemas.openxmlformats.org/drawingml/2006/main">
              <a:ext uri="{FF2B5EF4-FFF2-40B4-BE49-F238E27FC236}">
                <a16:creationId xmlns:a16="http://schemas.microsoft.com/office/drawing/2014/main" id="{E43DAD09-4436-409D-AA78-B1C030A30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9548" y="413194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cluster-2-3">
            <a:extLst xmlns:a="http://schemas.openxmlformats.org/drawingml/2006/main">
              <a:ext uri="{FF2B5EF4-FFF2-40B4-BE49-F238E27FC236}">
                <a16:creationId xmlns:a16="http://schemas.microsoft.com/office/drawing/2014/main" id="{653D9251-B8E0-4622-B24C-7B1D8407F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9098" y="449389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cluster-2-4">
            <a:extLst xmlns:a="http://schemas.openxmlformats.org/drawingml/2006/main">
              <a:ext uri="{FF2B5EF4-FFF2-40B4-BE49-F238E27FC236}">
                <a16:creationId xmlns:a16="http://schemas.microsoft.com/office/drawing/2014/main" id="{F1E8A4E8-DF67-42D4-8990-2B8EB1B6C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4248" y="458914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cluster-2-5">
            <a:extLst xmlns:a="http://schemas.openxmlformats.org/drawingml/2006/main">
              <a:ext uri="{FF2B5EF4-FFF2-40B4-BE49-F238E27FC236}">
                <a16:creationId xmlns:a16="http://schemas.microsoft.com/office/drawing/2014/main" id="{EE7C2C8C-4779-4F75-B921-B12FAEE4A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5248" y="472249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cluster-2-6">
            <a:extLst xmlns:a="http://schemas.openxmlformats.org/drawingml/2006/main">
              <a:ext uri="{FF2B5EF4-FFF2-40B4-BE49-F238E27FC236}">
                <a16:creationId xmlns:a16="http://schemas.microsoft.com/office/drawing/2014/main" id="{5908B30D-D7C4-428B-94D4-0E5D7E601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7198" y="392239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cluster-2-7">
            <a:extLst xmlns:a="http://schemas.openxmlformats.org/drawingml/2006/main">
              <a:ext uri="{FF2B5EF4-FFF2-40B4-BE49-F238E27FC236}">
                <a16:creationId xmlns:a16="http://schemas.microsoft.com/office/drawing/2014/main" id="{20FFAE71-723A-4D88-AECE-66957228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4698" y="434149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centroid-2">
            <a:extLst xmlns:a="http://schemas.openxmlformats.org/drawingml/2006/main">
              <a:ext uri="{FF2B5EF4-FFF2-40B4-BE49-F238E27FC236}">
                <a16:creationId xmlns:a16="http://schemas.microsoft.com/office/drawing/2014/main" id="{E3465C50-6EA6-492B-AC28-FE25829EF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4748" y="415099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cluster-note">
            <a:extLst xmlns:a="http://schemas.openxmlformats.org/drawingml/2006/main">
              <a:ext uri="{FF2B5EF4-FFF2-40B4-BE49-F238E27FC236}">
                <a16:creationId xmlns:a16="http://schemas.microsoft.com/office/drawing/2014/main" id="{6CCFE677-A55C-41CB-93CB-31F922864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5353050"/>
            <a:ext cx="32289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457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Distance creates the grouping—validation gives it meaning</a:t>
            </a:r>
          </a:p>
        </p:txBody>
      </p:sp>
      <p:sp>
        <p:nvSpPr>
          <p:cNvPr id="34" name="rule-48-674">
            <a:extLst xmlns:a="http://schemas.openxmlformats.org/drawingml/2006/main">
              <a:ext uri="{FF2B5EF4-FFF2-40B4-BE49-F238E27FC236}">
                <a16:creationId xmlns:a16="http://schemas.microsoft.com/office/drawing/2014/main" id="{F590FB30-94B2-4BA5-BFB6-DC6016850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5D2F8AF-168D-4661-B22C-9C59A4E90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09</a:t>
            </a:r>
          </a:p>
        </p:txBody>
      </p:sp>
      <p:sp>
        <p:nvSpPr>
          <p:cNvPr id="36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A7D9BA9D-8E83-4064-B2A9-2C8AE3DA9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Practice · 1</a:t>
            </a:r>
          </a:p>
        </p:txBody>
      </p:sp>
    </p:spTree>
    <p:extLst>
      <p:ext uri="{BB962C8B-B14F-4D97-AF65-F5344CB8AC3E}">
        <p14:creationId xmlns:p14="http://schemas.microsoft.com/office/powerpoint/2010/main" val="1355279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">
            <a:extLst xmlns:a="http://schemas.openxmlformats.org/drawingml/2006/main">
              <a:ext uri="{FF2B5EF4-FFF2-40B4-BE49-F238E27FC236}">
                <a16:creationId xmlns:a16="http://schemas.microsoft.com/office/drawing/2014/main" id="{F9CD7A06-3E37-4854-AEC8-B28B57050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PRACTICE · CHALLENGE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8C12170-E4C6-4410-BF8D-0722CBB37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Turn the method into a defensible group result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06E426AD-15D4-47CC-BB2F-267E514D5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hallenge-label">
            <a:extLst xmlns:a="http://schemas.openxmlformats.org/drawingml/2006/main">
              <a:ext uri="{FF2B5EF4-FFF2-40B4-BE49-F238E27FC236}">
                <a16:creationId xmlns:a16="http://schemas.microsoft.com/office/drawing/2014/main" id="{6E78E46C-CA55-4894-A541-53E44296B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THE CHALLENGE</a:t>
            </a:r>
          </a:p>
        </p:txBody>
      </p:sp>
      <p:sp>
        <p:nvSpPr>
          <p:cNvPr id="5" name="challenge-copy">
            <a:extLst xmlns:a="http://schemas.openxmlformats.org/drawingml/2006/main">
              <a:ext uri="{FF2B5EF4-FFF2-40B4-BE49-F238E27FC236}">
                <a16:creationId xmlns:a16="http://schemas.microsoft.com/office/drawing/2014/main" id="{D8DD2B8E-CC76-4739-B624-E8B9D09BA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33600"/>
            <a:ext cx="59055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Reproduce one article result, rebuild the text measure, and treat validity as the main result.</a:t>
            </a:r>
          </a:p>
        </p:txBody>
      </p:sp>
      <p:sp>
        <p:nvSpPr>
          <p:cNvPr id="6" name="challenge-result-label">
            <a:extLst xmlns:a="http://schemas.openxmlformats.org/drawingml/2006/main">
              <a:ext uri="{FF2B5EF4-FFF2-40B4-BE49-F238E27FC236}">
                <a16:creationId xmlns:a16="http://schemas.microsoft.com/office/drawing/2014/main" id="{D0895CC9-81C5-4C35-9929-B7830A166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529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RESULT AT MINUTE 70</a:t>
            </a:r>
          </a:p>
        </p:txBody>
      </p:sp>
      <p:sp>
        <p:nvSpPr>
          <p:cNvPr id="7" name="challenge-result">
            <a:extLst xmlns:a="http://schemas.openxmlformats.org/drawingml/2006/main">
              <a:ext uri="{FF2B5EF4-FFF2-40B4-BE49-F238E27FC236}">
                <a16:creationId xmlns:a16="http://schemas.microsoft.com/office/drawing/2014/main" id="{B9EAA565-8818-4C3A-9769-4F9A44663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0"/>
            <a:ext cx="5905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Reproduce one tone result, then rebuild a text index and test whether clusters survive alternative choices.</a:t>
            </a:r>
          </a:p>
        </p:txBody>
      </p:sp>
      <p:sp>
        <p:nvSpPr>
          <p:cNvPr id="8" name="objective-bg">
            <a:extLst xmlns:a="http://schemas.openxmlformats.org/drawingml/2006/main">
              <a:ext uri="{FF2B5EF4-FFF2-40B4-BE49-F238E27FC236}">
                <a16:creationId xmlns:a16="http://schemas.microsoft.com/office/drawing/2014/main" id="{D7D5913D-AB6F-4D4E-A1C8-DEEE5716B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76400"/>
            <a:ext cx="4191000" cy="3962400"/>
          </a:xfrm>
          <a:prstGeom xmlns:a="http://schemas.openxmlformats.org/drawingml/2006/main" prst="roundRect">
            <a:avLst>
              <a:gd name="adj" fmla="val 1923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9" name="objective-title">
            <a:extLst xmlns:a="http://schemas.openxmlformats.org/drawingml/2006/main">
              <a:ext uri="{FF2B5EF4-FFF2-40B4-BE49-F238E27FC236}">
                <a16:creationId xmlns:a16="http://schemas.microsoft.com/office/drawing/2014/main" id="{A0A616DD-FCBE-4AD7-9752-07C0EA309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0383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0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By the end, your group can…</a:t>
            </a:r>
          </a:p>
        </p:txBody>
      </p:sp>
      <p:sp>
        <p:nvSpPr>
          <p:cNvPr id="10" name="objective-num-0">
            <a:extLst xmlns:a="http://schemas.openxmlformats.org/drawingml/2006/main">
              <a:ext uri="{FF2B5EF4-FFF2-40B4-BE49-F238E27FC236}">
                <a16:creationId xmlns:a16="http://schemas.microsoft.com/office/drawing/2014/main" id="{B90B0EA1-C63C-48C3-A772-47FB6D9EA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7813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1" name="objective-item-0">
            <a:extLst xmlns:a="http://schemas.openxmlformats.org/drawingml/2006/main">
              <a:ext uri="{FF2B5EF4-FFF2-40B4-BE49-F238E27FC236}">
                <a16:creationId xmlns:a16="http://schemas.microsoft.com/office/drawing/2014/main" id="{BF35A305-A4AC-4DAA-9AB5-6F2A889F9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733675"/>
            <a:ext cx="2819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68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Reproduce an article result</a:t>
            </a:r>
          </a:p>
        </p:txBody>
      </p:sp>
      <p:sp>
        <p:nvSpPr>
          <p:cNvPr id="12" name="objective-num-1">
            <a:extLst xmlns:a="http://schemas.openxmlformats.org/drawingml/2006/main">
              <a:ext uri="{FF2B5EF4-FFF2-40B4-BE49-F238E27FC236}">
                <a16:creationId xmlns:a16="http://schemas.microsoft.com/office/drawing/2014/main" id="{61DD85E0-7EA6-47CB-A45E-E7F156215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4099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3" name="objective-item-1">
            <a:extLst xmlns:a="http://schemas.openxmlformats.org/drawingml/2006/main">
              <a:ext uri="{FF2B5EF4-FFF2-40B4-BE49-F238E27FC236}">
                <a16:creationId xmlns:a16="http://schemas.microsoft.com/office/drawing/2014/main" id="{9DB1DA27-5078-490E-BB4F-CAA60644A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362325"/>
            <a:ext cx="2819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66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Compare with a benchmark</a:t>
            </a:r>
          </a:p>
        </p:txBody>
      </p:sp>
      <p:sp>
        <p:nvSpPr>
          <p:cNvPr id="14" name="objective-num-2">
            <a:extLst xmlns:a="http://schemas.openxmlformats.org/drawingml/2006/main">
              <a:ext uri="{FF2B5EF4-FFF2-40B4-BE49-F238E27FC236}">
                <a16:creationId xmlns:a16="http://schemas.microsoft.com/office/drawing/2014/main" id="{DDA4A530-42E0-4E18-9C08-0F6B9794B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0386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5" name="objective-item-2">
            <a:extLst xmlns:a="http://schemas.openxmlformats.org/drawingml/2006/main">
              <a:ext uri="{FF2B5EF4-FFF2-40B4-BE49-F238E27FC236}">
                <a16:creationId xmlns:a16="http://schemas.microsoft.com/office/drawing/2014/main" id="{DC6DA298-0300-4EF1-A6FC-4D075EAA8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990975"/>
            <a:ext cx="2819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Break one assumption</a:t>
            </a:r>
          </a:p>
        </p:txBody>
      </p:sp>
      <p:sp>
        <p:nvSpPr>
          <p:cNvPr id="16" name="objective-num-3">
            <a:extLst xmlns:a="http://schemas.openxmlformats.org/drawingml/2006/main">
              <a:ext uri="{FF2B5EF4-FFF2-40B4-BE49-F238E27FC236}">
                <a16:creationId xmlns:a16="http://schemas.microsoft.com/office/drawing/2014/main" id="{75CB658B-B1F0-4FD3-933F-4F522CFCD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6672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7" name="objective-item-3">
            <a:extLst xmlns:a="http://schemas.openxmlformats.org/drawingml/2006/main">
              <a:ext uri="{FF2B5EF4-FFF2-40B4-BE49-F238E27FC236}">
                <a16:creationId xmlns:a16="http://schemas.microsoft.com/office/drawing/2014/main" id="{0D2F9DD0-DFC9-4116-824B-EF0BB291E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619625"/>
            <a:ext cx="2819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69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Explain the supported claim</a:t>
            </a:r>
          </a:p>
        </p:txBody>
      </p:sp>
      <p:sp>
        <p:nvSpPr>
          <p:cNvPr id="18" name="rule-48-674">
            <a:extLst xmlns:a="http://schemas.openxmlformats.org/drawingml/2006/main">
              <a:ext uri="{FF2B5EF4-FFF2-40B4-BE49-F238E27FC236}">
                <a16:creationId xmlns:a16="http://schemas.microsoft.com/office/drawing/2014/main" id="{0574FC0F-27FA-4404-88E5-545D0AB9B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13F7D9A-9664-4545-BE43-0BDA32605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09</a:t>
            </a:r>
          </a:p>
        </p:txBody>
      </p:sp>
      <p:sp>
        <p:nvSpPr>
          <p:cNvPr id="20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C5BFF933-0FC6-4646-A9E1-823358B52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Practice · 2</a:t>
            </a:r>
          </a:p>
        </p:txBody>
      </p:sp>
    </p:spTree>
    <p:extLst>
      <p:ext uri="{BB962C8B-B14F-4D97-AF65-F5344CB8AC3E}">
        <p14:creationId xmlns:p14="http://schemas.microsoft.com/office/powerpoint/2010/main" val="19950333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eyebrow">
            <a:extLst xmlns:a="http://schemas.openxmlformats.org/drawingml/2006/main">
              <a:ext uri="{FF2B5EF4-FFF2-40B4-BE49-F238E27FC236}">
                <a16:creationId xmlns:a16="http://schemas.microsoft.com/office/drawing/2014/main" id="{772961BD-A77C-472B-BC87-1E0FD0E73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PRACTICE · 90-MINUTE PLAN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931EFE6-419B-4E10-92AC-5BC579D6B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Protect the final 20 minutes for presentations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89409601-FF59-44CC-91F1-176F212B2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ming-time-0">
            <a:extLst xmlns:a="http://schemas.openxmlformats.org/drawingml/2006/main">
              <a:ext uri="{FF2B5EF4-FFF2-40B4-BE49-F238E27FC236}">
                <a16:creationId xmlns:a16="http://schemas.microsoft.com/office/drawing/2014/main" id="{4A33CAC3-09B3-448C-9600-8C11C7543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00–10</a:t>
            </a:r>
          </a:p>
        </p:txBody>
      </p:sp>
      <p:sp>
        <p:nvSpPr>
          <p:cNvPr id="5" name="timing-name-0">
            <a:extLst xmlns:a="http://schemas.openxmlformats.org/drawingml/2006/main">
              <a:ext uri="{FF2B5EF4-FFF2-40B4-BE49-F238E27FC236}">
                <a16:creationId xmlns:a16="http://schemas.microsoft.com/office/drawing/2014/main" id="{60601C9E-9A2E-4595-8615-DD01F4A3D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6573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Locate</a:t>
            </a:r>
          </a:p>
        </p:txBody>
      </p:sp>
      <p:sp>
        <p:nvSpPr>
          <p:cNvPr id="6" name="timing-copy-0">
            <a:extLst xmlns:a="http://schemas.openxmlformats.org/drawingml/2006/main">
              <a:ext uri="{FF2B5EF4-FFF2-40B4-BE49-F238E27FC236}">
                <a16:creationId xmlns:a16="http://schemas.microsoft.com/office/drawing/2014/main" id="{9BA25246-374B-45D9-8042-6E0C75E49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657350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Choose roles and locate the exact article result to reproduce.</a:t>
            </a:r>
          </a:p>
        </p:txBody>
      </p:sp>
      <p:sp>
        <p:nvSpPr>
          <p:cNvPr id="7" name="rule-184-226">
            <a:extLst xmlns:a="http://schemas.openxmlformats.org/drawingml/2006/main">
              <a:ext uri="{FF2B5EF4-FFF2-40B4-BE49-F238E27FC236}">
                <a16:creationId xmlns:a16="http://schemas.microsoft.com/office/drawing/2014/main" id="{EBF8C9E4-FBB3-45A5-ABA5-622C56BC8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152650"/>
            <a:ext cx="9601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iming-time-1">
            <a:extLst xmlns:a="http://schemas.openxmlformats.org/drawingml/2006/main">
              <a:ext uri="{FF2B5EF4-FFF2-40B4-BE49-F238E27FC236}">
                <a16:creationId xmlns:a16="http://schemas.microsoft.com/office/drawing/2014/main" id="{EF6D656A-0059-4231-84AF-F2B525662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10–30</a:t>
            </a:r>
          </a:p>
        </p:txBody>
      </p:sp>
      <p:sp>
        <p:nvSpPr>
          <p:cNvPr id="9" name="timing-name-1">
            <a:extLst xmlns:a="http://schemas.openxmlformats.org/drawingml/2006/main">
              <a:ext uri="{FF2B5EF4-FFF2-40B4-BE49-F238E27FC236}">
                <a16:creationId xmlns:a16="http://schemas.microsoft.com/office/drawing/2014/main" id="{5DA4C634-B40D-45A4-B57D-F9485999E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3431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Replicate</a:t>
            </a:r>
          </a:p>
        </p:txBody>
      </p:sp>
      <p:sp>
        <p:nvSpPr>
          <p:cNvPr id="10" name="timing-copy-1">
            <a:extLst xmlns:a="http://schemas.openxmlformats.org/drawingml/2006/main">
              <a:ext uri="{FF2B5EF4-FFF2-40B4-BE49-F238E27FC236}">
                <a16:creationId xmlns:a16="http://schemas.microsoft.com/office/drawing/2014/main" id="{38EF10E7-548E-4553-9707-2592FFAC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343150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Run the authors' data or prepared file and reproduce the target.</a:t>
            </a:r>
          </a:p>
        </p:txBody>
      </p:sp>
      <p:sp>
        <p:nvSpPr>
          <p:cNvPr id="11" name="rule-184-298">
            <a:extLst xmlns:a="http://schemas.openxmlformats.org/drawingml/2006/main">
              <a:ext uri="{FF2B5EF4-FFF2-40B4-BE49-F238E27FC236}">
                <a16:creationId xmlns:a16="http://schemas.microsoft.com/office/drawing/2014/main" id="{B8B3EA52-258C-4CD5-99A5-1C7B8193F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838450"/>
            <a:ext cx="9601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iming-time-2">
            <a:extLst xmlns:a="http://schemas.openxmlformats.org/drawingml/2006/main">
              <a:ext uri="{FF2B5EF4-FFF2-40B4-BE49-F238E27FC236}">
                <a16:creationId xmlns:a16="http://schemas.microsoft.com/office/drawing/2014/main" id="{14101969-AA6A-438A-B3B9-D5B220123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28950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30–45</a:t>
            </a:r>
          </a:p>
        </p:txBody>
      </p:sp>
      <p:sp>
        <p:nvSpPr>
          <p:cNvPr id="13" name="timing-name-2">
            <a:extLst xmlns:a="http://schemas.openxmlformats.org/drawingml/2006/main">
              <a:ext uri="{FF2B5EF4-FFF2-40B4-BE49-F238E27FC236}">
                <a16:creationId xmlns:a16="http://schemas.microsoft.com/office/drawing/2014/main" id="{7D7D8F1D-1B0A-441B-BA68-B1600D99B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0289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Compare</a:t>
            </a:r>
          </a:p>
        </p:txBody>
      </p:sp>
      <p:sp>
        <p:nvSpPr>
          <p:cNvPr id="14" name="timing-copy-2">
            <a:extLst xmlns:a="http://schemas.openxmlformats.org/drawingml/2006/main">
              <a:ext uri="{FF2B5EF4-FFF2-40B4-BE49-F238E27FC236}">
                <a16:creationId xmlns:a16="http://schemas.microsoft.com/office/drawing/2014/main" id="{F2B29158-5B8B-4D32-B1B0-A4A847843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028950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Apply the session method or benchmark on the same sample.</a:t>
            </a:r>
          </a:p>
        </p:txBody>
      </p:sp>
      <p:sp>
        <p:nvSpPr>
          <p:cNvPr id="15" name="rule-184-370">
            <a:extLst xmlns:a="http://schemas.openxmlformats.org/drawingml/2006/main">
              <a:ext uri="{FF2B5EF4-FFF2-40B4-BE49-F238E27FC236}">
                <a16:creationId xmlns:a16="http://schemas.microsoft.com/office/drawing/2014/main" id="{8A74BC82-5D6D-41A4-AD52-7101EE326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24250"/>
            <a:ext cx="9601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iming-time-3">
            <a:extLst xmlns:a="http://schemas.openxmlformats.org/drawingml/2006/main">
              <a:ext uri="{FF2B5EF4-FFF2-40B4-BE49-F238E27FC236}">
                <a16:creationId xmlns:a16="http://schemas.microsoft.com/office/drawing/2014/main" id="{3E883863-6110-4DAB-8334-C0209B892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14750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45–60</a:t>
            </a:r>
          </a:p>
        </p:txBody>
      </p:sp>
      <p:sp>
        <p:nvSpPr>
          <p:cNvPr id="17" name="timing-name-3">
            <a:extLst xmlns:a="http://schemas.openxmlformats.org/drawingml/2006/main">
              <a:ext uri="{FF2B5EF4-FFF2-40B4-BE49-F238E27FC236}">
                <a16:creationId xmlns:a16="http://schemas.microsoft.com/office/drawing/2014/main" id="{6711000B-0E5A-484F-81A8-9F3B9FCDE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7147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Break</a:t>
            </a:r>
          </a:p>
        </p:txBody>
      </p:sp>
      <p:sp>
        <p:nvSpPr>
          <p:cNvPr id="18" name="timing-copy-3">
            <a:extLst xmlns:a="http://schemas.openxmlformats.org/drawingml/2006/main">
              <a:ext uri="{FF2B5EF4-FFF2-40B4-BE49-F238E27FC236}">
                <a16:creationId xmlns:a16="http://schemas.microsoft.com/office/drawing/2014/main" id="{AC365A0C-A0B9-481F-8FFB-227A6C64F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714750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Stress one assumption and save before/after evidence.</a:t>
            </a:r>
          </a:p>
        </p:txBody>
      </p:sp>
      <p:sp>
        <p:nvSpPr>
          <p:cNvPr id="19" name="rule-184-442">
            <a:extLst xmlns:a="http://schemas.openxmlformats.org/drawingml/2006/main">
              <a:ext uri="{FF2B5EF4-FFF2-40B4-BE49-F238E27FC236}">
                <a16:creationId xmlns:a16="http://schemas.microsoft.com/office/drawing/2014/main" id="{ACCAF780-5CE8-4406-82DC-5121D7A1C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210050"/>
            <a:ext cx="9601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iming-time-4">
            <a:extLst xmlns:a="http://schemas.openxmlformats.org/drawingml/2006/main">
              <a:ext uri="{FF2B5EF4-FFF2-40B4-BE49-F238E27FC236}">
                <a16:creationId xmlns:a16="http://schemas.microsoft.com/office/drawing/2014/main" id="{77CA959E-D722-4F75-83C6-29F81E92E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00550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60–70</a:t>
            </a:r>
          </a:p>
        </p:txBody>
      </p:sp>
      <p:sp>
        <p:nvSpPr>
          <p:cNvPr id="21" name="timing-name-4">
            <a:extLst xmlns:a="http://schemas.openxmlformats.org/drawingml/2006/main">
              <a:ext uri="{FF2B5EF4-FFF2-40B4-BE49-F238E27FC236}">
                <a16:creationId xmlns:a16="http://schemas.microsoft.com/office/drawing/2014/main" id="{643BF81C-AC08-490A-AFF9-3CD731DED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4005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Synthesize</a:t>
            </a:r>
          </a:p>
        </p:txBody>
      </p:sp>
      <p:sp>
        <p:nvSpPr>
          <p:cNvPr id="22" name="timing-copy-4">
            <a:extLst xmlns:a="http://schemas.openxmlformats.org/drawingml/2006/main">
              <a:ext uri="{FF2B5EF4-FFF2-40B4-BE49-F238E27FC236}">
                <a16:creationId xmlns:a16="http://schemas.microsoft.com/office/drawing/2014/main" id="{D6BB76C0-E3CB-4C79-B7C8-57DEEFEFF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400550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Create one slide: article, replication, catch.</a:t>
            </a:r>
          </a:p>
        </p:txBody>
      </p:sp>
      <p:sp>
        <p:nvSpPr>
          <p:cNvPr id="23" name="rule-184-514">
            <a:extLst xmlns:a="http://schemas.openxmlformats.org/drawingml/2006/main">
              <a:ext uri="{FF2B5EF4-FFF2-40B4-BE49-F238E27FC236}">
                <a16:creationId xmlns:a16="http://schemas.microsoft.com/office/drawing/2014/main" id="{0FACF502-17E0-425F-BE42-CFCD3E14C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895850"/>
            <a:ext cx="9601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iming-time-5">
            <a:extLst xmlns:a="http://schemas.openxmlformats.org/drawingml/2006/main">
              <a:ext uri="{FF2B5EF4-FFF2-40B4-BE49-F238E27FC236}">
                <a16:creationId xmlns:a16="http://schemas.microsoft.com/office/drawing/2014/main" id="{AFDE23A4-B619-4510-B833-3E348C9FE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86350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70–90</a:t>
            </a:r>
          </a:p>
        </p:txBody>
      </p:sp>
      <p:sp>
        <p:nvSpPr>
          <p:cNvPr id="25" name="timing-name-5">
            <a:extLst xmlns:a="http://schemas.openxmlformats.org/drawingml/2006/main">
              <a:ext uri="{FF2B5EF4-FFF2-40B4-BE49-F238E27FC236}">
                <a16:creationId xmlns:a16="http://schemas.microsoft.com/office/drawing/2014/main" id="{E30D4C6E-6D18-489A-8DDF-7D144F359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0863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Present</a:t>
            </a:r>
          </a:p>
        </p:txBody>
      </p:sp>
      <p:sp>
        <p:nvSpPr>
          <p:cNvPr id="26" name="timing-copy-5">
            <a:extLst xmlns:a="http://schemas.openxmlformats.org/drawingml/2006/main">
              <a:ext uri="{FF2B5EF4-FFF2-40B4-BE49-F238E27FC236}">
                <a16:creationId xmlns:a16="http://schemas.microsoft.com/office/drawing/2014/main" id="{B8775088-F941-48A0-8EB5-45AB9B8FF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86350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Two minutes per group; presenter chosen at random.</a:t>
            </a:r>
          </a:p>
        </p:txBody>
      </p:sp>
      <p:sp>
        <p:nvSpPr>
          <p:cNvPr id="2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42A55A6F-3A3D-43D5-BC40-2B6B88712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1E816F2-82D9-4522-AED0-3686E7ECC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09</a:t>
            </a:r>
          </a:p>
        </p:txBody>
      </p:sp>
      <p:sp>
        <p:nvSpPr>
          <p:cNvPr id="2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F3C5C22B-E215-4A76-9906-424AB92DA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Practice · 3</a:t>
            </a:r>
          </a:p>
        </p:txBody>
      </p:sp>
    </p:spTree>
    <p:extLst>
      <p:ext uri="{BB962C8B-B14F-4D97-AF65-F5344CB8AC3E}">
        <p14:creationId xmlns:p14="http://schemas.microsoft.com/office/powerpoint/2010/main" val="20712565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8EC132E2-BA48-426E-AE86-7CC0EDA0C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PRACTICE · START HERE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D88DA6F-BB3C-48EE-B102-FB5824779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Open the Desktop clone in VS Codium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C1F990BA-936A-4ECA-85E2-55058EF3E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actice-path">
            <a:extLst xmlns:a="http://schemas.openxmlformats.org/drawingml/2006/main">
              <a:ext uri="{FF2B5EF4-FFF2-40B4-BE49-F238E27FC236}">
                <a16:creationId xmlns:a16="http://schemas.microsoft.com/office/drawing/2014/main" id="{C4CFFEE2-56A1-4DF1-94E2-335E19B10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2700" b="1">
                <a:solidFill>
                  <a:srgbClr val="2563EB"/>
                </a:solidFill>
                <a:latin typeface="Menlo"/>
                <a:ea typeface="Menlo"/>
                <a:cs typeface="Menlo"/>
              </a:rPr>
              <a:t>Desktop/quantitative-methods</a:t>
            </a:r>
          </a:p>
        </p:txBody>
      </p:sp>
      <p:sp>
        <p:nvSpPr>
          <p:cNvPr id="5" name="practice-commands">
            <a:extLst xmlns:a="http://schemas.openxmlformats.org/drawingml/2006/main">
              <a:ext uri="{FF2B5EF4-FFF2-40B4-BE49-F238E27FC236}">
                <a16:creationId xmlns:a16="http://schemas.microsoft.com/office/drawing/2014/main" id="{20E10F23-8604-45C6-B387-FA6759B49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90800"/>
            <a:ext cx="6191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0" tIns="152400" rIns="190500" bIns="1524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~/Desktop/quantitative-methods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09-clustering-and-text-as-data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demo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session09_clustering_text_demo.py</a:t>
            </a:r>
          </a:p>
        </p:txBody>
      </p:sp>
      <p:sp>
        <p:nvSpPr>
          <p:cNvPr id="6" name="practice-local">
            <a:extLst xmlns:a="http://schemas.openxmlformats.org/drawingml/2006/main">
              <a:ext uri="{FF2B5EF4-FFF2-40B4-BE49-F238E27FC236}">
                <a16:creationId xmlns:a16="http://schemas.microsoft.com/office/drawing/2014/main" id="{BF3FC0E1-F430-494C-9B92-23B048612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38650"/>
            <a:ext cx="619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Package: 10.7910/DVN/TZEN38. Keep the article result and your comparison separate.</a:t>
            </a:r>
          </a:p>
        </p:txBody>
      </p:sp>
      <p:cxnSp>
        <p:nvCxnSpPr>
          <p:cNvPr id="24" name="workflow-edge-0"/>
          <p:cNvCxnSpPr/>
          <p:nvPr/>
        </p:nvCxnSpPr>
        <p:spPr>
          <a:xfrm xmlns:a="http://schemas.openxmlformats.org/drawingml/2006/main">
            <a:off x="8489950" y="3552825"/>
            <a:ext cx="17145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25" name="workflow-edge-1"/>
          <p:cNvCxnSpPr/>
          <p:nvPr/>
        </p:nvCxnSpPr>
        <p:spPr>
          <a:xfrm xmlns:a="http://schemas.openxmlformats.org/drawingml/2006/main">
            <a:off x="9912350" y="3552825"/>
            <a:ext cx="17145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9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243A9AE5-C7CD-4F44-BEDB-2A904BCAE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62150"/>
            <a:ext cx="1250950" cy="3181350"/>
          </a:xfrm>
          <a:prstGeom xmlns:a="http://schemas.openxmlformats.org/drawingml/2006/main" prst="roundRect">
            <a:avLst>
              <a:gd name="adj" fmla="val 6091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0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93DD565B-9CCF-4425-B347-1C3FD847F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76450"/>
            <a:ext cx="10604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Article result</a:t>
            </a:r>
          </a:p>
        </p:txBody>
      </p:sp>
      <p:sp>
        <p:nvSpPr>
          <p:cNvPr id="11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55A7C9FA-A9D3-452A-A45E-9105D81BC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1400" y="1962150"/>
            <a:ext cx="1250950" cy="3181350"/>
          </a:xfrm>
          <a:prstGeom xmlns:a="http://schemas.openxmlformats.org/drawingml/2006/main" prst="roundRect">
            <a:avLst>
              <a:gd name="adj" fmla="val 6091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2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E38EE0BD-4733-429A-96C1-594E7C6EE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6650" y="2076450"/>
            <a:ext cx="10604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Course demo</a:t>
            </a:r>
          </a:p>
        </p:txBody>
      </p:sp>
      <p:sp>
        <p:nvSpPr>
          <p:cNvPr id="13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FCE5E35F-3E7D-4D71-B0C7-174302CF9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3800" y="1962150"/>
            <a:ext cx="1250950" cy="3181350"/>
          </a:xfrm>
          <a:prstGeom xmlns:a="http://schemas.openxmlformats.org/drawingml/2006/main" prst="roundRect">
            <a:avLst>
              <a:gd name="adj" fmla="val 6091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4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157BB36B-4270-4457-81B4-DAFBDC083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9050" y="2076450"/>
            <a:ext cx="10604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Your replication</a:t>
            </a:r>
          </a:p>
        </p:txBody>
      </p:sp>
      <p:sp>
        <p:nvSpPr>
          <p:cNvPr id="15" name="rule-48-674">
            <a:extLst xmlns:a="http://schemas.openxmlformats.org/drawingml/2006/main">
              <a:ext uri="{FF2B5EF4-FFF2-40B4-BE49-F238E27FC236}">
                <a16:creationId xmlns:a16="http://schemas.microsoft.com/office/drawing/2014/main" id="{38220195-0ED5-45E0-81B5-43FB8D0A4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BC5E0623-7F24-41A7-A83C-66774F8CB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09</a:t>
            </a:r>
          </a:p>
        </p:txBody>
      </p:sp>
      <p:sp>
        <p:nvSpPr>
          <p:cNvPr id="17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0A83A3C4-E47B-4599-87B1-48F986317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Practice · 4</a:t>
            </a:r>
          </a:p>
        </p:txBody>
      </p:sp>
    </p:spTree>
    <p:extLst>
      <p:ext uri="{BB962C8B-B14F-4D97-AF65-F5344CB8AC3E}">
        <p14:creationId xmlns:p14="http://schemas.microsoft.com/office/powerpoint/2010/main" val="10177439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">
            <a:extLst xmlns:a="http://schemas.openxmlformats.org/drawingml/2006/main">
              <a:ext uri="{FF2B5EF4-FFF2-40B4-BE49-F238E27FC236}">
                <a16:creationId xmlns:a16="http://schemas.microsoft.com/office/drawing/2014/main" id="{4AC1ED15-FA07-462F-BE3D-F7D2199E8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PRACTICE · WORK SEQUENCE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E10B26D-4A02-4984-BE5C-59B8970A3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Complete all five moves before presenting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EB830077-868E-49F2-A352-AD82E53F9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ask-label-0">
            <a:extLst xmlns:a="http://schemas.openxmlformats.org/drawingml/2006/main">
              <a:ext uri="{FF2B5EF4-FFF2-40B4-BE49-F238E27FC236}">
                <a16:creationId xmlns:a16="http://schemas.microsoft.com/office/drawing/2014/main" id="{13E41D18-C44E-4533-929C-CA05E31BE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STEP 1</a:t>
            </a:r>
          </a:p>
        </p:txBody>
      </p:sp>
      <p:sp>
        <p:nvSpPr>
          <p:cNvPr id="5" name="task-body-0">
            <a:extLst xmlns:a="http://schemas.openxmlformats.org/drawingml/2006/main">
              <a:ext uri="{FF2B5EF4-FFF2-40B4-BE49-F238E27FC236}">
                <a16:creationId xmlns:a16="http://schemas.microsoft.com/office/drawing/2014/main" id="{DAD2534C-EAD9-44E0-B520-01057A441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609725"/>
            <a:ext cx="922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State how the article constructs tone</a:t>
            </a:r>
          </a:p>
        </p:txBody>
      </p:sp>
      <p:sp>
        <p:nvSpPr>
          <p:cNvPr id="6" name="rule-196-228">
            <a:extLst xmlns:a="http://schemas.openxmlformats.org/drawingml/2006/main">
              <a:ext uri="{FF2B5EF4-FFF2-40B4-BE49-F238E27FC236}">
                <a16:creationId xmlns:a16="http://schemas.microsoft.com/office/drawing/2014/main" id="{D48D66E6-5EF0-4201-9091-659CA7CD2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171700"/>
            <a:ext cx="9220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ask-label-1">
            <a:extLst xmlns:a="http://schemas.openxmlformats.org/drawingml/2006/main">
              <a:ext uri="{FF2B5EF4-FFF2-40B4-BE49-F238E27FC236}">
                <a16:creationId xmlns:a16="http://schemas.microsoft.com/office/drawing/2014/main" id="{36345D80-DCCF-4F5B-88E4-957727E59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STEP 2</a:t>
            </a:r>
          </a:p>
        </p:txBody>
      </p:sp>
      <p:sp>
        <p:nvSpPr>
          <p:cNvPr id="8" name="task-body-1">
            <a:extLst xmlns:a="http://schemas.openxmlformats.org/drawingml/2006/main">
              <a:ext uri="{FF2B5EF4-FFF2-40B4-BE49-F238E27FC236}">
                <a16:creationId xmlns:a16="http://schemas.microsoft.com/office/drawing/2014/main" id="{2C5B4400-C68D-42C1-91F0-A8A2BDFE2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409825"/>
            <a:ext cx="922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Reproduce one reported tone result</a:t>
            </a:r>
          </a:p>
        </p:txBody>
      </p:sp>
      <p:sp>
        <p:nvSpPr>
          <p:cNvPr id="9" name="rule-196-312">
            <a:extLst xmlns:a="http://schemas.openxmlformats.org/drawingml/2006/main">
              <a:ext uri="{FF2B5EF4-FFF2-40B4-BE49-F238E27FC236}">
                <a16:creationId xmlns:a16="http://schemas.microsoft.com/office/drawing/2014/main" id="{87556F6D-0B12-4282-9318-BF05E13DD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971800"/>
            <a:ext cx="9220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ask-label-2">
            <a:extLst xmlns:a="http://schemas.openxmlformats.org/drawingml/2006/main">
              <a:ext uri="{FF2B5EF4-FFF2-40B4-BE49-F238E27FC236}">
                <a16:creationId xmlns:a16="http://schemas.microsoft.com/office/drawing/2014/main" id="{BAE5F5C6-F517-482E-BBC8-6D9D42F6A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575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STEP 3</a:t>
            </a:r>
          </a:p>
        </p:txBody>
      </p:sp>
      <p:sp>
        <p:nvSpPr>
          <p:cNvPr id="11" name="task-body-2">
            <a:extLst xmlns:a="http://schemas.openxmlformats.org/drawingml/2006/main">
              <a:ext uri="{FF2B5EF4-FFF2-40B4-BE49-F238E27FC236}">
                <a16:creationId xmlns:a16="http://schemas.microsoft.com/office/drawing/2014/main" id="{76449CBF-ECE9-41BD-B702-F786E95AF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209925"/>
            <a:ext cx="922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Build TF-IDF and an alternative index</a:t>
            </a:r>
          </a:p>
        </p:txBody>
      </p:sp>
      <p:sp>
        <p:nvSpPr>
          <p:cNvPr id="12" name="rule-196-396">
            <a:extLst xmlns:a="http://schemas.openxmlformats.org/drawingml/2006/main">
              <a:ext uri="{FF2B5EF4-FFF2-40B4-BE49-F238E27FC236}">
                <a16:creationId xmlns:a16="http://schemas.microsoft.com/office/drawing/2014/main" id="{FAE32592-164A-45E1-BED2-F42152076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771900"/>
            <a:ext cx="9220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ask-label-3">
            <a:extLst xmlns:a="http://schemas.openxmlformats.org/drawingml/2006/main">
              <a:ext uri="{FF2B5EF4-FFF2-40B4-BE49-F238E27FC236}">
                <a16:creationId xmlns:a16="http://schemas.microsoft.com/office/drawing/2014/main" id="{550676D0-FE0E-48EC-A56A-8E1EC3CCB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576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STEP 4</a:t>
            </a:r>
          </a:p>
        </p:txBody>
      </p:sp>
      <p:sp>
        <p:nvSpPr>
          <p:cNvPr id="14" name="task-body-3">
            <a:extLst xmlns:a="http://schemas.openxmlformats.org/drawingml/2006/main">
              <a:ext uri="{FF2B5EF4-FFF2-40B4-BE49-F238E27FC236}">
                <a16:creationId xmlns:a16="http://schemas.microsoft.com/office/drawing/2014/main" id="{FA6C213D-42A2-4EDD-9D8D-4C8AD32B4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010025"/>
            <a:ext cx="922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Compare clustering and null-data choices</a:t>
            </a:r>
          </a:p>
        </p:txBody>
      </p:sp>
      <p:sp>
        <p:nvSpPr>
          <p:cNvPr id="15" name="rule-196-480">
            <a:extLst xmlns:a="http://schemas.openxmlformats.org/drawingml/2006/main">
              <a:ext uri="{FF2B5EF4-FFF2-40B4-BE49-F238E27FC236}">
                <a16:creationId xmlns:a16="http://schemas.microsoft.com/office/drawing/2014/main" id="{EC169D49-280D-4B32-864D-682387A5C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572000"/>
            <a:ext cx="9220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ask-label-4">
            <a:extLst xmlns:a="http://schemas.openxmlformats.org/drawingml/2006/main">
              <a:ext uri="{FF2B5EF4-FFF2-40B4-BE49-F238E27FC236}">
                <a16:creationId xmlns:a16="http://schemas.microsoft.com/office/drawing/2014/main" id="{0B56F08B-29FB-4420-9A22-BCC00BC3B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STEP 5</a:t>
            </a:r>
          </a:p>
        </p:txBody>
      </p:sp>
      <p:sp>
        <p:nvSpPr>
          <p:cNvPr id="17" name="task-body-4">
            <a:extLst xmlns:a="http://schemas.openxmlformats.org/drawingml/2006/main">
              <a:ext uri="{FF2B5EF4-FFF2-40B4-BE49-F238E27FC236}">
                <a16:creationId xmlns:a16="http://schemas.microsoft.com/office/drawing/2014/main" id="{8CB41DAC-683D-47D9-B403-7ADC0FBD2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810125"/>
            <a:ext cx="922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Validate by reading extreme documents</a:t>
            </a:r>
          </a:p>
        </p:txBody>
      </p:sp>
      <p:sp>
        <p:nvSpPr>
          <p:cNvPr id="18" name="rule-48-674">
            <a:extLst xmlns:a="http://schemas.openxmlformats.org/drawingml/2006/main">
              <a:ext uri="{FF2B5EF4-FFF2-40B4-BE49-F238E27FC236}">
                <a16:creationId xmlns:a16="http://schemas.microsoft.com/office/drawing/2014/main" id="{FA97279B-816A-49D3-8F71-F08A3EBE0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49FE4EBC-E842-4987-A64F-B18A761CA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09</a:t>
            </a:r>
          </a:p>
        </p:txBody>
      </p:sp>
      <p:sp>
        <p:nvSpPr>
          <p:cNvPr id="20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2204E459-41A4-41FD-864A-CB6D19F90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Practice · 5</a:t>
            </a:r>
          </a:p>
        </p:txBody>
      </p:sp>
    </p:spTree>
    <p:extLst>
      <p:ext uri="{BB962C8B-B14F-4D97-AF65-F5344CB8AC3E}">
        <p14:creationId xmlns:p14="http://schemas.microsoft.com/office/powerpoint/2010/main" val="12608658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reak-kicker">
            <a:extLst xmlns:a="http://schemas.openxmlformats.org/drawingml/2006/main">
              <a:ext uri="{FF2B5EF4-FFF2-40B4-BE49-F238E27FC236}">
                <a16:creationId xmlns:a16="http://schemas.microsoft.com/office/drawing/2014/main" id="{34EC7526-7753-459D-93E6-96F96548E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PRACTICE · BREAK IT DELIBERATELY</a:t>
            </a:r>
          </a:p>
        </p:txBody>
      </p:sp>
      <p:sp>
        <p:nvSpPr>
          <p:cNvPr id="2" name="break-title">
            <a:extLst xmlns:a="http://schemas.openxmlformats.org/drawingml/2006/main">
              <a:ext uri="{FF2B5EF4-FFF2-40B4-BE49-F238E27FC236}">
                <a16:creationId xmlns:a16="http://schemas.microsoft.com/office/drawing/2014/main" id="{34AB0A01-6FE4-4A46-B882-AA871B2A2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2050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1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K-means always returns k clusters—even when the data are generated from uniform noise.</a:t>
            </a:r>
          </a:p>
        </p:txBody>
      </p:sp>
      <p:sp>
        <p:nvSpPr>
          <p:cNvPr id="3" name="break-instruction">
            <a:extLst xmlns:a="http://schemas.openxmlformats.org/drawingml/2006/main">
              <a:ext uri="{FF2B5EF4-FFF2-40B4-BE49-F238E27FC236}">
                <a16:creationId xmlns:a16="http://schemas.microsoft.com/office/drawing/2014/main" id="{41E289A7-5A76-4176-91B8-4CDBA87D4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71850"/>
            <a:ext cx="10287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625" b="1">
                <a:solidFill>
                  <a:srgbClr val="DDF2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DDF2FC"/>
                </a:solidFill>
                <a:latin typeface="Helvetica Neue"/>
                <a:ea typeface="Helvetica Neue"/>
                <a:cs typeface="Helvetica Neue"/>
              </a:rPr>
              <a:t>Create the failure. Save the before/after evidence. Explain the mechanism without blaming the software.</a:t>
            </a:r>
          </a:p>
        </p:txBody>
      </p:sp>
      <p:sp>
        <p:nvSpPr>
          <p:cNvPr id="4" name="break-llm">
            <a:extLst xmlns:a="http://schemas.openxmlformats.org/drawingml/2006/main">
              <a:ext uri="{FF2B5EF4-FFF2-40B4-BE49-F238E27FC236}">
                <a16:creationId xmlns:a16="http://schemas.microsoft.com/office/drawing/2014/main" id="{A29F5E42-96FD-465E-8E8D-11AA2439C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Required: record one LLM claim you found wrong, unverifiable, or misleading—and how you checked it.</a:t>
            </a:r>
          </a:p>
        </p:txBody>
      </p:sp>
      <p:sp>
        <p:nvSpPr>
          <p:cNvPr id="5" name="rule-48-674">
            <a:extLst xmlns:a="http://schemas.openxmlformats.org/drawingml/2006/main">
              <a:ext uri="{FF2B5EF4-FFF2-40B4-BE49-F238E27FC236}">
                <a16:creationId xmlns:a16="http://schemas.microsoft.com/office/drawing/2014/main" id="{CB38EF64-C7F3-4120-87E9-08191F0C2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55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68DE8068-4421-4280-8FBB-BDE125687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MATH60033A · Thierry Warin · Session 09</a:t>
            </a:r>
          </a:p>
        </p:txBody>
      </p:sp>
      <p:sp>
        <p:nvSpPr>
          <p:cNvPr id="7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91A738B6-4386-4ADC-AEA7-881D82A73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Practice · 6</a:t>
            </a:r>
          </a:p>
        </p:txBody>
      </p:sp>
    </p:spTree>
    <p:extLst>
      <p:ext uri="{BB962C8B-B14F-4D97-AF65-F5344CB8AC3E}">
        <p14:creationId xmlns:p14="http://schemas.microsoft.com/office/powerpoint/2010/main" val="16861832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">
            <a:extLst xmlns:a="http://schemas.openxmlformats.org/drawingml/2006/main">
              <a:ext uri="{FF2B5EF4-FFF2-40B4-BE49-F238E27FC236}">
                <a16:creationId xmlns:a16="http://schemas.microsoft.com/office/drawing/2014/main" id="{E5B274FB-2C4F-46A0-BDB4-A9B227E3E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PRACTICE · GROUP PRESENTATION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158CE55-998A-4C31-8475-BF3367A87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One slide. Two minutes. Random presenter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D64C0E2E-06AD-4341-9EC1-6936E9E67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eport-label-0">
            <a:extLst xmlns:a="http://schemas.openxmlformats.org/drawingml/2006/main">
              <a:ext uri="{FF2B5EF4-FFF2-40B4-BE49-F238E27FC236}">
                <a16:creationId xmlns:a16="http://schemas.microsoft.com/office/drawing/2014/main" id="{2AB4553B-92E7-4D21-8191-2205377C8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ARTICLE RESULT</a:t>
            </a:r>
          </a:p>
        </p:txBody>
      </p:sp>
      <p:sp>
        <p:nvSpPr>
          <p:cNvPr id="5" name="report-body-0">
            <a:extLst xmlns:a="http://schemas.openxmlformats.org/drawingml/2006/main">
              <a:ext uri="{FF2B5EF4-FFF2-40B4-BE49-F238E27FC236}">
                <a16:creationId xmlns:a16="http://schemas.microsoft.com/office/drawing/2014/main" id="{30914C53-8F89-414E-B56E-7761DC45D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6954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published estimate or figure your group targeted.</a:t>
            </a:r>
          </a:p>
        </p:txBody>
      </p:sp>
      <p:sp>
        <p:nvSpPr>
          <p:cNvPr id="6" name="rule-278-272">
            <a:extLst xmlns:a="http://schemas.openxmlformats.org/drawingml/2006/main">
              <a:ext uri="{FF2B5EF4-FFF2-40B4-BE49-F238E27FC236}">
                <a16:creationId xmlns:a16="http://schemas.microsoft.com/office/drawing/2014/main" id="{C306656A-D805-4D01-ADC1-72B4E6402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5908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eport-label-1">
            <a:extLst xmlns:a="http://schemas.openxmlformats.org/drawingml/2006/main">
              <a:ext uri="{FF2B5EF4-FFF2-40B4-BE49-F238E27FC236}">
                <a16:creationId xmlns:a16="http://schemas.microsoft.com/office/drawing/2014/main" id="{A022D0B3-AAFF-47F4-839C-1C8CA3AD4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99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OUR REPLICATION</a:t>
            </a:r>
          </a:p>
        </p:txBody>
      </p:sp>
      <p:sp>
        <p:nvSpPr>
          <p:cNvPr id="8" name="report-body-1">
            <a:extLst xmlns:a="http://schemas.openxmlformats.org/drawingml/2006/main">
              <a:ext uri="{FF2B5EF4-FFF2-40B4-BE49-F238E27FC236}">
                <a16:creationId xmlns:a16="http://schemas.microsoft.com/office/drawing/2014/main" id="{90E42DD8-615A-420E-9C4E-BC8EEA1E4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9527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 matched, what differed, and the comparison you added.</a:t>
            </a:r>
          </a:p>
        </p:txBody>
      </p:sp>
      <p:sp>
        <p:nvSpPr>
          <p:cNvPr id="9" name="rule-278-404">
            <a:extLst xmlns:a="http://schemas.openxmlformats.org/drawingml/2006/main">
              <a:ext uri="{FF2B5EF4-FFF2-40B4-BE49-F238E27FC236}">
                <a16:creationId xmlns:a16="http://schemas.microsoft.com/office/drawing/2014/main" id="{6EE654D0-436A-477C-A5D3-E1DD5E4D0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8481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eport-label-2">
            <a:extLst xmlns:a="http://schemas.openxmlformats.org/drawingml/2006/main">
              <a:ext uri="{FF2B5EF4-FFF2-40B4-BE49-F238E27FC236}">
                <a16:creationId xmlns:a16="http://schemas.microsoft.com/office/drawing/2014/main" id="{9597F717-F013-46C8-A7B0-F726818FF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672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THE CATCH</a:t>
            </a:r>
          </a:p>
        </p:txBody>
      </p:sp>
      <p:sp>
        <p:nvSpPr>
          <p:cNvPr id="11" name="report-body-2">
            <a:extLst xmlns:a="http://schemas.openxmlformats.org/drawingml/2006/main">
              <a:ext uri="{FF2B5EF4-FFF2-40B4-BE49-F238E27FC236}">
                <a16:creationId xmlns:a16="http://schemas.microsoft.com/office/drawing/2014/main" id="{A6425C3A-5A93-4E0E-AB55-438CE2B31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2100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assumption, data choice, or limitation that changes the claim.</a:t>
            </a:r>
          </a:p>
        </p:txBody>
      </p:sp>
      <p:sp>
        <p:nvSpPr>
          <p:cNvPr id="12" name="rule-278-536">
            <a:extLst xmlns:a="http://schemas.openxmlformats.org/drawingml/2006/main">
              <a:ext uri="{FF2B5EF4-FFF2-40B4-BE49-F238E27FC236}">
                <a16:creationId xmlns:a16="http://schemas.microsoft.com/office/drawing/2014/main" id="{951C87A1-156D-43B0-9049-C67A892BF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105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port-rule">
            <a:extLst xmlns:a="http://schemas.openxmlformats.org/drawingml/2006/main">
              <a:ext uri="{FF2B5EF4-FFF2-40B4-BE49-F238E27FC236}">
                <a16:creationId xmlns:a16="http://schemas.microsoft.com/office/drawing/2014/main" id="{E78FFEF9-E15C-49BE-A7CD-430A3D827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5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Finish the presentation in class. Nothing carries over as required homework.</a:t>
            </a:r>
          </a:p>
        </p:txBody>
      </p:sp>
      <p:sp>
        <p:nvSpPr>
          <p:cNvPr id="14" name="rule-48-674">
            <a:extLst xmlns:a="http://schemas.openxmlformats.org/drawingml/2006/main">
              <a:ext uri="{FF2B5EF4-FFF2-40B4-BE49-F238E27FC236}">
                <a16:creationId xmlns:a16="http://schemas.microsoft.com/office/drawing/2014/main" id="{0129D9B1-43AC-467D-B3A8-432362DE3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67AA34F-0DEA-4298-B5CB-9D79A2E6D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09</a:t>
            </a:r>
          </a:p>
        </p:txBody>
      </p:sp>
      <p:sp>
        <p:nvSpPr>
          <p:cNvPr id="16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E91E2C66-D336-4386-A10A-7EAE3A41C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Practice · 7</a:t>
            </a:r>
          </a:p>
        </p:txBody>
      </p:sp>
    </p:spTree>
    <p:extLst>
      <p:ext uri="{BB962C8B-B14F-4D97-AF65-F5344CB8AC3E}">
        <p14:creationId xmlns:p14="http://schemas.microsoft.com/office/powerpoint/2010/main" val="9207086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lab-kicker">
            <a:extLst xmlns:a="http://schemas.openxmlformats.org/drawingml/2006/main">
              <a:ext uri="{FF2B5EF4-FFF2-40B4-BE49-F238E27FC236}">
                <a16:creationId xmlns:a16="http://schemas.microsoft.com/office/drawing/2014/main" id="{7752099C-5146-460A-8D70-A4A5491FA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rPr>
              <a:t>AFTER CLASS · OPTIONAL PARTICIPATION LAB</a:t>
            </a:r>
          </a:p>
        </p:txBody>
      </p:sp>
      <p:sp>
        <p:nvSpPr>
          <p:cNvPr id="2" name="lab-title">
            <a:extLst xmlns:a="http://schemas.openxmlformats.org/drawingml/2006/main">
              <a:ext uri="{FF2B5EF4-FFF2-40B4-BE49-F238E27FC236}">
                <a16:creationId xmlns:a16="http://schemas.microsoft.com/office/drawing/2014/main" id="{1966F551-C7E2-498A-824C-36EE136AD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066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Class ends with the group presentations.</a:t>
            </a:r>
          </a:p>
        </p:txBody>
      </p:sp>
      <p:sp>
        <p:nvSpPr>
          <p:cNvPr id="3" name="lab-availability">
            <a:extLst xmlns:a="http://schemas.openxmlformats.org/drawingml/2006/main">
              <a:ext uri="{FF2B5EF4-FFF2-40B4-BE49-F238E27FC236}">
                <a16:creationId xmlns:a16="http://schemas.microsoft.com/office/drawing/2014/main" id="{9367B948-A9C7-4430-A9E8-BA99CA699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0"/>
            <a:ext cx="6572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DDF2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DDF2FC"/>
                </a:solidFill>
                <a:latin typeface="Helvetica Neue"/>
                <a:ea typeface="Helvetica Neue"/>
                <a:cs typeface="Helvetica Neue"/>
              </a:rPr>
              <a:t>QMIB Lab 09 is a short at-home knowledge check.</a:t>
            </a:r>
          </a:p>
        </p:txBody>
      </p:sp>
      <p:sp>
        <p:nvSpPr>
          <p:cNvPr id="4" name="lab-policy">
            <a:extLst xmlns:a="http://schemas.openxmlformats.org/drawingml/2006/main">
              <a:ext uri="{FF2B5EF4-FFF2-40B4-BE49-F238E27FC236}">
                <a16:creationId xmlns:a16="http://schemas.microsoft.com/office/drawing/2014/main" id="{3CACC487-84E0-438E-93A3-EE11D3868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76650"/>
            <a:ext cx="65722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lab is optional. A completed app report counts toward participation; it is separate from the next pre-session reading and data preparation.</a:t>
            </a:r>
          </a:p>
        </p:txBody>
      </p:sp>
      <p:sp>
        <p:nvSpPr>
          <p:cNvPr id="5" name="lab-steps-bg">
            <a:extLst xmlns:a="http://schemas.openxmlformats.org/drawingml/2006/main">
              <a:ext uri="{FF2B5EF4-FFF2-40B4-BE49-F238E27FC236}">
                <a16:creationId xmlns:a16="http://schemas.microsoft.com/office/drawing/2014/main" id="{44B8348E-F230-46E6-B0AC-AE644ECB9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171700"/>
            <a:ext cx="36766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E2A34"/>
          </a:solidFill>
          <a:ln xmlns:a="http://schemas.openxmlformats.org/drawingml/2006/main" w="9525">
            <a:solidFill>
              <a:srgbClr val="3A4652"/>
            </a:solidFill>
            <a:prstDash val="solid"/>
          </a:ln>
        </p:spPr>
      </p:sp>
      <p:sp>
        <p:nvSpPr>
          <p:cNvPr id="6" name="lab-steps-title">
            <a:extLst xmlns:a="http://schemas.openxmlformats.org/drawingml/2006/main">
              <a:ext uri="{FF2B5EF4-FFF2-40B4-BE49-F238E27FC236}">
                <a16:creationId xmlns:a16="http://schemas.microsoft.com/office/drawing/2014/main" id="{E7001B2A-D5E3-4B31-82F2-3C9C8D647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33650"/>
            <a:ext cx="299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rPr>
              <a:t>If you choose the lab</a:t>
            </a:r>
          </a:p>
        </p:txBody>
      </p:sp>
      <p:sp>
        <p:nvSpPr>
          <p:cNvPr id="7" name="lab-step-num-0">
            <a:extLst xmlns:a="http://schemas.openxmlformats.org/drawingml/2006/main">
              <a:ext uri="{FF2B5EF4-FFF2-40B4-BE49-F238E27FC236}">
                <a16:creationId xmlns:a16="http://schemas.microsoft.com/office/drawing/2014/main" id="{7B6AC7A9-F7DA-4C4F-87A5-8E00DB09B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813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" name="lab-step-0">
            <a:extLst xmlns:a="http://schemas.openxmlformats.org/drawingml/2006/main">
              <a:ext uri="{FF2B5EF4-FFF2-40B4-BE49-F238E27FC236}">
                <a16:creationId xmlns:a16="http://schemas.microsoft.com/office/drawing/2014/main" id="{4E8640AC-380A-47C7-8BB7-1132EC619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43250"/>
            <a:ext cx="2457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Open the session check in the web app</a:t>
            </a:r>
          </a:p>
        </p:txBody>
      </p:sp>
      <p:sp>
        <p:nvSpPr>
          <p:cNvPr id="9" name="lab-step-num-1">
            <a:extLst xmlns:a="http://schemas.openxmlformats.org/drawingml/2006/main">
              <a:ext uri="{FF2B5EF4-FFF2-40B4-BE49-F238E27FC236}">
                <a16:creationId xmlns:a16="http://schemas.microsoft.com/office/drawing/2014/main" id="{CAB6D0F1-0D61-40EE-B9E2-F87B6DCDD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766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0" name="lab-step-1">
            <a:extLst xmlns:a="http://schemas.openxmlformats.org/drawingml/2006/main">
              <a:ext uri="{FF2B5EF4-FFF2-40B4-BE49-F238E27FC236}">
                <a16:creationId xmlns:a16="http://schemas.microsoft.com/office/drawing/2014/main" id="{9CEE2C59-22C5-406A-928D-BD5AB6583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38550"/>
            <a:ext cx="2457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6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Answer once without your notes</a:t>
            </a:r>
          </a:p>
        </p:txBody>
      </p:sp>
      <p:sp>
        <p:nvSpPr>
          <p:cNvPr id="11" name="lab-step-num-2">
            <a:extLst xmlns:a="http://schemas.openxmlformats.org/drawingml/2006/main">
              <a:ext uri="{FF2B5EF4-FFF2-40B4-BE49-F238E27FC236}">
                <a16:creationId xmlns:a16="http://schemas.microsoft.com/office/drawing/2014/main" id="{22627876-9F80-4B9E-8E61-E698E3EE8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1719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2" name="lab-step-2">
            <a:extLst xmlns:a="http://schemas.openxmlformats.org/drawingml/2006/main">
              <a:ext uri="{FF2B5EF4-FFF2-40B4-BE49-F238E27FC236}">
                <a16:creationId xmlns:a16="http://schemas.microsoft.com/office/drawing/2014/main" id="{4DE2F3E4-0165-42E5-AF37-6E210FC15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133850"/>
            <a:ext cx="2457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704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Retry and explain missed concepts</a:t>
            </a:r>
          </a:p>
        </p:txBody>
      </p:sp>
      <p:sp>
        <p:nvSpPr>
          <p:cNvPr id="13" name="lab-step-num-3">
            <a:extLst xmlns:a="http://schemas.openxmlformats.org/drawingml/2006/main">
              <a:ext uri="{FF2B5EF4-FFF2-40B4-BE49-F238E27FC236}">
                <a16:creationId xmlns:a16="http://schemas.microsoft.com/office/drawing/2014/main" id="{233714D9-2AB9-4478-BEF5-A262ED33D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6672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4" name="lab-step-3">
            <a:extLst xmlns:a="http://schemas.openxmlformats.org/drawingml/2006/main">
              <a:ext uri="{FF2B5EF4-FFF2-40B4-BE49-F238E27FC236}">
                <a16:creationId xmlns:a16="http://schemas.microsoft.com/office/drawing/2014/main" id="{3DDE9935-3E5D-40D5-8E2B-95FC16D58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629150"/>
            <a:ext cx="2457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Save and submit the report</a:t>
            </a:r>
          </a:p>
        </p:txBody>
      </p:sp>
      <p:sp>
        <p:nvSpPr>
          <p:cNvPr id="15" name="rule-48-674">
            <a:extLst xmlns:a="http://schemas.openxmlformats.org/drawingml/2006/main">
              <a:ext uri="{FF2B5EF4-FFF2-40B4-BE49-F238E27FC236}">
                <a16:creationId xmlns:a16="http://schemas.microsoft.com/office/drawing/2014/main" id="{9427D27A-563E-407A-BC65-1F5C7D2BD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55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3674123-DAAD-4BF8-8838-CACF433FE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MATH60033A · Thierry Warin · Session 09</a:t>
            </a:r>
          </a:p>
        </p:txBody>
      </p:sp>
      <p:sp>
        <p:nvSpPr>
          <p:cNvPr id="17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0EB04275-2168-45E5-B595-A46C2C2E2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Practice · 8</a:t>
            </a:r>
          </a:p>
        </p:txBody>
      </p:sp>
    </p:spTree>
    <p:extLst>
      <p:ext uri="{BB962C8B-B14F-4D97-AF65-F5344CB8AC3E}">
        <p14:creationId xmlns:p14="http://schemas.microsoft.com/office/powerpoint/2010/main" val="9807638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Thierry Warin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Thierry Warin</dc:creator>
  <lastModifiedBy>Thierry Warin</lastModifiedBy>
  <dc:title>Presentation</dc:title>
  <dcterms:created xsi:type="dcterms:W3CDTF">2026-08-23T21:43:12.9670000Z</dcterms:created>
  <dcterms:modified xsi:type="dcterms:W3CDTF">2026-08-23T21:43:12.9670000Z</dcterms:modified>
</coreProperties>
</file>