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 anchor="t"/>
          <a:lstStyle>
            <a:lvl1pPr algn="l">
              <a:defRPr sz="2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50000"/>
            <a:ext cx="7772400" cy="70000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1-lecture/README.md" TargetMode="External" /><Relationship Id="rId3" Type="http://schemas.openxmlformats.org/officeDocument/2006/relationships/hyperlink" Target="02-practice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Causal Machine Learning: Double/Debiased ML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10 · Lecture, first half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22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You have a superb predictive model. Why can you still not use it to choose a policy?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we are, and what this adds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setup, and what identification requires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the naive plug-in fails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 1 — Neyman orthogonality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 2 — cross-fitting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Heterogeneous effects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this does </a:t>
                      </a:r>
                      <a:r>
                        <a:rPr i="1"/>
                        <a:t>not</a:t>
                      </a:r>
                      <a:r>
                        <a:rPr/>
                        <a:t> fix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State the partially linear model and name the </a:t>
            </a:r>
            <a:r>
              <a:rPr b="1"/>
              <a:t>nuisance functions</a:t>
            </a:r>
          </a:p>
          <a:p>
            <a:pPr lvl="0"/>
            <a:r>
              <a:rPr/>
              <a:t>Decompose the naive estimator’s error into </a:t>
            </a:r>
            <a:r>
              <a:rPr b="1"/>
              <a:t>regularisation</a:t>
            </a:r>
            <a:r>
              <a:rPr/>
              <a:t> and </a:t>
            </a:r>
            <a:r>
              <a:rPr b="1"/>
              <a:t>overfitting</a:t>
            </a:r>
            <a:r>
              <a:rPr/>
              <a:t> bias</a:t>
            </a:r>
          </a:p>
          <a:p>
            <a:pPr lvl="0"/>
            <a:r>
              <a:rPr/>
              <a:t>Explain why an orthogonal score turns two slow rates into one fast enough one</a:t>
            </a:r>
          </a:p>
          <a:p>
            <a:pPr lvl="0"/>
            <a:r>
              <a:rPr/>
              <a:t>Implement cross-fitting, and say precisely which bias it removes</a:t>
            </a:r>
          </a:p>
          <a:p>
            <a:pPr lvl="0"/>
            <a:r>
              <a:rPr/>
              <a:t>Report a heterogeneous effect </a:t>
            </a:r>
            <a:r>
              <a:rPr b="1"/>
              <a:t>without</a:t>
            </a:r>
            <a:r>
              <a:rPr/>
              <a:t> doing undisclosed multiple testing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· What this adds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Sessions 05–09 gave you prediction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can now 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fit well with more predictors than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06–07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classify, and fit arbitrary non-linear surfaces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08–09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compress and cluster without an outcome at all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And none of it answers the only question a minister ever asks: </a:t>
            </a:r>
            <a:r>
              <a:rPr b="1"/>
              <a:t>if we do this, what happens?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gap, made concrete</a:t>
            </a:r>
          </a:p>
        </p:txBody>
      </p:sp>
      <p:pic>
        <p:nvPicPr>
          <p:cNvPr descr="slides_files/figure-pptx/cell-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Countries that adopt AI strategies are </a:t>
            </a:r>
            <a:r>
              <a:rPr b="1"/>
              <a:t>richer</a:t>
            </a:r>
            <a:r>
              <a:rPr/>
              <a:t>, and they adopt </a:t>
            </a:r>
            <a:r>
              <a:rPr b="1"/>
              <a:t>later</a:t>
            </a:r>
            <a:r>
              <a:rPr/>
              <a:t>. Treatment is not random, and no amount of predictive accuracy repairs that.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number this produces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f"mean digital intensity, has strategy 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Yr[Dr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mean()</a:t>
            </a:r>
            <a:r>
              <a:rPr>
                <a:solidFill>
                  <a:srgbClr val="4070A0"/>
                </a:solidFill>
                <a:latin typeface="Courier"/>
              </a:rPr>
              <a:t>:6.2f}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f"mean digital intensity, no strategy  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Yr[Dr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mean()</a:t>
            </a:r>
            <a:r>
              <a:rPr>
                <a:solidFill>
                  <a:srgbClr val="4070A0"/>
                </a:solidFill>
                <a:latin typeface="Courier"/>
              </a:rPr>
              <a:t>:6.2f}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f"naive difference in means            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NAIVE</a:t>
            </a:r>
            <a:r>
              <a:rPr>
                <a:solidFill>
                  <a:srgbClr val="4070A0"/>
                </a:solidFill>
                <a:latin typeface="Courier"/>
              </a:rPr>
              <a:t>:+6.2f}</a:t>
            </a:r>
            <a:r>
              <a:rPr>
                <a:solidFill>
                  <a:srgbClr val="BB6688"/>
                </a:solidFill>
                <a:latin typeface="Courier"/>
              </a:rPr>
              <a:t> points"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digital intensity, has strategy :  56.07
mean digital intensity, no strategy  :  45.62
naive difference in means            : +10.45 points</a:t>
            </a:r>
          </a:p>
          <a:p>
            <a:pPr lvl="0" indent="0" marL="0">
              <a:buNone/>
            </a:pPr>
            <a:r>
              <a:rPr/>
              <a:t>Ten points. If you publish that as the effect of adopting a national AI strategy, you have published the difference between rich and poor countries wearing a policy label.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today adds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 way to use the flexible learners of Sessions 05–07 for the </a:t>
            </a:r>
            <a:r>
              <a:rPr sz="2000" b="1"/>
              <a:t>nuisance</a:t>
            </a:r>
            <a:r>
              <a:rPr sz="2000"/>
              <a:t> parts of a causal question, while keeping the </a:t>
            </a:r>
            <a:r>
              <a:rPr sz="2000" b="1"/>
              <a:t>valid confidence interval</a:t>
            </a:r>
            <a:r>
              <a:rPr sz="2000"/>
              <a:t> of Session 03.</a:t>
            </a:r>
          </a:p>
          <a:p>
            <a:pPr lvl="0" indent="0" marL="0">
              <a:buNone/>
            </a:pPr>
            <a:r>
              <a:rPr/>
              <a:t>This is the reconciliation of the two halves of the course. Everything before Session 05 had honest inference and rigid functional form; everything after had flexible fit and no inference. Today they meet.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· The setup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partially linear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θ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t>D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U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V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is what you want.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are </a:t>
                </a:r>
                <a:r>
                  <a:rPr b="1"/>
                  <a:t>nuisance functions</a:t>
                </a:r>
                <a:r>
                  <a:rPr/>
                  <a:t> — you do not care about them, but you cannot avoid them.</a:t>
                </a:r>
              </a:p>
              <a:p>
                <a:pPr lvl="0" indent="0" marL="0">
                  <a:buNone/>
                </a:pPr>
                <a:r>
                  <a:rPr/>
                  <a:t>Classical econometrics assumes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is linear. DML’s premise is that you would rather estimate it flexibly — because </a:t>
                </a:r>
                <a:r>
                  <a:rPr b="1"/>
                  <a:t>functional-form error in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 b="1"/>
                  <a:t> contaminates </a:t>
                </a:r>
                <a14:m>
                  <m:oMath xmlns:m="http://schemas.openxmlformats.org/officeDocument/2006/math"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Identification requires three things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Conditional ignorability</a:t>
                </a:r>
                <a:r>
                  <a:rPr/>
                  <a:t> 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{</m:t>
                    </m:r>
                    <m:r>
                      <m:t>Y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,</m:t>
                    </m:r>
                    <m:r>
                      <m:t>Y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m:t>}</m:t>
                    </m:r>
                    <m:r>
                      <m:rPr>
                        <m:sty m:val="p"/>
                      </m:rPr>
                      <m:t>⟂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∣</m:t>
                    </m:r>
                    <m:r>
                      <m:t>X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Overlap</a:t>
                </a:r>
                <a:r>
                  <a:rPr/>
                  <a:t> —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D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∣</m:t>
                        </m:r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&lt;</m:t>
                    </m:r>
                    <m:r>
                      <m:t>1</m:t>
                    </m:r>
                  </m:oMath>
                </a14:m>
                <a:r>
                  <a:rPr/>
                  <a:t> almost surely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SUTVA</a:t>
                </a:r>
                <a:r>
                  <a:rPr/>
                  <a:t> — no interference between units, one version of treatment</a:t>
                </a:r>
              </a:p>
              <a:p>
                <a:pPr lvl="0" indent="0" marL="0">
                  <a:buNone/>
                </a:pPr>
                <a:r>
                  <a:rPr/>
                  <a:t>No amount of machine learning substitutes for these. They are assumptions </a:t>
                </a:r>
                <a:r>
                  <a:rPr b="1"/>
                  <a:t>about the world</a:t>
                </a:r>
                <a:r>
                  <a:rPr/>
                  <a:t>, defended with institutional knowledge — not with cross-validation.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overlap before anything else</a:t>
            </a:r>
          </a:p>
        </p:txBody>
      </p:sp>
      <p:pic>
        <p:nvPicPr>
          <p:cNvPr descr="slides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74700" y="1193800"/>
            <a:ext cx="7594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in five observations have almost no counterpart in the other arm. For those countries the data contain </a:t>
            </a:r>
            <a:r>
              <a:rPr b="1"/>
              <a:t>no comparison</a:t>
            </a:r>
            <a:r>
              <a:rPr/>
              <a:t>, and any estimate is extrapolation.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· Why the naive plug-in fails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obvious thing to do, and why it breaks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Estimate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g</m:t>
                            </m:r>
                          </m:e>
                        </m:acc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with a lasso or a forest on the full sample, then regress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g</m:t>
                            </m:r>
                          </m:e>
                        </m:acc>
                      </m:e>
                      <m:sub>
                        <m: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on </a:t>
                </a:r>
                <a14:m>
                  <m:oMath xmlns:m="http://schemas.openxmlformats.org/officeDocument/2006/math">
                    <m:r>
                      <m:t>D</m:t>
                    </m:r>
                  </m:oMath>
                </a14:m>
                <a:r>
                  <a:rPr/>
                  <a:t>. Decomposing the error: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</m:radPr>
                        <m:deg/>
                        <m:e>
                          <m:r>
                            <m:t>n</m:t>
                          </m:r>
                        </m:e>
                      </m:ra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θ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limLow>
                            <m:e>
                              <m:r>
                                <m:t>a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sty m:val="p"/>
                            </m:rPr>
                            <m:t>→</m:t>
                          </m:r>
                          <m:r>
                            <m:t> </m:t>
                          </m:r>
                          <m: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Σ</m:t>
                              </m:r>
                            </m:e>
                          </m:d>
                        </m:lim>
                      </m:limLow>
                      <m:r>
                        <m:rPr>
                          <m:sty m:val="p"/>
                        </m:rPr>
                        <m:t>+</m:t>
                      </m:r>
                      <m:limLow>
                        <m:e>
                          <m:limLow>
                            <m:e>
                              <m:r>
                                <m:t>b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regularisation bias</m:t>
                          </m:r>
                        </m:lim>
                      </m:limLow>
                      <m:r>
                        <m:rPr>
                          <m:sty m:val="p"/>
                        </m:rPr>
                        <m:t>+</m:t>
                      </m:r>
                      <m:limLow>
                        <m:e>
                          <m:limLow>
                            <m:e>
                              <m:r>
                                <m:t>c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overfitting bias</m:t>
                          </m:r>
                        </m:lim>
                      </m:limLow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scales like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m:t>n</m:t>
                        </m:r>
                      </m:e>
                    </m:rad>
                    <m:r>
                      <m:rPr>
                        <m:sty m:val="p"/>
                      </m:rPr>
                      <m:t>×</m:t>
                    </m:r>
                    <m:r>
                      <m:rPr>
                        <m:sty m:val="p"/>
                      </m:rPr>
                      <m:t>∥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g</m:t>
                            </m:r>
                          </m:e>
                        </m:acc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g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∥</m:t>
                    </m:r>
                  </m:oMath>
                </a14:m>
                <a:r>
                  <a:rPr/>
                  <a:t>. ML estimators converge </a:t>
                </a:r>
                <a:r>
                  <a:rPr b="1"/>
                  <a:t>slower</a:t>
                </a:r>
                <a:r>
                  <a:rPr/>
                  <a:t> than </a:t>
                </a:r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— that is the price of flexibility — so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</a:t>
                </a:r>
                <a:r>
                  <a:rPr b="1"/>
                  <a:t>diverges</a:t>
                </a:r>
              </a:p>
              <a:p>
                <a:pPr lvl="0"/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arises because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g</m:t>
                            </m:r>
                          </m:e>
                        </m:acc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was fitted on the same observations where it is evaluated</a:t>
                </a:r>
              </a:p>
              <a:p>
                <a:pPr lvl="0" indent="0" marL="0">
                  <a:buNone/>
                </a:pPr>
                <a:r>
                  <a:rPr/>
                  <a:t>Two distinct problems. Two distinct fixes.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Watch it happen, with </a:t>
                </a:r>
                <a14:m>
                  <m:oMath xmlns:m="http://schemas.openxmlformats.org/officeDocument/2006/math"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known</a:t>
                </a:r>
              </a:p>
            </p:txBody>
          </p:sp>
        </mc:Choice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THETA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simulate(n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300</a:t>
            </a:r>
            <a:r>
              <a:rPr>
                <a:latin typeface="Courier"/>
              </a:rPr>
              <a:t>, 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seed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"""Partially linear model with a genuinely non-linear g0 and m0."""</a:t>
            </a:r>
            <a:br/>
            <a:r>
              <a:rPr>
                <a:latin typeface="Courier"/>
              </a:rPr>
              <a:t>    rng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np.random.default_rng(seed)</a:t>
            </a:r>
            <a:br/>
            <a:r>
              <a:rPr>
                <a:latin typeface="Courier"/>
              </a:rPr>
              <a:t>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rng.normal(size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(n, p))</a:t>
            </a:r>
            <a:br/>
            <a:r>
              <a:rPr>
                <a:latin typeface="Courier"/>
              </a:rPr>
              <a:t>    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np.exp(X[:,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np.exp(X[:,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]))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0.25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np.cos(X[:,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])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X[:,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0.8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X[:,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0.25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np.sin(X[:,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    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rng.normal(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n)</a:t>
            </a:r>
            <a:br/>
            <a:r>
              <a:rPr>
                <a:latin typeface="Courier"/>
              </a:rPr>
              <a:t>    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THETA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D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g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rng.normal(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n)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X, D, Y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forest():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RandomForestRegressor(</a:t>
            </a:r>
            <a:r>
              <a:rPr>
                <a:solidFill>
                  <a:srgbClr val="40A070"/>
                </a:solidFill>
                <a:latin typeface="Courier"/>
              </a:rPr>
              <a:t>60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n_jobs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estimate(X, D, Y, mode):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(Y)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mode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"naive"</a:t>
            </a:r>
            <a:r>
              <a:rPr>
                <a:latin typeface="Courier"/>
              </a:rPr>
              <a:t>: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regress Y - ghat(X) on D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(D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(Y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forest().fit(X, Y).predict(X)))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(D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D)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mode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"orthogonal"</a:t>
            </a:r>
            <a:r>
              <a:rPr>
                <a:latin typeface="Courier"/>
              </a:rPr>
              <a:t>: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residualise BOTH, same sample</a:t>
            </a:r>
            <a:br/>
            <a:r>
              <a:rPr>
                <a:latin typeface="Courier"/>
              </a:rPr>
              <a:t>        ty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forest().fit(X, Y).predict(X)</a:t>
            </a:r>
            <a:br/>
            <a:r>
              <a:rPr>
                <a:latin typeface="Courier"/>
              </a:rPr>
              <a:t>        td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forest().fit(X, D).predict(X)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             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residualise BOTH, cross-fitted</a:t>
            </a:r>
            <a:br/>
            <a:r>
              <a:rPr>
                <a:latin typeface="Courier"/>
              </a:rPr>
              <a:t>        ty, td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np.zeros(n), np.zeros(n)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tr, te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KFold(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shuffle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).split(X):</a:t>
            </a:r>
            <a:br/>
            <a:r>
              <a:rPr>
                <a:latin typeface="Courier"/>
              </a:rPr>
              <a:t>            ty[te]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Y[te]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forest().fit(X[tr], Y[tr]).predict(X[te])</a:t>
            </a:r>
            <a:br/>
            <a:r>
              <a:rPr>
                <a:latin typeface="Courier"/>
              </a:rPr>
              <a:t>            td[te]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D[te]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forest().fit(X[tr], D[tr]).predict(X[te])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(td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ty)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(td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td)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Fifty replications, three estimators</a:t>
            </a:r>
          </a:p>
        </p:txBody>
      </p:sp>
      <p:pic>
        <p:nvPicPr>
          <p:cNvPr descr="slides_files/figure-pptx/cell-7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802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naive estimator misses by </a:t>
            </a:r>
            <a:r>
              <a:rPr b="1"/>
              <a:t>more than half the true effect</a:t>
            </a:r>
            <a:r>
              <a:rPr/>
              <a:t>, and its spread is </a:t>
            </a:r>
            <a:r>
              <a:rPr i="1"/>
              <a:t>narrow</a:t>
            </a:r>
            <a:r>
              <a:rPr/>
              <a:t> — it is confidently wrong. A tight confidence interval around it would be worse than no estimate.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· Fix 1 — orthogonality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a different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ψ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;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η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ℓ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θ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sSub>
                                <m:e>
                                  <m:r>
                                    <m:t>m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with 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m:t>ℓ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m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ℓ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Y</m:t>
                        </m:r>
                        <m:r>
                          <m:rPr>
                            <m:sty m:val="p"/>
                          </m:rPr>
                          <m:t>∣</m:t>
                        </m:r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D</m:t>
                        </m:r>
                        <m:r>
                          <m:rPr>
                            <m:sty m:val="p"/>
                          </m:rPr>
                          <m:t>∣</m:t>
                        </m:r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. Solving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ψ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θ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  <m:scr m:val="double-struck"/>
                            </m:rP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m:t>ℓ</m:t>
                                      </m:r>
                                    </m:e>
                                    <m:sub>
                                      <m:r>
                                        <m:t>0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X</m:t>
                                      </m:r>
                                    </m:e>
                                  </m:d>
                                </m:e>
                              </m:d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D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r>
                                        <m:t>m</m:t>
                                      </m:r>
                                    </m:e>
                                    <m:sub>
                                      <m:r>
                                        <m:t>0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X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  <m:scr m:val="double-struck"/>
                            </m:rP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D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m:t>m</m:t>
                                          </m:r>
                                        </m:e>
                                        <m:sub>
                                          <m:r>
                                            <m:t>0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/>
                                        </m:dPr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m:t>D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m:t>V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  <m:r>
                            <m:rPr>
                              <m:sty m:val="p"/>
                            </m:rPr>
                            <m:t>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m:t>D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That is </a:t>
                </a:r>
                <a:r>
                  <a:rPr b="1"/>
                  <a:t>exactly Frisch–Waugh–Lovell</a:t>
                </a:r>
                <a:r>
                  <a:rPr/>
                  <a:t> from Session 02: regress residualised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on residualised </a:t>
                </a:r>
                <a14:m>
                  <m:oMath xmlns:m="http://schemas.openxmlformats.org/officeDocument/2006/math">
                    <m:r>
                      <m:t>D</m:t>
                    </m:r>
                  </m:oMath>
                </a14:m>
                <a:r>
                  <a:rPr/>
                  <a:t>. The only change is that the residualising is done by a forest instead of a projection matrix.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“orthogonal”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directional 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ψ</m:t>
                        </m:r>
                      </m:e>
                    </m:d>
                  </m:oMath>
                </a14:m>
                <a:r>
                  <a:rPr/>
                  <a:t> with respect to the nuisance, at the truth, is </a:t>
                </a:r>
                <a:r>
                  <a:rPr b="1"/>
                  <a:t>zero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m:t>∂</m:t>
                          </m:r>
                        </m:e>
                        <m:sub>
                          <m:r>
                            <m:t>η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ψ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;</m:t>
                              </m:r>
                              <m:sSub>
                                <m:e>
                                  <m:r>
                                    <m:t>θ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sSub>
                                <m:e>
                                  <m:r>
                                    <m:t>η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η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η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 a small error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η</m:t>
                        </m:r>
                      </m:e>
                    </m:acc>
                  </m:oMath>
                </a14:m>
                <a:r>
                  <a:rPr/>
                  <a:t> has only a </a:t>
                </a:r>
                <a:r>
                  <a:rPr b="1"/>
                  <a:t>second-order</a:t>
                </a:r>
                <a:r>
                  <a:rPr/>
                  <a:t> effect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θ</m:t>
                        </m:r>
                      </m:e>
                    </m:acc>
                  </m:oMath>
                </a14:m>
                <a:r>
                  <a:rPr/>
                  <a:t>. The bias term becomes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</m:radPr>
                        <m:deg/>
                        <m:e>
                          <m:r>
                            <m:t>n</m:t>
                          </m:r>
                        </m:e>
                      </m:rad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sty m:val="p"/>
                        </m:rPr>
                        <m:t>∥</m:t>
                      </m:r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p"/>
                            </m:rPr>
                            <m:t>ℓ</m:t>
                          </m:r>
                        </m:e>
                      </m:acc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ℓ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∥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sty m:val="p"/>
                        </m:rPr>
                        <m:t>∥</m:t>
                      </m:r>
                      <m:acc>
                        <m:accPr>
                          <m:chr m:val="̂"/>
                        </m:accPr>
                        <m:e>
                          <m:r>
                            <m:t>m</m:t>
                          </m:r>
                        </m:e>
                      </m:acc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∥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slow rates multiply into a fast one</a:t>
            </a:r>
          </a:p>
        </p:txBody>
      </p:sp>
      <p:pic>
        <p:nvPicPr>
          <p:cNvPr descr="slides_files/figure-pptx/cell-8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36600" y="1193800"/>
            <a:ext cx="7683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Neither nuisance need converge at </a:t>
                </a:r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 Each need only beat </a:t>
                </a:r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4</m:t>
                        </m:r>
                      </m:sup>
                    </m:sSup>
                  </m:oMath>
                </a14:m>
                <a:r>
                  <a:rPr/>
                  <a:t> — a rate lasso, forests and boosting achieve under reasonable conditions. </a:t>
                </a:r>
                <a:r>
                  <a:rPr b="1"/>
                  <a:t>Two slow rates multiply into one fast enough rate.</a:t>
                </a:r>
                <a:r>
                  <a:rPr/>
                  <a:t> That is why it is called </a:t>
                </a:r>
                <a:r>
                  <a:rPr i="1"/>
                  <a:t>double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· Fix 2 — cross-fitting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remaining bias, and the split that removes 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Term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exists because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rPr>
                            <m:sty m:val="p"/>
                          </m:rPr>
                          <m:t>ℓ</m:t>
                        </m:r>
                      </m:e>
                    </m:acc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m</m:t>
                        </m:r>
                      </m:e>
                    </m:acc>
                  </m:oMath>
                </a14:m>
                <a:r>
                  <a:rPr/>
                  <a:t> were fitted using the very observations at which they are then evaluated. That correlates the estimated nuisance with the residual.</a:t>
                </a:r>
              </a:p>
              <a:p>
                <a:pPr lvl="0" indent="0" marL="0">
                  <a:buNone/>
                </a:pPr>
                <a:r>
                  <a:rPr/>
                  <a:t>The fix is the one you already know from Session 04: </a:t>
                </a:r>
                <a:r>
                  <a:rPr b="1"/>
                  <a:t>never evaluate a fit on data it was fitted on</a:t>
                </a:r>
                <a:r>
                  <a:rPr/>
                  <a:t>. Here it is applied to the nuisance step.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procedure, drawn</a:t>
            </a:r>
          </a:p>
        </p:txBody>
      </p:sp>
      <p:pic>
        <p:nvPicPr>
          <p:cNvPr descr="slides_files/figure-pptx/cell-9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57300"/>
            <a:ext cx="8229600" cy="326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observation gets a residual, and no observation’s residual used a nuisance fitted on itself.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Then pool, and get a standard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>
                                <m:e>
                                  <m:acc>
                                    <m:accPr>
                                      <m:chr m:val="̃"/>
                                    </m:accPr>
                                    <m:e>
                                      <m:r>
                                        <m:t>Y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m:t>D</m:t>
                                  </m:r>
                                </m:e>
                              </m:acc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Sup>
                                <m:e>
                                  <m:acc>
                                    <m:accPr>
                                      <m:chr m:val="̃"/>
                                    </m:accPr>
                                    <m:e>
                                      <m:r>
                                        <m:t>D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σ</m:t>
                              </m:r>
                            </m:e>
                          </m:acc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n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Sup>
                                <m:e>
                                  <m:acc>
                                    <m:accPr>
                                      <m:chr m:val="̃"/>
                                    </m:accPr>
                                    <m:e>
                                      <m:r>
                                        <m:t>D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e>
                          </m:nary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acc>
                                        <m:accPr>
                                          <m:chr m:val="̃"/>
                                        </m:accPr>
                                        <m:e>
                                          <m:r>
                                            <m:t>Y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m:t>θ</m:t>
                                      </m:r>
                                    </m:e>
                                  </m:acc>
                                  <m:sSub>
                                    <m:e>
                                      <m:acc>
                                        <m:accPr>
                                          <m:chr m:val="̃"/>
                                        </m:accPr>
                                        <m:e>
                                          <m:r>
                                            <m:t>D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m:t>(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n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Sup>
                                <m:e>
                                  <m:acc>
                                    <m:accPr>
                                      <m:chr m:val="̃"/>
                                    </m:accPr>
                                    <m:e>
                                      <m:r>
                                        <m:t>D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e>
                          </m:nary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Result:</a:t>
                </a:r>
                <a:r>
                  <a:rPr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m:t>n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θ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θ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→</m:t>
                    </m:r>
                    <m:r>
                      <m:t>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sSup>
                          <m:e>
                            <m:r>
                              <m:t>σ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/>
                  <a:t>. Ordinary confidence intervals are valid — despite black-box learners in the nuisance step. That is the whole point of the session.</a:t>
                </a:r>
              </a:p>
              <a:p>
                <a:pPr lvl="0" indent="0" marL="0">
                  <a:buNone/>
                </a:pPr>
                <a:r>
                  <a:rPr/>
                  <a:t>Repeat over several random splits and take the </a:t>
                </a:r>
                <a:r>
                  <a:rPr b="1"/>
                  <a:t>median</a:t>
                </a:r>
                <a:r>
                  <a:rPr/>
                  <a:t>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θ</m:t>
                        </m:r>
                      </m:e>
                    </m:acc>
                  </m:oMath>
                </a14:m>
                <a:r>
                  <a:rPr/>
                  <a:t>, to remove split sensitivity.</a:t>
                </a:r>
              </a:p>
            </p:txBody>
          </p:sp>
        </mc:Choice>
      </mc:AlternateContent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do it on the real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dml_real(seed, K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(Yr)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ty, td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np.zeros(n), np.zeros(n)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tr, te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KFold(K, shuffle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seed).split(Xr):</a:t>
            </a:r>
            <a:br/>
            <a:r>
              <a:rPr>
                <a:latin typeface="Courier"/>
              </a:rPr>
              <a:t>        ty[te]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Yr[te]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RandomForestRegressor(</a:t>
            </a:r>
            <a:r>
              <a:rPr>
                <a:solidFill>
                  <a:srgbClr val="40A070"/>
                </a:solidFill>
                <a:latin typeface="Courier"/>
              </a:rPr>
              <a:t>300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                          n_jobs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).fit(Xr[tr], Yr[tr]).predict(Xr[te])</a:t>
            </a:r>
            <a:br/>
            <a:r>
              <a:rPr>
                <a:latin typeface="Courier"/>
              </a:rPr>
              <a:t>        td[te]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Dr[te]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RandomForestClassifier(</a:t>
            </a:r>
            <a:r>
              <a:rPr>
                <a:solidFill>
                  <a:srgbClr val="40A070"/>
                </a:solidFill>
                <a:latin typeface="Courier"/>
              </a:rPr>
              <a:t>300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                           n_jobs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).fit(Xr[tr], Dr[tr]).predict_proba(Xr[te])[:,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th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(td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ty)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(td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td)</a:t>
            </a:r>
            <a:br/>
            <a:r>
              <a:rPr>
                <a:latin typeface="Courier"/>
              </a:rPr>
              <a:t>    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np.sqrt(np.mean(td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(ty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th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td)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(np.mean(td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np.sqrt(n))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th, se, ty, td</a:t>
            </a:r>
            <a:br/>
            <a:br/>
            <a:r>
              <a:rPr>
                <a:latin typeface="Courier"/>
              </a:rPr>
              <a:t>runs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[dml_real(s)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)]</a:t>
            </a:r>
            <a:br/>
            <a:r>
              <a:rPr>
                <a:latin typeface="Courier"/>
              </a:rPr>
              <a:t>TH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(np.median([r[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runs]))</a:t>
            </a:r>
            <a:br/>
            <a:r>
              <a:rPr>
                <a:latin typeface="Courier"/>
              </a:rPr>
              <a:t>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(np.median([r[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runs]))</a:t>
            </a:r>
            <a:br/>
            <a:r>
              <a:rPr>
                <a:latin typeface="Courier"/>
              </a:rPr>
              <a:t>ols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sm.OLS(Yr, sm.add_constant(np.c_[Dr, Xr])).fit()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f"naive difference in means 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NAIVE</a:t>
            </a:r>
            <a:r>
              <a:rPr>
                <a:solidFill>
                  <a:srgbClr val="4070A0"/>
                </a:solidFill>
                <a:latin typeface="Courier"/>
              </a:rPr>
              <a:t>:+6.2f}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f"OLS, linear controls      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ols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params[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4070A0"/>
                </a:solidFill>
                <a:latin typeface="Courier"/>
              </a:rPr>
              <a:t>:+6.2f}</a:t>
            </a:r>
            <a:r>
              <a:rPr>
                <a:solidFill>
                  <a:srgbClr val="BB6688"/>
                </a:solidFill>
                <a:latin typeface="Courier"/>
              </a:rPr>
              <a:t>  (se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ols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bse[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)"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f"DML, cross-fitted forests 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TH</a:t>
            </a:r>
            <a:r>
              <a:rPr>
                <a:solidFill>
                  <a:srgbClr val="4070A0"/>
                </a:solidFill>
                <a:latin typeface="Courier"/>
              </a:rPr>
              <a:t>:+6.2f}</a:t>
            </a:r>
            <a:r>
              <a:rPr>
                <a:solidFill>
                  <a:srgbClr val="BB6688"/>
                </a:solidFill>
                <a:latin typeface="Courier"/>
              </a:rPr>
              <a:t>  (se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SE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)"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BB6688"/>
                </a:solidFill>
                <a:latin typeface="Courier"/>
              </a:rPr>
              <a:t>f"   95% CI [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TH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1.96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SE</a:t>
            </a:r>
            <a:r>
              <a:rPr>
                <a:solidFill>
                  <a:srgbClr val="4070A0"/>
                </a:solidFill>
                <a:latin typeface="Courier"/>
              </a:rPr>
              <a:t>:+.2f}</a:t>
            </a:r>
            <a:r>
              <a:rPr>
                <a:solidFill>
                  <a:srgbClr val="BB6688"/>
                </a:solidFill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TH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1.96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SE</a:t>
            </a:r>
            <a:r>
              <a:rPr>
                <a:solidFill>
                  <a:srgbClr val="4070A0"/>
                </a:solidFill>
                <a:latin typeface="Courier"/>
              </a:rPr>
              <a:t>:+.2f}</a:t>
            </a:r>
            <a:r>
              <a:rPr>
                <a:solidFill>
                  <a:srgbClr val="BB6688"/>
                </a:solidFill>
                <a:latin typeface="Courier"/>
              </a:rPr>
              <a:t>]"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naive difference in means : +10.45
OLS, linear controls      :  -0.10  (se 1.27)
DML, cross-fitted forests :  -0.61  (se 1.49)   95% CI [-3.54, +2.31]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three answers, side by side</a:t>
            </a:r>
          </a:p>
        </p:txBody>
      </p:sp>
      <p:pic>
        <p:nvPicPr>
          <p:cNvPr descr="slides_files/figure-pptx/cell-11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33500"/>
            <a:ext cx="82296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Ten points becomes </a:t>
            </a:r>
            <a:r>
              <a:rPr b="1"/>
              <a:t>indistinguishable from zero</a:t>
            </a:r>
            <a:r>
              <a:rPr/>
              <a:t>. The right-hand panel is the whole estimate: one slope, through residualised data — Session 02’s FWL picture, with forests doing the residualising.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median over splits</a:t>
            </a:r>
          </a:p>
        </p:txBody>
      </p:sp>
      <p:pic>
        <p:nvPicPr>
          <p:cNvPr descr="slides_files/figure-pptx/cell-1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57300"/>
            <a:ext cx="8229600" cy="326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data, the same code, five different random fold assignments — and estimates that differ by more than a point. </a:t>
            </a:r>
            <a:r>
              <a:rPr b="1"/>
              <a:t>Report the median across splits, and report the spread.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· Heterogeneous effects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 is often </a:t>
            </a:r>
            <a:r>
              <a:rPr i="1"/>
              <a:t>for whom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τ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Y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Causal forests</a:t>
                </a:r>
                <a:r>
                  <a:rPr/>
                  <a:t> (Wager &amp; Athey) adapt random forests in three ways: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Splits maximise heterogeneity in the </a:t>
                </a:r>
                <a:r>
                  <a:rPr b="1"/>
                  <a:t>treatment effect</a:t>
                </a:r>
                <a:r>
                  <a:rPr/>
                  <a:t>, not in the outcome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Honesty</a:t>
                </a:r>
                <a:r>
                  <a:rPr/>
                  <a:t> — the observations that choose the splits are disjoint from those that estimate the leaf effects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The estimator is asymptotically normal and pointwise consistent, so </a:t>
                </a:r>
                <a:r>
                  <a:rPr b="1"/>
                  <a:t>confidence intervals exist</a:t>
                </a:r>
              </a:p>
              <a:p>
                <a:pPr lvl="0" indent="0" marL="0">
                  <a:buNone/>
                </a:pPr>
                <a:r>
                  <a:rPr/>
                  <a:t>Point 2 is Session 04’s discipline again, moved inside the tree.</a:t>
                </a:r>
              </a:p>
            </p:txBody>
          </p:sp>
        </mc:Choice>
      </mc:AlternateContent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discipline that must come with 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Searching over subgroups for large effects is </a:t>
                </a:r>
                <a:r>
                  <a:rPr b="1"/>
                  <a:t>multiple testing</a:t>
                </a:r>
                <a:r>
                  <a:rPr/>
                  <a:t>, and it will find something. With twenty subgroups and a 5% test, one significant result is the </a:t>
                </a:r>
                <a:r>
                  <a:rPr i="1"/>
                  <a:t>expected</a:t>
                </a:r>
                <a:r>
                  <a:rPr/>
                  <a:t> outcome under no effect at all.</a:t>
                </a:r>
              </a:p>
              <a:p>
                <a:pPr lvl="0"/>
                <a:r>
                  <a:rPr b="1"/>
                  <a:t>Pre-specify</a:t>
                </a:r>
                <a:r>
                  <a:rPr/>
                  <a:t> subgroups wherever possible</a:t>
                </a:r>
              </a:p>
              <a:p>
                <a:pPr lvl="0"/>
                <a:r>
                  <a:rPr/>
                  <a:t>Otherwise report the </a:t>
                </a:r>
                <a:r>
                  <a:rPr b="1"/>
                  <a:t>best linear projection</a:t>
                </a:r>
                <a:r>
                  <a:rPr/>
                  <a:t>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τ</m:t>
                        </m:r>
                      </m:e>
                    </m:acc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on a small covariate set</a:t>
                </a:r>
              </a:p>
              <a:p>
                <a:pPr lvl="0"/>
                <a:r>
                  <a:rPr/>
                  <a:t>Or use a calibration test — the GATES / CLAN procedures of Chernozhukov et al.</a:t>
                </a:r>
              </a:p>
              <a:p>
                <a:pPr lvl="0"/>
                <a:r>
                  <a:rPr/>
                  <a:t>And label the whole section </a:t>
                </a:r>
                <a:r>
                  <a:rPr b="1"/>
                  <a:t>exploratory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· What this does not fix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this slide twice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DML delivers valid inference </a:t>
                </a:r>
                <a:r>
                  <a:rPr b="1"/>
                  <a:t>conditional on the identifying assumptions</a:t>
                </a:r>
                <a:r>
                  <a:rPr/>
                  <a:t>. If treatment is confounded by something not in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, DML estimates a precisely-quantified </a:t>
                </a:r>
                <a:r>
                  <a:rPr b="1"/>
                  <a:t>wrong number</a:t>
                </a:r>
                <a:r>
                  <a:rPr/>
                  <a:t> — and its narrow confidence interval will make the wrong number look authoritative.</a:t>
                </a:r>
              </a:p>
              <a:p>
                <a:pPr lvl="0" indent="0" marL="0">
                  <a:buNone/>
                </a:pPr>
                <a:r>
                  <a:rPr/>
                  <a:t>Flexible nuisance estimation removes </a:t>
                </a:r>
                <a:r>
                  <a:rPr b="1"/>
                  <a:t>functional-form error</a:t>
                </a:r>
                <a:r>
                  <a:rPr/>
                  <a:t>. It does not remove </a:t>
                </a:r>
                <a:r>
                  <a:rPr b="1"/>
                  <a:t>omitted-variable bias</a:t>
                </a:r>
                <a:r>
                  <a:rPr/>
                  <a:t>. Session 03’s OVB formula still governs everything: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short</m:t>
                          </m:r>
                        </m:sub>
                      </m:sSub>
                      <m:r>
                        <m:rPr>
                          <m:sty m:val="p"/>
                        </m:rPr>
                        <m:t>→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long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γ</m:t>
                      </m:r>
                      <m:r>
                        <m:t> </m:t>
                      </m:r>
                      <m:r>
                        <m:t>δ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means the hard part is not the 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code is thirty lines and you have just read all of them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argument</a:t>
                </a:r>
                <a:r>
                  <a:rPr/>
                  <a:t> — why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contains everything that drives both </a:t>
                </a:r>
                <a14:m>
                  <m:oMath xmlns:m="http://schemas.openxmlformats.org/officeDocument/2006/math">
                    <m:r>
                      <m:t>D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— is the paper</a:t>
                </a:r>
              </a:p>
              <a:p>
                <a:pPr lvl="0"/>
                <a:r>
                  <a:rPr/>
                  <a:t>That argument is made with institutional knowledge, not with cross-validation</a:t>
                </a:r>
              </a:p>
              <a:p>
                <a:pPr lvl="0" indent="0" marL="0">
                  <a:buNone/>
                </a:pPr>
                <a:r>
                  <a:rPr/>
                  <a:t>On our own example, 41% of observations failed the overlap check. That fact belongs in the abstract, not in a footnote.</a:t>
                </a:r>
              </a:p>
            </p:txBody>
          </p:sp>
        </mc:Choice>
      </mc:AlternateContent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Prediction accuracy and causal validity are </a:t>
                </a:r>
                <a:r>
                  <a:rPr b="1"/>
                  <a:t>different properties</a:t>
                </a:r>
                <a:r>
                  <a:rPr/>
                  <a:t>. One does not imply the other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The naive plug-in has two biases: regularisation (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) and overfitting (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)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An </a:t>
                </a:r>
                <a:r>
                  <a:rPr b="1"/>
                  <a:t>orthogonal score</a:t>
                </a:r>
                <a:r>
                  <a:rPr/>
                  <a:t> kills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— errors in the nuisance become second-order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Cross-fitting</a:t>
                </a:r>
                <a:r>
                  <a:rPr/>
                  <a:t> kills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— never evaluate a fit on its own training rows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Two </a:t>
                </a:r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4</m:t>
                        </m:r>
                      </m:sup>
                    </m:sSup>
                  </m:oMath>
                </a14:m>
                <a:r>
                  <a:rPr/>
                  <a:t> rates multiply into </a:t>
                </a:r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 Hence </a:t>
                </a:r>
                <a:r>
                  <a:rPr i="1"/>
                  <a:t>double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Heterogeneity searching is multiple testing. Pre-specify or label it exploratory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None of this identifies anything. </a:t>
                </a:r>
                <a:r>
                  <a:rPr b="1"/>
                  <a:t>The assumptions do that</a:t>
                </a:r>
              </a:p>
            </p:txBody>
          </p:sp>
        </mc:Choice>
      </mc:AlternateContent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loses marks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Reporting a DML estimate with </a:t>
                </a:r>
                <a:r>
                  <a:rPr b="1"/>
                  <a:t>no overlap diagnostic</a:t>
                </a:r>
              </a:p>
              <a:p>
                <a:pPr lvl="0"/>
                <a:r>
                  <a:rPr/>
                  <a:t>Fitting nuisances on the full sample (that is the naive plug-in, with extra steps)</a:t>
                </a:r>
              </a:p>
              <a:p>
                <a:pPr lvl="0"/>
                <a:r>
                  <a:rPr/>
                  <a:t>Reporting one fold assignment instead of the median over several</a:t>
                </a:r>
              </a:p>
              <a:p>
                <a:pPr lvl="0"/>
                <a:r>
                  <a:rPr/>
                  <a:t>Presenting a subgroup effect found by searching, without saying you searched</a:t>
                </a:r>
              </a:p>
              <a:p>
                <a:pPr lvl="0"/>
                <a:r>
                  <a:rPr/>
                  <a:t>Any sentence of the form “the model shows that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causes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”</a:t>
                </a:r>
              </a:p>
            </p:txBody>
          </p:sp>
        </mc:Choice>
      </mc:AlternateContent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the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Ninety minutes, in your groups. You will estimate one treatment effect three ways — naive, linear controls, and cross-fitted DML — check overlap first, and write the paragraph defending conditional ignorability. That paragraph carries the marks.</a:t>
            </a:r>
          </a:p>
          <a:p>
            <a:pPr lvl="0" indent="0" marL="0">
              <a:buNone/>
            </a:pPr>
            <a:r>
              <a:rPr/>
              <a:t>Notes: </a:t>
            </a:r>
            <a:r>
              <a:rPr>
                <a:hlinkClick r:id="rId2"/>
                <a:latin typeface="Courier"/>
              </a:rPr>
              <a:t>01-lecture/README.md</a:t>
            </a:r>
            <a:r>
              <a:rPr/>
              <a:t> · practice brief: </a:t>
            </a:r>
            <a:r>
              <a:rPr>
                <a:hlinkClick r:id="rId3"/>
                <a:latin typeface="Courier"/>
              </a:rPr>
              <a:t>02-practice/README.md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Machine Learning: Double/Debiased ML</dc:title>
  <dc:creator>Thierry Warin</dc:creator>
  <cp:keywords/>
  <dcterms:created xsi:type="dcterms:W3CDTF">2026-08-23T15:52:21Z</dcterms:created>
  <dcterms:modified xsi:type="dcterms:W3CDTF">2026-08-23T15:52:21Z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22 August 2026</vt:lpwstr>
  </property>
  <property fmtid="{D5CDD505-2E9C-101B-9397-08002B2CF9AE}" pid="8" name="date-format">
    <vt:lpwstr>D MMMM YYYY</vt:lpwstr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e">
    <vt:lpwstr>HEC Montréal</vt:lpwstr>
  </property>
  <property fmtid="{D5CDD505-2E9C-101B-9397-08002B2CF9AE}" pid="14" name="institutes">
    <vt:lpwstr/>
  </property>
  <property fmtid="{D5CDD505-2E9C-101B-9397-08002B2CF9AE}" pid="15" name="jupyter">
    <vt:lpwstr>python3</vt:lpwstr>
  </property>
  <property fmtid="{D5CDD505-2E9C-101B-9397-08002B2CF9AE}" pid="16" name="labels">
    <vt:lpwstr/>
  </property>
  <property fmtid="{D5CDD505-2E9C-101B-9397-08002B2CF9AE}" pid="17" name="subtitle">
    <vt:lpwstr>Session 10 · Lecture, first half</vt:lpwstr>
  </property>
  <property fmtid="{D5CDD505-2E9C-101B-9397-08002B2CF9AE}" pid="18" name="toc-title">
    <vt:lpwstr>Table of contents</vt:lpwstr>
  </property>
</Properties>
</file>