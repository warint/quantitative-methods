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4f1366bd6d4f1d" /><Relationship Type="http://schemas.openxmlformats.org/officeDocument/2006/relationships/extended-properties" Target="/docProps/app.xml" Id="R93fcd33a0bfd4c4d" /><Relationship Type="http://schemas.openxmlformats.org/officeDocument/2006/relationships/officeDocument" Target="/ppt/presentation.xml" Id="R199d6b443ec94c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8ecc23f945470b"/>
  </p:sldMasterIdLst>
  <p:notesMasterIdLst>
    <p:notesMasterId xmlns:r="http://schemas.openxmlformats.org/officeDocument/2006/relationships" r:id="R953d4823b8894494"/>
  </p:notesMasterIdLst>
  <p:sldIdLst>
    <p:sldId xmlns:r="http://schemas.openxmlformats.org/officeDocument/2006/relationships" id="256" r:id="R1aa53ab0f73e47c4"/>
    <p:sldId xmlns:r="http://schemas.openxmlformats.org/officeDocument/2006/relationships" id="257" r:id="R6284361d65144c5a"/>
    <p:sldId xmlns:r="http://schemas.openxmlformats.org/officeDocument/2006/relationships" id="258" r:id="R37269d8a2ac34f17"/>
    <p:sldId xmlns:r="http://schemas.openxmlformats.org/officeDocument/2006/relationships" id="259" r:id="Rddeaccd4508141a9"/>
    <p:sldId xmlns:r="http://schemas.openxmlformats.org/officeDocument/2006/relationships" id="260" r:id="R55bab06e0638486d"/>
    <p:sldId xmlns:r="http://schemas.openxmlformats.org/officeDocument/2006/relationships" id="261" r:id="Rbd7dd5564ffe49fc"/>
    <p:sldId xmlns:r="http://schemas.openxmlformats.org/officeDocument/2006/relationships" id="262" r:id="R4439bed6aae44754"/>
    <p:sldId xmlns:r="http://schemas.openxmlformats.org/officeDocument/2006/relationships" id="263" r:id="Rc687699793e641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eba6e249e54d69" /><Relationship Type="http://schemas.openxmlformats.org/officeDocument/2006/relationships/slideMaster" Target="/ppt/slideMasters/slideMaster1.xml" Id="R798ecc23f945470b" /><Relationship Type="http://schemas.openxmlformats.org/officeDocument/2006/relationships/notesMaster" Target="/ppt/notesMasters/notesMaster1.xml" Id="R953d4823b8894494" /><Relationship Type="http://schemas.openxmlformats.org/officeDocument/2006/relationships/presProps" Target="/ppt/presProps.xml" Id="Rb184f67fda4d4dac" /><Relationship Type="http://schemas.openxmlformats.org/officeDocument/2006/relationships/tableStyles" Target="/ppt/tableStyles.xml" Id="R8ad178557b2e49f2" /><Relationship Type="http://schemas.openxmlformats.org/officeDocument/2006/relationships/slide" Target="/ppt/slides/slide1.xml" Id="R1aa53ab0f73e47c4" /><Relationship Type="http://schemas.openxmlformats.org/officeDocument/2006/relationships/slide" Target="/ppt/slides/slide2.xml" Id="R6284361d65144c5a" /><Relationship Type="http://schemas.openxmlformats.org/officeDocument/2006/relationships/slide" Target="/ppt/slides/slide3.xml" Id="R37269d8a2ac34f17" /><Relationship Type="http://schemas.openxmlformats.org/officeDocument/2006/relationships/slide" Target="/ppt/slides/slide4.xml" Id="Rddeaccd4508141a9" /><Relationship Type="http://schemas.openxmlformats.org/officeDocument/2006/relationships/slide" Target="/ppt/slides/slide5.xml" Id="R55bab06e0638486d" /><Relationship Type="http://schemas.openxmlformats.org/officeDocument/2006/relationships/slide" Target="/ppt/slides/slide6.xml" Id="Rbd7dd5564ffe49fc" /><Relationship Type="http://schemas.openxmlformats.org/officeDocument/2006/relationships/slide" Target="/ppt/slides/slide7.xml" Id="R4439bed6aae44754" /><Relationship Type="http://schemas.openxmlformats.org/officeDocument/2006/relationships/slide" Target="/ppt/slides/slide8.xml" Id="Rc687699793e641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8e1045965243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db3e873e624a3c" /><Relationship Type="http://schemas.openxmlformats.org/officeDocument/2006/relationships/notesMaster" Target="/ppt/notesMasters/notesMaster1.xml" Id="R3436da0a18dc43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e11f6c4493454a" /><Relationship Type="http://schemas.openxmlformats.org/officeDocument/2006/relationships/notesMaster" Target="/ppt/notesMasters/notesMaster1.xml" Id="Rfc7174b418274d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e70a1047684181" /><Relationship Type="http://schemas.openxmlformats.org/officeDocument/2006/relationships/notesMaster" Target="/ppt/notesMasters/notesMaster1.xml" Id="R9afce7a3090548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12befbf6c1496d" /><Relationship Type="http://schemas.openxmlformats.org/officeDocument/2006/relationships/notesMaster" Target="/ppt/notesMasters/notesMaster1.xml" Id="Raaee5a724cb546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2bdc5ef51f450a" /><Relationship Type="http://schemas.openxmlformats.org/officeDocument/2006/relationships/notesMaster" Target="/ppt/notesMasters/notesMaster1.xml" Id="R6899cbba473d45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a98ac3635a40a4" /><Relationship Type="http://schemas.openxmlformats.org/officeDocument/2006/relationships/notesMaster" Target="/ppt/notesMasters/notesMaster1.xml" Id="R535fb49d54c44a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d8b2d82a93464a" /><Relationship Type="http://schemas.openxmlformats.org/officeDocument/2006/relationships/notesMaster" Target="/ppt/notesMasters/notesMaster1.xml" Id="Rfb6188db28f544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3b1998053b4dd8" /><Relationship Type="http://schemas.openxmlformats.org/officeDocument/2006/relationships/notesMaster" Target="/ppt/notesMasters/notesMaster1.xml" Id="R49313080c59749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90 minutes in groups: Reproduce one article estimate, compare it with simpler estimates, and explain disagreement productively.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10-causal-machine-learning/slides.qmd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Groups work collaboratively. Assign a driver, a checker, and a narrator, then rotate roles halfway 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10-causal-machine-learning/02-practice/README.md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time at each transition. The one-slide presentation is the in-class product, not homework.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10-causal-machine-learning/02-practice/README.md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demo fails, fix the environment before starting the research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10-causal-machine-learning/02-practice/README.md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one member to narrate why each transition exists while another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10-causal-machine-learning/02-practice/README.md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failure is the learning objective. Do not let groups skip it after obtaining a clean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10-causal-machine-learning/02-practice/README.md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the presenter after the group is called. This makes shared understanding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10-causal-machine-learning/02-practice/README.md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QMIB Lab App is an optional post-class knowledge check. Completion can count toward participation; it is not preparation for the next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QMIB Lab App: /Users/thierrywarin/Desktop/QMIB-lab-app/README.md</a:t>
            </a:r>
          </a:p>
          <a:p xmlns:a="http://schemas.openxmlformats.org/drawingml/2006/main">
            <a:r>
              <a:t>- Course source: 10-causal-machine-learning/02-practice/README.md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84ee608694e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7e8fdd4e9c47ca" /><Relationship Type="http://schemas.openxmlformats.org/officeDocument/2006/relationships/slideLayout" Target="/ppt/slideLayouts/slideLayout1.xml" Id="R25bf225fed6b4e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bf225fed6b4e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92107bc6149c5" /><Relationship Type="http://schemas.openxmlformats.org/officeDocument/2006/relationships/notesSlide" Target="/ppt/notesSlides/notesSlide1.xml" Id="Rc5ddc162fb614a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a3b31a97249f3" /><Relationship Type="http://schemas.openxmlformats.org/officeDocument/2006/relationships/notesSlide" Target="/ppt/notesSlides/notesSlide2.xml" Id="R6d88440fda0d4f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9a042f1fc4084" /><Relationship Type="http://schemas.openxmlformats.org/officeDocument/2006/relationships/notesSlide" Target="/ppt/notesSlides/notesSlide3.xml" Id="Rf38657cbad6d40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bb0612aa444da" /><Relationship Type="http://schemas.openxmlformats.org/officeDocument/2006/relationships/notesSlide" Target="/ppt/notesSlides/notesSlide4.xml" Id="R09664a53ac1a4e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7a4a7a5214564" /><Relationship Type="http://schemas.openxmlformats.org/officeDocument/2006/relationships/notesSlide" Target="/ppt/notesSlides/notesSlide5.xml" Id="R71f6a427a9244a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b2ad929f34608" /><Relationship Type="http://schemas.openxmlformats.org/officeDocument/2006/relationships/notesSlide" Target="/ppt/notesSlides/notesSlide6.xml" Id="Red13459e04ae4f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599c7dde6480f" /><Relationship Type="http://schemas.openxmlformats.org/officeDocument/2006/relationships/notesSlide" Target="/ppt/notesSlides/notesSlide7.xml" Id="R8c26c65f81574e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64802be5d4e52" /><Relationship Type="http://schemas.openxmlformats.org/officeDocument/2006/relationships/notesSlide" Target="/ppt/notesSlides/notesSlide8.xml" Id="R7ef6dcf6b2cb40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C1ED690-CD20-42D3-971B-AD66E049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10 · IN-CLASS PRACTICE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0465D41-A260-4045-AE34-EB1DFBD9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a dynamic treatment effect with DML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8432A3D7-88BA-41E7-B398-0C4CB665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90 minutes in groups: Reproduce one article estimate, compare it with simpler estimates, and explain disagreement productively.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367A3A0A-0C7C-400F-94C2-B04D8452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50EA10E5-BB82-44EF-9BA6-22BEEAB5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cxnSp>
        <p:nvCxnSpPr>
          <p:cNvPr id="22" name="workflow-edge-0"/>
          <p:cNvCxnSpPr/>
          <p:nvPr/>
        </p:nvCxnSpPr>
        <p:spPr>
          <a:xfrm xmlns:a="http://schemas.openxmlformats.org/drawingml/2006/main">
            <a:off x="8128000" y="32289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3" name="workflow-edge-1"/>
          <p:cNvCxnSpPr/>
          <p:nvPr/>
        </p:nvCxnSpPr>
        <p:spPr>
          <a:xfrm xmlns:a="http://schemas.openxmlformats.org/drawingml/2006/main">
            <a:off x="9769475" y="32289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F28F150-D5F5-4775-BBFF-32777D9F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02FC6903-2B31-4AD5-9FEF-97C74CD9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Controls X</a:t>
            </a:r>
          </a:p>
        </p:txBody>
      </p:sp>
      <p:sp>
        <p:nvSpPr>
          <p:cNvPr id="10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3DF35E1-B05E-4026-BCDB-C13E1060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1F08523-A1EB-45E0-8916-29A036D6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Treatment D</a:t>
            </a:r>
          </a:p>
        </p:txBody>
      </p:sp>
      <p:sp>
        <p:nvSpPr>
          <p:cNvPr id="12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77C9DA76-9F57-4738-9CDE-2FB611D0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DE0789F-60E5-4B90-AF8D-A215D847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175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Outcome Y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2579EFB-4079-49CE-AFE3-351699D3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626BF7-6F40-46BF-8EF2-3228C989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F0715C5-F668-4456-800B-AF4666EC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1</a:t>
            </a:r>
          </a:p>
        </p:txBody>
      </p:sp>
    </p:spTree>
    <p:extLst>
      <p:ext uri="{BB962C8B-B14F-4D97-AF65-F5344CB8AC3E}">
        <p14:creationId xmlns:p14="http://schemas.microsoft.com/office/powerpoint/2010/main" val="745443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0D91A125-1697-4241-9922-E74218ED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CHALLENGE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BB66CE-31EA-4BE6-B4C4-00C68893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the method into a defensible group result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26C9B2E-DF31-46D7-8073-76D0EE85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4C8CC07D-BBA5-4AF4-AB31-A2755983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CHALLENGE</a:t>
            </a:r>
          </a:p>
        </p:txBody>
      </p:sp>
      <p:sp>
        <p:nvSpPr>
          <p:cNvPr id="5" name="challenge-copy">
            <a:extLst xmlns:a="http://schemas.openxmlformats.org/drawingml/2006/main">
              <a:ext uri="{FF2B5EF4-FFF2-40B4-BE49-F238E27FC236}">
                <a16:creationId xmlns:a16="http://schemas.microsoft.com/office/drawing/2014/main" id="{77F6DDEA-CEE7-4856-AC72-BB41EBED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905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one article estimate, compare it with simpler estimates, and explain disagreement productively.</a:t>
            </a:r>
          </a:p>
        </p:txBody>
      </p:sp>
      <p:sp>
        <p:nvSpPr>
          <p:cNvPr id="6" name="challenge-result-label">
            <a:extLst xmlns:a="http://schemas.openxmlformats.org/drawingml/2006/main">
              <a:ext uri="{FF2B5EF4-FFF2-40B4-BE49-F238E27FC236}">
                <a16:creationId xmlns:a16="http://schemas.microsoft.com/office/drawing/2014/main" id="{D7325514-0FFD-4151-97C1-90DE33EA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RESULT AT MINUTE 70</a:t>
            </a:r>
          </a:p>
        </p:txBody>
      </p:sp>
      <p:sp>
        <p:nvSpPr>
          <p:cNvPr id="7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9AE1AAD2-39C3-4206-BE6C-D5C58F9F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treatment-effect estimate, then vary the nuisance learners and document what remains stable.</a:t>
            </a:r>
          </a:p>
        </p:txBody>
      </p:sp>
      <p:sp>
        <p:nvSpPr>
          <p:cNvPr id="8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F646EB95-E742-45C1-908F-C6D99162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4191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objective-title">
            <a:extLst xmlns:a="http://schemas.openxmlformats.org/drawingml/2006/main">
              <a:ext uri="{FF2B5EF4-FFF2-40B4-BE49-F238E27FC236}">
                <a16:creationId xmlns:a16="http://schemas.microsoft.com/office/drawing/2014/main" id="{1A6BA677-2209-4FE5-93ED-A66F0A25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By the end, your group can…</a:t>
            </a:r>
          </a:p>
        </p:txBody>
      </p:sp>
      <p:sp>
        <p:nvSpPr>
          <p:cNvPr id="10" name="objective-num-0">
            <a:extLst xmlns:a="http://schemas.openxmlformats.org/drawingml/2006/main">
              <a:ext uri="{FF2B5EF4-FFF2-40B4-BE49-F238E27FC236}">
                <a16:creationId xmlns:a16="http://schemas.microsoft.com/office/drawing/2014/main" id="{8EAF8071-10B1-48CD-A6D3-D6CF6C08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objective-item-0">
            <a:extLst xmlns:a="http://schemas.openxmlformats.org/drawingml/2006/main">
              <a:ext uri="{FF2B5EF4-FFF2-40B4-BE49-F238E27FC236}">
                <a16:creationId xmlns:a16="http://schemas.microsoft.com/office/drawing/2014/main" id="{43F77D10-BBFA-485C-9B0F-813E0215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336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an article result</a:t>
            </a:r>
          </a:p>
        </p:txBody>
      </p:sp>
      <p:sp>
        <p:nvSpPr>
          <p:cNvPr id="12" name="objective-num-1">
            <a:extLst xmlns:a="http://schemas.openxmlformats.org/drawingml/2006/main">
              <a:ext uri="{FF2B5EF4-FFF2-40B4-BE49-F238E27FC236}">
                <a16:creationId xmlns:a16="http://schemas.microsoft.com/office/drawing/2014/main" id="{83587846-FCF3-4125-850C-A2D76B2B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9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objective-item-1">
            <a:extLst xmlns:a="http://schemas.openxmlformats.org/drawingml/2006/main">
              <a:ext uri="{FF2B5EF4-FFF2-40B4-BE49-F238E27FC236}">
                <a16:creationId xmlns:a16="http://schemas.microsoft.com/office/drawing/2014/main" id="{261B4507-7B2D-4660-A3BE-9B899A48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benchmark</a:t>
            </a:r>
          </a:p>
        </p:txBody>
      </p:sp>
      <p:sp>
        <p:nvSpPr>
          <p:cNvPr id="14" name="objective-num-2">
            <a:extLst xmlns:a="http://schemas.openxmlformats.org/drawingml/2006/main">
              <a:ext uri="{FF2B5EF4-FFF2-40B4-BE49-F238E27FC236}">
                <a16:creationId xmlns:a16="http://schemas.microsoft.com/office/drawing/2014/main" id="{D81CA0D5-5199-460E-8D8B-92589542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objective-item-2">
            <a:extLst xmlns:a="http://schemas.openxmlformats.org/drawingml/2006/main">
              <a:ext uri="{FF2B5EF4-FFF2-40B4-BE49-F238E27FC236}">
                <a16:creationId xmlns:a16="http://schemas.microsoft.com/office/drawing/2014/main" id="{3DDF3B3C-887C-47E6-8125-B0DBA5F6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909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 one assumption</a:t>
            </a:r>
          </a:p>
        </p:txBody>
      </p:sp>
      <p:sp>
        <p:nvSpPr>
          <p:cNvPr id="16" name="objective-num-3">
            <a:extLst xmlns:a="http://schemas.openxmlformats.org/drawingml/2006/main">
              <a:ext uri="{FF2B5EF4-FFF2-40B4-BE49-F238E27FC236}">
                <a16:creationId xmlns:a16="http://schemas.microsoft.com/office/drawing/2014/main" id="{27346AC8-BF16-48BE-B2F2-D67E03A1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objective-item-3">
            <a:extLst xmlns:a="http://schemas.openxmlformats.org/drawingml/2006/main">
              <a:ext uri="{FF2B5EF4-FFF2-40B4-BE49-F238E27FC236}">
                <a16:creationId xmlns:a16="http://schemas.microsoft.com/office/drawing/2014/main" id="{3D98F949-02F1-4BE0-B51E-CB369FBB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 the supported claim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829EA26-A790-47AC-9443-70067C88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BBA1B33-D153-4CBC-A8D4-DA175F92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39E6162-8015-4771-B159-3EA25810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2</a:t>
            </a:r>
          </a:p>
        </p:txBody>
      </p:sp>
    </p:spTree>
    <p:extLst>
      <p:ext uri="{BB962C8B-B14F-4D97-AF65-F5344CB8AC3E}">
        <p14:creationId xmlns:p14="http://schemas.microsoft.com/office/powerpoint/2010/main" val="1912461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A01A01AF-61FA-4D73-9187-CBF96907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90-MINUTE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627BB7-ADA6-46CB-B87F-D66FCF3E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Protect the final 20 minutes for presentations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0C8AE86-4784-4E6F-A9F3-C95A55D2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ing-time-0">
            <a:extLst xmlns:a="http://schemas.openxmlformats.org/drawingml/2006/main">
              <a:ext uri="{FF2B5EF4-FFF2-40B4-BE49-F238E27FC236}">
                <a16:creationId xmlns:a16="http://schemas.microsoft.com/office/drawing/2014/main" id="{FBD53875-D3BA-4F13-955D-4787047B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00–10</a:t>
            </a:r>
          </a:p>
        </p:txBody>
      </p:sp>
      <p:sp>
        <p:nvSpPr>
          <p:cNvPr id="5" name="timing-name-0">
            <a:extLst xmlns:a="http://schemas.openxmlformats.org/drawingml/2006/main">
              <a:ext uri="{FF2B5EF4-FFF2-40B4-BE49-F238E27FC236}">
                <a16:creationId xmlns:a16="http://schemas.microsoft.com/office/drawing/2014/main" id="{6FA8D42E-A253-4923-AB7E-87A2F39E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57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Locate</a:t>
            </a:r>
          </a:p>
        </p:txBody>
      </p:sp>
      <p:sp>
        <p:nvSpPr>
          <p:cNvPr id="6" name="timing-copy-0">
            <a:extLst xmlns:a="http://schemas.openxmlformats.org/drawingml/2006/main">
              <a:ext uri="{FF2B5EF4-FFF2-40B4-BE49-F238E27FC236}">
                <a16:creationId xmlns:a16="http://schemas.microsoft.com/office/drawing/2014/main" id="{67B8A8FC-F6C0-4456-8FC0-7075DD67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57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roles and locate the exact article result to reproduce.</a:t>
            </a:r>
          </a:p>
        </p:txBody>
      </p:sp>
      <p:sp>
        <p:nvSpPr>
          <p:cNvPr id="7" name="rule-184-226">
            <a:extLst xmlns:a="http://schemas.openxmlformats.org/drawingml/2006/main">
              <a:ext uri="{FF2B5EF4-FFF2-40B4-BE49-F238E27FC236}">
                <a16:creationId xmlns:a16="http://schemas.microsoft.com/office/drawing/2014/main" id="{2FCB0071-02BF-45AC-B782-54A7A1E3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526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ing-time-1">
            <a:extLst xmlns:a="http://schemas.openxmlformats.org/drawingml/2006/main">
              <a:ext uri="{FF2B5EF4-FFF2-40B4-BE49-F238E27FC236}">
                <a16:creationId xmlns:a16="http://schemas.microsoft.com/office/drawing/2014/main" id="{CFDCD42C-706B-4B3A-849D-6ACDA001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10–30</a:t>
            </a:r>
          </a:p>
        </p:txBody>
      </p:sp>
      <p:sp>
        <p:nvSpPr>
          <p:cNvPr id="9" name="timing-name-1">
            <a:extLst xmlns:a="http://schemas.openxmlformats.org/drawingml/2006/main">
              <a:ext uri="{FF2B5EF4-FFF2-40B4-BE49-F238E27FC236}">
                <a16:creationId xmlns:a16="http://schemas.microsoft.com/office/drawing/2014/main" id="{7D30A0A7-37D9-4D36-BAD8-43A48379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43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</a:t>
            </a:r>
          </a:p>
        </p:txBody>
      </p:sp>
      <p:sp>
        <p:nvSpPr>
          <p:cNvPr id="10" name="timing-copy-1">
            <a:extLst xmlns:a="http://schemas.openxmlformats.org/drawingml/2006/main">
              <a:ext uri="{FF2B5EF4-FFF2-40B4-BE49-F238E27FC236}">
                <a16:creationId xmlns:a16="http://schemas.microsoft.com/office/drawing/2014/main" id="{DD740C7E-88E5-4AF1-9CEB-18DD4D91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the authors' data or prepared file and reproduce the target.</a:t>
            </a:r>
          </a:p>
        </p:txBody>
      </p:sp>
      <p:sp>
        <p:nvSpPr>
          <p:cNvPr id="11" name="rule-184-298">
            <a:extLst xmlns:a="http://schemas.openxmlformats.org/drawingml/2006/main">
              <a:ext uri="{FF2B5EF4-FFF2-40B4-BE49-F238E27FC236}">
                <a16:creationId xmlns:a16="http://schemas.microsoft.com/office/drawing/2014/main" id="{F9AD3D81-E330-449A-9ECB-72215E16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ing-time-2">
            <a:extLst xmlns:a="http://schemas.openxmlformats.org/drawingml/2006/main">
              <a:ext uri="{FF2B5EF4-FFF2-40B4-BE49-F238E27FC236}">
                <a16:creationId xmlns:a16="http://schemas.microsoft.com/office/drawing/2014/main" id="{785E4EE6-E14B-4C14-9B82-96E48F08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30–45</a:t>
            </a:r>
          </a:p>
        </p:txBody>
      </p:sp>
      <p:sp>
        <p:nvSpPr>
          <p:cNvPr id="13" name="timing-name-2">
            <a:extLst xmlns:a="http://schemas.openxmlformats.org/drawingml/2006/main">
              <a:ext uri="{FF2B5EF4-FFF2-40B4-BE49-F238E27FC236}">
                <a16:creationId xmlns:a16="http://schemas.microsoft.com/office/drawing/2014/main" id="{EED42551-01B1-4013-BAED-DF5E52BB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14" name="timing-copy-2">
            <a:extLst xmlns:a="http://schemas.openxmlformats.org/drawingml/2006/main">
              <a:ext uri="{FF2B5EF4-FFF2-40B4-BE49-F238E27FC236}">
                <a16:creationId xmlns:a16="http://schemas.microsoft.com/office/drawing/2014/main" id="{90878515-CD9F-4FA7-AF9A-0ABE88BB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Apply the session method or benchmark on the same sample.</a:t>
            </a:r>
          </a:p>
        </p:txBody>
      </p:sp>
      <p:sp>
        <p:nvSpPr>
          <p:cNvPr id="15" name="rule-184-370">
            <a:extLst xmlns:a="http://schemas.openxmlformats.org/drawingml/2006/main">
              <a:ext uri="{FF2B5EF4-FFF2-40B4-BE49-F238E27FC236}">
                <a16:creationId xmlns:a16="http://schemas.microsoft.com/office/drawing/2014/main" id="{7A901F18-A8C7-47A0-8ED2-C560E318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ing-time-3">
            <a:extLst xmlns:a="http://schemas.openxmlformats.org/drawingml/2006/main">
              <a:ext uri="{FF2B5EF4-FFF2-40B4-BE49-F238E27FC236}">
                <a16:creationId xmlns:a16="http://schemas.microsoft.com/office/drawing/2014/main" id="{E8DDEEEF-13BB-41D8-B113-898D3343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45–60</a:t>
            </a:r>
          </a:p>
        </p:txBody>
      </p:sp>
      <p:sp>
        <p:nvSpPr>
          <p:cNvPr id="17" name="timing-name-3">
            <a:extLst xmlns:a="http://schemas.openxmlformats.org/drawingml/2006/main">
              <a:ext uri="{FF2B5EF4-FFF2-40B4-BE49-F238E27FC236}">
                <a16:creationId xmlns:a16="http://schemas.microsoft.com/office/drawing/2014/main" id="{8FD3B8D6-6F4D-4D17-9B0D-A99E0F72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</a:t>
            </a:r>
          </a:p>
        </p:txBody>
      </p:sp>
      <p:sp>
        <p:nvSpPr>
          <p:cNvPr id="18" name="timing-copy-3">
            <a:extLst xmlns:a="http://schemas.openxmlformats.org/drawingml/2006/main">
              <a:ext uri="{FF2B5EF4-FFF2-40B4-BE49-F238E27FC236}">
                <a16:creationId xmlns:a16="http://schemas.microsoft.com/office/drawing/2014/main" id="{6B22F50F-72E6-4AE9-8164-CC3F515D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Stress one assumption and save before/after evidence.</a:t>
            </a:r>
          </a:p>
        </p:txBody>
      </p:sp>
      <p:sp>
        <p:nvSpPr>
          <p:cNvPr id="19" name="rule-184-442">
            <a:extLst xmlns:a="http://schemas.openxmlformats.org/drawingml/2006/main">
              <a:ext uri="{FF2B5EF4-FFF2-40B4-BE49-F238E27FC236}">
                <a16:creationId xmlns:a16="http://schemas.microsoft.com/office/drawing/2014/main" id="{1DAAD57C-14F2-4B40-B658-9BB90501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ing-time-4">
            <a:extLst xmlns:a="http://schemas.openxmlformats.org/drawingml/2006/main">
              <a:ext uri="{FF2B5EF4-FFF2-40B4-BE49-F238E27FC236}">
                <a16:creationId xmlns:a16="http://schemas.microsoft.com/office/drawing/2014/main" id="{2EAAF9F0-CCC4-48BC-B750-80E277B2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60–70</a:t>
            </a:r>
          </a:p>
        </p:txBody>
      </p:sp>
      <p:sp>
        <p:nvSpPr>
          <p:cNvPr id="21" name="timing-name-4">
            <a:extLst xmlns:a="http://schemas.openxmlformats.org/drawingml/2006/main">
              <a:ext uri="{FF2B5EF4-FFF2-40B4-BE49-F238E27FC236}">
                <a16:creationId xmlns:a16="http://schemas.microsoft.com/office/drawing/2014/main" id="{D0DF6755-2AC8-47E1-BA27-31665904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Synthesize</a:t>
            </a:r>
          </a:p>
        </p:txBody>
      </p:sp>
      <p:sp>
        <p:nvSpPr>
          <p:cNvPr id="22" name="timing-copy-4">
            <a:extLst xmlns:a="http://schemas.openxmlformats.org/drawingml/2006/main">
              <a:ext uri="{FF2B5EF4-FFF2-40B4-BE49-F238E27FC236}">
                <a16:creationId xmlns:a16="http://schemas.microsoft.com/office/drawing/2014/main" id="{651CC7B3-2B10-40C6-BF4F-DF976F1E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one slide: article, replication, catch.</a:t>
            </a:r>
          </a:p>
        </p:txBody>
      </p:sp>
      <p:sp>
        <p:nvSpPr>
          <p:cNvPr id="23" name="rule-184-514">
            <a:extLst xmlns:a="http://schemas.openxmlformats.org/drawingml/2006/main">
              <a:ext uri="{FF2B5EF4-FFF2-40B4-BE49-F238E27FC236}">
                <a16:creationId xmlns:a16="http://schemas.microsoft.com/office/drawing/2014/main" id="{C513F07A-3318-4A72-9167-4D920288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ing-time-5">
            <a:extLst xmlns:a="http://schemas.openxmlformats.org/drawingml/2006/main">
              <a:ext uri="{FF2B5EF4-FFF2-40B4-BE49-F238E27FC236}">
                <a16:creationId xmlns:a16="http://schemas.microsoft.com/office/drawing/2014/main" id="{4158D1D6-FA23-4C98-A93E-91E04D74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70–90</a:t>
            </a:r>
          </a:p>
        </p:txBody>
      </p:sp>
      <p:sp>
        <p:nvSpPr>
          <p:cNvPr id="25" name="timing-name-5">
            <a:extLst xmlns:a="http://schemas.openxmlformats.org/drawingml/2006/main">
              <a:ext uri="{FF2B5EF4-FFF2-40B4-BE49-F238E27FC236}">
                <a16:creationId xmlns:a16="http://schemas.microsoft.com/office/drawing/2014/main" id="{3304E2CA-2528-499A-9C4C-DB8717E0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Present</a:t>
            </a:r>
          </a:p>
        </p:txBody>
      </p:sp>
      <p:sp>
        <p:nvSpPr>
          <p:cNvPr id="26" name="timing-copy-5">
            <a:extLst xmlns:a="http://schemas.openxmlformats.org/drawingml/2006/main">
              <a:ext uri="{FF2B5EF4-FFF2-40B4-BE49-F238E27FC236}">
                <a16:creationId xmlns:a16="http://schemas.microsoft.com/office/drawing/2014/main" id="{2135314D-C700-4569-AF8C-EC39790E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86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minutes per group; presenter chosen at random.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40D0575-8485-425A-976E-C4F722BC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A7CC30E-5EBD-4478-966F-8AEB4A53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09403BD-97CC-417C-B536-7A946328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3</a:t>
            </a:r>
          </a:p>
        </p:txBody>
      </p:sp>
    </p:spTree>
    <p:extLst>
      <p:ext uri="{BB962C8B-B14F-4D97-AF65-F5344CB8AC3E}">
        <p14:creationId xmlns:p14="http://schemas.microsoft.com/office/powerpoint/2010/main" val="1510266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82B96EE1-5930-4A80-B126-751C52FC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START HERE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E91C84-2266-42CE-AD34-39674512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the Desktop clone in VS Codium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4D36606-CF46-4021-9C69-EFEF3E09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path">
            <a:extLst xmlns:a="http://schemas.openxmlformats.org/drawingml/2006/main">
              <a:ext uri="{FF2B5EF4-FFF2-40B4-BE49-F238E27FC236}">
                <a16:creationId xmlns:a16="http://schemas.microsoft.com/office/drawing/2014/main" id="{B44B0333-B1D1-4573-B733-15AE7AC8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Desktop/quantitative-methods</a:t>
            </a:r>
          </a:p>
        </p:txBody>
      </p:sp>
      <p:sp>
        <p:nvSpPr>
          <p:cNvPr id="5" name="practice-commands">
            <a:extLst xmlns:a="http://schemas.openxmlformats.org/drawingml/2006/main">
              <a:ext uri="{FF2B5EF4-FFF2-40B4-BE49-F238E27FC236}">
                <a16:creationId xmlns:a16="http://schemas.microsoft.com/office/drawing/2014/main" id="{81C792BD-9F8F-44F8-8186-DA0A6163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52400" rIns="1905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10-causal-machine-learning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session10_dml_demo.py</a:t>
            </a:r>
          </a:p>
        </p:txBody>
      </p:sp>
      <p:sp>
        <p:nvSpPr>
          <p:cNvPr id="6" name="practice-local">
            <a:extLst xmlns:a="http://schemas.openxmlformats.org/drawingml/2006/main">
              <a:ext uri="{FF2B5EF4-FFF2-40B4-BE49-F238E27FC236}">
                <a16:creationId xmlns:a16="http://schemas.microsoft.com/office/drawing/2014/main" id="{614112E6-D6FB-4558-AFD1-C480965F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Package: 10.7910/DVN/FS0KBA. Keep the article result and your comparison separate.</a:t>
            </a:r>
          </a:p>
        </p:txBody>
      </p:sp>
      <p:cxnSp>
        <p:nvCxnSpPr>
          <p:cNvPr id="24" name="workflow-edge-0"/>
          <p:cNvCxnSpPr/>
          <p:nvPr/>
        </p:nvCxnSpPr>
        <p:spPr>
          <a:xfrm xmlns:a="http://schemas.openxmlformats.org/drawingml/2006/main">
            <a:off x="84899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5" name="workflow-edge-1"/>
          <p:cNvCxnSpPr/>
          <p:nvPr/>
        </p:nvCxnSpPr>
        <p:spPr>
          <a:xfrm xmlns:a="http://schemas.openxmlformats.org/drawingml/2006/main">
            <a:off x="99123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9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3FBC587A-6B67-4038-A541-80626E1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B8C5F0B5-6699-46FC-9A2C-876A75F3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11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E4EC0A2B-8E92-400F-81B5-F9604B56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75E52383-DD94-48D5-B3FC-826094E2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Course demo</a:t>
            </a:r>
          </a:p>
        </p:txBody>
      </p:sp>
      <p:sp>
        <p:nvSpPr>
          <p:cNvPr id="13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8971C571-46C7-47D3-A265-D69D8137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DE11AFC8-A964-4F39-BB24-8D5E6BCD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Your replication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0D3017F-627C-4218-BE49-FB7E70F2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1430C67-33CD-49E9-ADB6-24F89921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C927800-C52E-4021-8B6F-1EB1BD3D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4</a:t>
            </a:r>
          </a:p>
        </p:txBody>
      </p:sp>
    </p:spTree>
    <p:extLst>
      <p:ext uri="{BB962C8B-B14F-4D97-AF65-F5344CB8AC3E}">
        <p14:creationId xmlns:p14="http://schemas.microsoft.com/office/powerpoint/2010/main" val="1280444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86305C9A-8382-4229-9071-27E87E3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WORK SEQUENCE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C40495-C823-4E6D-8EC8-8C7EB4C8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Complete all five moves before presenting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76D14D5-5471-4F2D-9647-B3A90463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sk-label-0">
            <a:extLst xmlns:a="http://schemas.openxmlformats.org/drawingml/2006/main">
              <a:ext uri="{FF2B5EF4-FFF2-40B4-BE49-F238E27FC236}">
                <a16:creationId xmlns:a16="http://schemas.microsoft.com/office/drawing/2014/main" id="{8ADF1FAC-74A0-4D54-A273-1240BF48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5" name="task-body-0">
            <a:extLst xmlns:a="http://schemas.openxmlformats.org/drawingml/2006/main">
              <a:ext uri="{FF2B5EF4-FFF2-40B4-BE49-F238E27FC236}">
                <a16:creationId xmlns:a16="http://schemas.microsoft.com/office/drawing/2014/main" id="{26DFA833-FB9E-4088-B765-F4278387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97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treatment sequence and estimand</a:t>
            </a:r>
          </a:p>
        </p:txBody>
      </p:sp>
      <p:sp>
        <p:nvSpPr>
          <p:cNvPr id="6" name="rule-196-228">
            <a:extLst xmlns:a="http://schemas.openxmlformats.org/drawingml/2006/main">
              <a:ext uri="{FF2B5EF4-FFF2-40B4-BE49-F238E27FC236}">
                <a16:creationId xmlns:a16="http://schemas.microsoft.com/office/drawing/2014/main" id="{5A6E6DD4-D6CE-4247-B326-30282300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717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sk-label-1">
            <a:extLst xmlns:a="http://schemas.openxmlformats.org/drawingml/2006/main">
              <a:ext uri="{FF2B5EF4-FFF2-40B4-BE49-F238E27FC236}">
                <a16:creationId xmlns:a16="http://schemas.microsoft.com/office/drawing/2014/main" id="{87B83C4A-F96C-4CC4-9C85-6FA514E7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8" name="task-body-1">
            <a:extLst xmlns:a="http://schemas.openxmlformats.org/drawingml/2006/main">
              <a:ext uri="{FF2B5EF4-FFF2-40B4-BE49-F238E27FC236}">
                <a16:creationId xmlns:a16="http://schemas.microsoft.com/office/drawing/2014/main" id="{46013526-927B-40C3-A424-DC79A6FF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article estimate</a:t>
            </a:r>
          </a:p>
        </p:txBody>
      </p:sp>
      <p:sp>
        <p:nvSpPr>
          <p:cNvPr id="9" name="rule-196-312">
            <a:extLst xmlns:a="http://schemas.openxmlformats.org/drawingml/2006/main">
              <a:ext uri="{FF2B5EF4-FFF2-40B4-BE49-F238E27FC236}">
                <a16:creationId xmlns:a16="http://schemas.microsoft.com/office/drawing/2014/main" id="{263356B0-C00A-484C-B38D-C0F22538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718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-label-2">
            <a:extLst xmlns:a="http://schemas.openxmlformats.org/drawingml/2006/main">
              <a:ext uri="{FF2B5EF4-FFF2-40B4-BE49-F238E27FC236}">
                <a16:creationId xmlns:a16="http://schemas.microsoft.com/office/drawing/2014/main" id="{FFAC7499-A60C-48D5-A038-8B90CA4E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11" name="task-body-2">
            <a:extLst xmlns:a="http://schemas.openxmlformats.org/drawingml/2006/main">
              <a:ext uri="{FF2B5EF4-FFF2-40B4-BE49-F238E27FC236}">
                <a16:creationId xmlns:a16="http://schemas.microsoft.com/office/drawing/2014/main" id="{175963FD-B74F-4673-AD09-46DEE858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99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raw, adjusted, and cross-fitted DML</a:t>
            </a:r>
          </a:p>
        </p:txBody>
      </p:sp>
      <p:sp>
        <p:nvSpPr>
          <p:cNvPr id="12" name="rule-196-396">
            <a:extLst xmlns:a="http://schemas.openxmlformats.org/drawingml/2006/main">
              <a:ext uri="{FF2B5EF4-FFF2-40B4-BE49-F238E27FC236}">
                <a16:creationId xmlns:a16="http://schemas.microsoft.com/office/drawing/2014/main" id="{F142EED0-3770-4B77-902F-7EB21240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sk-label-3">
            <a:extLst xmlns:a="http://schemas.openxmlformats.org/drawingml/2006/main">
              <a:ext uri="{FF2B5EF4-FFF2-40B4-BE49-F238E27FC236}">
                <a16:creationId xmlns:a16="http://schemas.microsoft.com/office/drawing/2014/main" id="{9C9A69BD-21D5-44BC-B511-43DECAC1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STEP 4</a:t>
            </a:r>
          </a:p>
        </p:txBody>
      </p:sp>
      <p:sp>
        <p:nvSpPr>
          <p:cNvPr id="14" name="task-body-3">
            <a:extLst xmlns:a="http://schemas.openxmlformats.org/drawingml/2006/main">
              <a:ext uri="{FF2B5EF4-FFF2-40B4-BE49-F238E27FC236}">
                <a16:creationId xmlns:a16="http://schemas.microsoft.com/office/drawing/2014/main" id="{BDEEB83F-B2B6-420E-A9D6-38DC18FE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100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Change nuisance learners</a:t>
            </a:r>
          </a:p>
        </p:txBody>
      </p:sp>
      <p:sp>
        <p:nvSpPr>
          <p:cNvPr id="15" name="rule-196-480">
            <a:extLst xmlns:a="http://schemas.openxmlformats.org/drawingml/2006/main">
              <a:ext uri="{FF2B5EF4-FFF2-40B4-BE49-F238E27FC236}">
                <a16:creationId xmlns:a16="http://schemas.microsoft.com/office/drawing/2014/main" id="{94E25F83-C64F-42CE-9E7F-468B7040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sk-label-4">
            <a:extLst xmlns:a="http://schemas.openxmlformats.org/drawingml/2006/main">
              <a:ext uri="{FF2B5EF4-FFF2-40B4-BE49-F238E27FC236}">
                <a16:creationId xmlns:a16="http://schemas.microsoft.com/office/drawing/2014/main" id="{64EAF222-A7D2-4715-83FB-40A02996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5</a:t>
            </a:r>
          </a:p>
        </p:txBody>
      </p:sp>
      <p:sp>
        <p:nvSpPr>
          <p:cNvPr id="17" name="task-body-4">
            <a:extLst xmlns:a="http://schemas.openxmlformats.org/drawingml/2006/main">
              <a:ext uri="{FF2B5EF4-FFF2-40B4-BE49-F238E27FC236}">
                <a16:creationId xmlns:a16="http://schemas.microsoft.com/office/drawing/2014/main" id="{F3064B87-E52A-457A-B708-73F80EA0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01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an unmeasured confounder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F70D1D1-86A8-44A5-8AA2-B8E1EE5C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A359BC1-7217-4415-BDD0-030062B5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03B9329-F127-4189-82F6-5847D371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5</a:t>
            </a:r>
          </a:p>
        </p:txBody>
      </p:sp>
    </p:spTree>
    <p:extLst>
      <p:ext uri="{BB962C8B-B14F-4D97-AF65-F5344CB8AC3E}">
        <p14:creationId xmlns:p14="http://schemas.microsoft.com/office/powerpoint/2010/main" val="1775987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eak-kicker">
            <a:extLst xmlns:a="http://schemas.openxmlformats.org/drawingml/2006/main">
              <a:ext uri="{FF2B5EF4-FFF2-40B4-BE49-F238E27FC236}">
                <a16:creationId xmlns:a16="http://schemas.microsoft.com/office/drawing/2014/main" id="{B79720EB-C02D-4F23-B14C-FAD72DCA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PRACTICE · BREAK IT DELIBERATELY</a:t>
            </a:r>
          </a:p>
        </p:txBody>
      </p:sp>
      <p:sp>
        <p:nvSpPr>
          <p:cNvPr id="2" name="break-title">
            <a:extLst xmlns:a="http://schemas.openxmlformats.org/drawingml/2006/main">
              <a:ext uri="{FF2B5EF4-FFF2-40B4-BE49-F238E27FC236}">
                <a16:creationId xmlns:a16="http://schemas.microsoft.com/office/drawing/2014/main" id="{E1AE137B-E7A0-4E57-8E69-92BC2ACB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8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sophisticated learner cannot recover a treatment effect when treated and untreated units never overlap.</a:t>
            </a:r>
          </a:p>
        </p:txBody>
      </p:sp>
      <p:sp>
        <p:nvSpPr>
          <p:cNvPr id="3" name="break-instruction">
            <a:extLst xmlns:a="http://schemas.openxmlformats.org/drawingml/2006/main">
              <a:ext uri="{FF2B5EF4-FFF2-40B4-BE49-F238E27FC236}">
                <a16:creationId xmlns:a16="http://schemas.microsoft.com/office/drawing/2014/main" id="{89E1312A-8A2B-41B9-B702-F123D377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Create the failure. Save the before/after evidence. Explain the mechanism without blaming the software.</a:t>
            </a:r>
          </a:p>
        </p:txBody>
      </p:sp>
      <p:sp>
        <p:nvSpPr>
          <p:cNvPr id="4" name="break-llm">
            <a:extLst xmlns:a="http://schemas.openxmlformats.org/drawingml/2006/main">
              <a:ext uri="{FF2B5EF4-FFF2-40B4-BE49-F238E27FC236}">
                <a16:creationId xmlns:a16="http://schemas.microsoft.com/office/drawing/2014/main" id="{DFE8B607-6B52-4459-B604-85A7D2A1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Required: record one LLM claim you found wrong, unverifiable, or misleading—and how you checked it.</a:t>
            </a:r>
          </a:p>
        </p:txBody>
      </p:sp>
      <p:sp>
        <p:nvSpPr>
          <p:cNvPr id="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F300636-09B7-4423-A888-247A9CAE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6EFFA24-2A0D-49B8-A57E-5168D531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575A827-F302-4AC9-9749-4FEA0ACC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6</a:t>
            </a:r>
          </a:p>
        </p:txBody>
      </p:sp>
    </p:spTree>
    <p:extLst>
      <p:ext uri="{BB962C8B-B14F-4D97-AF65-F5344CB8AC3E}">
        <p14:creationId xmlns:p14="http://schemas.microsoft.com/office/powerpoint/2010/main" val="15624862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6E1CDFAF-30DD-4CDA-A480-F30AE30A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GROUP PRESENTATION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4F1309-23C5-4483-8A55-710C1AC2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slide. Two minutes. Random presenter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14ED638-B311-4D90-88E8-F866BCC7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port-label-0">
            <a:extLst xmlns:a="http://schemas.openxmlformats.org/drawingml/2006/main">
              <a:ext uri="{FF2B5EF4-FFF2-40B4-BE49-F238E27FC236}">
                <a16:creationId xmlns:a16="http://schemas.microsoft.com/office/drawing/2014/main" id="{E8EB7679-5EFC-4566-AC46-75E540E5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5" name="report-body-0">
            <a:extLst xmlns:a="http://schemas.openxmlformats.org/drawingml/2006/main">
              <a:ext uri="{FF2B5EF4-FFF2-40B4-BE49-F238E27FC236}">
                <a16:creationId xmlns:a16="http://schemas.microsoft.com/office/drawing/2014/main" id="{FBA28D6D-2F10-47AA-BDA8-133FA69F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954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published estimate or figure your group targeted.</a:t>
            </a:r>
          </a:p>
        </p:txBody>
      </p:sp>
      <p:sp>
        <p:nvSpPr>
          <p:cNvPr id="6" name="rule-278-272">
            <a:extLst xmlns:a="http://schemas.openxmlformats.org/drawingml/2006/main">
              <a:ext uri="{FF2B5EF4-FFF2-40B4-BE49-F238E27FC236}">
                <a16:creationId xmlns:a16="http://schemas.microsoft.com/office/drawing/2014/main" id="{25D4E745-BFCD-4E80-9C12-A5936A8D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908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port-label-1">
            <a:extLst xmlns:a="http://schemas.openxmlformats.org/drawingml/2006/main">
              <a:ext uri="{FF2B5EF4-FFF2-40B4-BE49-F238E27FC236}">
                <a16:creationId xmlns:a16="http://schemas.microsoft.com/office/drawing/2014/main" id="{7A69AAD3-6E7E-4AE9-BCA7-6C9835EB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OUR REPLICATION</a:t>
            </a:r>
          </a:p>
        </p:txBody>
      </p:sp>
      <p:sp>
        <p:nvSpPr>
          <p:cNvPr id="8" name="report-body-1">
            <a:extLst xmlns:a="http://schemas.openxmlformats.org/drawingml/2006/main">
              <a:ext uri="{FF2B5EF4-FFF2-40B4-BE49-F238E27FC236}">
                <a16:creationId xmlns:a16="http://schemas.microsoft.com/office/drawing/2014/main" id="{C2A1320B-19D2-4756-9099-816FAD03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52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matched, what differed, and the comparison you added.</a:t>
            </a:r>
          </a:p>
        </p:txBody>
      </p:sp>
      <p:sp>
        <p:nvSpPr>
          <p:cNvPr id="9" name="rule-278-404">
            <a:extLst xmlns:a="http://schemas.openxmlformats.org/drawingml/2006/main">
              <a:ext uri="{FF2B5EF4-FFF2-40B4-BE49-F238E27FC236}">
                <a16:creationId xmlns:a16="http://schemas.microsoft.com/office/drawing/2014/main" id="{E2D146F9-4E8B-4D1E-97E7-ED4136BE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port-label-2">
            <a:extLst xmlns:a="http://schemas.openxmlformats.org/drawingml/2006/main">
              <a:ext uri="{FF2B5EF4-FFF2-40B4-BE49-F238E27FC236}">
                <a16:creationId xmlns:a16="http://schemas.microsoft.com/office/drawing/2014/main" id="{C5CD893F-7477-402B-BB67-24B8CB6B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CATCH</a:t>
            </a:r>
          </a:p>
        </p:txBody>
      </p:sp>
      <p:sp>
        <p:nvSpPr>
          <p:cNvPr id="11" name="report-body-2">
            <a:extLst xmlns:a="http://schemas.openxmlformats.org/drawingml/2006/main">
              <a:ext uri="{FF2B5EF4-FFF2-40B4-BE49-F238E27FC236}">
                <a16:creationId xmlns:a16="http://schemas.microsoft.com/office/drawing/2014/main" id="{769556EC-9887-4902-90CC-1C6F1FF9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00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assumption, data choice, or limitation that changes the claim.</a:t>
            </a:r>
          </a:p>
        </p:txBody>
      </p:sp>
      <p:sp>
        <p:nvSpPr>
          <p:cNvPr id="12" name="rule-278-536">
            <a:extLst xmlns:a="http://schemas.openxmlformats.org/drawingml/2006/main">
              <a:ext uri="{FF2B5EF4-FFF2-40B4-BE49-F238E27FC236}">
                <a16:creationId xmlns:a16="http://schemas.microsoft.com/office/drawing/2014/main" id="{78804CD3-17CD-41F9-B71D-43FF066C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port-rule">
            <a:extLst xmlns:a="http://schemas.openxmlformats.org/drawingml/2006/main">
              <a:ext uri="{FF2B5EF4-FFF2-40B4-BE49-F238E27FC236}">
                <a16:creationId xmlns:a16="http://schemas.microsoft.com/office/drawing/2014/main" id="{90316A12-382C-4023-ACC5-7D0D3073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Finish the presentation in class. Nothing carries over as required homework.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E7EA57F-CCCF-4EDB-9412-BD33F938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2CC1D5E-8DB3-43AA-A184-396B0575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17CA3BF-C7D6-435B-815F-76CC9435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7</a:t>
            </a:r>
          </a:p>
        </p:txBody>
      </p:sp>
    </p:spTree>
    <p:extLst>
      <p:ext uri="{BB962C8B-B14F-4D97-AF65-F5344CB8AC3E}">
        <p14:creationId xmlns:p14="http://schemas.microsoft.com/office/powerpoint/2010/main" val="14877452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-kicker">
            <a:extLst xmlns:a="http://schemas.openxmlformats.org/drawingml/2006/main">
              <a:ext uri="{FF2B5EF4-FFF2-40B4-BE49-F238E27FC236}">
                <a16:creationId xmlns:a16="http://schemas.microsoft.com/office/drawing/2014/main" id="{43594644-814E-4F59-8D85-13120226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AFTER CLASS · OPTIONAL PARTICIPATION LAB</a:t>
            </a:r>
          </a:p>
        </p:txBody>
      </p:sp>
      <p:sp>
        <p:nvSpPr>
          <p:cNvPr id="2" name="lab-title">
            <a:extLst xmlns:a="http://schemas.openxmlformats.org/drawingml/2006/main">
              <a:ext uri="{FF2B5EF4-FFF2-40B4-BE49-F238E27FC236}">
                <a16:creationId xmlns:a16="http://schemas.microsoft.com/office/drawing/2014/main" id="{835C22CA-4A39-4DE6-8230-54EF5B04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Class ends with the group presentations.</a:t>
            </a:r>
          </a:p>
        </p:txBody>
      </p:sp>
      <p:sp>
        <p:nvSpPr>
          <p:cNvPr id="3" name="lab-availability">
            <a:extLst xmlns:a="http://schemas.openxmlformats.org/drawingml/2006/main">
              <a:ext uri="{FF2B5EF4-FFF2-40B4-BE49-F238E27FC236}">
                <a16:creationId xmlns:a16="http://schemas.microsoft.com/office/drawing/2014/main" id="{EB81C3A8-77EA-49CA-8E40-047A5885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QMIB Lab 10 is a short at-home knowledge check.</a:t>
            </a:r>
          </a:p>
        </p:txBody>
      </p:sp>
      <p:sp>
        <p:nvSpPr>
          <p:cNvPr id="4" name="lab-policy">
            <a:extLst xmlns:a="http://schemas.openxmlformats.org/drawingml/2006/main">
              <a:ext uri="{FF2B5EF4-FFF2-40B4-BE49-F238E27FC236}">
                <a16:creationId xmlns:a16="http://schemas.microsoft.com/office/drawing/2014/main" id="{11327EFE-4826-4385-B72E-E3B1D95B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657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lab is optional. A completed app report counts toward participation; it is separate from the next pre-session reading and data preparation.</a:t>
            </a:r>
          </a:p>
        </p:txBody>
      </p:sp>
      <p:sp>
        <p:nvSpPr>
          <p:cNvPr id="5" name="lab-steps-bg">
            <a:extLst xmlns:a="http://schemas.openxmlformats.org/drawingml/2006/main">
              <a:ext uri="{FF2B5EF4-FFF2-40B4-BE49-F238E27FC236}">
                <a16:creationId xmlns:a16="http://schemas.microsoft.com/office/drawing/2014/main" id="{3F0EA495-4CDE-4EDA-A29C-8A52288D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3676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2A34"/>
          </a:solidFill>
          <a:ln xmlns:a="http://schemas.openxmlformats.org/drawingml/2006/main" w="9525">
            <a:solidFill>
              <a:srgbClr val="3A4652"/>
            </a:solidFill>
            <a:prstDash val="solid"/>
          </a:ln>
        </p:spPr>
      </p:sp>
      <p:sp>
        <p:nvSpPr>
          <p:cNvPr id="6" name="lab-steps-title">
            <a:extLst xmlns:a="http://schemas.openxmlformats.org/drawingml/2006/main">
              <a:ext uri="{FF2B5EF4-FFF2-40B4-BE49-F238E27FC236}">
                <a16:creationId xmlns:a16="http://schemas.microsoft.com/office/drawing/2014/main" id="{69E61AE8-F96A-40BD-93AF-A499A343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If you choose the lab</a:t>
            </a:r>
          </a:p>
        </p:txBody>
      </p:sp>
      <p:sp>
        <p:nvSpPr>
          <p:cNvPr id="7" name="lab-step-num-0">
            <a:extLst xmlns:a="http://schemas.openxmlformats.org/drawingml/2006/main">
              <a:ext uri="{FF2B5EF4-FFF2-40B4-BE49-F238E27FC236}">
                <a16:creationId xmlns:a16="http://schemas.microsoft.com/office/drawing/2014/main" id="{DDF91B93-23A3-4DF3-8CFE-78AFE3C4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lab-step-0">
            <a:extLst xmlns:a="http://schemas.openxmlformats.org/drawingml/2006/main">
              <a:ext uri="{FF2B5EF4-FFF2-40B4-BE49-F238E27FC236}">
                <a16:creationId xmlns:a16="http://schemas.microsoft.com/office/drawing/2014/main" id="{1BB27FC8-3957-462B-8CED-0E5FAE18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the session check in the web app</a:t>
            </a:r>
          </a:p>
        </p:txBody>
      </p:sp>
      <p:sp>
        <p:nvSpPr>
          <p:cNvPr id="9" name="lab-step-num-1">
            <a:extLst xmlns:a="http://schemas.openxmlformats.org/drawingml/2006/main">
              <a:ext uri="{FF2B5EF4-FFF2-40B4-BE49-F238E27FC236}">
                <a16:creationId xmlns:a16="http://schemas.microsoft.com/office/drawing/2014/main" id="{91BFD685-03D7-4BEA-9E50-3A3671C8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lab-step-1">
            <a:extLst xmlns:a="http://schemas.openxmlformats.org/drawingml/2006/main">
              <a:ext uri="{FF2B5EF4-FFF2-40B4-BE49-F238E27FC236}">
                <a16:creationId xmlns:a16="http://schemas.microsoft.com/office/drawing/2014/main" id="{7E2E0FE3-8ECB-4583-820B-1D9FB8D4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 once without your notes</a:t>
            </a:r>
          </a:p>
        </p:txBody>
      </p:sp>
      <p:sp>
        <p:nvSpPr>
          <p:cNvPr id="11" name="lab-step-num-2">
            <a:extLst xmlns:a="http://schemas.openxmlformats.org/drawingml/2006/main">
              <a:ext uri="{FF2B5EF4-FFF2-40B4-BE49-F238E27FC236}">
                <a16:creationId xmlns:a16="http://schemas.microsoft.com/office/drawing/2014/main" id="{4FA14196-C7AA-4905-9151-4C6B758D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lab-step-2">
            <a:extLst xmlns:a="http://schemas.openxmlformats.org/drawingml/2006/main">
              <a:ext uri="{FF2B5EF4-FFF2-40B4-BE49-F238E27FC236}">
                <a16:creationId xmlns:a16="http://schemas.microsoft.com/office/drawing/2014/main" id="{6227E7C9-7B84-4157-905B-CC8CF46E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Retry and explain missed concepts</a:t>
            </a:r>
          </a:p>
        </p:txBody>
      </p:sp>
      <p:sp>
        <p:nvSpPr>
          <p:cNvPr id="13" name="lab-step-num-3">
            <a:extLst xmlns:a="http://schemas.openxmlformats.org/drawingml/2006/main">
              <a:ext uri="{FF2B5EF4-FFF2-40B4-BE49-F238E27FC236}">
                <a16:creationId xmlns:a16="http://schemas.microsoft.com/office/drawing/2014/main" id="{DF9196F9-D3B0-452A-A996-787724D9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lab-step-3">
            <a:extLst xmlns:a="http://schemas.openxmlformats.org/drawingml/2006/main">
              <a:ext uri="{FF2B5EF4-FFF2-40B4-BE49-F238E27FC236}">
                <a16:creationId xmlns:a16="http://schemas.microsoft.com/office/drawing/2014/main" id="{969581DA-5489-41E7-911B-FE3C8D58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and submit the report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2B9ECF9-EE09-41FF-B131-EDDFF84D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A7ECB2-1060-4E37-ACF2-0E863380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761D5B1-1D0F-4D01-AF7C-D06652AE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8</a:t>
            </a:r>
          </a:p>
        </p:txBody>
      </p:sp>
    </p:spTree>
    <p:extLst>
      <p:ext uri="{BB962C8B-B14F-4D97-AF65-F5344CB8AC3E}">
        <p14:creationId xmlns:p14="http://schemas.microsoft.com/office/powerpoint/2010/main" val="379191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2026-08-23T21:43:13.2550000Z</dcterms:created>
  <dcterms:modified xsi:type="dcterms:W3CDTF">2026-08-23T21:43:13.2550000Z</dcterms:modified>
</coreProperties>
</file>