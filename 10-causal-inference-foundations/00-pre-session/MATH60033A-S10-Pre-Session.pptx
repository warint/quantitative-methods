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0d964457884c7a" /><Relationship Type="http://schemas.openxmlformats.org/officeDocument/2006/relationships/extended-properties" Target="/docProps/app.xml" Id="Re70163227bc34790" /><Relationship Type="http://schemas.openxmlformats.org/officeDocument/2006/relationships/officeDocument" Target="/ppt/presentation.xml" Id="R03cf107d52e141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163ad573894ced"/>
  </p:sldMasterIdLst>
  <p:notesMasterIdLst>
    <p:notesMasterId xmlns:r="http://schemas.openxmlformats.org/officeDocument/2006/relationships" r:id="Re0504e6ffb3b4a54"/>
  </p:notesMasterIdLst>
  <p:sldIdLst>
    <p:sldId xmlns:r="http://schemas.openxmlformats.org/officeDocument/2006/relationships" id="256" r:id="Rd20d9f75322c4ff7"/>
    <p:sldId xmlns:r="http://schemas.openxmlformats.org/officeDocument/2006/relationships" id="257" r:id="Ra3683310c49f411d"/>
    <p:sldId xmlns:r="http://schemas.openxmlformats.org/officeDocument/2006/relationships" id="258" r:id="R7725b3e4f750424a"/>
    <p:sldId xmlns:r="http://schemas.openxmlformats.org/officeDocument/2006/relationships" id="259" r:id="R3f0934b7e0d94cc3"/>
    <p:sldId xmlns:r="http://schemas.openxmlformats.org/officeDocument/2006/relationships" id="260" r:id="R526075dc861743bf"/>
    <p:sldId xmlns:r="http://schemas.openxmlformats.org/officeDocument/2006/relationships" id="261" r:id="R9839b96b163246ec"/>
    <p:sldId xmlns:r="http://schemas.openxmlformats.org/officeDocument/2006/relationships" id="262" r:id="R8268c4c5422444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035e53fcd5460d" /><Relationship Type="http://schemas.openxmlformats.org/officeDocument/2006/relationships/slideMaster" Target="/ppt/slideMasters/slideMaster1.xml" Id="R2f163ad573894ced" /><Relationship Type="http://schemas.openxmlformats.org/officeDocument/2006/relationships/notesMaster" Target="/ppt/notesMasters/notesMaster1.xml" Id="Re0504e6ffb3b4a54" /><Relationship Type="http://schemas.openxmlformats.org/officeDocument/2006/relationships/presProps" Target="/ppt/presProps.xml" Id="R5266d72ac766461d" /><Relationship Type="http://schemas.openxmlformats.org/officeDocument/2006/relationships/tableStyles" Target="/ppt/tableStyles.xml" Id="R8c263c0a5e6a4b81" /><Relationship Type="http://schemas.openxmlformats.org/officeDocument/2006/relationships/slide" Target="/ppt/slides/slide1.xml" Id="Rd20d9f75322c4ff7" /><Relationship Type="http://schemas.openxmlformats.org/officeDocument/2006/relationships/slide" Target="/ppt/slides/slide2.xml" Id="Ra3683310c49f411d" /><Relationship Type="http://schemas.openxmlformats.org/officeDocument/2006/relationships/slide" Target="/ppt/slides/slide3.xml" Id="R7725b3e4f750424a" /><Relationship Type="http://schemas.openxmlformats.org/officeDocument/2006/relationships/slide" Target="/ppt/slides/slide4.xml" Id="R3f0934b7e0d94cc3" /><Relationship Type="http://schemas.openxmlformats.org/officeDocument/2006/relationships/slide" Target="/ppt/slides/slide5.xml" Id="R526075dc861743bf" /><Relationship Type="http://schemas.openxmlformats.org/officeDocument/2006/relationships/slide" Target="/ppt/slides/slide6.xml" Id="R9839b96b163246ec" /><Relationship Type="http://schemas.openxmlformats.org/officeDocument/2006/relationships/slide" Target="/ppt/slides/slide7.xml" Id="R8268c4c5422444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db8b2c190d43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e7a1f58a4c4b0f" /><Relationship Type="http://schemas.openxmlformats.org/officeDocument/2006/relationships/notesMaster" Target="/ppt/notesMasters/notesMaster1.xml" Id="R3dfa8871f3fe42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c1457a41df43b1" /><Relationship Type="http://schemas.openxmlformats.org/officeDocument/2006/relationships/notesMaster" Target="/ppt/notesMasters/notesMaster1.xml" Id="Rb5e91a1401fd48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f476d9b4194dfb" /><Relationship Type="http://schemas.openxmlformats.org/officeDocument/2006/relationships/notesMaster" Target="/ppt/notesMasters/notesMaster1.xml" Id="Rbd160a2bb0d345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76824075d44427" /><Relationship Type="http://schemas.openxmlformats.org/officeDocument/2006/relationships/notesMaster" Target="/ppt/notesMasters/notesMaster1.xml" Id="Rafd063bfe1714f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85d4979deb4f3e" /><Relationship Type="http://schemas.openxmlformats.org/officeDocument/2006/relationships/notesMaster" Target="/ppt/notesMasters/notesMaster1.xml" Id="Rd1948a746ac842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a55e4dd3c04dd1" /><Relationship Type="http://schemas.openxmlformats.org/officeDocument/2006/relationships/notesMaster" Target="/ppt/notesMasters/notesMaster1.xml" Id="Rd4480fe0f6e140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6bb862f63447d6" /><Relationship Type="http://schemas.openxmlformats.org/officeDocument/2006/relationships/notesMaster" Target="/ppt/notesMasters/notesMaster1.xml" Id="R2a3c426e697544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You have a superb predictive model. Why can’t you choose a policy with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10-causal-machine-learning/00-pre-session/README.md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class, students read the article, download the Dataverse package, and identify this practice target: Reproduce one treatment-effect estimate, then vary the nuisance learners and document what remains 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10-causal-machine-learning/00-pre-session/README.md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10-causal-machine-learning/00-pre-session/README.md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be able to supply a concrete example of each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10-causal-machine-learning/00-pre-session/README.md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target is: Reproduce one treatment-effect estimate, then vary the nuisance learners and document what remains 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10-causal-machine-learning/00-pre-session/README.md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10-causal-machine-learning/00-pre-session/README.md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10-causal-machine-learning/00-pre-session/README.md</a:t>
            </a:r>
          </a:p>
          <a:p xmlns:a="http://schemas.openxmlformats.org/drawingml/2006/main">
            <a:r>
              <a:t>- Bodory, Huber &amp; Lafférs (2022) — Dynamic Treatment Effects by DML — https://doi.org/10.1093/ectj/utac018</a:t>
            </a:r>
          </a:p>
          <a:p xmlns:a="http://schemas.openxmlformats.org/drawingml/2006/main">
            <a:r>
              <a:t>- Harvard Dataverse 10.7910/DVN/FS0KBA — https://doi.org/10.7910/DVN/FS0KBA</a:t>
            </a:r>
          </a:p>
          <a:p xmlns:a="http://schemas.openxmlformats.org/drawingml/2006/main">
            <a:r>
              <a:t>- ISLR sections on flexible prediction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6d9a4fa664f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84591deb8b4425" /><Relationship Type="http://schemas.openxmlformats.org/officeDocument/2006/relationships/slideLayout" Target="/ppt/slideLayouts/slideLayout1.xml" Id="Rf79757367f3d4d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9757367f3d4d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de6c0dafd40bb" /><Relationship Type="http://schemas.openxmlformats.org/officeDocument/2006/relationships/notesSlide" Target="/ppt/notesSlides/notesSlide1.xml" Id="Ra103e13586cc4a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bffaf1f58428d" /><Relationship Type="http://schemas.openxmlformats.org/officeDocument/2006/relationships/notesSlide" Target="/ppt/notesSlides/notesSlide2.xml" Id="R86eed8f758f5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c2e6dcd254f09" /><Relationship Type="http://schemas.openxmlformats.org/officeDocument/2006/relationships/notesSlide" Target="/ppt/notesSlides/notesSlide3.xml" Id="R8eebf01cf07047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35c11c820477b" /><Relationship Type="http://schemas.openxmlformats.org/officeDocument/2006/relationships/notesSlide" Target="/ppt/notesSlides/notesSlide4.xml" Id="Ra4d9348509fb42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c04a723184a46" /><Relationship Type="http://schemas.openxmlformats.org/officeDocument/2006/relationships/notesSlide" Target="/ppt/notesSlides/notesSlide5.xml" Id="R36d19c3760e941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0abe1be15469b" /><Relationship Type="http://schemas.openxmlformats.org/officeDocument/2006/relationships/notesSlide" Target="/ppt/notesSlides/notesSlide6.xml" Id="Rfa911cdf5a3645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7e240ca95436f" /><Relationship Type="http://schemas.openxmlformats.org/officeDocument/2006/relationships/notesSlide" Target="/ppt/notesSlides/notesSlide7.xml" Id="Re38bc150b6d745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BF90E39-B96C-4233-84A4-696DEE0E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10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5F69C39-CFD2-4181-B0A8-450D6444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Causal machine learning: double/debiased ML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C6618ED5-2536-45E1-B4F5-E89F38EC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 have a superb predictive model. Why can’t you choose a policy with it?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110D8567-E166-46A9-84F3-50346BC9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FE2D61C3-A661-4DDE-9A3D-5E2125F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cxnSp>
        <p:nvCxnSpPr>
          <p:cNvPr id="22" name="workflow-edge-0"/>
          <p:cNvCxnSpPr/>
          <p:nvPr/>
        </p:nvCxnSpPr>
        <p:spPr>
          <a:xfrm xmlns:a="http://schemas.openxmlformats.org/drawingml/2006/main">
            <a:off x="8128000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3" name="workflow-edge-1"/>
          <p:cNvCxnSpPr/>
          <p:nvPr/>
        </p:nvCxnSpPr>
        <p:spPr>
          <a:xfrm xmlns:a="http://schemas.openxmlformats.org/drawingml/2006/main">
            <a:off x="9769475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FEC6B207-64A0-4FA3-B6AB-A3A7059F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7B909AE7-CC0F-401A-B65D-DA0B95B6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Controls X</a:t>
            </a:r>
          </a:p>
        </p:txBody>
      </p:sp>
      <p:sp>
        <p:nvSpPr>
          <p:cNvPr id="10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8A8D950-D589-451F-A5FB-8629C17F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B202C990-08D2-41D7-A411-EDD26B0E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Treatment D</a:t>
            </a:r>
          </a:p>
        </p:txBody>
      </p:sp>
      <p:sp>
        <p:nvSpPr>
          <p:cNvPr id="12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66B430A-9026-43C5-A593-B5F583C8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D40C332B-812A-4A39-98C0-FB37985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Outcome Y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36109A1-D42A-4751-A463-1D83AD81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94486C0-5CC9-46B0-9615-5205B345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1D17A7A-D2C4-4844-B848-28B910F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</a:t>
            </a:r>
          </a:p>
        </p:txBody>
      </p:sp>
    </p:spTree>
    <p:extLst>
      <p:ext uri="{BB962C8B-B14F-4D97-AF65-F5344CB8AC3E}">
        <p14:creationId xmlns:p14="http://schemas.microsoft.com/office/powerpoint/2010/main" val="1548663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D4BF746F-A3E7-45A8-B45D-684026C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95AB6F-0A22-45FD-93AC-49F00974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article; download the package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ED40F80-1000-44EA-AF35-4559EBA4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0AB37F3F-5F52-4EE4-A0D9-89FDB2C7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F9ED2F22-B19D-407A-A609-10DC02D8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Bodory, Huber &amp; Lafférs (2022) — Dynamic Treatment Effects by DML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2454CBA6-4715-4274-B186-886C5CAE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orthogonal scores and cross-fitting in the Job Corps study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6ABEAADA-24C3-44C4-B929-D84A1F87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https://doi.org/10.1093/ectj/utac018</a:t>
            </a:r>
          </a:p>
        </p:txBody>
      </p:sp>
      <p:sp>
        <p:nvSpPr>
          <p:cNvPr id="8" name="pre-data-label">
            <a:extLst xmlns:a="http://schemas.openxmlformats.org/drawingml/2006/main">
              <a:ext uri="{FF2B5EF4-FFF2-40B4-BE49-F238E27FC236}">
                <a16:creationId xmlns:a16="http://schemas.microsoft.com/office/drawing/2014/main" id="{02C1E703-330E-401C-95BE-8401C01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data-url">
            <a:extLst xmlns:a="http://schemas.openxmlformats.org/drawingml/2006/main">
              <a:ext uri="{FF2B5EF4-FFF2-40B4-BE49-F238E27FC236}">
                <a16:creationId xmlns:a16="http://schemas.microsoft.com/office/drawing/2014/main" id="{09D14563-6902-4E05-9DDC-E9691993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https://doi.org/10.7910/DVN/FS0KBA</a:t>
            </a:r>
          </a:p>
        </p:txBody>
      </p:sp>
      <p:sp>
        <p:nvSpPr>
          <p:cNvPr id="10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D5A77622-F87C-40FA-8A64-28C8DE34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11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35357998-15EA-42FC-8F2C-5ACC2F24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annotated · package extracted · target result identified</a:t>
            </a:r>
          </a:p>
        </p:txBody>
      </p:sp>
      <p:sp>
        <p:nvSpPr>
          <p:cNvPr id="12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B75A4A3B-8BAC-48CB-87D6-62E5869E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D269E772-3D3B-4103-87E4-58A746A9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4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BDCD821D-0A29-4BA8-806F-5FC6D870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01F9F69D-06DC-484F-9516-9CF4EB49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6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AD471D49-1299-49E9-8255-85732AB7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B16A13D0-8E1B-40BB-AD16-FD2239C6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8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12F2FD0C-F090-41C9-85E4-AE5C226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4F461A0D-1C5B-48CC-B37B-412B25BE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20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AB266F69-264B-43C0-92AA-E88F4CE4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58331088-D3CB-4785-B7E6-7DD9146C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BEEF3D0-51D8-46D3-BDE0-3D3AB0CB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4BB2BA-2D80-44C7-B39D-64A4DD0D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9D0E287-01B4-49BB-A2D3-B3E306BF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740428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38EF67C-0D7F-4CCD-867B-62A440CC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798B1F-DDBD-429D-894C-34E8C666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4E46C66-7E63-422A-8955-91420BC4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D1BE0EBC-441D-4B99-8B0C-C9424D5C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0B4AC760-7BC7-437D-B1EA-F3E6C67A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Bodory, Huber &amp; Lafférs (2022) — Dynamic Treatment Effects by DML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979BB00A-77CB-424D-A893-A2001560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orthogonal scores and cross-fitting in the Job Corps study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671EE62F-8F88-4478-B174-510DA081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https://doi.org/10.1093/ectj/utac018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75E76F27-AD56-4917-AC73-E49B602A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6DDEEB3A-9DDB-43AC-82C8-47C4D56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Harvard Dataverse 10.7910/DVN/FS0KBA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C3B7BBDE-FB2F-48F8-A5B3-0DAD3CE0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replication package: Job Corps application data and files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EFCDE994-2328-4259-B9EE-AD7645A6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https://doi.org/10.7910/DVN/FS0KBA</a:t>
            </a:r>
          </a:p>
        </p:txBody>
      </p:sp>
      <p:sp>
        <p:nvSpPr>
          <p:cNvPr id="12" name="pre-reading-status-2">
            <a:extLst xmlns:a="http://schemas.openxmlformats.org/drawingml/2006/main">
              <a:ext uri="{FF2B5EF4-FFF2-40B4-BE49-F238E27FC236}">
                <a16:creationId xmlns:a16="http://schemas.microsoft.com/office/drawing/2014/main" id="{2EF3FA38-6F77-40EB-AD0C-D3E9C788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 xmlns:a="http://schemas.openxmlformats.org/drawingml/2006/main">
              <a:ext uri="{FF2B5EF4-FFF2-40B4-BE49-F238E27FC236}">
                <a16:creationId xmlns:a16="http://schemas.microsoft.com/office/drawing/2014/main" id="{157E4D3B-7629-44BE-B0F2-7F1E7BF5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 sections on flexible prediction</a:t>
            </a:r>
          </a:p>
        </p:txBody>
      </p:sp>
      <p:sp>
        <p:nvSpPr>
          <p:cNvPr id="14" name="pre-reading-why-2">
            <a:extLst xmlns:a="http://schemas.openxmlformats.org/drawingml/2006/main">
              <a:ext uri="{FF2B5EF4-FFF2-40B4-BE49-F238E27FC236}">
                <a16:creationId xmlns:a16="http://schemas.microsoft.com/office/drawing/2014/main" id="{87253A1A-DC68-40F1-AF5B-300B3817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background for nuisance learners</a:t>
            </a:r>
          </a:p>
        </p:txBody>
      </p:sp>
      <p:sp>
        <p:nvSpPr>
          <p:cNvPr id="15" name="pre-reading-url-2">
            <a:extLst xmlns:a="http://schemas.openxmlformats.org/drawingml/2006/main">
              <a:ext uri="{FF2B5EF4-FFF2-40B4-BE49-F238E27FC236}">
                <a16:creationId xmlns:a16="http://schemas.microsoft.com/office/drawing/2014/main" id="{B40C0451-106A-4DB3-B56C-7D6FF46B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0CF157A-1B84-4BEC-830B-846F7D04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7A9929D-F369-4732-838F-1ABB7C40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301C146-0B25-4281-9A8E-11986934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562787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C77C5CF9-8685-4B49-9452-8D3BCD9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C95184-7226-4B8C-AF9E-844C6DE7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able to use these words precisely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8798B6C-8F4C-45D3-B12B-DFF4B4A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term-0">
            <a:extLst xmlns:a="http://schemas.openxmlformats.org/drawingml/2006/main">
              <a:ext uri="{FF2B5EF4-FFF2-40B4-BE49-F238E27FC236}">
                <a16:creationId xmlns:a16="http://schemas.microsoft.com/office/drawing/2014/main" id="{1D4391E4-AA9B-4C2B-BA27-09E92E30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Nuisance function</a:t>
            </a:r>
          </a:p>
        </p:txBody>
      </p:sp>
      <p:sp>
        <p:nvSpPr>
          <p:cNvPr id="5" name="pre-term-def-0">
            <a:extLst xmlns:a="http://schemas.openxmlformats.org/drawingml/2006/main">
              <a:ext uri="{FF2B5EF4-FFF2-40B4-BE49-F238E27FC236}">
                <a16:creationId xmlns:a16="http://schemas.microsoft.com/office/drawing/2014/main" id="{92238323-0DDF-43F7-8926-D65EAE43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predictive component needed to estimate the target but not itself the target.</a:t>
            </a:r>
          </a:p>
        </p:txBody>
      </p:sp>
      <p:sp>
        <p:nvSpPr>
          <p:cNvPr id="6" name="rule-48-272">
            <a:extLst xmlns:a="http://schemas.openxmlformats.org/drawingml/2006/main">
              <a:ext uri="{FF2B5EF4-FFF2-40B4-BE49-F238E27FC236}">
                <a16:creationId xmlns:a16="http://schemas.microsoft.com/office/drawing/2014/main" id="{BD62C86A-DF2C-4353-B9C9-342DF2A5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-term-1">
            <a:extLst xmlns:a="http://schemas.openxmlformats.org/drawingml/2006/main">
              <a:ext uri="{FF2B5EF4-FFF2-40B4-BE49-F238E27FC236}">
                <a16:creationId xmlns:a16="http://schemas.microsoft.com/office/drawing/2014/main" id="{0BE14133-6043-420E-B95E-33B48BAC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Orthogonality</a:t>
            </a:r>
          </a:p>
        </p:txBody>
      </p:sp>
      <p:sp>
        <p:nvSpPr>
          <p:cNvPr id="8" name="pre-term-def-1">
            <a:extLst xmlns:a="http://schemas.openxmlformats.org/drawingml/2006/main">
              <a:ext uri="{FF2B5EF4-FFF2-40B4-BE49-F238E27FC236}">
                <a16:creationId xmlns:a16="http://schemas.microsoft.com/office/drawing/2014/main" id="{621EC954-EACF-4410-89C0-3F0C1DE2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Small nuisance errors have only second-order effect on the target score.</a:t>
            </a:r>
          </a:p>
        </p:txBody>
      </p:sp>
      <p:sp>
        <p:nvSpPr>
          <p:cNvPr id="9" name="rule-48-402">
            <a:extLst xmlns:a="http://schemas.openxmlformats.org/drawingml/2006/main">
              <a:ext uri="{FF2B5EF4-FFF2-40B4-BE49-F238E27FC236}">
                <a16:creationId xmlns:a16="http://schemas.microsoft.com/office/drawing/2014/main" id="{34280538-2ADE-475C-A322-DB22F84C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-term-2">
            <a:extLst xmlns:a="http://schemas.openxmlformats.org/drawingml/2006/main">
              <a:ext uri="{FF2B5EF4-FFF2-40B4-BE49-F238E27FC236}">
                <a16:creationId xmlns:a16="http://schemas.microsoft.com/office/drawing/2014/main" id="{76D4AEC9-4AFD-45AB-90DF-F23BB024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Cross-fitting</a:t>
            </a:r>
          </a:p>
        </p:txBody>
      </p:sp>
      <p:sp>
        <p:nvSpPr>
          <p:cNvPr id="11" name="pre-term-def-2">
            <a:extLst xmlns:a="http://schemas.openxmlformats.org/drawingml/2006/main">
              <a:ext uri="{FF2B5EF4-FFF2-40B4-BE49-F238E27FC236}">
                <a16:creationId xmlns:a16="http://schemas.microsoft.com/office/drawing/2014/main" id="{9433ED31-3293-46B2-B7F1-3718C510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Predict each row with models trained on other folds.</a:t>
            </a:r>
          </a:p>
        </p:txBody>
      </p:sp>
      <p:sp>
        <p:nvSpPr>
          <p:cNvPr id="12" name="rule-48-532">
            <a:extLst xmlns:a="http://schemas.openxmlformats.org/drawingml/2006/main">
              <a:ext uri="{FF2B5EF4-FFF2-40B4-BE49-F238E27FC236}">
                <a16:creationId xmlns:a16="http://schemas.microsoft.com/office/drawing/2014/main" id="{C3D410CD-0806-4599-8D6D-7E24A881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E0B61D9-4C5D-4ED8-8480-9999124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DFFEEFB-65EF-499B-8AB9-2B2E9534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F9D8A71-9353-4898-99BB-D65C1922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2126358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C2A037B6-00C3-4659-9D3B-348E21E2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REPLICATION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CE0172-F357-447D-A4C3-43B42750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data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61BA41E-5649-41B2-BD8E-BFC9B68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doi-label">
            <a:extLst xmlns:a="http://schemas.openxmlformats.org/drawingml/2006/main">
              <a:ext uri="{FF2B5EF4-FFF2-40B4-BE49-F238E27FC236}">
                <a16:creationId xmlns:a16="http://schemas.microsoft.com/office/drawing/2014/main" id="{108EC465-D8DF-4F5E-B4D8-8F410406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HARVARD DATAVERSE</a:t>
            </a:r>
          </a:p>
        </p:txBody>
      </p:sp>
      <p:sp>
        <p:nvSpPr>
          <p:cNvPr id="5" name="data-doi">
            <a:extLst xmlns:a="http://schemas.openxmlformats.org/drawingml/2006/main">
              <a:ext uri="{FF2B5EF4-FFF2-40B4-BE49-F238E27FC236}">
                <a16:creationId xmlns:a16="http://schemas.microsoft.com/office/drawing/2014/main" id="{B5295F2C-8B33-4385-833C-0437E728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10.7910/DVN/FS0KBA</a:t>
            </a:r>
          </a:p>
        </p:txBody>
      </p:sp>
      <p:sp>
        <p:nvSpPr>
          <p:cNvPr id="6" name="data-copy">
            <a:extLst xmlns:a="http://schemas.openxmlformats.org/drawingml/2006/main">
              <a:ext uri="{FF2B5EF4-FFF2-40B4-BE49-F238E27FC236}">
                <a16:creationId xmlns:a16="http://schemas.microsoft.com/office/drawing/2014/main" id="{BEF3DCC3-1C12-4F09-B43A-1BC12D8C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and extract the Job Corps package before class; identify the outcome, treatment sequence, and controls.</a:t>
            </a:r>
          </a:p>
        </p:txBody>
      </p:sp>
      <p:sp>
        <p:nvSpPr>
          <p:cNvPr id="7" name="data-path-label">
            <a:extLst xmlns:a="http://schemas.openxmlformats.org/drawingml/2006/main">
              <a:ext uri="{FF2B5EF4-FFF2-40B4-BE49-F238E27FC236}">
                <a16:creationId xmlns:a16="http://schemas.microsoft.com/office/drawing/2014/main" id="{A50B07DB-96A9-4E1A-93DF-B081D457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EXTRACT TO</a:t>
            </a:r>
          </a:p>
        </p:txBody>
      </p:sp>
      <p:sp>
        <p:nvSpPr>
          <p:cNvPr id="8" name="data-path">
            <a:extLst xmlns:a="http://schemas.openxmlformats.org/drawingml/2006/main">
              <a:ext uri="{FF2B5EF4-FFF2-40B4-BE49-F238E27FC236}">
                <a16:creationId xmlns:a16="http://schemas.microsoft.com/office/drawing/2014/main" id="{FFAD8ECF-3347-4BAD-A640-8FCE785E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Desktop/quantitative-methods/10-causal-machine-learning/data/replication/</a:t>
            </a:r>
          </a:p>
        </p:txBody>
      </p:sp>
      <p:cxnSp>
        <p:nvCxnSpPr>
          <p:cNvPr id="28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9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BEC853D-EFFF-4FE8-BFB6-C4E0B325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A44804D3-CC71-4056-95CB-4F606136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1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A341011D-95F5-4C84-A6F2-764F8CBF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912DA09-9637-4D4B-85B9-8C703B8F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5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92CEC28F-B0A5-4321-9431-CC5D9D4F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0833405C-1211-4E28-8BC8-CFD6A4BC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locally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5CA8E96-4F31-4E77-A043-29B92C7C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4401E5F-011A-49DF-B0C7-5A140F08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6A23D39-15C1-42BB-B9B0-B2139749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1860885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849AD12D-A8FE-4D3A-87D4-08A3AAA9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674C0F-A7D6-410B-9FD9-F0F28A6F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CF61B78-8590-4D69-A455-EC41B6D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D5AA2652-F060-499C-AD2C-03A0F46E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4EDE8A06-2E2B-43BC-A925-A3E73205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identifies the ATE?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D92FBFC4-B7A7-435D-B54E-19CF9FE6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8162F773-5458-4B96-ACCE-3B4C9DAB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C0107D3E-7AB4-47B4-BA69-4DF3D57F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cross-fit?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988387E1-E8F4-40AB-A7CD-56DDD33B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1489BC1B-31C7-4D0D-8BD1-73222BC9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D843D4FB-1088-4B60-AFB9-5FD8055B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does poor overlap look like?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2781BBF8-6CE7-45A9-A818-F036F416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53A1AE7-2732-41F5-A836-0DAFF675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9003E96-73FA-4957-9081-2B02A097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CC3CD7A-DA00-48F7-A7B6-743B27D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2025428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AB284650-65D5-4B08-B175-4503F22E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6E461694-75CE-4267-87C8-A31A220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10?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31235E23-9C1B-4893-8BB4-5D0787A1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1B7075DC-48C2-4FD7-933F-4DFC177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Article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5CA90A25-F5F8-42BC-9C1D-3F16E563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759D9DA4-5B30-4F81-BC99-4F257980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Dataverse package extracted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08566AB4-6FC5-4BBA-B266-6E6038AC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71AA0700-FEC7-4548-ADFF-25D4D8B0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result located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24D28D55-1334-489B-8D70-3AA930D4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370A299F-750C-4A79-98A1-CABCA044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7B550A95-3D77-4258-AD47-857127CD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63069B5E-D1B2-40DD-9E32-BD876AF3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CF7308E7-FDA3-4307-B691-24063A09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You have a superb predictive model. Why can’t you choose a policy with it?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B13B84-7B07-4487-9A88-0147B9F6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90C4936-B101-4A02-86D3-4B8F2B6C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10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0C7BA36-47CB-472F-92B6-B6F6BA99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359428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2026-08-23T21:43:01.7120000Z</dcterms:created>
  <dcterms:modified xsi:type="dcterms:W3CDTF">2026-08-23T21:43:01.7120000Z</dcterms:modified>
</coreProperties>
</file>