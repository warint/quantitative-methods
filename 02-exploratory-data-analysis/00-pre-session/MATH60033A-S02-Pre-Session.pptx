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a8f524c6f954b5d" /><Relationship Type="http://schemas.openxmlformats.org/officeDocument/2006/relationships/extended-properties" Target="/docProps/app.xml" Id="R1370f50040fa4fec" /><Relationship Type="http://schemas.openxmlformats.org/officeDocument/2006/relationships/officeDocument" Target="/ppt/presentation.xml" Id="R1d24eb33a78d448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8f6374eafbc463c"/>
  </p:sldMasterIdLst>
  <p:notesMasterIdLst>
    <p:notesMasterId xmlns:r="http://schemas.openxmlformats.org/officeDocument/2006/relationships" r:id="R427ab0e626d54a9b"/>
  </p:notesMasterIdLst>
  <p:sldIdLst>
    <p:sldId xmlns:r="http://schemas.openxmlformats.org/officeDocument/2006/relationships" id="256" r:id="R5969e96201844d35"/>
    <p:sldId xmlns:r="http://schemas.openxmlformats.org/officeDocument/2006/relationships" id="257" r:id="Rccd0a90c3b9f4593"/>
    <p:sldId xmlns:r="http://schemas.openxmlformats.org/officeDocument/2006/relationships" id="258" r:id="R0e03773c11624e91"/>
    <p:sldId xmlns:r="http://schemas.openxmlformats.org/officeDocument/2006/relationships" id="259" r:id="Re9795a572fd942ae"/>
    <p:sldId xmlns:r="http://schemas.openxmlformats.org/officeDocument/2006/relationships" id="260" r:id="R539be4ffb42e45f2"/>
    <p:sldId xmlns:r="http://schemas.openxmlformats.org/officeDocument/2006/relationships" id="261" r:id="R54c7829bdb8d4cd3"/>
    <p:sldId xmlns:r="http://schemas.openxmlformats.org/officeDocument/2006/relationships" id="262" r:id="Re2e27f87ef654405"/>
    <p:sldId xmlns:r="http://schemas.openxmlformats.org/officeDocument/2006/relationships" id="263" r:id="Rd0e7f2359b254e5c"/>
    <p:sldId xmlns:r="http://schemas.openxmlformats.org/officeDocument/2006/relationships" id="264" r:id="Rf1f650f0c14845cb"/>
    <p:sldId xmlns:r="http://schemas.openxmlformats.org/officeDocument/2006/relationships" id="265" r:id="R2b6af778563c4812"/>
    <p:sldId xmlns:r="http://schemas.openxmlformats.org/officeDocument/2006/relationships" id="266" r:id="R3b506e83b161474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3714155c2e949a0" /><Relationship Type="http://schemas.openxmlformats.org/officeDocument/2006/relationships/slideMaster" Target="/ppt/slideMasters/slideMaster1.xml" Id="Re8f6374eafbc463c" /><Relationship Type="http://schemas.openxmlformats.org/officeDocument/2006/relationships/notesMaster" Target="/ppt/notesMasters/notesMaster1.xml" Id="R427ab0e626d54a9b" /><Relationship Type="http://schemas.openxmlformats.org/officeDocument/2006/relationships/presProps" Target="/ppt/presProps.xml" Id="Rd1c282865f154e58" /><Relationship Type="http://schemas.openxmlformats.org/officeDocument/2006/relationships/tableStyles" Target="/ppt/tableStyles.xml" Id="R3d952ce8674c48c1" /><Relationship Type="http://schemas.openxmlformats.org/officeDocument/2006/relationships/slide" Target="/ppt/slides/slide1.xml" Id="R5969e96201844d35" /><Relationship Type="http://schemas.openxmlformats.org/officeDocument/2006/relationships/slide" Target="/ppt/slides/slide2.xml" Id="Rccd0a90c3b9f4593" /><Relationship Type="http://schemas.openxmlformats.org/officeDocument/2006/relationships/slide" Target="/ppt/slides/slide3.xml" Id="R0e03773c11624e91" /><Relationship Type="http://schemas.openxmlformats.org/officeDocument/2006/relationships/slide" Target="/ppt/slides/slide4.xml" Id="Re9795a572fd942ae" /><Relationship Type="http://schemas.openxmlformats.org/officeDocument/2006/relationships/slide" Target="/ppt/slides/slide5.xml" Id="R539be4ffb42e45f2" /><Relationship Type="http://schemas.openxmlformats.org/officeDocument/2006/relationships/slide" Target="/ppt/slides/slide6.xml" Id="R54c7829bdb8d4cd3" /><Relationship Type="http://schemas.openxmlformats.org/officeDocument/2006/relationships/slide" Target="/ppt/slides/slide7.xml" Id="Re2e27f87ef654405" /><Relationship Type="http://schemas.openxmlformats.org/officeDocument/2006/relationships/slide" Target="/ppt/slides/slide8.xml" Id="Rd0e7f2359b254e5c" /><Relationship Type="http://schemas.openxmlformats.org/officeDocument/2006/relationships/slide" Target="/ppt/slides/slide9.xml" Id="Rf1f650f0c14845cb" /><Relationship Type="http://schemas.openxmlformats.org/officeDocument/2006/relationships/slide" Target="/ppt/slides/slide10.xml" Id="R2b6af778563c4812" /><Relationship Type="http://schemas.openxmlformats.org/officeDocument/2006/relationships/slide" Target="/ppt/slides/slide11.xml" Id="R3b506e83b161474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d9853fbf9c047e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16a14f6970d4924" /><Relationship Type="http://schemas.openxmlformats.org/officeDocument/2006/relationships/notesMaster" Target="/ppt/notesMasters/notesMaster1.xml" Id="R426a227b8f5d4d8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15242c84da94458" /><Relationship Type="http://schemas.openxmlformats.org/officeDocument/2006/relationships/notesMaster" Target="/ppt/notesMasters/notesMaster1.xml" Id="R860b9bfbeb6c438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a669657aee841d9" /><Relationship Type="http://schemas.openxmlformats.org/officeDocument/2006/relationships/notesMaster" Target="/ppt/notesMasters/notesMaster1.xml" Id="R595db44cb7884da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28a616ab2fd4ed5" /><Relationship Type="http://schemas.openxmlformats.org/officeDocument/2006/relationships/notesMaster" Target="/ppt/notesMasters/notesMaster1.xml" Id="R525dfc60863341f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715fe31c2c34643" /><Relationship Type="http://schemas.openxmlformats.org/officeDocument/2006/relationships/notesMaster" Target="/ppt/notesMasters/notesMaster1.xml" Id="Rfb9a30562b13412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57cb4e9f3dd436e" /><Relationship Type="http://schemas.openxmlformats.org/officeDocument/2006/relationships/notesMaster" Target="/ppt/notesMasters/notesMaster1.xml" Id="R238ab1067a3c4f9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b3ce83807eb4009" /><Relationship Type="http://schemas.openxmlformats.org/officeDocument/2006/relationships/notesMaster" Target="/ppt/notesMasters/notesMaster1.xml" Id="Ra0ec3683f7174d5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a76002187ab4a20" /><Relationship Type="http://schemas.openxmlformats.org/officeDocument/2006/relationships/notesMaster" Target="/ppt/notesMasters/notesMaster1.xml" Id="Rc38176478c2546d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a219baaf4ee4016" /><Relationship Type="http://schemas.openxmlformats.org/officeDocument/2006/relationships/notesMaster" Target="/ppt/notesMasters/notesMaster1.xml" Id="Rd69070c2111b480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a4a0374381d41b1" /><Relationship Type="http://schemas.openxmlformats.org/officeDocument/2006/relationships/notesMaster" Target="/ppt/notesMasters/notesMaster1.xml" Id="Rc6ca30eb750a46e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5ddce3156794fc0" /><Relationship Type="http://schemas.openxmlformats.org/officeDocument/2006/relationships/notesMaster" Target="/ppt/notesMasters/notesMaster1.xml" Id="Ra495452dfd46439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question: The commit history is the record of who did what.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02-geometry-of-least-squares/00-pre-session/README.md</a:t>
            </a:r>
          </a:p>
          <a:p xmlns:a="http://schemas.openxmlformats.org/drawingml/2006/main">
            <a:r>
              <a:t>- Topalova &amp; Khandelwal (2011) — Trade Liberalization and Firm Productivity — https://doi.org/10.1162/REST_a_00095</a:t>
            </a:r>
          </a:p>
          <a:p xmlns:a="http://schemas.openxmlformats.org/drawingml/2006/main">
            <a:r>
              <a:t>- Harvard Dataverse 10.7910/DVN/8WEXYD — https://doi.org/10.7910/DVN/8WEXYD</a:t>
            </a:r>
          </a:p>
          <a:p xmlns:a="http://schemas.openxmlformats.org/drawingml/2006/main">
            <a:r>
              <a:t>- ISLR 3.1–3.2 — https://www.statlearning.com/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Before class, students read the article, download the Dataverse package, and identify this practice target: Reproduce one firm-productivity regression, then rebuild the OLS geometry and collinearity stress test in Python.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02-geometry-of-least-squares/00-pre-session/README.md</a:t>
            </a:r>
          </a:p>
          <a:p xmlns:a="http://schemas.openxmlformats.org/drawingml/2006/main">
            <a:r>
              <a:t>- Topalova &amp; Khandelwal (2011) — Trade Liberalization and Firm Productivity — https://doi.org/10.1162/REST_a_00095</a:t>
            </a:r>
          </a:p>
          <a:p xmlns:a="http://schemas.openxmlformats.org/drawingml/2006/main">
            <a:r>
              <a:t>- Harvard Dataverse 10.7910/DVN/8WEXYD — https://doi.org/10.7910/DVN/8WEXYD</a:t>
            </a:r>
          </a:p>
          <a:p xmlns:a="http://schemas.openxmlformats.org/drawingml/2006/main">
            <a:r>
              <a:t>- ISLR 3.1–3.2 — https://www.statlearning.com/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Complete these commands before class, then check the current branch before beginning group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02-geometry-of-least-squares/00-pre-session/setup-git-and-github.md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Complete these commands before class, then check the current branch before beginning group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02-geometry-of-least-squares/00-pre-session/setup-git-and-github.md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Complete these commands before class, then check the current branch before beginning group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02-geometry-of-least-squares/00-pre-session/setup-git-and-github.md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Complete these commands before class, then check the current branch before beginning group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02-geometry-of-least-squares/00-pre-session/setup-git-and-github.md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a tiny conflict and resolve it slowly.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02-geometry-of-least-squares/00-pre-session/setup-git-and-github.md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academic article and Dataverse package are required before class. ISLR is optional background.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02-geometry-of-least-squares/00-pre-session/README.md</a:t>
            </a:r>
          </a:p>
          <a:p xmlns:a="http://schemas.openxmlformats.org/drawingml/2006/main">
            <a:r>
              <a:t>- Topalova &amp; Khandelwal (2011) — Trade Liberalization and Firm Productivity — https://doi.org/10.1162/REST_a_00095</a:t>
            </a:r>
          </a:p>
          <a:p xmlns:a="http://schemas.openxmlformats.org/drawingml/2006/main">
            <a:r>
              <a:t>- Harvard Dataverse 10.7910/DVN/8WEXYD — https://doi.org/10.7910/DVN/8WEXYD</a:t>
            </a:r>
          </a:p>
          <a:p xmlns:a="http://schemas.openxmlformats.org/drawingml/2006/main">
            <a:r>
              <a:t>- ISLR 3.1–3.2 — https://www.statlearning.com/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practice target is: Reproduce one firm-productivity regression, then rebuild the OLS geometry and collinearity stress test in Python.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02-geometry-of-least-squares/00-pre-session/README.md</a:t>
            </a:r>
          </a:p>
          <a:p xmlns:a="http://schemas.openxmlformats.org/drawingml/2006/main">
            <a:r>
              <a:t>- Topalova &amp; Khandelwal (2011) — Trade Liberalization and Firm Productivity — https://doi.org/10.1162/REST_a_00095</a:t>
            </a:r>
          </a:p>
          <a:p xmlns:a="http://schemas.openxmlformats.org/drawingml/2006/main">
            <a:r>
              <a:t>- Harvard Dataverse 10.7910/DVN/8WEXYD — https://doi.org/10.7910/DVN/8WEXYD</a:t>
            </a:r>
          </a:p>
          <a:p xmlns:a="http://schemas.openxmlformats.org/drawingml/2006/main">
            <a:r>
              <a:t>- ISLR 3.1–3.2 — https://www.statlearning.com/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reveal answers. Ask students to bring the question they could not settle.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02-geometry-of-least-squares/00-pre-session/README.md</a:t>
            </a:r>
          </a:p>
          <a:p xmlns:a="http://schemas.openxmlformats.org/drawingml/2006/main">
            <a:r>
              <a:t>- Topalova &amp; Khandelwal (2011) — Trade Liberalization and Firm Productivity — https://doi.org/10.1162/REST_a_00095</a:t>
            </a:r>
          </a:p>
          <a:p xmlns:a="http://schemas.openxmlformats.org/drawingml/2006/main">
            <a:r>
              <a:t>- Harvard Dataverse 10.7910/DVN/8WEXYD — https://doi.org/10.7910/DVN/8WEXYD</a:t>
            </a:r>
          </a:p>
          <a:p xmlns:a="http://schemas.openxmlformats.org/drawingml/2006/main">
            <a:r>
              <a:t>- ISLR 3.1–3.2 — https://www.statlearning.com/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goal is readiness, not completion theatre. Invite students to bring one unresolved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02-geometry-of-least-squares/00-pre-session/README.md</a:t>
            </a:r>
          </a:p>
          <a:p xmlns:a="http://schemas.openxmlformats.org/drawingml/2006/main">
            <a:r>
              <a:t>- Topalova &amp; Khandelwal (2011) — Trade Liberalization and Firm Productivity — https://doi.org/10.1162/REST_a_00095</a:t>
            </a:r>
          </a:p>
          <a:p xmlns:a="http://schemas.openxmlformats.org/drawingml/2006/main">
            <a:r>
              <a:t>- Harvard Dataverse 10.7910/DVN/8WEXYD — https://doi.org/10.7910/DVN/8WEXYD</a:t>
            </a:r>
          </a:p>
          <a:p xmlns:a="http://schemas.openxmlformats.org/drawingml/2006/main">
            <a:r>
              <a:t>- ISLR 3.1–3.2 — https://www.statlearning.com/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d0af2aeec6446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70493371b9e4a07" /><Relationship Type="http://schemas.openxmlformats.org/officeDocument/2006/relationships/slideLayout" Target="/ppt/slideLayouts/slideLayout1.xml" Id="Ra73b79db31a744c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73b79db31a744c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dd47b16e8644c4" /><Relationship Type="http://schemas.openxmlformats.org/officeDocument/2006/relationships/chart" Target="/ppt/slides/charts/chart1.xml" Id="R00bc1663b5f04f95" /><Relationship Type="http://schemas.openxmlformats.org/officeDocument/2006/relationships/notesSlide" Target="/ppt/notesSlides/notesSlide1.xml" Id="Rb852a50fb77242c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26a4765f6a49e6" /><Relationship Type="http://schemas.openxmlformats.org/officeDocument/2006/relationships/notesSlide" Target="/ppt/notesSlides/notesSlide2.xml" Id="R2e5cf04cca5e41f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deb5fa65d74774" /><Relationship Type="http://schemas.openxmlformats.org/officeDocument/2006/relationships/notesSlide" Target="/ppt/notesSlides/notesSlide3.xml" Id="R1341dfd8449e4dd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5217923b124bbe" /><Relationship Type="http://schemas.openxmlformats.org/officeDocument/2006/relationships/notesSlide" Target="/ppt/notesSlides/notesSlide4.xml" Id="R3e887e559ec74b7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537026606946f8" /><Relationship Type="http://schemas.openxmlformats.org/officeDocument/2006/relationships/notesSlide" Target="/ppt/notesSlides/notesSlide5.xml" Id="Re855d0f28792495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203a3efca5451f" /><Relationship Type="http://schemas.openxmlformats.org/officeDocument/2006/relationships/notesSlide" Target="/ppt/notesSlides/notesSlide6.xml" Id="R095ef47cafb5435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9b6879caa94087" /><Relationship Type="http://schemas.openxmlformats.org/officeDocument/2006/relationships/notesSlide" Target="/ppt/notesSlides/notesSlide7.xml" Id="R982c6d3f2bdb490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1697a17fa442ab" /><Relationship Type="http://schemas.openxmlformats.org/officeDocument/2006/relationships/notesSlide" Target="/ppt/notesSlides/notesSlide8.xml" Id="Rd5a55343334d420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3a557ca4c24aed" /><Relationship Type="http://schemas.openxmlformats.org/officeDocument/2006/relationships/notesSlide" Target="/ppt/notesSlides/notesSlide9.xml" Id="R9b062e2ca67a4e4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069f050b7b4a3d" /><Relationship Type="http://schemas.openxmlformats.org/officeDocument/2006/relationships/notesSlide" Target="/ppt/notesSlides/notesSlide10.xml" Id="Rf3043de7e701461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5a0a8769f34bea" /><Relationship Type="http://schemas.openxmlformats.org/officeDocument/2006/relationships/notesSlide" Target="/ppt/notesSlides/notesSlide11.xml" Id="R3e69749684d4448b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Signal</c:v>
          </c:tx>
          <c:spPr>
            <a:ln xmlns:a="http://schemas.openxmlformats.org/drawingml/2006/main" w="28575">
              <a:solidFill>
                <a:srgbClr val="2563EB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2563EB"/>
              </a:solidFill>
            </c:spPr>
          </c:marker>
          <c:cat>
            <c:strLit>
              <c:ptCount val="7"/>
              <c:pt idx="0">
                <c:v>−3</c:v>
              </c:pt>
              <c:pt idx="1">
                <c:v>−2</c:v>
              </c:pt>
              <c:pt idx="2">
                <c:v>−1</c:v>
              </c:pt>
              <c:pt idx="3">
                <c:v>0</c:v>
              </c:pt>
              <c:pt idx="4">
                <c:v>1</c:v>
              </c:pt>
              <c:pt idx="5">
                <c:v>2</c:v>
              </c:pt>
              <c:pt idx="6">
                <c:v>3</c:v>
              </c:pt>
            </c:strLit>
          </c:cat>
          <c:val>
            <c:numLit>
              <c:formatCode>General</c:formatCode>
              <c:ptCount val="7"/>
              <c:pt idx="0">
                <c:v>9</c:v>
              </c:pt>
              <c:pt idx="1">
                <c:v>4</c:v>
              </c:pt>
              <c:pt idx="2">
                <c:v>1</c:v>
              </c:pt>
              <c:pt idx="3">
                <c:v>0</c:v>
              </c:pt>
              <c:pt idx="4">
                <c:v>1</c:v>
              </c:pt>
              <c:pt idx="5">
                <c:v>4</c:v>
              </c:pt>
              <c:pt idx="6">
                <c:v>9</c:v>
              </c:pt>
            </c:numLit>
          </c:val>
          <c:smooth val="1"/>
        </c:ser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C0C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F1F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2C2FE614-4DD1-4E3C-8EDA-9EA97BFCB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MATH60033A · SESSION 02 · PRE-SESSION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DDAE52AF-07CF-4941-8BE4-2E583AE6C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557212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684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5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Git, GitHub, and working as a group</a:t>
            </a:r>
          </a:p>
        </p:txBody>
      </p:sp>
      <p:sp>
        <p:nvSpPr>
          <p:cNvPr id="3" name="cover-hook">
            <a:extLst xmlns:a="http://schemas.openxmlformats.org/drawingml/2006/main">
              <a:ext uri="{FF2B5EF4-FFF2-40B4-BE49-F238E27FC236}">
                <a16:creationId xmlns:a16="http://schemas.microsoft.com/office/drawing/2014/main" id="{B61C5D1A-1EAB-4533-811F-E559DE370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62350"/>
            <a:ext cx="5095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The commit history is the record of who did what.</a:t>
            </a:r>
          </a:p>
        </p:txBody>
      </p:sp>
      <p:sp>
        <p:nvSpPr>
          <p:cNvPr id="4" name="cover-author">
            <a:extLst xmlns:a="http://schemas.openxmlformats.org/drawingml/2006/main">
              <a:ext uri="{FF2B5EF4-FFF2-40B4-BE49-F238E27FC236}">
                <a16:creationId xmlns:a16="http://schemas.microsoft.com/office/drawing/2014/main" id="{EDC2C6A3-0A2B-4363-9E11-FC383D752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340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Thierry Warin</a:t>
            </a:r>
          </a:p>
        </p:txBody>
      </p:sp>
      <p:sp>
        <p:nvSpPr>
          <p:cNvPr id="5" name="motif-field">
            <a:extLst xmlns:a="http://schemas.openxmlformats.org/drawingml/2006/main">
              <a:ext uri="{FF2B5EF4-FFF2-40B4-BE49-F238E27FC236}">
                <a16:creationId xmlns:a16="http://schemas.microsoft.com/office/drawing/2014/main" id="{7D99F33F-770F-4506-9819-EFE32B62A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61950"/>
            <a:ext cx="5400675" cy="5734050"/>
          </a:xfrm>
          <a:prstGeom xmlns:a="http://schemas.openxmlformats.org/drawingml/2006/main" prst="roundRect">
            <a:avLst>
              <a:gd name="adj" fmla="val 1411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6657975" y="685800"/>
          <a:ext xmlns:a="http://schemas.openxmlformats.org/drawingml/2006/main" cx="4752975" cy="50863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0bc1663b5f04f95"/>
          </a:graphicData>
        </a:graphic>
      </p:graphicFrame>
      <p:sp>
        <p:nvSpPr>
          <p:cNvPr id="7" name="rule-48-674">
            <a:extLst xmlns:a="http://schemas.openxmlformats.org/drawingml/2006/main">
              <a:ext uri="{FF2B5EF4-FFF2-40B4-BE49-F238E27FC236}">
                <a16:creationId xmlns:a16="http://schemas.microsoft.com/office/drawing/2014/main" id="{6E7FE3B4-5F9A-48BA-AD9C-C27B9B29D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F7A9E4BF-39C2-486E-BC9F-20DCC9A00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02</a:t>
            </a:r>
          </a:p>
        </p:txBody>
      </p:sp>
      <p:sp>
        <p:nvSpPr>
          <p:cNvPr id="9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EE34E186-2DC1-4671-88FD-7E277569A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Git &amp; teamwork · 1</a:t>
            </a:r>
          </a:p>
        </p:txBody>
      </p:sp>
    </p:spTree>
    <p:extLst>
      <p:ext uri="{BB962C8B-B14F-4D97-AF65-F5344CB8AC3E}">
        <p14:creationId xmlns:p14="http://schemas.microsoft.com/office/powerpoint/2010/main" val="60596555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eyebrow">
            <a:extLst xmlns:a="http://schemas.openxmlformats.org/drawingml/2006/main">
              <a:ext uri="{FF2B5EF4-FFF2-40B4-BE49-F238E27FC236}">
                <a16:creationId xmlns:a16="http://schemas.microsoft.com/office/drawing/2014/main" id="{8FFBF36C-1BBD-451A-9B61-671FC0FA4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PRE-SESSION · REQUIRED BEFORE CLASS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98E0602-21D2-48EC-9D5F-63455E35A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Read the article; download the package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29384F51-04C4-4E94-8608-BE526F584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re-required-label">
            <a:extLst xmlns:a="http://schemas.openxmlformats.org/drawingml/2006/main">
              <a:ext uri="{FF2B5EF4-FFF2-40B4-BE49-F238E27FC236}">
                <a16:creationId xmlns:a16="http://schemas.microsoft.com/office/drawing/2014/main" id="{0E99A84F-C266-41CF-A61C-8CEFC8D65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REQUIRED ARTICLE</a:t>
            </a:r>
          </a:p>
        </p:txBody>
      </p:sp>
      <p:sp>
        <p:nvSpPr>
          <p:cNvPr id="5" name="pre-required-title">
            <a:extLst xmlns:a="http://schemas.openxmlformats.org/drawingml/2006/main">
              <a:ext uri="{FF2B5EF4-FFF2-40B4-BE49-F238E27FC236}">
                <a16:creationId xmlns:a16="http://schemas.microsoft.com/office/drawing/2014/main" id="{288298A7-BA96-4986-8788-1B6F7A562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19300"/>
            <a:ext cx="619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6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Topalova &amp; Khandelwal (2011) — Trade Liberalization and Firm Productivity</a:t>
            </a:r>
          </a:p>
        </p:txBody>
      </p:sp>
      <p:sp>
        <p:nvSpPr>
          <p:cNvPr id="6" name="pre-required-purpose">
            <a:extLst xmlns:a="http://schemas.openxmlformats.org/drawingml/2006/main">
              <a:ext uri="{FF2B5EF4-FFF2-40B4-BE49-F238E27FC236}">
                <a16:creationId xmlns:a16="http://schemas.microsoft.com/office/drawing/2014/main" id="{11AC4601-E280-4D22-8EE4-137B44C5D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24150"/>
            <a:ext cx="619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Required article: the empirical result reproduced in practice</a:t>
            </a:r>
          </a:p>
        </p:txBody>
      </p:sp>
      <p:sp>
        <p:nvSpPr>
          <p:cNvPr id="7" name="pre-required-url">
            <a:extLst xmlns:a="http://schemas.openxmlformats.org/drawingml/2006/main">
              <a:ext uri="{FF2B5EF4-FFF2-40B4-BE49-F238E27FC236}">
                <a16:creationId xmlns:a16="http://schemas.microsoft.com/office/drawing/2014/main" id="{884C87CE-144A-42C9-9D5A-337C8CD58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861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https://doi.org/10.1162/REST_a_00095</a:t>
            </a:r>
          </a:p>
        </p:txBody>
      </p:sp>
      <p:sp>
        <p:nvSpPr>
          <p:cNvPr id="8" name="pre-data-label">
            <a:extLst xmlns:a="http://schemas.openxmlformats.org/drawingml/2006/main">
              <a:ext uri="{FF2B5EF4-FFF2-40B4-BE49-F238E27FC236}">
                <a16:creationId xmlns:a16="http://schemas.microsoft.com/office/drawing/2014/main" id="{EC9C116A-62E9-4FE7-84BD-53ED21057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433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DATAVERSE PACKAGE</a:t>
            </a:r>
          </a:p>
        </p:txBody>
      </p:sp>
      <p:sp>
        <p:nvSpPr>
          <p:cNvPr id="9" name="pre-data-url">
            <a:extLst xmlns:a="http://schemas.openxmlformats.org/drawingml/2006/main">
              <a:ext uri="{FF2B5EF4-FFF2-40B4-BE49-F238E27FC236}">
                <a16:creationId xmlns:a16="http://schemas.microsoft.com/office/drawing/2014/main" id="{B14A12A7-3001-4AAE-A537-6457F985E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291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https://doi.org/10.7910/DVN/8WEXYD</a:t>
            </a:r>
          </a:p>
        </p:txBody>
      </p:sp>
      <p:sp>
        <p:nvSpPr>
          <p:cNvPr id="10" name="pre-bring-label">
            <a:extLst xmlns:a="http://schemas.openxmlformats.org/drawingml/2006/main">
              <a:ext uri="{FF2B5EF4-FFF2-40B4-BE49-F238E27FC236}">
                <a16:creationId xmlns:a16="http://schemas.microsoft.com/office/drawing/2014/main" id="{5BD4BFA0-28D6-4884-BB96-DC81CFAA2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672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BRING TO CLASS</a:t>
            </a:r>
          </a:p>
        </p:txBody>
      </p:sp>
      <p:sp>
        <p:nvSpPr>
          <p:cNvPr id="11" name="pre-bring-copy">
            <a:extLst xmlns:a="http://schemas.openxmlformats.org/drawingml/2006/main">
              <a:ext uri="{FF2B5EF4-FFF2-40B4-BE49-F238E27FC236}">
                <a16:creationId xmlns:a16="http://schemas.microsoft.com/office/drawing/2014/main" id="{0EF394FD-8EB9-4204-BCC3-3598C84B5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0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Article annotated · package extracted · target result identified</a:t>
            </a:r>
          </a:p>
        </p:txBody>
      </p:sp>
      <p:sp>
        <p:nvSpPr>
          <p:cNvPr id="12" name="pre-annotation-bg">
            <a:extLst xmlns:a="http://schemas.openxmlformats.org/drawingml/2006/main">
              <a:ext uri="{FF2B5EF4-FFF2-40B4-BE49-F238E27FC236}">
                <a16:creationId xmlns:a16="http://schemas.microsoft.com/office/drawing/2014/main" id="{A28A045F-ED21-4CF6-8147-B583E1CE5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733550"/>
            <a:ext cx="4038600" cy="3905250"/>
          </a:xfrm>
          <a:prstGeom xmlns:a="http://schemas.openxmlformats.org/drawingml/2006/main" prst="roundRect">
            <a:avLst>
              <a:gd name="adj" fmla="val 1951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3" name="pre-annotation-title">
            <a:extLst xmlns:a="http://schemas.openxmlformats.org/drawingml/2006/main">
              <a:ext uri="{FF2B5EF4-FFF2-40B4-BE49-F238E27FC236}">
                <a16:creationId xmlns:a16="http://schemas.microsoft.com/office/drawing/2014/main" id="{67927D98-C9A0-49BB-A8C6-DB69C0606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095500"/>
            <a:ext cx="3276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Annotate four things</a:t>
            </a:r>
          </a:p>
        </p:txBody>
      </p:sp>
      <p:sp>
        <p:nvSpPr>
          <p:cNvPr id="14" name="pre-annotation-num-0">
            <a:extLst xmlns:a="http://schemas.openxmlformats.org/drawingml/2006/main">
              <a:ext uri="{FF2B5EF4-FFF2-40B4-BE49-F238E27FC236}">
                <a16:creationId xmlns:a16="http://schemas.microsoft.com/office/drawing/2014/main" id="{DCF3E08D-F269-42CD-87C6-B45BC254C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8003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5" name="pre-annotation-item-0">
            <a:extLst xmlns:a="http://schemas.openxmlformats.org/drawingml/2006/main">
              <a:ext uri="{FF2B5EF4-FFF2-40B4-BE49-F238E27FC236}">
                <a16:creationId xmlns:a16="http://schemas.microsoft.com/office/drawing/2014/main" id="{7B6E7B7B-ADD1-4D2F-A0A1-FC887E6CD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762250"/>
            <a:ext cx="2686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research question</a:t>
            </a:r>
          </a:p>
        </p:txBody>
      </p:sp>
      <p:sp>
        <p:nvSpPr>
          <p:cNvPr id="16" name="pre-annotation-num-1">
            <a:extLst xmlns:a="http://schemas.openxmlformats.org/drawingml/2006/main">
              <a:ext uri="{FF2B5EF4-FFF2-40B4-BE49-F238E27FC236}">
                <a16:creationId xmlns:a16="http://schemas.microsoft.com/office/drawing/2014/main" id="{E547BC77-6A72-4941-A7EB-C370E126D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4290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7" name="pre-annotation-item-1">
            <a:extLst xmlns:a="http://schemas.openxmlformats.org/drawingml/2006/main">
              <a:ext uri="{FF2B5EF4-FFF2-40B4-BE49-F238E27FC236}">
                <a16:creationId xmlns:a16="http://schemas.microsoft.com/office/drawing/2014/main" id="{6D018B41-CCF0-47E3-ACC1-FD8F8B075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390900"/>
            <a:ext cx="2686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method or design</a:t>
            </a:r>
          </a:p>
        </p:txBody>
      </p:sp>
      <p:sp>
        <p:nvSpPr>
          <p:cNvPr id="18" name="pre-annotation-num-2">
            <a:extLst xmlns:a="http://schemas.openxmlformats.org/drawingml/2006/main">
              <a:ext uri="{FF2B5EF4-FFF2-40B4-BE49-F238E27FC236}">
                <a16:creationId xmlns:a16="http://schemas.microsoft.com/office/drawing/2014/main" id="{9E5EDBA7-247A-4769-B16A-CF2E19F24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0576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9" name="pre-annotation-item-2">
            <a:extLst xmlns:a="http://schemas.openxmlformats.org/drawingml/2006/main">
              <a:ext uri="{FF2B5EF4-FFF2-40B4-BE49-F238E27FC236}">
                <a16:creationId xmlns:a16="http://schemas.microsoft.com/office/drawing/2014/main" id="{DC2DE17A-65FF-4782-AB9E-5913CA87F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019550"/>
            <a:ext cx="2686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strongest evidence</a:t>
            </a:r>
          </a:p>
        </p:txBody>
      </p:sp>
      <p:sp>
        <p:nvSpPr>
          <p:cNvPr id="20" name="pre-annotation-num-3">
            <a:extLst xmlns:a="http://schemas.openxmlformats.org/drawingml/2006/main">
              <a:ext uri="{FF2B5EF4-FFF2-40B4-BE49-F238E27FC236}">
                <a16:creationId xmlns:a16="http://schemas.microsoft.com/office/drawing/2014/main" id="{E2D09902-DDDF-4858-BCD5-DA0597899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6863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6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1" name="pre-annotation-item-3">
            <a:extLst xmlns:a="http://schemas.openxmlformats.org/drawingml/2006/main">
              <a:ext uri="{FF2B5EF4-FFF2-40B4-BE49-F238E27FC236}">
                <a16:creationId xmlns:a16="http://schemas.microsoft.com/office/drawing/2014/main" id="{7BD922A2-9CFA-4BCF-9614-325EFD344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648200"/>
            <a:ext cx="2686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One limitation or doubt</a:t>
            </a:r>
          </a:p>
        </p:txBody>
      </p:sp>
      <p:sp>
        <p:nvSpPr>
          <p:cNvPr id="22" name="rule-48-674">
            <a:extLst xmlns:a="http://schemas.openxmlformats.org/drawingml/2006/main">
              <a:ext uri="{FF2B5EF4-FFF2-40B4-BE49-F238E27FC236}">
                <a16:creationId xmlns:a16="http://schemas.microsoft.com/office/drawing/2014/main" id="{BDD8B6FA-EA9B-4099-9738-EC39EB4D2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footer-left">
            <a:extLst xmlns:a="http://schemas.openxmlformats.org/drawingml/2006/main">
              <a:ext uri="{FF2B5EF4-FFF2-40B4-BE49-F238E27FC236}">
                <a16:creationId xmlns:a16="http://schemas.microsoft.com/office/drawing/2014/main" id="{65DC7284-0D05-411C-8711-39C0CEB3E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02</a:t>
            </a:r>
          </a:p>
        </p:txBody>
      </p:sp>
      <p:sp>
        <p:nvSpPr>
          <p:cNvPr id="24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9B21E140-E448-4987-BF5F-D4C10DF88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Pre-session · 2</a:t>
            </a:r>
          </a:p>
        </p:txBody>
      </p:sp>
    </p:spTree>
    <p:extLst>
      <p:ext uri="{BB962C8B-B14F-4D97-AF65-F5344CB8AC3E}">
        <p14:creationId xmlns:p14="http://schemas.microsoft.com/office/powerpoint/2010/main" val="20727579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eyebrow">
            <a:extLst xmlns:a="http://schemas.openxmlformats.org/drawingml/2006/main">
              <a:ext uri="{FF2B5EF4-FFF2-40B4-BE49-F238E27FC236}">
                <a16:creationId xmlns:a16="http://schemas.microsoft.com/office/drawing/2014/main" id="{C1CAB172-AF7E-4F6E-9C6D-774E48918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GIT · STEP 1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B83278D-CD62-4C0F-9B39-7A11AAF7A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Clone to the Desktop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0E51639C-07AC-4D38-91AA-D4795C67D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git-copy-0">
            <a:extLst xmlns:a="http://schemas.openxmlformats.org/drawingml/2006/main">
              <a:ext uri="{FF2B5EF4-FFF2-40B4-BE49-F238E27FC236}">
                <a16:creationId xmlns:a16="http://schemas.microsoft.com/office/drawing/2014/main" id="{E0BB81EE-F0E8-4204-B743-D710DF92C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52600"/>
            <a:ext cx="4000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Session 02 clone replaces the ZIP. Keep only one working copy on the Desktop.</a:t>
            </a:r>
          </a:p>
        </p:txBody>
      </p:sp>
      <p:sp>
        <p:nvSpPr>
          <p:cNvPr id="5" name="git-command-0">
            <a:extLst xmlns:a="http://schemas.openxmlformats.org/drawingml/2006/main">
              <a:ext uri="{FF2B5EF4-FFF2-40B4-BE49-F238E27FC236}">
                <a16:creationId xmlns:a16="http://schemas.microsoft.com/office/drawing/2014/main" id="{C2D084E6-6A43-45D2-8CDD-A7BC51831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752600"/>
            <a:ext cx="68199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47650" tIns="247650" rIns="247650" bIns="2476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cd ~/Desktop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git clone https://github.com/warint/quantitative-methods.git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cd quantitative-methods</a:t>
            </a:r>
          </a:p>
        </p:txBody>
      </p:sp>
      <p:cxnSp>
        <p:nvCxnSpPr>
          <p:cNvPr id="22" name="workflow-edge-0"/>
          <p:cNvCxnSpPr/>
          <p:nvPr/>
        </p:nvCxnSpPr>
        <p:spPr>
          <a:xfrm xmlns:a="http://schemas.openxmlformats.org/drawingml/2006/main">
            <a:off x="4000500" y="4943475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23" name="workflow-edge-1"/>
          <p:cNvCxnSpPr/>
          <p:nvPr/>
        </p:nvCxnSpPr>
        <p:spPr>
          <a:xfrm xmlns:a="http://schemas.openxmlformats.org/drawingml/2006/main">
            <a:off x="7353300" y="4943475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8" name="workflow-node-0">
            <a:extLst xmlns:a="http://schemas.openxmlformats.org/drawingml/2006/main">
              <a:ext uri="{FF2B5EF4-FFF2-40B4-BE49-F238E27FC236}">
                <a16:creationId xmlns:a16="http://schemas.microsoft.com/office/drawing/2014/main" id="{03A55B50-E752-47C7-82D7-9E19126C9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95800"/>
            <a:ext cx="30099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9" name="workflow-text-0">
            <a:extLst xmlns:a="http://schemas.openxmlformats.org/drawingml/2006/main">
              <a:ext uri="{FF2B5EF4-FFF2-40B4-BE49-F238E27FC236}">
                <a16:creationId xmlns:a16="http://schemas.microsoft.com/office/drawing/2014/main" id="{915059B1-8269-4A9B-BD4D-6A1DFCBFB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610100"/>
            <a:ext cx="2819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Desktop</a:t>
            </a:r>
          </a:p>
        </p:txBody>
      </p:sp>
      <p:sp>
        <p:nvSpPr>
          <p:cNvPr id="10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FB397074-7B72-4688-9ACD-C2BB97291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495800"/>
            <a:ext cx="30099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1" name="workflow-text-1">
            <a:extLst xmlns:a="http://schemas.openxmlformats.org/drawingml/2006/main">
              <a:ext uri="{FF2B5EF4-FFF2-40B4-BE49-F238E27FC236}">
                <a16:creationId xmlns:a16="http://schemas.microsoft.com/office/drawing/2014/main" id="{0FCEA7EE-D680-4601-9FB8-854E0262E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610100"/>
            <a:ext cx="2819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Clone</a:t>
            </a:r>
          </a:p>
        </p:txBody>
      </p:sp>
      <p:sp>
        <p:nvSpPr>
          <p:cNvPr id="12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9203657B-4250-4B34-A798-E9C6D5638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495800"/>
            <a:ext cx="30099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3" name="workflow-text-2">
            <a:extLst xmlns:a="http://schemas.openxmlformats.org/drawingml/2006/main">
              <a:ext uri="{FF2B5EF4-FFF2-40B4-BE49-F238E27FC236}">
                <a16:creationId xmlns:a16="http://schemas.microsoft.com/office/drawing/2014/main" id="{F94CA92F-26E3-40E0-B5D2-E97A4A0FA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610100"/>
            <a:ext cx="2819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Open</a:t>
            </a:r>
          </a:p>
        </p:txBody>
      </p:sp>
      <p:sp>
        <p:nvSpPr>
          <p:cNvPr id="14" name="rule-48-674">
            <a:extLst xmlns:a="http://schemas.openxmlformats.org/drawingml/2006/main">
              <a:ext uri="{FF2B5EF4-FFF2-40B4-BE49-F238E27FC236}">
                <a16:creationId xmlns:a16="http://schemas.microsoft.com/office/drawing/2014/main" id="{1E8BE25B-2D43-4863-9A5B-280D980E6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4DD72E7E-FC2E-4D08-B4E7-78D2DED81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02</a:t>
            </a:r>
          </a:p>
        </p:txBody>
      </p:sp>
      <p:sp>
        <p:nvSpPr>
          <p:cNvPr id="16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68685BF0-0553-49FE-A686-618D81512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Pre-session · 3</a:t>
            </a:r>
          </a:p>
        </p:txBody>
      </p:sp>
    </p:spTree>
    <p:extLst>
      <p:ext uri="{BB962C8B-B14F-4D97-AF65-F5344CB8AC3E}">
        <p14:creationId xmlns:p14="http://schemas.microsoft.com/office/powerpoint/2010/main" val="14083960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eyebrow">
            <a:extLst xmlns:a="http://schemas.openxmlformats.org/drawingml/2006/main">
              <a:ext uri="{FF2B5EF4-FFF2-40B4-BE49-F238E27FC236}">
                <a16:creationId xmlns:a16="http://schemas.microsoft.com/office/drawing/2014/main" id="{C5E7994F-CE0E-4F25-BDD1-E502E1CFA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GIT · STEP 2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88E672B-73F9-46C0-89A8-D4D97FEEB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Use your group branch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F895A158-0616-4AC5-BF1C-01D2612A4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git-copy-1">
            <a:extLst xmlns:a="http://schemas.openxmlformats.org/drawingml/2006/main">
              <a:ext uri="{FF2B5EF4-FFF2-40B4-BE49-F238E27FC236}">
                <a16:creationId xmlns:a16="http://schemas.microsoft.com/office/drawing/2014/main" id="{D038477E-9262-4EDB-86A4-45FC820ED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52600"/>
            <a:ext cx="5334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XX is your group number. Work never goes directly to main.</a:t>
            </a:r>
          </a:p>
        </p:txBody>
      </p:sp>
      <p:sp>
        <p:nvSpPr>
          <p:cNvPr id="5" name="git-command-1">
            <a:extLst xmlns:a="http://schemas.openxmlformats.org/drawingml/2006/main">
              <a:ext uri="{FF2B5EF4-FFF2-40B4-BE49-F238E27FC236}">
                <a16:creationId xmlns:a16="http://schemas.microsoft.com/office/drawing/2014/main" id="{9F0B3B20-1F56-4F35-B5CB-CC6F9275A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752600"/>
            <a:ext cx="5410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47650" tIns="247650" rIns="247650" bIns="2476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git switch group-XX</a:t>
            </a:r>
          </a:p>
        </p:txBody>
      </p:sp>
      <p:cxnSp>
        <p:nvCxnSpPr>
          <p:cNvPr id="22" name="workflow-edge-0"/>
          <p:cNvCxnSpPr/>
          <p:nvPr/>
        </p:nvCxnSpPr>
        <p:spPr>
          <a:xfrm xmlns:a="http://schemas.openxmlformats.org/drawingml/2006/main">
            <a:off x="4000500" y="4943475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23" name="workflow-edge-1"/>
          <p:cNvCxnSpPr/>
          <p:nvPr/>
        </p:nvCxnSpPr>
        <p:spPr>
          <a:xfrm xmlns:a="http://schemas.openxmlformats.org/drawingml/2006/main">
            <a:off x="7353300" y="4943475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8" name="workflow-node-0">
            <a:extLst xmlns:a="http://schemas.openxmlformats.org/drawingml/2006/main">
              <a:ext uri="{FF2B5EF4-FFF2-40B4-BE49-F238E27FC236}">
                <a16:creationId xmlns:a16="http://schemas.microsoft.com/office/drawing/2014/main" id="{BE47AB0C-DE15-4907-886F-5DAE56C5D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95800"/>
            <a:ext cx="30099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9" name="workflow-text-0">
            <a:extLst xmlns:a="http://schemas.openxmlformats.org/drawingml/2006/main">
              <a:ext uri="{FF2B5EF4-FFF2-40B4-BE49-F238E27FC236}">
                <a16:creationId xmlns:a16="http://schemas.microsoft.com/office/drawing/2014/main" id="{8985C140-3127-4FFF-9760-1C996E5AB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610100"/>
            <a:ext cx="2819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main</a:t>
            </a:r>
          </a:p>
        </p:txBody>
      </p:sp>
      <p:sp>
        <p:nvSpPr>
          <p:cNvPr id="10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759350C1-9ED2-494A-A711-6D535F636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495800"/>
            <a:ext cx="30099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1" name="workflow-text-1">
            <a:extLst xmlns:a="http://schemas.openxmlformats.org/drawingml/2006/main">
              <a:ext uri="{FF2B5EF4-FFF2-40B4-BE49-F238E27FC236}">
                <a16:creationId xmlns:a16="http://schemas.microsoft.com/office/drawing/2014/main" id="{DAC23513-253D-4EC9-84CA-AAE221434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610100"/>
            <a:ext cx="2819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group-XX</a:t>
            </a:r>
          </a:p>
        </p:txBody>
      </p:sp>
      <p:sp>
        <p:nvSpPr>
          <p:cNvPr id="12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4044D669-5741-42FE-A416-016DDC8D9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495800"/>
            <a:ext cx="30099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3" name="workflow-text-2">
            <a:extLst xmlns:a="http://schemas.openxmlformats.org/drawingml/2006/main">
              <a:ext uri="{FF2B5EF4-FFF2-40B4-BE49-F238E27FC236}">
                <a16:creationId xmlns:a16="http://schemas.microsoft.com/office/drawing/2014/main" id="{1F5C93E0-D4A8-4FE7-AFD2-C677224D4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610100"/>
            <a:ext cx="2819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your commit</a:t>
            </a:r>
          </a:p>
        </p:txBody>
      </p:sp>
      <p:sp>
        <p:nvSpPr>
          <p:cNvPr id="14" name="rule-48-674">
            <a:extLst xmlns:a="http://schemas.openxmlformats.org/drawingml/2006/main">
              <a:ext uri="{FF2B5EF4-FFF2-40B4-BE49-F238E27FC236}">
                <a16:creationId xmlns:a16="http://schemas.microsoft.com/office/drawing/2014/main" id="{9D282EC1-BE6B-4628-A444-64A7E646F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ECD55704-5991-4CAB-8AFE-5B66DB423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02</a:t>
            </a:r>
          </a:p>
        </p:txBody>
      </p:sp>
      <p:sp>
        <p:nvSpPr>
          <p:cNvPr id="16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656DB2A5-3401-4668-A967-6FF7B71BF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Pre-session · 4</a:t>
            </a:r>
          </a:p>
        </p:txBody>
      </p:sp>
    </p:spTree>
    <p:extLst>
      <p:ext uri="{BB962C8B-B14F-4D97-AF65-F5344CB8AC3E}">
        <p14:creationId xmlns:p14="http://schemas.microsoft.com/office/powerpoint/2010/main" val="137923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eyebrow">
            <a:extLst xmlns:a="http://schemas.openxmlformats.org/drawingml/2006/main">
              <a:ext uri="{FF2B5EF4-FFF2-40B4-BE49-F238E27FC236}">
                <a16:creationId xmlns:a16="http://schemas.microsoft.com/office/drawing/2014/main" id="{9B170BE0-ABF2-474F-8B9E-161916360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GIT · STEP 3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7C978F1-5104-488B-90E4-6CA367AAC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Commit a meaningful unit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2C5A76B6-84EC-470E-8768-45F8A469B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git-copy-2">
            <a:extLst xmlns:a="http://schemas.openxmlformats.org/drawingml/2006/main">
              <a:ext uri="{FF2B5EF4-FFF2-40B4-BE49-F238E27FC236}">
                <a16:creationId xmlns:a16="http://schemas.microsoft.com/office/drawing/2014/main" id="{B46858EA-2CC4-4C9F-9445-5658837D1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52600"/>
            <a:ext cx="5334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 commit records one coherent change and the person who made it.</a:t>
            </a:r>
          </a:p>
        </p:txBody>
      </p:sp>
      <p:sp>
        <p:nvSpPr>
          <p:cNvPr id="5" name="git-command-2">
            <a:extLst xmlns:a="http://schemas.openxmlformats.org/drawingml/2006/main">
              <a:ext uri="{FF2B5EF4-FFF2-40B4-BE49-F238E27FC236}">
                <a16:creationId xmlns:a16="http://schemas.microsoft.com/office/drawing/2014/main" id="{28860A55-3E8D-400D-BEA5-FADF23DDB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752600"/>
            <a:ext cx="5410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47650" tIns="247650" rIns="247650" bIns="2476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git add -A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git commit -m "explain the change"</a:t>
            </a:r>
          </a:p>
        </p:txBody>
      </p:sp>
      <p:cxnSp>
        <p:nvCxnSpPr>
          <p:cNvPr id="22" name="workflow-edge-0"/>
          <p:cNvCxnSpPr/>
          <p:nvPr/>
        </p:nvCxnSpPr>
        <p:spPr>
          <a:xfrm xmlns:a="http://schemas.openxmlformats.org/drawingml/2006/main">
            <a:off x="4000500" y="4943475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23" name="workflow-edge-1"/>
          <p:cNvCxnSpPr/>
          <p:nvPr/>
        </p:nvCxnSpPr>
        <p:spPr>
          <a:xfrm xmlns:a="http://schemas.openxmlformats.org/drawingml/2006/main">
            <a:off x="7353300" y="4943475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8" name="workflow-node-0">
            <a:extLst xmlns:a="http://schemas.openxmlformats.org/drawingml/2006/main">
              <a:ext uri="{FF2B5EF4-FFF2-40B4-BE49-F238E27FC236}">
                <a16:creationId xmlns:a16="http://schemas.microsoft.com/office/drawing/2014/main" id="{CD566A56-C179-4705-8919-CD3219385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95800"/>
            <a:ext cx="30099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9" name="workflow-text-0">
            <a:extLst xmlns:a="http://schemas.openxmlformats.org/drawingml/2006/main">
              <a:ext uri="{FF2B5EF4-FFF2-40B4-BE49-F238E27FC236}">
                <a16:creationId xmlns:a16="http://schemas.microsoft.com/office/drawing/2014/main" id="{3C9F558B-BC0B-472E-A221-A602C7BFE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610100"/>
            <a:ext cx="2819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Edit</a:t>
            </a:r>
          </a:p>
        </p:txBody>
      </p:sp>
      <p:sp>
        <p:nvSpPr>
          <p:cNvPr id="10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31F76A21-3CA7-4234-82B6-AD34CFD9C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495800"/>
            <a:ext cx="30099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1" name="workflow-text-1">
            <a:extLst xmlns:a="http://schemas.openxmlformats.org/drawingml/2006/main">
              <a:ext uri="{FF2B5EF4-FFF2-40B4-BE49-F238E27FC236}">
                <a16:creationId xmlns:a16="http://schemas.microsoft.com/office/drawing/2014/main" id="{F61567F3-55F2-4599-B1D9-07460BD1E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610100"/>
            <a:ext cx="2819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Stage</a:t>
            </a:r>
          </a:p>
        </p:txBody>
      </p:sp>
      <p:sp>
        <p:nvSpPr>
          <p:cNvPr id="12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D9A5C0D2-47D6-4C2C-88D2-8C2C4C11D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495800"/>
            <a:ext cx="30099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3" name="workflow-text-2">
            <a:extLst xmlns:a="http://schemas.openxmlformats.org/drawingml/2006/main">
              <a:ext uri="{FF2B5EF4-FFF2-40B4-BE49-F238E27FC236}">
                <a16:creationId xmlns:a16="http://schemas.microsoft.com/office/drawing/2014/main" id="{7CC8F880-D470-4B84-A37F-F4774EE83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610100"/>
            <a:ext cx="2819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Commit</a:t>
            </a:r>
          </a:p>
        </p:txBody>
      </p:sp>
      <p:sp>
        <p:nvSpPr>
          <p:cNvPr id="14" name="rule-48-674">
            <a:extLst xmlns:a="http://schemas.openxmlformats.org/drawingml/2006/main">
              <a:ext uri="{FF2B5EF4-FFF2-40B4-BE49-F238E27FC236}">
                <a16:creationId xmlns:a16="http://schemas.microsoft.com/office/drawing/2014/main" id="{73FB8D40-49EE-4A52-A2D9-359B136CD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20B31544-F6FD-4BB9-9C92-B97BD3252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02</a:t>
            </a:r>
          </a:p>
        </p:txBody>
      </p:sp>
      <p:sp>
        <p:nvSpPr>
          <p:cNvPr id="16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AD88E12B-2DDF-4976-9B17-F175A0A89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Pre-session · 5</a:t>
            </a:r>
          </a:p>
        </p:txBody>
      </p:sp>
    </p:spTree>
    <p:extLst>
      <p:ext uri="{BB962C8B-B14F-4D97-AF65-F5344CB8AC3E}">
        <p14:creationId xmlns:p14="http://schemas.microsoft.com/office/powerpoint/2010/main" val="53928214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eyebrow">
            <a:extLst xmlns:a="http://schemas.openxmlformats.org/drawingml/2006/main">
              <a:ext uri="{FF2B5EF4-FFF2-40B4-BE49-F238E27FC236}">
                <a16:creationId xmlns:a16="http://schemas.microsoft.com/office/drawing/2014/main" id="{11A694C9-D5FE-421A-9826-4927723FB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GIT · STEP 4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B6FB971-8276-440C-AF1C-5B2327399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Share and synchronise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3E29A37E-E315-4A4C-92A9-2AFFF12E7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git-copy-3">
            <a:extLst xmlns:a="http://schemas.openxmlformats.org/drawingml/2006/main">
              <a:ext uri="{FF2B5EF4-FFF2-40B4-BE49-F238E27FC236}">
                <a16:creationId xmlns:a16="http://schemas.microsoft.com/office/drawing/2014/main" id="{FC91E314-21CE-4CFD-8EE2-24220FD1A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52600"/>
            <a:ext cx="5334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Pull before editing shared lines; push before leaving the room.</a:t>
            </a:r>
          </a:p>
        </p:txBody>
      </p:sp>
      <p:sp>
        <p:nvSpPr>
          <p:cNvPr id="5" name="git-command-3">
            <a:extLst xmlns:a="http://schemas.openxmlformats.org/drawingml/2006/main">
              <a:ext uri="{FF2B5EF4-FFF2-40B4-BE49-F238E27FC236}">
                <a16:creationId xmlns:a16="http://schemas.microsoft.com/office/drawing/2014/main" id="{ABA7AD00-3927-47A2-80A6-6283272BE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752600"/>
            <a:ext cx="5410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47650" tIns="247650" rIns="247650" bIns="2476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git pull --rebase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git push</a:t>
            </a:r>
          </a:p>
        </p:txBody>
      </p:sp>
      <p:cxnSp>
        <p:nvCxnSpPr>
          <p:cNvPr id="22" name="workflow-edge-0"/>
          <p:cNvCxnSpPr/>
          <p:nvPr/>
        </p:nvCxnSpPr>
        <p:spPr>
          <a:xfrm xmlns:a="http://schemas.openxmlformats.org/drawingml/2006/main">
            <a:off x="4000500" y="4943475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23" name="workflow-edge-1"/>
          <p:cNvCxnSpPr/>
          <p:nvPr/>
        </p:nvCxnSpPr>
        <p:spPr>
          <a:xfrm xmlns:a="http://schemas.openxmlformats.org/drawingml/2006/main">
            <a:off x="7353300" y="4943475"/>
            <a:ext cx="3429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8" name="workflow-node-0">
            <a:extLst xmlns:a="http://schemas.openxmlformats.org/drawingml/2006/main">
              <a:ext uri="{FF2B5EF4-FFF2-40B4-BE49-F238E27FC236}">
                <a16:creationId xmlns:a16="http://schemas.microsoft.com/office/drawing/2014/main" id="{399B18C6-1A5A-44CA-B329-F77990486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95800"/>
            <a:ext cx="30099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9" name="workflow-text-0">
            <a:extLst xmlns:a="http://schemas.openxmlformats.org/drawingml/2006/main">
              <a:ext uri="{FF2B5EF4-FFF2-40B4-BE49-F238E27FC236}">
                <a16:creationId xmlns:a16="http://schemas.microsoft.com/office/drawing/2014/main" id="{B0F2796E-4D03-48AF-8789-4A51D8879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610100"/>
            <a:ext cx="2819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Pull</a:t>
            </a:r>
          </a:p>
        </p:txBody>
      </p:sp>
      <p:sp>
        <p:nvSpPr>
          <p:cNvPr id="10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6725F61A-69B3-46C9-A611-8F60379D2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495800"/>
            <a:ext cx="30099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1" name="workflow-text-1">
            <a:extLst xmlns:a="http://schemas.openxmlformats.org/drawingml/2006/main">
              <a:ext uri="{FF2B5EF4-FFF2-40B4-BE49-F238E27FC236}">
                <a16:creationId xmlns:a16="http://schemas.microsoft.com/office/drawing/2014/main" id="{13D51D4D-A95A-4F78-8DDC-9180DB46B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610100"/>
            <a:ext cx="2819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Resolve</a:t>
            </a:r>
          </a:p>
        </p:txBody>
      </p:sp>
      <p:sp>
        <p:nvSpPr>
          <p:cNvPr id="12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F32CF87C-6868-4E84-AFC9-036FBFCB8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495800"/>
            <a:ext cx="30099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3" name="workflow-text-2">
            <a:extLst xmlns:a="http://schemas.openxmlformats.org/drawingml/2006/main">
              <a:ext uri="{FF2B5EF4-FFF2-40B4-BE49-F238E27FC236}">
                <a16:creationId xmlns:a16="http://schemas.microsoft.com/office/drawing/2014/main" id="{41E960D2-199D-4588-B7DD-A8BAA60CB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610100"/>
            <a:ext cx="2819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Push</a:t>
            </a:r>
          </a:p>
        </p:txBody>
      </p:sp>
      <p:sp>
        <p:nvSpPr>
          <p:cNvPr id="14" name="rule-48-674">
            <a:extLst xmlns:a="http://schemas.openxmlformats.org/drawingml/2006/main">
              <a:ext uri="{FF2B5EF4-FFF2-40B4-BE49-F238E27FC236}">
                <a16:creationId xmlns:a16="http://schemas.microsoft.com/office/drawing/2014/main" id="{F72CDD77-FE8F-4AD2-A642-DA8D5CAC6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DCE61CDB-0DB4-4A7B-AE9D-A5B78C29D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02</a:t>
            </a:r>
          </a:p>
        </p:txBody>
      </p:sp>
      <p:sp>
        <p:nvSpPr>
          <p:cNvPr id="16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1104E274-8992-4868-92B3-A8375350B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Pre-session · 6</a:t>
            </a:r>
          </a:p>
        </p:txBody>
      </p:sp>
    </p:spTree>
    <p:extLst>
      <p:ext uri="{BB962C8B-B14F-4D97-AF65-F5344CB8AC3E}">
        <p14:creationId xmlns:p14="http://schemas.microsoft.com/office/powerpoint/2010/main" val="61788749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onflict-kicker">
            <a:extLst xmlns:a="http://schemas.openxmlformats.org/drawingml/2006/main">
              <a:ext uri="{FF2B5EF4-FFF2-40B4-BE49-F238E27FC236}">
                <a16:creationId xmlns:a16="http://schemas.microsoft.com/office/drawing/2014/main" id="{CFC2B50A-6EC8-414F-82B0-464864E9B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GIT · CONFLICTS</a:t>
            </a:r>
          </a:p>
        </p:txBody>
      </p:sp>
      <p:sp>
        <p:nvSpPr>
          <p:cNvPr id="2" name="conflict-title">
            <a:extLst xmlns:a="http://schemas.openxmlformats.org/drawingml/2006/main">
              <a:ext uri="{FF2B5EF4-FFF2-40B4-BE49-F238E27FC236}">
                <a16:creationId xmlns:a16="http://schemas.microsoft.com/office/drawing/2014/main" id="{16022A35-6B6D-4AAE-812B-4827168FD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1009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4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 conflict is a request for a human decision.</a:t>
            </a:r>
          </a:p>
        </p:txBody>
      </p:sp>
      <p:sp>
        <p:nvSpPr>
          <p:cNvPr id="3" name="conflict-copy">
            <a:extLst xmlns:a="http://schemas.openxmlformats.org/drawingml/2006/main">
              <a:ext uri="{FF2B5EF4-FFF2-40B4-BE49-F238E27FC236}">
                <a16:creationId xmlns:a16="http://schemas.microsoft.com/office/drawing/2014/main" id="{FAFE6AF6-1D6B-4D05-BF79-26F23358D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19400"/>
            <a:ext cx="10096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DDF2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DDF2FC"/>
                </a:solidFill>
                <a:latin typeface="Helvetica Neue"/>
                <a:ea typeface="Helvetica Neue"/>
                <a:cs typeface="Helvetica Neue"/>
              </a:rPr>
              <a:t>Read both versions. Keep the intended content. Delete the conflict markers. Run the file. Commit the resolution.</a:t>
            </a:r>
          </a:p>
        </p:txBody>
      </p:sp>
      <p:sp>
        <p:nvSpPr>
          <p:cNvPr id="4" name="conflict-avoid">
            <a:extLst xmlns:a="http://schemas.openxmlformats.org/drawingml/2006/main">
              <a:ext uri="{FF2B5EF4-FFF2-40B4-BE49-F238E27FC236}">
                <a16:creationId xmlns:a16="http://schemas.microsoft.com/office/drawing/2014/main" id="{1DC25D45-A63B-4553-9BE5-6C1AFF097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Never choose ‘ours’ or ‘theirs’ without reading the lines.</a:t>
            </a:r>
          </a:p>
        </p:txBody>
      </p:sp>
      <p:sp>
        <p:nvSpPr>
          <p:cNvPr id="5" name="rule-48-674">
            <a:extLst xmlns:a="http://schemas.openxmlformats.org/drawingml/2006/main">
              <a:ext uri="{FF2B5EF4-FFF2-40B4-BE49-F238E27FC236}">
                <a16:creationId xmlns:a16="http://schemas.microsoft.com/office/drawing/2014/main" id="{2B7AF579-9AC3-44C7-9F5A-2B74C4D6D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55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-left">
            <a:extLst xmlns:a="http://schemas.openxmlformats.org/drawingml/2006/main">
              <a:ext uri="{FF2B5EF4-FFF2-40B4-BE49-F238E27FC236}">
                <a16:creationId xmlns:a16="http://schemas.microsoft.com/office/drawing/2014/main" id="{5A823185-B12B-4C6C-B0C6-E4CCA3929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rPr>
              <a:t>MATH60033A · Thierry Warin · Session 02</a:t>
            </a:r>
          </a:p>
        </p:txBody>
      </p:sp>
      <p:sp>
        <p:nvSpPr>
          <p:cNvPr id="7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ADDCD779-C3A9-4FCF-A79D-8573826D2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rPr>
              <a:t>Pre-session · 7</a:t>
            </a:r>
          </a:p>
        </p:txBody>
      </p:sp>
    </p:spTree>
    <p:extLst>
      <p:ext uri="{BB962C8B-B14F-4D97-AF65-F5344CB8AC3E}">
        <p14:creationId xmlns:p14="http://schemas.microsoft.com/office/powerpoint/2010/main" val="153815315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9BD112DA-C19F-48C6-8E8C-9E7B6644F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PRE-SESSION · READING GUIDE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2BFA41F-F666-4A7B-A3FE-9DD7CFBE6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Read for the argument, not for coverage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DAE3E7AF-AFA4-40DD-A4C1-9844E32B1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re-reading-status-0">
            <a:extLst xmlns:a="http://schemas.openxmlformats.org/drawingml/2006/main">
              <a:ext uri="{FF2B5EF4-FFF2-40B4-BE49-F238E27FC236}">
                <a16:creationId xmlns:a16="http://schemas.microsoft.com/office/drawing/2014/main" id="{F36CE6BB-9123-4E2E-B79E-51592FA6C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8590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REQUIRED ARTICLE</a:t>
            </a:r>
          </a:p>
        </p:txBody>
      </p:sp>
      <p:sp>
        <p:nvSpPr>
          <p:cNvPr id="5" name="pre-reading-0">
            <a:extLst xmlns:a="http://schemas.openxmlformats.org/drawingml/2006/main">
              <a:ext uri="{FF2B5EF4-FFF2-40B4-BE49-F238E27FC236}">
                <a16:creationId xmlns:a16="http://schemas.microsoft.com/office/drawing/2014/main" id="{C156A8C4-0235-4FC8-B7DE-4A59E12E4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954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Topalova &amp; Khandelwal (2011) — Trade Liberalization and Firm Productivity</a:t>
            </a:r>
          </a:p>
        </p:txBody>
      </p:sp>
      <p:sp>
        <p:nvSpPr>
          <p:cNvPr id="6" name="pre-reading-why-0">
            <a:extLst xmlns:a="http://schemas.openxmlformats.org/drawingml/2006/main">
              <a:ext uri="{FF2B5EF4-FFF2-40B4-BE49-F238E27FC236}">
                <a16:creationId xmlns:a16="http://schemas.microsoft.com/office/drawing/2014/main" id="{9B34D85E-B476-4B60-A454-83FDE5C87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336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Required article: the empirical result reproduced in practice</a:t>
            </a:r>
          </a:p>
        </p:txBody>
      </p:sp>
      <p:sp>
        <p:nvSpPr>
          <p:cNvPr id="7" name="pre-reading-url-0">
            <a:extLst xmlns:a="http://schemas.openxmlformats.org/drawingml/2006/main">
              <a:ext uri="{FF2B5EF4-FFF2-40B4-BE49-F238E27FC236}">
                <a16:creationId xmlns:a16="http://schemas.microsoft.com/office/drawing/2014/main" id="{3BBDA615-EDEE-41AC-AC9B-F6A1815FF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0035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https://doi.org/10.1162/REST_a_00095</a:t>
            </a:r>
          </a:p>
        </p:txBody>
      </p:sp>
      <p:sp>
        <p:nvSpPr>
          <p:cNvPr id="8" name="pre-reading-status-1">
            <a:extLst xmlns:a="http://schemas.openxmlformats.org/drawingml/2006/main">
              <a:ext uri="{FF2B5EF4-FFF2-40B4-BE49-F238E27FC236}">
                <a16:creationId xmlns:a16="http://schemas.microsoft.com/office/drawing/2014/main" id="{6C14410F-A67B-4E83-98B7-14D75066D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3370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DATAVERSE PACKAGE</a:t>
            </a:r>
          </a:p>
        </p:txBody>
      </p:sp>
      <p:sp>
        <p:nvSpPr>
          <p:cNvPr id="9" name="pre-reading-1">
            <a:extLst xmlns:a="http://schemas.openxmlformats.org/drawingml/2006/main">
              <a:ext uri="{FF2B5EF4-FFF2-40B4-BE49-F238E27FC236}">
                <a16:creationId xmlns:a16="http://schemas.microsoft.com/office/drawing/2014/main" id="{58552479-54D8-4805-A80D-3C9EEF54B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432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Harvard Dataverse 10.7910/DVN/8WEXYD</a:t>
            </a:r>
          </a:p>
        </p:txBody>
      </p:sp>
      <p:sp>
        <p:nvSpPr>
          <p:cNvPr id="10" name="pre-reading-why-1">
            <a:extLst xmlns:a="http://schemas.openxmlformats.org/drawingml/2006/main">
              <a:ext uri="{FF2B5EF4-FFF2-40B4-BE49-F238E27FC236}">
                <a16:creationId xmlns:a16="http://schemas.microsoft.com/office/drawing/2014/main" id="{6208AA11-2ACF-455E-871C-A8170DB50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814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Required replication package: firm-year data and authors' files</a:t>
            </a:r>
          </a:p>
        </p:txBody>
      </p:sp>
      <p:sp>
        <p:nvSpPr>
          <p:cNvPr id="11" name="pre-reading-url-1">
            <a:extLst xmlns:a="http://schemas.openxmlformats.org/drawingml/2006/main">
              <a:ext uri="{FF2B5EF4-FFF2-40B4-BE49-F238E27FC236}">
                <a16:creationId xmlns:a16="http://schemas.microsoft.com/office/drawing/2014/main" id="{25AE82B8-9DDD-45CD-A2A3-CB4455403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4815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https://doi.org/10.7910/DVN/8WEXYD</a:t>
            </a:r>
          </a:p>
        </p:txBody>
      </p:sp>
      <p:sp>
        <p:nvSpPr>
          <p:cNvPr id="12" name="pre-reading-status-2">
            <a:extLst xmlns:a="http://schemas.openxmlformats.org/drawingml/2006/main">
              <a:ext uri="{FF2B5EF4-FFF2-40B4-BE49-F238E27FC236}">
                <a16:creationId xmlns:a16="http://schemas.microsoft.com/office/drawing/2014/main" id="{6EDFB3C5-5DED-4462-A505-98C7A8FEC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8150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OPTIONAL · ISLR</a:t>
            </a:r>
          </a:p>
        </p:txBody>
      </p:sp>
      <p:sp>
        <p:nvSpPr>
          <p:cNvPr id="13" name="pre-reading-2">
            <a:extLst xmlns:a="http://schemas.openxmlformats.org/drawingml/2006/main">
              <a:ext uri="{FF2B5EF4-FFF2-40B4-BE49-F238E27FC236}">
                <a16:creationId xmlns:a16="http://schemas.microsoft.com/office/drawing/2014/main" id="{80C8BB23-A5E4-454D-A201-15FC9F1FA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910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ISLR 3.1–3.2</a:t>
            </a:r>
          </a:p>
        </p:txBody>
      </p:sp>
      <p:sp>
        <p:nvSpPr>
          <p:cNvPr id="14" name="pre-reading-why-2">
            <a:extLst xmlns:a="http://schemas.openxmlformats.org/drawingml/2006/main">
              <a:ext uri="{FF2B5EF4-FFF2-40B4-BE49-F238E27FC236}">
                <a16:creationId xmlns:a16="http://schemas.microsoft.com/office/drawing/2014/main" id="{4AE7AA5E-885C-4B3B-AA70-2862B10A0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292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Optional explanation of multiple regression</a:t>
            </a:r>
          </a:p>
        </p:txBody>
      </p:sp>
      <p:sp>
        <p:nvSpPr>
          <p:cNvPr id="15" name="pre-reading-url-2">
            <a:extLst xmlns:a="http://schemas.openxmlformats.org/drawingml/2006/main">
              <a:ext uri="{FF2B5EF4-FFF2-40B4-BE49-F238E27FC236}">
                <a16:creationId xmlns:a16="http://schemas.microsoft.com/office/drawing/2014/main" id="{1FA56AF9-632A-4051-803C-7DE09E3A3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9595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https://www.statlearning.com/</a:t>
            </a:r>
          </a:p>
        </p:txBody>
      </p:sp>
      <p:sp>
        <p:nvSpPr>
          <p:cNvPr id="16" name="rule-48-674">
            <a:extLst xmlns:a="http://schemas.openxmlformats.org/drawingml/2006/main">
              <a:ext uri="{FF2B5EF4-FFF2-40B4-BE49-F238E27FC236}">
                <a16:creationId xmlns:a16="http://schemas.microsoft.com/office/drawing/2014/main" id="{C1AAFD88-9F80-4613-B404-0C349D947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106BB1F6-CC48-417F-97B9-5E0E90636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02</a:t>
            </a:r>
          </a:p>
        </p:txBody>
      </p:sp>
      <p:sp>
        <p:nvSpPr>
          <p:cNvPr id="18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06B06C49-5A14-4DE7-92D2-316628D6E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Pre-session · 8</a:t>
            </a:r>
          </a:p>
        </p:txBody>
      </p:sp>
    </p:spTree>
    <p:extLst>
      <p:ext uri="{BB962C8B-B14F-4D97-AF65-F5344CB8AC3E}">
        <p14:creationId xmlns:p14="http://schemas.microsoft.com/office/powerpoint/2010/main" val="19607626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">
            <a:extLst xmlns:a="http://schemas.openxmlformats.org/drawingml/2006/main">
              <a:ext uri="{FF2B5EF4-FFF2-40B4-BE49-F238E27FC236}">
                <a16:creationId xmlns:a16="http://schemas.microsoft.com/office/drawing/2014/main" id="{D9B54374-B60F-4C19-94B3-92EDE94C0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PRE-SESSION · REPLICATION PACKAGE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B4EE621-DC99-4549-AB77-9CA32CB46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Download the data before class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E69DC284-E76E-410E-9DED-063AC1131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ata-doi-label">
            <a:extLst xmlns:a="http://schemas.openxmlformats.org/drawingml/2006/main">
              <a:ext uri="{FF2B5EF4-FFF2-40B4-BE49-F238E27FC236}">
                <a16:creationId xmlns:a16="http://schemas.microsoft.com/office/drawing/2014/main" id="{0D0DA548-3F37-4B36-BEE0-CEA7CE883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954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HARVARD DATAVERSE</a:t>
            </a:r>
          </a:p>
        </p:txBody>
      </p:sp>
      <p:sp>
        <p:nvSpPr>
          <p:cNvPr id="5" name="data-doi">
            <a:extLst xmlns:a="http://schemas.openxmlformats.org/drawingml/2006/main">
              <a:ext uri="{FF2B5EF4-FFF2-40B4-BE49-F238E27FC236}">
                <a16:creationId xmlns:a16="http://schemas.microsoft.com/office/drawing/2014/main" id="{76752986-1BE1-479B-B6A5-5173C26AB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57400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2563EB"/>
                </a:solidFill>
                <a:latin typeface="Menlo"/>
                <a:ea typeface="Menlo"/>
                <a:cs typeface="Menlo"/>
              </a:defRPr>
            </a:pPr>
            <a:r>
              <a:rPr sz="2700" b="1">
                <a:solidFill>
                  <a:srgbClr val="2563EB"/>
                </a:solidFill>
                <a:latin typeface="Menlo"/>
                <a:ea typeface="Menlo"/>
                <a:cs typeface="Menlo"/>
              </a:rPr>
              <a:t>10.7910/DVN/8WEXYD</a:t>
            </a:r>
          </a:p>
        </p:txBody>
      </p:sp>
      <p:sp>
        <p:nvSpPr>
          <p:cNvPr id="6" name="data-copy">
            <a:extLst xmlns:a="http://schemas.openxmlformats.org/drawingml/2006/main">
              <a:ext uri="{FF2B5EF4-FFF2-40B4-BE49-F238E27FC236}">
                <a16:creationId xmlns:a16="http://schemas.microsoft.com/office/drawing/2014/main" id="{E6B2F978-AAE2-4247-9B76-9362F5173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00350"/>
            <a:ext cx="619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Download the package before class and keep the authors' files in the Session 02 data folder.</a:t>
            </a:r>
          </a:p>
        </p:txBody>
      </p:sp>
      <p:sp>
        <p:nvSpPr>
          <p:cNvPr id="7" name="data-path-label">
            <a:extLst xmlns:a="http://schemas.openxmlformats.org/drawingml/2006/main">
              <a:ext uri="{FF2B5EF4-FFF2-40B4-BE49-F238E27FC236}">
                <a16:creationId xmlns:a16="http://schemas.microsoft.com/office/drawing/2014/main" id="{C3E87BD5-6F3E-4642-B7F1-5D42F92B1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005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EXTRACT TO</a:t>
            </a:r>
          </a:p>
        </p:txBody>
      </p:sp>
      <p:sp>
        <p:nvSpPr>
          <p:cNvPr id="8" name="data-path">
            <a:extLst xmlns:a="http://schemas.openxmlformats.org/drawingml/2006/main">
              <a:ext uri="{FF2B5EF4-FFF2-40B4-BE49-F238E27FC236}">
                <a16:creationId xmlns:a16="http://schemas.microsoft.com/office/drawing/2014/main" id="{EFE8B287-F2C7-4912-B9A0-31BAB8E67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11827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111827"/>
                </a:solidFill>
                <a:latin typeface="Menlo"/>
                <a:ea typeface="Menlo"/>
                <a:cs typeface="Menlo"/>
              </a:rPr>
              <a:t>Desktop/quantitative-methods/02-geometry-of-least-squares/data/replication/</a:t>
            </a:r>
          </a:p>
        </p:txBody>
      </p:sp>
      <p:cxnSp>
        <p:nvCxnSpPr>
          <p:cNvPr id="28" name="workflow-edge-0"/>
          <p:cNvCxnSpPr/>
          <p:nvPr/>
        </p:nvCxnSpPr>
        <p:spPr>
          <a:xfrm xmlns:a="http://schemas.openxmlformats.org/drawingml/2006/main">
            <a:off x="8489950" y="3571875"/>
            <a:ext cx="17145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29" name="workflow-edge-1"/>
          <p:cNvCxnSpPr/>
          <p:nvPr/>
        </p:nvCxnSpPr>
        <p:spPr>
          <a:xfrm xmlns:a="http://schemas.openxmlformats.org/drawingml/2006/main">
            <a:off x="9912350" y="3571875"/>
            <a:ext cx="17145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11" name="workflow-node-0">
            <a:extLst xmlns:a="http://schemas.openxmlformats.org/drawingml/2006/main">
              <a:ext uri="{FF2B5EF4-FFF2-40B4-BE49-F238E27FC236}">
                <a16:creationId xmlns:a16="http://schemas.microsoft.com/office/drawing/2014/main" id="{938D138F-994F-4988-B17C-383955364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81200"/>
            <a:ext cx="1250950" cy="3181350"/>
          </a:xfrm>
          <a:prstGeom xmlns:a="http://schemas.openxmlformats.org/drawingml/2006/main" prst="roundRect">
            <a:avLst>
              <a:gd name="adj" fmla="val 6091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2" name="workflow-text-0">
            <a:extLst xmlns:a="http://schemas.openxmlformats.org/drawingml/2006/main">
              <a:ext uri="{FF2B5EF4-FFF2-40B4-BE49-F238E27FC236}">
                <a16:creationId xmlns:a16="http://schemas.microsoft.com/office/drawing/2014/main" id="{563ECBDD-9F59-42CA-A829-EED7543F2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95500"/>
            <a:ext cx="10604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Download</a:t>
            </a:r>
          </a:p>
        </p:txBody>
      </p:sp>
      <p:sp>
        <p:nvSpPr>
          <p:cNvPr id="13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6B6BD66D-40E5-4FBD-83DF-0F77512EB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1400" y="1981200"/>
            <a:ext cx="1250950" cy="3181350"/>
          </a:xfrm>
          <a:prstGeom xmlns:a="http://schemas.openxmlformats.org/drawingml/2006/main" prst="roundRect">
            <a:avLst>
              <a:gd name="adj" fmla="val 6091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4" name="workflow-text-1">
            <a:extLst xmlns:a="http://schemas.openxmlformats.org/drawingml/2006/main">
              <a:ext uri="{FF2B5EF4-FFF2-40B4-BE49-F238E27FC236}">
                <a16:creationId xmlns:a16="http://schemas.microsoft.com/office/drawing/2014/main" id="{58E4B300-A02A-40E6-BC6F-E28C2F1D3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6650" y="2095500"/>
            <a:ext cx="10604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Extract</a:t>
            </a:r>
          </a:p>
        </p:txBody>
      </p:sp>
      <p:sp>
        <p:nvSpPr>
          <p:cNvPr id="15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1EA0301F-D47E-48CE-8170-F90C3F26D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3800" y="1981200"/>
            <a:ext cx="1250950" cy="3181350"/>
          </a:xfrm>
          <a:prstGeom xmlns:a="http://schemas.openxmlformats.org/drawingml/2006/main" prst="roundRect">
            <a:avLst>
              <a:gd name="adj" fmla="val 6091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6" name="workflow-text-2">
            <a:extLst xmlns:a="http://schemas.openxmlformats.org/drawingml/2006/main">
              <a:ext uri="{FF2B5EF4-FFF2-40B4-BE49-F238E27FC236}">
                <a16:creationId xmlns:a16="http://schemas.microsoft.com/office/drawing/2014/main" id="{BF831150-9DD4-4338-9ECA-E335D1212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9050" y="2095500"/>
            <a:ext cx="10604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Open locally</a:t>
            </a:r>
          </a:p>
        </p:txBody>
      </p:sp>
      <p:sp>
        <p:nvSpPr>
          <p:cNvPr id="17" name="rule-48-674">
            <a:extLst xmlns:a="http://schemas.openxmlformats.org/drawingml/2006/main">
              <a:ext uri="{FF2B5EF4-FFF2-40B4-BE49-F238E27FC236}">
                <a16:creationId xmlns:a16="http://schemas.microsoft.com/office/drawing/2014/main" id="{65858323-5D82-4A45-B92E-020C2C55C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C6E52C91-E220-4CA0-B37C-33A24E77F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02</a:t>
            </a:r>
          </a:p>
        </p:txBody>
      </p:sp>
      <p:sp>
        <p:nvSpPr>
          <p:cNvPr id="19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1C016598-7A62-4760-870B-E592A8D08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Pre-session · 9</a:t>
            </a:r>
          </a:p>
        </p:txBody>
      </p:sp>
    </p:spTree>
    <p:extLst>
      <p:ext uri="{BB962C8B-B14F-4D97-AF65-F5344CB8AC3E}">
        <p14:creationId xmlns:p14="http://schemas.microsoft.com/office/powerpoint/2010/main" val="40550721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B44640CF-C04D-4FE1-8BAF-A1BB7586D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PRE-SESSION · SELF-CHECK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89FD442-EFE8-4D4E-9919-C1FF4C8EB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Answer on paper before class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30C6229C-0726-4ABF-9C8B-C308ACA49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question-num-0">
            <a:extLst xmlns:a="http://schemas.openxmlformats.org/drawingml/2006/main">
              <a:ext uri="{FF2B5EF4-FFF2-40B4-BE49-F238E27FC236}">
                <a16:creationId xmlns:a16="http://schemas.microsoft.com/office/drawing/2014/main" id="{7A974A87-B691-4DF4-B7A0-C3BCBA101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3355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" name="question-0">
            <a:extLst xmlns:a="http://schemas.openxmlformats.org/drawingml/2006/main">
              <a:ext uri="{FF2B5EF4-FFF2-40B4-BE49-F238E27FC236}">
                <a16:creationId xmlns:a16="http://schemas.microsoft.com/office/drawing/2014/main" id="{D94B2606-D553-41B1-B74B-37E72C657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714500"/>
            <a:ext cx="981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Why is H idempotent?</a:t>
            </a:r>
          </a:p>
        </p:txBody>
      </p:sp>
      <p:sp>
        <p:nvSpPr>
          <p:cNvPr id="6" name="rule-138-274">
            <a:extLst xmlns:a="http://schemas.openxmlformats.org/drawingml/2006/main">
              <a:ext uri="{FF2B5EF4-FFF2-40B4-BE49-F238E27FC236}">
                <a16:creationId xmlns:a16="http://schemas.microsoft.com/office/drawing/2014/main" id="{49FD279D-3468-471E-9EF2-B93D39139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098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question-num-1">
            <a:extLst xmlns:a="http://schemas.openxmlformats.org/drawingml/2006/main">
              <a:ext uri="{FF2B5EF4-FFF2-40B4-BE49-F238E27FC236}">
                <a16:creationId xmlns:a16="http://schemas.microsoft.com/office/drawing/2014/main" id="{76DBA49E-5B7B-4836-9960-A8058364D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9085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8" name="question-1">
            <a:extLst xmlns:a="http://schemas.openxmlformats.org/drawingml/2006/main">
              <a:ext uri="{FF2B5EF4-FFF2-40B4-BE49-F238E27FC236}">
                <a16:creationId xmlns:a16="http://schemas.microsoft.com/office/drawing/2014/main" id="{71C3E07E-6C6C-4396-843F-D825E5249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71800"/>
            <a:ext cx="981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Why does adding a column never lower R²?</a:t>
            </a:r>
          </a:p>
        </p:txBody>
      </p:sp>
      <p:sp>
        <p:nvSpPr>
          <p:cNvPr id="9" name="rule-138-406">
            <a:extLst xmlns:a="http://schemas.openxmlformats.org/drawingml/2006/main">
              <a:ext uri="{FF2B5EF4-FFF2-40B4-BE49-F238E27FC236}">
                <a16:creationId xmlns:a16="http://schemas.microsoft.com/office/drawing/2014/main" id="{CB2D866B-5B65-43E8-ACA0-93A02B437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8671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question-num-2">
            <a:extLst xmlns:a="http://schemas.openxmlformats.org/drawingml/2006/main">
              <a:ext uri="{FF2B5EF4-FFF2-40B4-BE49-F238E27FC236}">
                <a16:creationId xmlns:a16="http://schemas.microsoft.com/office/drawing/2014/main" id="{16211EFE-D09F-4F03-98A7-2C74E49CD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4815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6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1" name="question-2">
            <a:extLst xmlns:a="http://schemas.openxmlformats.org/drawingml/2006/main">
              <a:ext uri="{FF2B5EF4-FFF2-40B4-BE49-F238E27FC236}">
                <a16:creationId xmlns:a16="http://schemas.microsoft.com/office/drawing/2014/main" id="{59F5F693-5129-41E6-8AA4-665C2F5A8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229100"/>
            <a:ext cx="981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Why prefer lstsq or QR to an inverse?</a:t>
            </a:r>
          </a:p>
        </p:txBody>
      </p:sp>
      <p:sp>
        <p:nvSpPr>
          <p:cNvPr id="12" name="rule-138-538">
            <a:extLst xmlns:a="http://schemas.openxmlformats.org/drawingml/2006/main">
              <a:ext uri="{FF2B5EF4-FFF2-40B4-BE49-F238E27FC236}">
                <a16:creationId xmlns:a16="http://schemas.microsoft.com/office/drawing/2014/main" id="{EBAA86AD-D5CE-4395-B631-93A0D68A3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1244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ule-48-674">
            <a:extLst xmlns:a="http://schemas.openxmlformats.org/drawingml/2006/main">
              <a:ext uri="{FF2B5EF4-FFF2-40B4-BE49-F238E27FC236}">
                <a16:creationId xmlns:a16="http://schemas.microsoft.com/office/drawing/2014/main" id="{52DBD39E-599D-4CBA-91CE-BEFB470AC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A8ADAFA5-5DD6-49BE-B174-9142BB998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02</a:t>
            </a:r>
          </a:p>
        </p:txBody>
      </p:sp>
      <p:sp>
        <p:nvSpPr>
          <p:cNvPr id="15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166D066B-0255-4D15-985A-1C9D846B8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Pre-session · 10</a:t>
            </a:r>
          </a:p>
        </p:txBody>
      </p:sp>
    </p:spTree>
    <p:extLst>
      <p:ext uri="{BB962C8B-B14F-4D97-AF65-F5344CB8AC3E}">
        <p14:creationId xmlns:p14="http://schemas.microsoft.com/office/powerpoint/2010/main" val="60965412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ready-kicker">
            <a:extLst xmlns:a="http://schemas.openxmlformats.org/drawingml/2006/main">
              <a:ext uri="{FF2B5EF4-FFF2-40B4-BE49-F238E27FC236}">
                <a16:creationId xmlns:a16="http://schemas.microsoft.com/office/drawing/2014/main" id="{8741A78A-64FB-48F9-B98F-45DEB8888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60A5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0A5FA"/>
                </a:solidFill>
                <a:latin typeface="Helvetica Neue"/>
                <a:ea typeface="Helvetica Neue"/>
                <a:cs typeface="Helvetica Neue"/>
              </a:rPr>
              <a:t>PRE-SESSION · READY CHECK</a:t>
            </a:r>
          </a:p>
        </p:txBody>
      </p:sp>
      <p:sp>
        <p:nvSpPr>
          <p:cNvPr id="2" name="ready-title">
            <a:extLst xmlns:a="http://schemas.openxmlformats.org/drawingml/2006/main">
              <a:ext uri="{FF2B5EF4-FFF2-40B4-BE49-F238E27FC236}">
                <a16:creationId xmlns:a16="http://schemas.microsoft.com/office/drawing/2014/main" id="{408230E8-EA2C-49A6-9DD5-B5839B495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7155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Ready for Session 02?</a:t>
            </a:r>
          </a:p>
        </p:txBody>
      </p:sp>
      <p:sp>
        <p:nvSpPr>
          <p:cNvPr id="3" name="ready-box-0">
            <a:extLst xmlns:a="http://schemas.openxmlformats.org/drawingml/2006/main">
              <a:ext uri="{FF2B5EF4-FFF2-40B4-BE49-F238E27FC236}">
                <a16:creationId xmlns:a16="http://schemas.microsoft.com/office/drawing/2014/main" id="{A4435B54-5913-4AFE-9452-0DBBBF29C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4315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0A5FA"/>
            </a:solidFill>
            <a:prstDash val="solid"/>
          </a:ln>
        </p:spPr>
      </p:sp>
      <p:sp>
        <p:nvSpPr>
          <p:cNvPr id="4" name="ready-item-0">
            <a:extLst xmlns:a="http://schemas.openxmlformats.org/drawingml/2006/main">
              <a:ext uri="{FF2B5EF4-FFF2-40B4-BE49-F238E27FC236}">
                <a16:creationId xmlns:a16="http://schemas.microsoft.com/office/drawing/2014/main" id="{883331E6-85AA-41AF-A83F-44BFC51BD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6695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Article annotated</a:t>
            </a:r>
          </a:p>
        </p:txBody>
      </p:sp>
      <p:sp>
        <p:nvSpPr>
          <p:cNvPr id="5" name="ready-box-1">
            <a:extLst xmlns:a="http://schemas.openxmlformats.org/drawingml/2006/main">
              <a:ext uri="{FF2B5EF4-FFF2-40B4-BE49-F238E27FC236}">
                <a16:creationId xmlns:a16="http://schemas.microsoft.com/office/drawing/2014/main" id="{F43A0DD8-E53C-42C4-B840-45CEE3364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099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0A5FA"/>
            </a:solidFill>
            <a:prstDash val="solid"/>
          </a:ln>
        </p:spPr>
      </p:sp>
      <p:sp>
        <p:nvSpPr>
          <p:cNvPr id="6" name="ready-item-1">
            <a:extLst xmlns:a="http://schemas.openxmlformats.org/drawingml/2006/main">
              <a:ext uri="{FF2B5EF4-FFF2-40B4-BE49-F238E27FC236}">
                <a16:creationId xmlns:a16="http://schemas.microsoft.com/office/drawing/2014/main" id="{1E2A3547-8877-411F-B6D9-194BDD2EF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337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Dataverse package extracted</a:t>
            </a:r>
          </a:p>
        </p:txBody>
      </p:sp>
      <p:sp>
        <p:nvSpPr>
          <p:cNvPr id="7" name="ready-box-2">
            <a:extLst xmlns:a="http://schemas.openxmlformats.org/drawingml/2006/main">
              <a:ext uri="{FF2B5EF4-FFF2-40B4-BE49-F238E27FC236}">
                <a16:creationId xmlns:a16="http://schemas.microsoft.com/office/drawing/2014/main" id="{FE5D80D8-A081-4293-BADD-28B1B22DA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7665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0A5FA"/>
            </a:solidFill>
            <a:prstDash val="solid"/>
          </a:ln>
        </p:spPr>
      </p:sp>
      <p:sp>
        <p:nvSpPr>
          <p:cNvPr id="8" name="ready-item-2">
            <a:extLst xmlns:a="http://schemas.openxmlformats.org/drawingml/2006/main">
              <a:ext uri="{FF2B5EF4-FFF2-40B4-BE49-F238E27FC236}">
                <a16:creationId xmlns:a16="http://schemas.microsoft.com/office/drawing/2014/main" id="{8096B4C6-6478-47B1-8B26-603E55408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0045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Target result located</a:t>
            </a:r>
          </a:p>
        </p:txBody>
      </p:sp>
      <p:sp>
        <p:nvSpPr>
          <p:cNvPr id="9" name="ready-box-3">
            <a:extLst xmlns:a="http://schemas.openxmlformats.org/drawingml/2006/main">
              <a:ext uri="{FF2B5EF4-FFF2-40B4-BE49-F238E27FC236}">
                <a16:creationId xmlns:a16="http://schemas.microsoft.com/office/drawing/2014/main" id="{1CBF9884-20D6-4322-8FF2-026F51A9F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434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0A5FA"/>
            </a:solidFill>
            <a:prstDash val="solid"/>
          </a:ln>
        </p:spPr>
      </p:sp>
      <p:sp>
        <p:nvSpPr>
          <p:cNvPr id="10" name="ready-item-3">
            <a:extLst xmlns:a="http://schemas.openxmlformats.org/drawingml/2006/main">
              <a:ext uri="{FF2B5EF4-FFF2-40B4-BE49-F238E27FC236}">
                <a16:creationId xmlns:a16="http://schemas.microsoft.com/office/drawing/2014/main" id="{36AE096B-15E0-48DC-B0B1-E829F3A6A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672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Self-check attempted</a:t>
            </a:r>
          </a:p>
        </p:txBody>
      </p:sp>
      <p:sp>
        <p:nvSpPr>
          <p:cNvPr id="11" name="ready-box-4">
            <a:extLst xmlns:a="http://schemas.openxmlformats.org/drawingml/2006/main">
              <a:ext uri="{FF2B5EF4-FFF2-40B4-BE49-F238E27FC236}">
                <a16:creationId xmlns:a16="http://schemas.microsoft.com/office/drawing/2014/main" id="{BF70F62F-70BE-44B9-A9B6-AA85CE48D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1015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0A5FA"/>
            </a:solidFill>
            <a:prstDash val="solid"/>
          </a:ln>
        </p:spPr>
      </p:sp>
      <p:sp>
        <p:nvSpPr>
          <p:cNvPr id="12" name="ready-item-4">
            <a:extLst xmlns:a="http://schemas.openxmlformats.org/drawingml/2006/main">
              <a:ext uri="{FF2B5EF4-FFF2-40B4-BE49-F238E27FC236}">
                <a16:creationId xmlns:a16="http://schemas.microsoft.com/office/drawing/2014/main" id="{75B03EE0-4808-4FDB-888E-C9530D953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3395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One question ready</a:t>
            </a:r>
          </a:p>
        </p:txBody>
      </p:sp>
      <p:sp>
        <p:nvSpPr>
          <p:cNvPr id="13" name="ready-question">
            <a:extLst xmlns:a="http://schemas.openxmlformats.org/drawingml/2006/main">
              <a:ext uri="{FF2B5EF4-FFF2-40B4-BE49-F238E27FC236}">
                <a16:creationId xmlns:a16="http://schemas.microsoft.com/office/drawing/2014/main" id="{A304F1E6-FE8E-4745-A8B3-8D9DA7089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343150"/>
            <a:ext cx="31051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931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550" b="1">
                <a:solidFill>
                  <a:srgbClr val="DDF2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DDF2FC"/>
                </a:solidFill>
                <a:latin typeface="Helvetica Neue"/>
                <a:ea typeface="Helvetica Neue"/>
                <a:cs typeface="Helvetica Neue"/>
              </a:rPr>
              <a:t>Why is the most-used estimator in economics a right-angle triangle?</a:t>
            </a:r>
          </a:p>
        </p:txBody>
      </p:sp>
      <p:sp>
        <p:nvSpPr>
          <p:cNvPr id="14" name="rule-48-674">
            <a:extLst xmlns:a="http://schemas.openxmlformats.org/drawingml/2006/main">
              <a:ext uri="{FF2B5EF4-FFF2-40B4-BE49-F238E27FC236}">
                <a16:creationId xmlns:a16="http://schemas.microsoft.com/office/drawing/2014/main" id="{F8AAA558-04B8-4B29-B585-CDA635BFD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55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1D0846C2-582E-43A1-BA9A-41CC1BCCB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rPr>
              <a:t>MATH60033A · Thierry Warin · Session 02</a:t>
            </a:r>
          </a:p>
        </p:txBody>
      </p:sp>
      <p:sp>
        <p:nvSpPr>
          <p:cNvPr id="16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E52015E2-DF2C-463D-9845-07A844574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rPr>
              <a:t>Pre-session · 11</a:t>
            </a:r>
          </a:p>
        </p:txBody>
      </p:sp>
    </p:spTree>
    <p:extLst>
      <p:ext uri="{BB962C8B-B14F-4D97-AF65-F5344CB8AC3E}">
        <p14:creationId xmlns:p14="http://schemas.microsoft.com/office/powerpoint/2010/main" val="1639734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Thierry Warin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Thierry Warin</dc:creator>
  <lastModifiedBy>Thierry Warin</lastModifiedBy>
  <dc:title>Presentation</dc:title>
  <dcterms:created xsi:type="dcterms:W3CDTF">2026-08-23T21:42:58.7110000Z</dcterms:created>
  <dcterms:modified xsi:type="dcterms:W3CDTF">2026-08-23T21:42:58.7110000Z</dcterms:modified>
</coreProperties>
</file>