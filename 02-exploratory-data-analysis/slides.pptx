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 anchor="t"/>
          <a:lstStyle>
            <a:lvl1pPr algn="l">
              <a:defRPr sz="28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50000"/>
            <a:ext cx="7772400" cy="70000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 Footer"/>
          <p:cNvSpPr txBox="1"/>
          <p:nvPr/>
        </p:nvSpPr>
        <p:spPr>
          <a:xfrm>
            <a:off x="457200" y="4735000"/>
            <a:ext cx="50000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l"/>
            <a:r>
              <a:rPr dirty="0" lang="en-US" sz="900">
                <a:solidFill>
                  <a:srgbClr val="6E7275"/>
                </a:solidFill>
                <a:latin typeface="+mn-lt"/>
              </a:rPr>
              <a:t>Thierry Warin, PhD</a:t>
            </a:r>
          </a:p>
        </p:txBody>
      </p:sp>
      <p:sp>
        <p:nvSpPr>
          <p:cNvPr id="8" name="Slide Number Footer"/>
          <p:cNvSpPr txBox="1"/>
          <p:nvPr/>
        </p:nvSpPr>
        <p:spPr>
          <a:xfrm>
            <a:off x="7200000" y="4735000"/>
            <a:ext cx="1486800" cy="260000"/>
          </a:xfrm>
          <a:prstGeom prst="rect">
            <a:avLst/>
          </a:prstGeom>
          <a:noFill/>
        </p:spPr>
        <p:txBody>
          <a:bodyPr anchor="ctr" bIns="0" lIns="0" rIns="0" tIns="0" wrap="square"/>
          <a:lstStyle/>
          <a:p>
            <a:pPr algn="r"/>
            <a:fld id="{9B1A2C3D-4E5F-6A7B-8C9D-0E1F2A3B4C5D}" type="slidenum">
              <a:rPr dirty="0" lang="en-US" sz="900">
                <a:solidFill>
                  <a:srgbClr val="6E7275"/>
                </a:solidFill>
                <a:latin typeface="+mn-lt"/>
              </a:rPr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1-lecture/README.md" TargetMode="External" /><Relationship Id="rId3" Type="http://schemas.openxmlformats.org/officeDocument/2006/relationships/hyperlink" Target="02-practice/README.md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Exploratory Data Analysis: Centre, Spread, and Shape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02 · Lecture, first half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25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you model anything, what does the data actually look like?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Quote of the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 i="1"/>
              <a:t>“It’s tough to make predictions, especially about the future.”</a:t>
            </a:r>
          </a:p>
          <a:p>
            <a:pPr lvl="0" indent="0" marL="0">
              <a:buNone/>
            </a:pPr>
            <a:r>
              <a:rPr/>
              <a:t>— Yogi Berra</a:t>
            </a:r>
          </a:p>
          <a:p>
            <a:pPr lvl="0" indent="0" marL="0">
              <a:buNone/>
            </a:pPr>
            <a:r>
              <a:rPr/>
              <a:t>Funny, and exactly the course’s thesis. Everything we do is an attempt to say something about data we have not seen, using data we have.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Why this comes first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Measuring the centre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Measuring the spread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Measuring the shape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buys you later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Compute the </a:t>
                </a:r>
                <a:r>
                  <a:rPr b="1"/>
                  <a:t>mean, median and trimmed mean</a:t>
                </a:r>
                <a:r>
                  <a:rPr/>
                  <a:t>, and say which question each answers</a:t>
                </a:r>
              </a:p>
              <a:p>
                <a:pPr lvl="0"/>
                <a:r>
                  <a:rPr/>
                  <a:t>Explain why the sample variance divides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</a:p>
              <a:p>
                <a:pPr lvl="0"/>
                <a:r>
                  <a:rPr/>
                  <a:t>Apply the </a:t>
                </a:r>
                <a:r>
                  <a:rPr b="1"/>
                  <a:t>empirical rule</a:t>
                </a:r>
                <a:r>
                  <a:rPr/>
                  <a:t>, and state the precondition that makes it valid</a:t>
                </a:r>
              </a:p>
              <a:p>
                <a:pPr lvl="0"/>
                <a:r>
                  <a:rPr/>
                  <a:t>Compute </a:t>
                </a:r>
                <a:r>
                  <a:rPr b="1"/>
                  <a:t>skewness</a:t>
                </a:r>
                <a:r>
                  <a:rPr/>
                  <a:t> and </a:t>
                </a:r>
                <a:r>
                  <a:rPr b="1"/>
                  <a:t>excess kurtosis</a:t>
                </a:r>
                <a:r>
                  <a:rPr/>
                  <a:t>, and test each against its threshold</a:t>
                </a:r>
              </a:p>
              <a:p>
                <a:pPr lvl="0"/>
                <a:r>
                  <a:rPr/>
                  <a:t>Show that the two are </a:t>
                </a:r>
                <a:r>
                  <a:rPr b="1"/>
                  <a:t>independent</a:t>
                </a:r>
                <a:r>
                  <a:rPr/>
                  <a:t> — symmetry is not normality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· Why this comes first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start with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core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"../data/spine/core.parquet"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gdp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core[</a:t>
            </a:r>
            <a:r>
              <a:rPr>
                <a:solidFill>
                  <a:srgbClr val="4070A0"/>
                </a:solidFill>
                <a:latin typeface="Courier"/>
              </a:rPr>
              <a:t>"gdp_pc_eur"</a:t>
            </a:r>
            <a:r>
              <a:rPr>
                <a:latin typeface="Courier"/>
              </a:rPr>
              <a:t>].dropna()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f"n      =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(gdp)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f"mean   =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gdp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mean()</a:t>
            </a:r>
            <a:r>
              <a:rPr>
                <a:solidFill>
                  <a:srgbClr val="4070A0"/>
                </a:solidFill>
                <a:latin typeface="Courier"/>
              </a:rPr>
              <a:t>:,.0f}</a:t>
            </a:r>
            <a:r>
              <a:rPr>
                <a:solidFill>
                  <a:srgbClr val="BB6688"/>
                </a:solidFill>
                <a:latin typeface="Courier"/>
              </a:rPr>
              <a:t> EUR"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f"median =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gdp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median()</a:t>
            </a:r>
            <a:r>
              <a:rPr>
                <a:solidFill>
                  <a:srgbClr val="4070A0"/>
                </a:solidFill>
                <a:latin typeface="Courier"/>
              </a:rPr>
              <a:t>:,.0f}</a:t>
            </a:r>
            <a:r>
              <a:rPr>
                <a:solidFill>
                  <a:srgbClr val="BB6688"/>
                </a:solidFill>
                <a:latin typeface="Courier"/>
              </a:rPr>
              <a:t> EUR"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n      = 437
mean   = 30,373 EUR
median = 25,733 EUR</a:t>
            </a:r>
          </a:p>
          <a:p>
            <a:pPr lvl="0" indent="0" marL="0">
              <a:buNone/>
            </a:pPr>
            <a:r>
              <a:rPr/>
              <a:t>Both of these are “the average European country”. They differ by </a:t>
            </a:r>
            <a:r>
              <a:rPr b="1"/>
              <a:t>€4,640</a:t>
            </a:r>
            <a:r>
              <a:rPr/>
              <a:t>. Which one goes in the press release?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That gap is the whole session</a:t>
            </a:r>
          </a:p>
        </p:txBody>
      </p:sp>
      <p:pic>
        <p:nvPicPr>
          <p:cNvPr descr="slides_files/figure-pptx/cell-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802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bulk of the data sits on the left. A handful of rich country-years on the right pull the mean — and only the mean — toward them.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questions, asked of every new column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Centre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where does the distribution sit?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§2.1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Spread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far from there does it reach?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§2.2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Shape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it symmetric, and how heavy are the tails?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§2.3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Summarising is </a:t>
            </a:r>
            <a:r>
              <a:rPr b="1"/>
              <a:t>already modelling</a:t>
            </a:r>
            <a:r>
              <a:rPr/>
              <a:t>. Each of these choices throws information away, and which information you throw away decides what you can claim later.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· The centre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sample mean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μ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k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r>
                        <m:t> </m:t>
                      </m:r>
                      <m: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d>
                      <m:r>
                        <m:t>  </m:t>
                      </m:r>
                      <m:r>
                        <m:rPr>
                          <m:sty m:val="p"/>
                        </m:rPr>
                        <m:t>→</m:t>
                      </m:r>
                      <m:r>
                        <m:t>  </m:t>
                      </m:r>
                      <m:acc>
                        <m:accPr>
                          <m:chr m:val="‾"/>
                        </m:accPr>
                        <m:e>
                          <m:r>
                            <m:t>x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Natural, easy, and the </a:t>
                </a:r>
                <a:r>
                  <a:rPr b="1"/>
                  <a:t>least-squares minimiser</a:t>
                </a:r>
                <a:r>
                  <a:rPr/>
                  <a:t> — the fact Session 03 is built on.</a:t>
                </a:r>
              </a:p>
              <a:p>
                <a:pPr lvl="0" indent="0" marL="0">
                  <a:buNone/>
                </a:pPr>
                <a:r>
                  <a:rPr/>
                  <a:t>Its weakness is written into the formula: every observation enters with weight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n</m:t>
                    </m:r>
                  </m:oMath>
                </a14:m>
                <a:r>
                  <a:rPr/>
                  <a:t>, so </a:t>
                </a:r>
                <a:r>
                  <a:rPr b="1"/>
                  <a:t>one extreme value moves it without limit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median, and what “resistant” means</a:t>
            </a:r>
          </a:p>
        </p:txBody>
      </p:sp>
      <p:pic>
        <p:nvPicPr>
          <p:cNvPr descr="slides_files/figure-pptx/cell-5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23900" y="1193800"/>
            <a:ext cx="769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eight numbers and drag one of them out. To move the </a:t>
            </a:r>
            <a:r>
              <a:rPr b="1"/>
              <a:t>median</a:t>
            </a:r>
            <a:r>
              <a:rPr/>
              <a:t> you must move the </a:t>
            </a:r>
            <a:r>
              <a:rPr i="1"/>
              <a:t>middle</a:t>
            </a:r>
            <a:r>
              <a:rPr/>
              <a:t> of the data; to move the </a:t>
            </a:r>
            <a:r>
              <a:rPr b="1"/>
              <a:t>mean</a:t>
            </a:r>
            <a:r>
              <a:rPr/>
              <a:t> you need only move one point, as far as you like.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Extensions: the trimmed 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scipy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stats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f"mean            =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gdp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mean()</a:t>
            </a:r>
            <a:r>
              <a:rPr>
                <a:solidFill>
                  <a:srgbClr val="4070A0"/>
                </a:solidFill>
                <a:latin typeface="Courier"/>
              </a:rPr>
              <a:t>:,.0f}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f"5% trimmed mean =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stats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trim_mean(gdp, </a:t>
            </a:r>
            <a:r>
              <a:rPr>
                <a:solidFill>
                  <a:srgbClr val="40A070"/>
                </a:solidFill>
                <a:latin typeface="Courier"/>
              </a:rPr>
              <a:t>0.05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4070A0"/>
                </a:solidFill>
                <a:latin typeface="Courier"/>
              </a:rPr>
              <a:t>:,.0f}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f"median          =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gdp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median()</a:t>
            </a:r>
            <a:r>
              <a:rPr>
                <a:solidFill>
                  <a:srgbClr val="4070A0"/>
                </a:solidFill>
                <a:latin typeface="Courier"/>
              </a:rPr>
              <a:t>:,.0f}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mean            = 30,373
5% trimmed mean = 29,419
median          = 25,733</a:t>
            </a:r>
          </a:p>
          <a:p>
            <a:pPr lvl="0" indent="0" marL="0">
              <a:buNone/>
            </a:pPr>
            <a:r>
              <a:rPr/>
              <a:t>Remove a proportion from each end, average the rest: resistant like the median, but still using most of the data.</a:t>
            </a:r>
          </a:p>
          <a:p>
            <a:pPr lvl="0" indent="0" marL="0">
              <a:buNone/>
            </a:pPr>
            <a:r>
              <a:rPr/>
              <a:t>Read the </a:t>
            </a:r>
            <a:r>
              <a:rPr b="1"/>
              <a:t>ladder</a:t>
            </a:r>
            <a:r>
              <a:rPr/>
              <a:t>. Trimming just 5% pulls the average down by nearly a thousand euros. The three summaries disagree, and </a:t>
            </a:r>
            <a:r>
              <a:rPr b="1"/>
              <a:t>the direction of the disagreement is the finding</a:t>
            </a:r>
            <a:r>
              <a:rPr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Quantiles and percentiles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The </a:t>
                </a:r>
                <a:r>
                  <a:rPr b="1"/>
                  <a:t>quantile</a:t>
                </a:r>
                <a:r>
                  <a:rPr/>
                  <a:t>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q</m:t>
                            </m:r>
                          </m:e>
                        </m:acc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 is the value below which about </a:t>
                </a:r>
                <a14:m>
                  <m:oMath xmlns:m="http://schemas.openxmlformats.org/officeDocument/2006/math">
                    <m:r>
                      <m:t>100</m:t>
                    </m:r>
                    <m:r>
                      <m:t>p</m:t>
                    </m:r>
                    <m:r>
                      <m:rPr>
                        <m:sty m:val="p"/>
                      </m:rPr>
                      <m:t>%</m:t>
                    </m:r>
                  </m:oMath>
                </a14:m>
                <a:r>
                  <a:rPr/>
                  <a:t> of the data falls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percentile</a:t>
                </a:r>
                <a:r>
                  <a:rPr/>
                  <a:t> is the same idea read backwards — given a value, what fraction lies below it</a:t>
                </a:r>
              </a:p>
              <a:p>
                <a:pPr lvl="0" indent="0">
                  <a:buNone/>
                </a:pPr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(gdp.quantile([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0.25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0.50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0.75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1.0</a:t>
                </a:r>
                <a:r>
                  <a:rPr>
                    <a:latin typeface="Courier"/>
                  </a:rPr>
                  <a:t>]).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round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).to_string())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0.00     8663.0
0.25    18289.0
0.50    25733.0
0.75    40505.0
1.00    80039.0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· The spread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Variance and standard deviation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s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acc>
                                    <m:accPr>
                                      <m:chr m:val="‾"/>
                                    </m:accPr>
                                    <m:e>
                                      <m:r>
                                        <m:t>x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rad>
                        <m:radPr>
                          <m:degHide m:val="on"/>
                        </m:radPr>
                        <m:deg/>
                        <m:e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is not a convention. Dividing by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gives an estimator that is </a:t>
                </a:r>
                <a:r>
                  <a:rPr b="1"/>
                  <a:t>biased downward</a:t>
                </a:r>
                <a:r>
                  <a:rPr/>
                  <a:t> — because the deviations are taken from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is by construction the point that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∑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sSub>
                              <m:e>
                                <m:r>
                                  <m:t>x</m:t>
                                </m:r>
                              </m:e>
                              <m:sub>
                                <m: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⋅</m:t>
                            </m:r>
                          </m:e>
                        </m:d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smallest.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the bias</a:t>
            </a:r>
          </a:p>
        </p:txBody>
      </p:sp>
      <p:pic>
        <p:nvPicPr>
          <p:cNvPr descr="slides_files/figure-pptx/cell-8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193800"/>
            <a:ext cx="8077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Four thousand samples of six observations from a distribution with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t>4</m:t>
                    </m:r>
                  </m:oMath>
                </a14:m>
                <a:r>
                  <a:rPr/>
                  <a:t>. Dividing by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lands low </a:t>
                </a:r>
                <a:r>
                  <a:rPr b="1"/>
                  <a:t>on average</a:t>
                </a:r>
                <a:r>
                  <a:rPr/>
                  <a:t>; dividing by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lands on the truth.</a:t>
                </a:r>
              </a:p>
            </p:txBody>
          </p:sp>
        </mc:Choice>
      </mc:AlternateContent>
    </p:spTree>
  </p:cSld>
</p:sld>
</file>

<file path=ppt/slides/slide2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The empirical rule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indent="0" marL="0"><a:buNone /></a:pPr><a:r><a:rPr /><a:t>Within</a:t></a:r></a:p></a:txBody><a:tcPr /></a:tc><a:tc><a:txBody><a:bodyPr /><a:lstStyle /><a:p><a:pPr lvl="0" indent="0" marL="0"><a:buNone /></a:pPr><a:r><a:rPr /><a:t>Contains about</a:t></a:r></a:p></a:txBody><a:tcPr /></a:tc></a:tr><a:tr h="0"><a:tc><a:txBody><a:bodyPr /><a:lstStyle /><a:p><a:pPr lvl="0" indent="0" marL="0"><a:buNone /></a:pPr><a14:m><m:oMath xmlns:m="http://schemas.openxmlformats.org/officeDocument/2006/math"><m:acc><m:accPr><m:chr m:val="‾" /></m:accPr><m:e><m:r><m:t>x</m:t></m:r></m:e></m:acc><m:r><m:rPr><m:sty m:val="p" /></m:rPr><m:t>±</m:t></m:r><m:r><m:t>1</m:t></m:r><m:r><m:t>s</m:t></m:r></m:oMath></a14:m></a:p></a:txBody></a:tc><a:tc><a:txBody><a:bodyPr /><a:lstStyle /><a:p><a:pPr lvl="0" indent="0" marL="0"><a:buNone /></a:pPr><a:r><a:rPr /><a:t>68%</a:t></a:r></a:p></a:txBody></a:tc></a:tr><a:tr h="0"><a:tc><a:txBody><a:bodyPr /><a:lstStyle /><a:p><a:pPr lvl="0" indent="0" marL="0"><a:buNone /></a:pPr><a14:m><m:oMath xmlns:m="http://schemas.openxmlformats.org/officeDocument/2006/math"><m:acc><m:accPr><m:chr m:val="‾" /></m:accPr><m:e><m:r><m:t>x</m:t></m:r></m:e></m:acc><m:r><m:rPr><m:sty m:val="p" /></m:rPr><m:t>±</m:t></m:r><m:r><m:t>2</m:t></m:r><m:r><m:t>s</m:t></m:r></m:oMath></a14:m></a:p></a:txBody></a:tc><a:tc><a:txBody><a:bodyPr /><a:lstStyle /><a:p><a:pPr lvl="0" indent="0" marL="0"><a:buNone /></a:pPr><a:r><a:rPr /><a:t>95%</a:t></a:r></a:p></a:txBody></a:tc></a:tr><a:tr h="0"><a:tc><a:txBody><a:bodyPr /><a:lstStyle /><a:p><a:pPr lvl="0" indent="0" marL="0"><a:buNone /></a:pPr><a14:m><m:oMath xmlns:m="http://schemas.openxmlformats.org/officeDocument/2006/math"><m:acc><m:accPr><m:chr m:val="‾" /></m:accPr><m:e><m:r><m:t>x</m:t></m:r></m:e></m:acc><m:r><m:rPr><m:sty m:val="p" /></m:rPr><m:t>±</m:t></m:r><m:r><m:t>3</m:t></m:r><m:r><m:t>s</m:t></m:r></m:oMath></a14:m></a:p></a:txBody></a:tc><a:tc><a:txBody><a:bodyPr /><a:lstStyle /><a:p><a:pPr lvl="0" indent="0" marL="0"><a:buNone /></a:pPr><a:r><a:rPr /><a:t>99.7%</a:t></a:r></a:p></a:txBody></a:tc></a:tr></a:tbl></a:graphicData></a:graphic></p:graphicFrame></p:spTree></p:cSld>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SAT scores with mean 1500 and 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300</m:t>
                    </m:r>
                  </m:oMath>
                </a14:m>
                <a:r>
                  <a:rPr/>
                  <a:t>: about 68% score 1200–1800, about 95% score 900–2100.</a:t>
                </a:r>
              </a:p>
              <a:p>
                <a:pPr lvl="0" indent="0" marL="0">
                  <a:buNone/>
                </a:pPr>
                <a:r>
                  <a:rPr b="1"/>
                  <a:t>The rule has a precondition.</a:t>
                </a:r>
                <a:r>
                  <a:rPr/>
                  <a:t> It holds for </a:t>
                </a:r>
                <a:r>
                  <a:rPr i="1"/>
                  <a:t>nearly normal</a:t>
                </a:r>
                <a:r>
                  <a:rPr/>
                  <a:t> data. Section 4 is how you check.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Does it hold on our data?</a:t>
            </a:r>
          </a:p>
        </p:txBody>
      </p:sp>
      <p:pic>
        <p:nvPicPr>
          <p:cNvPr descr="slides_files/figure-pptx/cell-9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19200"/>
            <a:ext cx="8229600" cy="332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Dotted lines are what the rule promises. Where a bar misses its line, the variable is telling you something about its shape.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interquartile range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I</m:t>
                      </m:r>
                      <m:r>
                        <m:rPr>
                          <m:sty m:val="p"/>
                        </m:rPr>
                        <m:t>Q</m:t>
                      </m:r>
                      <m:r>
                        <m:rPr>
                          <m:sty m:val="p"/>
                        </m:rPr>
                        <m:t>R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t>q</m:t>
                              </m:r>
                            </m:e>
                          </m:acc>
                        </m:e>
                        <m:sub>
                          <m:r>
                            <m:t>0.75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t>q</m:t>
                              </m:r>
                            </m:e>
                          </m:acc>
                        </m:e>
                        <m:sub>
                          <m:r>
                            <m:t>0.25</m:t>
                          </m:r>
                        </m:sub>
                      </m:sSub>
                    </m:oMath>
                  </m:oMathPara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q1, q3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gdp.quantile(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0.25</a:t>
                </a:r>
                <a:r>
                  <a:rPr>
                    <a:latin typeface="Courier"/>
                  </a:rPr>
                  <a:t>), gdp.quantile(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0.75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f"sd  =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latin typeface="Courier"/>
                  </a:rPr>
                  <a:t>gdp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.</a:t>
                </a:r>
                <a:r>
                  <a:rPr>
                    <a:latin typeface="Courier"/>
                  </a:rPr>
                  <a:t>std(ddof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)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:,.0f}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"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f"IQR =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latin typeface="Courier"/>
                  </a:rPr>
                  <a:t>q3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q1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:,.0f}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"</a:t>
                </a:r>
                <a:r>
                  <a:rPr>
                    <a:latin typeface="Courier"/>
                  </a:rPr>
                  <a:t>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sd  = 15,420
IQR = 22,215</a:t>
                </a:r>
              </a:p>
              <a:p>
                <a:pPr lvl="0" indent="0" marL="0">
                  <a:buNone/>
                </a:pPr>
                <a:r>
                  <a:rPr/>
                  <a:t>Resistant, because it is built from two order statistics. The cost: it sees only the </a:t>
                </a:r>
                <a:r>
                  <a:rPr b="1"/>
                  <a:t>middle 50%</a:t>
                </a:r>
                <a:r>
                  <a:rPr/>
                  <a:t> and is blind to everything in the tails — which is sometimes exactly what you wanted to know about.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· The shape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Centre and spread do not determine a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Two variables can share a mean and a standard deviation and look nothing alike. Two more numbers are needed.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m:t>3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3</m:t>
                              </m:r>
                            </m:sup>
                          </m:sSup>
                        </m:den>
                      </m:f>
                      <m:r>
                        <m:t>  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f>
                        <m:fPr>
                          <m:type m:val="bar"/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n"/>
                            </m:naryPr>
                            <m:sub>
                              <m:r>
                                <m:t>i</m:t>
                              </m:r>
                            </m:sub>
                            <m:sup>
                              <m:r>
                                <m:t>​</m:t>
                              </m:r>
                            </m:sup>
                            <m:e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</m:dPr>
                                    <m:e>
                                      <m:sSub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acc>
                                        <m:accPr>
                                          <m:chr m:val="‾"/>
                                        </m:accPr>
                                        <m:e>
                                          <m:r>
                                            <m:t>x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m:t>4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e>
                              <m:r>
                                <m:t>s</m:t>
                              </m:r>
                            </m:e>
                            <m:sup>
                              <m:r>
                                <m:t>4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−</m:t>
                      </m:r>
                      <m:r>
                        <m:t>3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cube keeps the sign — so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has a direction. The fourth power does not — so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is about magnitude, and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3</m:t>
                    </m:r>
                  </m:oMath>
                </a14:m>
                <a:r>
                  <a:rPr/>
                  <a:t> puts the normal distribution at zero.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Skewness: sign and direction</a:t>
            </a:r>
          </a:p>
        </p:txBody>
      </p:sp>
      <p:pic>
        <p:nvPicPr>
          <p:cNvPr descr="slides_files/figure-pptx/cell-11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00200"/>
            <a:ext cx="82296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right tail pulls the </a:t>
            </a:r>
            <a:r>
              <a:rPr b="1"/>
              <a:t>mean</a:t>
            </a:r>
            <a:r>
              <a:rPr/>
              <a:t> past the </a:t>
            </a:r>
            <a:r>
              <a:rPr b="1"/>
              <a:t>median</a:t>
            </a:r>
            <a:r>
              <a:rPr/>
              <a:t>. That is precisely the €4,640 we opened with.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Kurtosis: how heavy are the tails</a:t>
            </a:r>
          </a:p>
        </p:txBody>
      </p:sp>
      <p:pic>
        <p:nvPicPr>
          <p:cNvPr descr="slides_files/figure-pptx/cell-12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74700" y="1193800"/>
            <a:ext cx="7594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Leptokurtic: sharper peak </a:t>
            </a:r>
            <a:r>
              <a:rPr b="1"/>
              <a:t>and</a:t>
            </a:r>
            <a:r>
              <a:rPr/>
              <a:t> heavier tails — extreme values are more common than normal. Platykurtic: flatter, with the mass spread evenly and thin tails.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is it “substantial”?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|"/>
                          <m:sepChr m:val=""/>
                          <m:endChr m:val="|"/>
                          <m:grow/>
                        </m:dPr>
                        <m:e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&gt;</m:t>
                      </m:r>
                      <m:r>
                        <m:t>2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t>6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n</m:t>
                          </m:r>
                        </m:e>
                      </m:rad>
                      <m:r>
                        <m:t>  </m:t>
                      </m:r>
                      <m:r>
                        <m:t>  </m:t>
                      </m:r>
                      <m:d>
                        <m:dPr>
                          <m:begChr m:val="|"/>
                          <m:sepChr m:val=""/>
                          <m:endChr m:val="|"/>
                          <m:grow/>
                        </m:dPr>
                        <m:e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&gt;</m:t>
                      </m:r>
                      <m:r>
                        <m:t>4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t>6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n</m:t>
                          </m:r>
                        </m:e>
                      </m:rad>
                    </m:oMath>
                  </m:oMathPara>
                </a14:m>
              </a:p>
              <a:p>
                <a:pPr lvl="0" indent="0">
                  <a:buNone/>
                </a:pPr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shape(x):</a:t>
                </a:r>
                <a:br/>
                <a:r>
                  <a:rPr>
                    <a:latin typeface="Courier"/>
                  </a:rPr>
                  <a:t>    x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np.asarray(pd.Series(x).dropna(),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float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    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len</a:t>
                </a:r>
                <a:r>
                  <a:rPr>
                    <a:latin typeface="Courier"/>
                  </a:rPr>
                  <a:t>(x)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;</a:t>
                </a:r>
                <a:r>
                  <a:rPr>
                    <a:latin typeface="Courier"/>
                  </a:rPr>
                  <a:t> xbar, 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x.mean(), x.std(ddof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    g1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((x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xbar)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**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</a:t>
                </a:r>
                <a:r>
                  <a:rPr>
                    <a:latin typeface="Courier"/>
                  </a:rPr>
                  <a:t>).mean()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>
                    <a:latin typeface="Courier"/>
                  </a:rPr>
                  <a:t> 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**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</a:t>
                </a:r>
                <a:br/>
                <a:r>
                  <a:rPr>
                    <a:latin typeface="Courier"/>
                  </a:rPr>
                  <a:t>    g2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((x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xbar)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**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</a:t>
                </a:r>
                <a:r>
                  <a:rPr>
                    <a:latin typeface="Courier"/>
                  </a:rPr>
                  <a:t>).mean()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>
                    <a:latin typeface="Courier"/>
                  </a:rPr>
                  <a:t> 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**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n, g1, g2,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np.sqrt(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6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>
                    <a:latin typeface="Courier"/>
                  </a:rPr>
                  <a:t> n),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np.sqrt(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6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</a:t>
                </a:r>
                <a:r>
                  <a:rPr>
                    <a:latin typeface="Courier"/>
                  </a:rPr>
                  <a:t> n)</a:t>
                </a:r>
                <a:br/>
                <a:br/>
                <a:r>
                  <a:rPr>
                    <a:latin typeface="Courier"/>
                  </a:rPr>
                  <a:t>n, g1, g2, t1, t2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shape(gdp)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f"n  =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latin typeface="Courier"/>
                  </a:rPr>
                  <a:t>n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"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f"g1 =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latin typeface="Courier"/>
                  </a:rPr>
                  <a:t>g1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:+.3f}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   threshold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latin typeface="Courier"/>
                  </a:rPr>
                  <a:t>t1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:.3f}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   skewed: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abs</a:t>
                </a:r>
                <a:r>
                  <a:rPr>
                    <a:latin typeface="Courier"/>
                  </a:rPr>
                  <a:t>(g1)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</a:t>
                </a:r>
                <a:r>
                  <a:rPr>
                    <a:latin typeface="Courier"/>
                  </a:rPr>
                  <a:t> t1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"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f"g2 =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latin typeface="Courier"/>
                  </a:rPr>
                  <a:t>g2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:+.3f}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   threshold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latin typeface="Courier"/>
                  </a:rPr>
                  <a:t>t2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:.3f}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   kurtic: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abs</a:t>
                </a:r>
                <a:r>
                  <a:rPr>
                    <a:latin typeface="Courier"/>
                  </a:rPr>
                  <a:t>(g2)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&gt;</a:t>
                </a:r>
                <a:r>
                  <a:rPr>
                    <a:latin typeface="Courier"/>
                  </a:rPr>
                  <a:t> t2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"</a:t>
                </a:r>
                <a:r>
                  <a:rPr>
                    <a:latin typeface="Courier"/>
                  </a:rPr>
                  <a:t>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n  = 437
g1 = +0.881   threshold 0.234   skewed: True
g2 = -0.013   threshold 0.469   kurtic: False</a:t>
                </a:r>
              </a:p>
              <a:p>
                <a:pPr lvl="0" indent="0" marL="0">
                  <a:buNone/>
                </a:pPr>
                <a:r>
                  <a:rPr/>
                  <a:t>Skewed by nearly </a:t>
                </a:r>
                <a:r>
                  <a:rPr b="1"/>
                  <a:t>four times</a:t>
                </a:r>
                <a:r>
                  <a:rPr/>
                  <a:t> its threshold; kurtosis nowhere near. </a:t>
                </a:r>
                <a:r>
                  <a:rPr b="1"/>
                  <a:t>Asymmetric, not heavy-tailed</a:t>
                </a:r>
                <a:r>
                  <a:rPr/>
                  <a:t> — different defects.</a:t>
                </a:r>
              </a:p>
            </p:txBody>
          </p:sp>
        </mc:Choice>
      </mc:AlternateContent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 are independent</a:t>
            </a:r>
          </a:p>
        </p:txBody>
      </p:sp>
      <p:pic>
        <p:nvPicPr>
          <p:cNvPr descr="slides_files/figure-pptx/cell-1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>
                    <a:latin typeface="Courier"/>
                  </a:rPr>
                  <a:t>share_renew</a:t>
                </a:r>
                <a:r>
                  <a:rPr/>
                  <a:t> is </a:t>
                </a:r>
                <a:r>
                  <a:rPr b="1"/>
                  <a:t>perfectly symmetric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0.012</m:t>
                    </m:r>
                  </m:oMath>
                </a14:m>
                <a:r>
                  <a:rPr/>
                  <a:t>) and still badly non-normal (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0.656</m:t>
                    </m:r>
                  </m:oMath>
                </a14:m>
                <a:r>
                  <a:rPr/>
                  <a:t> against a threshold of </a:t>
                </a:r>
                <a14:m>
                  <m:oMath xmlns:m="http://schemas.openxmlformats.org/officeDocument/2006/math">
                    <m:r>
                      <m:t>0.479</m:t>
                    </m:r>
                  </m:oMath>
                </a14:m>
                <a:r>
                  <a:rPr/>
                  <a:t>). </a:t>
                </a:r>
                <a:r>
                  <a:rPr b="1"/>
                  <a:t>Symmetry is not normality.</a:t>
                </a:r>
              </a:p>
            </p:txBody>
          </p:sp>
        </mc:Choice>
      </mc:AlternateContent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850000"/>
            <a:ext cx="7772400" cy="13000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· What it buys you later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later session assumes you did this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Session 03</a:t>
            </a:r>
            <a:r>
              <a:rPr/>
              <a:t> fits a mean function by least squares — its standard errors lean on the spread, and its diagnostics are residual shape by another name</a:t>
            </a:r>
          </a:p>
          <a:p>
            <a:pPr lvl="0"/>
            <a:r>
              <a:rPr b="1"/>
              <a:t>Session 04</a:t>
            </a:r>
            <a:r>
              <a:rPr/>
              <a:t> asks whether a model generalises — a heavy right tail is why a model looks excellent on average and fails on the cases that matter</a:t>
            </a:r>
          </a:p>
          <a:p>
            <a:pPr lvl="0"/>
            <a:r>
              <a:rPr b="1"/>
              <a:t>Sessions 10–11</a:t>
            </a:r>
            <a:r>
              <a:rPr/>
              <a:t> compare treated and untreated groups — a difference in means between two skewed distributions can be produced entirely by their tails</a:t>
            </a:r>
          </a:p>
          <a:p>
            <a:pPr lvl="0" indent="0" marL="0">
              <a:buNone/>
            </a:pPr>
            <a:r>
              <a:rPr/>
              <a:t>The mean, the standard deviation and the empirical rule are not neutral defaults. They are </a:t>
            </a:r>
            <a:r>
              <a:rPr b="1"/>
              <a:t>assumptions about shape</a:t>
            </a:r>
            <a:r>
              <a:rPr/>
              <a:t>, and this is the session where you check them.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Mean, trimmed mean and median answer </a:t>
                </a:r>
                <a:r>
                  <a:rPr b="1"/>
                  <a:t>different questions</a:t>
                </a:r>
                <a:r>
                  <a:rPr/>
                  <a:t>; when they disagree, that is data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The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 is a correction for estimating the deviations from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rather than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</a:p>
              <a:p>
                <a:pPr lvl="0" indent="-342900" marL="342900">
                  <a:buAutoNum type="arabicPeriod"/>
                </a:pPr>
                <a:r>
                  <a:rPr/>
                  <a:t>The empirical rule needs near-normality — check before you use it</a:t>
                </a:r>
              </a:p>
              <a:p>
                <a:pPr lvl="0" indent="-342900" marL="342900">
                  <a:buAutoNum type="arabicPeriod"/>
                </a:pP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has a </a:t>
                </a:r>
                <a:r>
                  <a:rPr b="1"/>
                  <a:t>direction</a:t>
                </a:r>
                <a:r>
                  <a:rPr/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has a </a:t>
                </a:r>
                <a:r>
                  <a:rPr b="1"/>
                  <a:t>magnitude</a:t>
                </a:r>
                <a:r>
                  <a:rPr/>
                  <a:t>. Both need their threshold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Skewness and kurtosis are </a:t>
                </a:r>
                <a:r>
                  <a:rPr b="1"/>
                  <a:t>independent</a:t>
                </a:r>
                <a:r>
                  <a:rPr/>
                  <a:t>. Symmetry is not normality</a:t>
                </a:r>
              </a:p>
            </p:txBody>
          </p:sp>
        </mc:Choice>
      </mc:AlternateContent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loses marks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>
                    <a:latin typeface="Courier"/>
                  </a:rPr>
                  <a:t>df.describe()</a:t>
                </a:r>
                <a:r>
                  <a:rPr/>
                  <a:t> pasted with no interpretation</a:t>
                </a:r>
              </a:p>
              <a:p>
                <a:pPr lvl="0"/>
                <a:r>
                  <a:rPr/>
                  <a:t>A skewness reported </a:t>
                </a:r>
                <a:r>
                  <a:rPr b="1"/>
                  <a:t>without its threshold</a:t>
                </a:r>
                <a:r>
                  <a:rPr/>
                  <a:t> — </a:t>
                </a:r>
                <a14:m>
                  <m:oMath xmlns:m="http://schemas.openxmlformats.org/officeDocument/2006/math">
                    <m:r>
                      <m:t>0.4</m:t>
                    </m:r>
                  </m:oMath>
                </a14:m>
                <a:r>
                  <a:rPr/>
                  <a:t> is substantial at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437</m:t>
                    </m:r>
                  </m:oMath>
                </a14:m>
                <a:r>
                  <a:rPr/>
                  <a:t>, negligible at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40</m:t>
                    </m:r>
                  </m:oMath>
                </a14:m>
              </a:p>
              <a:p>
                <a:pPr lvl="0"/>
                <a:r>
                  <a:rPr/>
                  <a:t>Calling a variable “normal” because it is symmetric</a:t>
                </a:r>
              </a:p>
              <a:p>
                <a:pPr lvl="0"/>
                <a:r>
                  <a:rPr/>
                  <a:t>Applying the empirical rule to a variable you have just shown to be skewed</a:t>
                </a:r>
              </a:p>
              <a:p>
                <a:pPr lvl="0"/>
                <a:r>
                  <a:rPr/>
                  <a:t>Dropping outliers before saying what they are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Now, the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Ninety minutes, in your groups. You will profile the three variables your research question depends on — centre, spread and shape, thresholds tested — and decide which summary you would defend in print.</a:t>
            </a:r>
          </a:p>
          <a:p>
            <a:pPr lvl="0" indent="0" marL="0">
              <a:buNone/>
            </a:pPr>
            <a:r>
              <a:rPr/>
              <a:t>Notes: </a:t>
            </a:r>
            <a:r>
              <a:rPr>
                <a:hlinkClick r:id="rId2"/>
                <a:latin typeface="Courier"/>
              </a:rPr>
              <a:t>01-lecture/README.md</a:t>
            </a:r>
            <a:r>
              <a:rPr/>
              <a:t> · practice brief: </a:t>
            </a:r>
            <a:r>
              <a:rPr>
                <a:hlinkClick r:id="rId3"/>
                <a:latin typeface="Courier"/>
              </a:rPr>
              <a:t>02-practice/README.md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Analysis: Centre, Spread, and Shape</dc:title>
  <dc:creator>Thierry Warin</dc:creator>
  <cp:keywords/>
  <dcterms:created xsi:type="dcterms:W3CDTF">2026-08-25T15:56:01Z</dcterms:created>
  <dcterms:modified xsi:type="dcterms:W3CDTF">2026-08-25T15:56:01Z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25 August 2026</vt:lpwstr>
  </property>
  <property fmtid="{D5CDD505-2E9C-101B-9397-08002B2CF9AE}" pid="8" name="date-format">
    <vt:lpwstr>D MMMM YYYY</vt:lpwstr>
  </property>
  <property fmtid="{D5CDD505-2E9C-101B-9397-08002B2CF9AE}" pid="9" name="execute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e">
    <vt:lpwstr>HEC Montréal</vt:lpwstr>
  </property>
  <property fmtid="{D5CDD505-2E9C-101B-9397-08002B2CF9AE}" pid="14" name="institutes">
    <vt:lpwstr/>
  </property>
  <property fmtid="{D5CDD505-2E9C-101B-9397-08002B2CF9AE}" pid="15" name="jupyter">
    <vt:lpwstr>python3</vt:lpwstr>
  </property>
  <property fmtid="{D5CDD505-2E9C-101B-9397-08002B2CF9AE}" pid="16" name="labels">
    <vt:lpwstr/>
  </property>
  <property fmtid="{D5CDD505-2E9C-101B-9397-08002B2CF9AE}" pid="17" name="subtitle">
    <vt:lpwstr>Session 02 · Lecture, first half</vt:lpwstr>
  </property>
  <property fmtid="{D5CDD505-2E9C-101B-9397-08002B2CF9AE}" pid="18" name="toc-title">
    <vt:lpwstr>Table of contents</vt:lpwstr>
  </property>
</Properties>
</file>