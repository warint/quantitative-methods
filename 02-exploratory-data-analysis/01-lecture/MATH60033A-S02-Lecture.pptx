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2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3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5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6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7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8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19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20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21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22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23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1e85603e74285" /><Relationship Type="http://schemas.openxmlformats.org/officeDocument/2006/relationships/extended-properties" Target="/docProps/app.xml" Id="R530fd9f1f2eb4bcc" /><Relationship Type="http://schemas.openxmlformats.org/officeDocument/2006/relationships/officeDocument" Target="/ppt/presentation.xml" Id="Rb8cf079ae7ba45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b183e34db84796"/>
  </p:sldMasterIdLst>
  <p:notesMasterIdLst>
    <p:notesMasterId xmlns:r="http://schemas.openxmlformats.org/officeDocument/2006/relationships" r:id="Rce983269f0284587"/>
  </p:notesMasterIdLst>
  <p:sldIdLst>
    <p:sldId xmlns:r="http://schemas.openxmlformats.org/officeDocument/2006/relationships" id="256" r:id="R79fc761e23a2415b"/>
    <p:sldId xmlns:r="http://schemas.openxmlformats.org/officeDocument/2006/relationships" id="257" r:id="R90f6ac117266482e"/>
    <p:sldId xmlns:r="http://schemas.openxmlformats.org/officeDocument/2006/relationships" id="258" r:id="R0a7f0a31e5b94b4e"/>
    <p:sldId xmlns:r="http://schemas.openxmlformats.org/officeDocument/2006/relationships" id="259" r:id="Rf9131d4980c946df"/>
    <p:sldId xmlns:r="http://schemas.openxmlformats.org/officeDocument/2006/relationships" id="260" r:id="Rec3bbe9395da481b"/>
    <p:sldId xmlns:r="http://schemas.openxmlformats.org/officeDocument/2006/relationships" id="261" r:id="R64572160f52442d8"/>
    <p:sldId xmlns:r="http://schemas.openxmlformats.org/officeDocument/2006/relationships" id="262" r:id="R86f1c1173bd947a1"/>
    <p:sldId xmlns:r="http://schemas.openxmlformats.org/officeDocument/2006/relationships" id="263" r:id="R45197e7d9e334d1f"/>
    <p:sldId xmlns:r="http://schemas.openxmlformats.org/officeDocument/2006/relationships" id="264" r:id="R45428c4a8260428c"/>
    <p:sldId xmlns:r="http://schemas.openxmlformats.org/officeDocument/2006/relationships" id="265" r:id="Rbaadf01107034832"/>
    <p:sldId xmlns:r="http://schemas.openxmlformats.org/officeDocument/2006/relationships" id="266" r:id="R2c0a04f6b7194be2"/>
    <p:sldId xmlns:r="http://schemas.openxmlformats.org/officeDocument/2006/relationships" id="267" r:id="R73f51dfd98bb4b04"/>
    <p:sldId xmlns:r="http://schemas.openxmlformats.org/officeDocument/2006/relationships" id="268" r:id="R685da83cb39b43b1"/>
    <p:sldId xmlns:r="http://schemas.openxmlformats.org/officeDocument/2006/relationships" id="269" r:id="Rd5ee01e6884440fb"/>
    <p:sldId xmlns:r="http://schemas.openxmlformats.org/officeDocument/2006/relationships" id="270" r:id="Rbcd8d6ee8f8d428b"/>
    <p:sldId xmlns:r="http://schemas.openxmlformats.org/officeDocument/2006/relationships" id="271" r:id="R8ea15736638743a9"/>
    <p:sldId xmlns:r="http://schemas.openxmlformats.org/officeDocument/2006/relationships" id="272" r:id="R9f99c4de12a94ec2"/>
    <p:sldId xmlns:r="http://schemas.openxmlformats.org/officeDocument/2006/relationships" id="273" r:id="R9ee733bcaf18495f"/>
    <p:sldId xmlns:r="http://schemas.openxmlformats.org/officeDocument/2006/relationships" id="274" r:id="R4e5eb98f4f1d4a80"/>
    <p:sldId xmlns:r="http://schemas.openxmlformats.org/officeDocument/2006/relationships" id="275" r:id="R0c9da8516a274056"/>
    <p:sldId xmlns:r="http://schemas.openxmlformats.org/officeDocument/2006/relationships" id="276" r:id="Rf0d3f6840eeb4b7c"/>
    <p:sldId xmlns:r="http://schemas.openxmlformats.org/officeDocument/2006/relationships" id="277" r:id="R98e417cdf64c4272"/>
    <p:sldId xmlns:r="http://schemas.openxmlformats.org/officeDocument/2006/relationships" id="278" r:id="Rf101857efbca4cc2"/>
    <p:sldId xmlns:r="http://schemas.openxmlformats.org/officeDocument/2006/relationships" id="279" r:id="R0a44bd374fa947dc"/>
    <p:sldId xmlns:r="http://schemas.openxmlformats.org/officeDocument/2006/relationships" id="280" r:id="Rcdede24ce13c42e8"/>
    <p:sldId xmlns:r="http://schemas.openxmlformats.org/officeDocument/2006/relationships" id="281" r:id="R877abea7f2884f01"/>
    <p:sldId xmlns:r="http://schemas.openxmlformats.org/officeDocument/2006/relationships" id="282" r:id="R134a55f6b3cb4f46"/>
    <p:sldId xmlns:r="http://schemas.openxmlformats.org/officeDocument/2006/relationships" id="283" r:id="Rf7159af2a9b04e2c"/>
    <p:sldId xmlns:r="http://schemas.openxmlformats.org/officeDocument/2006/relationships" id="284" r:id="R1b43f404afca4fa2"/>
    <p:sldId xmlns:r="http://schemas.openxmlformats.org/officeDocument/2006/relationships" id="285" r:id="R979777bcf07946ff"/>
    <p:sldId xmlns:r="http://schemas.openxmlformats.org/officeDocument/2006/relationships" id="286" r:id="R9ee7a9524cd24260"/>
    <p:sldId xmlns:r="http://schemas.openxmlformats.org/officeDocument/2006/relationships" id="287" r:id="R591f3cda08e44af0"/>
    <p:sldId xmlns:r="http://schemas.openxmlformats.org/officeDocument/2006/relationships" id="288" r:id="R2eae0c41942f4809"/>
    <p:sldId xmlns:r="http://schemas.openxmlformats.org/officeDocument/2006/relationships" id="289" r:id="R67c2b68d82e6443c"/>
    <p:sldId xmlns:r="http://schemas.openxmlformats.org/officeDocument/2006/relationships" id="290" r:id="R12d83271469b4a38"/>
    <p:sldId xmlns:r="http://schemas.openxmlformats.org/officeDocument/2006/relationships" id="291" r:id="R5f16c3d3fb074fbb"/>
    <p:sldId xmlns:r="http://schemas.openxmlformats.org/officeDocument/2006/relationships" id="292" r:id="Rc08887b6ec4d449d"/>
    <p:sldId xmlns:r="http://schemas.openxmlformats.org/officeDocument/2006/relationships" id="293" r:id="Rbc9f3cae6d4d4380"/>
    <p:sldId xmlns:r="http://schemas.openxmlformats.org/officeDocument/2006/relationships" id="294" r:id="R9029f16e616d4ec7"/>
    <p:sldId xmlns:r="http://schemas.openxmlformats.org/officeDocument/2006/relationships" id="295" r:id="R2cbb143941204b93"/>
    <p:sldId xmlns:r="http://schemas.openxmlformats.org/officeDocument/2006/relationships" id="296" r:id="Rdaf6efc29d264afb"/>
    <p:sldId xmlns:r="http://schemas.openxmlformats.org/officeDocument/2006/relationships" id="297" r:id="R2030d4e8330c4800"/>
    <p:sldId xmlns:r="http://schemas.openxmlformats.org/officeDocument/2006/relationships" id="298" r:id="R05cd3974b6934789"/>
    <p:sldId xmlns:r="http://schemas.openxmlformats.org/officeDocument/2006/relationships" id="299" r:id="R101f566ca15b4f42"/>
    <p:sldId xmlns:r="http://schemas.openxmlformats.org/officeDocument/2006/relationships" id="300" r:id="R3278ae0727574d0a"/>
    <p:sldId xmlns:r="http://schemas.openxmlformats.org/officeDocument/2006/relationships" id="301" r:id="R6ca8c1c107064707"/>
    <p:sldId xmlns:r="http://schemas.openxmlformats.org/officeDocument/2006/relationships" id="302" r:id="R7f697874445f4372"/>
    <p:sldId xmlns:r="http://schemas.openxmlformats.org/officeDocument/2006/relationships" id="303" r:id="Rd7d44165457541c2"/>
    <p:sldId xmlns:r="http://schemas.openxmlformats.org/officeDocument/2006/relationships" id="304" r:id="R790ea137f9834a60"/>
    <p:sldId xmlns:r="http://schemas.openxmlformats.org/officeDocument/2006/relationships" id="305" r:id="R1b72da18703a45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b63e757c114196" /><Relationship Type="http://schemas.openxmlformats.org/officeDocument/2006/relationships/slideMaster" Target="/ppt/slideMasters/slideMaster1.xml" Id="Rb3b183e34db84796" /><Relationship Type="http://schemas.openxmlformats.org/officeDocument/2006/relationships/notesMaster" Target="/ppt/notesMasters/notesMaster1.xml" Id="Rce983269f0284587" /><Relationship Type="http://schemas.openxmlformats.org/officeDocument/2006/relationships/presProps" Target="/ppt/presProps.xml" Id="R102eff5b9a4345d9" /><Relationship Type="http://schemas.openxmlformats.org/officeDocument/2006/relationships/tableStyles" Target="/ppt/tableStyles.xml" Id="R27a68932ab0141a2" /><Relationship Type="http://schemas.openxmlformats.org/officeDocument/2006/relationships/slide" Target="/ppt/slides/slide1.xml" Id="R79fc761e23a2415b" /><Relationship Type="http://schemas.openxmlformats.org/officeDocument/2006/relationships/slide" Target="/ppt/slides/slide2.xml" Id="R90f6ac117266482e" /><Relationship Type="http://schemas.openxmlformats.org/officeDocument/2006/relationships/slide" Target="/ppt/slides/slide3.xml" Id="R0a7f0a31e5b94b4e" /><Relationship Type="http://schemas.openxmlformats.org/officeDocument/2006/relationships/slide" Target="/ppt/slides/slide4.xml" Id="Rf9131d4980c946df" /><Relationship Type="http://schemas.openxmlformats.org/officeDocument/2006/relationships/slide" Target="/ppt/slides/slide5.xml" Id="Rec3bbe9395da481b" /><Relationship Type="http://schemas.openxmlformats.org/officeDocument/2006/relationships/slide" Target="/ppt/slides/slide6.xml" Id="R64572160f52442d8" /><Relationship Type="http://schemas.openxmlformats.org/officeDocument/2006/relationships/slide" Target="/ppt/slides/slide7.xml" Id="R86f1c1173bd947a1" /><Relationship Type="http://schemas.openxmlformats.org/officeDocument/2006/relationships/slide" Target="/ppt/slides/slide8.xml" Id="R45197e7d9e334d1f" /><Relationship Type="http://schemas.openxmlformats.org/officeDocument/2006/relationships/slide" Target="/ppt/slides/slide9.xml" Id="R45428c4a8260428c" /><Relationship Type="http://schemas.openxmlformats.org/officeDocument/2006/relationships/slide" Target="/ppt/slides/slide10.xml" Id="Rbaadf01107034832" /><Relationship Type="http://schemas.openxmlformats.org/officeDocument/2006/relationships/slide" Target="/ppt/slides/slide11.xml" Id="R2c0a04f6b7194be2" /><Relationship Type="http://schemas.openxmlformats.org/officeDocument/2006/relationships/slide" Target="/ppt/slides/slide12.xml" Id="R73f51dfd98bb4b04" /><Relationship Type="http://schemas.openxmlformats.org/officeDocument/2006/relationships/slide" Target="/ppt/slides/slide13.xml" Id="R685da83cb39b43b1" /><Relationship Type="http://schemas.openxmlformats.org/officeDocument/2006/relationships/slide" Target="/ppt/slides/slide14.xml" Id="Rd5ee01e6884440fb" /><Relationship Type="http://schemas.openxmlformats.org/officeDocument/2006/relationships/slide" Target="/ppt/slides/slide15.xml" Id="Rbcd8d6ee8f8d428b" /><Relationship Type="http://schemas.openxmlformats.org/officeDocument/2006/relationships/slide" Target="/ppt/slides/slide16.xml" Id="R8ea15736638743a9" /><Relationship Type="http://schemas.openxmlformats.org/officeDocument/2006/relationships/slide" Target="/ppt/slides/slide17.xml" Id="R9f99c4de12a94ec2" /><Relationship Type="http://schemas.openxmlformats.org/officeDocument/2006/relationships/slide" Target="/ppt/slides/slide18.xml" Id="R9ee733bcaf18495f" /><Relationship Type="http://schemas.openxmlformats.org/officeDocument/2006/relationships/slide" Target="/ppt/slides/slide19.xml" Id="R4e5eb98f4f1d4a80" /><Relationship Type="http://schemas.openxmlformats.org/officeDocument/2006/relationships/slide" Target="/ppt/slides/slide20.xml" Id="R0c9da8516a274056" /><Relationship Type="http://schemas.openxmlformats.org/officeDocument/2006/relationships/slide" Target="/ppt/slides/slide21.xml" Id="Rf0d3f6840eeb4b7c" /><Relationship Type="http://schemas.openxmlformats.org/officeDocument/2006/relationships/slide" Target="/ppt/slides/slide22.xml" Id="R98e417cdf64c4272" /><Relationship Type="http://schemas.openxmlformats.org/officeDocument/2006/relationships/slide" Target="/ppt/slides/slide23.xml" Id="Rf101857efbca4cc2" /><Relationship Type="http://schemas.openxmlformats.org/officeDocument/2006/relationships/slide" Target="/ppt/slides/slide24.xml" Id="R0a44bd374fa947dc" /><Relationship Type="http://schemas.openxmlformats.org/officeDocument/2006/relationships/slide" Target="/ppt/slides/slide25.xml" Id="Rcdede24ce13c42e8" /><Relationship Type="http://schemas.openxmlformats.org/officeDocument/2006/relationships/slide" Target="/ppt/slides/slide26.xml" Id="R877abea7f2884f01" /><Relationship Type="http://schemas.openxmlformats.org/officeDocument/2006/relationships/slide" Target="/ppt/slides/slide27.xml" Id="R134a55f6b3cb4f46" /><Relationship Type="http://schemas.openxmlformats.org/officeDocument/2006/relationships/slide" Target="/ppt/slides/slide28.xml" Id="Rf7159af2a9b04e2c" /><Relationship Type="http://schemas.openxmlformats.org/officeDocument/2006/relationships/slide" Target="/ppt/slides/slide29.xml" Id="R1b43f404afca4fa2" /><Relationship Type="http://schemas.openxmlformats.org/officeDocument/2006/relationships/slide" Target="/ppt/slides/slide30.xml" Id="R979777bcf07946ff" /><Relationship Type="http://schemas.openxmlformats.org/officeDocument/2006/relationships/slide" Target="/ppt/slides/slide31.xml" Id="R9ee7a9524cd24260" /><Relationship Type="http://schemas.openxmlformats.org/officeDocument/2006/relationships/slide" Target="/ppt/slides/slide32.xml" Id="R591f3cda08e44af0" /><Relationship Type="http://schemas.openxmlformats.org/officeDocument/2006/relationships/slide" Target="/ppt/slides/slide33.xml" Id="R2eae0c41942f4809" /><Relationship Type="http://schemas.openxmlformats.org/officeDocument/2006/relationships/slide" Target="/ppt/slides/slide34.xml" Id="R67c2b68d82e6443c" /><Relationship Type="http://schemas.openxmlformats.org/officeDocument/2006/relationships/slide" Target="/ppt/slides/slide35.xml" Id="R12d83271469b4a38" /><Relationship Type="http://schemas.openxmlformats.org/officeDocument/2006/relationships/slide" Target="/ppt/slides/slide36.xml" Id="R5f16c3d3fb074fbb" /><Relationship Type="http://schemas.openxmlformats.org/officeDocument/2006/relationships/slide" Target="/ppt/slides/slide37.xml" Id="Rc08887b6ec4d449d" /><Relationship Type="http://schemas.openxmlformats.org/officeDocument/2006/relationships/slide" Target="/ppt/slides/slide38.xml" Id="Rbc9f3cae6d4d4380" /><Relationship Type="http://schemas.openxmlformats.org/officeDocument/2006/relationships/slide" Target="/ppt/slides/slide39.xml" Id="R9029f16e616d4ec7" /><Relationship Type="http://schemas.openxmlformats.org/officeDocument/2006/relationships/slide" Target="/ppt/slides/slide40.xml" Id="R2cbb143941204b93" /><Relationship Type="http://schemas.openxmlformats.org/officeDocument/2006/relationships/slide" Target="/ppt/slides/slide41.xml" Id="Rdaf6efc29d264afb" /><Relationship Type="http://schemas.openxmlformats.org/officeDocument/2006/relationships/slide" Target="/ppt/slides/slide42.xml" Id="R2030d4e8330c4800" /><Relationship Type="http://schemas.openxmlformats.org/officeDocument/2006/relationships/slide" Target="/ppt/slides/slide43.xml" Id="R05cd3974b6934789" /><Relationship Type="http://schemas.openxmlformats.org/officeDocument/2006/relationships/slide" Target="/ppt/slides/slide44.xml" Id="R101f566ca15b4f42" /><Relationship Type="http://schemas.openxmlformats.org/officeDocument/2006/relationships/slide" Target="/ppt/slides/slide45.xml" Id="R3278ae0727574d0a" /><Relationship Type="http://schemas.openxmlformats.org/officeDocument/2006/relationships/slide" Target="/ppt/slides/slide46.xml" Id="R6ca8c1c107064707" /><Relationship Type="http://schemas.openxmlformats.org/officeDocument/2006/relationships/slide" Target="/ppt/slides/slide47.xml" Id="R7f697874445f4372" /><Relationship Type="http://schemas.openxmlformats.org/officeDocument/2006/relationships/slide" Target="/ppt/slides/slide48.xml" Id="Rd7d44165457541c2" /><Relationship Type="http://schemas.openxmlformats.org/officeDocument/2006/relationships/slide" Target="/ppt/slides/slide49.xml" Id="R790ea137f9834a60" /><Relationship Type="http://schemas.openxmlformats.org/officeDocument/2006/relationships/slide" Target="/ppt/slides/slide50.xml" Id="R1b72da18703a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fbe86afbf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8403e09db4a81" /><Relationship Type="http://schemas.openxmlformats.org/officeDocument/2006/relationships/notesMaster" Target="/ppt/notesMasters/notesMaster1.xml" Id="Ra033816024d247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8267e725f4c3c" /><Relationship Type="http://schemas.openxmlformats.org/officeDocument/2006/relationships/notesMaster" Target="/ppt/notesMasters/notesMaster1.xml" Id="Rea846f5e713d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65909f96540ea" /><Relationship Type="http://schemas.openxmlformats.org/officeDocument/2006/relationships/notesMaster" Target="/ppt/notesMasters/notesMaster1.xml" Id="R58a4c77b0185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19ecf1ffa4356" /><Relationship Type="http://schemas.openxmlformats.org/officeDocument/2006/relationships/notesMaster" Target="/ppt/notesMasters/notesMaster1.xml" Id="R74f14337ee0e4c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e4fd658408459b" /><Relationship Type="http://schemas.openxmlformats.org/officeDocument/2006/relationships/notesMaster" Target="/ppt/notesMasters/notesMaster1.xml" Id="R94afca6eb543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1b56294405442d" /><Relationship Type="http://schemas.openxmlformats.org/officeDocument/2006/relationships/notesMaster" Target="/ppt/notesMasters/notesMaster1.xml" Id="R4cd543076ee4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e1df5cfa1b4e70" /><Relationship Type="http://schemas.openxmlformats.org/officeDocument/2006/relationships/notesMaster" Target="/ppt/notesMasters/notesMaster1.xml" Id="Rc19f25d338d84e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99536bb0c34c8f" /><Relationship Type="http://schemas.openxmlformats.org/officeDocument/2006/relationships/notesMaster" Target="/ppt/notesMasters/notesMaster1.xml" Id="R5279bd72bbb944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978d5bf81466a" /><Relationship Type="http://schemas.openxmlformats.org/officeDocument/2006/relationships/notesMaster" Target="/ppt/notesMasters/notesMaster1.xml" Id="R2a92ce24af9848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2964431c074b35" /><Relationship Type="http://schemas.openxmlformats.org/officeDocument/2006/relationships/notesMaster" Target="/ppt/notesMasters/notesMaster1.xml" Id="Rbbd54c4d1cfe45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6a3af3e59c4dc8" /><Relationship Type="http://schemas.openxmlformats.org/officeDocument/2006/relationships/notesMaster" Target="/ppt/notesMasters/notesMaster1.xml" Id="R3e6ed45235754e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b0e2404ccc4bd6" /><Relationship Type="http://schemas.openxmlformats.org/officeDocument/2006/relationships/notesMaster" Target="/ppt/notesMasters/notesMaster1.xml" Id="Rea0d075ccbcc4d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6d237e00e54cc4" /><Relationship Type="http://schemas.openxmlformats.org/officeDocument/2006/relationships/notesMaster" Target="/ppt/notesMasters/notesMaster1.xml" Id="Rf0b649b318d0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ffa702072a4b97" /><Relationship Type="http://schemas.openxmlformats.org/officeDocument/2006/relationships/notesMaster" Target="/ppt/notesMasters/notesMaster1.xml" Id="Rfe87507dbcaa46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1f94651bc8496e" /><Relationship Type="http://schemas.openxmlformats.org/officeDocument/2006/relationships/notesMaster" Target="/ppt/notesMasters/notesMaster1.xml" Id="R3c90902ddde64f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6987c8df534498" /><Relationship Type="http://schemas.openxmlformats.org/officeDocument/2006/relationships/notesMaster" Target="/ppt/notesMasters/notesMaster1.xml" Id="R2174afffaeb54b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0eb1efdb53443c" /><Relationship Type="http://schemas.openxmlformats.org/officeDocument/2006/relationships/notesMaster" Target="/ppt/notesMasters/notesMaster1.xml" Id="Rdf4240259caa4e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5df73e029249b4" /><Relationship Type="http://schemas.openxmlformats.org/officeDocument/2006/relationships/notesMaster" Target="/ppt/notesMasters/notesMaster1.xml" Id="R6d2e22397c1d47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c12637d3d94688" /><Relationship Type="http://schemas.openxmlformats.org/officeDocument/2006/relationships/notesMaster" Target="/ppt/notesMasters/notesMaster1.xml" Id="R5bf42acfd9794f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749df51d8c44bc" /><Relationship Type="http://schemas.openxmlformats.org/officeDocument/2006/relationships/notesMaster" Target="/ppt/notesMasters/notesMaster1.xml" Id="R0a38363209ea45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f6af0e5723499b" /><Relationship Type="http://schemas.openxmlformats.org/officeDocument/2006/relationships/notesMaster" Target="/ppt/notesMasters/notesMaster1.xml" Id="Re16e5553cc7a4d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da558fab124a63" /><Relationship Type="http://schemas.openxmlformats.org/officeDocument/2006/relationships/notesMaster" Target="/ppt/notesMasters/notesMaster1.xml" Id="R6a2b60995ca549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99e03e63cf4325" /><Relationship Type="http://schemas.openxmlformats.org/officeDocument/2006/relationships/notesMaster" Target="/ppt/notesMasters/notesMaster1.xml" Id="Rfd0d04db265a483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d749f6a9e446a8" /><Relationship Type="http://schemas.openxmlformats.org/officeDocument/2006/relationships/notesMaster" Target="/ppt/notesMasters/notesMaster1.xml" Id="Rdf2305aee07344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64954625d24634" /><Relationship Type="http://schemas.openxmlformats.org/officeDocument/2006/relationships/notesMaster" Target="/ppt/notesMasters/notesMaster1.xml" Id="Rd9d75462fb8045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7d59e1d2a74266" /><Relationship Type="http://schemas.openxmlformats.org/officeDocument/2006/relationships/notesMaster" Target="/ppt/notesMasters/notesMaster1.xml" Id="Rf06bc204e60140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74d70bd57346ad" /><Relationship Type="http://schemas.openxmlformats.org/officeDocument/2006/relationships/notesMaster" Target="/ppt/notesMasters/notesMaster1.xml" Id="Reb004e0048f445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81864472f14ff5" /><Relationship Type="http://schemas.openxmlformats.org/officeDocument/2006/relationships/notesMaster" Target="/ppt/notesMasters/notesMaster1.xml" Id="Recc6c55f565049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4dc0faa32f4054" /><Relationship Type="http://schemas.openxmlformats.org/officeDocument/2006/relationships/notesMaster" Target="/ppt/notesMasters/notesMaster1.xml" Id="R3d39e4269bba42f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ce996135094d3f" /><Relationship Type="http://schemas.openxmlformats.org/officeDocument/2006/relationships/notesMaster" Target="/ppt/notesMasters/notesMaster1.xml" Id="Re49b26f0173145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9eda1c190642f8" /><Relationship Type="http://schemas.openxmlformats.org/officeDocument/2006/relationships/notesMaster" Target="/ppt/notesMasters/notesMaster1.xml" Id="R6ff0d4d879124b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99b3c85b19447f" /><Relationship Type="http://schemas.openxmlformats.org/officeDocument/2006/relationships/notesMaster" Target="/ppt/notesMasters/notesMaster1.xml" Id="R83329b8d91344d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a647ee397e483d" /><Relationship Type="http://schemas.openxmlformats.org/officeDocument/2006/relationships/notesMaster" Target="/ppt/notesMasters/notesMaster1.xml" Id="Rdb8e2a494d8b48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167c9318df4ec4" /><Relationship Type="http://schemas.openxmlformats.org/officeDocument/2006/relationships/notesMaster" Target="/ppt/notesMasters/notesMaster1.xml" Id="R93fdbe9c695f43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4e928cee6941d3" /><Relationship Type="http://schemas.openxmlformats.org/officeDocument/2006/relationships/notesMaster" Target="/ppt/notesMasters/notesMaster1.xml" Id="R195a10d63dbd48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5965e6fcc14514" /><Relationship Type="http://schemas.openxmlformats.org/officeDocument/2006/relationships/notesMaster" Target="/ppt/notesMasters/notesMaster1.xml" Id="Rafc4683b048146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ff4c32ac6f4d79" /><Relationship Type="http://schemas.openxmlformats.org/officeDocument/2006/relationships/notesMaster" Target="/ppt/notesMasters/notesMaster1.xml" Id="R5e120b6ca7114e2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4365bd7706447c" /><Relationship Type="http://schemas.openxmlformats.org/officeDocument/2006/relationships/notesMaster" Target="/ppt/notesMasters/notesMaster1.xml" Id="R948547969633441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f32740f805c4bc0" /><Relationship Type="http://schemas.openxmlformats.org/officeDocument/2006/relationships/notesMaster" Target="/ppt/notesMasters/notesMaster1.xml" Id="Rb2fffe6510f3434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9da440378fd4e45" /><Relationship Type="http://schemas.openxmlformats.org/officeDocument/2006/relationships/notesMaster" Target="/ppt/notesMasters/notesMaster1.xml" Id="Rc29126dd31764af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aa25371e2614c72" /><Relationship Type="http://schemas.openxmlformats.org/officeDocument/2006/relationships/notesMaster" Target="/ppt/notesMasters/notesMaster1.xml" Id="R694c9b84c9234a1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20c580f8388477a" /><Relationship Type="http://schemas.openxmlformats.org/officeDocument/2006/relationships/notesMaster" Target="/ppt/notesMasters/notesMaster1.xml" Id="R71e3ad575b544d9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8cf6323095d4b0b" /><Relationship Type="http://schemas.openxmlformats.org/officeDocument/2006/relationships/notesMaster" Target="/ppt/notesMasters/notesMaster1.xml" Id="R91c94980e6a24b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d4a753851d34ef3" /><Relationship Type="http://schemas.openxmlformats.org/officeDocument/2006/relationships/notesMaster" Target="/ppt/notesMasters/notesMaster1.xml" Id="Rf732c74d70e94f9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7dd80f8ec2b463b" /><Relationship Type="http://schemas.openxmlformats.org/officeDocument/2006/relationships/notesMaster" Target="/ppt/notesMasters/notesMaster1.xml" Id="R60b1a30ccebe4bc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18443bcdf02474c" /><Relationship Type="http://schemas.openxmlformats.org/officeDocument/2006/relationships/notesMaster" Target="/ppt/notesMasters/notesMaster1.xml" Id="Re5b0eeb31ce04f4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3934b99a9dc40a1" /><Relationship Type="http://schemas.openxmlformats.org/officeDocument/2006/relationships/notesMaster" Target="/ppt/notesMasters/notesMaster1.xml" Id="Rab68579db0f54fd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e1b0df5f96a4473" /><Relationship Type="http://schemas.openxmlformats.org/officeDocument/2006/relationships/notesMaster" Target="/ppt/notesMasters/notesMaster1.xml" Id="R094fb5036fca49f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4171b452b274904" /><Relationship Type="http://schemas.openxmlformats.org/officeDocument/2006/relationships/notesMaster" Target="/ppt/notesMasters/notesMaster1.xml" Id="Re5245e2890aa41a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031ff486fef4717" /><Relationship Type="http://schemas.openxmlformats.org/officeDocument/2006/relationships/notesMaster" Target="/ppt/notesMasters/notesMaster1.xml" Id="R51c08df1da69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Carl Friedrich Gauss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slides/course-assets/historical-portraits/gauss.png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Where we are.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today buys you.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The model.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Stack the data.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02-geometry-of-least-squares/demo/outputs/ols_projection.png — generated by 02-geometry-of-least-squares/demo/session02_ols_geometry_demo.py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Route 1 — calculus.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Expand, differentiate, solve.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Expand, differentiate, solve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And it is a minimum.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And it is a minimum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Route 2 — geometry.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question, restated.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02-geometry-of-least-squares/demo/outputs/ols_projection.png — generated by 02-geometry-of-least-squares/demo/session02_ols_geometry_demo.py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answer is a right angle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hat matrix.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hat matrix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Leverage and R^2.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Who is pulling the line?.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Who is pulling the line?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R^2 is a squared cosine.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02-geometry-of-least-squares/demo/outputs/ols_projection.png — generated by 02-geometry-of-least-squares/demo/session02_ols_geometry_demo.py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R^2 is a squared cosine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Frisch–Waugh–Lovell.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theorem.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theorem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 words.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See it happen.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See it happen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02-geometry-of-least-squares/demo/outputs/ols_projection.png — generated by 02-geometry-of-least-squares/demo/session02_ols_geometry_demo.py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Forming it squares the conditioning.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Forming it squares the conditioning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Forming it squares the conditioning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QR instead.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QR instead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8 · Key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 carry out of this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Asset: 02-geometry-of-least-squares/demo/outputs/ols_projection.png — generated by 02-geometry-of-least-squares/demo/session02_ols_geometry_demo.py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 the practice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Vector · connect the idea.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Column space · connect the idea.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02-geometry-of-least-squares/slides.qmd</a:t>
            </a:r>
          </a:p>
          <a:p xmlns:a="http://schemas.openxmlformats.org/drawingml/2006/main">
            <a:r>
              <a:t>- https://warin.ca/quant/en/session2_cours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97cbcfbde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6e042a8810452e" /><Relationship Type="http://schemas.openxmlformats.org/officeDocument/2006/relationships/slideLayout" Target="/ppt/slideLayouts/slideLayout1.xml" Id="Rce66738a1a78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6738a1a78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bf48f7bb04893" /><Relationship Type="http://schemas.openxmlformats.org/officeDocument/2006/relationships/chart" Target="/ppt/slides/charts/chart1.xml" Id="Rb11044d0ecd947c9" /><Relationship Type="http://schemas.openxmlformats.org/officeDocument/2006/relationships/notesSlide" Target="/ppt/notesSlides/notesSlide1.xml" Id="Rafa11f79f0994e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0b1897a2c4d36" /><Relationship Type="http://schemas.openxmlformats.org/officeDocument/2006/relationships/notesSlide" Target="/ppt/notesSlides/notesSlide2.xml" Id="R6ce13b7d66ca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1eb62a865474a" /><Relationship Type="http://schemas.openxmlformats.org/officeDocument/2006/relationships/notesSlide" Target="/ppt/notesSlides/notesSlide3.xml" Id="Rcb4a22c309d8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0b5a1addd440e" /><Relationship Type="http://schemas.openxmlformats.org/officeDocument/2006/relationships/chart" Target="/ppt/slides/charts/chart2.xml" Id="Rf775f62b82cb4ead" /><Relationship Type="http://schemas.openxmlformats.org/officeDocument/2006/relationships/notesSlide" Target="/ppt/notesSlides/notesSlide4.xml" Id="Rffc8e390038c4a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f0b6c314d44ee" /><Relationship Type="http://schemas.openxmlformats.org/officeDocument/2006/relationships/chart" Target="/ppt/slides/charts/chart3.xml" Id="R2cd382a5b6e2413b" /><Relationship Type="http://schemas.openxmlformats.org/officeDocument/2006/relationships/image" Target="/ppt/media/image.png" Id="R352af8fb96a943c4" /><Relationship Type="http://schemas.openxmlformats.org/officeDocument/2006/relationships/notesSlide" Target="/ppt/notesSlides/notesSlide5.xml" Id="R75860748bcd0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bd20b574464f" /><Relationship Type="http://schemas.openxmlformats.org/officeDocument/2006/relationships/notesSlide" Target="/ppt/notesSlides/notesSlide6.xml" Id="Rec07d11e1787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8b379d0954cf5" /><Relationship Type="http://schemas.openxmlformats.org/officeDocument/2006/relationships/chart" Target="/ppt/slides/charts/chart4.xml" Id="Rf7cf579fd10e45ea" /><Relationship Type="http://schemas.openxmlformats.org/officeDocument/2006/relationships/notesSlide" Target="/ppt/notesSlides/notesSlide7.xml" Id="R9c339d7fa9d9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6b0ea11644d6b" /><Relationship Type="http://schemas.openxmlformats.org/officeDocument/2006/relationships/notesSlide" Target="/ppt/notesSlides/notesSlide8.xml" Id="Ra2b7da753ded47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fbd5464b54328" /><Relationship Type="http://schemas.openxmlformats.org/officeDocument/2006/relationships/chart" Target="/ppt/slides/charts/chart5.xml" Id="R7a68e630948b4202" /><Relationship Type="http://schemas.openxmlformats.org/officeDocument/2006/relationships/notesSlide" Target="/ppt/notesSlides/notesSlide9.xml" Id="R95bad51302ac4f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2b91ec0214d9d" /><Relationship Type="http://schemas.openxmlformats.org/officeDocument/2006/relationships/chart" Target="/ppt/slides/charts/chart6.xml" Id="R1d8387016ac3492f" /><Relationship Type="http://schemas.openxmlformats.org/officeDocument/2006/relationships/notesSlide" Target="/ppt/notesSlides/notesSlide10.xml" Id="R536f9f7d16e140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fa147cc0648b3" /><Relationship Type="http://schemas.openxmlformats.org/officeDocument/2006/relationships/chart" Target="/ppt/slides/charts/chart7.xml" Id="R58787306c471406b" /><Relationship Type="http://schemas.openxmlformats.org/officeDocument/2006/relationships/image" Target="/ppt/media/image2.png" Id="R22c2957b40bc4b1e" /><Relationship Type="http://schemas.openxmlformats.org/officeDocument/2006/relationships/notesSlide" Target="/ppt/notesSlides/notesSlide11.xml" Id="Rd472aa52eb894c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86b5541d2459e" /><Relationship Type="http://schemas.openxmlformats.org/officeDocument/2006/relationships/notesSlide" Target="/ppt/notesSlides/notesSlide12.xml" Id="R0de89f219d474c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5c850cd3e4b06" /><Relationship Type="http://schemas.openxmlformats.org/officeDocument/2006/relationships/chart" Target="/ppt/slides/charts/chart8.xml" Id="R472c9ac7d95540c9" /><Relationship Type="http://schemas.openxmlformats.org/officeDocument/2006/relationships/notesSlide" Target="/ppt/notesSlides/notesSlide13.xml" Id="Rd6a0c421eeba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e4428de85414c" /><Relationship Type="http://schemas.openxmlformats.org/officeDocument/2006/relationships/notesSlide" Target="/ppt/notesSlides/notesSlide14.xml" Id="R5f393bd849d14c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6134b39264de9" /><Relationship Type="http://schemas.openxmlformats.org/officeDocument/2006/relationships/chart" Target="/ppt/slides/charts/chart9.xml" Id="Rd822e489e65b4c09" /><Relationship Type="http://schemas.openxmlformats.org/officeDocument/2006/relationships/notesSlide" Target="/ppt/notesSlides/notesSlide15.xml" Id="Reb84590bd63a4b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6ee90c7284983" /><Relationship Type="http://schemas.openxmlformats.org/officeDocument/2006/relationships/notesSlide" Target="/ppt/notesSlides/notesSlide16.xml" Id="R4c5b2e84508041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643b3476e43c3" /><Relationship Type="http://schemas.openxmlformats.org/officeDocument/2006/relationships/chart" Target="/ppt/slides/charts/chart10.xml" Id="R839351414fae4fea" /><Relationship Type="http://schemas.openxmlformats.org/officeDocument/2006/relationships/notesSlide" Target="/ppt/notesSlides/notesSlide17.xml" Id="R62d52e71181f47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b4b9b56864822" /><Relationship Type="http://schemas.openxmlformats.org/officeDocument/2006/relationships/notesSlide" Target="/ppt/notesSlides/notesSlide18.xml" Id="R2b9f8cf36fbb40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3b90b36e4507" /><Relationship Type="http://schemas.openxmlformats.org/officeDocument/2006/relationships/chart" Target="/ppt/slides/charts/chart11.xml" Id="Rc4ce48cb6eff48f6" /><Relationship Type="http://schemas.openxmlformats.org/officeDocument/2006/relationships/image" Target="/ppt/media/image3.png" Id="R1f7388138c0646c3" /><Relationship Type="http://schemas.openxmlformats.org/officeDocument/2006/relationships/notesSlide" Target="/ppt/notesSlides/notesSlide19.xml" Id="R989fe73fe30c43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80302b2404216" /><Relationship Type="http://schemas.openxmlformats.org/officeDocument/2006/relationships/notesSlide" Target="/ppt/notesSlides/notesSlide20.xml" Id="Rb04816a49b7646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85dc039f422d" /><Relationship Type="http://schemas.openxmlformats.org/officeDocument/2006/relationships/chart" Target="/ppt/slides/charts/chart12.xml" Id="R217beba27c304180" /><Relationship Type="http://schemas.openxmlformats.org/officeDocument/2006/relationships/notesSlide" Target="/ppt/notesSlides/notesSlide21.xml" Id="Rd5c7415924be48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7f9a09c7444a7" /><Relationship Type="http://schemas.openxmlformats.org/officeDocument/2006/relationships/chart" Target="/ppt/slides/charts/chart13.xml" Id="R739da70c1bb44078" /><Relationship Type="http://schemas.openxmlformats.org/officeDocument/2006/relationships/notesSlide" Target="/ppt/notesSlides/notesSlide22.xml" Id="Re443b6194cf64c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c86bb6eb493d" /><Relationship Type="http://schemas.openxmlformats.org/officeDocument/2006/relationships/chart" Target="/ppt/slides/charts/chart14.xml" Id="Re3faa6b008e54c2b" /><Relationship Type="http://schemas.openxmlformats.org/officeDocument/2006/relationships/notesSlide" Target="/ppt/notesSlides/notesSlide23.xml" Id="Re9a05c6798d649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0f25da1cc44d9" /><Relationship Type="http://schemas.openxmlformats.org/officeDocument/2006/relationships/notesSlide" Target="/ppt/notesSlides/notesSlide24.xml" Id="R00c627ed040e41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e20666e6d4ee8" /><Relationship Type="http://schemas.openxmlformats.org/officeDocument/2006/relationships/notesSlide" Target="/ppt/notesSlides/notesSlide25.xml" Id="Ra34b526d763146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3b0c0443a4fcc" /><Relationship Type="http://schemas.openxmlformats.org/officeDocument/2006/relationships/notesSlide" Target="/ppt/notesSlides/notesSlide26.xml" Id="R4d2384846ab945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2ee41fab34b0f" /><Relationship Type="http://schemas.openxmlformats.org/officeDocument/2006/relationships/chart" Target="/ppt/slides/charts/chart15.xml" Id="R6f78b05ea80b4b3e" /><Relationship Type="http://schemas.openxmlformats.org/officeDocument/2006/relationships/image" Target="/ppt/media/image4.png" Id="R435850dd747b412f" /><Relationship Type="http://schemas.openxmlformats.org/officeDocument/2006/relationships/notesSlide" Target="/ppt/notesSlides/notesSlide27.xml" Id="Rb696ba98b21548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765a1e5d34c0c" /><Relationship Type="http://schemas.openxmlformats.org/officeDocument/2006/relationships/notesSlide" Target="/ppt/notesSlides/notesSlide28.xml" Id="Rd633636f87d647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8e0632cd446f8" /><Relationship Type="http://schemas.openxmlformats.org/officeDocument/2006/relationships/notesSlide" Target="/ppt/notesSlides/notesSlide29.xml" Id="R5230effd86a8440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84cf62ae247d9" /><Relationship Type="http://schemas.openxmlformats.org/officeDocument/2006/relationships/chart" Target="/ppt/slides/charts/chart16.xml" Id="Re0be3bc23d24422b" /><Relationship Type="http://schemas.openxmlformats.org/officeDocument/2006/relationships/notesSlide" Target="/ppt/notesSlides/notesSlide30.xml" Id="Rad5d9733e2a444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a01c1f414a1b" /><Relationship Type="http://schemas.openxmlformats.org/officeDocument/2006/relationships/chart" Target="/ppt/slides/charts/chart17.xml" Id="Racc467cdd6e347c6" /><Relationship Type="http://schemas.openxmlformats.org/officeDocument/2006/relationships/notesSlide" Target="/ppt/notesSlides/notesSlide31.xml" Id="R4a362d7ded0643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72f366ad4318" /><Relationship Type="http://schemas.openxmlformats.org/officeDocument/2006/relationships/chart" Target="/ppt/slides/charts/chart18.xml" Id="R1f1088ddaadd441a" /><Relationship Type="http://schemas.openxmlformats.org/officeDocument/2006/relationships/notesSlide" Target="/ppt/notesSlides/notesSlide32.xml" Id="R37b4e7dac7d34f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4eb1b8d724647" /><Relationship Type="http://schemas.openxmlformats.org/officeDocument/2006/relationships/notesSlide" Target="/ppt/notesSlides/notesSlide33.xml" Id="R5ab823b7e16a4f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6268921a84f0c" /><Relationship Type="http://schemas.openxmlformats.org/officeDocument/2006/relationships/notesSlide" Target="/ppt/notesSlides/notesSlide34.xml" Id="R99f70e0aa1cf41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42e01d10f4af4" /><Relationship Type="http://schemas.openxmlformats.org/officeDocument/2006/relationships/chart" Target="/ppt/slides/charts/chart19.xml" Id="Rbb7f1767c2e24b7d" /><Relationship Type="http://schemas.openxmlformats.org/officeDocument/2006/relationships/image" Target="/ppt/media/image5.png" Id="Rfa32537831784136" /><Relationship Type="http://schemas.openxmlformats.org/officeDocument/2006/relationships/notesSlide" Target="/ppt/notesSlides/notesSlide35.xml" Id="R9243d38677df45e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d55b0992047ad" /><Relationship Type="http://schemas.openxmlformats.org/officeDocument/2006/relationships/notesSlide" Target="/ppt/notesSlides/notesSlide36.xml" Id="R6c7a0d9c4f6e4c7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f5c52df5c4b13" /><Relationship Type="http://schemas.openxmlformats.org/officeDocument/2006/relationships/chart" Target="/ppt/slides/charts/chart20.xml" Id="R85a6fd294a4d473a" /><Relationship Type="http://schemas.openxmlformats.org/officeDocument/2006/relationships/notesSlide" Target="/ppt/notesSlides/notesSlide37.xml" Id="R0661cdd8520d4b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0b38f4b184a01" /><Relationship Type="http://schemas.openxmlformats.org/officeDocument/2006/relationships/chart" Target="/ppt/slides/charts/chart21.xml" Id="Rc92a133010eb4bd5" /><Relationship Type="http://schemas.openxmlformats.org/officeDocument/2006/relationships/notesSlide" Target="/ppt/notesSlides/notesSlide38.xml" Id="R0e505da80eee42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e27ada24c465d" /><Relationship Type="http://schemas.openxmlformats.org/officeDocument/2006/relationships/chart" Target="/ppt/slides/charts/chart22.xml" Id="R7ec4427ad0124b25" /><Relationship Type="http://schemas.openxmlformats.org/officeDocument/2006/relationships/notesSlide" Target="/ppt/notesSlides/notesSlide39.xml" Id="R53eb43ed536543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55f0a432a451d" /><Relationship Type="http://schemas.openxmlformats.org/officeDocument/2006/relationships/notesSlide" Target="/ppt/notesSlides/notesSlide40.xml" Id="Rbfdcbd4f1fc34e3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ca196995a4b16" /><Relationship Type="http://schemas.openxmlformats.org/officeDocument/2006/relationships/notesSlide" Target="/ppt/notesSlides/notesSlide41.xml" Id="R94b8d11ae81e478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03e9a23c74bcb" /><Relationship Type="http://schemas.openxmlformats.org/officeDocument/2006/relationships/notesSlide" Target="/ppt/notesSlides/notesSlide42.xml" Id="R4ede40de5651431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3526907e498f" /><Relationship Type="http://schemas.openxmlformats.org/officeDocument/2006/relationships/chart" Target="/ppt/slides/charts/chart23.xml" Id="R36a79a46501f4f76" /><Relationship Type="http://schemas.openxmlformats.org/officeDocument/2006/relationships/image" Target="/ppt/media/image6.png" Id="R7691c7f9c28b4b94" /><Relationship Type="http://schemas.openxmlformats.org/officeDocument/2006/relationships/notesSlide" Target="/ppt/notesSlides/notesSlide43.xml" Id="R2c2fc8c9f9b640f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0d6108004c1b" /><Relationship Type="http://schemas.openxmlformats.org/officeDocument/2006/relationships/notesSlide" Target="/ppt/notesSlides/notesSlide44.xml" Id="Rcfb0ffdc5a6645a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abb6482e64935" /><Relationship Type="http://schemas.openxmlformats.org/officeDocument/2006/relationships/notesSlide" Target="/ppt/notesSlides/notesSlide45.xml" Id="Ref5875f4c73f43d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602bd30ed412d" /><Relationship Type="http://schemas.openxmlformats.org/officeDocument/2006/relationships/notesSlide" Target="/ppt/notesSlides/notesSlide46.xml" Id="R02cd91c5a0fb4e0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7de825f094103" /><Relationship Type="http://schemas.openxmlformats.org/officeDocument/2006/relationships/notesSlide" Target="/ppt/notesSlides/notesSlide47.xml" Id="R20478d4cf64d474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77da50f14f29" /><Relationship Type="http://schemas.openxmlformats.org/officeDocument/2006/relationships/notesSlide" Target="/ppt/notesSlides/notesSlide48.xml" Id="Rdccdd36f41a6494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e1152e6874b3b" /><Relationship Type="http://schemas.openxmlformats.org/officeDocument/2006/relationships/notesSlide" Target="/ppt/notesSlides/notesSlide49.xml" Id="R95cc464e4bdd417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51d7f4ec849c6" /><Relationship Type="http://schemas.openxmlformats.org/officeDocument/2006/relationships/notesSlide" Target="/ppt/notesSlides/notesSlide50.xml" Id="R7d02669c72ad4c2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Typical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0.03</c:v>
              </c:pt>
              <c:pt idx="1">
                <c:v>0.09</c:v>
              </c:pt>
              <c:pt idx="2">
                <c:v>0.27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1.2</c:v>
              </c:pt>
              <c:pt idx="1">
                <c:v>2</c:v>
              </c:pt>
              <c:pt idx="2">
                <c:v>2.8</c:v>
              </c:pt>
              <c:pt idx="3">
                <c:v>3.6</c:v>
              </c:pt>
              <c:pt idx="4">
                <c:v>4.4</c:v>
              </c:pt>
              <c:pt idx="5">
                <c:v>5.2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1.5</c:v>
              </c:pt>
              <c:pt idx="1">
                <c:v>1.7</c:v>
              </c:pt>
              <c:pt idx="2">
                <c:v>3.4</c:v>
              </c:pt>
              <c:pt idx="3">
                <c:v>3.1</c:v>
              </c:pt>
              <c:pt idx="4">
                <c:v>4.8</c:v>
              </c:pt>
              <c:pt idx="5">
                <c:v>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A5C33E9-44F6-4563-921E-87A7299E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02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D73B561-576F-4CA9-9F55-024E614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Data, vectors, and the geometry of least squares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78EB5724-04FC-4C3A-AEA7-A77EA408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4C4A381A-845E-404F-A425-3BB9ECD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CC0FDB28-68C0-4A5A-98AE-E1AB1B9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1044d0ecd947c9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C1AD605-8BF0-41BD-9210-541D2242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357556-4DCB-4A6E-8871-74A8180A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C7C1F54-23B9-4387-9C25-CCEAD5A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466927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0C5DDBF-8F71-430C-9BCD-6C07CB6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2B1F23-78AD-4FFF-BB10-70DED8F7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8EC0A54-CFB9-4652-812E-5030813D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13DB2299-A9DA-4182-A2B1-3101636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Derive OLS twice—by calculus and by projection—and recognise when the computation is unstable.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A137B39-4505-4682-B38B-DE030AC8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1487B05-93E2-4858-A867-D3FD581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F65520A-2C26-44ED-A366-81D0417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ABE3F88-88D1-4A4F-9197-8B6A8BB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64F481A-7313-4957-86E4-83F0142A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29A181-8BCA-414E-8990-2D79AD0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51686377-886D-4E88-8E5C-F0D1C60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0EC90BC-19C3-447A-BBA8-70A3C25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8F97321-A609-4625-84B5-4180AEA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6B640B-2574-41B4-8143-51CE62D4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995623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= f(X) + ε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 linear f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 y onto X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Derive OLS twice—by calculus and by projection—and recognise when the computation is unstable.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Least squares is not only a formula. Its geometry explains coefficients, fitted values, leverage, and…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trade productivity · pricing · benchmark models.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75f62b82cb4ead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d382a5b6e2413b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Carl Friedrich Gauss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1777–1855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 and the normal distribution became foundational tools for…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17" name="media-matte-gauss.png">
            <a:extLst xmlns:a="http://schemas.openxmlformats.org/drawingml/2006/main">
              <a:ext uri="{FF2B5EF4-FFF2-40B4-BE49-F238E27FC236}">
                <a16:creationId xmlns:a16="http://schemas.microsoft.com/office/drawing/2014/main" id="{1194B2A8-85B9-4609-834B-EC225C6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af8fb96a943c4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9F2551B-42B9-4D46-A878-41C2E27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640C7-D874-4FE2-BCEF-37A6945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F167BF-BC98-42E7-8197-E61CF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C968576-37BE-4A37-B315-552286E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75D06808-8092-4B32-896A-85D798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566A809-3F43-4C91-9612-917C0DE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B3184A1-1370-4C33-8986-C73EAC6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39051B5-BE64-4BD9-A1A6-4F5FB37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F596B24F-19E6-4B0E-87B1-822DFF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Column space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8BE8623-2C7B-4E53-9522-7B820D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942DCC88-0EAD-429A-A018-67BA18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E6B656FB-1754-480D-8568-79B76B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76F501E-D9E1-4271-A41B-BFD6E01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A4BCBBFD-1FF2-4076-9B61-BBFF097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C0BCB6F-F3AC-49E4-BA83-E985D65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A3AA03F7-FA4C-43E7-A964-BE5F806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E7CB1F-7721-495F-81A4-3A95C9D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8A418D-F23D-4093-B167-30B6E9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5BB642-5EA1-42A3-B166-30191BE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597695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AB05527-DD19-4A16-B213-9181866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081BC-81E2-4177-8909-902AA3E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we are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5AE639-0F1D-49D2-8BCB-A2A3902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8DA4CD-63CF-4F29-BB67-47147F3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Xᵀ(y − Xβ̂) = 0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30E3D42-803F-488A-BBC7-34D9C6C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01 set up the machine and asked what a scenario is. No mathematics. This is the first method in the course, and everything after it is a variation. Sessions 03–11 add assumptions to this estimator, relax them, or replace it — but the geometry drawn…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1FC0E4-D288-4158-91FF-1E7592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A43B37AA-15B5-4034-80C3-B8651B5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01 set up the machine and asked what a scenario is.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cf579fd10e45e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24A291-1EF0-4CD7-AF8A-AF05F60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19850-2EE4-491A-A59B-2500983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AB0406-009F-484C-B41A-D88B911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790452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today buys you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 the picture once and you re-use it nine times.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Verify Xᵀe ≈ 0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185F402-224A-4F77-AFFC-593122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5C33-E86A-47F9-9774-E422E2B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026966-22D9-490A-B04D-43CC9B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180A3DB-5510-4E39-83B7-781A9FC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= arg minβ ||y − Xβ||²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55F1031-F5AC-4F16-AEFA-0FA3AC5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model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4EC16B6-BE7A-4D33-95E0-B5AEDDC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7748185A-DA05-4EDB-BE29-1883D25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model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8e630948b420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0F1979C-7CD7-4A1A-8E29-407AEB9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5A5F1-1AA4-47BB-8064-1CCA456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1A029-BFB1-493A-AF51-38C781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804529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the data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Xβ + 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in mathbbR^n, X in mathbbR^n p with a leading column of ones: We want the β-hat minimising the residual sum of squares Everything today follows from that one line. There are two routes to the minimum, and they turn out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in mathbbR^n, X in mathbbR^n p with a leading column of ones: We want the β-hat minimising the…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8387016ac3492f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the data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787306c471406b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in mathbbR^n, X in mathbbR^n p with a leading column of ones: We want the β-hat minimising the…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There are two routes to the minimum, and they turn out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17" name="media-matte-ols_projection.png">
            <a:extLst xmlns:a="http://schemas.openxmlformats.org/drawingml/2006/main">
              <a:ext uri="{FF2B5EF4-FFF2-40B4-BE49-F238E27FC236}">
                <a16:creationId xmlns:a16="http://schemas.microsoft.com/office/drawing/2014/main" id="{2CF7B3FD-8EB4-4ED0-97AD-AF15ED2B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2957b40bc4b1e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5A4F6D-21AC-4DBC-9241-79F6185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FBA07-E8F9-49F8-820D-086C8A6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Route 1 — calculus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B2B023A-4624-4AC7-8244-157B77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61B412-0EAD-46B8-ABF8-7F0986E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FF974A1-D464-4B1A-AC1F-43EE8AE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CB28F97-C0E0-40AE-BC1A-5ABA6B3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65D0C864-5A35-4406-AB1F-8AA0F2F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3AA42B80-010A-43B6-9157-761AC0C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04F780D-E04E-4187-8D4D-AA0F5D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np.arange(1., 6.)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np.array([2., 3., 5., 6., 8.])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np.c_[np.ones(x.size), x]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 = np.linalg.lstsq(X, y, rcond=None)[0]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print(b, X.T @ (y - X @ b))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578FF0B2-BF0F-4180-8BEA-A3C1663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D3355BC-0000-4BC5-A4C1-FB60C0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9D307-1800-4961-9C49-2B73A8F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755BA2-0BFB-44A6-A898-E589D46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9422128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AB05527-DD19-4A16-B213-9181866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081BC-81E2-4177-8909-902AA3E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Expand, differentiate, solve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5AE639-0F1D-49D2-8BCB-A2A3902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8DA4CD-63CF-4F29-BB67-47147F3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S(β) = y^ᵀ y - 2β^ᵀ X^ᵀ y + β^ᵀ X^ᵀ Xβ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30E3D42-803F-488A-BBC7-34D9C6C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giving the normal equations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1FC0E4-D288-4158-91FF-1E7592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A43B37AA-15B5-4034-80C3-B8651B5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giving the normal equations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2c9ac7d95540c9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24A291-1EF0-4CD7-AF8A-AF05F60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19850-2EE4-491A-A59B-2500983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AB0406-009F-484C-B41A-D88B911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7904527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1A48F302-ABEB-4A5A-B75C-5136D4B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F3F25-9280-4E12-8EA3-88EF0DD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Expand, differentiate, solve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F0BE125-279A-4D8C-BACF-32FAC82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DC7BEF5-07DB-4AED-98CD-0158121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giving the normal equations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6CAE179-AA0E-4C7B-BF20-D7A804E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68D5B4E-1109-4753-A5A2-F554E58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giving the normal equations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73AE2B7-14F9-4D3D-BD94-C6CCFA1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B9F405B-6315-469D-BE19-EF6C5DF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458EF14-244E-4428-8EC6-FB46CD8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7BED478-B0BF-402B-8691-0072774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4032722-9BC7-49BB-96D7-50B0EB3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2F653855-7DB2-4444-9D96-96559FB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940AD62C-D989-4B32-98FE-8616631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7A7AEA7B-1EB6-4C65-8E65-1DADA18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A0E2724-52CA-416F-8D2E-F74471A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Verify Xᵀe ≈ 0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3CD356CD-4FE0-4F46-9038-4CEF8B4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D7BEA97-547C-4450-8630-959DC0B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FF85EB-4DBA-41D6-869B-A4DE0B5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A2F97D1-33D7-4D10-9B32-E04F731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2154466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185F402-224A-4F77-AFFC-593122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5C33-E86A-47F9-9774-E422E2B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it is a minimum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026966-22D9-490A-B04D-43CC9B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180A3DB-5510-4E39-83B7-781A9FC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= arg minβ ||y − Xβ||²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55F1031-F5AC-4F16-AEFA-0FA3AC5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X has full column rank, β-hat = (X^ᵀ X)^-1X^ᵀ y. The Hessian is 2X^ᵀ X succeq 0, so the stationary point is a global minimum and S is convex. b = np.linspace(-1.2, 3.2, 200)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4EC16B6-BE7A-4D33-95E0-B5AEDDC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7748185A-DA05-4EDB-BE29-1883D25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X has full column rank, β-hat = (X^ᵀ X)^-1X^ᵀ y.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22e489e65b4c09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0F1979C-7CD7-4A1A-8E29-407AEB9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5A5F1-1AA4-47BB-8064-1CCA456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1A029-BFB1-493A-AF51-38C781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804529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9F2551B-42B9-4D46-A878-41C2E27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640C7-D874-4FE2-BCEF-37A6945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it is a minimum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F167BF-BC98-42E7-8197-E61CF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C968576-37BE-4A37-B315-552286E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75D06808-8092-4B32-896A-85D798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it is a minimum ·…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566A809-3F43-4C91-9612-917C0DE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B3184A1-1370-4C33-8986-C73EAC6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X has full column rank, β-hat = (X^ᵀ X)^-1X^ᵀ y.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39051B5-BE64-4BD9-A1A6-4F5FB37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F596B24F-19E6-4B0E-87B1-822DFF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8BE8623-2C7B-4E53-9522-7B820D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942DCC88-0EAD-429A-A018-67BA18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Hessian is 2X^ᵀ X succeq 0, so the stationary point is a global minimum and S is convex.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E6B656FB-1754-480D-8568-79B76B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76F501E-D9E1-4271-A41B-BFD6E01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A4BCBBFD-1FF2-4076-9B61-BBFF097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C0BCB6F-F3AC-49E4-BA83-E985D65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 = np.linspace(-1.2, 3.2, 200)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A3AA03F7-FA4C-43E7-A964-BE5F806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E7CB1F-7721-495F-81A4-3A95C9D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8A418D-F23D-4093-B167-30B6E9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5BB642-5EA1-42A3-B166-30191BE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5976951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Route 2 — geometry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ŷ = Hy,  H = X(XᵀX)⁻¹Xᵀ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Route 2 — geometry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Route 2 — geometry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9351414fae4fe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question, restated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Xβ can only reach points in mathcalC(X) — a p-dimensional subspace of mathbbR^n.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minimising |y - Xβ| asks: &gt; which point of that subspace is closest to y?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answer is a right angle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ce48cb6eff48f6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plt.subplots(figsize=(6.2, 3.3)) t = np.linspace(-0.4, 3.1, 10) ax.plot(t, 0.42 t,…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17" name="media-matte-ols_projection.png">
            <a:extLst xmlns:a="http://schemas.openxmlformats.org/drawingml/2006/main">
              <a:ext uri="{FF2B5EF4-FFF2-40B4-BE49-F238E27FC236}">
                <a16:creationId xmlns:a16="http://schemas.microsoft.com/office/drawing/2014/main" id="{EC2EA4A5-F04F-4D4E-915F-8E01FC87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88138c0646c3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5A4F6D-21AC-4DBC-9241-79F6185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FBA07-E8F9-49F8-820D-086C8A6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answer is a right angle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B2B023A-4624-4AC7-8244-157B77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61B412-0EAD-46B8-ABF8-7F0986E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FF974A1-D464-4B1A-AC1F-43EE8AE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CB28F97-C0E0-40AE-BC1A-5ABA6B3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65D0C864-5A35-4406-AB1F-8AA0F2F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3AA42B80-010A-43B6-9157-761AC0C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04F780D-E04E-4187-8D4D-AA0F5D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plt.subplots(figsize=(6.2, 3.3))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 = np.linspace(-0.4, 3.1, 10)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ax.plot(t, 0.42 * t, color=CL.muted, lw=1.8)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ax.text(2.72, 0.42 * 2.9 - .32, r"$\mathcal{C}(X)$", color=CL.muted, fontsize=11)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y_pt = np.array([1.55, 2.15])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 = np.array([1, 0.42]); u = u / np.linalg.norm(u)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yhat = (y_pt @ u) * 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ax.annotate("", xy=y_pt, xytext=(0, 0), arrowprops=dict(arrowstyle="-&gt;", color=CL.ink, lw=2.2))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ax.annotate("", xy=yhat, xytext=(0, 0), arrowprops=dict(arrowstyle="-&gt;", color=CL.accent, lw=2.2))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ax.annotate("", xy=y_pt, xytext=yhat, arrowprops=dict(arrowstyle="-&gt;", color=CL.warn, lw=2.2))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578FF0B2-BF0F-4180-8BEA-A3C1663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D3355BC-0000-4BC5-A4C1-FB60C0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9D307-1800-4961-9C49-2B73A8F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755BA2-0BFB-44A6-A898-E589D46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9422128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AB05527-DD19-4A16-B213-9181866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081BC-81E2-4177-8909-902AA3E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hat matrix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5AE639-0F1D-49D2-8BCB-A2A3902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8DA4CD-63CF-4F29-BB67-47147F3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 = X(X^ᵀ X)^-1X^ᵀ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30E3D42-803F-488A-BBC7-34D9C6C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last identity says fitted values and residuals share no information. It is the whole reason a residual plot is informative.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1FC0E4-D288-4158-91FF-1E7592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A43B37AA-15B5-4034-80C3-B8651B5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tr(H) = p — the projection spends exactly p degrees of freedom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7beba27c304180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24A291-1EF0-4CD7-AF8A-AF05F60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19850-2EE4-491A-A59B-2500983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AB0406-009F-484C-B41A-D88B911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7904527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185F402-224A-4F77-AFFC-593122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5C33-E86A-47F9-9774-E422E2B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hat matrix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026966-22D9-490A-B04D-43CC9B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180A3DB-5510-4E39-83B7-781A9FC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 = X(X^ᵀ X)^-1X^ᵀ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55F1031-F5AC-4F16-AEFA-0FA3AC5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last identity says fitted values and residuals share no information. It is the whole reason a residual plot is informative.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4EC16B6-BE7A-4D33-95E0-B5AEDDC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7748185A-DA05-4EDB-BE29-1883D25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tr(H) = p — the projection spends exactly p degrees of freedom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9da70c1bb4407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0F1979C-7CD7-4A1A-8E29-407AEB9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5A5F1-1AA4-47BB-8064-1CCA456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1A029-BFB1-493A-AF51-38C781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8045297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Leverage and R^2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ŷ = Hy,  H = X(XᵀX)⁻¹Xᵀ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Leverage and R^2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Leverage and R^2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faa6b008e54c2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65C1FF54-90BA-414A-84A9-61915EB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44AC909C-22D2-45D9-906B-EDCB465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Who is pulling the line?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A2136A3B-8BD8-42FE-8A2A-F83518B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6F27515F-4996-42BE-BCDD-671F3DF9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46C7E076-7EBA-401E-AB7A-03F3A2E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9D7DFEB2-3649-4775-A011-49F8ECEE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80F037AD-580D-4A2C-B2E2-26310E9D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 has full column rank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26C39C8-A82A-4FE9-99F4-E2C1F3E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EBFDF4-9FC0-4BCD-BF52-65F82940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D752809-4BAA-4BBC-8A66-3B6D8D6B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3785905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9F2551B-42B9-4D46-A878-41C2E27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640C7-D874-4FE2-BCEF-37A6945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Who is pulling the line?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F167BF-BC98-42E7-8197-E61CF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C968576-37BE-4A37-B315-552286E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75D06808-8092-4B32-896A-85D798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Who is pulling the…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566A809-3F43-4C91-9612-917C0DE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B3184A1-1370-4C33-8986-C73EAC6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= sm.addconstant(d[["sharefossil", "sharenuclear", "gdppceur", "productivityidx"]].tonumpy()) yv…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39051B5-BE64-4BD9-A1A6-4F5FB37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F596B24F-19E6-4B0E-87B1-822DFF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8BE8623-2C7B-4E53-9522-7B820D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942DCC88-0EAD-429A-A018-67BA18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= sm.addconstant(d[["sharefossil", "sharenuclear", "gdppceur", "productivityidx"]].tonumpy()) yv =…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E6B656FB-1754-480D-8568-79B76B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76F501E-D9E1-4271-A41B-BFD6E01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A4BCBBFD-1FF2-4076-9B61-BBFF097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C0BCB6F-F3AC-49E4-BA83-E985D65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A3AA03F7-FA4C-43E7-A964-BE5F806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E7CB1F-7721-495F-81A4-3A95C9D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8A418D-F23D-4093-B167-30B6E9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5BB642-5EA1-42A3-B166-30191BE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5976951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R^2 is a squared cosine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plt.subplots(figsize=(6.0, 3.0)) for th, col, lab in [(22, CL.good, r"small angle arrow…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plt.subplots(figsize=(6.0, 3.0)) for th, col, lab in [(22, CL.good, r"small angle arrow high…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R^2 is a squared cosine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78b05ea80b4b3e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plt.subplots(figsize=(6.0, 3.0)) for th, col, lab in [(22, CL.good, r"small angle arrow…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plt.subplots(figsize=(6.0, 3.0)) for th, col, lab in [(22, CL.good, r"small angle arrow high…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17" name="media-matte-ols_projection.png">
            <a:extLst xmlns:a="http://schemas.openxmlformats.org/drawingml/2006/main">
              <a:ext uri="{FF2B5EF4-FFF2-40B4-BE49-F238E27FC236}">
                <a16:creationId xmlns:a16="http://schemas.microsoft.com/office/drawing/2014/main" id="{01CFF57F-0410-423E-824F-BDEF0F61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850dd747b412f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5A4F6D-21AC-4DBC-9241-79F6185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FBA07-E8F9-49F8-820D-086C8A6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R^2 is a squared cosine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B2B023A-4624-4AC7-8244-157B77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61B412-0EAD-46B8-ABF8-7F0986E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FF974A1-D464-4B1A-AC1F-43EE8AE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CB28F97-C0E0-40AE-BC1A-5ABA6B3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65D0C864-5A35-4406-AB1F-8AA0F2F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3AA42B80-010A-43B6-9157-761AC0C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04F780D-E04E-4187-8D4D-AA0F5D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88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plt.subplots(figsize=(6.0, 3.0))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th, col, lab in [(22, CL.good, r"small angle $\rightarrow$ high $R^2$"),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(62, CL.warn, r"large angle $\rightarrow$ low $R^2$")]: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 = np.deg2rad(th)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ax.annotate("", xy=(2.7 * np.cos(r), 2.7 * np.sin(r)), xytext=(0, 0),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arrowprops=dict(arrowstyle="-&gt;", color=col, lw=2.2))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ax.text(2.7 * np.cos(r) + .07, 2.7 * np.sin(r), lab, color=col, fontsize=8.5)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ax.text(0.95 * np.cos(r/2) + .22, 0.95 * np.sin(r/2), r"$\theta$", color=col, fontsize=11)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ax.plot([0, 3.1], [0, 0], color=CL.muted, lw=1.8)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ax.text(2.85, -.24, r"$\mathcal{C}(X)$", color=CL.muted, fontsize=11)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ax.set_xlim(-.2, 4.0); ax.set_ylim(-.42, 2.9)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ax.set_xticks([]); ax.set_yticks([]); ax.grid(False)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578FF0B2-BF0F-4180-8BEA-A3C1663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D3355BC-0000-4BC5-A4C1-FB60C0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9D307-1800-4961-9C49-2B73A8F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755BA2-0BFB-44A6-A898-E589D46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9422128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1A48F302-ABEB-4A5A-B75C-5136D4B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F3F25-9280-4E12-8EA3-88EF0DD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Frisch–Waugh–Lovell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F0BE125-279A-4D8C-BACF-32FAC82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DC7BEF5-07DB-4AED-98CD-0158121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 · Frisch–Waugh–Lovell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6CAE179-AA0E-4C7B-BF20-D7A804E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68D5B4E-1109-4753-A5A2-F554E58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Frisch–Waugh–Lovell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73AE2B7-14F9-4D3D-BD94-C6CCFA1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B9F405B-6315-469D-BE19-EF6C5DF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458EF14-244E-4428-8EC6-FB46CD8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7BED478-B0BF-402B-8691-0072774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4032722-9BC7-49BB-96D7-50B0EB3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2F653855-7DB2-4444-9D96-96559FB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940AD62C-D989-4B32-98FE-8616631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7A7AEA7B-1EB6-4C65-8E65-1DADA18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A0E2724-52CA-416F-8D2E-F74471A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Verify Xᵀe ≈ 0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3CD356CD-4FE0-4F46-9038-4CEF8B4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D7BEA97-547C-4450-8630-959DC0B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FF85EB-4DBA-41D6-869B-A4DE0B5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A2F97D1-33D7-4D10-9B32-E04F731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2154466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AB05527-DD19-4A16-B213-9181866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081BC-81E2-4177-8909-902AA3E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theorem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5AE639-0F1D-49D2-8BCB-A2A3902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8DA4CD-63CF-4F29-BB67-47147F3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M_1 = I - X_1(X_1^ᵀ X_1)^-1X_1^ᵀ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30E3D42-803F-488A-BBC7-34D9C6C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X = [X1 X2]. Then β2-hat from the full regression equals the coefficient from regressing M1y on M1X2, where M1 is the residual-maker: it strips out everything X1 can explain.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1FC0E4-D288-4158-91FF-1E7592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A43B37AA-15B5-4034-80C3-B8651B5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X = [X1 X2].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be3bc23d24422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24A291-1EF0-4CD7-AF8A-AF05F60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19850-2EE4-491A-A59B-2500983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AB0406-009F-484C-B41A-D88B911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790452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185F402-224A-4F77-AFFC-593122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5C33-E86A-47F9-9774-E422E2B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theorem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026966-22D9-490A-B04D-43CC9B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180A3DB-5510-4E39-83B7-781A9FC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M_1 = I - X_1(X_1^ᵀ X_1)^-1X_1^ᵀ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55F1031-F5AC-4F16-AEFA-0FA3AC5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X = [X1 X2]. Then β2-hat from the full regression equals the coefficient from regressing M1y on M1X2, where M1 is the residual-maker: it strips out everything X1 can explain.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4EC16B6-BE7A-4D33-95E0-B5AEDDC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7748185A-DA05-4EDB-BE29-1883D25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X = [X1 X2].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c467cdd6e347c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0F1979C-7CD7-4A1A-8E29-407AEB9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5A5F1-1AA4-47BB-8064-1CCA456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1A029-BFB1-493A-AF51-38C781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8045297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words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ŷ = Hy,  H = X(XᵀX)⁻¹Xᵀ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A multiple-regression coefficient is a simple regression coefficient on the part of the &gt; variable that is orthogonal to everything else. This is what "controlling for" means — not "holding constant" as a figure of speech, but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A multiple-regression coefficient is a simple regression coefficient on the part of the &gt;…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1088ddaadd441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9F2551B-42B9-4D46-A878-41C2E27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640C7-D874-4FE2-BCEF-37A6945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it happen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F167BF-BC98-42E7-8197-E61CF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C968576-37BE-4A37-B315-552286E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75D06808-8092-4B32-896A-85D798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it happen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566A809-3F43-4C91-9612-917C0DE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B3184A1-1370-4C33-8986-C73EAC6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= sm.addconstant(d[["gdppceur", "productivityidx"]].tonumpy()) yr = sm.OLS(yv, Z).fit().resid xr…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39051B5-BE64-4BD9-A1A6-4F5FB37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F596B24F-19E6-4B0E-87B1-822DFF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Column space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8BE8623-2C7B-4E53-9522-7B820D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942DCC88-0EAD-429A-A018-67BA18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= sm.addconstant(d[["gdppceur", "productivityidx"]].tonumpy()) yr = sm.OLS(yv, Z).fit().resid xr =…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E6B656FB-1754-480D-8568-79B76B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76F501E-D9E1-4271-A41B-BFD6E01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A4BCBBFD-1FF2-4076-9B61-BBFF097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C0BCB6F-F3AC-49E4-BA83-E985D65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A3AA03F7-FA4C-43E7-A964-BE5F806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E7CB1F-7721-495F-81A4-3A95C9D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8A418D-F23D-4093-B167-30B6E9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5BB642-5EA1-42A3-B166-30191BE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5976951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it happen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= sm.addconstant(d[["gdppceur", "productivityidx"]].tonumpy()) yr = sm.OLS(yv, Z).fit().resid xr…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= sm.addconstant(d[["gdppceur", "productivityidx"]].tonumpy()) yr = sm.OLS(yv, Z).fit().resid xr =…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Never invert X^ᵀ X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7f1767c2e24b7d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Never invert X^ᵀ X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17" name="media-matte-ols_projection.png">
            <a:extLst xmlns:a="http://schemas.openxmlformats.org/drawingml/2006/main">
              <a:ext uri="{FF2B5EF4-FFF2-40B4-BE49-F238E27FC236}">
                <a16:creationId xmlns:a16="http://schemas.microsoft.com/office/drawing/2014/main" id="{0C9C57E1-5525-48F0-87DD-B7302D3B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2537831784136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5A4F6D-21AC-4DBC-9241-79F6185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FBA07-E8F9-49F8-820D-086C8A6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Forming it squares the conditioning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B2B023A-4624-4AC7-8244-157B77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61B412-0EAD-46B8-ABF8-7F0986E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FF974A1-D464-4B1A-AC1F-43EE8AE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CB28F97-C0E0-40AE-BC1A-5ABA6B3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65D0C864-5A35-4406-AB1F-8AA0F2F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3AA42B80-010A-43B6-9157-761AC0C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04F780D-E04E-4187-8D4D-AA0F5D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 = np.random.default_rng(60033)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base = d[["share_fossil", "gdp_pc_eur", "productivity_idx"]].to_numpy()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eps = np.array([1e-1, 1e-3, 1e-5, 1e-7, 1e-9])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kx, kxx = [], 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e in eps: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dup = base[:, [0]] * (1 + e) + e * rng.normal(size=(len(base), 1))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Xe = np.hstack([base, dup])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kx.append(np.linalg.cond(Xe)); kxx.append(np.linalg.cond(Xe.T @ Xe))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plt.subplots(figsize=(6.6, 2.9))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ax.loglog(eps, kx, "o-", color=CL.accent, lw=2.2)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ax.loglog(eps, kxx, "s-", color=CL.warn, lw=2.2)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578FF0B2-BF0F-4180-8BEA-A3C1663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D3355BC-0000-4BC5-A4C1-FB60C0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9D307-1800-4961-9C49-2B73A8F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755BA2-0BFB-44A6-A898-E589D46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9422128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AB05527-DD19-4A16-B213-9181866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B081BC-81E2-4177-8909-902AA3E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Forming it squares the conditioning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5AE639-0F1D-49D2-8BCB-A2A3902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8DA4CD-63CF-4F29-BB67-47147F3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kappa(X^ᵀ X) = kappa(X)²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30E3D42-803F-488A-BBC7-34D9C6C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you lose roughly twice as many digits of precision. rng = np.random.defaultrng(60033) base = d[["sharefossil", "gdppceur", "productivityidx"]].tonumpy()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1FC0E4-D288-4158-91FF-1E7592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A43B37AA-15B5-4034-80C3-B8651B5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you lose roughly twice as many digits of precision.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a6fd294a4d473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24A291-1EF0-4CD7-AF8A-AF05F60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19850-2EE4-491A-A59B-2500983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AB0406-009F-484C-B41A-D88B911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7904527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185F402-224A-4F77-AFFC-593122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5C33-E86A-47F9-9774-E422E2B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Forming it squares the conditioning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026966-22D9-490A-B04D-43CC9B4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180A3DB-5510-4E39-83B7-781A9FC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kappa(X^ᵀ X) = kappa(X)²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55F1031-F5AC-4F16-AEFA-0FA3AC5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you lose roughly twice as many digits of precision. rng = np.random.defaultrng(60033) base = d[["sharefossil", "gdppceur", "productivityidx"]].tonumpy()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4EC16B6-BE7A-4D33-95E0-B5AEDDC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7748185A-DA05-4EDB-BE29-1883D25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you lose roughly twice as many digits of precision.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2a133010eb4bd5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0F1979C-7CD7-4A1A-8E29-407AEB9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5A5F1-1AA4-47BB-8064-1CCA456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71A029-BFB1-493A-AF51-38C781C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8045297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A1A68AB-4E17-4387-820A-052CBB4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383D7-3082-4B2E-A11D-083A00F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QR instead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388807-C714-459D-A987-1C1482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D469D93-2B5F-46DB-9A69-157D4E6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Rβ̂ = Q^ᵀ y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6D015E-EE36-4CD2-9D7C-7ED8715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X = QR with Q^ᵀ Q = I and R upper triangular; then is solved by back-substitution. This is what numpy.linalg.lstsq and statsmodels do internally. The formula on slide 3 is how you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63D9D43D-7D31-4A55-9579-8A0520C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9574796-FD7D-4ADE-A6FB-2645BCE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X = QR with Q^ᵀ Q = I and R upper triangular; then is solved by back-substitution.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c4427ad0124b25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4AAA0-745D-4320-8AF5-C95C02A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7183B4B-67F1-4CE6-90EB-63E0F04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9AE356-393A-470A-A9F3-E752320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7086946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1A48F302-ABEB-4A5A-B75C-5136D4B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F3F25-9280-4E12-8EA3-88EF0DD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QR instead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F0BE125-279A-4D8C-BACF-32FAC82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DC7BEF5-07DB-4AED-98CD-0158121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Write X = QR with Q^ᵀ Q = I and R upper triangular; then is solved by back-substitution. This is what numpy.linalg.lstsq and statsmodels do internally. The formula on…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6CAE179-AA0E-4C7B-BF20-D7A804E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68D5B4E-1109-4753-A5A2-F554E58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X = QR with Q^ᵀ Q = I and R upper triangular; then is solved by back-substitution.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73AE2B7-14F9-4D3D-BD94-C6CCFA1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B9F405B-6315-469D-BE19-EF6C5DF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458EF14-244E-4428-8EC6-FB46CD8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what numpy.linalg.lstsq and statsmodels do internally.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7BED478-B0BF-402B-8691-0072774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4032722-9BC7-49BB-96D7-50B0EB3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2F653855-7DB2-4444-9D96-96559FB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formula on slide 3 is how you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940AD62C-D989-4B32-98FE-8616631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7A7AEA7B-1EB6-4C65-8E65-1DADA18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A0E2724-52CA-416F-8D2E-F74471A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3CD356CD-4FE0-4F46-9038-4CEF8B4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D7BEA97-547C-4450-8630-959DC0B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FF85EB-4DBA-41D6-869B-A4DE0B5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A2F97D1-33D7-4D10-9B32-E04F731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21544666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9F2551B-42B9-4D46-A878-41C2E27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640C7-D874-4FE2-BCEF-37A6945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F167BF-BC98-42E7-8197-E61CF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C968576-37BE-4A37-B315-552286E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75D06808-8092-4B32-896A-85D798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566A809-3F43-4C91-9612-917C0DE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B3184A1-1370-4C33-8986-C73EAC6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39051B5-BE64-4BD9-A1A6-4F5FB37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F596B24F-19E6-4B0E-87B1-822DFF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8BE8623-2C7B-4E53-9522-7B820D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942DCC88-0EAD-429A-A018-67BA18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E6B656FB-1754-480D-8568-79B76BE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76F501E-D9E1-4271-A41B-BFD6E01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Column space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A4BCBBFD-1FF2-4076-9B61-BBFF097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C0BCB6F-F3AC-49E4-BA83-E985D65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A3AA03F7-FA4C-43E7-A964-BE5F806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E7CB1F-7721-495F-81A4-3A95C9D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8A418D-F23D-4093-B167-30B6E9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5BB642-5EA1-42A3-B166-30191BE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5976951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54476D-3164-4B34-A228-EDEEB8AD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A1439-13CC-42BF-A3B3-4187499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 carry out of this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AF5974-829B-47C8-9705-8FC6A9A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8EC27C4-5678-400C-9E52-814AF21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29E07A5-C8F8-4018-BC6E-9239F1A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Least squares is a projection. Calculus and geometry give one answer; the geometry is the one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B73D66F-E51E-405B-AB90-4E16401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2E82CFD-E970-4945-A340-33E4A56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 is the whole story: hat y, residuals, tr(H)=p, leverage, Pythagoras.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18F3382-137B-41CB-B391-081DCA6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6BDEF35-626B-4CF6-898B-5EA10B4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R^2 is cos^2θ — an angle, and nothing more.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2E55B253-9408-48D2-9F47-226A94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"Controlling for" is projecting out. That is FWL, and it returns in Session 10.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FBC518-0A3A-47B9-8426-A9602A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6EF75F-69B2-4856-9B9E-30BB4C6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D5FA2B-3331-4F54-B543-79E2BD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117216987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E66B359-B8A9-47A1-A95F-63DF010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768D9-E731-45CD-8D50-4B4354E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loses marks reliably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57A93B1-50BE-4E98-9C7B-86197FE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a79a46501f4f76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59BD5D3A-1900-41FF-BAA9-D9C0C0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0A7D791-CA05-46FA-8C02-D968F48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loses marks reliably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89715F25-3715-483A-9F2F-9BA5BBE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C585A853-10F0-47E2-9526-F485260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Stack observations into X and y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D87CEFD-B0EA-43A3-B081-AF6582D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88FA36E-7EAE-4B61-8730-6BF3A8D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the normal equations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1F76AB8E-1C00-493A-870C-A40A5EA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C08431-F319-4FB5-8556-B94975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2C2310-E7A9-407D-9003-0C5297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A6FAC-0839-4AB6-BB76-72E4F13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17" name="media-matte-ols_projection.png">
            <a:extLst xmlns:a="http://schemas.openxmlformats.org/drawingml/2006/main">
              <a:ext uri="{FF2B5EF4-FFF2-40B4-BE49-F238E27FC236}">
                <a16:creationId xmlns:a16="http://schemas.microsoft.com/office/drawing/2014/main" id="{AE5CD851-C91C-4F0B-A1EE-648AECED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1c7f9c28b4b94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47994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5A4F6D-21AC-4DBC-9241-79F6185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FBA07-E8F9-49F8-820D-086C8A6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the practice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B2B023A-4624-4AC7-8244-157B77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61B412-0EAD-46B8-ABF8-7F0986E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FF974A1-D464-4B1A-AC1F-43EE8AE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CB28F97-C0E0-40AE-BC1A-5ABA6B3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65D0C864-5A35-4406-AB1F-8AA0F2F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02-geometry-of-least-squares/demo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session02_ols_geometry_demo.py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3AA42B80-010A-43B6-9157-761AC0C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04F780D-E04E-4187-8D4D-AA0F5D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np.arange(1., 6.)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np.array([2., 3., 5., 6., 8.])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np.c_[np.ones(x.size), x]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 = np.linalg.lstsq(X, y, rcond=None)[0]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print(b, X.T @ (y - X @ b))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578FF0B2-BF0F-4180-8BEA-A3C1663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D3355BC-0000-4BC5-A4C1-FB60C0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9D307-1800-4961-9C49-2B73A8F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755BA2-0BFB-44A6-A898-E589D46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94221281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65C1FF54-90BA-414A-84A9-61915EB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44AC909C-22D2-45D9-906B-EDCB465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Vector · connect the idea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A2136A3B-8BD8-42FE-8A2A-F83518B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6F27515F-4996-42BE-BCDD-671F3DF9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46C7E076-7EBA-401E-AB7A-03F3A2E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9D7DFEB2-3649-4775-A011-49F8ECEE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80F037AD-580D-4A2C-B2E2-26310E9D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Observations are measured on compatible scales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26C39C8-A82A-4FE9-99F4-E2C1F3E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EBFDF4-9FC0-4BCD-BF52-65F82940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D752809-4BAA-4BBC-8A66-3B6D8D6B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3785905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04F2FFE-2685-49BE-BEB5-6C44A6C9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F3C4D-0269-4180-B20A-720C216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Column space · connect the idea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BF0D870-849A-4723-A676-061E61F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86926156-5954-4D94-BFD1-AF0003EE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E8E5BDC5-0946-44A5-993B-9EDE5A9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linear combination of the columns of X.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1D0885F-EF66-4BAA-89E6-F39F94F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E6A4E894-094E-4966-B392-E3B4840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E6C06E23-BF06-453D-A274-63B278D7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792CB623-9684-4ACB-89B9-7436019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FDDDA15-C1E2-47FF-BBDC-4097CA6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E383B7D-8134-4C1A-A56B-7C75518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F9393E5-3F89-4745-8B38-7EBC4CF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3149707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62C986F-39AE-4D17-A780-4A19AD59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3777F5-8C98-4071-8388-B698B55D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6849722-AD72-4EF7-A99D-D7FAAA0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44045868-8ED5-442F-BF68-36B1B6F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0DD31E1E-E1C7-4A77-BE34-7D612B6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Topalova &amp; Khandelwal (2011) — Trade Liberalization and Firm Productivity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90C0A20A-E2E4-4E70-A946-E460EE6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the empirical result reproduced in practice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2F372D1A-9AA7-490E-9937-093504D9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https://doi.org/10.1162/REST_a_00095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808A4A80-2896-41FB-8133-795F5FA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597BE2A9-A802-45F2-B322-D62EF7B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5EB1B26E-C03E-4ADC-885A-9CCABD65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10.7910/DVN/8WEXYD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1EBC12B8-7603-4A6A-8F6B-08595C1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firm-year data and authors'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2F5667CA-23CD-401B-9281-356F782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https://doi.org/10.7910/DVN/8WEXYD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8A4BDAEF-B203-4630-90FE-1EE321BF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4D5F1525-B784-45EB-92F7-026161E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B66FCCA1-4D0A-4922-9D32-9A7DFE3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 3.1–3.2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9F83EB95-B8B0-490A-A25F-2A64BAD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explanation of multiple regression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6D2C3EA4-9A94-45AE-AC90-FE8C4BC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4A3043-93B8-4A4A-AF1E-5C1EA10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5B1269-3067-4996-A989-688353E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F6A44D-7884-4A32-AB4C-5ED465E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22571499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04F2FFE-2685-49BE-BEB5-6C44A6C9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F3C4D-0269-4180-B20A-720C216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BF0D870-849A-4723-A676-061E61F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86926156-5954-4D94-BFD1-AF0003EE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E8E5BDC5-0946-44A5-993B-9EDE5A9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coefficient is the slope after holding the other columns fixed; FWL makes that phrase a computation.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1D0885F-EF66-4BAA-89E6-F39F94F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E6A4E894-094E-4966-B392-E3B4840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E6C06E23-BF06-453D-A274-63B278D7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792CB623-9684-4ACB-89B9-7436019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FDDDA15-C1E2-47FF-BBDC-4097CA6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E383B7D-8134-4C1A-A56B-7C75518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F9393E5-3F89-4745-8B38-7EBC4CF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3149707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1A48F302-ABEB-4A5A-B75C-5136D4B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F3F25-9280-4E12-8EA3-88EF0DD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F0BE125-279A-4D8C-BACF-32FAC82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DC7BEF5-07DB-4AED-98CD-0158121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Perfect collinearity destroys a unique coefficient vector even when a fitted value may still exist.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6CAE179-AA0E-4C7B-BF20-D7A804E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68D5B4E-1109-4753-A5A2-F554E58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is linear in parameters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73AE2B7-14F9-4D3D-BD94-C6CCFA1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B9F405B-6315-469D-BE19-EF6C5DF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458EF14-244E-4428-8EC6-FB46CD8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has full column rank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7BED478-B0BF-402B-8691-0072774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4032722-9BC7-49BB-96D7-50B0EB3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2F653855-7DB2-4444-9D96-96559FB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Observations are measured on compatible scales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940AD62C-D989-4B32-98FE-8616631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7A7AEA7B-1EB6-4C65-8E65-1DADA18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A0E2724-52CA-416F-8D2E-F74471A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numerical solver respects conditioning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3CD356CD-4FE0-4F46-9038-4CEF8B4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D7BEA97-547C-4450-8630-959DC0B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FF85EB-4DBA-41D6-869B-A4DE0B5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A2F97D1-33D7-4D10-9B32-E04F731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2154466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86A4763-3A9A-491D-8407-C2E4EB2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3151E-9FFD-4E2A-AFE4-3352906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trade liberalization and firm productivity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E5C3E94-A461-4691-AF4D-DC3D023C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4CAC9ED3-B837-45DE-B8BB-64A3E928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rebuild OLS from scratch, and test where the geometry breaks.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517451E6-A43F-4AD9-A06D-5C73CF6D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5179D02A-3993-4C51-ADE9-5B9C14D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article's estimand and sample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EDF1D6B3-1F4F-4D39-A9B2-CD681584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3B50A89B-2182-4FB8-85EB-B9BA08A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regression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31F151E7-66C8-47FB-822A-0A9DC874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67BACBD6-6479-4B66-B4DC-AAFE56F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Verify the coefficient with your Python implementation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16543807-D533-4840-ABB4-62958E3E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867E797C-1025-4A49-B0E6-D9C1030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collinearity deliberately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07D19EF2-24CD-4F43-89E3-3B7A93C9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2D58A651-4EE7-490A-A5CE-4D724F03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what changed and what did not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E07CDABE-0C05-4838-9EFF-0F9B0DB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B0FC31BA-8C93-41C2-A473-573AEA9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819A38D8-1265-4828-9B7E-5A0A309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682CF1-4BE8-4E13-B2F7-7D5C3D1C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B9DEA3B-C348-49D2-B11F-9C4122A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9B918B2-E8AE-487A-A26D-98C5E00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1104219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02 Lecture</dc:title>
  <dcterms:created xsi:type="dcterms:W3CDTF">2026-08-23T23:37:04.8620000Z</dcterms:created>
  <dcterms:modified xsi:type="dcterms:W3CDTF">2026-08-23T23:37:04.8620000Z</dcterms:modified>
</coreProperties>
</file>