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176925dd2b4819" /><Relationship Type="http://schemas.openxmlformats.org/officeDocument/2006/relationships/extended-properties" Target="/docProps/app.xml" Id="R479b9f1aae124d55" /><Relationship Type="http://schemas.openxmlformats.org/officeDocument/2006/relationships/officeDocument" Target="/ppt/presentation.xml" Id="R7a0be6537cf34e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50179bc6904d5f"/>
  </p:sldMasterIdLst>
  <p:notesMasterIdLst>
    <p:notesMasterId xmlns:r="http://schemas.openxmlformats.org/officeDocument/2006/relationships" r:id="R40c6435c47ca4e06"/>
  </p:notesMasterIdLst>
  <p:sldIdLst>
    <p:sldId xmlns:r="http://schemas.openxmlformats.org/officeDocument/2006/relationships" id="256" r:id="R7c797edd823443b8"/>
    <p:sldId xmlns:r="http://schemas.openxmlformats.org/officeDocument/2006/relationships" id="257" r:id="R517f31f5753244e1"/>
    <p:sldId xmlns:r="http://schemas.openxmlformats.org/officeDocument/2006/relationships" id="258" r:id="Ra06a2c5617274a4d"/>
    <p:sldId xmlns:r="http://schemas.openxmlformats.org/officeDocument/2006/relationships" id="259" r:id="Rdfb229c938874961"/>
    <p:sldId xmlns:r="http://schemas.openxmlformats.org/officeDocument/2006/relationships" id="260" r:id="R88939812ae2a4db7"/>
    <p:sldId xmlns:r="http://schemas.openxmlformats.org/officeDocument/2006/relationships" id="261" r:id="Re4227a9f68c3449d"/>
    <p:sldId xmlns:r="http://schemas.openxmlformats.org/officeDocument/2006/relationships" id="262" r:id="R39e18aeb219e4c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f5980fe8314bd1" /><Relationship Type="http://schemas.openxmlformats.org/officeDocument/2006/relationships/slideMaster" Target="/ppt/slideMasters/slideMaster1.xml" Id="Rc450179bc6904d5f" /><Relationship Type="http://schemas.openxmlformats.org/officeDocument/2006/relationships/notesMaster" Target="/ppt/notesMasters/notesMaster1.xml" Id="R40c6435c47ca4e06" /><Relationship Type="http://schemas.openxmlformats.org/officeDocument/2006/relationships/presProps" Target="/ppt/presProps.xml" Id="R01d8c4084c2944d4" /><Relationship Type="http://schemas.openxmlformats.org/officeDocument/2006/relationships/tableStyles" Target="/ppt/tableStyles.xml" Id="Rcd2090c5bae34895" /><Relationship Type="http://schemas.openxmlformats.org/officeDocument/2006/relationships/slide" Target="/ppt/slides/slide1.xml" Id="R7c797edd823443b8" /><Relationship Type="http://schemas.openxmlformats.org/officeDocument/2006/relationships/slide" Target="/ppt/slides/slide2.xml" Id="R517f31f5753244e1" /><Relationship Type="http://schemas.openxmlformats.org/officeDocument/2006/relationships/slide" Target="/ppt/slides/slide3.xml" Id="Ra06a2c5617274a4d" /><Relationship Type="http://schemas.openxmlformats.org/officeDocument/2006/relationships/slide" Target="/ppt/slides/slide4.xml" Id="Rdfb229c938874961" /><Relationship Type="http://schemas.openxmlformats.org/officeDocument/2006/relationships/slide" Target="/ppt/slides/slide5.xml" Id="R88939812ae2a4db7" /><Relationship Type="http://schemas.openxmlformats.org/officeDocument/2006/relationships/slide" Target="/ppt/slides/slide6.xml" Id="Re4227a9f68c3449d" /><Relationship Type="http://schemas.openxmlformats.org/officeDocument/2006/relationships/slide" Target="/ppt/slides/slide7.xml" Id="R39e18aeb219e4c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628111be0c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ca57eedfe04032" /><Relationship Type="http://schemas.openxmlformats.org/officeDocument/2006/relationships/notesMaster" Target="/ppt/notesMasters/notesMaster1.xml" Id="R2625c016f56f41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1067d3cd7e40c0" /><Relationship Type="http://schemas.openxmlformats.org/officeDocument/2006/relationships/notesMaster" Target="/ppt/notesMasters/notesMaster1.xml" Id="Rebc2153c15b346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97acf4a6f143f4" /><Relationship Type="http://schemas.openxmlformats.org/officeDocument/2006/relationships/notesMaster" Target="/ppt/notesMasters/notesMaster1.xml" Id="R6be961fa11b24e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abecc6bab2415e" /><Relationship Type="http://schemas.openxmlformats.org/officeDocument/2006/relationships/notesMaster" Target="/ppt/notesMasters/notesMaster1.xml" Id="R0ea2ed69043f42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cd88601aa24e42" /><Relationship Type="http://schemas.openxmlformats.org/officeDocument/2006/relationships/notesMaster" Target="/ppt/notesMasters/notesMaster1.xml" Id="R7732162efc9844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2091d9e6d241e3" /><Relationship Type="http://schemas.openxmlformats.org/officeDocument/2006/relationships/notesMaster" Target="/ppt/notesMasters/notesMaster1.xml" Id="R37da78ea97af49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3062529f3344d0" /><Relationship Type="http://schemas.openxmlformats.org/officeDocument/2006/relationships/notesMaster" Target="/ppt/notesMasters/notesMaster1.xml" Id="R9ab0598759244a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question: Can you make a decision-maker act—and say what would change your mind?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work is completed before class. Begin the lecture by asking for the unresolved questions students brought.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academic article and Dataverse package are required before class. ISLR is optional background.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should be able to supply a concrete example of each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open the folder in VS Codium, then use only its integrated terminal.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reveal answers. Ask students to bring the question they could not settle.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goal is readiness, not completion theatre. Invite students to bring one unresolved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 source: 12-group-presentations/00-pre-session/README.md</a:t>
            </a:r>
          </a:p>
          <a:p xmlns:a="http://schemas.openxmlformats.org/drawingml/2006/main">
            <a:r>
              <a:t>- Session 12 rubric — local:12-group-presentations/README.md</a:t>
            </a:r>
          </a:p>
          <a:p xmlns:a="http://schemas.openxmlformats.org/drawingml/2006/main">
            <a:r>
              <a:t>- Final-paper brief — local:assessments/final-paper/README.md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6b08612294e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ff8d87cd2a4d1d" /><Relationship Type="http://schemas.openxmlformats.org/officeDocument/2006/relationships/slideLayout" Target="/ppt/slideLayouts/slideLayout1.xml" Id="R0fee51f64e56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ee51f64e56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8969e3ae34532" /><Relationship Type="http://schemas.openxmlformats.org/officeDocument/2006/relationships/notesSlide" Target="/ppt/notesSlides/notesSlide1.xml" Id="R1f1646080c0e4e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5721c6fdd1462d" /><Relationship Type="http://schemas.openxmlformats.org/officeDocument/2006/relationships/notesSlide" Target="/ppt/notesSlides/notesSlide2.xml" Id="Rd57f396f643d43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d01a4bf2f4b87" /><Relationship Type="http://schemas.openxmlformats.org/officeDocument/2006/relationships/notesSlide" Target="/ppt/notesSlides/notesSlide3.xml" Id="R337a2b6f45ef4e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35dcc814c43a8" /><Relationship Type="http://schemas.openxmlformats.org/officeDocument/2006/relationships/notesSlide" Target="/ppt/notesSlides/notesSlide4.xml" Id="Rfde43bd433c241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94e0a89e54177" /><Relationship Type="http://schemas.openxmlformats.org/officeDocument/2006/relationships/notesSlide" Target="/ppt/notesSlides/notesSlide5.xml" Id="Rd2398d31642a41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4cea09a214992" /><Relationship Type="http://schemas.openxmlformats.org/officeDocument/2006/relationships/notesSlide" Target="/ppt/notesSlides/notesSlide6.xml" Id="Rf9eedfec431548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2f4cfd768426c" /><Relationship Type="http://schemas.openxmlformats.org/officeDocument/2006/relationships/notesSlide" Target="/ppt/notesSlides/notesSlide7.xml" Id="Rb5a5973610e449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6948B31-4243-4B2F-A7CB-579962A5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MATH60033A · SESSION 12 · PRE-SESSION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50C2E94-CB8B-46B7-A765-6700BFF3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572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Final presentations: defend what you built</a:t>
            </a:r>
          </a:p>
        </p:txBody>
      </p:sp>
      <p:sp>
        <p:nvSpPr>
          <p:cNvPr id="3" name="cover-hook">
            <a:extLst xmlns:a="http://schemas.openxmlformats.org/drawingml/2006/main">
              <a:ext uri="{FF2B5EF4-FFF2-40B4-BE49-F238E27FC236}">
                <a16:creationId xmlns:a16="http://schemas.microsoft.com/office/drawing/2014/main" id="{91577B95-61FA-4310-AF39-18B1D91D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095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4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9E1C5B91-A9C0-4E2E-8337-5F640F94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Thierry Warin</a:t>
            </a:r>
          </a:p>
        </p:txBody>
      </p:sp>
      <p:sp>
        <p:nvSpPr>
          <p:cNvPr id="5" name="motif-field">
            <a:extLst xmlns:a="http://schemas.openxmlformats.org/drawingml/2006/main">
              <a:ext uri="{FF2B5EF4-FFF2-40B4-BE49-F238E27FC236}">
                <a16:creationId xmlns:a16="http://schemas.microsoft.com/office/drawing/2014/main" id="{24EC6A73-D6D2-4168-9210-42EC00D0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"/>
            <a:ext cx="5400675" cy="5734050"/>
          </a:xfrm>
          <a:prstGeom xmlns:a="http://schemas.openxmlformats.org/drawingml/2006/main" prst="roundRect">
            <a:avLst>
              <a:gd name="adj" fmla="val 141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6" name="interval-bg">
            <a:extLst xmlns:a="http://schemas.openxmlformats.org/drawingml/2006/main">
              <a:ext uri="{FF2B5EF4-FFF2-40B4-BE49-F238E27FC236}">
                <a16:creationId xmlns:a16="http://schemas.microsoft.com/office/drawing/2014/main" id="{4C7B918A-DA00-47AD-BBA6-351C069A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685800"/>
            <a:ext cx="4752975" cy="508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7" name="interval-label-0">
            <a:extLst xmlns:a="http://schemas.openxmlformats.org/drawingml/2006/main">
              <a:ext uri="{FF2B5EF4-FFF2-40B4-BE49-F238E27FC236}">
                <a16:creationId xmlns:a16="http://schemas.microsoft.com/office/drawing/2014/main" id="{76369153-F45A-4100-9C97-C51729E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219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Classical</a:t>
            </a:r>
          </a:p>
        </p:txBody>
      </p:sp>
      <p:sp>
        <p:nvSpPr>
          <p:cNvPr id="8" name="interval-line-0">
            <a:extLst xmlns:a="http://schemas.openxmlformats.org/drawingml/2006/main">
              <a:ext uri="{FF2B5EF4-FFF2-40B4-BE49-F238E27FC236}">
                <a16:creationId xmlns:a16="http://schemas.microsoft.com/office/drawing/2014/main" id="{1B07F842-E1CC-410E-B546-483490F1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01" y="1371600"/>
            <a:ext cx="109099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terval-dot-0">
            <a:extLst xmlns:a="http://schemas.openxmlformats.org/drawingml/2006/main">
              <a:ext uri="{FF2B5EF4-FFF2-40B4-BE49-F238E27FC236}">
                <a16:creationId xmlns:a16="http://schemas.microsoft.com/office/drawing/2014/main" id="{C2DD8907-0F69-451E-B67B-890C7B91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6498" y="1304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nterval-label-1">
            <a:extLst xmlns:a="http://schemas.openxmlformats.org/drawingml/2006/main">
              <a:ext uri="{FF2B5EF4-FFF2-40B4-BE49-F238E27FC236}">
                <a16:creationId xmlns:a16="http://schemas.microsoft.com/office/drawing/2014/main" id="{E96CDCDB-8A4E-4A69-9010-F245B321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Robust</a:t>
            </a:r>
          </a:p>
        </p:txBody>
      </p:sp>
      <p:sp>
        <p:nvSpPr>
          <p:cNvPr id="11" name="interval-line-1">
            <a:extLst xmlns:a="http://schemas.openxmlformats.org/drawingml/2006/main">
              <a:ext uri="{FF2B5EF4-FFF2-40B4-BE49-F238E27FC236}">
                <a16:creationId xmlns:a16="http://schemas.microsoft.com/office/drawing/2014/main" id="{F466FE37-4730-4790-90AC-7DA8D15D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463" y="2247900"/>
            <a:ext cx="15179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terval-dot-1">
            <a:extLst xmlns:a="http://schemas.openxmlformats.org/drawingml/2006/main">
              <a:ext uri="{FF2B5EF4-FFF2-40B4-BE49-F238E27FC236}">
                <a16:creationId xmlns:a16="http://schemas.microsoft.com/office/drawing/2014/main" id="{C527010F-CB57-49A2-A7FC-93471B31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650" y="2181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terval-label-2">
            <a:extLst xmlns:a="http://schemas.openxmlformats.org/drawingml/2006/main">
              <a:ext uri="{FF2B5EF4-FFF2-40B4-BE49-F238E27FC236}">
                <a16:creationId xmlns:a16="http://schemas.microsoft.com/office/drawing/2014/main" id="{5053D44E-7BC0-4973-9CB6-4D9069AC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718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Clustered</a:t>
            </a:r>
          </a:p>
        </p:txBody>
      </p:sp>
      <p:sp>
        <p:nvSpPr>
          <p:cNvPr id="14" name="interval-line-2">
            <a:extLst xmlns:a="http://schemas.openxmlformats.org/drawingml/2006/main">
              <a:ext uri="{FF2B5EF4-FFF2-40B4-BE49-F238E27FC236}">
                <a16:creationId xmlns:a16="http://schemas.microsoft.com/office/drawing/2014/main" id="{3701F0C1-FDC3-49E2-BB44-F7AECB9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160" y="3124200"/>
            <a:ext cx="194481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terval-dot-2">
            <a:extLst xmlns:a="http://schemas.openxmlformats.org/drawingml/2006/main">
              <a:ext uri="{FF2B5EF4-FFF2-40B4-BE49-F238E27FC236}">
                <a16:creationId xmlns:a16="http://schemas.microsoft.com/office/drawing/2014/main" id="{25A5503A-A7B2-4DB2-8C0E-CD706F7B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801" y="3057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nterval-caption">
            <a:extLst xmlns:a="http://schemas.openxmlformats.org/drawingml/2006/main">
              <a:ext uri="{FF2B5EF4-FFF2-40B4-BE49-F238E27FC236}">
                <a16:creationId xmlns:a16="http://schemas.microsoft.com/office/drawing/2014/main" id="{F0FFB040-F63B-47FE-8C2A-9474C7D7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276850"/>
            <a:ext cx="2657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0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Same estimate · different uncertainty assumptions</a:t>
            </a:r>
          </a:p>
        </p:txBody>
      </p:sp>
      <p:sp>
        <p:nvSpPr>
          <p:cNvPr id="17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22A31D4-5CAE-408A-8B39-F4780D0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F1D7BF-C311-447F-BBE5-2703F9E6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9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E7F432E6-1A70-4B73-A9DD-79E7211B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1</a:t>
            </a:r>
          </a:p>
        </p:txBody>
      </p:sp>
    </p:spTree>
    <p:extLst>
      <p:ext uri="{BB962C8B-B14F-4D97-AF65-F5344CB8AC3E}">
        <p14:creationId xmlns:p14="http://schemas.microsoft.com/office/powerpoint/2010/main" val="168126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A2B75804-6FC2-4FEC-B2A6-C8F53641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REQUIRED BEFORE CLASS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C8A3C70-2763-4E98-9964-7B19AAF7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ready to use the reading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CEFC0233-6AF2-4BC8-B835-69EB8CAA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quired-label">
            <a:extLst xmlns:a="http://schemas.openxmlformats.org/drawingml/2006/main">
              <a:ext uri="{FF2B5EF4-FFF2-40B4-BE49-F238E27FC236}">
                <a16:creationId xmlns:a16="http://schemas.microsoft.com/office/drawing/2014/main" id="{3C15099D-7253-466D-915C-98DA67AB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READING</a:t>
            </a:r>
          </a:p>
        </p:txBody>
      </p:sp>
      <p:sp>
        <p:nvSpPr>
          <p:cNvPr id="5" name="pre-required-title">
            <a:extLst xmlns:a="http://schemas.openxmlformats.org/drawingml/2006/main">
              <a:ext uri="{FF2B5EF4-FFF2-40B4-BE49-F238E27FC236}">
                <a16:creationId xmlns:a16="http://schemas.microsoft.com/office/drawing/2014/main" id="{72966304-D359-4CAD-A326-6A135BF6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Session 12 rubric</a:t>
            </a:r>
          </a:p>
        </p:txBody>
      </p:sp>
      <p:sp>
        <p:nvSpPr>
          <p:cNvPr id="6" name="pre-required-purpose">
            <a:extLst xmlns:a="http://schemas.openxmlformats.org/drawingml/2006/main">
              <a:ext uri="{FF2B5EF4-FFF2-40B4-BE49-F238E27FC236}">
                <a16:creationId xmlns:a16="http://schemas.microsoft.com/office/drawing/2014/main" id="{E25DEC59-17FF-4D09-8B36-BA357936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eight-slide and defence requirements</a:t>
            </a:r>
          </a:p>
        </p:txBody>
      </p:sp>
      <p:sp>
        <p:nvSpPr>
          <p:cNvPr id="7" name="pre-required-url">
            <a:extLst xmlns:a="http://schemas.openxmlformats.org/drawingml/2006/main">
              <a:ext uri="{FF2B5EF4-FFF2-40B4-BE49-F238E27FC236}">
                <a16:creationId xmlns:a16="http://schemas.microsoft.com/office/drawing/2014/main" id="{A95A3EF9-86A2-4089-A79B-43B59A12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local:12-group-presentations/README.md</a:t>
            </a:r>
          </a:p>
        </p:txBody>
      </p:sp>
      <p:sp>
        <p:nvSpPr>
          <p:cNvPr id="8" name="pre-bring-label">
            <a:extLst xmlns:a="http://schemas.openxmlformats.org/drawingml/2006/main">
              <a:ext uri="{FF2B5EF4-FFF2-40B4-BE49-F238E27FC236}">
                <a16:creationId xmlns:a16="http://schemas.microsoft.com/office/drawing/2014/main" id="{4EAB7CDB-A988-488B-94FC-6CAE8931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BRING TO CLASS</a:t>
            </a:r>
          </a:p>
        </p:txBody>
      </p:sp>
      <p:sp>
        <p:nvSpPr>
          <p:cNvPr id="9" name="pre-bring-copy">
            <a:extLst xmlns:a="http://schemas.openxmlformats.org/drawingml/2006/main">
              <a:ext uri="{FF2B5EF4-FFF2-40B4-BE49-F238E27FC236}">
                <a16:creationId xmlns:a16="http://schemas.microsoft.com/office/drawing/2014/main" id="{94CC60F7-ECE6-43EB-B114-E22CA084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annotated page · one unresolved question · your self-check answers</a:t>
            </a:r>
          </a:p>
        </p:txBody>
      </p:sp>
      <p:sp>
        <p:nvSpPr>
          <p:cNvPr id="10" name="pre-annotation-bg">
            <a:extLst xmlns:a="http://schemas.openxmlformats.org/drawingml/2006/main">
              <a:ext uri="{FF2B5EF4-FFF2-40B4-BE49-F238E27FC236}">
                <a16:creationId xmlns:a16="http://schemas.microsoft.com/office/drawing/2014/main" id="{3A1E334C-41DC-4933-9741-FEAE7DD3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733550"/>
            <a:ext cx="40386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1" name="pre-annotation-title">
            <a:extLst xmlns:a="http://schemas.openxmlformats.org/drawingml/2006/main">
              <a:ext uri="{FF2B5EF4-FFF2-40B4-BE49-F238E27FC236}">
                <a16:creationId xmlns:a16="http://schemas.microsoft.com/office/drawing/2014/main" id="{CC256507-DC42-433D-BF11-3B85AABE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955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Annotate four things</a:t>
            </a:r>
          </a:p>
        </p:txBody>
      </p:sp>
      <p:sp>
        <p:nvSpPr>
          <p:cNvPr id="12" name="pre-annotation-num-0">
            <a:extLst xmlns:a="http://schemas.openxmlformats.org/drawingml/2006/main">
              <a:ext uri="{FF2B5EF4-FFF2-40B4-BE49-F238E27FC236}">
                <a16:creationId xmlns:a16="http://schemas.microsoft.com/office/drawing/2014/main" id="{06783424-DC99-40BE-93ED-DF32BFC1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pre-annotation-item-0">
            <a:extLst xmlns:a="http://schemas.openxmlformats.org/drawingml/2006/main">
              <a:ext uri="{FF2B5EF4-FFF2-40B4-BE49-F238E27FC236}">
                <a16:creationId xmlns:a16="http://schemas.microsoft.com/office/drawing/2014/main" id="{09E2A6B4-72D5-48A4-8E09-6CCD6F8A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research question</a:t>
            </a:r>
          </a:p>
        </p:txBody>
      </p:sp>
      <p:sp>
        <p:nvSpPr>
          <p:cNvPr id="14" name="pre-annotation-num-1">
            <a:extLst xmlns:a="http://schemas.openxmlformats.org/drawingml/2006/main">
              <a:ext uri="{FF2B5EF4-FFF2-40B4-BE49-F238E27FC236}">
                <a16:creationId xmlns:a16="http://schemas.microsoft.com/office/drawing/2014/main" id="{810B4B28-6527-4E0D-9D22-AA0D8FD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pre-annotation-item-1">
            <a:extLst xmlns:a="http://schemas.openxmlformats.org/drawingml/2006/main">
              <a:ext uri="{FF2B5EF4-FFF2-40B4-BE49-F238E27FC236}">
                <a16:creationId xmlns:a16="http://schemas.microsoft.com/office/drawing/2014/main" id="{06658D50-3595-491A-AAC9-A8B156DF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909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method or design</a:t>
            </a:r>
          </a:p>
        </p:txBody>
      </p:sp>
      <p:sp>
        <p:nvSpPr>
          <p:cNvPr id="16" name="pre-annotation-num-2">
            <a:extLst xmlns:a="http://schemas.openxmlformats.org/drawingml/2006/main">
              <a:ext uri="{FF2B5EF4-FFF2-40B4-BE49-F238E27FC236}">
                <a16:creationId xmlns:a16="http://schemas.microsoft.com/office/drawing/2014/main" id="{A1728FAE-E35B-4635-9622-3FBC7619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pre-annotation-item-2">
            <a:extLst xmlns:a="http://schemas.openxmlformats.org/drawingml/2006/main">
              <a:ext uri="{FF2B5EF4-FFF2-40B4-BE49-F238E27FC236}">
                <a16:creationId xmlns:a16="http://schemas.microsoft.com/office/drawing/2014/main" id="{28F96A32-B13A-496A-9395-2D198FB0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195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strongest evidence</a:t>
            </a:r>
          </a:p>
        </p:txBody>
      </p:sp>
      <p:sp>
        <p:nvSpPr>
          <p:cNvPr id="18" name="pre-annotation-num-3">
            <a:extLst xmlns:a="http://schemas.openxmlformats.org/drawingml/2006/main">
              <a:ext uri="{FF2B5EF4-FFF2-40B4-BE49-F238E27FC236}">
                <a16:creationId xmlns:a16="http://schemas.microsoft.com/office/drawing/2014/main" id="{23A62EDC-B842-4CEB-8041-8C4CDF52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pre-annotation-item-3">
            <a:extLst xmlns:a="http://schemas.openxmlformats.org/drawingml/2006/main">
              <a:ext uri="{FF2B5EF4-FFF2-40B4-BE49-F238E27FC236}">
                <a16:creationId xmlns:a16="http://schemas.microsoft.com/office/drawing/2014/main" id="{F37DE9BD-F5D3-4B08-8FA1-C6279218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limitation or doubt</a:t>
            </a:r>
          </a:p>
        </p:txBody>
      </p:sp>
      <p:sp>
        <p:nvSpPr>
          <p:cNvPr id="20" name="rule-48-674">
            <a:extLst xmlns:a="http://schemas.openxmlformats.org/drawingml/2006/main">
              <a:ext uri="{FF2B5EF4-FFF2-40B4-BE49-F238E27FC236}">
                <a16:creationId xmlns:a16="http://schemas.microsoft.com/office/drawing/2014/main" id="{5950663A-E677-4D7F-954F-23F1E0E5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6EE3CA2-891D-48F2-9FC6-00191C1E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2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C0943667-A472-4C97-BFEC-C7C0B0EC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2</a:t>
            </a:r>
          </a:p>
        </p:txBody>
      </p:sp>
    </p:spTree>
    <p:extLst>
      <p:ext uri="{BB962C8B-B14F-4D97-AF65-F5344CB8AC3E}">
        <p14:creationId xmlns:p14="http://schemas.microsoft.com/office/powerpoint/2010/main" val="859976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53E80788-B7D7-4C0C-91F7-0076878C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READING GUIDE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B1721F1-0F23-4653-A103-748C8ED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Read for the argument, not for coverage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65A47DE9-E2F4-4B44-9364-2C896B84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reading-status-0">
            <a:extLst xmlns:a="http://schemas.openxmlformats.org/drawingml/2006/main">
              <a:ext uri="{FF2B5EF4-FFF2-40B4-BE49-F238E27FC236}">
                <a16:creationId xmlns:a16="http://schemas.microsoft.com/office/drawing/2014/main" id="{1234E793-529B-4E35-9B19-0D7CFE1F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5" name="pre-reading-0">
            <a:extLst xmlns:a="http://schemas.openxmlformats.org/drawingml/2006/main">
              <a:ext uri="{FF2B5EF4-FFF2-40B4-BE49-F238E27FC236}">
                <a16:creationId xmlns:a16="http://schemas.microsoft.com/office/drawing/2014/main" id="{8D78E66D-CF65-495B-8633-E747D103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Session 12 rubric</a:t>
            </a:r>
          </a:p>
        </p:txBody>
      </p:sp>
      <p:sp>
        <p:nvSpPr>
          <p:cNvPr id="6" name="pre-reading-why-0">
            <a:extLst xmlns:a="http://schemas.openxmlformats.org/drawingml/2006/main">
              <a:ext uri="{FF2B5EF4-FFF2-40B4-BE49-F238E27FC236}">
                <a16:creationId xmlns:a16="http://schemas.microsoft.com/office/drawing/2014/main" id="{39E71A91-7FEA-4A34-BF37-2FA183A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336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eight-slide and defence requirements</a:t>
            </a:r>
          </a:p>
        </p:txBody>
      </p:sp>
      <p:sp>
        <p:nvSpPr>
          <p:cNvPr id="7" name="pre-reading-url-0">
            <a:extLst xmlns:a="http://schemas.openxmlformats.org/drawingml/2006/main">
              <a:ext uri="{FF2B5EF4-FFF2-40B4-BE49-F238E27FC236}">
                <a16:creationId xmlns:a16="http://schemas.microsoft.com/office/drawing/2014/main" id="{3A71C537-0DB8-4472-B6EF-B74AF01C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local:12-group-presentations/README.md</a:t>
            </a:r>
          </a:p>
        </p:txBody>
      </p:sp>
      <p:sp>
        <p:nvSpPr>
          <p:cNvPr id="8" name="pre-reading-status-1">
            <a:extLst xmlns:a="http://schemas.openxmlformats.org/drawingml/2006/main">
              <a:ext uri="{FF2B5EF4-FFF2-40B4-BE49-F238E27FC236}">
                <a16:creationId xmlns:a16="http://schemas.microsoft.com/office/drawing/2014/main" id="{602A207B-8578-4789-BF59-66706472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37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97362"/>
                </a:solidFill>
                <a:latin typeface="Helvetica Neue"/>
                <a:ea typeface="Helvetica Neue"/>
                <a:cs typeface="Helvetica Neue"/>
              </a:rPr>
              <a:t>REQUIRED ARTICLE</a:t>
            </a:r>
          </a:p>
        </p:txBody>
      </p:sp>
      <p:sp>
        <p:nvSpPr>
          <p:cNvPr id="9" name="pre-reading-1">
            <a:extLst xmlns:a="http://schemas.openxmlformats.org/drawingml/2006/main">
              <a:ext uri="{FF2B5EF4-FFF2-40B4-BE49-F238E27FC236}">
                <a16:creationId xmlns:a16="http://schemas.microsoft.com/office/drawing/2014/main" id="{B45CC461-1419-4BFA-83B4-E3AFC2D6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Final-paper brief</a:t>
            </a:r>
          </a:p>
        </p:txBody>
      </p:sp>
      <p:sp>
        <p:nvSpPr>
          <p:cNvPr id="10" name="pre-reading-why-1">
            <a:extLst xmlns:a="http://schemas.openxmlformats.org/drawingml/2006/main">
              <a:ext uri="{FF2B5EF4-FFF2-40B4-BE49-F238E27FC236}">
                <a16:creationId xmlns:a16="http://schemas.microsoft.com/office/drawing/2014/main" id="{3515B509-3DBF-427B-8567-B75334B8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814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Required reader, evidence, and reproducibility standard</a:t>
            </a:r>
          </a:p>
        </p:txBody>
      </p:sp>
      <p:sp>
        <p:nvSpPr>
          <p:cNvPr id="11" name="pre-reading-url-1">
            <a:extLst xmlns:a="http://schemas.openxmlformats.org/drawingml/2006/main">
              <a:ext uri="{FF2B5EF4-FFF2-40B4-BE49-F238E27FC236}">
                <a16:creationId xmlns:a16="http://schemas.microsoft.com/office/drawing/2014/main" id="{EB52D10B-C9D8-4753-8CC8-F702ECA6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local:assessments/final-paper/README.md</a:t>
            </a:r>
          </a:p>
        </p:txBody>
      </p:sp>
      <p:sp>
        <p:nvSpPr>
          <p:cNvPr id="12" name="rule-48-674">
            <a:extLst xmlns:a="http://schemas.openxmlformats.org/drawingml/2006/main">
              <a:ext uri="{FF2B5EF4-FFF2-40B4-BE49-F238E27FC236}">
                <a16:creationId xmlns:a16="http://schemas.microsoft.com/office/drawing/2014/main" id="{95FA4382-5105-424C-B353-3923A6C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E7F3103-802D-4376-9377-D4C909F6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C6A7AF2-FEB9-4665-8C1F-0AD9A737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3</a:t>
            </a:r>
          </a:p>
        </p:txBody>
      </p:sp>
    </p:spTree>
    <p:extLst>
      <p:ext uri="{BB962C8B-B14F-4D97-AF65-F5344CB8AC3E}">
        <p14:creationId xmlns:p14="http://schemas.microsoft.com/office/powerpoint/2010/main" val="1726782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8CB058F4-6847-4C48-B2D3-202FEDF2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REVIEW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AED271-7D9C-4E26-B019-FB920531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Arrive able to use these words precisely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D24043B6-BB72-4186-AC02-0C141FCB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e-term-0">
            <a:extLst xmlns:a="http://schemas.openxmlformats.org/drawingml/2006/main">
              <a:ext uri="{FF2B5EF4-FFF2-40B4-BE49-F238E27FC236}">
                <a16:creationId xmlns:a16="http://schemas.microsoft.com/office/drawing/2014/main" id="{0F0E29C0-D0E8-4CC9-AD79-C17B3ED5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5" name="pre-term-def-0">
            <a:extLst xmlns:a="http://schemas.openxmlformats.org/drawingml/2006/main">
              <a:ext uri="{FF2B5EF4-FFF2-40B4-BE49-F238E27FC236}">
                <a16:creationId xmlns:a16="http://schemas.microsoft.com/office/drawing/2014/main" id="{969C0244-F6C7-44B4-88B1-C4EFBAE1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7145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action a real reader must choose.</a:t>
            </a:r>
          </a:p>
        </p:txBody>
      </p:sp>
      <p:sp>
        <p:nvSpPr>
          <p:cNvPr id="6" name="rule-48-272">
            <a:extLst xmlns:a="http://schemas.openxmlformats.org/drawingml/2006/main">
              <a:ext uri="{FF2B5EF4-FFF2-40B4-BE49-F238E27FC236}">
                <a16:creationId xmlns:a16="http://schemas.microsoft.com/office/drawing/2014/main" id="{90789DB2-9BF6-417A-85BA-E908085D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-term-1">
            <a:extLst xmlns:a="http://schemas.openxmlformats.org/drawingml/2006/main">
              <a:ext uri="{FF2B5EF4-FFF2-40B4-BE49-F238E27FC236}">
                <a16:creationId xmlns:a16="http://schemas.microsoft.com/office/drawing/2014/main" id="{8FCF009D-377A-4C19-8502-39BEA439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8" name="pre-term-def-1">
            <a:extLst xmlns:a="http://schemas.openxmlformats.org/drawingml/2006/main">
              <a:ext uri="{FF2B5EF4-FFF2-40B4-BE49-F238E27FC236}">
                <a16:creationId xmlns:a16="http://schemas.microsoft.com/office/drawing/2014/main" id="{A2DEDF21-13E2-4371-8DE1-5CA4AA9B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Your evidence-based answer to that decision.</a:t>
            </a:r>
          </a:p>
        </p:txBody>
      </p:sp>
      <p:sp>
        <p:nvSpPr>
          <p:cNvPr id="9" name="rule-48-402">
            <a:extLst xmlns:a="http://schemas.openxmlformats.org/drawingml/2006/main">
              <a:ext uri="{FF2B5EF4-FFF2-40B4-BE49-F238E27FC236}">
                <a16:creationId xmlns:a16="http://schemas.microsoft.com/office/drawing/2014/main" id="{8751C094-5269-42AC-B4B1-400F5492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29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e-term-2">
            <a:extLst xmlns:a="http://schemas.openxmlformats.org/drawingml/2006/main">
              <a:ext uri="{FF2B5EF4-FFF2-40B4-BE49-F238E27FC236}">
                <a16:creationId xmlns:a16="http://schemas.microsoft.com/office/drawing/2014/main" id="{6774CBE8-895C-471B-9B6B-135E65D2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Falsifier</a:t>
            </a:r>
          </a:p>
        </p:txBody>
      </p:sp>
      <p:sp>
        <p:nvSpPr>
          <p:cNvPr id="11" name="pre-term-def-2">
            <a:extLst xmlns:a="http://schemas.openxmlformats.org/drawingml/2006/main">
              <a:ext uri="{FF2B5EF4-FFF2-40B4-BE49-F238E27FC236}">
                <a16:creationId xmlns:a16="http://schemas.microsoft.com/office/drawing/2014/main" id="{403C173F-01FE-47CC-8115-921596F5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91000"/>
            <a:ext cx="7677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evidence that would change your conclusion.</a:t>
            </a:r>
          </a:p>
        </p:txBody>
      </p:sp>
      <p:sp>
        <p:nvSpPr>
          <p:cNvPr id="12" name="rule-48-532">
            <a:extLst xmlns:a="http://schemas.openxmlformats.org/drawingml/2006/main">
              <a:ext uri="{FF2B5EF4-FFF2-40B4-BE49-F238E27FC236}">
                <a16:creationId xmlns:a16="http://schemas.microsoft.com/office/drawing/2014/main" id="{DD86CFDC-CBC7-4E97-AA23-CECA3FC5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D8D1B5AA-088B-447E-BD3D-27946451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503AD3-853D-4747-A293-58AE8DEC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7D5A969-17E6-4470-8BA3-DA2F79A2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4</a:t>
            </a:r>
          </a:p>
        </p:txBody>
      </p:sp>
    </p:spTree>
    <p:extLst>
      <p:ext uri="{BB962C8B-B14F-4D97-AF65-F5344CB8AC3E}">
        <p14:creationId xmlns:p14="http://schemas.microsoft.com/office/powerpoint/2010/main" val="632434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93627CC-E858-47CB-BB88-F3E61D32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LOCAL WORKSPACE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13B2F9-9CDA-4D12-AA28-D62BDE3A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Everything runs from one Desktop folder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B99E5FDD-2536-4A0D-99F8-7745B6F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sktop-path">
            <a:extLst xmlns:a="http://schemas.openxmlformats.org/drawingml/2006/main">
              <a:ext uri="{FF2B5EF4-FFF2-40B4-BE49-F238E27FC236}">
                <a16:creationId xmlns:a16="http://schemas.microsoft.com/office/drawing/2014/main" id="{8DFF562B-835F-4437-8E98-F6C04CB8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27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Desktop/quantitative-methods</a:t>
            </a:r>
          </a:p>
        </p:txBody>
      </p:sp>
      <p:sp>
        <p:nvSpPr>
          <p:cNvPr id="5" name="data-copy">
            <a:extLst xmlns:a="http://schemas.openxmlformats.org/drawingml/2006/main">
              <a:ext uri="{FF2B5EF4-FFF2-40B4-BE49-F238E27FC236}">
                <a16:creationId xmlns:a16="http://schemas.microsoft.com/office/drawing/2014/main" id="{E0097E4A-B5BD-428C-8A86-7FAF1762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6191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Use the final, clean, reproducible project outputs—never hand-edit a number for the deck.</a:t>
            </a:r>
          </a:p>
        </p:txBody>
      </p:sp>
      <p:sp>
        <p:nvSpPr>
          <p:cNvPr id="6" name="data-command">
            <a:extLst xmlns:a="http://schemas.openxmlformats.org/drawingml/2006/main">
              <a:ext uri="{FF2B5EF4-FFF2-40B4-BE49-F238E27FC236}">
                <a16:creationId xmlns:a16="http://schemas.microsoft.com/office/drawing/2014/main" id="{C35DC764-1592-4734-9508-03286DD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6191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71450" tIns="152400" rIns="17145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cd ~/Desktop/quantitative-methods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pwd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 open this folder in VS Codium</a:t>
            </a:r>
          </a:p>
        </p:txBody>
      </p:sp>
      <p:cxnSp>
        <p:nvCxnSpPr>
          <p:cNvPr id="24" name="workflow-edge-0"/>
          <p:cNvCxnSpPr/>
          <p:nvPr/>
        </p:nvCxnSpPr>
        <p:spPr>
          <a:xfrm xmlns:a="http://schemas.openxmlformats.org/drawingml/2006/main">
            <a:off x="84899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cxnSp>
        <p:nvCxnSpPr>
          <p:cNvPr id="25" name="workflow-edge-1"/>
          <p:cNvCxnSpPr/>
          <p:nvPr/>
        </p:nvCxnSpPr>
        <p:spPr>
          <a:xfrm xmlns:a="http://schemas.openxmlformats.org/drawingml/2006/main">
            <a:off x="9912350" y="3571875"/>
            <a:ext cx="1714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C0CA"/>
            </a:solidFill>
            <a:prstDash val="solid"/>
          </a:ln>
        </p:spPr>
      </p:cxnSp>
      <p:sp>
        <p:nvSpPr>
          <p:cNvPr id="9" name="workflow-node-0">
            <a:extLst xmlns:a="http://schemas.openxmlformats.org/drawingml/2006/main">
              <a:ext uri="{FF2B5EF4-FFF2-40B4-BE49-F238E27FC236}">
                <a16:creationId xmlns:a16="http://schemas.microsoft.com/office/drawing/2014/main" id="{0160640E-7ACD-49AF-8B41-3912D3CC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DDF2FC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0" name="workflow-text-0">
            <a:extLst xmlns:a="http://schemas.openxmlformats.org/drawingml/2006/main">
              <a:ext uri="{FF2B5EF4-FFF2-40B4-BE49-F238E27FC236}">
                <a16:creationId xmlns:a16="http://schemas.microsoft.com/office/drawing/2014/main" id="{D5A970B1-43F2-4EA6-ACDA-BCCE492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Desktop</a:t>
            </a:r>
          </a:p>
        </p:txBody>
      </p:sp>
      <p:sp>
        <p:nvSpPr>
          <p:cNvPr id="11" name="workflow-node-1">
            <a:extLst xmlns:a="http://schemas.openxmlformats.org/drawingml/2006/main">
              <a:ext uri="{FF2B5EF4-FFF2-40B4-BE49-F238E27FC236}">
                <a16:creationId xmlns:a16="http://schemas.microsoft.com/office/drawing/2014/main" id="{CFF6E6B4-F6E7-47E1-926D-5C8E8EE4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4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EDF1F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2" name="workflow-text-1">
            <a:extLst xmlns:a="http://schemas.openxmlformats.org/drawingml/2006/main">
              <a:ext uri="{FF2B5EF4-FFF2-40B4-BE49-F238E27FC236}">
                <a16:creationId xmlns:a16="http://schemas.microsoft.com/office/drawing/2014/main" id="{C23632EF-4F09-4892-9533-CFFBD5F9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66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3" name="workflow-node-2">
            <a:extLst xmlns:a="http://schemas.openxmlformats.org/drawingml/2006/main">
              <a:ext uri="{FF2B5EF4-FFF2-40B4-BE49-F238E27FC236}">
                <a16:creationId xmlns:a16="http://schemas.microsoft.com/office/drawing/2014/main" id="{343C8906-9BC6-4BBD-A9A2-9D944E1F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3800" y="1981200"/>
            <a:ext cx="1250950" cy="3181350"/>
          </a:xfrm>
          <a:prstGeom xmlns:a="http://schemas.openxmlformats.org/drawingml/2006/main" prst="roundRect">
            <a:avLst>
              <a:gd name="adj" fmla="val 6091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9525">
            <a:solidFill>
              <a:srgbClr val="B8C0CA"/>
            </a:solidFill>
            <a:prstDash val="solid"/>
          </a:ln>
        </p:spPr>
      </p:sp>
      <p:sp>
        <p:nvSpPr>
          <p:cNvPr id="14" name="workflow-text-2">
            <a:extLst xmlns:a="http://schemas.openxmlformats.org/drawingml/2006/main">
              <a:ext uri="{FF2B5EF4-FFF2-40B4-BE49-F238E27FC236}">
                <a16:creationId xmlns:a16="http://schemas.microsoft.com/office/drawing/2014/main" id="{C42EC79B-D120-4507-932D-E8AF5371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9050" y="2095500"/>
            <a:ext cx="10604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Session files</a:t>
            </a:r>
          </a:p>
        </p:txBody>
      </p:sp>
      <p:sp>
        <p:nvSpPr>
          <p:cNvPr id="15" name="rule-48-674">
            <a:extLst xmlns:a="http://schemas.openxmlformats.org/drawingml/2006/main">
              <a:ext uri="{FF2B5EF4-FFF2-40B4-BE49-F238E27FC236}">
                <a16:creationId xmlns:a16="http://schemas.microsoft.com/office/drawing/2014/main" id="{E342DE5E-A06A-4F07-8A42-BADF9187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5930E3C-683F-4A27-B985-4DF904B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77E3D71D-261A-4FA5-97C9-8F6C72F1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5</a:t>
            </a:r>
          </a:p>
        </p:txBody>
      </p:sp>
    </p:spTree>
    <p:extLst>
      <p:ext uri="{BB962C8B-B14F-4D97-AF65-F5344CB8AC3E}">
        <p14:creationId xmlns:p14="http://schemas.microsoft.com/office/powerpoint/2010/main" val="886855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A284F012-9713-47FC-B59C-A2FF0B6B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PRE-SESSION · SELF-CHECK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C35AFD-73EF-41A5-AEB6-ADAC96C3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Answer on paper before class</a:t>
            </a:r>
          </a:p>
        </p:txBody>
      </p:sp>
      <p:sp>
        <p:nvSpPr>
          <p:cNvPr id="3" name="rule-48-137">
            <a:extLst xmlns:a="http://schemas.openxmlformats.org/drawingml/2006/main">
              <a:ext uri="{FF2B5EF4-FFF2-40B4-BE49-F238E27FC236}">
                <a16:creationId xmlns:a16="http://schemas.microsoft.com/office/drawing/2014/main" id="{F0262CAD-304C-4A5A-9B23-57084322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num-0">
            <a:extLst xmlns:a="http://schemas.openxmlformats.org/drawingml/2006/main">
              <a:ext uri="{FF2B5EF4-FFF2-40B4-BE49-F238E27FC236}">
                <a16:creationId xmlns:a16="http://schemas.microsoft.com/office/drawing/2014/main" id="{6B86F482-06C8-44BD-A5AB-CFED8F52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65D398A7-E43E-4622-970E-71E46E40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145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Can another group restate the recommendation?</a:t>
            </a:r>
          </a:p>
        </p:txBody>
      </p:sp>
      <p:sp>
        <p:nvSpPr>
          <p:cNvPr id="6" name="rule-138-274">
            <a:extLst xmlns:a="http://schemas.openxmlformats.org/drawingml/2006/main">
              <a:ext uri="{FF2B5EF4-FFF2-40B4-BE49-F238E27FC236}">
                <a16:creationId xmlns:a16="http://schemas.microsoft.com/office/drawing/2014/main" id="{0C714452-303B-4490-B55B-002A7E80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098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num-1">
            <a:extLst xmlns:a="http://schemas.openxmlformats.org/drawingml/2006/main">
              <a:ext uri="{FF2B5EF4-FFF2-40B4-BE49-F238E27FC236}">
                <a16:creationId xmlns:a16="http://schemas.microsoft.com/office/drawing/2014/main" id="{F1F7DC6B-8893-459C-9AF1-97F73B90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2CB7A8CE-E6C1-410D-9F7A-23787F3D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What would change your mind?</a:t>
            </a:r>
          </a:p>
        </p:txBody>
      </p:sp>
      <p:sp>
        <p:nvSpPr>
          <p:cNvPr id="9" name="rule-138-406">
            <a:extLst xmlns:a="http://schemas.openxmlformats.org/drawingml/2006/main">
              <a:ext uri="{FF2B5EF4-FFF2-40B4-BE49-F238E27FC236}">
                <a16:creationId xmlns:a16="http://schemas.microsoft.com/office/drawing/2014/main" id="{0E2D641B-279F-4BDF-9646-87243F2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question-num-2">
            <a:extLst xmlns:a="http://schemas.openxmlformats.org/drawingml/2006/main">
              <a:ext uri="{FF2B5EF4-FFF2-40B4-BE49-F238E27FC236}">
                <a16:creationId xmlns:a16="http://schemas.microsoft.com/office/drawing/2014/main" id="{D20627DB-7D8F-4F80-8D2C-3B771620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6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2286A565-DB6C-4BEA-94F1-A0DA77A3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Can every member explain every line?</a:t>
            </a:r>
          </a:p>
        </p:txBody>
      </p:sp>
      <p:sp>
        <p:nvSpPr>
          <p:cNvPr id="12" name="rule-138-538">
            <a:extLst xmlns:a="http://schemas.openxmlformats.org/drawingml/2006/main">
              <a:ext uri="{FF2B5EF4-FFF2-40B4-BE49-F238E27FC236}">
                <a16:creationId xmlns:a16="http://schemas.microsoft.com/office/drawing/2014/main" id="{DCD5BB73-2BDD-4E4A-B32D-E73CFEFE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24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ule-48-674">
            <a:extLst xmlns:a="http://schemas.openxmlformats.org/drawingml/2006/main">
              <a:ext uri="{FF2B5EF4-FFF2-40B4-BE49-F238E27FC236}">
                <a16:creationId xmlns:a16="http://schemas.microsoft.com/office/drawing/2014/main" id="{8C1688DF-E829-429C-BEBC-19F81821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0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0CCEBC1-3E6F-469F-BC83-24A9D081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46C4B6DD-8AFC-4753-B39B-F8B3A786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36273"/>
                </a:solidFill>
                <a:latin typeface="Helvetica Neue"/>
                <a:ea typeface="Helvetica Neue"/>
                <a:cs typeface="Helvetica Neue"/>
              </a:rPr>
              <a:t>Pre-session · 6</a:t>
            </a:r>
          </a:p>
        </p:txBody>
      </p:sp>
    </p:spTree>
    <p:extLst>
      <p:ext uri="{BB962C8B-B14F-4D97-AF65-F5344CB8AC3E}">
        <p14:creationId xmlns:p14="http://schemas.microsoft.com/office/powerpoint/2010/main" val="4937052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ady-kicker">
            <a:extLst xmlns:a="http://schemas.openxmlformats.org/drawingml/2006/main">
              <a:ext uri="{FF2B5EF4-FFF2-40B4-BE49-F238E27FC236}">
                <a16:creationId xmlns:a16="http://schemas.microsoft.com/office/drawing/2014/main" id="{114E419A-023E-4977-839C-B63639BA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0A5FA"/>
                </a:solidFill>
                <a:latin typeface="Helvetica Neue"/>
                <a:ea typeface="Helvetica Neue"/>
                <a:cs typeface="Helvetica Neue"/>
              </a:rPr>
              <a:t>PRE-SESSION · READY CHECK</a:t>
            </a:r>
          </a:p>
        </p:txBody>
      </p:sp>
      <p:sp>
        <p:nvSpPr>
          <p:cNvPr id="2" name="ready-title">
            <a:extLst xmlns:a="http://schemas.openxmlformats.org/drawingml/2006/main">
              <a:ext uri="{FF2B5EF4-FFF2-40B4-BE49-F238E27FC236}">
                <a16:creationId xmlns:a16="http://schemas.microsoft.com/office/drawing/2014/main" id="{17493E45-9CFE-4DC2-85D7-6DC478E0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71550"/>
            <a:ext cx="762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Ready for Session 12?</a:t>
            </a:r>
          </a:p>
        </p:txBody>
      </p:sp>
      <p:sp>
        <p:nvSpPr>
          <p:cNvPr id="3" name="ready-box-0">
            <a:extLst xmlns:a="http://schemas.openxmlformats.org/drawingml/2006/main">
              <a:ext uri="{FF2B5EF4-FFF2-40B4-BE49-F238E27FC236}">
                <a16:creationId xmlns:a16="http://schemas.microsoft.com/office/drawing/2014/main" id="{14B5001D-E7BB-49A6-8A1B-167D1D47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4" name="ready-item-0">
            <a:extLst xmlns:a="http://schemas.openxmlformats.org/drawingml/2006/main">
              <a:ext uri="{FF2B5EF4-FFF2-40B4-BE49-F238E27FC236}">
                <a16:creationId xmlns:a16="http://schemas.microsoft.com/office/drawing/2014/main" id="{8E9E4771-3BCE-4265-B83A-B46F2A17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Readings annotated</a:t>
            </a:r>
          </a:p>
        </p:txBody>
      </p:sp>
      <p:sp>
        <p:nvSpPr>
          <p:cNvPr id="5" name="ready-box-1">
            <a:extLst xmlns:a="http://schemas.openxmlformats.org/drawingml/2006/main">
              <a:ext uri="{FF2B5EF4-FFF2-40B4-BE49-F238E27FC236}">
                <a16:creationId xmlns:a16="http://schemas.microsoft.com/office/drawing/2014/main" id="{91372BD3-CD38-49DE-AF5A-BB653C3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ready-item-1">
            <a:extLst xmlns:a="http://schemas.openxmlformats.org/drawingml/2006/main">
              <a:ext uri="{FF2B5EF4-FFF2-40B4-BE49-F238E27FC236}">
                <a16:creationId xmlns:a16="http://schemas.microsoft.com/office/drawing/2014/main" id="{E68E932A-1342-49BD-8D20-12A2641D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Definitions usable without notes</a:t>
            </a:r>
          </a:p>
        </p:txBody>
      </p:sp>
      <p:sp>
        <p:nvSpPr>
          <p:cNvPr id="7" name="ready-box-2">
            <a:extLst xmlns:a="http://schemas.openxmlformats.org/drawingml/2006/main">
              <a:ext uri="{FF2B5EF4-FFF2-40B4-BE49-F238E27FC236}">
                <a16:creationId xmlns:a16="http://schemas.microsoft.com/office/drawing/2014/main" id="{D862C115-BD0A-465C-AA1F-28B29283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8" name="ready-item-2">
            <a:extLst xmlns:a="http://schemas.openxmlformats.org/drawingml/2006/main">
              <a:ext uri="{FF2B5EF4-FFF2-40B4-BE49-F238E27FC236}">
                <a16:creationId xmlns:a16="http://schemas.microsoft.com/office/drawing/2014/main" id="{7309CEE3-DD77-4215-872B-3ADC053E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004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Data path checked</a:t>
            </a:r>
          </a:p>
        </p:txBody>
      </p:sp>
      <p:sp>
        <p:nvSpPr>
          <p:cNvPr id="9" name="ready-box-3">
            <a:extLst xmlns:a="http://schemas.openxmlformats.org/drawingml/2006/main">
              <a:ext uri="{FF2B5EF4-FFF2-40B4-BE49-F238E27FC236}">
                <a16:creationId xmlns:a16="http://schemas.microsoft.com/office/drawing/2014/main" id="{5180508C-11A3-465A-8DFB-AAA8000A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4340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0" name="ready-item-3">
            <a:extLst xmlns:a="http://schemas.openxmlformats.org/drawingml/2006/main">
              <a:ext uri="{FF2B5EF4-FFF2-40B4-BE49-F238E27FC236}">
                <a16:creationId xmlns:a16="http://schemas.microsoft.com/office/drawing/2014/main" id="{3F2693FC-0D84-4A8F-8842-52EC16AE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Self-check attempted</a:t>
            </a:r>
          </a:p>
        </p:txBody>
      </p:sp>
      <p:sp>
        <p:nvSpPr>
          <p:cNvPr id="11" name="ready-box-4">
            <a:extLst xmlns:a="http://schemas.openxmlformats.org/drawingml/2006/main">
              <a:ext uri="{FF2B5EF4-FFF2-40B4-BE49-F238E27FC236}">
                <a16:creationId xmlns:a16="http://schemas.microsoft.com/office/drawing/2014/main" id="{7FAFE45C-8BFC-4C11-A358-97E0982E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0150"/>
            <a:ext cx="24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ready-item-4">
            <a:extLst xmlns:a="http://schemas.openxmlformats.org/drawingml/2006/main">
              <a:ext uri="{FF2B5EF4-FFF2-40B4-BE49-F238E27FC236}">
                <a16:creationId xmlns:a16="http://schemas.microsoft.com/office/drawing/2014/main" id="{733CA47B-9B74-42DB-8839-45B1EC20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One question ready</a:t>
            </a:r>
          </a:p>
        </p:txBody>
      </p:sp>
      <p:sp>
        <p:nvSpPr>
          <p:cNvPr id="13" name="ready-question">
            <a:extLst xmlns:a="http://schemas.openxmlformats.org/drawingml/2006/main">
              <a:ext uri="{FF2B5EF4-FFF2-40B4-BE49-F238E27FC236}">
                <a16:creationId xmlns:a16="http://schemas.microsoft.com/office/drawing/2014/main" id="{7EB4235C-1F0F-4676-BD20-A48E519C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43150"/>
            <a:ext cx="31051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DF2FC"/>
                </a:solidFill>
                <a:latin typeface="Helvetica Neue"/>
                <a:ea typeface="Helvetica Neue"/>
                <a:cs typeface="Helvetica Neue"/>
              </a:rPr>
              <a:t>Can you make a decision-maker act—and say what would change your mind?</a:t>
            </a:r>
          </a:p>
        </p:txBody>
      </p:sp>
      <p:sp>
        <p:nvSpPr>
          <p:cNvPr id="14" name="rule-48-674">
            <a:extLst xmlns:a="http://schemas.openxmlformats.org/drawingml/2006/main">
              <a:ext uri="{FF2B5EF4-FFF2-40B4-BE49-F238E27FC236}">
                <a16:creationId xmlns:a16="http://schemas.microsoft.com/office/drawing/2014/main" id="{3C42E78F-6573-4B57-9D83-B68C24A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5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38C46FA-C621-4A69-9B16-8C73DD98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MATH60033A · Thierry Warin · Session 12</a:t>
            </a:r>
          </a:p>
        </p:txBody>
      </p:sp>
      <p:sp>
        <p:nvSpPr>
          <p:cNvPr id="16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144E9D19-9EC3-4767-B2CE-5F691E43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515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C7D2DE"/>
                </a:solidFill>
                <a:latin typeface="Helvetica Neue"/>
                <a:ea typeface="Helvetica Neue"/>
                <a:cs typeface="Helvetica Neue"/>
              </a:rPr>
              <a:t>Pre-session · 7</a:t>
            </a:r>
          </a:p>
        </p:txBody>
      </p:sp>
    </p:spTree>
    <p:extLst>
      <p:ext uri="{BB962C8B-B14F-4D97-AF65-F5344CB8AC3E}">
        <p14:creationId xmlns:p14="http://schemas.microsoft.com/office/powerpoint/2010/main" val="20691985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Thierry Warin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Thierry Warin</dc:creator>
  <lastModifiedBy>Thierry Warin</lastModifiedBy>
  <dc:title>Presentation</dc:title>
  <dcterms:created xsi:type="dcterms:W3CDTF">2026-08-23T21:43:02.3210000Z</dcterms:created>
  <dcterms:modified xsi:type="dcterms:W3CDTF">2026-08-23T21:43:02.3210000Z</dcterms:modified>
</coreProperties>
</file>