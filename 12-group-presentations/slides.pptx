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assessment/peer-ratings/FORM.md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Final Presentations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12 · Defending what you built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the session runs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is being assessed, and what is not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10–150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Ten presentations, 12 minutes each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150–170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Cross-group questions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170–180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member presents. Which member takes which part is </a:t>
            </a:r>
            <a:r>
              <a:rPr b="1"/>
              <a:t>drawn at the start of your slot</a:t>
            </a:r>
            <a:r>
              <a:rPr/>
              <a:t>, not chosen by your group.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draw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 to catch anybody out.</a:t>
            </a:r>
          </a:p>
          <a:p>
            <a:pPr lvl="0"/>
            <a:r>
              <a:rPr/>
              <a:t>A group where one person understands the model has not learned the material</a:t>
            </a:r>
          </a:p>
          <a:p>
            <a:pPr lvl="0"/>
            <a:r>
              <a:rPr/>
              <a:t>The draw makes shared understanding the only viable strategy</a:t>
            </a:r>
          </a:p>
          <a:p>
            <a:pPr lvl="0"/>
            <a:r>
              <a:rPr/>
              <a:t>It is announced from Session 01, so nobody is surprised</a:t>
            </a:r>
          </a:p>
          <a:p>
            <a:pPr lvl="0" indent="0" marL="0">
              <a:buNone/>
            </a:pPr>
            <a:r>
              <a:rPr/>
              <a:t>The group that prepares by teaching each other its own work is doing exactly what the assessment is designed to produce.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shape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Twelve minutes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question, and why it is not trivial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2–4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data, its coverage and its gaps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4–7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method, and why this one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found, with uncertainty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 </a:t>
                      </a:r>
                      <a:r>
                        <a:rPr b="1"/>
                        <a:t>not</a:t>
                      </a:r>
                      <a:r>
                        <a:rPr/>
                        <a:t> license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last two minutes carry more marks than the middle three. Plan them first.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earns 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 </a:t>
            </a:r>
            <a:r>
              <a:rPr b="1"/>
              <a:t>precisely stated estimand</a:t>
            </a:r>
            <a:r>
              <a:rPr/>
              <a:t> — prediction or effect, named in one sentence</a:t>
            </a:r>
          </a:p>
          <a:p>
            <a:pPr lvl="0"/>
            <a:r>
              <a:rPr/>
              <a:t>Validation that matches the claim — the right split, the right horizon</a:t>
            </a:r>
          </a:p>
          <a:p>
            <a:pPr lvl="0"/>
            <a:r>
              <a:rPr/>
              <a:t>Uncertainty presented as part of the result, not an apology after it</a:t>
            </a:r>
          </a:p>
          <a:p>
            <a:pPr lvl="0"/>
            <a:r>
              <a:rPr/>
              <a:t>A limitation you found yourselves, before anyone asked</a:t>
            </a:r>
          </a:p>
          <a:p>
            <a:pPr lvl="0"/>
            <a:r>
              <a:rPr/>
              <a:t>An answer of “we cannot claim that” where it is the correct answer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loses them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sSup>
                      <m:e>
                        <m:r>
                          <m:t>R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with no error in the units of the outcome</a:t>
                </a:r>
              </a:p>
              <a:p>
                <a:pPr lvl="0"/>
                <a:r>
                  <a:rPr/>
                  <a:t>Causal verbs on a predictive model — </a:t>
                </a:r>
                <a:r>
                  <a:rPr i="1"/>
                  <a:t>drives</a:t>
                </a:r>
                <a:r>
                  <a:rPr/>
                  <a:t>, </a:t>
                </a:r>
                <a:r>
                  <a:rPr i="1"/>
                  <a:t>causes</a:t>
                </a:r>
                <a:r>
                  <a:rPr/>
                  <a:t>, </a:t>
                </a:r>
                <a:r>
                  <a:rPr i="1"/>
                  <a:t>leads to</a:t>
                </a:r>
              </a:p>
              <a:p>
                <a:pPr lvl="0"/>
                <a:r>
                  <a:rPr/>
                  <a:t>A construct named as though it were a measurement</a:t>
                </a:r>
              </a:p>
              <a:p>
                <a:pPr lvl="0"/>
                <a:r>
                  <a:rPr/>
                  <a:t>A model with no statement of when it stops being valid</a:t>
                </a:r>
              </a:p>
              <a:p>
                <a:pPr lvl="0"/>
                <a:r>
                  <a:rPr/>
                  <a:t>Three members, one of whom has clearly not run the code</a:t>
                </a:r>
              </a:p>
              <a:p>
                <a:pPr lvl="0" indent="0" marL="0">
                  <a:buNone/>
                </a:pPr>
                <a:r>
                  <a:rPr/>
                  <a:t>“Our lasso selected these six variables and here are their p-values” will be asked about, and there is no good answer.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defence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Questions you should expect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Why that cross-validation split, and what changes under a different one?</a:t>
            </a:r>
          </a:p>
          <a:p>
            <a:pPr lvl="0"/>
            <a:r>
              <a:rPr i="1"/>
              <a:t>Which coefficient moves most if your main confounder is real?</a:t>
            </a:r>
          </a:p>
          <a:p>
            <a:pPr lvl="0"/>
            <a:r>
              <a:rPr i="1"/>
              <a:t>What does your index correlate with that it should not?</a:t>
            </a:r>
          </a:p>
          <a:p>
            <a:pPr lvl="0"/>
            <a:r>
              <a:rPr i="1"/>
              <a:t>How many rows did you drop, and who were they?</a:t>
            </a:r>
          </a:p>
          <a:p>
            <a:pPr lvl="0"/>
            <a:r>
              <a:rPr i="1"/>
              <a:t>What is your retirement trigger, and where does it come from?</a:t>
            </a:r>
          </a:p>
          <a:p>
            <a:pPr lvl="0" indent="0" marL="0">
              <a:buNone/>
            </a:pPr>
            <a:r>
              <a:rPr/>
              <a:t>All five are answerable from work you have already done — if you did it.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answer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Say the number.</a:t>
            </a:r>
            <a:r>
              <a:rPr/>
              <a:t> “About 12%” beats “quite a lot.”</a:t>
            </a:r>
          </a:p>
          <a:p>
            <a:pPr lvl="0"/>
            <a:r>
              <a:rPr b="1"/>
              <a:t>Say “I don’t know”</a:t>
            </a:r>
            <a:r>
              <a:rPr/>
              <a:t> when you don’t. Then say how you would find out.</a:t>
            </a:r>
          </a:p>
          <a:p>
            <a:pPr lvl="0"/>
            <a:r>
              <a:rPr b="1"/>
              <a:t>Do not defend a weak claim.</a:t>
            </a:r>
            <a:r>
              <a:rPr/>
              <a:t> Concede it and state the stronger one you can support.</a:t>
            </a:r>
          </a:p>
          <a:p>
            <a:pPr lvl="0" indent="0" marL="0">
              <a:buNone/>
            </a:pPr>
            <a:r>
              <a:rPr/>
              <a:t>Conceding a point accurately is evidence of understanding. Defending an indefensible one is evidence of the opposite.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three sentences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lab this term ended with three sentences. This is why.</a:t>
            </a:r>
          </a:p>
          <a:p>
            <a:pPr lvl="0" indent="0" marL="1270000">
              <a:buNone/>
            </a:pPr>
            <a:r>
              <a:rPr sz="2000" b="1"/>
              <a:t>What we estimated. How confident we are. What it does not license.</a:t>
            </a:r>
          </a:p>
          <a:p>
            <a:pPr lvl="0" indent="0" marL="0">
              <a:buNone/>
            </a:pPr>
            <a:r>
              <a:rPr/>
              <a:t>If your twelve minutes collapse to those three sentences and they are right, you have done the course.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After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Slides, in the repository, before your slot</a:t>
            </a:r>
          </a:p>
          <a:p>
            <a:pPr lvl="0"/>
            <a:r>
              <a:rPr/>
              <a:t>The governance file from Session 11, complete</a:t>
            </a:r>
          </a:p>
          <a:p>
            <a:pPr lvl="0"/>
            <a:r>
              <a:rPr/>
              <a:t>A repository that runs from a clean clone</a:t>
            </a:r>
          </a:p>
          <a:p>
            <a:pPr lvl="0"/>
            <a:r>
              <a:rPr/>
              <a:t>Your role log, current</a:t>
            </a:r>
          </a:p>
          <a:p>
            <a:pPr lvl="0"/>
            <a:r>
              <a:rPr/>
              <a:t>Peer ratings, sent separately — see </a:t>
            </a:r>
            <a:r>
              <a:rPr>
                <a:hlinkClick r:id="rId2"/>
                <a:latin typeface="Courier"/>
              </a:rPr>
              <a:t>FORM.md</a:t>
            </a:r>
          </a:p>
          <a:p>
            <a:pPr lvl="0" indent="0" marL="0">
              <a:buNone/>
            </a:pPr>
            <a:r>
              <a:rPr/>
              <a:t>“It runs on my machine” is not a submission. Clone your own repository into a fresh folder and run it before you present.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should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methods are standard, and you can now read a paper that uses them</a:t>
            </a:r>
          </a:p>
          <a:p>
            <a:pPr lvl="0"/>
            <a:r>
              <a:rPr/>
              <a:t>The judgement is not standard, and it is the part that transfers</a:t>
            </a:r>
          </a:p>
          <a:p>
            <a:pPr lvl="0"/>
            <a:r>
              <a:rPr/>
              <a:t>Most of the skill is in </a:t>
            </a:r>
            <a:r>
              <a:rPr b="1"/>
              <a:t>the sentence you refuse to write</a:t>
            </a:r>
          </a:p>
          <a:p>
            <a:pPr lvl="0" indent="0" marL="0">
              <a:buNone/>
            </a:pPr>
            <a:r>
              <a:rPr/>
              <a:t>You will forget the syntax. Keep the habit of asking what the number entitles you to say.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Thank you.</a:t>
            </a:r>
          </a:p>
          <a:p>
            <a:pPr lvl="0" indent="0" marL="0">
              <a:buNone/>
            </a:pPr>
            <a:r>
              <a:rPr/>
              <a:t>It has been a genuine pleasure.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Presentations</dc:title>
  <dc:creator>Thierry Warin</dc:creator>
  <cp:keywords/>
  <dcterms:created xsi:type="dcterms:W3CDTF">2026-08-18T20:37:18Z</dcterms:created>
  <dcterms:modified xsi:type="dcterms:W3CDTF">2026-08-18T20:37:18Z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12 · Defending what you built</vt:lpwstr>
  </property>
  <property fmtid="{D5CDD505-2E9C-101B-9397-08002B2CF9AE}" pid="16" name="toc-title">
    <vt:lpwstr>Table of contents</vt:lpwstr>
  </property>
</Properties>
</file>