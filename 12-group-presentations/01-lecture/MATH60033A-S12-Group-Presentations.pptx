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a9c579539d4b9a" /><Relationship Type="http://schemas.openxmlformats.org/officeDocument/2006/relationships/extended-properties" Target="/docProps/app.xml" Id="R319825a457ab448c" /><Relationship Type="http://schemas.openxmlformats.org/officeDocument/2006/relationships/officeDocument" Target="/ppt/presentation.xml" Id="R1eec68c37aac4a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ff997c4dd14aed"/>
  </p:sldMasterIdLst>
  <p:notesMasterIdLst>
    <p:notesMasterId xmlns:r="http://schemas.openxmlformats.org/officeDocument/2006/relationships" r:id="R50e86c1aecf84861"/>
  </p:notesMasterIdLst>
  <p:sldIdLst>
    <p:sldId xmlns:r="http://schemas.openxmlformats.org/officeDocument/2006/relationships" id="256" r:id="R71b4b47d23f74ad9"/>
    <p:sldId xmlns:r="http://schemas.openxmlformats.org/officeDocument/2006/relationships" id="257" r:id="Redcf6bd5cfed4df6"/>
    <p:sldId xmlns:r="http://schemas.openxmlformats.org/officeDocument/2006/relationships" id="258" r:id="R4cb46ab735ec4b95"/>
    <p:sldId xmlns:r="http://schemas.openxmlformats.org/officeDocument/2006/relationships" id="259" r:id="Rd3d6229f88004de6"/>
    <p:sldId xmlns:r="http://schemas.openxmlformats.org/officeDocument/2006/relationships" id="260" r:id="Rfc45b179327846a9"/>
    <p:sldId xmlns:r="http://schemas.openxmlformats.org/officeDocument/2006/relationships" id="261" r:id="R516bfc6979d3406a"/>
    <p:sldId xmlns:r="http://schemas.openxmlformats.org/officeDocument/2006/relationships" id="262" r:id="Rb680b4258fb54955"/>
    <p:sldId xmlns:r="http://schemas.openxmlformats.org/officeDocument/2006/relationships" id="263" r:id="R9f6df533212146f8"/>
    <p:sldId xmlns:r="http://schemas.openxmlformats.org/officeDocument/2006/relationships" id="264" r:id="R90410ef6da0942fd"/>
    <p:sldId xmlns:r="http://schemas.openxmlformats.org/officeDocument/2006/relationships" id="265" r:id="R004e0dd2ea324dc5"/>
    <p:sldId xmlns:r="http://schemas.openxmlformats.org/officeDocument/2006/relationships" id="266" r:id="Rde0bf383a7f04b63"/>
    <p:sldId xmlns:r="http://schemas.openxmlformats.org/officeDocument/2006/relationships" id="267" r:id="Rb030edff282a4fa7"/>
    <p:sldId xmlns:r="http://schemas.openxmlformats.org/officeDocument/2006/relationships" id="268" r:id="Ra247ba27d49b411c"/>
    <p:sldId xmlns:r="http://schemas.openxmlformats.org/officeDocument/2006/relationships" id="269" r:id="Ra6a4e415975c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28d4830344d81" /><Relationship Type="http://schemas.openxmlformats.org/officeDocument/2006/relationships/slideMaster" Target="/ppt/slideMasters/slideMaster1.xml" Id="R70ff997c4dd14aed" /><Relationship Type="http://schemas.openxmlformats.org/officeDocument/2006/relationships/notesMaster" Target="/ppt/notesMasters/notesMaster1.xml" Id="R50e86c1aecf84861" /><Relationship Type="http://schemas.openxmlformats.org/officeDocument/2006/relationships/presProps" Target="/ppt/presProps.xml" Id="Rd1fe80f88f81455f" /><Relationship Type="http://schemas.openxmlformats.org/officeDocument/2006/relationships/tableStyles" Target="/ppt/tableStyles.xml" Id="Rf4dff1e7b532419a" /><Relationship Type="http://schemas.openxmlformats.org/officeDocument/2006/relationships/slide" Target="/ppt/slides/slide1.xml" Id="R71b4b47d23f74ad9" /><Relationship Type="http://schemas.openxmlformats.org/officeDocument/2006/relationships/slide" Target="/ppt/slides/slide2.xml" Id="Redcf6bd5cfed4df6" /><Relationship Type="http://schemas.openxmlformats.org/officeDocument/2006/relationships/slide" Target="/ppt/slides/slide3.xml" Id="R4cb46ab735ec4b95" /><Relationship Type="http://schemas.openxmlformats.org/officeDocument/2006/relationships/slide" Target="/ppt/slides/slide4.xml" Id="Rd3d6229f88004de6" /><Relationship Type="http://schemas.openxmlformats.org/officeDocument/2006/relationships/slide" Target="/ppt/slides/slide5.xml" Id="Rfc45b179327846a9" /><Relationship Type="http://schemas.openxmlformats.org/officeDocument/2006/relationships/slide" Target="/ppt/slides/slide6.xml" Id="R516bfc6979d3406a" /><Relationship Type="http://schemas.openxmlformats.org/officeDocument/2006/relationships/slide" Target="/ppt/slides/slide7.xml" Id="Rb680b4258fb54955" /><Relationship Type="http://schemas.openxmlformats.org/officeDocument/2006/relationships/slide" Target="/ppt/slides/slide8.xml" Id="R9f6df533212146f8" /><Relationship Type="http://schemas.openxmlformats.org/officeDocument/2006/relationships/slide" Target="/ppt/slides/slide9.xml" Id="R90410ef6da0942fd" /><Relationship Type="http://schemas.openxmlformats.org/officeDocument/2006/relationships/slide" Target="/ppt/slides/slide10.xml" Id="R004e0dd2ea324dc5" /><Relationship Type="http://schemas.openxmlformats.org/officeDocument/2006/relationships/slide" Target="/ppt/slides/slide11.xml" Id="Rde0bf383a7f04b63" /><Relationship Type="http://schemas.openxmlformats.org/officeDocument/2006/relationships/slide" Target="/ppt/slides/slide12.xml" Id="Rb030edff282a4fa7" /><Relationship Type="http://schemas.openxmlformats.org/officeDocument/2006/relationships/slide" Target="/ppt/slides/slide13.xml" Id="Ra247ba27d49b411c" /><Relationship Type="http://schemas.openxmlformats.org/officeDocument/2006/relationships/slide" Target="/ppt/slides/slide14.xml" Id="Ra6a4e415975c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5e29aad465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a2ce7f790042e7" /><Relationship Type="http://schemas.openxmlformats.org/officeDocument/2006/relationships/notesMaster" Target="/ppt/notesMasters/notesMaster1.xml" Id="R12c13666483f47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28a41bd8541e1" /><Relationship Type="http://schemas.openxmlformats.org/officeDocument/2006/relationships/notesMaster" Target="/ppt/notesMasters/notesMaster1.xml" Id="R5ad0a7313e6545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5ec6c11384489e" /><Relationship Type="http://schemas.openxmlformats.org/officeDocument/2006/relationships/notesMaster" Target="/ppt/notesMasters/notesMaster1.xml" Id="R9ac2991a999a4c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969c36188d4db6" /><Relationship Type="http://schemas.openxmlformats.org/officeDocument/2006/relationships/notesMaster" Target="/ppt/notesMasters/notesMaster1.xml" Id="Rdcfe1664a5614d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6407402bb84247" /><Relationship Type="http://schemas.openxmlformats.org/officeDocument/2006/relationships/notesMaster" Target="/ppt/notesMasters/notesMaster1.xml" Id="R982337422a984a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b311b677004891" /><Relationship Type="http://schemas.openxmlformats.org/officeDocument/2006/relationships/notesMaster" Target="/ppt/notesMasters/notesMaster1.xml" Id="Rfbc49386716f4c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b8118074104361" /><Relationship Type="http://schemas.openxmlformats.org/officeDocument/2006/relationships/notesMaster" Target="/ppt/notesMasters/notesMaster1.xml" Id="R207ed3bf40f34a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c95af6bb184d0d" /><Relationship Type="http://schemas.openxmlformats.org/officeDocument/2006/relationships/notesMaster" Target="/ppt/notesMasters/notesMaster1.xml" Id="Rbf1a70090c3b45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7b4016802542e7" /><Relationship Type="http://schemas.openxmlformats.org/officeDocument/2006/relationships/notesMaster" Target="/ppt/notesMasters/notesMaster1.xml" Id="Re48b3cd00d9441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089629a1a140fa" /><Relationship Type="http://schemas.openxmlformats.org/officeDocument/2006/relationships/notesMaster" Target="/ppt/notesMasters/notesMaster1.xml" Id="Re3f2a879ce9e46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59c240f37b4cb3" /><Relationship Type="http://schemas.openxmlformats.org/officeDocument/2006/relationships/notesMaster" Target="/ppt/notesMasters/notesMaster1.xml" Id="R3de43786d70947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24b4aad67c4d81" /><Relationship Type="http://schemas.openxmlformats.org/officeDocument/2006/relationships/notesMaster" Target="/ppt/notesMasters/notesMaster1.xml" Id="R10131f46333c4e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7c3d54b8444ac7" /><Relationship Type="http://schemas.openxmlformats.org/officeDocument/2006/relationships/notesMaster" Target="/ppt/notesMasters/notesMaster1.xml" Id="R718f1dd0d84a47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c1a7c13b1e4637" /><Relationship Type="http://schemas.openxmlformats.org/officeDocument/2006/relationships/notesMaster" Target="/ppt/notesMasters/notesMaster1.xml" Id="Rf949525483dc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Can you make a decision-maker act—and say what would change your mind?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paraphrase the three steps without using mathematical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reading the equation. Ask for a plain-language version before manipulating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reading the equation. Ask for a plain-language version before manipulating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reading the equation. Ask for a plain-language version before manipulating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an example and a non-example of each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point to the step where a hidden assumption enters.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narrate axes mechanically. Ask what feature of the shape changes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assumption can be checked in the data and which requires a design argument.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failure statement sit. Ask for the first diagnostic that would reveal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one claim from the required article and its replication package to the equation, assumption, or failure mode just discussed.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point to the step where a hidden assumption enters.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one student to read the strong claim and another to challenge the verb.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 and ask for a one-sentence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12-group-presentations/slides.qmd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d5503dd314d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3c591da03e4a9b" /><Relationship Type="http://schemas.openxmlformats.org/officeDocument/2006/relationships/slideLayout" Target="/ppt/slideLayouts/slideLayout1.xml" Id="Rd95f1392fd9c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5f1392fd9c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c1a56350b4962" /><Relationship Type="http://schemas.openxmlformats.org/officeDocument/2006/relationships/notesSlide" Target="/ppt/notesSlides/notesSlide1.xml" Id="R6579fbc0c9e1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da8f5d8094c8d" /><Relationship Type="http://schemas.openxmlformats.org/officeDocument/2006/relationships/notesSlide" Target="/ppt/notesSlides/notesSlide2.xml" Id="R96e24585e81d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dc1e381284a95" /><Relationship Type="http://schemas.openxmlformats.org/officeDocument/2006/relationships/notesSlide" Target="/ppt/notesSlides/notesSlide3.xml" Id="Ree748a8d51c7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acc0a6335419e" /><Relationship Type="http://schemas.openxmlformats.org/officeDocument/2006/relationships/chart" Target="/ppt/slides/charts/chart1.xml" Id="Rb928875d9f0d4cd4" /><Relationship Type="http://schemas.openxmlformats.org/officeDocument/2006/relationships/notesSlide" Target="/ppt/notesSlides/notesSlide4.xml" Id="R7e966ca1d5e84b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ccecbc9be4bf5" /><Relationship Type="http://schemas.openxmlformats.org/officeDocument/2006/relationships/notesSlide" Target="/ppt/notesSlides/notesSlide5.xml" Id="R2896214f00b141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e436975784fa3" /><Relationship Type="http://schemas.openxmlformats.org/officeDocument/2006/relationships/notesSlide" Target="/ppt/notesSlides/notesSlide6.xml" Id="R9a4bb8e228f848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89b20f2ae469e" /><Relationship Type="http://schemas.openxmlformats.org/officeDocument/2006/relationships/notesSlide" Target="/ppt/notesSlides/notesSlide7.xml" Id="R50cb3c39d30340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d748ed6a4a6f" /><Relationship Type="http://schemas.openxmlformats.org/officeDocument/2006/relationships/chart" Target="/ppt/slides/charts/chart2.xml" Id="R82b55a04f7454984" /><Relationship Type="http://schemas.openxmlformats.org/officeDocument/2006/relationships/notesSlide" Target="/ppt/notesSlides/notesSlide8.xml" Id="Re10fcba3ee114e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ce20d07184821" /><Relationship Type="http://schemas.openxmlformats.org/officeDocument/2006/relationships/notesSlide" Target="/ppt/notesSlides/notesSlide9.xml" Id="R22af0271306349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dc98e7daa484a" /><Relationship Type="http://schemas.openxmlformats.org/officeDocument/2006/relationships/notesSlide" Target="/ppt/notesSlides/notesSlide10.xml" Id="Rdb895951b7dc45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ef0988614682" /><Relationship Type="http://schemas.openxmlformats.org/officeDocument/2006/relationships/notesSlide" Target="/ppt/notesSlides/notesSlide11.xml" Id="R89e42eb6b146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82c5a88a34b9f" /><Relationship Type="http://schemas.openxmlformats.org/officeDocument/2006/relationships/notesSlide" Target="/ppt/notesSlides/notesSlide12.xml" Id="R2b639ad0189444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eea3e4a714ded" /><Relationship Type="http://schemas.openxmlformats.org/officeDocument/2006/relationships/notesSlide" Target="/ppt/notesSlides/notesSlide13.xml" Id="Rda87801c63f145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52ad95c6740a7" /><Relationship Type="http://schemas.openxmlformats.org/officeDocument/2006/relationships/notesSlide" Target="/ppt/notesSlides/notesSlide14.xml" Id="R3a7902577eee459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BA0D3BD-12B4-4F86-9C5E-5894492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12 · PRESENTATION WORKSHOP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64B1CE4-BB5B-4DB9-BA24-F29AA63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Final presentations: defend what you built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D6D83714-4AE7-4B91-A2BF-7DDB59C4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A1CFC639-DB2C-4F9B-9717-1D845178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66555B00-3DEB-4718-BD40-EA5130AD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interval-bg">
            <a:extLst xmlns:a="http://schemas.openxmlformats.org/drawingml/2006/main">
              <a:ext uri="{FF2B5EF4-FFF2-40B4-BE49-F238E27FC236}">
                <a16:creationId xmlns:a16="http://schemas.microsoft.com/office/drawing/2014/main" id="{C41003F9-E32E-4837-BF9F-03FE87A8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85800"/>
            <a:ext cx="4752975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1EF80D22-F6A2-4DC9-B013-D8060C32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219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8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597C797B-172A-4222-8E77-17B48D3D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01" y="1371600"/>
            <a:ext cx="109099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EE38127A-3939-41AF-B49F-F0ECC6D4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498" y="1304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CE630BF4-CD27-40D6-A0BB-5832A6E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1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4DBCE8E5-F897-4183-90CE-74CFBDEA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463" y="2247900"/>
            <a:ext cx="15179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143F79E9-7DF5-406C-8196-D48DF7B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50" y="2181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5DEAA117-71A9-4C5C-BD8E-8999FF3B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71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4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899C0ED9-7AC5-48B7-8C7C-52B72C08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160" y="3124200"/>
            <a:ext cx="194481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ED5E9E33-3D5D-4954-AD55-5F1BE9FB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801" y="3057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6E388C20-EC59-48EA-AE91-BBEB47EA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768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0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EA225BC-A7FE-42A1-A819-30EF32F9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2A54F2E-8F73-4482-881A-700FD74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16A4741-7351-46BD-A800-DCC5A2A7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1</a:t>
            </a:r>
          </a:p>
        </p:txBody>
      </p:sp>
    </p:spTree>
    <p:extLst>
      <p:ext uri="{BB962C8B-B14F-4D97-AF65-F5344CB8AC3E}">
        <p14:creationId xmlns:p14="http://schemas.microsoft.com/office/powerpoint/2010/main" val="891141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A1F24DE4-663B-4256-B06D-2D4F63C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LEARNING ARC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8D6B9A-DE6C-4990-BFDA-409697C2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intuition before notation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B60B8DD-25FD-4F6C-AEEB-5D057C18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7A2E50DA-C33D-4357-8D94-B9D2676A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a semester of analysis into an eight-slide decision narrative with explicit uncertainty and limits.</a:t>
            </a:r>
          </a:p>
        </p:txBody>
      </p:sp>
      <p:cxnSp>
        <p:nvCxnSpPr>
          <p:cNvPr id="21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2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D328234-3C15-431F-B9E7-A1E233A8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22E3A60-8BDC-4813-BED6-11BCCE5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Lead with the decision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DB96762-1183-4035-BA4C-116CDEB4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AE4D0D48-B0DA-4608-9F98-9274C674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Show only evidence that changes it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16DB240-D773-48F0-829E-0263774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470F9B-858A-4990-8289-FC2D590B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Close with limits and the next trigger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272055F2-4865-485B-87AC-19387404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Each step creates the question answered by the next.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5229173-27AA-4A07-97AF-DEC17FFD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6BA75A-47E7-4B38-A0F6-2014B56D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591443E-F719-41EE-A983-E3C9A915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2</a:t>
            </a:r>
          </a:p>
        </p:txBody>
      </p:sp>
    </p:spTree>
    <p:extLst>
      <p:ext uri="{BB962C8B-B14F-4D97-AF65-F5344CB8AC3E}">
        <p14:creationId xmlns:p14="http://schemas.microsoft.com/office/powerpoint/2010/main" val="479041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D2595D4A-CD24-420A-8860-A5A6689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EQUATION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2BB558-647C-4661-8376-77DEA6A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claim needs uncertainty or a benchmark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03ADDA4-2315-4B1A-8E6A-7400B695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1A403B0-A5DD-469A-9AD0-7205FBD8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Claim = estimate ± uncertainty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2BD55BC-E060-4D47-A317-538625B9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number without an interval or benchmark is not yet evidence.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6CEB88F-567F-499F-B7AF-1E6D6667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aloud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7F79EED-7499-413D-82E1-80E83596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Name every symbol, then say what changes when one quantity increases.</a:t>
            </a:r>
          </a:p>
        </p:txBody>
      </p:sp>
      <p:sp>
        <p:nvSpPr>
          <p:cNvPr id="8" name="interval-bg">
            <a:extLst xmlns:a="http://schemas.openxmlformats.org/drawingml/2006/main">
              <a:ext uri="{FF2B5EF4-FFF2-40B4-BE49-F238E27FC236}">
                <a16:creationId xmlns:a16="http://schemas.microsoft.com/office/drawing/2014/main" id="{790D4452-0044-479E-83F3-2A3DDFF4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83A5F429-8389-4508-BE4D-776B948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10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2B22537C-2261-4AFA-AC92-A5FCCD17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2343150"/>
            <a:ext cx="15773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B30E2377-8AC8-40E8-B89F-661C9F49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29CD4A1C-4EAD-42FC-9227-DF0CA620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3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73A53F5D-30DD-4031-AC30-D5FB576E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3219450"/>
            <a:ext cx="2194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E978D0BE-D7C1-420E-85A9-6727BB3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2C931352-689D-46B6-8569-46F331A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6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57D32607-7C15-4711-AB92-CC926C44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4095750"/>
            <a:ext cx="28117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3BBB1829-6DFA-4120-BD0B-9315B4DA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1ADAE6A7-5434-43AC-924C-590B56C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BC18F2F-DBFE-4E0C-A4F4-3945A52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0CDC3A-DAFE-4030-8407-5889FCE9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442F946-191E-4760-866B-BEEA271B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3</a:t>
            </a:r>
          </a:p>
        </p:txBody>
      </p:sp>
    </p:spTree>
    <p:extLst>
      <p:ext uri="{BB962C8B-B14F-4D97-AF65-F5344CB8AC3E}">
        <p14:creationId xmlns:p14="http://schemas.microsoft.com/office/powerpoint/2010/main" val="1271809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E9B634F-5B21-404D-8B06-F251D929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EQUATION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2938CC-7584-4154-A908-1E2025BF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Act when benefit exceeds cost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38A8484-E4AA-4FC0-A071-BAE7CE2B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F561DA0E-A594-4F0A-80E0-4DFBD96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Act if expected benefit &gt; expected cost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6CE7F90-F2C4-47CE-BB63-6530BAE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recommendation connects evidence to consequences and a stakeholder.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6D6CE56-373B-4796-967C-648CDF0B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aloud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D8DFE4CC-1674-4C59-A249-012A2FAE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Name every symbol, then say what changes when one quantity increases.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28875d9f0d4cd4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1EC2333-D04A-4574-AF8E-1ADFEC8F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F9A5C9-4D8D-4549-838E-71B798C9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5952EB0-58A4-496B-BDBA-125DF2F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4</a:t>
            </a:r>
          </a:p>
        </p:txBody>
      </p:sp>
    </p:spTree>
    <p:extLst>
      <p:ext uri="{BB962C8B-B14F-4D97-AF65-F5344CB8AC3E}">
        <p14:creationId xmlns:p14="http://schemas.microsoft.com/office/powerpoint/2010/main" val="1289077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8DF63A4-13FD-4292-AD5B-D0001254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EQUATION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6C21AB-4F71-4E3B-AC7F-42E85162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Trust needs reproducibility, validity, and limits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D542610-FB71-4715-990B-5C640575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CCAF47B5-B8D0-4661-A190-0945C9E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Trust = reproducibility + validity + limits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EF24916-AD76-4E4C-8C06-2C58F1A2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decision-maker needs to know why to believe you and when not to.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973F1360-47B1-48CC-96BB-71590FDA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aloud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FDEAD4B-8B83-4221-A7E0-B523926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Name every symbol, then say what changes when one quantity increases.</a:t>
            </a:r>
          </a:p>
        </p:txBody>
      </p:sp>
      <p:cxnSp>
        <p:nvCxnSpPr>
          <p:cNvPr id="26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7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0A8798A-2C65-4D03-845E-2C8CB75D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E8226A5-1BA7-4C24-BB96-A2E40AB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2B5E9663-E995-4FE2-A076-D51DB52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92F7F1D-513F-437B-BC60-242B71EE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5F523C13-B8F6-4932-BBA7-06F989EA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EAAEC75-BE69-4B53-A054-4C4BB1A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D8E11F5-9833-4DBA-9092-1D42252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FF33E35-FA54-4115-9B40-8D96ECF4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3D68F81-8549-4959-B004-6512AB4C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5</a:t>
            </a:r>
          </a:p>
        </p:txBody>
      </p:sp>
    </p:spTree>
    <p:extLst>
      <p:ext uri="{BB962C8B-B14F-4D97-AF65-F5344CB8AC3E}">
        <p14:creationId xmlns:p14="http://schemas.microsoft.com/office/powerpoint/2010/main" val="1852458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02CA678-D1C0-4324-9433-BE011B79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DEFINITIONS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E7F747-69A5-40A3-B4AF-E1161FD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words carry most of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1805D63-D6DC-4DA3-9C16-EB62E82D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AADA3FB6-6748-4181-9A9F-83D1A7AB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2C9EC922-D7D8-490D-9085-417B1432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88CA9B42-6ED5-42B0-AC28-10BFE053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F77D99AE-5690-4253-88E0-1B820F80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The action a real reader must choose.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7BD29CB8-9461-4650-8D0D-9D536510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59C6DE61-E43E-4550-B50E-A4E5B1F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64B2173-40B0-4FA9-84B0-E3AA722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141B915F-12CD-4375-B230-831FA3EC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evidence-based answer to that decision.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53BA84F-4DEA-46FF-BC31-ABC79670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5515438C-D1AD-4F48-A34B-2A73DAC4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Falsifier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679E119E-7170-491E-847B-8CE51D86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EBB145A2-DF55-4291-BAA9-17BDE788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The evidence that would change your conclusion.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054862C2-FFDE-4E90-B336-9548E6A9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If you cannot define the noun, you cannot defend the number.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5BF410C-3DAB-48CF-BC46-AE1E3DE7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810BBB-B845-4558-8F2E-49CE5399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51C34A6-4A15-46E9-86FC-1935E3BD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6</a:t>
            </a:r>
          </a:p>
        </p:txBody>
      </p:sp>
    </p:spTree>
    <p:extLst>
      <p:ext uri="{BB962C8B-B14F-4D97-AF65-F5344CB8AC3E}">
        <p14:creationId xmlns:p14="http://schemas.microsoft.com/office/powerpoint/2010/main" val="187288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38C982C8-D640-493C-A153-0D307F97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5E005F-A1AF-474F-952E-E3A5E72F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is a sequence of decisions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19296B4-C22B-4B9C-BFD8-EB0F92CB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273120C-9A74-4703-B9C4-1837818C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FD3899B-D67E-4886-904A-F0FF60C3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Lead with the decision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D402119-C06D-4C66-A908-CD193CA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F4EC55E-300E-4E92-A9AB-1AAFE896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Show only evidence that changes it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60BF12E-6E40-40C1-8990-28C899BF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ADFADCF1-1B8E-4F57-A0CF-2C4F92C2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Close with limits and the next trigger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AEAB0615-DC2A-40A1-9611-DC7CC9E7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fragile step: Seven minutes of method followed by one minute of recommendation reverses the audience's needs.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3D775D4-A203-4455-BD52-A1BF1CB2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4449ED3-EC6D-4A57-8375-A4A9006A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0F2AD4-D864-4B94-9B25-F99E79C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7</a:t>
            </a:r>
          </a:p>
        </p:txBody>
      </p:sp>
    </p:spTree>
    <p:extLst>
      <p:ext uri="{BB962C8B-B14F-4D97-AF65-F5344CB8AC3E}">
        <p14:creationId xmlns:p14="http://schemas.microsoft.com/office/powerpoint/2010/main" val="1404877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0382C1C3-9EB7-4EB9-A7EF-DF1D268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VISUAL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C03E60-5CFE-4F11-80DB-B277D225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trade-off in the graphic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3517DDC-0DD4-40A0-A965-FECCCA7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b55a04f7454984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A2C7BD2E-1072-48AA-ACA9-0A3AA968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graphic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3866FED7-106D-4E3A-92C3-FE919C05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changes?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BC00F764-F2A8-4A31-92BC-81DC51B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6B0729AC-F0FB-4621-A947-BDA27A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stays fixed?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B4236D03-1CEF-40C8-BC62-87C0ACB7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CE2F56CF-3C85-4CA1-8226-83DB8A9D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What would reverse it?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B285CF4E-CD16-4938-BE3D-99B6956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134B4CD-B8CA-4CAB-A914-DFDFD0C9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B86728-BDB1-493A-A55D-046B347C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565464D-7215-4227-A085-C54BB906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8</a:t>
            </a:r>
          </a:p>
        </p:txBody>
      </p:sp>
    </p:spTree>
    <p:extLst>
      <p:ext uri="{BB962C8B-B14F-4D97-AF65-F5344CB8AC3E}">
        <p14:creationId xmlns:p14="http://schemas.microsoft.com/office/powerpoint/2010/main" val="1567961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D3D5E9D-2F7E-4DCA-B9D3-A6F0B77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BBCE63-C81A-4427-8283-83930853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weakest assumption limits the claim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8301141-EB08-4015-8DC4-67280A7E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5D05CDB4-7FFC-41C6-98A1-A67EE621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Before interpreting the output, ask whether these bridges exist: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56BF33F9-7DF1-4A97-B024-53F5C452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7376617B-C695-472F-8A29-B9DEA977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number reproduces from a clean clone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C21D440B-ED57-4B1F-9C09-2DD4E774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7546EE4-6354-4EAD-AD35-9A2F4310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7CF8C59-E6BA-4434-A33E-71257D5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chart states what it shows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0045CC45-9CFB-4CC0-B93C-536ED3EA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70B34C5B-5AA6-43BF-A600-DF851018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161D0AD6-5132-4A1E-AEA6-1D167FDF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Uncertainty or a benchmark travels with every estimate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02058A91-E3F6-48D0-A80B-17DB1277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42549F68-9C74-472C-8E63-44177EDF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48616813-8FC1-46B2-848C-8DF1943B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member can defend every line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C85311C4-427C-4B82-B187-78AC1AB7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Assumptions are not disclaimers. They are part of the estimate.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C551AC7-848E-4A58-8ECC-222DAE14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A3E593-1EEB-4BE0-8BF2-8F63A700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13324DC-BF65-48D5-9090-19DAB217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9</a:t>
            </a:r>
          </a:p>
        </p:txBody>
      </p:sp>
    </p:spTree>
    <p:extLst>
      <p:ext uri="{BB962C8B-B14F-4D97-AF65-F5344CB8AC3E}">
        <p14:creationId xmlns:p14="http://schemas.microsoft.com/office/powerpoint/2010/main" val="11884053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F3337C92-4C76-47D9-945C-9B0F75CE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PRESENTATION WORKSHOP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FFFBFDF6-0B06-4C95-89B6-D901E947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Seven minutes of method followed by one minute of recommendation reverses the audience's needs.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8A3B15A3-3B89-4D26-A2B4-307464EF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C3946E78-0C3A-4D86-BD48-21721D04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What you will see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8A0E5838-8D60-4D35-B9F2-25931A73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reassuring metric, a clean coefficient, or an attractive visual can survive while the underlying claim fails.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114A26E4-4A76-493C-9119-CEB2FEE2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What you must say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2B9C5792-31C7-46A6-A98F-287BEC32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 the mechanism, quantify the sensitivity when possible, and narrow the claim.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EAEFD3-3F96-4E04-BDDB-62B9302B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860D091-3667-43DC-9A64-84CB1F5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13890DC-4AF2-44A5-9B6E-8EDBC871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Presentation workshop · 10</a:t>
            </a:r>
          </a:p>
        </p:txBody>
      </p:sp>
    </p:spTree>
    <p:extLst>
      <p:ext uri="{BB962C8B-B14F-4D97-AF65-F5344CB8AC3E}">
        <p14:creationId xmlns:p14="http://schemas.microsoft.com/office/powerpoint/2010/main" val="144823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2A327F3A-3777-4E68-8098-93634E5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ARTICLE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8EA1E9-25D5-4001-85A1-C05DC502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the pre-class reading as evidence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B98A993-C7F6-4508-AB88-CAB4208F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E2A03CA7-F213-436D-AFCC-019E8A63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7D2C8A6B-1C25-4F92-97DC-82635DD2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Session 12 rubric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81A2EE5F-C146-409E-9C9D-593F074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eight-slide and defence requirements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18CD341E-D24F-4A5E-8CFE-91744BA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local:12-group-presentations/README.md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97F49D5C-E5B5-4703-93D8-658457F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43924E65-EA0B-44A3-AF57-2559E3A5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19A5D936-E8A2-43F6-9344-65E89AC2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Final-paper brief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D0CC6F2B-74CC-45D9-84C2-5A445081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reader, evidence, and reproducibility standard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0605829E-C93D-463A-AD57-AE007592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local:assessments/final-paper/README.md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95676CC-3CF1-4A17-9068-17D5B3EA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8BB5F4-88D9-4732-95A8-70643CEE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F8106B1-E4B8-4258-A403-4E87B79F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11</a:t>
            </a:r>
          </a:p>
        </p:txBody>
      </p:sp>
    </p:spTree>
    <p:extLst>
      <p:ext uri="{BB962C8B-B14F-4D97-AF65-F5344CB8AC3E}">
        <p14:creationId xmlns:p14="http://schemas.microsoft.com/office/powerpoint/2010/main" val="8726141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D86DEA5-05BA-488D-9A18-E7A1F952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2EA1C7-A9AC-4610-8C73-A3800218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is a sequence of decisions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80AF2A7-238B-41A4-BE58-972CE704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F9C8689-A407-43A0-818C-0312F2A3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74A6502-E399-49EF-92FA-8547223F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Lead with the decision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E8815DA-4A6F-48D4-BD04-CCA22C6A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F5C6F0B-0E79-4C20-B0C1-E1B381BD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Show only evidence that changes it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7A0AB50-00D4-40A8-A738-47D1F177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7EC63A7-BCB9-40C4-A535-A071E176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Close with limits and the next trigger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629E47C2-525E-49A7-B5DF-98A926ED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fragile step: Seven minutes of method followed by one minute of recommendation reverses the audience's needs.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AD2624-ABF8-444B-A35E-41547A30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942666-3B01-40FD-AE96-E3DD0EA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99C2C6-8D3C-43A2-B758-0CAEA0CD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12</a:t>
            </a:r>
          </a:p>
        </p:txBody>
      </p:sp>
    </p:spTree>
    <p:extLst>
      <p:ext uri="{BB962C8B-B14F-4D97-AF65-F5344CB8AC3E}">
        <p14:creationId xmlns:p14="http://schemas.microsoft.com/office/powerpoint/2010/main" val="1121923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AB9BE47-CDEB-4903-A58F-66DCA005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PRESENTATION WORKSHOP · COMMUNICATION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721D9-F2C7-4DE9-97A3-8F12BD11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Match the claim to the design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FD31E80-4214-49B1-90BC-F69C1A3D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48525546-9A50-4B9D-BA66-85BC9BF2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B66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6A1211C9-C737-4A90-9A30-705D27BC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Slide 1 names the decision. Slide 2 gives the recommendation. The method waits until someone asks why to believe it.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485DC8B4-4D2B-4D22-BACA-107D75B1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644650A5-51BB-4979-9B4A-DEDD2473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04819CDE-08C1-41E9-BEDC-74D0C43E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result described with stronger language than its assumptions, evaluation, or timing can support.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1BE637D5-B5C3-4852-8401-917D9050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· uncertainty · design · limitation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F7F200C-AB98-4997-8767-F9FC67ED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DCCA699-4362-4A1F-9433-EC1DD57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14FD581-BC6E-4D0C-A5FD-3233BAE6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Presentation workshop · 13</a:t>
            </a:r>
          </a:p>
        </p:txBody>
      </p:sp>
    </p:spTree>
    <p:extLst>
      <p:ext uri="{BB962C8B-B14F-4D97-AF65-F5344CB8AC3E}">
        <p14:creationId xmlns:p14="http://schemas.microsoft.com/office/powerpoint/2010/main" val="3098096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30B0A7C-685D-47AE-AF60-2E374BC0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PRESENTATION WORKSHOP · CARRY THIS FORWARD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C98F35D-B1DD-4F91-9249-C45083AF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3" name="close-num-0">
            <a:extLst xmlns:a="http://schemas.openxmlformats.org/drawingml/2006/main">
              <a:ext uri="{FF2B5EF4-FFF2-40B4-BE49-F238E27FC236}">
                <a16:creationId xmlns:a16="http://schemas.microsoft.com/office/drawing/2014/main" id="{40D26FEB-372C-411A-BBAB-7815096B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close-text-0">
            <a:extLst xmlns:a="http://schemas.openxmlformats.org/drawingml/2006/main">
              <a:ext uri="{FF2B5EF4-FFF2-40B4-BE49-F238E27FC236}">
                <a16:creationId xmlns:a16="http://schemas.microsoft.com/office/drawing/2014/main" id="{9328811D-1FA2-48A9-B33F-0D82FEF4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number without an interval or benchmark is not yet evidence.</a:t>
            </a:r>
          </a:p>
        </p:txBody>
      </p:sp>
      <p:sp>
        <p:nvSpPr>
          <p:cNvPr id="5" name="close-num-1">
            <a:extLst xmlns:a="http://schemas.openxmlformats.org/drawingml/2006/main">
              <a:ext uri="{FF2B5EF4-FFF2-40B4-BE49-F238E27FC236}">
                <a16:creationId xmlns:a16="http://schemas.microsoft.com/office/drawing/2014/main" id="{C61B9837-8150-491B-82E9-F796F55E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close-text-1">
            <a:extLst xmlns:a="http://schemas.openxmlformats.org/drawingml/2006/main">
              <a:ext uri="{FF2B5EF4-FFF2-40B4-BE49-F238E27FC236}">
                <a16:creationId xmlns:a16="http://schemas.microsoft.com/office/drawing/2014/main" id="{71793719-83EF-4C45-9CBC-4CC96F5F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number reproduces from a clean clone</a:t>
            </a:r>
          </a:p>
        </p:txBody>
      </p:sp>
      <p:sp>
        <p:nvSpPr>
          <p:cNvPr id="7" name="close-num-2">
            <a:extLst xmlns:a="http://schemas.openxmlformats.org/drawingml/2006/main">
              <a:ext uri="{FF2B5EF4-FFF2-40B4-BE49-F238E27FC236}">
                <a16:creationId xmlns:a16="http://schemas.microsoft.com/office/drawing/2014/main" id="{5BA267C0-58C6-46F0-A61F-CD751CFA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close-text-2">
            <a:extLst xmlns:a="http://schemas.openxmlformats.org/drawingml/2006/main">
              <a:ext uri="{FF2B5EF4-FFF2-40B4-BE49-F238E27FC236}">
                <a16:creationId xmlns:a16="http://schemas.microsoft.com/office/drawing/2014/main" id="{730AB3B2-3698-4BC6-80D8-9F9CC48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Slide 1 names the decision. Slide 2 gives the recommendation. The method waits until someone asks why to believe it.</a:t>
            </a:r>
          </a:p>
        </p:txBody>
      </p:sp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FBC989A-5724-479E-B94D-FA2C1091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70C8EC2-A8A2-40C3-A792-76638CF0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A041F7A-F00D-404B-95D6-5D7B25D6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Presentation workshop · 14</a:t>
            </a:r>
          </a:p>
        </p:txBody>
      </p:sp>
    </p:spTree>
    <p:extLst>
      <p:ext uri="{BB962C8B-B14F-4D97-AF65-F5344CB8AC3E}">
        <p14:creationId xmlns:p14="http://schemas.microsoft.com/office/powerpoint/2010/main" val="988952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2026-08-23T21:43:09.8320000Z</dcterms:created>
  <dcterms:modified xsi:type="dcterms:W3CDTF">2026-08-23T21:43:09.8320000Z</dcterms:modified>
</coreProperties>
</file>