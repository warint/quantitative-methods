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55"/>
  </p:notesMasterIdLst>
  <p:sldIdLst>
    <p:sldId id="256" r:id="rId3"/>
    <p:sldId id="257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4" r:id="rId53"/>
    <p:sldId id="316" r:id="rId5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101600" cy="1016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question: Put the repository directly on your Desktop. Then make every check turn green.</a:t>
            </a:r>
          </a:p>
          <a:p>
            <a:endParaRPr/>
          </a:p>
          <a:p>
            <a:r>
              <a:t>[Sources]</a:t>
            </a:r>
          </a:p>
          <a:p>
            <a:r>
              <a:t>- Course source: 01-foundations-scenarios-and-tools/00-pre-session/README.md</a:t>
            </a:r>
          </a:p>
          <a:p>
            <a:r>
              <a:t>- Europe 2031 — https://europe2031.ai</a:t>
            </a:r>
          </a:p>
          <a:p>
            <a:r>
              <a:t>- Critical reading brief — local:01-foundations-scenarios-and-tools/00-pre-session/reading-europe-2031.md</a:t>
            </a:r>
          </a:p>
          <a:p>
            <a:r>
              <a:t>- ISLR, Chapter 2 — https://www.statlearning.com/</a:t>
            </a:r>
          </a:p>
          <a:p>
            <a:r>
              <a:t>- Original AI-generated illustration: Original editorial laptop setup on a tidy desk; generic code editor, terminal checkmark, Desktop repository folder; no real logos.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Check the Explorer shows README.md, requirements.txt, data, and the numbered session folders.</a:t>
            </a:r>
          </a:p>
          <a:p>
            <a:endParaRPr/>
          </a:p>
          <a:p>
            <a:r>
              <a:t>[Sources]</a:t>
            </a:r>
          </a:p>
          <a:p>
            <a:r>
              <a:t>- Course source: 01-foundations-scenarios-and-tools/00-pre-session/setup-vscodium-local-llm.md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work is completed before class. Begin the lecture by asking for the unresolved questions students brought.</a:t>
            </a:r>
          </a:p>
          <a:p>
            <a:endParaRPr/>
          </a:p>
          <a:p>
            <a:r>
              <a:t>[Sources]</a:t>
            </a:r>
          </a:p>
          <a:p>
            <a:r>
              <a:t>- Course source: 01-foundations-scenarios-and-tools/00-pre-session/README.md</a:t>
            </a:r>
          </a:p>
          <a:p>
            <a:r>
              <a:t>- Europe 2031 — https://europe2031.ai</a:t>
            </a:r>
          </a:p>
          <a:p>
            <a:r>
              <a:t>- Critical reading brief — local:01-foundations-scenarios-and-tools/00-pre-session/reading-europe-2031.md</a:t>
            </a:r>
          </a:p>
          <a:p>
            <a:r>
              <a:t>- ISLR, Chapter 2 — https://www.statlearning.com/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academic article and Dataverse package are required before class. ISLR is optional background.</a:t>
            </a:r>
          </a:p>
          <a:p>
            <a:endParaRPr/>
          </a:p>
          <a:p>
            <a:r>
              <a:t>[Sources]</a:t>
            </a:r>
          </a:p>
          <a:p>
            <a:r>
              <a:t>- Course source: 01-foundations-scenarios-and-tools/00-pre-session/README.md</a:t>
            </a:r>
          </a:p>
          <a:p>
            <a:r>
              <a:t>- Europe 2031 — https://europe2031.ai</a:t>
            </a:r>
          </a:p>
          <a:p>
            <a:r>
              <a:t>- Critical reading brief — local:01-foundations-scenarios-and-tools/00-pre-session/reading-europe-2031.md</a:t>
            </a:r>
          </a:p>
          <a:p>
            <a:r>
              <a:t>- ISLR, Chapter 2 — https://www.statlearning.com/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goal is readiness, not completion theatre. Invite students to bring one unresolved question.</a:t>
            </a:r>
          </a:p>
          <a:p>
            <a:endParaRPr/>
          </a:p>
          <a:p>
            <a:r>
              <a:t>[Sources]</a:t>
            </a:r>
          </a:p>
          <a:p>
            <a:r>
              <a:t>- Course source: 01-foundations-scenarios-and-tools/00-pre-session/README.md</a:t>
            </a:r>
          </a:p>
          <a:p>
            <a:r>
              <a:t>- Europe 2031 — https://europe2031.ai</a:t>
            </a:r>
          </a:p>
          <a:p>
            <a:r>
              <a:t>- Critical reading brief — local:01-foundations-scenarios-and-tools/00-pre-session/reading-europe-2031.md</a:t>
            </a:r>
          </a:p>
          <a:p>
            <a:r>
              <a:t>- ISLR, Chapter 2 — https://www.statlearning.com/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B2A3F-C262-4278-9EDA-419576E16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EB404D-19D9-4E5F-B4EC-E7792E1059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DEF8C-90B8-4D4F-80F9-F6F3FB0DD11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41EB5C9-1307-BA42-ABA2-0BC069CD8E7F}" type="datetimeFigureOut">
              <a:t>24/08/2026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F10E6-2038-4F6D-BBC4-A8ADC47E087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EBE6A-A1DD-4F9D-BB43-EBA8C3B491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5EF2332-01BF-834F-8236-50238282D533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362B5-1517-44B8-9ECA-25DD23F51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06AF4-AC4E-4080-B244-A4F52ED2B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707E7-F0DF-433A-9D19-EAEA4CEF4DA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41EB5C9-1307-BA42-ABA2-0BC069CD8E7F}" type="datetimeFigureOut">
              <a:t>24/08/2026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37D74-EE1E-4664-A453-9CD44484AF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EBBC3-CE8A-4B06-B625-B910487380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5EF2332-01BF-834F-8236-50238282D533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C1AA5-3408-45DB-AE0A-816F6C7B5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2466667"/>
            <a:ext cx="10363200" cy="1733333"/>
          </a:xfrm>
        </p:spPr>
        <p:txBody>
          <a:bodyPr anchor="t"/>
          <a:lstStyle>
            <a:lvl1pPr algn="l">
              <a:buNone/>
              <a:defRPr sz="3733" b="1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39204-2DA9-4AFB-87AB-40F230A5D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4333333"/>
            <a:ext cx="10363200" cy="933333"/>
          </a:xfrm>
        </p:spPr>
        <p:txBody>
          <a:bodyPr anchor="b"/>
          <a:lstStyle>
            <a:lvl1pPr marL="0" indent="0">
              <a:buNone/>
              <a:defRPr sz="1267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133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867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867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867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867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867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482E1-68C0-4E82-88CD-ACF6233AA24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41EB5C9-1307-BA42-ABA2-0BC069CD8E7F}" type="datetimeFigureOut">
              <a:t>24/08/2026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74AC-805D-4B7E-A8F3-59EBBB9CA25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3C67E-8B42-47D4-97B8-F0B6EF11E6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5EF2332-01BF-834F-8236-50238282D533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4E17E-C1CA-42BE-B1DE-A637E7B4D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91671-EA5E-44E0-BA31-9EE7DB890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buNone/>
              <a:defRPr sz="1733"/>
            </a:lvl1pPr>
            <a:lvl2pPr>
              <a:buNone/>
              <a:defRPr sz="1467"/>
            </a:lvl2pPr>
            <a:lvl3pPr>
              <a:buNone/>
              <a:defRPr sz="1267"/>
            </a:lvl3pPr>
            <a:lvl4pPr>
              <a:buNone/>
              <a:defRPr sz="1133"/>
            </a:lvl4pPr>
            <a:lvl5pPr>
              <a:buNone/>
              <a:defRPr sz="1133"/>
            </a:lvl5pPr>
            <a:lvl6pPr>
              <a:buNone/>
              <a:defRPr sz="1133"/>
            </a:lvl6pPr>
            <a:lvl7pPr>
              <a:buNone/>
              <a:defRPr sz="1133"/>
            </a:lvl7pPr>
            <a:lvl8pPr>
              <a:buNone/>
              <a:defRPr sz="1133"/>
            </a:lvl8pPr>
            <a:lvl9pPr>
              <a:buNone/>
              <a:defRPr sz="1133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EDBD12-8B7A-4E70-8742-58DE4956533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buNone/>
              <a:defRPr sz="1733"/>
            </a:lvl1pPr>
            <a:lvl2pPr>
              <a:buNone/>
              <a:defRPr sz="1467"/>
            </a:lvl2pPr>
            <a:lvl3pPr>
              <a:buNone/>
              <a:defRPr sz="1267"/>
            </a:lvl3pPr>
            <a:lvl4pPr>
              <a:buNone/>
              <a:defRPr sz="1133"/>
            </a:lvl4pPr>
            <a:lvl5pPr>
              <a:buNone/>
              <a:defRPr sz="1133"/>
            </a:lvl5pPr>
            <a:lvl6pPr>
              <a:buNone/>
              <a:defRPr sz="1133"/>
            </a:lvl6pPr>
            <a:lvl7pPr>
              <a:buNone/>
              <a:defRPr sz="1133"/>
            </a:lvl7pPr>
            <a:lvl8pPr>
              <a:buNone/>
              <a:defRPr sz="1133"/>
            </a:lvl8pPr>
            <a:lvl9pPr>
              <a:buNone/>
              <a:defRPr sz="1133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7D4ECF-DB6F-436A-B20D-D6D69559DD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41EB5C9-1307-BA42-ABA2-0BC069CD8E7F}" type="datetimeFigureOut">
              <a:t>24/08/2026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52CFCA-7912-4442-8E83-7F2AD05B0E0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0ABFB-5007-4401-B90F-0074FDCE88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5EF2332-01BF-834F-8236-50238282D533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BD28C-DFD5-4B54-8C19-610403344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EEAD1-433B-48EE-980E-C5AE259EB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1467" b="1"/>
            </a:lvl1pPr>
            <a:lvl2pPr marL="457200" indent="0">
              <a:buNone/>
              <a:defRPr sz="1267" b="1"/>
            </a:lvl2pPr>
            <a:lvl3pPr marL="914400" indent="0">
              <a:buNone/>
              <a:defRPr sz="1133" b="1"/>
            </a:lvl3pPr>
            <a:lvl4pPr marL="1371600" indent="0">
              <a:buNone/>
              <a:defRPr sz="1000" b="1"/>
            </a:lvl4pPr>
            <a:lvl5pPr marL="1828800" indent="0">
              <a:buNone/>
              <a:defRPr sz="1000" b="1"/>
            </a:lvl5pPr>
            <a:lvl6pPr marL="2286000" indent="0">
              <a:buNone/>
              <a:defRPr sz="1000" b="1"/>
            </a:lvl6pPr>
            <a:lvl7pPr marL="2743200" indent="0">
              <a:buNone/>
              <a:defRPr sz="1000" b="1"/>
            </a:lvl7pPr>
            <a:lvl8pPr marL="3200400" indent="0">
              <a:buNone/>
              <a:defRPr sz="1000" b="1"/>
            </a:lvl8pPr>
            <a:lvl9pPr marL="3657600" indent="0">
              <a:buNone/>
              <a:defRPr sz="10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03241-6FCD-4C76-A397-E436C31FC91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buNone/>
              <a:defRPr sz="1467"/>
            </a:lvl1pPr>
            <a:lvl2pPr>
              <a:buNone/>
              <a:defRPr sz="1267"/>
            </a:lvl2pPr>
            <a:lvl3pPr>
              <a:buNone/>
              <a:defRPr sz="1133"/>
            </a:lvl3pPr>
            <a:lvl4pPr>
              <a:buNone/>
              <a:defRPr sz="1000"/>
            </a:lvl4pPr>
            <a:lvl5pPr>
              <a:buNone/>
              <a:defRPr sz="1000"/>
            </a:lvl5pPr>
            <a:lvl6pPr>
              <a:buNone/>
              <a:defRPr sz="1000"/>
            </a:lvl6pPr>
            <a:lvl7pPr>
              <a:buNone/>
              <a:defRPr sz="1000"/>
            </a:lvl7pPr>
            <a:lvl8pPr>
              <a:buNone/>
              <a:defRPr sz="1000"/>
            </a:lvl8pPr>
            <a:lvl9pPr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8C8A3B-F797-4C67-9818-EF1179D69A8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3"/>
          </a:xfrm>
        </p:spPr>
        <p:txBody>
          <a:bodyPr anchor="b"/>
          <a:lstStyle>
            <a:lvl1pPr marL="0" indent="0">
              <a:buNone/>
              <a:defRPr sz="1467" b="1"/>
            </a:lvl1pPr>
            <a:lvl2pPr marL="457200" indent="0">
              <a:buNone/>
              <a:defRPr sz="1267" b="1"/>
            </a:lvl2pPr>
            <a:lvl3pPr marL="914400" indent="0">
              <a:buNone/>
              <a:defRPr sz="1133" b="1"/>
            </a:lvl3pPr>
            <a:lvl4pPr marL="1371600" indent="0">
              <a:buNone/>
              <a:defRPr sz="1000" b="1"/>
            </a:lvl4pPr>
            <a:lvl5pPr marL="1828800" indent="0">
              <a:buNone/>
              <a:defRPr sz="1000" b="1"/>
            </a:lvl5pPr>
            <a:lvl6pPr marL="2286000" indent="0">
              <a:buNone/>
              <a:defRPr sz="1000" b="1"/>
            </a:lvl6pPr>
            <a:lvl7pPr marL="2743200" indent="0">
              <a:buNone/>
              <a:defRPr sz="1000" b="1"/>
            </a:lvl7pPr>
            <a:lvl8pPr marL="3200400" indent="0">
              <a:buNone/>
              <a:defRPr sz="1000" b="1"/>
            </a:lvl8pPr>
            <a:lvl9pPr marL="3657600" indent="0">
              <a:buNone/>
              <a:defRPr sz="10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974421-05E5-4B77-BE1A-F75FFD95FF9E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buNone/>
              <a:defRPr sz="1467"/>
            </a:lvl1pPr>
            <a:lvl2pPr>
              <a:buNone/>
              <a:defRPr sz="1267"/>
            </a:lvl2pPr>
            <a:lvl3pPr>
              <a:buNone/>
              <a:defRPr sz="1133"/>
            </a:lvl3pPr>
            <a:lvl4pPr>
              <a:buNone/>
              <a:defRPr sz="1000"/>
            </a:lvl4pPr>
            <a:lvl5pPr>
              <a:buNone/>
              <a:defRPr sz="1000"/>
            </a:lvl5pPr>
            <a:lvl6pPr>
              <a:buNone/>
              <a:defRPr sz="1000"/>
            </a:lvl6pPr>
            <a:lvl7pPr>
              <a:buNone/>
              <a:defRPr sz="1000"/>
            </a:lvl7pPr>
            <a:lvl8pPr>
              <a:buNone/>
              <a:defRPr sz="1000"/>
            </a:lvl8pPr>
            <a:lvl9pPr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4EE2A2-E59E-4A50-A5A7-2973513A425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41EB5C9-1307-BA42-ABA2-0BC069CD8E7F}" type="datetimeFigureOut">
              <a:t>24/08/2026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1C694D-E4ED-4DB6-81F7-E7D1AE09CD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012144-823D-4305-BFB4-830FBC5CCB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5EF2332-01BF-834F-8236-50238282D533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EE9B7-CB12-4B57-80A9-C9629D296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6E7F0-9AB2-4D93-B736-272ED9C1354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41EB5C9-1307-BA42-ABA2-0BC069CD8E7F}" type="datetimeFigureOut">
              <a:t>24/08/2026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F8FB37-942A-4A78-ABF3-805D565DC24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E97598-28FC-4CCB-AC0C-BCBC2E8787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5EF2332-01BF-834F-8236-50238282D533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CDF881-1468-4D38-A85E-74719F96E9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41EB5C9-1307-BA42-ABA2-0BC069CD8E7F}" type="datetimeFigureOut">
              <a:t>24/08/2026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73E0E9-6E8D-45A7-BFFA-B58439BE0B7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A7685-6B3D-44B0-BA9D-11B0938295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5EF2332-01BF-834F-8236-50238282D533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A393-1422-4430-8E8F-E96E7BC6B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3049"/>
            <a:ext cx="4011084" cy="1162051"/>
          </a:xfrm>
        </p:spPr>
        <p:txBody>
          <a:bodyPr anchor="b"/>
          <a:lstStyle>
            <a:lvl1pPr algn="l">
              <a:buNone/>
              <a:defRPr sz="1267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63D19-DD58-4F12-8834-64AA07AE6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buNone/>
              <a:defRPr sz="2000"/>
            </a:lvl1pPr>
            <a:lvl2pPr>
              <a:buNone/>
              <a:defRPr sz="1733"/>
            </a:lvl2pPr>
            <a:lvl3pPr>
              <a:buNone/>
              <a:defRPr sz="1467"/>
            </a:lvl3pPr>
            <a:lvl4pPr>
              <a:buNone/>
              <a:defRPr sz="1267"/>
            </a:lvl4pPr>
            <a:lvl5pPr>
              <a:buNone/>
              <a:defRPr sz="1267"/>
            </a:lvl5pPr>
            <a:lvl6pPr>
              <a:buNone/>
              <a:defRPr sz="1267"/>
            </a:lvl6pPr>
            <a:lvl7pPr>
              <a:buNone/>
              <a:defRPr sz="1267"/>
            </a:lvl7pPr>
            <a:lvl8pPr>
              <a:buNone/>
              <a:defRPr sz="1267"/>
            </a:lvl8pPr>
            <a:lvl9pPr>
              <a:buNone/>
              <a:defRPr sz="1267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8D95F3-20D6-48BD-9975-E131DB840E7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867"/>
            </a:lvl1pPr>
            <a:lvl2pPr marL="457200" indent="0">
              <a:buNone/>
              <a:defRPr sz="733"/>
            </a:lvl2pPr>
            <a:lvl3pPr marL="914400" indent="0">
              <a:buNone/>
              <a:defRPr sz="733"/>
            </a:lvl3pPr>
            <a:lvl4pPr marL="1371600" indent="0">
              <a:buNone/>
              <a:defRPr sz="733"/>
            </a:lvl4pPr>
            <a:lvl5pPr marL="1828800" indent="0">
              <a:buNone/>
              <a:defRPr sz="733"/>
            </a:lvl5pPr>
            <a:lvl6pPr marL="2286000" indent="0">
              <a:buNone/>
              <a:defRPr sz="733"/>
            </a:lvl6pPr>
            <a:lvl7pPr marL="2743200" indent="0">
              <a:buNone/>
              <a:defRPr sz="733"/>
            </a:lvl7pPr>
            <a:lvl8pPr marL="3200400" indent="0">
              <a:buNone/>
              <a:defRPr sz="733"/>
            </a:lvl8pPr>
            <a:lvl9pPr marL="3657600" indent="0">
              <a:buNone/>
              <a:defRPr sz="733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13863A-B3F1-402A-95C5-D1BFE936EF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41EB5C9-1307-BA42-ABA2-0BC069CD8E7F}" type="datetimeFigureOut">
              <a:t>24/08/2026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9D481-106B-46D7-A28B-B4C9AA5874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A5FD2-29B2-46C8-8583-96BC8D274E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5EF2332-01BF-834F-8236-50238282D533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CC329-C571-44E8-80CA-69B748558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buNone/>
              <a:defRPr sz="1267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AD719F-F62B-4396-BA1C-0CC6C06D7A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733"/>
            </a:lvl2pPr>
            <a:lvl3pPr marL="914400" indent="0">
              <a:buNone/>
              <a:defRPr sz="1467"/>
            </a:lvl3pPr>
            <a:lvl4pPr marL="1371600" indent="0">
              <a:buNone/>
              <a:defRPr sz="1267"/>
            </a:lvl4pPr>
            <a:lvl5pPr marL="1828800" indent="0">
              <a:buNone/>
              <a:defRPr sz="1267"/>
            </a:lvl5pPr>
            <a:lvl6pPr marL="2286000" indent="0">
              <a:buNone/>
              <a:defRPr sz="1267"/>
            </a:lvl6pPr>
            <a:lvl7pPr marL="2743200" indent="0">
              <a:buNone/>
              <a:defRPr sz="1267"/>
            </a:lvl7pPr>
            <a:lvl8pPr marL="3200400" indent="0">
              <a:buNone/>
              <a:defRPr sz="1267"/>
            </a:lvl8pPr>
            <a:lvl9pPr marL="3657600" indent="0">
              <a:buNone/>
              <a:defRPr sz="1267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D8CC6A-519A-4E64-B276-15FE0246AE2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389717" y="5367337"/>
            <a:ext cx="7315200" cy="804863"/>
          </a:xfrm>
        </p:spPr>
        <p:txBody>
          <a:bodyPr/>
          <a:lstStyle>
            <a:lvl1pPr marL="0" indent="0">
              <a:buNone/>
              <a:defRPr sz="867"/>
            </a:lvl1pPr>
            <a:lvl2pPr marL="457200" indent="0">
              <a:buNone/>
              <a:defRPr sz="733"/>
            </a:lvl2pPr>
            <a:lvl3pPr marL="914400" indent="0">
              <a:buNone/>
              <a:defRPr sz="733"/>
            </a:lvl3pPr>
            <a:lvl4pPr marL="1371600" indent="0">
              <a:buNone/>
              <a:defRPr sz="733"/>
            </a:lvl4pPr>
            <a:lvl5pPr marL="1828800" indent="0">
              <a:buNone/>
              <a:defRPr sz="733"/>
            </a:lvl5pPr>
            <a:lvl6pPr marL="2286000" indent="0">
              <a:buNone/>
              <a:defRPr sz="733"/>
            </a:lvl6pPr>
            <a:lvl7pPr marL="2743200" indent="0">
              <a:buNone/>
              <a:defRPr sz="733"/>
            </a:lvl7pPr>
            <a:lvl8pPr marL="3200400" indent="0">
              <a:buNone/>
              <a:defRPr sz="733"/>
            </a:lvl8pPr>
            <a:lvl9pPr marL="3657600" indent="0">
              <a:buNone/>
              <a:defRPr sz="733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985F4-3A4F-4FAC-99B9-7C9245EA2B6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41EB5C9-1307-BA42-ABA2-0BC069CD8E7F}" type="datetimeFigureOut">
              <a:t>24/08/2026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C1865-3703-4371-85B4-C53D337CB4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D3A70-984B-4DFF-A258-933BD8E7EF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5EF2332-01BF-834F-8236-50238282D533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83B3D-B1FE-447F-86CB-DE281B605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BCDE08-5B40-4DBA-BA1D-789603E42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AB8C9-4328-4DA3-A7F2-5C18D639DA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41EB5C9-1307-BA42-ABA2-0BC069CD8E7F}" type="datetimeFigureOut">
              <a:t>24/08/2026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39A2C-F24A-44F7-946A-9090B844854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2D7BD-B3FE-432E-AD8F-403B50BCC7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5EF2332-01BF-834F-8236-50238282D533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F3A400-D154-439E-B32C-3ED6E20B1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3C0240-0AB1-47DC-8ABA-FCB05CFDE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AF679-3E6B-4A69-9E55-44170EF8159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41EB5C9-1307-BA42-ABA2-0BC069CD8E7F}" type="datetimeFigureOut">
              <a:t>24/08/2026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B350C-6779-413F-9F5A-2BCD43D6D82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2FA08-2522-440C-8B70-5C8163E12B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5EF2332-01BF-834F-8236-50238282D533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2E0A96-155F-4156-AC80-2AD395F32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121920" tIns="60960" rIns="121920" bIns="6096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269E17-AD14-4947-B1C2-A29A94D0A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21920" tIns="60960" rIns="121920" bIns="6096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37451-6953-4F8C-BD8F-37CEB9977D62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121920" tIns="60960" rIns="121920" bIns="60960" anchor="ctr"/>
          <a:lstStyle>
            <a:lvl1pPr algn="l">
              <a:buNone/>
              <a:defRPr sz="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t>24/08/2026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C90B4-0E53-4923-8318-17EA984F067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121920" tIns="60960" rIns="121920" bIns="60960" anchor="ctr"/>
          <a:lstStyle>
            <a:lvl1pPr algn="ctr">
              <a:buNone/>
              <a:defRPr sz="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91410-FF4B-4208-9910-86FFA357826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121920" tIns="60960" rIns="121920" bIns="60960" anchor="ctr"/>
          <a:lstStyle>
            <a:lvl1pPr algn="r">
              <a:buNone/>
              <a:defRPr sz="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t>‹n°›</a:t>
            </a:fld>
            <a:endParaRPr/>
          </a:p>
        </p:txBody>
      </p:sp>
      <p:sp>
        <p:nvSpPr>
          <p:cNvPr id="7" name="Author Footer">
            <a:extLst>
              <a:ext uri="{FF2B5EF4-FFF2-40B4-BE49-F238E27FC236}">
                <a16:creationId xmlns:a16="http://schemas.microsoft.com/office/drawing/2014/main" id="{70F36D08-6458-4B16-869D-E7EFA212B498}"/>
              </a:ext>
            </a:extLst>
          </p:cNvPr>
          <p:cNvSpPr>
            <a:spLocks noGrp="1"/>
          </p:cNvSpPr>
          <p:nvPr/>
        </p:nvSpPr>
        <p:spPr>
          <a:xfrm>
            <a:off x="609600" y="6313333"/>
            <a:ext cx="6666667" cy="34666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sz="1200">
                <a:solidFill>
                  <a:srgbClr val="6E7275"/>
                </a:solidFill>
                <a:latin typeface="+mn-lt"/>
                <a:ea typeface="+mn-lt"/>
                <a:cs typeface="+mn-lt"/>
              </a:rPr>
              <a:t>Thierry Warin</a:t>
            </a:r>
          </a:p>
        </p:txBody>
      </p:sp>
      <p:sp>
        <p:nvSpPr>
          <p:cNvPr id="8" name="Slide Number Footer">
            <a:extLst>
              <a:ext uri="{FF2B5EF4-FFF2-40B4-BE49-F238E27FC236}">
                <a16:creationId xmlns:a16="http://schemas.microsoft.com/office/drawing/2014/main" id="{0EB47CB3-1D91-4E15-B5B3-3386F2FBCF14}"/>
              </a:ext>
            </a:extLst>
          </p:cNvPr>
          <p:cNvSpPr>
            <a:spLocks noGrp="1"/>
          </p:cNvSpPr>
          <p:nvPr/>
        </p:nvSpPr>
        <p:spPr>
          <a:xfrm>
            <a:off x="9600000" y="6313333"/>
            <a:ext cx="1982400" cy="34666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fld id="{9B1A2C3D-4E5F-6A7B-8C9D-0E1F2A3B4C5D}" type="slidenum">
              <a:rPr sz="1200">
                <a:solidFill>
                  <a:srgbClr val="6E7275"/>
                </a:solidFill>
                <a:latin typeface="+mn-lt"/>
                <a:ea typeface="+mn-lt"/>
                <a:cs typeface="+mn-lt"/>
              </a:rPr>
              <a:t>‹n°›</a:t>
            </a:fld>
            <a:endParaRPr sz="1200">
              <a:solidFill>
                <a:srgbClr val="6E7275"/>
              </a:solidFill>
              <a:latin typeface="+mn-lt"/>
              <a:ea typeface="+mn-lt"/>
              <a:cs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2733" kern="16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457200" indent="-457200" algn="l" defTabSz="457200">
        <a:spcBef>
          <a:spcPct val="20000"/>
        </a:spcBef>
        <a:buFont typeface="Arial"/>
        <a:buChar char="•"/>
        <a:defRPr sz="2000" kern="1600">
          <a:solidFill>
            <a:schemeClr val="tx1"/>
          </a:solidFill>
          <a:latin typeface="+mn-lt"/>
          <a:ea typeface="+mn-lt"/>
          <a:cs typeface="+mn-lt"/>
        </a:defRPr>
      </a:lvl1pPr>
      <a:lvl2pPr marL="914400" indent="-457200" algn="l" defTabSz="457200">
        <a:spcBef>
          <a:spcPct val="20000"/>
        </a:spcBef>
        <a:buFont typeface="Arial"/>
        <a:buChar char="–"/>
        <a:defRPr sz="1733" kern="1600">
          <a:solidFill>
            <a:schemeClr val="tx1"/>
          </a:solidFill>
          <a:latin typeface="+mn-lt"/>
          <a:ea typeface="+mn-lt"/>
          <a:cs typeface="+mn-lt"/>
        </a:defRPr>
      </a:lvl2pPr>
      <a:lvl3pPr marL="1371600" indent="-457200" algn="l" defTabSz="457200">
        <a:spcBef>
          <a:spcPct val="20000"/>
        </a:spcBef>
        <a:buFont typeface="Arial"/>
        <a:buChar char="•"/>
        <a:defRPr sz="1467" kern="1600">
          <a:solidFill>
            <a:schemeClr val="tx1"/>
          </a:solidFill>
          <a:latin typeface="+mn-lt"/>
          <a:ea typeface="+mn-lt"/>
          <a:cs typeface="+mn-lt"/>
        </a:defRPr>
      </a:lvl3pPr>
      <a:lvl4pPr marL="1828800" indent="-457200" algn="l" defTabSz="457200">
        <a:spcBef>
          <a:spcPct val="20000"/>
        </a:spcBef>
        <a:buFont typeface="Arial"/>
        <a:buChar char="–"/>
        <a:defRPr sz="1267" kern="1600">
          <a:solidFill>
            <a:schemeClr val="tx1"/>
          </a:solidFill>
          <a:latin typeface="+mn-lt"/>
          <a:ea typeface="+mn-lt"/>
          <a:cs typeface="+mn-lt"/>
        </a:defRPr>
      </a:lvl4pPr>
      <a:lvl5pPr marL="2286000" indent="-457200" algn="l" defTabSz="457200">
        <a:spcBef>
          <a:spcPct val="20000"/>
        </a:spcBef>
        <a:buFont typeface="Arial"/>
        <a:buChar char="»"/>
        <a:defRPr sz="1267" kern="1600">
          <a:solidFill>
            <a:schemeClr val="tx1"/>
          </a:solidFill>
          <a:latin typeface="+mn-lt"/>
          <a:ea typeface="+mn-lt"/>
          <a:cs typeface="+mn-lt"/>
        </a:defRPr>
      </a:lvl5pPr>
      <a:lvl6pPr marL="2743200" indent="-457200" algn="l" defTabSz="457200">
        <a:spcBef>
          <a:spcPct val="20000"/>
        </a:spcBef>
        <a:buFont typeface="Arial"/>
        <a:buChar char="•"/>
        <a:defRPr sz="1267" kern="1600">
          <a:solidFill>
            <a:schemeClr val="tx1"/>
          </a:solidFill>
          <a:latin typeface="+mn-lt"/>
          <a:ea typeface="+mn-lt"/>
          <a:cs typeface="+mn-lt"/>
        </a:defRPr>
      </a:lvl6pPr>
      <a:lvl7pPr marL="3200400" indent="-457200" algn="l" defTabSz="457200">
        <a:spcBef>
          <a:spcPct val="20000"/>
        </a:spcBef>
        <a:buFont typeface="Arial"/>
        <a:buChar char="•"/>
        <a:defRPr sz="1267" kern="1600">
          <a:solidFill>
            <a:schemeClr val="tx1"/>
          </a:solidFill>
          <a:latin typeface="+mn-lt"/>
          <a:ea typeface="+mn-lt"/>
          <a:cs typeface="+mn-lt"/>
        </a:defRPr>
      </a:lvl7pPr>
      <a:lvl8pPr marL="3657600" indent="-457200" algn="l" defTabSz="457200">
        <a:spcBef>
          <a:spcPct val="20000"/>
        </a:spcBef>
        <a:buFont typeface="Arial"/>
        <a:buChar char="•"/>
        <a:defRPr sz="1267" kern="1600">
          <a:solidFill>
            <a:schemeClr val="tx1"/>
          </a:solidFill>
          <a:latin typeface="+mn-lt"/>
          <a:ea typeface="+mn-lt"/>
          <a:cs typeface="+mn-lt"/>
        </a:defRPr>
      </a:lvl8pPr>
      <a:lvl9pPr marL="4114800" indent="-457200" algn="l" defTabSz="457200">
        <a:spcBef>
          <a:spcPct val="20000"/>
        </a:spcBef>
        <a:buFont typeface="Arial"/>
        <a:buChar char="•"/>
        <a:defRPr sz="1267" kern="1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133" kern="16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133" kern="16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133" kern="16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133" kern="16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133" kern="16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133" kern="16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133" kern="16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133" kern="16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133" kern="16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ver-kicker">
            <a:extLst>
              <a:ext uri="{FF2B5EF4-FFF2-40B4-BE49-F238E27FC236}">
                <a16:creationId xmlns:a16="http://schemas.microsoft.com/office/drawing/2014/main" id="{9A6AFACA-08A7-4CB5-800F-81B3C511184D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01 · PRE-SESSION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3D29D82B-39FF-4A88-9A59-CB8774D47608}"/>
              </a:ext>
            </a:extLst>
          </p:cNvPr>
          <p:cNvSpPr>
            <a:spLocks noGrp="1"/>
          </p:cNvSpPr>
          <p:nvPr/>
        </p:nvSpPr>
        <p:spPr>
          <a:xfrm>
            <a:off x="457200" y="1066800"/>
            <a:ext cx="5572125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684" lnSpcReduction="10000"/>
          </a:bodyPr>
          <a:lstStyle/>
          <a:p>
            <a:pPr algn="l">
              <a:lnSpc>
                <a:spcPct val="92000"/>
              </a:lnSpc>
              <a:buNone/>
              <a:def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Welcome: build your quantitative workstation</a:t>
            </a:r>
          </a:p>
        </p:txBody>
      </p:sp>
      <p:sp>
        <p:nvSpPr>
          <p:cNvPr id="3" name="cover-hook">
            <a:extLst>
              <a:ext uri="{FF2B5EF4-FFF2-40B4-BE49-F238E27FC236}">
                <a16:creationId xmlns:a16="http://schemas.microsoft.com/office/drawing/2014/main" id="{DA59198F-F9E3-400E-BFA7-FEB956540078}"/>
              </a:ext>
            </a:extLst>
          </p:cNvPr>
          <p:cNvSpPr>
            <a:spLocks noGrp="1"/>
          </p:cNvSpPr>
          <p:nvPr/>
        </p:nvSpPr>
        <p:spPr>
          <a:xfrm>
            <a:off x="457200" y="3562350"/>
            <a:ext cx="50958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Put the repository directly on your Desktop. Then make every check turn green.</a:t>
            </a:r>
          </a:p>
        </p:txBody>
      </p:sp>
      <p:sp>
        <p:nvSpPr>
          <p:cNvPr id="4" name="cover-author">
            <a:extLst>
              <a:ext uri="{FF2B5EF4-FFF2-40B4-BE49-F238E27FC236}">
                <a16:creationId xmlns:a16="http://schemas.microsoft.com/office/drawing/2014/main" id="{81C12782-498C-4993-9573-465EE3C9B66E}"/>
              </a:ext>
            </a:extLst>
          </p:cNvPr>
          <p:cNvSpPr>
            <a:spLocks noGrp="1"/>
          </p:cNvSpPr>
          <p:nvPr/>
        </p:nvSpPr>
        <p:spPr>
          <a:xfrm>
            <a:off x="457200" y="573405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cover-image-bg">
            <a:extLst>
              <a:ext uri="{FF2B5EF4-FFF2-40B4-BE49-F238E27FC236}">
                <a16:creationId xmlns:a16="http://schemas.microsoft.com/office/drawing/2014/main" id="{E931D294-5C7A-4ED2-8413-9903970AF0D3}"/>
              </a:ext>
            </a:extLst>
          </p:cNvPr>
          <p:cNvSpPr>
            <a:spLocks noGrp="1"/>
          </p:cNvSpPr>
          <p:nvPr/>
        </p:nvSpPr>
        <p:spPr>
          <a:xfrm>
            <a:off x="6334125" y="361950"/>
            <a:ext cx="5400675" cy="5734050"/>
          </a:xfrm>
          <a:prstGeom prst="roundRect">
            <a:avLst>
              <a:gd name="adj" fmla="val 1411"/>
            </a:avLst>
          </a:prstGeom>
          <a:solidFill>
            <a:srgbClr val="DDF2FC"/>
          </a:solidFill>
          <a:ln w="9525">
            <a:solidFill>
              <a:srgbClr val="B8C0C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14"/>
          <p:cNvPicPr>
            <a:picLocks noChangeAspect="1"/>
          </p:cNvPicPr>
          <p:nvPr/>
        </p:nvPicPr>
        <p:blipFill>
          <a:blip r:embed="rId3"/>
          <a:srcRect l="23496" r="23496"/>
          <a:stretch>
            <a:fillRect/>
          </a:stretch>
        </p:blipFill>
        <p:spPr>
          <a:xfrm>
            <a:off x="6334125" y="361950"/>
            <a:ext cx="5400675" cy="5734050"/>
          </a:xfrm>
          <a:prstGeom prst="roundRect">
            <a:avLst>
              <a:gd name="adj" fmla="val 2116"/>
            </a:avLst>
          </a:prstGeom>
        </p:spPr>
      </p:pic>
      <p:sp>
        <p:nvSpPr>
          <p:cNvPr id="7" name="rule-48-674">
            <a:extLst>
              <a:ext uri="{FF2B5EF4-FFF2-40B4-BE49-F238E27FC236}">
                <a16:creationId xmlns:a16="http://schemas.microsoft.com/office/drawing/2014/main" id="{0A826CB9-8681-4A9D-930A-15A72B9C78EE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B8C0C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ooter-left">
            <a:extLst>
              <a:ext uri="{FF2B5EF4-FFF2-40B4-BE49-F238E27FC236}">
                <a16:creationId xmlns:a16="http://schemas.microsoft.com/office/drawing/2014/main" id="{E45DA255-AA9B-4A30-AC35-13B49418D480}"/>
              </a:ext>
            </a:extLst>
          </p:cNvPr>
          <p:cNvSpPr>
            <a:spLocks noGrp="1"/>
          </p:cNvSpPr>
          <p:nvPr/>
        </p:nvSpPr>
        <p:spPr>
          <a:xfrm>
            <a:off x="457200" y="65151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9" name="footer-right">
            <a:extLst>
              <a:ext uri="{FF2B5EF4-FFF2-40B4-BE49-F238E27FC236}">
                <a16:creationId xmlns:a16="http://schemas.microsoft.com/office/drawing/2014/main" id="{1F9D87AC-3668-40A9-A20B-73030BF751AE}"/>
              </a:ext>
            </a:extLst>
          </p:cNvPr>
          <p:cNvSpPr>
            <a:spLocks noGrp="1"/>
          </p:cNvSpPr>
          <p:nvPr/>
        </p:nvSpPr>
        <p:spPr>
          <a:xfrm>
            <a:off x="9163050" y="65151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Setup · 1</a:t>
            </a:r>
          </a:p>
        </p:txBody>
      </p:sp>
    </p:spTree>
    <p:extLst>
      <p:ext uri="{BB962C8B-B14F-4D97-AF65-F5344CB8AC3E}">
        <p14:creationId xmlns:p14="http://schemas.microsoft.com/office/powerpoint/2010/main" val="710000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yebrow">
            <a:extLst>
              <a:ext uri="{FF2B5EF4-FFF2-40B4-BE49-F238E27FC236}">
                <a16:creationId xmlns:a16="http://schemas.microsoft.com/office/drawing/2014/main" id="{BA04D370-C744-49AE-A871-05BF1E21AF30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SETUP · LOCATION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A37FA2F-2786-4CCA-A132-20B7B30B9E5C}"/>
              </a:ext>
            </a:extLst>
          </p:cNvPr>
          <p:cNvSpPr>
            <a:spLocks noGrp="1"/>
          </p:cNvSpPr>
          <p:nvPr/>
        </p:nvSpPr>
        <p:spPr>
          <a:xfrm>
            <a:off x="457200" y="628650"/>
            <a:ext cx="11277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folder anchors the whole course</a:t>
            </a:r>
          </a:p>
        </p:txBody>
      </p:sp>
      <p:sp>
        <p:nvSpPr>
          <p:cNvPr id="3" name="rule-48-137">
            <a:extLst>
              <a:ext uri="{FF2B5EF4-FFF2-40B4-BE49-F238E27FC236}">
                <a16:creationId xmlns:a16="http://schemas.microsoft.com/office/drawing/2014/main" id="{D75BA004-3351-4F8B-B4F4-58DBC9C9B319}"/>
              </a:ext>
            </a:extLst>
          </p:cNvPr>
          <p:cNvSpPr>
            <a:spLocks noGrp="1"/>
          </p:cNvSpPr>
          <p:nvPr/>
        </p:nvSpPr>
        <p:spPr>
          <a:xfrm>
            <a:off x="457200" y="1304925"/>
            <a:ext cx="11277600" cy="9525"/>
          </a:xfrm>
          <a:prstGeom prst="rect">
            <a:avLst/>
          </a:prstGeom>
          <a:solidFill>
            <a:srgbClr val="B8C0C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etup-path">
            <a:extLst>
              <a:ext uri="{FF2B5EF4-FFF2-40B4-BE49-F238E27FC236}">
                <a16:creationId xmlns:a16="http://schemas.microsoft.com/office/drawing/2014/main" id="{B5BFB0BB-9DF6-4128-9B46-22874FCD19DD}"/>
              </a:ext>
            </a:extLst>
          </p:cNvPr>
          <p:cNvSpPr>
            <a:spLocks noGrp="1"/>
          </p:cNvSpPr>
          <p:nvPr/>
        </p:nvSpPr>
        <p:spPr>
          <a:xfrm>
            <a:off x="457200" y="1790700"/>
            <a:ext cx="666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3"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315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Desktop/quantitative-methods</a:t>
            </a:r>
          </a:p>
        </p:txBody>
      </p:sp>
      <p:sp>
        <p:nvSpPr>
          <p:cNvPr id="5" name="setup-why">
            <a:extLst>
              <a:ext uri="{FF2B5EF4-FFF2-40B4-BE49-F238E27FC236}">
                <a16:creationId xmlns:a16="http://schemas.microsoft.com/office/drawing/2014/main" id="{01189E6F-DF7A-4D1F-A992-91EAD05A63F3}"/>
              </a:ext>
            </a:extLst>
          </p:cNvPr>
          <p:cNvSpPr>
            <a:spLocks noGrp="1"/>
          </p:cNvSpPr>
          <p:nvPr/>
        </p:nvSpPr>
        <p:spPr>
          <a:xfrm>
            <a:off x="457200" y="2876550"/>
            <a:ext cx="6191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Open this folder—not the ZIP, not Downloads, and not the level above it—in VS Codium.</a:t>
            </a:r>
          </a:p>
        </p:txBody>
      </p:sp>
      <p:cxnSp>
        <p:nvCxnSpPr>
          <p:cNvPr id="36" name="workflow-edge-0"/>
          <p:cNvCxnSpPr/>
          <p:nvPr/>
        </p:nvCxnSpPr>
        <p:spPr>
          <a:xfrm>
            <a:off x="8489950" y="3457575"/>
            <a:ext cx="171450" cy="19050"/>
          </a:xfrm>
          <a:prstGeom prst="straightConnector1">
            <a:avLst/>
          </a:prstGeom>
          <a:ln w="19050">
            <a:solidFill>
              <a:srgbClr val="B8C0CA"/>
            </a:solidFill>
            <a:prstDash val="solid"/>
          </a:ln>
        </p:spPr>
      </p:cxnSp>
      <p:cxnSp>
        <p:nvCxnSpPr>
          <p:cNvPr id="37" name="workflow-edge-1"/>
          <p:cNvCxnSpPr/>
          <p:nvPr/>
        </p:nvCxnSpPr>
        <p:spPr>
          <a:xfrm>
            <a:off x="9912350" y="3457575"/>
            <a:ext cx="171450" cy="19050"/>
          </a:xfrm>
          <a:prstGeom prst="straightConnector1">
            <a:avLst/>
          </a:prstGeom>
          <a:ln w="19050">
            <a:solidFill>
              <a:srgbClr val="B8C0CA"/>
            </a:solidFill>
            <a:prstDash val="solid"/>
          </a:ln>
        </p:spPr>
      </p:cxnSp>
      <p:sp>
        <p:nvSpPr>
          <p:cNvPr id="8" name="workflow-node-0">
            <a:extLst>
              <a:ext uri="{FF2B5EF4-FFF2-40B4-BE49-F238E27FC236}">
                <a16:creationId xmlns:a16="http://schemas.microsoft.com/office/drawing/2014/main" id="{EDA23203-6CDD-4BDC-9AC1-19A0D16EE992}"/>
              </a:ext>
            </a:extLst>
          </p:cNvPr>
          <p:cNvSpPr>
            <a:spLocks noGrp="1"/>
          </p:cNvSpPr>
          <p:nvPr/>
        </p:nvSpPr>
        <p:spPr>
          <a:xfrm>
            <a:off x="7239000" y="1962150"/>
            <a:ext cx="1250950" cy="2990850"/>
          </a:xfrm>
          <a:prstGeom prst="roundRect">
            <a:avLst>
              <a:gd name="adj" fmla="val 6091"/>
            </a:avLst>
          </a:prstGeom>
          <a:solidFill>
            <a:srgbClr val="DDF2FC"/>
          </a:solidFill>
          <a:ln w="9525">
            <a:solidFill>
              <a:srgbClr val="B8C0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workflow-text-0">
            <a:extLst>
              <a:ext uri="{FF2B5EF4-FFF2-40B4-BE49-F238E27FC236}">
                <a16:creationId xmlns:a16="http://schemas.microsoft.com/office/drawing/2014/main" id="{E3B23A6D-A7C1-4F34-BA07-FE96E8CA2B8D}"/>
              </a:ext>
            </a:extLst>
          </p:cNvPr>
          <p:cNvSpPr>
            <a:spLocks noGrp="1"/>
          </p:cNvSpPr>
          <p:nvPr/>
        </p:nvSpPr>
        <p:spPr>
          <a:xfrm>
            <a:off x="7334250" y="2076450"/>
            <a:ext cx="1060450" cy="2762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Desktop</a:t>
            </a:r>
          </a:p>
        </p:txBody>
      </p:sp>
      <p:sp>
        <p:nvSpPr>
          <p:cNvPr id="10" name="workflow-node-1">
            <a:extLst>
              <a:ext uri="{FF2B5EF4-FFF2-40B4-BE49-F238E27FC236}">
                <a16:creationId xmlns:a16="http://schemas.microsoft.com/office/drawing/2014/main" id="{D2021CED-42C4-44EC-80BB-DEAFE63B0EE1}"/>
              </a:ext>
            </a:extLst>
          </p:cNvPr>
          <p:cNvSpPr>
            <a:spLocks noGrp="1"/>
          </p:cNvSpPr>
          <p:nvPr/>
        </p:nvSpPr>
        <p:spPr>
          <a:xfrm>
            <a:off x="8661400" y="1962150"/>
            <a:ext cx="1250950" cy="2990850"/>
          </a:xfrm>
          <a:prstGeom prst="roundRect">
            <a:avLst>
              <a:gd name="adj" fmla="val 6091"/>
            </a:avLst>
          </a:prstGeom>
          <a:solidFill>
            <a:srgbClr val="EDF1F5"/>
          </a:solidFill>
          <a:ln w="9525">
            <a:solidFill>
              <a:srgbClr val="B8C0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workflow-text-1">
            <a:extLst>
              <a:ext uri="{FF2B5EF4-FFF2-40B4-BE49-F238E27FC236}">
                <a16:creationId xmlns:a16="http://schemas.microsoft.com/office/drawing/2014/main" id="{99903530-B23D-4D5F-8B88-45EE8B0EE2CC}"/>
              </a:ext>
            </a:extLst>
          </p:cNvPr>
          <p:cNvSpPr>
            <a:spLocks noGrp="1"/>
          </p:cNvSpPr>
          <p:nvPr/>
        </p:nvSpPr>
        <p:spPr>
          <a:xfrm>
            <a:off x="8756650" y="2076450"/>
            <a:ext cx="1060450" cy="2762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Folder</a:t>
            </a:r>
          </a:p>
        </p:txBody>
      </p:sp>
      <p:sp>
        <p:nvSpPr>
          <p:cNvPr id="12" name="workflow-node-2">
            <a:extLst>
              <a:ext uri="{FF2B5EF4-FFF2-40B4-BE49-F238E27FC236}">
                <a16:creationId xmlns:a16="http://schemas.microsoft.com/office/drawing/2014/main" id="{46385F2F-931C-4F1F-A849-3231B8649490}"/>
              </a:ext>
            </a:extLst>
          </p:cNvPr>
          <p:cNvSpPr>
            <a:spLocks noGrp="1"/>
          </p:cNvSpPr>
          <p:nvPr/>
        </p:nvSpPr>
        <p:spPr>
          <a:xfrm>
            <a:off x="10083800" y="1962150"/>
            <a:ext cx="1250950" cy="2990850"/>
          </a:xfrm>
          <a:prstGeom prst="roundRect">
            <a:avLst>
              <a:gd name="adj" fmla="val 6091"/>
            </a:avLst>
          </a:prstGeom>
          <a:solidFill>
            <a:srgbClr val="FDEAE5"/>
          </a:solidFill>
          <a:ln w="9525">
            <a:solidFill>
              <a:srgbClr val="B8C0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workflow-text-2">
            <a:extLst>
              <a:ext uri="{FF2B5EF4-FFF2-40B4-BE49-F238E27FC236}">
                <a16:creationId xmlns:a16="http://schemas.microsoft.com/office/drawing/2014/main" id="{6EA60B5D-BBCB-400F-BA11-782E091E3298}"/>
              </a:ext>
            </a:extLst>
          </p:cNvPr>
          <p:cNvSpPr>
            <a:spLocks noGrp="1"/>
          </p:cNvSpPr>
          <p:nvPr/>
        </p:nvSpPr>
        <p:spPr>
          <a:xfrm>
            <a:off x="10179050" y="2076450"/>
            <a:ext cx="1060450" cy="2762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VS Codium</a:t>
            </a:r>
          </a:p>
        </p:txBody>
      </p:sp>
      <p:sp>
        <p:nvSpPr>
          <p:cNvPr id="14" name="rule-48-674">
            <a:extLst>
              <a:ext uri="{FF2B5EF4-FFF2-40B4-BE49-F238E27FC236}">
                <a16:creationId xmlns:a16="http://schemas.microsoft.com/office/drawing/2014/main" id="{012A7C3C-8CF7-43DB-8CA5-778312350611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B8C0C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footer-left">
            <a:extLst>
              <a:ext uri="{FF2B5EF4-FFF2-40B4-BE49-F238E27FC236}">
                <a16:creationId xmlns:a16="http://schemas.microsoft.com/office/drawing/2014/main" id="{78799E0B-BD28-4372-A025-3D5F54484F51}"/>
              </a:ext>
            </a:extLst>
          </p:cNvPr>
          <p:cNvSpPr>
            <a:spLocks noGrp="1"/>
          </p:cNvSpPr>
          <p:nvPr/>
        </p:nvSpPr>
        <p:spPr>
          <a:xfrm>
            <a:off x="457200" y="65151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16" name="footer-right">
            <a:extLst>
              <a:ext uri="{FF2B5EF4-FFF2-40B4-BE49-F238E27FC236}">
                <a16:creationId xmlns:a16="http://schemas.microsoft.com/office/drawing/2014/main" id="{BA73C4D3-17BE-4CDE-9958-9D0FD4F72758}"/>
              </a:ext>
            </a:extLst>
          </p:cNvPr>
          <p:cNvSpPr>
            <a:spLocks noGrp="1"/>
          </p:cNvSpPr>
          <p:nvPr/>
        </p:nvSpPr>
        <p:spPr>
          <a:xfrm>
            <a:off x="9163050" y="65151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2</a:t>
            </a:r>
          </a:p>
        </p:txBody>
      </p:sp>
    </p:spTree>
    <p:extLst>
      <p:ext uri="{BB962C8B-B14F-4D97-AF65-F5344CB8AC3E}">
        <p14:creationId xmlns:p14="http://schemas.microsoft.com/office/powerpoint/2010/main" val="710000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5BCB3-D3DC-4959-8C73-13EA557B4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you are walking into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EE4E5-92A3-4ED2-900E-B33E5800C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course asks one question in ten different ways:</a:t>
            </a:r>
          </a:p>
          <a:p>
            <a:pPr marL="1693333" lvl="0" indent="0">
              <a:buNone/>
            </a:pPr>
            <a:r>
              <a:rPr sz="2667" b="1"/>
              <a:t>When can a number about the past be used to make a claim about the future?</a:t>
            </a:r>
          </a:p>
          <a:p>
            <a:pPr lvl="0">
              <a:buNone/>
            </a:pPr>
            <a:r>
              <a:t>The methods are standard: least squares, penalisation, trees, factors, causal ML.</a:t>
            </a:r>
          </a:p>
          <a:p>
            <a:pPr lvl="0">
              <a:buNone/>
            </a:pPr>
            <a:r>
              <a:t>The data are European, international, and messy on purpose.</a:t>
            </a:r>
          </a:p>
          <a:p>
            <a:pPr lvl="0">
              <a:buNone/>
            </a:pPr>
            <a:r>
              <a:t>The discipline is knowing </a:t>
            </a:r>
            <a:r>
              <a:rPr b="1"/>
              <a:t>what your estimate does not entitle you to say.</a:t>
            </a:r>
          </a:p>
          <a:p>
            <a:pPr marL="0" lvl="0" indent="0">
              <a:buNone/>
            </a:pPr>
            <a:r>
              <a:t>Ten sessions of method. One question throughout.</a:t>
            </a:r>
          </a:p>
        </p:txBody>
      </p:sp>
    </p:spTree>
    <p:extLst>
      <p:ext uri="{BB962C8B-B14F-4D97-AF65-F5344CB8AC3E}">
        <p14:creationId xmlns:p14="http://schemas.microsoft.com/office/powerpoint/2010/main" val="710000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281D-9359-4D5A-B77E-F9C95F20D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Three distinctions we will not let go 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B354C-955E-475B-8E39-DB568EA63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>
              <a:buAutoNum type="arabicPeriod"/>
            </a:pPr>
            <a:r>
              <a:rPr b="1"/>
              <a:t>A scenario is not a forecast.</a:t>
            </a:r>
            <a:r>
              <a:t> </a:t>
            </a:r>
            <a:r>
              <a:rPr i="1"/>
              <a:t>Europe 2031</a:t>
            </a:r>
            <a:r>
              <a:t> is a conditional narrative — a stress test, not a prediction. You will read it as a set of assumptions you can measure.</a:t>
            </a:r>
          </a:p>
          <a:p>
            <a:pPr marL="457200" lvl="0" indent="-457200">
              <a:buAutoNum type="arabicPeriod"/>
            </a:pPr>
            <a:r>
              <a:rPr b="1"/>
              <a:t>Prediction is not inference.</a:t>
            </a:r>
            <a:r>
              <a:t> “How well does this predict?” and “what is the effect of X?” are different questions, answered by different estimators, with different guarantees.</a:t>
            </a:r>
          </a:p>
          <a:p>
            <a:pPr marL="457200" lvl="0" indent="-457200">
              <a:buAutoNum type="arabicPeriod"/>
            </a:pPr>
            <a:r>
              <a:rPr b="1"/>
              <a:t>A construct is not a measurement.</a:t>
            </a:r>
            <a:r>
              <a:t> An “AI exposure index” is something we built. Session 09 is about being honest about that.</a:t>
            </a:r>
          </a:p>
        </p:txBody>
      </p:sp>
    </p:spTree>
    <p:extLst>
      <p:ext uri="{BB962C8B-B14F-4D97-AF65-F5344CB8AC3E}">
        <p14:creationId xmlns:p14="http://schemas.microsoft.com/office/powerpoint/2010/main" val="710000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2732D-887B-416E-AF59-039ECD44F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3049"/>
            <a:ext cx="4011084" cy="1162051"/>
          </a:xfrm>
        </p:spPr>
        <p:txBody>
          <a:bodyPr/>
          <a:lstStyle/>
          <a:p>
            <a:pPr marL="0" lvl="0" indent="0">
              <a:buNone/>
            </a:pPr>
            <a:r>
              <a:t>What this session’s pre-work 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0CB54E-9FA0-4755-A3DF-DF0E30457AF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Four things, before you arrive:</a:t>
            </a:r>
          </a:p>
        </p:txBody>
      </p:sp>
      <p:graphicFrame>
        <p:nvGraphicFramePr>
          <p:cNvPr id="8" name="Content Placeholder 5"/>
          <p:cNvGraphicFramePr/>
          <p:nvPr/>
        </p:nvGraphicFramePr>
        <p:xfrm>
          <a:off x="4758267" y="270933"/>
          <a:ext cx="5105400" cy="1665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#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Task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Time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Build your workstation</a:t>
                      </a:r>
                      <a:r>
                        <a:t> — these slides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60–90 min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Read </a:t>
                      </a:r>
                      <a:r>
                        <a:rPr i="1"/>
                        <a:t>Europe 2031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30 min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Review three concepts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15 min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Run the verification script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 min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000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C2B49-FBB1-4D97-A7B5-8E8D76A78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Session 1 does not include installation time.</a:t>
            </a:r>
            <a:r>
              <a:t> Arriving without a working environment means you cannot take part in the practice session.</a:t>
            </a:r>
          </a:p>
        </p:txBody>
      </p:sp>
    </p:spTree>
    <p:extLst>
      <p:ext uri="{BB962C8B-B14F-4D97-AF65-F5344CB8AC3E}">
        <p14:creationId xmlns:p14="http://schemas.microsoft.com/office/powerpoint/2010/main" val="710000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311AF-2611-4B6E-BF57-6816D82F5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2466667"/>
            <a:ext cx="10363200" cy="1733333"/>
          </a:xfrm>
        </p:spPr>
        <p:txBody>
          <a:bodyPr/>
          <a:lstStyle/>
          <a:p>
            <a:pPr marL="0" lvl="0" indent="0">
              <a:buNone/>
            </a:pPr>
            <a:r>
              <a:t>The stack</a:t>
            </a:r>
          </a:p>
        </p:txBody>
      </p:sp>
    </p:spTree>
    <p:extLst>
      <p:ext uri="{BB962C8B-B14F-4D97-AF65-F5344CB8AC3E}">
        <p14:creationId xmlns:p14="http://schemas.microsoft.com/office/powerpoint/2010/main" val="710000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D7012-64BD-44A0-8A37-88193AE6E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we install, and why</a:t>
            </a:r>
          </a:p>
        </p:txBody>
      </p:sp>
      <p:graphicFrame>
        <p:nvGraphicFramePr>
          <p:cNvPr id="5" name="Content Placeholder 5"/>
          <p:cNvGraphicFramePr/>
          <p:nvPr/>
        </p:nvGraphicFramePr>
        <p:xfrm>
          <a:off x="609600" y="1591733"/>
          <a:ext cx="8229600" cy="2102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Tool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What it is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Why this one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VS Codium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VS Code with telemetry removed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Your work touches confidential and licensed data. The editor should not phone home.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Python 3.10+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The analysis language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Everything in the course runs here.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Ollama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Runs LLMs on </a:t>
                      </a:r>
                      <a:r>
                        <a:rPr i="1"/>
                        <a:t>your</a:t>
                      </a:r>
                      <a:r>
                        <a:t> machine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 API key, no per-token cost, no data leaving your laptop.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Qwen 2.5 Coder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The model Ollama serves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Small enough for a laptop, strong at code.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aider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An AI agent in your terminal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Reads and edits your files, and commits.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000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3FCCD-6265-4336-A127-BA35DB671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principle behind the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12BB1-9992-4FDE-9C4F-C7EDD48DE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Every piece runs </a:t>
            </a:r>
            <a:r>
              <a:rPr b="1"/>
              <a:t>locally</a:t>
            </a:r>
            <a:r>
              <a:t>.</a:t>
            </a:r>
          </a:p>
          <a:p>
            <a:pPr marL="0" lvl="0" indent="0">
              <a:buNone/>
            </a:pPr>
            <a:r>
              <a:rPr b="1"/>
              <a:t>The test that matters.</a:t>
            </a:r>
            <a:r>
              <a:t> When your environment is finished, turn off your wifi and ask the model a question. If it still answers, your setup is genuinely local — and your data never left the room.</a:t>
            </a:r>
          </a:p>
          <a:p>
            <a:pPr marL="0" lvl="0" indent="0">
              <a:buNone/>
            </a:pPr>
            <a:r>
              <a:t>This is not ideology. In Session 09 you work with licensed text, and in the group project you may work with data you are not permitted to upload anywhere.</a:t>
            </a:r>
          </a:p>
        </p:txBody>
      </p:sp>
    </p:spTree>
    <p:extLst>
      <p:ext uri="{BB962C8B-B14F-4D97-AF65-F5344CB8AC3E}">
        <p14:creationId xmlns:p14="http://schemas.microsoft.com/office/powerpoint/2010/main" val="710000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1F147-675A-4AE3-BDF8-D615F26B8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Where do I type this?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6FF27-8160-4665-BB50-753C6A16E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Read this slide before you type anything.</a:t>
            </a:r>
            <a:r>
              <a:t> It is the single most common source of lost time.</a:t>
            </a:r>
          </a:p>
          <a:p>
            <a:pPr marL="0" lvl="0" indent="0">
              <a:buNone/>
            </a:pPr>
            <a:r>
              <a:t>Two kinds of instruction appear in these slides, and they are always labelled:</a:t>
            </a:r>
          </a:p>
          <a:p>
            <a:pPr marL="0" lvl="0" indent="0">
              <a:buNone/>
            </a:pPr>
            <a:r>
              <a:t>download</a:t>
            </a:r>
          </a:p>
          <a:p>
            <a:pPr marL="0" lvl="0" indent="0">
              <a:buNone/>
            </a:pPr>
            <a:r>
              <a:t>Go to a website in your browser and run an installer. No typing.</a:t>
            </a:r>
          </a:p>
          <a:p>
            <a:pPr marL="0" lvl="0" indent="0">
              <a:buNone/>
            </a:pPr>
            <a:r>
              <a:t>VS Codium terminal</a:t>
            </a:r>
          </a:p>
          <a:p>
            <a:pPr marL="0" lvl="0" indent="0">
              <a:buNone/>
            </a:pPr>
            <a:r>
              <a:t>Type it in the terminal </a:t>
            </a:r>
            <a:r>
              <a:rPr b="1"/>
              <a:t>inside VS Codium</a:t>
            </a:r>
            <a:r>
              <a:t> — never the macOS Terminal app, never PowerShell on its own.</a:t>
            </a:r>
          </a:p>
        </p:txBody>
      </p:sp>
    </p:spTree>
    <p:extLst>
      <p:ext uri="{BB962C8B-B14F-4D97-AF65-F5344CB8AC3E}">
        <p14:creationId xmlns:p14="http://schemas.microsoft.com/office/powerpoint/2010/main" val="710000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79032-8C4A-43A4-BF89-1DFCFED4D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always the VS Codium terminal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1CF12-4797-4484-A60D-FBCF78EEB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It opens </a:t>
            </a:r>
            <a:r>
              <a:rPr b="1"/>
              <a:t>in your project folder</a:t>
            </a:r>
            <a:r>
              <a:t>, so </a:t>
            </a:r>
            <a:r>
              <a:rPr>
                <a:latin typeface="Courier"/>
                <a:ea typeface="Courier"/>
                <a:cs typeface="Courier"/>
              </a:rPr>
              <a:t>git</a:t>
            </a:r>
            <a:r>
              <a:t> and </a:t>
            </a:r>
            <a:r>
              <a:rPr>
                <a:latin typeface="Courier"/>
                <a:ea typeface="Courier"/>
                <a:cs typeface="Courier"/>
              </a:rPr>
              <a:t>python</a:t>
            </a:r>
            <a:r>
              <a:t> act on the right files</a:t>
            </a:r>
          </a:p>
          <a:p>
            <a:pPr lvl="0">
              <a:buNone/>
            </a:pPr>
            <a:r>
              <a:t>It sees the </a:t>
            </a:r>
            <a:r>
              <a:rPr>
                <a:latin typeface="Courier"/>
                <a:ea typeface="Courier"/>
                <a:cs typeface="Courier"/>
              </a:rPr>
              <a:t>.venv</a:t>
            </a:r>
            <a:r>
              <a:t> you activate; a separate Terminal window does not</a:t>
            </a:r>
          </a:p>
          <a:p>
            <a:pPr lvl="0">
              <a:buNone/>
            </a:pPr>
            <a:r>
              <a:t>It is the same on macOS, Windows and Linux, so these slides work for everyone</a:t>
            </a:r>
          </a:p>
          <a:p>
            <a:pPr marL="0" lvl="0" indent="0">
              <a:buNone/>
            </a:pPr>
            <a:r>
              <a:rPr b="1"/>
              <a:t>Open it now:</a:t>
            </a:r>
            <a:r>
              <a:t> </a:t>
            </a:r>
            <a:r>
              <a:rPr>
                <a:latin typeface="Courier"/>
                <a:ea typeface="Courier"/>
                <a:cs typeface="Courier"/>
              </a:rPr>
              <a:t>View → Terminal</a:t>
            </a:r>
            <a:r>
              <a:t>, or </a:t>
            </a:r>
            <a:r>
              <a:rPr>
                <a:latin typeface="Courier"/>
                <a:ea typeface="Courier"/>
                <a:cs typeface="Courier"/>
              </a:rPr>
              <a:t>Ctrl+`</a:t>
            </a:r>
            <a:r>
              <a:t> (the backtick key, above Tab). A panel appears at the bottom. That panel is where every command below goes.</a:t>
            </a:r>
          </a:p>
          <a:p>
            <a:pPr marL="0" lvl="0" indent="0">
              <a:buNone/>
            </a:pPr>
            <a:r>
              <a:t>If a command fails, check </a:t>
            </a:r>
            <a:r>
              <a:rPr i="1"/>
              <a:t>where you typed it</a:t>
            </a:r>
            <a:r>
              <a:t> before you check anything else.</a:t>
            </a:r>
          </a:p>
        </p:txBody>
      </p:sp>
    </p:spTree>
    <p:extLst>
      <p:ext uri="{BB962C8B-B14F-4D97-AF65-F5344CB8AC3E}">
        <p14:creationId xmlns:p14="http://schemas.microsoft.com/office/powerpoint/2010/main" val="710000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5BF8A-709F-416A-94C3-62DA52EF3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Before you start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81235-ABF6-4A92-A57E-89AB86CE6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You need:</a:t>
            </a:r>
          </a:p>
          <a:p>
            <a:pPr lvl="0">
              <a:buNone/>
            </a:pPr>
            <a:r>
              <a:t>A laptop with </a:t>
            </a:r>
            <a:r>
              <a:rPr b="1"/>
              <a:t>8 GB RAM minimum</a:t>
            </a:r>
            <a:r>
              <a:t> (16 GB is much more comfortable)</a:t>
            </a:r>
          </a:p>
          <a:p>
            <a:pPr lvl="0">
              <a:buNone/>
            </a:pPr>
            <a:r>
              <a:t>A browser — you will download the course folder, no account needed</a:t>
            </a:r>
          </a:p>
          <a:p>
            <a:pPr lvl="0">
              <a:buNone/>
            </a:pPr>
            <a:r>
              <a:rPr b="1"/>
              <a:t>Administrator rights</a:t>
            </a:r>
            <a:r>
              <a:t> to install software</a:t>
            </a:r>
          </a:p>
          <a:p>
            <a:pPr lvl="0">
              <a:buNone/>
            </a:pPr>
            <a:r>
              <a:t>About </a:t>
            </a:r>
            <a:r>
              <a:rPr b="1"/>
              <a:t>10 GB free disk space</a:t>
            </a:r>
            <a:r>
              <a:t> — the model files are large</a:t>
            </a:r>
          </a:p>
          <a:p>
            <a:pPr lvl="0">
              <a:buNone/>
            </a:pPr>
            <a:r>
              <a:t>60–90 minutes, uninterrupted</a:t>
            </a:r>
          </a:p>
          <a:p>
            <a:pPr marL="0" lvl="0" indent="0">
              <a:buNone/>
            </a:pPr>
            <a:r>
              <a:t>Do this on the machine you will actually bring to class. A working setup on a desktop at home is of no use in the practice session.</a:t>
            </a:r>
          </a:p>
        </p:txBody>
      </p:sp>
    </p:spTree>
    <p:extLst>
      <p:ext uri="{BB962C8B-B14F-4D97-AF65-F5344CB8AC3E}">
        <p14:creationId xmlns:p14="http://schemas.microsoft.com/office/powerpoint/2010/main" val="710000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EFC20-EEFD-4EF5-8694-8709AC0C9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2466667"/>
            <a:ext cx="10363200" cy="1733333"/>
          </a:xfrm>
        </p:spPr>
        <p:txBody>
          <a:bodyPr/>
          <a:lstStyle/>
          <a:p>
            <a:pPr marL="0" lvl="0" indent="0">
              <a:buNone/>
            </a:pPr>
            <a:r>
              <a:t>Step 1 — VS Codium</a:t>
            </a:r>
          </a:p>
        </p:txBody>
      </p:sp>
    </p:spTree>
    <p:extLst>
      <p:ext uri="{BB962C8B-B14F-4D97-AF65-F5344CB8AC3E}">
        <p14:creationId xmlns:p14="http://schemas.microsoft.com/office/powerpoint/2010/main" val="710000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34542-F34B-4D0D-89B9-8B2A31DA9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Install VS Codium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0D771-F366-432B-8CA4-178A7690E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download</a:t>
            </a:r>
          </a:p>
          <a:p>
            <a:pPr marL="0" lvl="0" indent="0">
              <a:buNone/>
            </a:pPr>
            <a:r>
              <a:t>Go to </a:t>
            </a:r>
            <a:r>
              <a:rPr b="1"/>
              <a:t>vscodium.com</a:t>
            </a:r>
            <a:r>
              <a:t> and download the build for your operating system.</a:t>
            </a:r>
          </a:p>
          <a:p>
            <a:pPr marL="0" lvl="0" indent="0">
              <a:buNone/>
            </a:pPr>
            <a:r>
              <a:t>This is the one step that cannot use the VS Codium terminal — you are installing the thing that provides it.</a:t>
            </a:r>
          </a:p>
          <a:p>
            <a:pPr marL="0" lvl="0" indent="0">
              <a:buNone/>
            </a:pPr>
            <a:r>
              <a:rPr b="1"/>
              <a:t>macOS</a:t>
            </a:r>
          </a:p>
          <a:p>
            <a:pPr marL="0" lvl="0" indent="0">
              <a:buNone/>
            </a:pPr>
            <a:r>
              <a:t>Download the </a:t>
            </a:r>
            <a:r>
              <a:rPr>
                <a:latin typeface="Courier"/>
                <a:ea typeface="Courier"/>
                <a:cs typeface="Courier"/>
              </a:rPr>
              <a:t>.dmg</a:t>
            </a:r>
            <a:r>
              <a:t>, open it, drag </a:t>
            </a:r>
            <a:r>
              <a:rPr b="1"/>
              <a:t>VSCodium</a:t>
            </a:r>
            <a:r>
              <a:t> to Applications.</a:t>
            </a:r>
          </a:p>
          <a:p>
            <a:pPr marL="0" lvl="0" indent="0">
              <a:buNone/>
            </a:pPr>
            <a:r>
              <a:t>If macOS refuses to open it: right-click the app → </a:t>
            </a:r>
            <a:r>
              <a:rPr b="1"/>
              <a:t>Open</a:t>
            </a:r>
            <a:r>
              <a:t> → </a:t>
            </a:r>
            <a:r>
              <a:rPr b="1"/>
              <a:t>Open</a:t>
            </a:r>
            <a:r>
              <a:t>.</a:t>
            </a:r>
          </a:p>
          <a:p>
            <a:pPr marL="0" lvl="0" indent="0">
              <a:buNone/>
            </a:pPr>
            <a:r>
              <a:rPr b="1"/>
              <a:t>Windows</a:t>
            </a:r>
          </a:p>
          <a:p>
            <a:pPr marL="0" lvl="0" indent="0">
              <a:buNone/>
            </a:pPr>
            <a:r>
              <a:t>Download the </a:t>
            </a:r>
            <a:r>
              <a:rPr i="1"/>
              <a:t>User Installer</a:t>
            </a:r>
            <a:r>
              <a:t> </a:t>
            </a:r>
            <a:r>
              <a:rPr>
                <a:latin typeface="Courier"/>
                <a:ea typeface="Courier"/>
                <a:cs typeface="Courier"/>
              </a:rPr>
              <a:t>.exe</a:t>
            </a:r>
            <a:r>
              <a:t> and run it.</a:t>
            </a:r>
          </a:p>
          <a:p>
            <a:pPr marL="0" lvl="0" indent="0">
              <a:buNone/>
            </a:pPr>
            <a:r>
              <a:t>Tick </a:t>
            </a:r>
            <a:r>
              <a:rPr b="1"/>
              <a:t>“Add to PATH”</a:t>
            </a:r>
            <a:r>
              <a:t> when the installer offers it.</a:t>
            </a:r>
          </a:p>
          <a:p>
            <a:pPr marL="0" lvl="0" indent="0">
              <a:buNone/>
            </a:pPr>
            <a:r>
              <a:rPr b="1"/>
              <a:t>Linux:</a:t>
            </a:r>
            <a:r>
              <a:t> use your package manager, or the </a:t>
            </a:r>
            <a:r>
              <a:rPr>
                <a:latin typeface="Courier"/>
                <a:ea typeface="Courier"/>
                <a:cs typeface="Courier"/>
              </a:rPr>
              <a:t>.deb</a:t>
            </a:r>
            <a:r>
              <a:t> / </a:t>
            </a:r>
            <a:r>
              <a:rPr>
                <a:latin typeface="Courier"/>
                <a:ea typeface="Courier"/>
                <a:cs typeface="Courier"/>
              </a:rPr>
              <a:t>.rpm</a:t>
            </a:r>
            <a:r>
              <a:t> from the same page.</a:t>
            </a:r>
          </a:p>
          <a:p>
            <a:pPr marL="0" lvl="0" indent="0">
              <a:buNone/>
            </a:pPr>
            <a:r>
              <a:rPr b="1"/>
              <a:t>Check.</a:t>
            </a:r>
            <a:r>
              <a:t> VS Codium opens and shows the Welcome tab.</a:t>
            </a:r>
          </a:p>
        </p:txBody>
      </p:sp>
    </p:spTree>
    <p:extLst>
      <p:ext uri="{BB962C8B-B14F-4D97-AF65-F5344CB8AC3E}">
        <p14:creationId xmlns:p14="http://schemas.microsoft.com/office/powerpoint/2010/main" val="710000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B91DD-131B-41BB-B720-2C49011A0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Meet the two panels you will live 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FF091-041A-453A-917E-3B4396A2D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[ VS Codium window ]</a:t>
            </a:r>
          </a:p>
          <a:p>
            <a:pPr marL="0" lvl="0" indent="0">
              <a:buNone/>
            </a:pPr>
            <a:r>
              <a:t>Left: </a:t>
            </a:r>
            <a:r>
              <a:rPr b="1"/>
              <a:t>Explorer</a:t>
            </a:r>
            <a:r>
              <a:t> (your files) · Bottom: </a:t>
            </a:r>
            <a:r>
              <a:rPr b="1"/>
              <a:t>Terminal</a:t>
            </a:r>
            <a:r>
              <a:t> · Right: </a:t>
            </a:r>
            <a:r>
              <a:rPr b="1"/>
              <a:t>Continue</a:t>
            </a:r>
            <a:r>
              <a:t> (chat)</a:t>
            </a:r>
          </a:p>
          <a:p>
            <a:pPr marL="0" lvl="0" indent="0">
              <a:buNone/>
            </a:pPr>
            <a:r>
              <a:t>Two things to find right now:</a:t>
            </a:r>
          </a:p>
          <a:p>
            <a:pPr lvl="0">
              <a:buNone/>
            </a:pPr>
            <a:r>
              <a:rPr b="1"/>
              <a:t>The Explorer</a:t>
            </a:r>
            <a:r>
              <a:t> — </a:t>
            </a:r>
            <a:r>
              <a:rPr>
                <a:latin typeface="Courier"/>
                <a:ea typeface="Courier"/>
                <a:cs typeface="Courier"/>
              </a:rPr>
              <a:t>View → Explorer</a:t>
            </a:r>
            <a:r>
              <a:t>, or </a:t>
            </a:r>
            <a:r>
              <a:rPr>
                <a:latin typeface="Courier"/>
                <a:ea typeface="Courier"/>
                <a:cs typeface="Courier"/>
              </a:rPr>
              <a:t>Ctrl/Cmd+Shift+E</a:t>
            </a:r>
          </a:p>
          <a:p>
            <a:pPr lvl="0">
              <a:buNone/>
            </a:pPr>
            <a:r>
              <a:rPr b="1"/>
              <a:t>The integrated Terminal</a:t>
            </a:r>
            <a:r>
              <a:t> — </a:t>
            </a:r>
            <a:r>
              <a:rPr>
                <a:latin typeface="Courier"/>
                <a:ea typeface="Courier"/>
                <a:cs typeface="Courier"/>
              </a:rPr>
              <a:t>View → Terminal</a:t>
            </a:r>
            <a:r>
              <a:t>, or </a:t>
            </a:r>
            <a:r>
              <a:rPr>
                <a:latin typeface="Courier"/>
                <a:ea typeface="Courier"/>
                <a:cs typeface="Courier"/>
              </a:rPr>
              <a:t>Ctrl+`</a:t>
            </a:r>
            <a:r>
              <a:t> (backtick)</a:t>
            </a:r>
          </a:p>
          <a:p>
            <a:pPr marL="0" lvl="0" indent="0">
              <a:buNone/>
            </a:pPr>
            <a:r>
              <a:t>The </a:t>
            </a:r>
            <a:r>
              <a:rPr b="1"/>
              <a:t>Terminal</a:t>
            </a:r>
            <a:r>
              <a:t> is where most of this course happens. If you have never used a command line, that is fine — every command you need is on these slides.</a:t>
            </a:r>
          </a:p>
        </p:txBody>
      </p:sp>
    </p:spTree>
    <p:extLst>
      <p:ext uri="{BB962C8B-B14F-4D97-AF65-F5344CB8AC3E}">
        <p14:creationId xmlns:p14="http://schemas.microsoft.com/office/powerpoint/2010/main" val="710000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E66B2-C54C-401B-B9C8-B7BD471BF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3049"/>
            <a:ext cx="4011084" cy="1162051"/>
          </a:xfrm>
        </p:spPr>
        <p:txBody>
          <a:bodyPr/>
          <a:lstStyle/>
          <a:p>
            <a:pPr marL="0" lvl="0" indent="0">
              <a:buNone/>
            </a:pPr>
            <a:r>
              <a:t>Step 2 — Extensions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4137A1-B4F7-48BA-B1EF-A580B11CBCD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Open the Extensions panel: </a:t>
            </a:r>
            <a:r>
              <a:rPr>
                <a:latin typeface="Courier"/>
                <a:ea typeface="Courier"/>
                <a:cs typeface="Courier"/>
              </a:rPr>
              <a:t>Ctrl/Cmd+Shift+X</a:t>
            </a:r>
            <a:r>
              <a:t>. Install three:</a:t>
            </a:r>
          </a:p>
        </p:txBody>
      </p:sp>
      <p:graphicFrame>
        <p:nvGraphicFramePr>
          <p:cNvPr id="8" name="Content Placeholder 5"/>
          <p:cNvGraphicFramePr/>
          <p:nvPr/>
        </p:nvGraphicFramePr>
        <p:xfrm>
          <a:off x="4758267" y="270933"/>
          <a:ext cx="5105400" cy="1574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Extension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Search for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What it does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Python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  <a:ea typeface="Courier"/>
                          <a:cs typeface="Courier"/>
                        </a:rPr>
                        <a:t>ms-python.python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Syntax, linting, environment selection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Jupyter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  <a:ea typeface="Courier"/>
                          <a:cs typeface="Courier"/>
                        </a:rPr>
                        <a:t>ms-toolsai.jupyter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Run notebooks inside the editor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Continue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  <a:ea typeface="Courier"/>
                          <a:cs typeface="Courier"/>
                        </a:rPr>
                        <a:t>Continue.continue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The chat sidebar, wired to your local model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000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24CE9-C2B0-42D1-B9DD-493DA52AC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VS Codium uses the Open VSX registry, not Microsoft’s Marketplace. Most extensions are there. If one is missing, the course does not depend on it.</a:t>
            </a:r>
          </a:p>
        </p:txBody>
      </p:sp>
    </p:spTree>
    <p:extLst>
      <p:ext uri="{BB962C8B-B14F-4D97-AF65-F5344CB8AC3E}">
        <p14:creationId xmlns:p14="http://schemas.microsoft.com/office/powerpoint/2010/main" val="710000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3B961-BAD0-406E-8C4B-B6D81AE07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2466667"/>
            <a:ext cx="10363200" cy="1733333"/>
          </a:xfrm>
        </p:spPr>
        <p:txBody>
          <a:bodyPr/>
          <a:lstStyle/>
          <a:p>
            <a:pPr marL="0" lvl="0" indent="0">
              <a:buNone/>
            </a:pPr>
            <a:r>
              <a:t>Step 3 — The course materials</a:t>
            </a:r>
          </a:p>
        </p:txBody>
      </p:sp>
    </p:spTree>
    <p:extLst>
      <p:ext uri="{BB962C8B-B14F-4D97-AF65-F5344CB8AC3E}">
        <p14:creationId xmlns:p14="http://schemas.microsoft.com/office/powerpoint/2010/main" val="710000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D7B62-91E2-4386-9E7D-86562E3F9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Get the course folder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76CBD-951D-460C-A01E-D786BA3A4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Everything from here on runs </a:t>
            </a:r>
            <a:r>
              <a:rPr b="1"/>
              <a:t>inside the course folder</a:t>
            </a:r>
            <a:r>
              <a:t>, so you need it on your machine before anything else works.</a:t>
            </a:r>
          </a:p>
          <a:p>
            <a:pPr marL="0" lvl="0" indent="0">
              <a:buNone/>
            </a:pPr>
            <a:r>
              <a:t>download</a:t>
            </a:r>
          </a:p>
          <a:p>
            <a:pPr marL="457200" lvl="0" indent="-457200">
              <a:buAutoNum type="arabicPeriod"/>
            </a:pPr>
            <a:r>
              <a:t>Go to </a:t>
            </a:r>
            <a:r>
              <a:rPr b="1"/>
              <a:t>github.com/warint/quantitative-methods</a:t>
            </a:r>
          </a:p>
          <a:p>
            <a:pPr marL="457200" lvl="0" indent="-457200">
              <a:buAutoNum type="arabicPeriod"/>
            </a:pPr>
            <a:r>
              <a:t>Click the green </a:t>
            </a:r>
            <a:r>
              <a:rPr b="1"/>
              <a:t>Code</a:t>
            </a:r>
            <a:r>
              <a:t> button</a:t>
            </a:r>
          </a:p>
          <a:p>
            <a:pPr marL="457200" lvl="0" indent="-457200">
              <a:buAutoNum type="arabicPeriod"/>
            </a:pPr>
            <a:r>
              <a:t>Choose </a:t>
            </a:r>
            <a:r>
              <a:rPr b="1"/>
              <a:t>Download ZIP</a:t>
            </a:r>
          </a:p>
          <a:p>
            <a:pPr marL="457200" lvl="0" indent="-457200">
              <a:buAutoNum type="arabicPeriod"/>
            </a:pPr>
            <a:r>
              <a:t>Unzip it somewhere you will find again — Documents, not Downloads</a:t>
            </a:r>
          </a:p>
          <a:p>
            <a:pPr marL="0" lvl="0" indent="0">
              <a:buNone/>
            </a:pPr>
            <a:r>
              <a:t>No account needed. You are just downloading a folder.</a:t>
            </a:r>
          </a:p>
        </p:txBody>
      </p:sp>
    </p:spTree>
    <p:extLst>
      <p:ext uri="{BB962C8B-B14F-4D97-AF65-F5344CB8AC3E}">
        <p14:creationId xmlns:p14="http://schemas.microsoft.com/office/powerpoint/2010/main" val="710000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663FC-2D51-4EBB-9FE6-66B749339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Open it in VS Codium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FCAD9-0CE2-4228-B3DF-C57F1A2DF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>
                <a:latin typeface="Courier"/>
                <a:ea typeface="Courier"/>
                <a:cs typeface="Courier"/>
              </a:rPr>
              <a:t>File → Open Folder…</a:t>
            </a:r>
            <a:r>
              <a:t> and choose the unzipped folder.</a:t>
            </a:r>
          </a:p>
          <a:p>
            <a:pPr marL="0" lvl="0" indent="0">
              <a:buNone/>
            </a:pPr>
            <a:r>
              <a:t>The Explorer on the left should show </a:t>
            </a:r>
            <a:r>
              <a:rPr>
                <a:latin typeface="Courier"/>
                <a:ea typeface="Courier"/>
                <a:cs typeface="Courier"/>
              </a:rPr>
              <a:t>README.md</a:t>
            </a:r>
            <a:r>
              <a:t>, </a:t>
            </a:r>
            <a:r>
              <a:rPr>
                <a:latin typeface="Courier"/>
                <a:ea typeface="Courier"/>
                <a:cs typeface="Courier"/>
              </a:rPr>
              <a:t>requirements.txt</a:t>
            </a:r>
            <a:r>
              <a:t>, a </a:t>
            </a:r>
            <a:r>
              <a:rPr>
                <a:latin typeface="Courier"/>
                <a:ea typeface="Courier"/>
                <a:cs typeface="Courier"/>
              </a:rPr>
              <a:t>data/</a:t>
            </a:r>
            <a:r>
              <a:t> folder and the numbered session folders. If it shows a single folder you have to click into, you picked the level above — go one deeper.</a:t>
            </a:r>
          </a:p>
          <a:p>
            <a:pPr marL="0" lvl="0" indent="0">
              <a:buNone/>
            </a:pPr>
            <a:r>
              <a:t>Keep it there. Every command in these slides is relative to this folder, and the terminal you opened is already sitting in it.</a:t>
            </a:r>
          </a:p>
        </p:txBody>
      </p:sp>
    </p:spTree>
    <p:extLst>
      <p:ext uri="{BB962C8B-B14F-4D97-AF65-F5344CB8AC3E}">
        <p14:creationId xmlns:p14="http://schemas.microsoft.com/office/powerpoint/2010/main" val="7100000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C59F5-DA2E-4C9F-910B-1B0D0B931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 Session 2 you will do this properly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09D8A-35A5-45BF-B9BB-0DEEEE8AB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Downloading a ZIP gets you a </a:t>
            </a:r>
            <a:r>
              <a:rPr b="1"/>
              <a:t>snapshot</a:t>
            </a:r>
            <a:r>
              <a:t>. It cannot receive corrections, and it has no history.</a:t>
            </a:r>
          </a:p>
          <a:p>
            <a:pPr lvl="0">
              <a:buNone/>
            </a:pPr>
            <a:r>
              <a:t>Before Session 2 you install git and clone the repository instead</a:t>
            </a:r>
          </a:p>
          <a:p>
            <a:pPr lvl="0">
              <a:buNone/>
            </a:pPr>
            <a:r>
              <a:t>That version updates with </a:t>
            </a:r>
            <a:r>
              <a:rPr>
                <a:latin typeface="Courier"/>
                <a:ea typeface="Courier"/>
                <a:cs typeface="Courier"/>
              </a:rPr>
              <a:t>git pull</a:t>
            </a:r>
            <a:r>
              <a:t> when I fix something</a:t>
            </a:r>
          </a:p>
          <a:p>
            <a:pPr lvl="0">
              <a:buNone/>
            </a:pPr>
            <a:r>
              <a:t>It is also where your group’s own work will live</a:t>
            </a:r>
          </a:p>
          <a:p>
            <a:pPr marL="0" lvl="0" indent="0">
              <a:buNone/>
            </a:pPr>
            <a:r>
              <a:t>For today the snapshot is enough, and it saves you creating an account before you have seen the course.</a:t>
            </a:r>
          </a:p>
        </p:txBody>
      </p:sp>
    </p:spTree>
    <p:extLst>
      <p:ext uri="{BB962C8B-B14F-4D97-AF65-F5344CB8AC3E}">
        <p14:creationId xmlns:p14="http://schemas.microsoft.com/office/powerpoint/2010/main" val="7100000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486A0-9FCD-4633-822F-A2C2E3CFC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2466667"/>
            <a:ext cx="10363200" cy="1733333"/>
          </a:xfrm>
        </p:spPr>
        <p:txBody>
          <a:bodyPr/>
          <a:lstStyle/>
          <a:p>
            <a:pPr marL="0" lvl="0" indent="0">
              <a:buNone/>
            </a:pPr>
            <a:r>
              <a:t>Step 4 — Python</a:t>
            </a:r>
          </a:p>
        </p:txBody>
      </p:sp>
    </p:spTree>
    <p:extLst>
      <p:ext uri="{BB962C8B-B14F-4D97-AF65-F5344CB8AC3E}">
        <p14:creationId xmlns:p14="http://schemas.microsoft.com/office/powerpoint/2010/main" val="7100000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BF68F-3975-493E-84F7-7EC524079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Install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F4031-CFB6-418E-AE61-0CFE34B5B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download</a:t>
            </a:r>
          </a:p>
          <a:p>
            <a:pPr marL="0" lvl="0" indent="0">
              <a:buNone/>
            </a:pPr>
            <a:r>
              <a:t>Go to </a:t>
            </a:r>
            <a:r>
              <a:rPr b="1"/>
              <a:t>python.org/downloads</a:t>
            </a:r>
            <a:r>
              <a:t> and install </a:t>
            </a:r>
            <a:r>
              <a:rPr b="1"/>
              <a:t>Python 3.11 or 3.12</a:t>
            </a:r>
            <a:r>
              <a:t>.</a:t>
            </a:r>
          </a:p>
          <a:p>
            <a:pPr marL="0" lvl="0" indent="0">
              <a:buNone/>
            </a:pPr>
            <a:r>
              <a:rPr b="1"/>
              <a:t>Windows: tick “Add python.exe to PATH”</a:t>
            </a:r>
            <a:r>
              <a:t> on the first installer screen. It is easy to miss, and without it nothing below works.</a:t>
            </a:r>
          </a:p>
          <a:p>
            <a:pPr marL="0" lvl="0" indent="0">
              <a:buNone/>
            </a:pPr>
            <a:r>
              <a:t>macOS ships an old Python that is not suitable. Install a current one anyway.</a:t>
            </a:r>
          </a:p>
        </p:txBody>
      </p:sp>
    </p:spTree>
    <p:extLst>
      <p:ext uri="{BB962C8B-B14F-4D97-AF65-F5344CB8AC3E}">
        <p14:creationId xmlns:p14="http://schemas.microsoft.com/office/powerpoint/2010/main" val="7100000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95B7F-ED22-40F3-8860-D76C06418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Check Python is there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C20DF-5E38-4D73-8D08-09FB90AA9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VS Codium terminal</a:t>
            </a:r>
          </a:p>
          <a:p>
            <a:pPr lvl="0" indent="0">
              <a:buNone/>
            </a:pPr>
            <a:r>
              <a:rPr>
                <a:latin typeface="Courier"/>
                <a:ea typeface="Courier"/>
                <a:cs typeface="Courier"/>
              </a:rPr>
              <a:t>python3 </a:t>
            </a:r>
            <a:r>
              <a:rPr>
                <a:solidFill>
                  <a:srgbClr val="7D9029"/>
                </a:solidFill>
                <a:latin typeface="Courier"/>
                <a:ea typeface="Courier"/>
                <a:cs typeface="Courier"/>
              </a:rPr>
              <a:t>--version</a:t>
            </a:r>
          </a:p>
          <a:p>
            <a:pPr marL="0" lvl="0" indent="0">
              <a:buNone/>
            </a:pPr>
            <a:r>
              <a:t>Prints </a:t>
            </a:r>
            <a:r>
              <a:rPr>
                <a:latin typeface="Courier"/>
                <a:ea typeface="Courier"/>
                <a:cs typeface="Courier"/>
              </a:rPr>
              <a:t>Python 3.11.x</a:t>
            </a:r>
            <a:r>
              <a:t> or </a:t>
            </a:r>
            <a:r>
              <a:rPr>
                <a:latin typeface="Courier"/>
                <a:ea typeface="Courier"/>
                <a:cs typeface="Courier"/>
              </a:rPr>
              <a:t>3.12.x</a:t>
            </a:r>
            <a:r>
              <a:t>.</a:t>
            </a:r>
          </a:p>
          <a:p>
            <a:pPr marL="0" lvl="0" indent="0">
              <a:buNone/>
            </a:pPr>
            <a:r>
              <a:t>On Windows, if </a:t>
            </a:r>
            <a:r>
              <a:rPr>
                <a:latin typeface="Courier"/>
                <a:ea typeface="Courier"/>
                <a:cs typeface="Courier"/>
              </a:rPr>
              <a:t>python3</a:t>
            </a:r>
            <a:r>
              <a:t> is not found, try </a:t>
            </a:r>
            <a:r>
              <a:rPr>
                <a:latin typeface="Courier"/>
                <a:ea typeface="Courier"/>
                <a:cs typeface="Courier"/>
              </a:rPr>
              <a:t>python --version</a:t>
            </a:r>
            <a:r>
              <a:t>.</a:t>
            </a:r>
          </a:p>
          <a:p>
            <a:pPr marL="0" lvl="0" indent="0">
              <a:buNone/>
            </a:pPr>
            <a:r>
              <a:t>If it says </a:t>
            </a:r>
            <a:r>
              <a:rPr i="1"/>
              <a:t>command not found</a:t>
            </a:r>
            <a:r>
              <a:t>, the PATH box was not ticked. Re-run the installer — do not try to work around it.</a:t>
            </a:r>
          </a:p>
        </p:txBody>
      </p:sp>
    </p:spTree>
    <p:extLst>
      <p:ext uri="{BB962C8B-B14F-4D97-AF65-F5344CB8AC3E}">
        <p14:creationId xmlns:p14="http://schemas.microsoft.com/office/powerpoint/2010/main" val="7100000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1150D-6A0E-44BB-9BBF-875268218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Create the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74DD0-9741-481D-90D6-61DCDB3F5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VS Codium terminal</a:t>
            </a:r>
          </a:p>
          <a:p>
            <a:pPr marL="0" lvl="0" indent="0">
              <a:buNone/>
            </a:pPr>
            <a:r>
              <a:t>With the course folder open (Step 3), run:</a:t>
            </a:r>
          </a:p>
          <a:p>
            <a:pPr lvl="0" indent="0">
              <a:buNone/>
            </a:pPr>
            <a:r>
              <a:rPr>
                <a:latin typeface="Courier"/>
                <a:ea typeface="Courier"/>
                <a:cs typeface="Courier"/>
              </a:rPr>
              <a:t>python3 </a:t>
            </a:r>
            <a:r>
              <a:rPr>
                <a:solidFill>
                  <a:srgbClr val="7D9029"/>
                </a:solidFill>
                <a:latin typeface="Courier"/>
                <a:ea typeface="Courier"/>
                <a:cs typeface="Courier"/>
              </a:rPr>
              <a:t>-m</a:t>
            </a:r>
            <a:r>
              <a:rPr>
                <a:latin typeface="Courier"/>
                <a:ea typeface="Courier"/>
                <a:cs typeface="Courier"/>
              </a:rPr>
              <a:t> venv .venv</a:t>
            </a:r>
          </a:p>
          <a:p>
            <a:pPr marL="0" lvl="0" indent="0">
              <a:buNone/>
            </a:pPr>
            <a:r>
              <a:t>This makes a private package folder for this course, so it cannot break your other work.</a:t>
            </a:r>
          </a:p>
        </p:txBody>
      </p:sp>
    </p:spTree>
    <p:extLst>
      <p:ext uri="{BB962C8B-B14F-4D97-AF65-F5344CB8AC3E}">
        <p14:creationId xmlns:p14="http://schemas.microsoft.com/office/powerpoint/2010/main" val="7100000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28006-6816-4CE4-B95A-4822BCDEC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Activate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522DF-2DAE-4BA7-B6D6-427645310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VS Codium terminal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  <a:ea typeface="Courier"/>
                <a:cs typeface="Courier"/>
              </a:rPr>
              <a:t># macOS / Linux</a:t>
            </a:r>
            <a:br/>
            <a:r>
              <a:rPr>
                <a:solidFill>
                  <a:srgbClr val="008000"/>
                </a:solidFill>
                <a:latin typeface="Courier"/>
                <a:ea typeface="Courier"/>
                <a:cs typeface="Courier"/>
              </a:rPr>
              <a:t>source</a:t>
            </a:r>
            <a:r>
              <a:rPr>
                <a:latin typeface="Courier"/>
                <a:ea typeface="Courier"/>
                <a:cs typeface="Courier"/>
              </a:rPr>
              <a:t> .venv/bin/activate</a:t>
            </a:r>
            <a:br/>
            <a:br/>
            <a:r>
              <a:rPr i="1">
                <a:solidFill>
                  <a:srgbClr val="60A0B0"/>
                </a:solidFill>
                <a:latin typeface="Courier"/>
                <a:ea typeface="Courier"/>
                <a:cs typeface="Courier"/>
              </a:rPr>
              <a:t># Windows (PowerShell)</a:t>
            </a:r>
            <a:br/>
            <a:r>
              <a:rPr>
                <a:latin typeface="Courier"/>
                <a:ea typeface="Courier"/>
                <a:cs typeface="Courier"/>
              </a:rPr>
              <a:t>.venv\Scripts\Activate.ps1</a:t>
            </a:r>
          </a:p>
          <a:p>
            <a:pPr marL="0" lvl="0" indent="0">
              <a:buNone/>
            </a:pPr>
            <a:r>
              <a:t>Your prompt now starts with </a:t>
            </a:r>
            <a:r>
              <a:rPr>
                <a:latin typeface="Courier"/>
                <a:ea typeface="Courier"/>
                <a:cs typeface="Courier"/>
              </a:rPr>
              <a:t>(.venv)</a:t>
            </a:r>
            <a:r>
              <a:t>. </a:t>
            </a:r>
            <a:r>
              <a:rPr b="1"/>
              <a:t>Every command from here on assumes you see that.</a:t>
            </a:r>
          </a:p>
        </p:txBody>
      </p:sp>
    </p:spTree>
    <p:extLst>
      <p:ext uri="{BB962C8B-B14F-4D97-AF65-F5344CB8AC3E}">
        <p14:creationId xmlns:p14="http://schemas.microsoft.com/office/powerpoint/2010/main" val="7100000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94AFE-6F72-45D1-8067-8AF37BB59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Install the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9753D-C8BC-4D6B-8C83-1D7BD0019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VS Codium terminal · with </a:t>
            </a:r>
            <a:r>
              <a:rPr>
                <a:latin typeface="Courier"/>
                <a:ea typeface="Courier"/>
                <a:cs typeface="Courier"/>
              </a:rPr>
              <a:t>(.venv)</a:t>
            </a:r>
            <a:r>
              <a:t> showing</a:t>
            </a:r>
          </a:p>
          <a:p>
            <a:pPr lvl="0" indent="0">
              <a:buNone/>
            </a:pPr>
            <a:r>
              <a:rPr>
                <a:latin typeface="Courier"/>
                <a:ea typeface="Courier"/>
                <a:cs typeface="Courier"/>
              </a:rPr>
              <a:t>pip install </a:t>
            </a:r>
            <a:r>
              <a:rPr>
                <a:solidFill>
                  <a:srgbClr val="7D9029"/>
                </a:solidFill>
                <a:latin typeface="Courier"/>
                <a:ea typeface="Courier"/>
                <a:cs typeface="Courier"/>
              </a:rPr>
              <a:t>-r</a:t>
            </a:r>
            <a:r>
              <a:rPr>
                <a:latin typeface="Courier"/>
                <a:ea typeface="Courier"/>
                <a:cs typeface="Courier"/>
              </a:rPr>
              <a:t> requirements.txt</a:t>
            </a:r>
          </a:p>
          <a:p>
            <a:pPr marL="0" lvl="0" indent="0">
              <a:buNone/>
            </a:pPr>
            <a:r>
              <a:t>numpy, pandas, scikit-learn, statsmodels, matplotlib and the rest. A few minutes.</a:t>
            </a:r>
          </a:p>
          <a:p>
            <a:pPr lvl="0" indent="0">
              <a:buNone/>
            </a:pPr>
            <a:r>
              <a:rPr>
                <a:latin typeface="Courier"/>
                <a:ea typeface="Courier"/>
                <a:cs typeface="Courier"/>
              </a:rPr>
              <a:t>python </a:t>
            </a:r>
            <a:r>
              <a:rPr>
                <a:solidFill>
                  <a:srgbClr val="7D9029"/>
                </a:solidFill>
                <a:latin typeface="Courier"/>
                <a:ea typeface="Courier"/>
                <a:cs typeface="Courier"/>
              </a:rPr>
              <a:t>-c</a:t>
            </a:r>
            <a:r>
              <a:rPr>
                <a:latin typeface="Courier"/>
                <a:ea typeface="Courier"/>
                <a:cs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  <a:ea typeface="Courier"/>
                <a:cs typeface="Courier"/>
              </a:rPr>
              <a:t>"import numpy, pandas, sklearn; print('ok')"</a:t>
            </a:r>
          </a:p>
          <a:p>
            <a:pPr marL="0" lvl="0" indent="0">
              <a:buNone/>
            </a:pPr>
            <a:r>
              <a:t>prints </a:t>
            </a:r>
            <a:r>
              <a:rPr>
                <a:latin typeface="Courier"/>
                <a:ea typeface="Courier"/>
                <a:cs typeface="Courier"/>
              </a:rPr>
              <a:t>ok</a:t>
            </a:r>
            <a: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0000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81B13-C53C-4DE6-8FF7-46CE3B494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2466667"/>
            <a:ext cx="10363200" cy="1733333"/>
          </a:xfrm>
        </p:spPr>
        <p:txBody>
          <a:bodyPr/>
          <a:lstStyle/>
          <a:p>
            <a:pPr marL="0" lvl="0" indent="0">
              <a:buNone/>
            </a:pPr>
            <a:r>
              <a:t>Step 5 — Ollama and Qwen</a:t>
            </a:r>
          </a:p>
        </p:txBody>
      </p:sp>
    </p:spTree>
    <p:extLst>
      <p:ext uri="{BB962C8B-B14F-4D97-AF65-F5344CB8AC3E}">
        <p14:creationId xmlns:p14="http://schemas.microsoft.com/office/powerpoint/2010/main" val="7100000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90045-695A-4242-8B3B-A72A494DE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Install Ollama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44DA2-DA53-42E4-A04B-65C6819A8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download</a:t>
            </a:r>
          </a:p>
          <a:p>
            <a:pPr marL="0" lvl="0" indent="0">
              <a:buNone/>
            </a:pPr>
            <a:r>
              <a:t>Go to </a:t>
            </a:r>
            <a:r>
              <a:rPr b="1"/>
              <a:t>ollama.com/download</a:t>
            </a:r>
            <a:r>
              <a:t>, choose your operating system, and run the installer. This works on macOS, Windows and Linux.</a:t>
            </a:r>
          </a:p>
          <a:p>
            <a:pPr marL="0" lvl="0" indent="0">
              <a:buNone/>
            </a:pPr>
            <a:r>
              <a:t>You may see a one-line </a:t>
            </a:r>
            <a:r>
              <a:rPr>
                <a:latin typeface="Courier"/>
                <a:ea typeface="Courier"/>
                <a:cs typeface="Courier"/>
              </a:rPr>
              <a:t>curl … | sh</a:t>
            </a:r>
            <a:r>
              <a:t> command on the web. Ignore it — the installer does the same thing and there is nothing to mistype.</a:t>
            </a:r>
          </a:p>
          <a:p>
            <a:pPr marL="0" lvl="0" indent="0">
              <a:buNone/>
            </a:pPr>
            <a:r>
              <a:t>On macOS, </a:t>
            </a:r>
            <a:r>
              <a:rPr b="1"/>
              <a:t>open the app once</a:t>
            </a:r>
            <a:r>
              <a:t> after installing. It puts the </a:t>
            </a:r>
            <a:r>
              <a:rPr>
                <a:latin typeface="Courier"/>
                <a:ea typeface="Courier"/>
                <a:cs typeface="Courier"/>
              </a:rPr>
              <a:t>ollama</a:t>
            </a:r>
            <a:r>
              <a:t> command in place and starts the background service.</a:t>
            </a:r>
          </a:p>
        </p:txBody>
      </p:sp>
    </p:spTree>
    <p:extLst>
      <p:ext uri="{BB962C8B-B14F-4D97-AF65-F5344CB8AC3E}">
        <p14:creationId xmlns:p14="http://schemas.microsoft.com/office/powerpoint/2010/main" val="7100000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0BBB5-44D7-4CDA-8732-4990ABA74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Check Ollama is there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BF5E6-1605-44DC-AA46-8D0966F79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VS Codium terminal</a:t>
            </a:r>
          </a:p>
          <a:p>
            <a:pPr lvl="0" indent="0">
              <a:buNone/>
            </a:pPr>
            <a:r>
              <a:rPr>
                <a:latin typeface="Courier"/>
                <a:ea typeface="Courier"/>
                <a:cs typeface="Courier"/>
              </a:rPr>
              <a:t>ollama </a:t>
            </a:r>
            <a:r>
              <a:rPr>
                <a:solidFill>
                  <a:srgbClr val="7D9029"/>
                </a:solidFill>
                <a:latin typeface="Courier"/>
                <a:ea typeface="Courier"/>
                <a:cs typeface="Courier"/>
              </a:rPr>
              <a:t>--version</a:t>
            </a:r>
          </a:p>
          <a:p>
            <a:pPr marL="0" lvl="0" indent="0">
              <a:buNone/>
            </a:pPr>
            <a:r>
              <a:t>Prints a version number.</a:t>
            </a:r>
          </a:p>
          <a:p>
            <a:pPr marL="0" lvl="0" indent="0">
              <a:buNone/>
            </a:pPr>
            <a:r>
              <a:rPr i="1"/>
              <a:t>Command not found?</a:t>
            </a:r>
            <a:r>
              <a:t> Close the terminal panel and open a new one — a new terminal picks up the changed PATH. On Windows, restart VS Codium.</a:t>
            </a:r>
          </a:p>
        </p:txBody>
      </p:sp>
    </p:spTree>
    <p:extLst>
      <p:ext uri="{BB962C8B-B14F-4D97-AF65-F5344CB8AC3E}">
        <p14:creationId xmlns:p14="http://schemas.microsoft.com/office/powerpoint/2010/main" val="7100000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951C9-B77F-4A24-8C28-2DEABC41F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3049"/>
            <a:ext cx="4011084" cy="1162051"/>
          </a:xfrm>
        </p:spPr>
        <p:txBody>
          <a:bodyPr/>
          <a:lstStyle/>
          <a:p>
            <a:pPr marL="0" lvl="0" indent="0">
              <a:buNone/>
            </a:pPr>
            <a:r>
              <a:t>Pull Qwen 2.5 Coder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A708F-D83B-4AAA-8052-EBB16064846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VS Codium terminal</a:t>
            </a:r>
          </a:p>
          <a:p>
            <a:pPr marL="0" lvl="0" indent="0">
              <a:buNone/>
            </a:pPr>
            <a:r>
              <a:t>Choose by the RAM in your machine. Rough rule: </a:t>
            </a:r>
            <a:r>
              <a:rPr b="1"/>
              <a:t>model size + 2 GB free</a:t>
            </a:r>
            <a:r>
              <a:t>.</a:t>
            </a:r>
          </a:p>
        </p:txBody>
      </p:sp>
      <p:graphicFrame>
        <p:nvGraphicFramePr>
          <p:cNvPr id="8" name="Content Placeholder 5"/>
          <p:cNvGraphicFramePr/>
          <p:nvPr/>
        </p:nvGraphicFramePr>
        <p:xfrm>
          <a:off x="4758267" y="270933"/>
          <a:ext cx="5105400" cy="1574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Your machine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Model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Command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8 GB RAM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  <a:ea typeface="Courier"/>
                          <a:cs typeface="Courier"/>
                        </a:rPr>
                        <a:t>qwen2.5-coder:3b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  <a:ea typeface="Courier"/>
                          <a:cs typeface="Courier"/>
                        </a:rPr>
                        <a:t>ollama pull qwen2.5-coder:3b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16 GB RAM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  <a:ea typeface="Courier"/>
                          <a:cs typeface="Courier"/>
                        </a:rPr>
                        <a:t>qwen2.5-coder:7b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  <a:ea typeface="Courier"/>
                          <a:cs typeface="Courier"/>
                        </a:rPr>
                        <a:t>ollama pull qwen2.5-coder:7b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32 GB+ / Apple Silicon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  <a:ea typeface="Courier"/>
                          <a:cs typeface="Courier"/>
                        </a:rPr>
                        <a:t>qwen2.5-coder:14b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  <a:ea typeface="Courier"/>
                          <a:cs typeface="Courier"/>
                        </a:rPr>
                        <a:t>ollama pull qwen2.5-coder:14b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0000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C2202-DD7C-4F89-93A4-5AEFA85B2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You also need the embedding model for Session 10:</a:t>
            </a:r>
          </a:p>
          <a:p>
            <a:pPr lvl="0" indent="0">
              <a:buNone/>
            </a:pPr>
            <a:r>
              <a:rPr>
                <a:latin typeface="Courier"/>
                <a:ea typeface="Courier"/>
                <a:cs typeface="Courier"/>
              </a:rPr>
              <a:t>ollama pull nomic-embed-text</a:t>
            </a:r>
          </a:p>
          <a:p>
            <a:pPr marL="0" lvl="0" indent="0">
              <a:buNone/>
            </a:pPr>
            <a:r>
              <a:t>This downloads several gigabytes. Do it on a good connection, </a:t>
            </a:r>
            <a:r>
              <a:rPr b="1"/>
              <a:t>not</a:t>
            </a:r>
            <a:r>
              <a:t> ten minutes before class.</a:t>
            </a:r>
          </a:p>
        </p:txBody>
      </p:sp>
    </p:spTree>
    <p:extLst>
      <p:ext uri="{BB962C8B-B14F-4D97-AF65-F5344CB8AC3E}">
        <p14:creationId xmlns:p14="http://schemas.microsoft.com/office/powerpoint/2010/main" val="7100000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1E3E6-A3C1-48AB-B41F-239825A29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Verify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8668C-4E6E-4432-972C-C1E0D5678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VS Codium terminal</a:t>
            </a:r>
          </a:p>
          <a:p>
            <a:pPr lvl="0" indent="0">
              <a:buNone/>
            </a:pPr>
            <a:r>
              <a:rPr>
                <a:latin typeface="Courier"/>
                <a:ea typeface="Courier"/>
                <a:cs typeface="Courier"/>
              </a:rPr>
              <a:t>ollama list</a:t>
            </a:r>
          </a:p>
          <a:p>
            <a:pPr marL="0" lvl="0" indent="0">
              <a:buNone/>
            </a:pPr>
            <a:r>
              <a:t>You should see your model listed. Now talk to it:</a:t>
            </a:r>
          </a:p>
          <a:p>
            <a:pPr lvl="0" indent="0">
              <a:buNone/>
            </a:pPr>
            <a:r>
              <a:rPr>
                <a:latin typeface="Courier"/>
                <a:ea typeface="Courier"/>
                <a:cs typeface="Courier"/>
              </a:rPr>
              <a:t>ollama run qwen2.5-coder:7b </a:t>
            </a:r>
            <a:r>
              <a:rPr>
                <a:solidFill>
                  <a:srgbClr val="4070A0"/>
                </a:solidFill>
                <a:latin typeface="Courier"/>
                <a:ea typeface="Courier"/>
                <a:cs typeface="Courier"/>
              </a:rPr>
              <a:t>"Explain the bias-variance tradeoff in three sentences."</a:t>
            </a:r>
          </a:p>
          <a:p>
            <a:pPr marL="0" lvl="0" indent="0">
              <a:buNone/>
            </a:pPr>
            <a:r>
              <a:t>Type </a:t>
            </a:r>
            <a:r>
              <a:rPr>
                <a:latin typeface="Courier"/>
                <a:ea typeface="Courier"/>
                <a:cs typeface="Courier"/>
              </a:rPr>
              <a:t>/bye</a:t>
            </a:r>
            <a:r>
              <a:t> to leave the chat.</a:t>
            </a:r>
          </a:p>
          <a:p>
            <a:pPr marL="0" lvl="0" indent="0">
              <a:buNone/>
            </a:pPr>
            <a:r>
              <a:rPr b="1"/>
              <a:t>The real check.</a:t>
            </a:r>
            <a:r>
              <a:t> Turn off your wifi and run that command again. It should still answer. That is what “local” means.</a:t>
            </a:r>
          </a:p>
        </p:txBody>
      </p:sp>
    </p:spTree>
    <p:extLst>
      <p:ext uri="{BB962C8B-B14F-4D97-AF65-F5344CB8AC3E}">
        <p14:creationId xmlns:p14="http://schemas.microsoft.com/office/powerpoint/2010/main" val="7100000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3E4B3-E991-4115-B881-0F9A8986E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2466667"/>
            <a:ext cx="10363200" cy="1733333"/>
          </a:xfrm>
        </p:spPr>
        <p:txBody>
          <a:bodyPr/>
          <a:lstStyle/>
          <a:p>
            <a:pPr marL="0" lvl="0" indent="0">
              <a:buNone/>
            </a:pPr>
            <a:r>
              <a:t>Step 6 — The CLI agent</a:t>
            </a:r>
          </a:p>
        </p:txBody>
      </p:sp>
    </p:spTree>
    <p:extLst>
      <p:ext uri="{BB962C8B-B14F-4D97-AF65-F5344CB8AC3E}">
        <p14:creationId xmlns:p14="http://schemas.microsoft.com/office/powerpoint/2010/main" val="7100000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AC89-E158-4B30-B016-C6E1129F4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Talking to Qwen from the terminal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4DE46-C122-48BD-952D-088790699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Continue sidebar is useful for questions about a selected block of code.</a:t>
            </a:r>
          </a:p>
          <a:p>
            <a:pPr marL="0" lvl="0" indent="0">
              <a:buNone/>
            </a:pPr>
            <a:r>
              <a:t>But the way this course actually works — and the way I work in front of you — is an </a:t>
            </a:r>
            <a:r>
              <a:rPr b="1"/>
              <a:t>agent in the terminal</a:t>
            </a:r>
            <a:r>
              <a:t>: something that reads your files, edits them, and commits, while you steer it in prose.</a:t>
            </a:r>
          </a:p>
          <a:p>
            <a:pPr marL="0" lvl="0" indent="0">
              <a:buNone/>
            </a:pPr>
            <a:r>
              <a:t>That tool is </a:t>
            </a:r>
            <a:r>
              <a:rPr b="1"/>
              <a:t>aider</a:t>
            </a:r>
            <a:r>
              <a:t>, and it runs against your local Qwen.</a:t>
            </a:r>
          </a:p>
          <a:p>
            <a:pPr marL="0" lvl="0" indent="0">
              <a:buNone/>
            </a:pPr>
            <a:r>
              <a:t>The same shape as the workflow you have seen me use in class — and it is running on your laptop, on a model you downloaded.</a:t>
            </a:r>
          </a:p>
        </p:txBody>
      </p:sp>
    </p:spTree>
    <p:extLst>
      <p:ext uri="{BB962C8B-B14F-4D97-AF65-F5344CB8AC3E}">
        <p14:creationId xmlns:p14="http://schemas.microsoft.com/office/powerpoint/2010/main" val="7100000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17F23-6416-4AD7-ABD3-DAAED5630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Install aider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4C7AE-E058-495C-8FEF-6D6C9C445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VS Codium terminal · with </a:t>
            </a:r>
            <a:r>
              <a:rPr>
                <a:latin typeface="Courier"/>
                <a:ea typeface="Courier"/>
                <a:cs typeface="Courier"/>
              </a:rPr>
              <a:t>(.venv)</a:t>
            </a:r>
            <a:r>
              <a:t> showing</a:t>
            </a:r>
          </a:p>
          <a:p>
            <a:pPr lvl="0" indent="0">
              <a:buNone/>
            </a:pPr>
            <a:r>
              <a:rPr>
                <a:latin typeface="Courier"/>
                <a:ea typeface="Courier"/>
                <a:cs typeface="Courier"/>
              </a:rPr>
              <a:t>python </a:t>
            </a:r>
            <a:r>
              <a:rPr>
                <a:solidFill>
                  <a:srgbClr val="7D9029"/>
                </a:solidFill>
                <a:latin typeface="Courier"/>
                <a:ea typeface="Courier"/>
                <a:cs typeface="Courier"/>
              </a:rPr>
              <a:t>-m</a:t>
            </a:r>
            <a:r>
              <a:rPr>
                <a:latin typeface="Courier"/>
                <a:ea typeface="Courier"/>
                <a:cs typeface="Courier"/>
              </a:rPr>
              <a:t> pip install aider-install</a:t>
            </a:r>
            <a:br/>
            <a:r>
              <a:rPr>
                <a:latin typeface="Courier"/>
                <a:ea typeface="Courier"/>
                <a:cs typeface="Courier"/>
              </a:rPr>
              <a:t>aider-install</a:t>
            </a:r>
          </a:p>
        </p:txBody>
      </p:sp>
    </p:spTree>
    <p:extLst>
      <p:ext uri="{BB962C8B-B14F-4D97-AF65-F5344CB8AC3E}">
        <p14:creationId xmlns:p14="http://schemas.microsoft.com/office/powerpoint/2010/main" val="7100000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FF05F-4D54-497E-8A14-10C3DDBD5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Point aider at Ollama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34220-354E-48D5-95C9-AB0443BD0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VS Codium terminal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  <a:ea typeface="Courier"/>
                <a:cs typeface="Courier"/>
              </a:rPr>
              <a:t># macOS / Linux</a:t>
            </a:r>
            <a:br/>
            <a:r>
              <a:rPr>
                <a:solidFill>
                  <a:srgbClr val="008000"/>
                </a:solidFill>
                <a:latin typeface="Courier"/>
                <a:ea typeface="Courier"/>
                <a:cs typeface="Courier"/>
              </a:rPr>
              <a:t>export</a:t>
            </a:r>
            <a:r>
              <a:rPr>
                <a:latin typeface="Courier"/>
                <a:ea typeface="Courier"/>
                <a:cs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  <a:ea typeface="Courier"/>
                <a:cs typeface="Courier"/>
              </a:rPr>
              <a:t>OLLAMA_API_BASE</a:t>
            </a:r>
            <a:r>
              <a:rPr>
                <a:solidFill>
                  <a:srgbClr val="666666"/>
                </a:solidFill>
                <a:latin typeface="Courier"/>
                <a:ea typeface="Courier"/>
                <a:cs typeface="Courier"/>
              </a:rPr>
              <a:t>=</a:t>
            </a:r>
            <a:r>
              <a:rPr>
                <a:latin typeface="Courier"/>
                <a:ea typeface="Courier"/>
                <a:cs typeface="Courier"/>
              </a:rPr>
              <a:t>http://127.0.0.1:11434</a:t>
            </a:r>
            <a:br/>
            <a:br/>
            <a:r>
              <a:rPr i="1">
                <a:solidFill>
                  <a:srgbClr val="60A0B0"/>
                </a:solidFill>
                <a:latin typeface="Courier"/>
                <a:ea typeface="Courier"/>
                <a:cs typeface="Courier"/>
              </a:rPr>
              <a:t># Windows (PowerShell) — then open a new terminal</a:t>
            </a:r>
            <a:br/>
            <a:r>
              <a:rPr>
                <a:latin typeface="Courier"/>
                <a:ea typeface="Courier"/>
                <a:cs typeface="Courier"/>
              </a:rPr>
              <a:t>setx OLLAMA_API_BASE http://127.0.0.1:11434</a:t>
            </a:r>
          </a:p>
        </p:txBody>
      </p:sp>
    </p:spTree>
    <p:extLst>
      <p:ext uri="{BB962C8B-B14F-4D97-AF65-F5344CB8AC3E}">
        <p14:creationId xmlns:p14="http://schemas.microsoft.com/office/powerpoint/2010/main" val="7100000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D63FA-FFEE-409F-AA2F-25DE11C9D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Give Ollama a real context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CF7DC-7FE3-439E-A69C-A1ACED47B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This step is not optional.</a:t>
            </a:r>
            <a:r>
              <a:t> Ollama defaults to a </a:t>
            </a:r>
            <a:r>
              <a:rPr b="1"/>
              <a:t>2k</a:t>
            </a:r>
            <a:r>
              <a:t> context window and then </a:t>
            </a:r>
            <a:r>
              <a:rPr i="1"/>
              <a:t>silently discards</a:t>
            </a:r>
            <a:r>
              <a:t> whatever does not fit. Your agent will appear to “forget” the file you just gave it.</a:t>
            </a:r>
          </a:p>
          <a:p>
            <a:pPr marL="0" lvl="0" indent="0">
              <a:buNone/>
            </a:pPr>
            <a:r>
              <a:t>Start the server with a larger window:</a:t>
            </a:r>
          </a:p>
          <a:p>
            <a:pPr marL="0" lvl="0" indent="0">
              <a:buNone/>
            </a:pPr>
            <a:r>
              <a:t>VS Codium terminal 1</a:t>
            </a:r>
          </a:p>
          <a:p>
            <a:pPr lvl="0" indent="0">
              <a:buNone/>
            </a:pPr>
            <a:r>
              <a:rPr>
                <a:solidFill>
                  <a:srgbClr val="19177C"/>
                </a:solidFill>
                <a:latin typeface="Courier"/>
                <a:ea typeface="Courier"/>
                <a:cs typeface="Courier"/>
              </a:rPr>
              <a:t>OLLAMA_CONTEXT_LENGTH</a:t>
            </a:r>
            <a:r>
              <a:rPr>
                <a:solidFill>
                  <a:srgbClr val="666666"/>
                </a:solidFill>
                <a:latin typeface="Courier"/>
                <a:ea typeface="Courier"/>
                <a:cs typeface="Courier"/>
              </a:rPr>
              <a:t>=</a:t>
            </a:r>
            <a:r>
              <a:rPr>
                <a:latin typeface="Courier"/>
                <a:ea typeface="Courier"/>
                <a:cs typeface="Courier"/>
              </a:rPr>
              <a:t>8192 ollama serve</a:t>
            </a:r>
          </a:p>
          <a:p>
            <a:pPr marL="0" lvl="0" indent="0">
              <a:buNone/>
            </a:pPr>
            <a:r>
              <a:t>Leave that terminal running. Open a </a:t>
            </a:r>
            <a:r>
              <a:rPr b="1"/>
              <a:t>second</a:t>
            </a:r>
            <a:r>
              <a:t> terminal for aider.</a:t>
            </a:r>
          </a:p>
          <a:p>
            <a:pPr marL="0" lvl="0" indent="0">
              <a:buNone/>
            </a:pPr>
            <a:r>
              <a:t>In VS Codium: the </a:t>
            </a:r>
            <a:r>
              <a:rPr>
                <a:latin typeface="Courier"/>
                <a:ea typeface="Courier"/>
                <a:cs typeface="Courier"/>
              </a:rPr>
              <a:t>+</a:t>
            </a:r>
            <a:r>
              <a:t> icon in the terminal panel splits off a new shell.</a:t>
            </a:r>
          </a:p>
        </p:txBody>
      </p:sp>
    </p:spTree>
    <p:extLst>
      <p:ext uri="{BB962C8B-B14F-4D97-AF65-F5344CB8AC3E}">
        <p14:creationId xmlns:p14="http://schemas.microsoft.com/office/powerpoint/2010/main" val="7100000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B6E8C-A8B4-40B8-91E4-931D21687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Run the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70894-0E07-4F61-BC2D-9E5CBC343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VS Codium terminal 2</a:t>
            </a:r>
          </a:p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  <a:ea typeface="Courier"/>
                <a:cs typeface="Courier"/>
              </a:rPr>
              <a:t>cd</a:t>
            </a:r>
            <a:r>
              <a:rPr>
                <a:latin typeface="Courier"/>
                <a:ea typeface="Courier"/>
                <a:cs typeface="Courier"/>
              </a:rPr>
              <a:t> /path/to/your/repo</a:t>
            </a:r>
            <a:br/>
            <a:r>
              <a:rPr>
                <a:latin typeface="Courier"/>
                <a:ea typeface="Courier"/>
                <a:cs typeface="Courier"/>
              </a:rPr>
              <a:t>aider </a:t>
            </a:r>
            <a:r>
              <a:rPr>
                <a:solidFill>
                  <a:srgbClr val="7D9029"/>
                </a:solidFill>
                <a:latin typeface="Courier"/>
                <a:ea typeface="Courier"/>
                <a:cs typeface="Courier"/>
              </a:rPr>
              <a:t>--model</a:t>
            </a:r>
            <a:r>
              <a:rPr>
                <a:latin typeface="Courier"/>
                <a:ea typeface="Courier"/>
                <a:cs typeface="Courier"/>
              </a:rPr>
              <a:t> ollama_chat/qwen2.5-coder:7b</a:t>
            </a:r>
          </a:p>
          <a:p>
            <a:pPr marL="0" lvl="0" indent="0">
              <a:buNone/>
            </a:pPr>
            <a:r>
              <a:t>Note the prefix: </a:t>
            </a:r>
            <a:r>
              <a:rPr b="1">
                <a:latin typeface="Courier"/>
                <a:ea typeface="Courier"/>
                <a:cs typeface="Courier"/>
              </a:rPr>
              <a:t>ollama_chat/</a:t>
            </a:r>
            <a:r>
              <a:t>, not </a:t>
            </a:r>
            <a:r>
              <a:rPr>
                <a:latin typeface="Courier"/>
                <a:ea typeface="Courier"/>
                <a:cs typeface="Courier"/>
              </a:rPr>
              <a:t>ollama/</a:t>
            </a:r>
            <a:r>
              <a:t>. The second one exists and behaves worse.</a:t>
            </a:r>
          </a:p>
        </p:txBody>
      </p:sp>
    </p:spTree>
    <p:extLst>
      <p:ext uri="{BB962C8B-B14F-4D97-AF65-F5344CB8AC3E}">
        <p14:creationId xmlns:p14="http://schemas.microsoft.com/office/powerpoint/2010/main" val="7100000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DBCCF-8D31-48C6-9878-F6DBF87DB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Ask it for something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F2B01-B4D9-49F1-98DC-EB14F448F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You are now at a prompt. Ask in plain language:</a:t>
            </a:r>
          </a:p>
          <a:p>
            <a:pPr lvl="0" indent="0">
              <a:buNone/>
            </a:pPr>
            <a:r>
              <a:rPr>
                <a:latin typeface="Courier"/>
                <a:ea typeface="Courier"/>
                <a:cs typeface="Courier"/>
              </a:rPr>
              <a:t>&gt; add a function that loads data/spine/core.parquet
  and prints the number of rows per country</a:t>
            </a:r>
          </a:p>
          <a:p>
            <a:pPr marL="0" lvl="0" indent="0">
              <a:buNone/>
            </a:pPr>
            <a:r>
              <a:t>aider writes the code, shows you a </a:t>
            </a:r>
            <a:r>
              <a:rPr b="1"/>
              <a:t>diff</a:t>
            </a:r>
            <a:r>
              <a:t>, and asks to apply it.</a:t>
            </a:r>
          </a:p>
          <a:p>
            <a:pPr marL="0" lvl="0" indent="0">
              <a:buNone/>
            </a:pPr>
            <a:r>
              <a:t>Read the diff before you accept. That habit is the whole skill.</a:t>
            </a:r>
          </a:p>
        </p:txBody>
      </p:sp>
    </p:spTree>
    <p:extLst>
      <p:ext uri="{BB962C8B-B14F-4D97-AF65-F5344CB8AC3E}">
        <p14:creationId xmlns:p14="http://schemas.microsoft.com/office/powerpoint/2010/main" val="7100000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0E961-C1F3-423A-9BBF-E4A1A8061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2466667"/>
            <a:ext cx="10363200" cy="1733333"/>
          </a:xfrm>
        </p:spPr>
        <p:txBody>
          <a:bodyPr/>
          <a:lstStyle/>
          <a:p>
            <a:pPr marL="0" lvl="0" indent="0">
              <a:buNone/>
            </a:pPr>
            <a:r>
              <a:t>The worked example</a:t>
            </a:r>
          </a:p>
        </p:txBody>
      </p:sp>
    </p:spTree>
    <p:extLst>
      <p:ext uri="{BB962C8B-B14F-4D97-AF65-F5344CB8AC3E}">
        <p14:creationId xmlns:p14="http://schemas.microsoft.com/office/powerpoint/2010/main" val="7100000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6AC40-2CFD-462C-9A89-31DBC3763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Two terminals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29B36-AC8A-48AF-B2E5-F37F3AF39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Terminal 1</a:t>
            </a:r>
            <a:r>
              <a:t> — the model server, left running:</a:t>
            </a:r>
          </a:p>
          <a:p>
            <a:pPr marL="0" lvl="0" indent="0">
              <a:buNone/>
            </a:pPr>
            <a:r>
              <a:t>VS Codium terminal 1</a:t>
            </a:r>
          </a:p>
          <a:p>
            <a:pPr lvl="0" indent="0">
              <a:buNone/>
            </a:pPr>
            <a:r>
              <a:rPr>
                <a:solidFill>
                  <a:srgbClr val="19177C"/>
                </a:solidFill>
                <a:latin typeface="Courier"/>
                <a:ea typeface="Courier"/>
                <a:cs typeface="Courier"/>
              </a:rPr>
              <a:t>OLLAMA_CONTEXT_LENGTH</a:t>
            </a:r>
            <a:r>
              <a:rPr>
                <a:solidFill>
                  <a:srgbClr val="666666"/>
                </a:solidFill>
                <a:latin typeface="Courier"/>
                <a:ea typeface="Courier"/>
                <a:cs typeface="Courier"/>
              </a:rPr>
              <a:t>=</a:t>
            </a:r>
            <a:r>
              <a:rPr>
                <a:latin typeface="Courier"/>
                <a:ea typeface="Courier"/>
                <a:cs typeface="Courier"/>
              </a:rPr>
              <a:t>8192 ollama serve</a:t>
            </a:r>
          </a:p>
          <a:p>
            <a:pPr marL="0" lvl="0" indent="0">
              <a:buNone/>
            </a:pPr>
            <a:r>
              <a:rPr b="1"/>
              <a:t>Terminal 2</a:t>
            </a:r>
            <a:r>
              <a:t> — inside your course folder:</a:t>
            </a:r>
          </a:p>
          <a:p>
            <a:pPr marL="0" lvl="0" indent="0">
              <a:buNone/>
            </a:pPr>
            <a:r>
              <a:t>VS Codium terminal 2</a:t>
            </a:r>
          </a:p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  <a:ea typeface="Courier"/>
                <a:cs typeface="Courier"/>
              </a:rPr>
              <a:t>source</a:t>
            </a:r>
            <a:r>
              <a:rPr>
                <a:latin typeface="Courier"/>
                <a:ea typeface="Courier"/>
                <a:cs typeface="Courier"/>
              </a:rPr>
              <a:t> .venv/bin/activate</a:t>
            </a:r>
            <a:br/>
            <a:r>
              <a:rPr>
                <a:latin typeface="Courier"/>
                <a:ea typeface="Courier"/>
                <a:cs typeface="Courier"/>
              </a:rPr>
              <a:t>aider </a:t>
            </a:r>
            <a:r>
              <a:rPr>
                <a:solidFill>
                  <a:srgbClr val="7D9029"/>
                </a:solidFill>
                <a:latin typeface="Courier"/>
                <a:ea typeface="Courier"/>
                <a:cs typeface="Courier"/>
              </a:rPr>
              <a:t>--model</a:t>
            </a:r>
            <a:r>
              <a:rPr>
                <a:latin typeface="Courier"/>
                <a:ea typeface="Courier"/>
                <a:cs typeface="Courier"/>
              </a:rPr>
              <a:t> ollama_chat/qwen2.5-coder:7b</a:t>
            </a:r>
          </a:p>
        </p:txBody>
      </p:sp>
    </p:spTree>
    <p:extLst>
      <p:ext uri="{BB962C8B-B14F-4D97-AF65-F5344CB8AC3E}">
        <p14:creationId xmlns:p14="http://schemas.microsoft.com/office/powerpoint/2010/main" val="7100000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B374A-201F-4CF3-A682-B602A4784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Ask for something real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14A29-DC80-4C65-BA49-102303013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At the aider prompt</a:t>
            </a:r>
          </a:p>
          <a:p>
            <a:pPr lvl="0" indent="0">
              <a:buNone/>
            </a:pPr>
            <a:r>
              <a:rPr>
                <a:latin typeface="Courier"/>
                <a:ea typeface="Courier"/>
                <a:cs typeface="Courier"/>
              </a:rPr>
              <a:t>&gt; create explore.py that loads data/spine/core.parquet,
  prints the shape, and shows mean gdp_pc_eur by year</a:t>
            </a:r>
          </a:p>
          <a:p>
            <a:pPr marL="0" lvl="0" indent="0">
              <a:buNone/>
            </a:pPr>
            <a:r>
              <a:t>aider proposes a diff. You read it. You accept it.</a:t>
            </a:r>
          </a:p>
          <a:p>
            <a:pPr lvl="0" indent="0">
              <a:buNone/>
            </a:pPr>
            <a:r>
              <a:rPr>
                <a:latin typeface="Courier"/>
                <a:ea typeface="Courier"/>
                <a:cs typeface="Courier"/>
              </a:rPr>
              <a:t>python explore.py</a:t>
            </a:r>
          </a:p>
        </p:txBody>
      </p:sp>
    </p:spTree>
    <p:extLst>
      <p:ext uri="{BB962C8B-B14F-4D97-AF65-F5344CB8AC3E}">
        <p14:creationId xmlns:p14="http://schemas.microsoft.com/office/powerpoint/2010/main" val="7100000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8DA52-2CAF-4E65-955F-801F9F0BC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just happened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7559D-D9DB-4FBB-BCA5-7E76A8A5F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You ran a model </a:t>
            </a:r>
            <a:r>
              <a:rPr b="1"/>
              <a:t>on your own hardware</a:t>
            </a:r>
            <a:r>
              <a:t>, had it write code against real data, reviewed the change, and accepted it — </a:t>
            </a:r>
            <a:r>
              <a:rPr b="1"/>
              <a:t>without sending one byte to anyone’s API.</a:t>
            </a:r>
          </a:p>
          <a:p>
            <a:pPr marL="0" lvl="0" indent="0">
              <a:buNone/>
            </a:pPr>
            <a:r>
              <a:t>Every practice session this term is a variation on those two terminals.</a:t>
            </a:r>
          </a:p>
        </p:txBody>
      </p:sp>
    </p:spTree>
    <p:extLst>
      <p:ext uri="{BB962C8B-B14F-4D97-AF65-F5344CB8AC3E}">
        <p14:creationId xmlns:p14="http://schemas.microsoft.com/office/powerpoint/2010/main" val="7100000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DF7A9-C3FA-4282-890D-F1F16B594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we do it this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47286-9896-48E3-9D07-E10AF1822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b="1"/>
              <a:t>The data stay put.</a:t>
            </a:r>
            <a:r>
              <a:t> Some of what you use this term cannot legally be uploaded.</a:t>
            </a:r>
          </a:p>
          <a:p>
            <a:pPr lvl="0">
              <a:buNone/>
            </a:pPr>
            <a:r>
              <a:rPr b="1"/>
              <a:t>The cost is zero.</a:t>
            </a:r>
            <a:r>
              <a:t> No key, no quota, no bill at the end of the month.</a:t>
            </a:r>
          </a:p>
          <a:p>
            <a:pPr lvl="0">
              <a:buNone/>
            </a:pPr>
            <a:r>
              <a:rPr b="1"/>
              <a:t>The record is honest.</a:t>
            </a:r>
            <a:r>
              <a:t> The diff shows exactly what changed, and why.</a:t>
            </a:r>
          </a:p>
          <a:p>
            <a:pPr lvl="0">
              <a:buNone/>
            </a:pPr>
            <a:r>
              <a:rPr b="1"/>
              <a:t>The skill transfers.</a:t>
            </a:r>
            <a:r>
              <a:t> This is how the work is actually done now.</a:t>
            </a:r>
          </a:p>
          <a:p>
            <a:pPr marL="0" lvl="0" indent="0">
              <a:buNone/>
            </a:pPr>
            <a:r>
              <a:t>The model is a </a:t>
            </a:r>
            <a:r>
              <a:rPr b="1"/>
              <a:t>junior collaborator with no accountability.</a:t>
            </a:r>
            <a:r>
              <a:t> It will produce confident, wrong code. Every line you accept is a line you are claiming as correct. Read the diff.</a:t>
            </a:r>
          </a:p>
        </p:txBody>
      </p:sp>
    </p:spTree>
    <p:extLst>
      <p:ext uri="{BB962C8B-B14F-4D97-AF65-F5344CB8AC3E}">
        <p14:creationId xmlns:p14="http://schemas.microsoft.com/office/powerpoint/2010/main" val="7100000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E7E6-A48E-431C-9257-FE6BB57A2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2466667"/>
            <a:ext cx="10363200" cy="1733333"/>
          </a:xfrm>
        </p:spPr>
        <p:txBody>
          <a:bodyPr/>
          <a:lstStyle/>
          <a:p>
            <a:pPr marL="0" lvl="0" indent="0">
              <a:buNone/>
            </a:pPr>
            <a:r>
              <a:t>If it breaks</a:t>
            </a:r>
          </a:p>
        </p:txBody>
      </p:sp>
    </p:spTree>
    <p:extLst>
      <p:ext uri="{BB962C8B-B14F-4D97-AF65-F5344CB8AC3E}">
        <p14:creationId xmlns:p14="http://schemas.microsoft.com/office/powerpoint/2010/main" val="7100000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7F0E7-47F9-4855-A92D-4E8799940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Troubleshooting</a:t>
            </a:r>
          </a:p>
        </p:txBody>
      </p:sp>
      <p:graphicFrame>
        <p:nvGraphicFramePr>
          <p:cNvPr id="5" name="Content Placeholder 5"/>
          <p:cNvGraphicFramePr/>
          <p:nvPr/>
        </p:nvGraphicFramePr>
        <p:xfrm>
          <a:off x="609600" y="1591733"/>
          <a:ext cx="8229600" cy="2021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Symptom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Fix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  <a:ea typeface="Courier"/>
                          <a:cs typeface="Courier"/>
                        </a:rPr>
                        <a:t>ollama: command not found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Reopen the terminal; on Windows, restart VS Codium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Model answers very slowly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Use a smaller model (</a:t>
                      </a:r>
                      <a:r>
                        <a:rPr>
                          <a:latin typeface="Courier"/>
                          <a:ea typeface="Courier"/>
                          <a:cs typeface="Courier"/>
                        </a:rPr>
                        <a:t>:3b</a:t>
                      </a:r>
                      <a:r>
                        <a:t>); close other applications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aider “forgets” your file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You skipped </a:t>
                      </a:r>
                      <a:r>
                        <a:rPr>
                          <a:latin typeface="Courier"/>
                          <a:ea typeface="Courier"/>
                          <a:cs typeface="Courier"/>
                        </a:rPr>
                        <a:t>OLLAMA_CONTEXT_LENGTH=8192 ollama serve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  <a:ea typeface="Courier"/>
                          <a:cs typeface="Courier"/>
                        </a:rPr>
                        <a:t>connection refused</a:t>
                      </a:r>
                      <a:r>
                        <a:t> from aider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The </a:t>
                      </a:r>
                      <a:r>
                        <a:rPr>
                          <a:latin typeface="Courier"/>
                          <a:ea typeface="Courier"/>
                          <a:cs typeface="Courier"/>
                        </a:rPr>
                        <a:t>ollama serve</a:t>
                      </a:r>
                      <a:r>
                        <a:t> terminal is not running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  <a:ea typeface="Courier"/>
                          <a:cs typeface="Courier"/>
                        </a:rPr>
                        <a:t>pip</a:t>
                      </a:r>
                      <a:r>
                        <a:t> fails on install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Check </a:t>
                      </a:r>
                      <a:r>
                        <a:rPr>
                          <a:latin typeface="Courier"/>
                          <a:ea typeface="Courier"/>
                          <a:cs typeface="Courier"/>
                        </a:rPr>
                        <a:t>(.venv)</a:t>
                      </a:r>
                      <a:r>
                        <a:t> is in your prompt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  <a:ea typeface="Courier"/>
                          <a:cs typeface="Courier"/>
                        </a:rPr>
                        <a:t>python3</a:t>
                      </a:r>
                      <a:r>
                        <a:t> not found on Windows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Try </a:t>
                      </a:r>
                      <a:r>
                        <a:rPr>
                          <a:latin typeface="Courier"/>
                          <a:ea typeface="Courier"/>
                          <a:cs typeface="Courier"/>
                        </a:rPr>
                        <a:t>python</a:t>
                      </a:r>
                      <a:r>
                        <a:t>; if still missing, PATH was not ticked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0000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3C576-B33E-48EE-9E09-C50919F2B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Still stuck? Ask Qwen — that is itself a test of whether your setup works.</a:t>
            </a:r>
          </a:p>
        </p:txBody>
      </p:sp>
    </p:spTree>
    <p:extLst>
      <p:ext uri="{BB962C8B-B14F-4D97-AF65-F5344CB8AC3E}">
        <p14:creationId xmlns:p14="http://schemas.microsoft.com/office/powerpoint/2010/main" val="7100000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5307B-9429-4C05-93DD-434A01CC0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last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EE3E4-7001-4ECD-A6CD-7A519484F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VS Codium terminal · with </a:t>
            </a:r>
            <a:r>
              <a:rPr>
                <a:latin typeface="Courier"/>
                <a:ea typeface="Courier"/>
                <a:cs typeface="Courier"/>
              </a:rPr>
              <a:t>(.venv)</a:t>
            </a:r>
            <a:r>
              <a:t> showing</a:t>
            </a:r>
          </a:p>
          <a:p>
            <a:pPr lvl="0" indent="0">
              <a:buNone/>
            </a:pPr>
            <a:r>
              <a:rPr>
                <a:latin typeface="Courier"/>
                <a:ea typeface="Courier"/>
                <a:cs typeface="Courier"/>
              </a:rPr>
              <a:t>python 01-foundations-scenarios-and-tools/00-pre-session/verify_environment.py</a:t>
            </a:r>
          </a:p>
          <a:p>
            <a:pPr marL="0" lvl="0" indent="0">
              <a:buNone/>
            </a:pPr>
            <a:r>
              <a:t>You should see five checks pass.</a:t>
            </a:r>
          </a:p>
          <a:p>
            <a:pPr marL="0" lvl="0" indent="0">
              <a:buNone/>
            </a:pPr>
            <a:r>
              <a:rPr b="1"/>
              <a:t>Bring the output to class</a:t>
            </a:r>
            <a:r>
              <a:t> — a screenshot or a paste into your notes.</a:t>
            </a:r>
          </a:p>
        </p:txBody>
      </p:sp>
    </p:spTree>
    <p:extLst>
      <p:ext uri="{BB962C8B-B14F-4D97-AF65-F5344CB8AC3E}">
        <p14:creationId xmlns:p14="http://schemas.microsoft.com/office/powerpoint/2010/main" val="7100000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yebrow">
            <a:extLst>
              <a:ext uri="{FF2B5EF4-FFF2-40B4-BE49-F238E27FC236}">
                <a16:creationId xmlns:a16="http://schemas.microsoft.com/office/drawing/2014/main" id="{75464B53-1533-424B-9222-489B58BEE433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REQUIRED BEFORE CLASS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A9091B3E-3879-47BB-B185-B4293FC4928A}"/>
              </a:ext>
            </a:extLst>
          </p:cNvPr>
          <p:cNvSpPr>
            <a:spLocks noGrp="1"/>
          </p:cNvSpPr>
          <p:nvPr/>
        </p:nvSpPr>
        <p:spPr>
          <a:xfrm>
            <a:off x="457200" y="628650"/>
            <a:ext cx="11277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Arrive ready to use the reading</a:t>
            </a:r>
          </a:p>
        </p:txBody>
      </p:sp>
      <p:sp>
        <p:nvSpPr>
          <p:cNvPr id="3" name="rule-48-137">
            <a:extLst>
              <a:ext uri="{FF2B5EF4-FFF2-40B4-BE49-F238E27FC236}">
                <a16:creationId xmlns:a16="http://schemas.microsoft.com/office/drawing/2014/main" id="{40E1BFB6-A2A4-42EB-86AB-54ED1F6BFFC0}"/>
              </a:ext>
            </a:extLst>
          </p:cNvPr>
          <p:cNvSpPr>
            <a:spLocks noGrp="1"/>
          </p:cNvSpPr>
          <p:nvPr/>
        </p:nvSpPr>
        <p:spPr>
          <a:xfrm>
            <a:off x="457200" y="1304925"/>
            <a:ext cx="11277600" cy="9525"/>
          </a:xfrm>
          <a:prstGeom prst="rect">
            <a:avLst/>
          </a:prstGeom>
          <a:solidFill>
            <a:srgbClr val="B8C0C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pre-required-label">
            <a:extLst>
              <a:ext uri="{FF2B5EF4-FFF2-40B4-BE49-F238E27FC236}">
                <a16:creationId xmlns:a16="http://schemas.microsoft.com/office/drawing/2014/main" id="{D6ED9D25-05EB-4A17-BE3A-65420F960C74}"/>
              </a:ext>
            </a:extLst>
          </p:cNvPr>
          <p:cNvSpPr>
            <a:spLocks noGrp="1"/>
          </p:cNvSpPr>
          <p:nvPr/>
        </p:nvSpPr>
        <p:spPr>
          <a:xfrm>
            <a:off x="457200" y="16573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 READING</a:t>
            </a:r>
          </a:p>
        </p:txBody>
      </p:sp>
      <p:sp>
        <p:nvSpPr>
          <p:cNvPr id="5" name="pre-required-title">
            <a:extLst>
              <a:ext uri="{FF2B5EF4-FFF2-40B4-BE49-F238E27FC236}">
                <a16:creationId xmlns:a16="http://schemas.microsoft.com/office/drawing/2014/main" id="{4CA66CD7-FFBF-4F5C-AEBC-38E26ED8C82F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19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Europe 2031</a:t>
            </a:r>
          </a:p>
        </p:txBody>
      </p:sp>
      <p:sp>
        <p:nvSpPr>
          <p:cNvPr id="6" name="pre-required-purpose">
            <a:extLst>
              <a:ext uri="{FF2B5EF4-FFF2-40B4-BE49-F238E27FC236}">
                <a16:creationId xmlns:a16="http://schemas.microsoft.com/office/drawing/2014/main" id="{A57943E6-97D0-4CBA-88F5-A960C3B79A2D}"/>
              </a:ext>
            </a:extLst>
          </p:cNvPr>
          <p:cNvSpPr>
            <a:spLocks noGrp="1"/>
          </p:cNvSpPr>
          <p:nvPr/>
        </p:nvSpPr>
        <p:spPr>
          <a:xfrm>
            <a:off x="457200" y="2724150"/>
            <a:ext cx="619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scenario for the Session 01 conversation</a:t>
            </a:r>
          </a:p>
        </p:txBody>
      </p:sp>
      <p:sp>
        <p:nvSpPr>
          <p:cNvPr id="7" name="pre-required-url">
            <a:extLst>
              <a:ext uri="{FF2B5EF4-FFF2-40B4-BE49-F238E27FC236}">
                <a16:creationId xmlns:a16="http://schemas.microsoft.com/office/drawing/2014/main" id="{7D5CF10A-F439-45D2-9B05-EDC5993AA270}"/>
              </a:ext>
            </a:extLst>
          </p:cNvPr>
          <p:cNvSpPr>
            <a:spLocks noGrp="1"/>
          </p:cNvSpPr>
          <p:nvPr/>
        </p:nvSpPr>
        <p:spPr>
          <a:xfrm>
            <a:off x="457200" y="3486150"/>
            <a:ext cx="619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https://europe2031.ai</a:t>
            </a:r>
          </a:p>
        </p:txBody>
      </p:sp>
      <p:sp>
        <p:nvSpPr>
          <p:cNvPr id="8" name="pre-bring-label">
            <a:extLst>
              <a:ext uri="{FF2B5EF4-FFF2-40B4-BE49-F238E27FC236}">
                <a16:creationId xmlns:a16="http://schemas.microsoft.com/office/drawing/2014/main" id="{8F0E7726-E02C-4201-843A-DFD67B11A7AF}"/>
              </a:ext>
            </a:extLst>
          </p:cNvPr>
          <p:cNvSpPr>
            <a:spLocks noGrp="1"/>
          </p:cNvSpPr>
          <p:nvPr/>
        </p:nvSpPr>
        <p:spPr>
          <a:xfrm>
            <a:off x="457200" y="46672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BRING TO CLASS</a:t>
            </a:r>
          </a:p>
        </p:txBody>
      </p:sp>
      <p:sp>
        <p:nvSpPr>
          <p:cNvPr id="9" name="pre-bring-copy">
            <a:extLst>
              <a:ext uri="{FF2B5EF4-FFF2-40B4-BE49-F238E27FC236}">
                <a16:creationId xmlns:a16="http://schemas.microsoft.com/office/drawing/2014/main" id="{3A956229-EE0F-44BE-BEA5-EC790C6E802E}"/>
              </a:ext>
            </a:extLst>
          </p:cNvPr>
          <p:cNvSpPr>
            <a:spLocks noGrp="1"/>
          </p:cNvSpPr>
          <p:nvPr/>
        </p:nvSpPr>
        <p:spPr>
          <a:xfrm>
            <a:off x="457200" y="5048250"/>
            <a:ext cx="619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annotated page · one unresolved question · your self-check answers</a:t>
            </a:r>
          </a:p>
        </p:txBody>
      </p:sp>
      <p:sp>
        <p:nvSpPr>
          <p:cNvPr id="10" name="pre-annotation-bg">
            <a:extLst>
              <a:ext uri="{FF2B5EF4-FFF2-40B4-BE49-F238E27FC236}">
                <a16:creationId xmlns:a16="http://schemas.microsoft.com/office/drawing/2014/main" id="{3870F894-7B71-426C-AF9A-A4E85B675E9D}"/>
              </a:ext>
            </a:extLst>
          </p:cNvPr>
          <p:cNvSpPr>
            <a:spLocks noGrp="1"/>
          </p:cNvSpPr>
          <p:nvPr/>
        </p:nvSpPr>
        <p:spPr>
          <a:xfrm>
            <a:off x="7315200" y="1733550"/>
            <a:ext cx="4038600" cy="3905250"/>
          </a:xfrm>
          <a:prstGeom prst="roundRect">
            <a:avLst>
              <a:gd name="adj" fmla="val 1951"/>
            </a:avLst>
          </a:prstGeom>
          <a:solidFill>
            <a:srgbClr val="EDF1F5"/>
          </a:solidFill>
          <a:ln w="9525">
            <a:solidFill>
              <a:srgbClr val="B8C0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pre-annotation-title">
            <a:extLst>
              <a:ext uri="{FF2B5EF4-FFF2-40B4-BE49-F238E27FC236}">
                <a16:creationId xmlns:a16="http://schemas.microsoft.com/office/drawing/2014/main" id="{30D55EF4-A5CB-48E9-8E5E-710E2618D250}"/>
              </a:ext>
            </a:extLst>
          </p:cNvPr>
          <p:cNvSpPr>
            <a:spLocks noGrp="1"/>
          </p:cNvSpPr>
          <p:nvPr/>
        </p:nvSpPr>
        <p:spPr>
          <a:xfrm>
            <a:off x="7696200" y="2095500"/>
            <a:ext cx="3276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Annotate four things</a:t>
            </a:r>
          </a:p>
        </p:txBody>
      </p:sp>
      <p:sp>
        <p:nvSpPr>
          <p:cNvPr id="12" name="pre-annotation-num-0">
            <a:extLst>
              <a:ext uri="{FF2B5EF4-FFF2-40B4-BE49-F238E27FC236}">
                <a16:creationId xmlns:a16="http://schemas.microsoft.com/office/drawing/2014/main" id="{077B9DFD-5BFD-4353-85D0-00DAC535B321}"/>
              </a:ext>
            </a:extLst>
          </p:cNvPr>
          <p:cNvSpPr>
            <a:spLocks noGrp="1"/>
          </p:cNvSpPr>
          <p:nvPr/>
        </p:nvSpPr>
        <p:spPr>
          <a:xfrm>
            <a:off x="7715250" y="2800350"/>
            <a:ext cx="323850" cy="3238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3" name="pre-annotation-item-0">
            <a:extLst>
              <a:ext uri="{FF2B5EF4-FFF2-40B4-BE49-F238E27FC236}">
                <a16:creationId xmlns:a16="http://schemas.microsoft.com/office/drawing/2014/main" id="{6AEDCC39-8D41-4927-A740-838D9B5E0CD2}"/>
              </a:ext>
            </a:extLst>
          </p:cNvPr>
          <p:cNvSpPr>
            <a:spLocks noGrp="1"/>
          </p:cNvSpPr>
          <p:nvPr/>
        </p:nvSpPr>
        <p:spPr>
          <a:xfrm>
            <a:off x="8210550" y="2762250"/>
            <a:ext cx="2686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research question</a:t>
            </a:r>
          </a:p>
        </p:txBody>
      </p:sp>
      <p:sp>
        <p:nvSpPr>
          <p:cNvPr id="14" name="pre-annotation-num-1">
            <a:extLst>
              <a:ext uri="{FF2B5EF4-FFF2-40B4-BE49-F238E27FC236}">
                <a16:creationId xmlns:a16="http://schemas.microsoft.com/office/drawing/2014/main" id="{3FF3E823-2F39-4A06-995A-45CBADE1670A}"/>
              </a:ext>
            </a:extLst>
          </p:cNvPr>
          <p:cNvSpPr>
            <a:spLocks noGrp="1"/>
          </p:cNvSpPr>
          <p:nvPr/>
        </p:nvSpPr>
        <p:spPr>
          <a:xfrm>
            <a:off x="7715250" y="3429000"/>
            <a:ext cx="323850" cy="3238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pre-annotation-item-1">
            <a:extLst>
              <a:ext uri="{FF2B5EF4-FFF2-40B4-BE49-F238E27FC236}">
                <a16:creationId xmlns:a16="http://schemas.microsoft.com/office/drawing/2014/main" id="{F756A364-D6D0-46BD-A764-1D7C7242B6F2}"/>
              </a:ext>
            </a:extLst>
          </p:cNvPr>
          <p:cNvSpPr>
            <a:spLocks noGrp="1"/>
          </p:cNvSpPr>
          <p:nvPr/>
        </p:nvSpPr>
        <p:spPr>
          <a:xfrm>
            <a:off x="8210550" y="3390900"/>
            <a:ext cx="2686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method or design</a:t>
            </a:r>
          </a:p>
        </p:txBody>
      </p:sp>
      <p:sp>
        <p:nvSpPr>
          <p:cNvPr id="16" name="pre-annotation-num-2">
            <a:extLst>
              <a:ext uri="{FF2B5EF4-FFF2-40B4-BE49-F238E27FC236}">
                <a16:creationId xmlns:a16="http://schemas.microsoft.com/office/drawing/2014/main" id="{AACC7EFB-E852-4D5B-867D-83DAED2059C8}"/>
              </a:ext>
            </a:extLst>
          </p:cNvPr>
          <p:cNvSpPr>
            <a:spLocks noGrp="1"/>
          </p:cNvSpPr>
          <p:nvPr/>
        </p:nvSpPr>
        <p:spPr>
          <a:xfrm>
            <a:off x="7715250" y="4057650"/>
            <a:ext cx="323850" cy="3238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pre-annotation-item-2">
            <a:extLst>
              <a:ext uri="{FF2B5EF4-FFF2-40B4-BE49-F238E27FC236}">
                <a16:creationId xmlns:a16="http://schemas.microsoft.com/office/drawing/2014/main" id="{7E5C2EE8-AEAD-4EE1-8C55-8D7D3FA598C9}"/>
              </a:ext>
            </a:extLst>
          </p:cNvPr>
          <p:cNvSpPr>
            <a:spLocks noGrp="1"/>
          </p:cNvSpPr>
          <p:nvPr/>
        </p:nvSpPr>
        <p:spPr>
          <a:xfrm>
            <a:off x="8210550" y="4019550"/>
            <a:ext cx="2686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strongest evidence</a:t>
            </a:r>
          </a:p>
        </p:txBody>
      </p:sp>
      <p:sp>
        <p:nvSpPr>
          <p:cNvPr id="18" name="pre-annotation-num-3">
            <a:extLst>
              <a:ext uri="{FF2B5EF4-FFF2-40B4-BE49-F238E27FC236}">
                <a16:creationId xmlns:a16="http://schemas.microsoft.com/office/drawing/2014/main" id="{F02E2620-1811-4357-9FDF-E866105B139D}"/>
              </a:ext>
            </a:extLst>
          </p:cNvPr>
          <p:cNvSpPr>
            <a:spLocks noGrp="1"/>
          </p:cNvSpPr>
          <p:nvPr/>
        </p:nvSpPr>
        <p:spPr>
          <a:xfrm>
            <a:off x="7715250" y="4686300"/>
            <a:ext cx="323850" cy="323850"/>
          </a:xfrm>
          <a:prstGeom prst="rect">
            <a:avLst/>
          </a:prstGeom>
          <a:solidFill>
            <a:srgbClr val="F97362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pre-annotation-item-3">
            <a:extLst>
              <a:ext uri="{FF2B5EF4-FFF2-40B4-BE49-F238E27FC236}">
                <a16:creationId xmlns:a16="http://schemas.microsoft.com/office/drawing/2014/main" id="{57FDF5F7-A850-445F-B184-3D09FBB11CE4}"/>
              </a:ext>
            </a:extLst>
          </p:cNvPr>
          <p:cNvSpPr>
            <a:spLocks noGrp="1"/>
          </p:cNvSpPr>
          <p:nvPr/>
        </p:nvSpPr>
        <p:spPr>
          <a:xfrm>
            <a:off x="8210550" y="4648200"/>
            <a:ext cx="2686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limitation or doubt</a:t>
            </a:r>
          </a:p>
        </p:txBody>
      </p:sp>
      <p:sp>
        <p:nvSpPr>
          <p:cNvPr id="20" name="rule-48-674">
            <a:extLst>
              <a:ext uri="{FF2B5EF4-FFF2-40B4-BE49-F238E27FC236}">
                <a16:creationId xmlns:a16="http://schemas.microsoft.com/office/drawing/2014/main" id="{2876FC7E-2B48-40B7-85CE-A6D632616B63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B8C0C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footer-left">
            <a:extLst>
              <a:ext uri="{FF2B5EF4-FFF2-40B4-BE49-F238E27FC236}">
                <a16:creationId xmlns:a16="http://schemas.microsoft.com/office/drawing/2014/main" id="{235F6F5D-81A3-494A-A16B-76D9817B3D92}"/>
              </a:ext>
            </a:extLst>
          </p:cNvPr>
          <p:cNvSpPr>
            <a:spLocks noGrp="1"/>
          </p:cNvSpPr>
          <p:nvPr/>
        </p:nvSpPr>
        <p:spPr>
          <a:xfrm>
            <a:off x="457200" y="65151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22" name="footer-right">
            <a:extLst>
              <a:ext uri="{FF2B5EF4-FFF2-40B4-BE49-F238E27FC236}">
                <a16:creationId xmlns:a16="http://schemas.microsoft.com/office/drawing/2014/main" id="{DFED14C4-FC90-4331-9475-02549124286C}"/>
              </a:ext>
            </a:extLst>
          </p:cNvPr>
          <p:cNvSpPr>
            <a:spLocks noGrp="1"/>
          </p:cNvSpPr>
          <p:nvPr/>
        </p:nvSpPr>
        <p:spPr>
          <a:xfrm>
            <a:off x="9163050" y="65151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11</a:t>
            </a:r>
          </a:p>
        </p:txBody>
      </p:sp>
    </p:spTree>
    <p:extLst>
      <p:ext uri="{BB962C8B-B14F-4D97-AF65-F5344CB8AC3E}">
        <p14:creationId xmlns:p14="http://schemas.microsoft.com/office/powerpoint/2010/main" val="7100000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yebrow">
            <a:extLst>
              <a:ext uri="{FF2B5EF4-FFF2-40B4-BE49-F238E27FC236}">
                <a16:creationId xmlns:a16="http://schemas.microsoft.com/office/drawing/2014/main" id="{F20CBC9F-32E9-4B0E-A41B-08ABBF5914D1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READING GUIDE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E8CA896F-E776-43BB-ABD6-2211AA448522}"/>
              </a:ext>
            </a:extLst>
          </p:cNvPr>
          <p:cNvSpPr>
            <a:spLocks noGrp="1"/>
          </p:cNvSpPr>
          <p:nvPr/>
        </p:nvSpPr>
        <p:spPr>
          <a:xfrm>
            <a:off x="457200" y="628650"/>
            <a:ext cx="11277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for the argument, not for coverage</a:t>
            </a:r>
          </a:p>
        </p:txBody>
      </p:sp>
      <p:sp>
        <p:nvSpPr>
          <p:cNvPr id="3" name="rule-48-137">
            <a:extLst>
              <a:ext uri="{FF2B5EF4-FFF2-40B4-BE49-F238E27FC236}">
                <a16:creationId xmlns:a16="http://schemas.microsoft.com/office/drawing/2014/main" id="{FB096850-28B7-4A03-A2F7-BD02D6BEE938}"/>
              </a:ext>
            </a:extLst>
          </p:cNvPr>
          <p:cNvSpPr>
            <a:spLocks noGrp="1"/>
          </p:cNvSpPr>
          <p:nvPr/>
        </p:nvSpPr>
        <p:spPr>
          <a:xfrm>
            <a:off x="457200" y="1304925"/>
            <a:ext cx="11277600" cy="9525"/>
          </a:xfrm>
          <a:prstGeom prst="rect">
            <a:avLst/>
          </a:prstGeom>
          <a:solidFill>
            <a:srgbClr val="B8C0C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pre-reading-status-0">
            <a:extLst>
              <a:ext uri="{FF2B5EF4-FFF2-40B4-BE49-F238E27FC236}">
                <a16:creationId xmlns:a16="http://schemas.microsoft.com/office/drawing/2014/main" id="{3E3461C3-981E-4CAF-A527-FEA15BECB1FA}"/>
              </a:ext>
            </a:extLst>
          </p:cNvPr>
          <p:cNvSpPr>
            <a:spLocks noGrp="1"/>
          </p:cNvSpPr>
          <p:nvPr/>
        </p:nvSpPr>
        <p:spPr>
          <a:xfrm>
            <a:off x="457200" y="148590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 ARTICLE</a:t>
            </a:r>
          </a:p>
        </p:txBody>
      </p:sp>
      <p:sp>
        <p:nvSpPr>
          <p:cNvPr id="5" name="pre-reading-0">
            <a:extLst>
              <a:ext uri="{FF2B5EF4-FFF2-40B4-BE49-F238E27FC236}">
                <a16:creationId xmlns:a16="http://schemas.microsoft.com/office/drawing/2014/main" id="{5F735DBA-EE31-45FA-A8D9-8D709AEAFFBC}"/>
              </a:ext>
            </a:extLst>
          </p:cNvPr>
          <p:cNvSpPr>
            <a:spLocks noGrp="1"/>
          </p:cNvSpPr>
          <p:nvPr/>
        </p:nvSpPr>
        <p:spPr>
          <a:xfrm>
            <a:off x="457200" y="1695450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Europe 2031</a:t>
            </a:r>
          </a:p>
        </p:txBody>
      </p:sp>
      <p:sp>
        <p:nvSpPr>
          <p:cNvPr id="6" name="pre-reading-why-0">
            <a:extLst>
              <a:ext uri="{FF2B5EF4-FFF2-40B4-BE49-F238E27FC236}">
                <a16:creationId xmlns:a16="http://schemas.microsoft.com/office/drawing/2014/main" id="{E740BC46-AA53-4012-A801-733DAFFB087A}"/>
              </a:ext>
            </a:extLst>
          </p:cNvPr>
          <p:cNvSpPr>
            <a:spLocks noGrp="1"/>
          </p:cNvSpPr>
          <p:nvPr/>
        </p:nvSpPr>
        <p:spPr>
          <a:xfrm>
            <a:off x="457200" y="2133600"/>
            <a:ext cx="1066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scenario for the Session 01 conversation</a:t>
            </a:r>
          </a:p>
        </p:txBody>
      </p:sp>
      <p:sp>
        <p:nvSpPr>
          <p:cNvPr id="7" name="pre-reading-url-0">
            <a:extLst>
              <a:ext uri="{FF2B5EF4-FFF2-40B4-BE49-F238E27FC236}">
                <a16:creationId xmlns:a16="http://schemas.microsoft.com/office/drawing/2014/main" id="{CFEB6D98-072A-416D-9F90-5E1CB426478C}"/>
              </a:ext>
            </a:extLst>
          </p:cNvPr>
          <p:cNvSpPr>
            <a:spLocks noGrp="1"/>
          </p:cNvSpPr>
          <p:nvPr/>
        </p:nvSpPr>
        <p:spPr>
          <a:xfrm>
            <a:off x="457200" y="28003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https://europe2031.ai</a:t>
            </a:r>
          </a:p>
        </p:txBody>
      </p:sp>
      <p:sp>
        <p:nvSpPr>
          <p:cNvPr id="8" name="pre-reading-status-1">
            <a:extLst>
              <a:ext uri="{FF2B5EF4-FFF2-40B4-BE49-F238E27FC236}">
                <a16:creationId xmlns:a16="http://schemas.microsoft.com/office/drawing/2014/main" id="{7EC99DA6-2C14-467C-B3BD-BB5C4ED70371}"/>
              </a:ext>
            </a:extLst>
          </p:cNvPr>
          <p:cNvSpPr>
            <a:spLocks noGrp="1"/>
          </p:cNvSpPr>
          <p:nvPr/>
        </p:nvSpPr>
        <p:spPr>
          <a:xfrm>
            <a:off x="457200" y="293370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READING GUIDE</a:t>
            </a:r>
          </a:p>
        </p:txBody>
      </p:sp>
      <p:sp>
        <p:nvSpPr>
          <p:cNvPr id="9" name="pre-reading-1">
            <a:extLst>
              <a:ext uri="{FF2B5EF4-FFF2-40B4-BE49-F238E27FC236}">
                <a16:creationId xmlns:a16="http://schemas.microsoft.com/office/drawing/2014/main" id="{7185B5F6-F463-4D49-8B94-46C3175EC6F6}"/>
              </a:ext>
            </a:extLst>
          </p:cNvPr>
          <p:cNvSpPr>
            <a:spLocks noGrp="1"/>
          </p:cNvSpPr>
          <p:nvPr/>
        </p:nvSpPr>
        <p:spPr>
          <a:xfrm>
            <a:off x="457200" y="3143250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Critical reading brief</a:t>
            </a:r>
          </a:p>
        </p:txBody>
      </p:sp>
      <p:sp>
        <p:nvSpPr>
          <p:cNvPr id="10" name="pre-reading-why-1">
            <a:extLst>
              <a:ext uri="{FF2B5EF4-FFF2-40B4-BE49-F238E27FC236}">
                <a16:creationId xmlns:a16="http://schemas.microsoft.com/office/drawing/2014/main" id="{0D1F1976-A0FD-4B24-83E1-D2B456EC4AFF}"/>
              </a:ext>
            </a:extLst>
          </p:cNvPr>
          <p:cNvSpPr>
            <a:spLocks noGrp="1"/>
          </p:cNvSpPr>
          <p:nvPr/>
        </p:nvSpPr>
        <p:spPr>
          <a:xfrm>
            <a:off x="457200" y="3581400"/>
            <a:ext cx="1066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Questions that separate observed evidence from the constructed scenario</a:t>
            </a:r>
          </a:p>
        </p:txBody>
      </p:sp>
      <p:sp>
        <p:nvSpPr>
          <p:cNvPr id="11" name="pre-reading-url-1">
            <a:extLst>
              <a:ext uri="{FF2B5EF4-FFF2-40B4-BE49-F238E27FC236}">
                <a16:creationId xmlns:a16="http://schemas.microsoft.com/office/drawing/2014/main" id="{92F4403A-5152-4249-992A-F023096E9191}"/>
              </a:ext>
            </a:extLst>
          </p:cNvPr>
          <p:cNvSpPr>
            <a:spLocks noGrp="1"/>
          </p:cNvSpPr>
          <p:nvPr/>
        </p:nvSpPr>
        <p:spPr>
          <a:xfrm>
            <a:off x="457200" y="42481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local:01-foundations-scenarios-and-tools/00-pre-session/reading-europe-2031.md</a:t>
            </a:r>
          </a:p>
        </p:txBody>
      </p:sp>
      <p:sp>
        <p:nvSpPr>
          <p:cNvPr id="12" name="pre-reading-status-2">
            <a:extLst>
              <a:ext uri="{FF2B5EF4-FFF2-40B4-BE49-F238E27FC236}">
                <a16:creationId xmlns:a16="http://schemas.microsoft.com/office/drawing/2014/main" id="{CC846E72-2347-4C94-B5D0-3ED9602FF3C0}"/>
              </a:ext>
            </a:extLst>
          </p:cNvPr>
          <p:cNvSpPr>
            <a:spLocks noGrp="1"/>
          </p:cNvSpPr>
          <p:nvPr/>
        </p:nvSpPr>
        <p:spPr>
          <a:xfrm>
            <a:off x="457200" y="438150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OPTIONAL · ISLR</a:t>
            </a:r>
          </a:p>
        </p:txBody>
      </p:sp>
      <p:sp>
        <p:nvSpPr>
          <p:cNvPr id="13" name="pre-reading-2">
            <a:extLst>
              <a:ext uri="{FF2B5EF4-FFF2-40B4-BE49-F238E27FC236}">
                <a16:creationId xmlns:a16="http://schemas.microsoft.com/office/drawing/2014/main" id="{F50E621E-D9A6-423F-8445-A36AB427B4FA}"/>
              </a:ext>
            </a:extLst>
          </p:cNvPr>
          <p:cNvSpPr>
            <a:spLocks noGrp="1"/>
          </p:cNvSpPr>
          <p:nvPr/>
        </p:nvSpPr>
        <p:spPr>
          <a:xfrm>
            <a:off x="457200" y="4591050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ISLR, Chapter 2</a:t>
            </a:r>
          </a:p>
        </p:txBody>
      </p:sp>
      <p:sp>
        <p:nvSpPr>
          <p:cNvPr id="14" name="pre-reading-why-2">
            <a:extLst>
              <a:ext uri="{FF2B5EF4-FFF2-40B4-BE49-F238E27FC236}">
                <a16:creationId xmlns:a16="http://schemas.microsoft.com/office/drawing/2014/main" id="{6B89291A-15DA-4D1E-BF6E-27C840C8C879}"/>
              </a:ext>
            </a:extLst>
          </p:cNvPr>
          <p:cNvSpPr>
            <a:spLocks noGrp="1"/>
          </p:cNvSpPr>
          <p:nvPr/>
        </p:nvSpPr>
        <p:spPr>
          <a:xfrm>
            <a:off x="457200" y="5029200"/>
            <a:ext cx="1066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Optional preview of supervised-learning vocabulary</a:t>
            </a:r>
          </a:p>
        </p:txBody>
      </p:sp>
      <p:sp>
        <p:nvSpPr>
          <p:cNvPr id="15" name="pre-reading-url-2">
            <a:extLst>
              <a:ext uri="{FF2B5EF4-FFF2-40B4-BE49-F238E27FC236}">
                <a16:creationId xmlns:a16="http://schemas.microsoft.com/office/drawing/2014/main" id="{01E7A136-009D-4BD6-9DD9-00B71EB63788}"/>
              </a:ext>
            </a:extLst>
          </p:cNvPr>
          <p:cNvSpPr>
            <a:spLocks noGrp="1"/>
          </p:cNvSpPr>
          <p:nvPr/>
        </p:nvSpPr>
        <p:spPr>
          <a:xfrm>
            <a:off x="457200" y="56959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https://www.statlearning.com/</a:t>
            </a:r>
          </a:p>
        </p:txBody>
      </p:sp>
      <p:sp>
        <p:nvSpPr>
          <p:cNvPr id="16" name="rule-48-674">
            <a:extLst>
              <a:ext uri="{FF2B5EF4-FFF2-40B4-BE49-F238E27FC236}">
                <a16:creationId xmlns:a16="http://schemas.microsoft.com/office/drawing/2014/main" id="{E1ADAE88-0789-431F-8EBB-C6977B293D04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B8C0C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footer-left">
            <a:extLst>
              <a:ext uri="{FF2B5EF4-FFF2-40B4-BE49-F238E27FC236}">
                <a16:creationId xmlns:a16="http://schemas.microsoft.com/office/drawing/2014/main" id="{715DD651-7B11-488B-A374-84FF846FA8F3}"/>
              </a:ext>
            </a:extLst>
          </p:cNvPr>
          <p:cNvSpPr>
            <a:spLocks noGrp="1"/>
          </p:cNvSpPr>
          <p:nvPr/>
        </p:nvSpPr>
        <p:spPr>
          <a:xfrm>
            <a:off x="457200" y="65151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18" name="footer-right">
            <a:extLst>
              <a:ext uri="{FF2B5EF4-FFF2-40B4-BE49-F238E27FC236}">
                <a16:creationId xmlns:a16="http://schemas.microsoft.com/office/drawing/2014/main" id="{1B4C6C73-5BDD-4AE8-8303-8D4FBD85DB61}"/>
              </a:ext>
            </a:extLst>
          </p:cNvPr>
          <p:cNvSpPr>
            <a:spLocks noGrp="1"/>
          </p:cNvSpPr>
          <p:nvPr/>
        </p:nvSpPr>
        <p:spPr>
          <a:xfrm>
            <a:off x="9163050" y="65151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12</a:t>
            </a:r>
          </a:p>
        </p:txBody>
      </p:sp>
    </p:spTree>
    <p:extLst>
      <p:ext uri="{BB962C8B-B14F-4D97-AF65-F5344CB8AC3E}">
        <p14:creationId xmlns:p14="http://schemas.microsoft.com/office/powerpoint/2010/main" val="7100000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ady-kicker">
            <a:extLst>
              <a:ext uri="{FF2B5EF4-FFF2-40B4-BE49-F238E27FC236}">
                <a16:creationId xmlns:a16="http://schemas.microsoft.com/office/drawing/2014/main" id="{68E2171E-FCED-4530-8B22-D39EF015BF63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PRE-SESSION · READY CHECK</a:t>
            </a:r>
          </a:p>
        </p:txBody>
      </p:sp>
      <p:sp>
        <p:nvSpPr>
          <p:cNvPr id="2" name="ready-title">
            <a:extLst>
              <a:ext uri="{FF2B5EF4-FFF2-40B4-BE49-F238E27FC236}">
                <a16:creationId xmlns:a16="http://schemas.microsoft.com/office/drawing/2014/main" id="{D3BD187F-B02F-43C6-943E-22912EB47DEF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7620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Ready for Session 01?</a:t>
            </a:r>
          </a:p>
        </p:txBody>
      </p:sp>
      <p:sp>
        <p:nvSpPr>
          <p:cNvPr id="3" name="ready-box-0">
            <a:extLst>
              <a:ext uri="{FF2B5EF4-FFF2-40B4-BE49-F238E27FC236}">
                <a16:creationId xmlns:a16="http://schemas.microsoft.com/office/drawing/2014/main" id="{94E88002-2479-4D60-8C9C-F32918316A0E}"/>
              </a:ext>
            </a:extLst>
          </p:cNvPr>
          <p:cNvSpPr>
            <a:spLocks noGrp="1"/>
          </p:cNvSpPr>
          <p:nvPr/>
        </p:nvSpPr>
        <p:spPr>
          <a:xfrm>
            <a:off x="647700" y="2343150"/>
            <a:ext cx="247650" cy="247650"/>
          </a:xfrm>
          <a:prstGeom prst="rect">
            <a:avLst/>
          </a:prstGeom>
          <a:noFill/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ady-item-0">
            <a:extLst>
              <a:ext uri="{FF2B5EF4-FFF2-40B4-BE49-F238E27FC236}">
                <a16:creationId xmlns:a16="http://schemas.microsoft.com/office/drawing/2014/main" id="{E0D9F07D-DD69-4DC4-A3E8-0BCC8153D112}"/>
              </a:ext>
            </a:extLst>
          </p:cNvPr>
          <p:cNvSpPr>
            <a:spLocks noGrp="1"/>
          </p:cNvSpPr>
          <p:nvPr/>
        </p:nvSpPr>
        <p:spPr>
          <a:xfrm>
            <a:off x="1143000" y="2266950"/>
            <a:ext cx="685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Repository on the Desktop</a:t>
            </a:r>
          </a:p>
        </p:txBody>
      </p:sp>
      <p:sp>
        <p:nvSpPr>
          <p:cNvPr id="5" name="ready-box-1">
            <a:extLst>
              <a:ext uri="{FF2B5EF4-FFF2-40B4-BE49-F238E27FC236}">
                <a16:creationId xmlns:a16="http://schemas.microsoft.com/office/drawing/2014/main" id="{CAF8A08A-9B32-4D59-A54A-7806BAD561C3}"/>
              </a:ext>
            </a:extLst>
          </p:cNvPr>
          <p:cNvSpPr>
            <a:spLocks noGrp="1"/>
          </p:cNvSpPr>
          <p:nvPr/>
        </p:nvSpPr>
        <p:spPr>
          <a:xfrm>
            <a:off x="647700" y="3009900"/>
            <a:ext cx="247650" cy="247650"/>
          </a:xfrm>
          <a:prstGeom prst="rect">
            <a:avLst/>
          </a:prstGeom>
          <a:noFill/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ady-item-1">
            <a:extLst>
              <a:ext uri="{FF2B5EF4-FFF2-40B4-BE49-F238E27FC236}">
                <a16:creationId xmlns:a16="http://schemas.microsoft.com/office/drawing/2014/main" id="{B856260F-F827-49A5-AD42-00EA5407FC9F}"/>
              </a:ext>
            </a:extLst>
          </p:cNvPr>
          <p:cNvSpPr>
            <a:spLocks noGrp="1"/>
          </p:cNvSpPr>
          <p:nvPr/>
        </p:nvSpPr>
        <p:spPr>
          <a:xfrm>
            <a:off x="1143000" y="2933700"/>
            <a:ext cx="685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Python .venv selected</a:t>
            </a:r>
          </a:p>
        </p:txBody>
      </p:sp>
      <p:sp>
        <p:nvSpPr>
          <p:cNvPr id="7" name="ready-box-2">
            <a:extLst>
              <a:ext uri="{FF2B5EF4-FFF2-40B4-BE49-F238E27FC236}">
                <a16:creationId xmlns:a16="http://schemas.microsoft.com/office/drawing/2014/main" id="{8DBF62DA-11AD-4073-B35F-1D394235BDDD}"/>
              </a:ext>
            </a:extLst>
          </p:cNvPr>
          <p:cNvSpPr>
            <a:spLocks noGrp="1"/>
          </p:cNvSpPr>
          <p:nvPr/>
        </p:nvSpPr>
        <p:spPr>
          <a:xfrm>
            <a:off x="647700" y="3676650"/>
            <a:ext cx="247650" cy="247650"/>
          </a:xfrm>
          <a:prstGeom prst="rect">
            <a:avLst/>
          </a:prstGeom>
          <a:noFill/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ady-item-2">
            <a:extLst>
              <a:ext uri="{FF2B5EF4-FFF2-40B4-BE49-F238E27FC236}">
                <a16:creationId xmlns:a16="http://schemas.microsoft.com/office/drawing/2014/main" id="{15784610-758C-4B87-BF3D-FD6744B7D9C0}"/>
              </a:ext>
            </a:extLst>
          </p:cNvPr>
          <p:cNvSpPr>
            <a:spLocks noGrp="1"/>
          </p:cNvSpPr>
          <p:nvPr/>
        </p:nvSpPr>
        <p:spPr>
          <a:xfrm>
            <a:off x="1143000" y="3600450"/>
            <a:ext cx="685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Qwen answers with Wi-Fi off</a:t>
            </a:r>
          </a:p>
        </p:txBody>
      </p:sp>
      <p:sp>
        <p:nvSpPr>
          <p:cNvPr id="9" name="ready-box-3">
            <a:extLst>
              <a:ext uri="{FF2B5EF4-FFF2-40B4-BE49-F238E27FC236}">
                <a16:creationId xmlns:a16="http://schemas.microsoft.com/office/drawing/2014/main" id="{DB81172A-6577-4E20-9957-AE66511893D3}"/>
              </a:ext>
            </a:extLst>
          </p:cNvPr>
          <p:cNvSpPr>
            <a:spLocks noGrp="1"/>
          </p:cNvSpPr>
          <p:nvPr/>
        </p:nvSpPr>
        <p:spPr>
          <a:xfrm>
            <a:off x="647700" y="4343400"/>
            <a:ext cx="247650" cy="247650"/>
          </a:xfrm>
          <a:prstGeom prst="rect">
            <a:avLst/>
          </a:prstGeom>
          <a:noFill/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ady-item-3">
            <a:extLst>
              <a:ext uri="{FF2B5EF4-FFF2-40B4-BE49-F238E27FC236}">
                <a16:creationId xmlns:a16="http://schemas.microsoft.com/office/drawing/2014/main" id="{311097EC-B6F3-4DCC-B04F-48791FF7EC7B}"/>
              </a:ext>
            </a:extLst>
          </p:cNvPr>
          <p:cNvSpPr>
            <a:spLocks noGrp="1"/>
          </p:cNvSpPr>
          <p:nvPr/>
        </p:nvSpPr>
        <p:spPr>
          <a:xfrm>
            <a:off x="1143000" y="4267200"/>
            <a:ext cx="685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Europe 2031 annotated</a:t>
            </a:r>
          </a:p>
        </p:txBody>
      </p:sp>
      <p:sp>
        <p:nvSpPr>
          <p:cNvPr id="11" name="ready-box-4">
            <a:extLst>
              <a:ext uri="{FF2B5EF4-FFF2-40B4-BE49-F238E27FC236}">
                <a16:creationId xmlns:a16="http://schemas.microsoft.com/office/drawing/2014/main" id="{A5A914B6-50E6-44CA-A78B-C9D90EA57752}"/>
              </a:ext>
            </a:extLst>
          </p:cNvPr>
          <p:cNvSpPr>
            <a:spLocks noGrp="1"/>
          </p:cNvSpPr>
          <p:nvPr/>
        </p:nvSpPr>
        <p:spPr>
          <a:xfrm>
            <a:off x="647700" y="5010150"/>
            <a:ext cx="247650" cy="247650"/>
          </a:xfrm>
          <a:prstGeom prst="rect">
            <a:avLst/>
          </a:prstGeom>
          <a:noFill/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ady-item-4">
            <a:extLst>
              <a:ext uri="{FF2B5EF4-FFF2-40B4-BE49-F238E27FC236}">
                <a16:creationId xmlns:a16="http://schemas.microsoft.com/office/drawing/2014/main" id="{FA8CFE18-CD82-43E4-8BDF-8CD7F631915C}"/>
              </a:ext>
            </a:extLst>
          </p:cNvPr>
          <p:cNvSpPr>
            <a:spLocks noGrp="1"/>
          </p:cNvSpPr>
          <p:nvPr/>
        </p:nvSpPr>
        <p:spPr>
          <a:xfrm>
            <a:off x="1143000" y="4933950"/>
            <a:ext cx="685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question ready</a:t>
            </a:r>
          </a:p>
        </p:txBody>
      </p:sp>
      <p:sp>
        <p:nvSpPr>
          <p:cNvPr id="13" name="ready-question">
            <a:extLst>
              <a:ext uri="{FF2B5EF4-FFF2-40B4-BE49-F238E27FC236}">
                <a16:creationId xmlns:a16="http://schemas.microsoft.com/office/drawing/2014/main" id="{42513F1C-4CBC-466A-9D14-B5D83C9DDD20}"/>
              </a:ext>
            </a:extLst>
          </p:cNvPr>
          <p:cNvSpPr>
            <a:spLocks noGrp="1"/>
          </p:cNvSpPr>
          <p:nvPr/>
        </p:nvSpPr>
        <p:spPr>
          <a:xfrm>
            <a:off x="8248650" y="2343150"/>
            <a:ext cx="31051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55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Before we model the future, what are we claiming to know?</a:t>
            </a:r>
          </a:p>
        </p:txBody>
      </p:sp>
      <p:sp>
        <p:nvSpPr>
          <p:cNvPr id="14" name="rule-48-674">
            <a:extLst>
              <a:ext uri="{FF2B5EF4-FFF2-40B4-BE49-F238E27FC236}">
                <a16:creationId xmlns:a16="http://schemas.microsoft.com/office/drawing/2014/main" id="{43319D3A-3D0E-4B39-AAC2-1E32E1216A72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46556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footer-left">
            <a:extLst>
              <a:ext uri="{FF2B5EF4-FFF2-40B4-BE49-F238E27FC236}">
                <a16:creationId xmlns:a16="http://schemas.microsoft.com/office/drawing/2014/main" id="{8AC7BB6E-2EB9-4E95-97A0-F44B32382F91}"/>
              </a:ext>
            </a:extLst>
          </p:cNvPr>
          <p:cNvSpPr>
            <a:spLocks noGrp="1"/>
          </p:cNvSpPr>
          <p:nvPr/>
        </p:nvSpPr>
        <p:spPr>
          <a:xfrm>
            <a:off x="457200" y="651510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01</a:t>
            </a:r>
          </a:p>
        </p:txBody>
      </p:sp>
      <p:sp>
        <p:nvSpPr>
          <p:cNvPr id="16" name="footer-right">
            <a:extLst>
              <a:ext uri="{FF2B5EF4-FFF2-40B4-BE49-F238E27FC236}">
                <a16:creationId xmlns:a16="http://schemas.microsoft.com/office/drawing/2014/main" id="{85988D02-EB58-48BF-AC14-71C5878FAE6B}"/>
              </a:ext>
            </a:extLst>
          </p:cNvPr>
          <p:cNvSpPr>
            <a:spLocks noGrp="1"/>
          </p:cNvSpPr>
          <p:nvPr/>
        </p:nvSpPr>
        <p:spPr>
          <a:xfrm>
            <a:off x="9163050" y="65151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Pre-session · 14</a:t>
            </a:r>
          </a:p>
        </p:txBody>
      </p:sp>
    </p:spTree>
    <p:extLst>
      <p:ext uri="{BB962C8B-B14F-4D97-AF65-F5344CB8AC3E}">
        <p14:creationId xmlns:p14="http://schemas.microsoft.com/office/powerpoint/2010/main" val="710000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12700">
          <a:solidFill>
            <a:schemeClr val="phClr">
              <a:shade val="95000"/>
              <a:satMod val="105000"/>
            </a:schemeClr>
          </a:solidFill>
          <a:prstDash val="solid"/>
        </a:ln>
        <a:ln w="33867">
          <a:solidFill>
            <a:schemeClr val="phClr"/>
          </a:solidFill>
          <a:prstDash val="solid"/>
        </a:ln>
        <a:ln w="50800">
          <a:solidFill>
            <a:schemeClr val="phClr"/>
          </a:solidFill>
          <a:prstDash val="solid"/>
        </a:ln>
      </a:lnStyleLst>
      <a:effectStyleLst>
        <a:effectStyle>
          <a:effectLst>
            <a:outerShdw blurRad="53333" dist="26667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53333" dist="30667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3333" dist="30667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12700">
          <a:solidFill>
            <a:schemeClr val="phClr">
              <a:shade val="95000"/>
              <a:satMod val="105000"/>
            </a:schemeClr>
          </a:solidFill>
          <a:prstDash val="solid"/>
        </a:ln>
        <a:ln w="33867">
          <a:solidFill>
            <a:schemeClr val="phClr"/>
          </a:solidFill>
          <a:prstDash val="solid"/>
        </a:ln>
        <a:ln w="50800">
          <a:solidFill>
            <a:schemeClr val="phClr"/>
          </a:solidFill>
          <a:prstDash val="solid"/>
        </a:ln>
      </a:lnStyleLst>
      <a:effectStyleLst>
        <a:effectStyle>
          <a:effectLst>
            <a:outerShdw blurRad="53333" dist="26667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53333" dist="30667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3333" dist="30667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3270</Words>
  <Application>Microsoft Macintosh PowerPoint</Application>
  <DocSecurity>0</DocSecurity>
  <PresentationFormat>Grand écran</PresentationFormat>
  <Paragraphs>356</Paragraphs>
  <Slides>52</Slides>
  <Notes>52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52</vt:i4>
      </vt:variant>
    </vt:vector>
  </HeadingPairs>
  <TitlesOfParts>
    <vt:vector size="59" baseType="lpstr">
      <vt:lpstr>Arial</vt:lpstr>
      <vt:lpstr>Calibri</vt:lpstr>
      <vt:lpstr>Courier</vt:lpstr>
      <vt:lpstr>Helvetica Neue</vt:lpstr>
      <vt:lpstr>Menlo</vt:lpstr>
      <vt:lpstr>Office Theme</vt:lpstr>
      <vt:lpstr>ChatGPT</vt:lpstr>
      <vt:lpstr>Présentation PowerPoint</vt:lpstr>
      <vt:lpstr>Présentation PowerPoint</vt:lpstr>
      <vt:lpstr>What you are walking into</vt:lpstr>
      <vt:lpstr>Three distinctions we will not let go of</vt:lpstr>
      <vt:lpstr>What this session’s pre-work is</vt:lpstr>
      <vt:lpstr>Présentation PowerPoint</vt:lpstr>
      <vt:lpstr>The stack</vt:lpstr>
      <vt:lpstr>What we install, and why</vt:lpstr>
      <vt:lpstr>The principle behind the stack</vt:lpstr>
      <vt:lpstr>Where do I type this?</vt:lpstr>
      <vt:lpstr>Why always the VS Codium terminal</vt:lpstr>
      <vt:lpstr>Before you start</vt:lpstr>
      <vt:lpstr>Step 1 — VS Codium</vt:lpstr>
      <vt:lpstr>Install VS Codium</vt:lpstr>
      <vt:lpstr>Meet the two panels you will live in</vt:lpstr>
      <vt:lpstr>Step 2 — Extensions</vt:lpstr>
      <vt:lpstr>Présentation PowerPoint</vt:lpstr>
      <vt:lpstr>Step 3 — The course materials</vt:lpstr>
      <vt:lpstr>Get the course folder</vt:lpstr>
      <vt:lpstr>Open it in VS Codium</vt:lpstr>
      <vt:lpstr>In Session 2 you will do this properly</vt:lpstr>
      <vt:lpstr>Step 4 — Python</vt:lpstr>
      <vt:lpstr>Install Python</vt:lpstr>
      <vt:lpstr>Check Python is there</vt:lpstr>
      <vt:lpstr>Create the environment</vt:lpstr>
      <vt:lpstr>Activate it</vt:lpstr>
      <vt:lpstr>Install the packages</vt:lpstr>
      <vt:lpstr>Step 5 — Ollama and Qwen</vt:lpstr>
      <vt:lpstr>Install Ollama</vt:lpstr>
      <vt:lpstr>Check Ollama is there</vt:lpstr>
      <vt:lpstr>Pull Qwen 2.5 Coder</vt:lpstr>
      <vt:lpstr>Présentation PowerPoint</vt:lpstr>
      <vt:lpstr>Verify the model</vt:lpstr>
      <vt:lpstr>Step 6 — The CLI agent</vt:lpstr>
      <vt:lpstr>Talking to Qwen from the terminal</vt:lpstr>
      <vt:lpstr>Install aider</vt:lpstr>
      <vt:lpstr>Point aider at Ollama</vt:lpstr>
      <vt:lpstr>Give Ollama a real context window</vt:lpstr>
      <vt:lpstr>Run the agent</vt:lpstr>
      <vt:lpstr>Ask it for something</vt:lpstr>
      <vt:lpstr>The worked example</vt:lpstr>
      <vt:lpstr>Two terminals</vt:lpstr>
      <vt:lpstr>Ask for something real</vt:lpstr>
      <vt:lpstr>What just happened</vt:lpstr>
      <vt:lpstr>Why we do it this way</vt:lpstr>
      <vt:lpstr>If it breaks</vt:lpstr>
      <vt:lpstr>Troubleshooting</vt:lpstr>
      <vt:lpstr>Présentation PowerPoint</vt:lpstr>
      <vt:lpstr>The last check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Thierry Warin</dc:creator>
  <cp:lastModifiedBy>Thierry Warin</cp:lastModifiedBy>
  <cp:revision>1</cp:revision>
  <dcterms:created xsi:type="dcterms:W3CDTF">2026-08-23T22:48:03Z</dcterms:created>
  <dcterms:modified xsi:type="dcterms:W3CDTF">2026-08-24T13:33:53Z</dcterms:modified>
</cp:coreProperties>
</file>