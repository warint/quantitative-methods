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the-supervised-learning-problem.m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the-supervised-learning-problem.md" TargetMode="External" /><Relationship Id="rId3" Type="http://schemas.openxmlformats.org/officeDocument/2006/relationships/hyperlink" Target="setup-vscodium-local-llm.md" TargetMode="External" /><Relationship Id="rId4" Type="http://schemas.openxmlformats.org/officeDocument/2006/relationships/hyperlink" Target="../../02-geometry-of-least-squares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Supervised Learning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01 pre-session · what Session 02 assumes you have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can a number about the past be used to make a claim about the future?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this before Session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01 spends both halves on the syllabus and on </a:t>
            </a:r>
            <a:r>
              <a:rPr i="1"/>
              <a:t>Europe 2031</a:t>
            </a:r>
            <a:r>
              <a:rPr/>
              <a:t>. So the mathematics of the course starts </a:t>
            </a:r>
            <a:r>
              <a:rPr b="1"/>
              <a:t>here</a:t>
            </a:r>
            <a:r>
              <a:rPr/>
              <a:t>, at your desk, before the first class.</a:t>
            </a:r>
          </a:p>
          <a:p>
            <a:pPr lvl="0"/>
            <a:r>
              <a:rPr/>
              <a:t>Four ideas, forty minutes</a:t>
            </a:r>
          </a:p>
          <a:p>
            <a:pPr lvl="0"/>
            <a:r>
              <a:rPr/>
              <a:t>Everything from Session 02 to Session 11 is built on them</a:t>
            </a:r>
          </a:p>
          <a:p>
            <a:pPr lvl="0"/>
            <a:r>
              <a:rPr b="1"/>
              <a:t>Part A of the midterm examines this page directly</a:t>
            </a:r>
          </a:p>
          <a:p>
            <a:pPr lvl="0" indent="0" marL="0">
              <a:buNone/>
            </a:pPr>
            <a:r>
              <a:rPr/>
              <a:t>These slides follow the reading </a:t>
            </a:r>
            <a:r>
              <a:rPr>
                <a:hlinkClick r:id="rId2"/>
                <a:latin typeface="Courier"/>
              </a:rPr>
              <a:t>the-supervised-learning-problem.md</a:t>
            </a:r>
            <a:r>
              <a:rPr/>
              <a:t> section by section. Same numbering, same notation.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problem, stated once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 and risk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best predictor there 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irreducible error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prediction and inference pull apart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0.1 · The problem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Stated once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You observe pairs </a:t></a:r><a14:m><m:oMath xmlns:m="http://schemas.openxmlformats.org/officeDocument/2006/math"><m:d><m:dPr><m:begChr m:val="(" /><m:sepChr m:val="" /><m:endChr m:val=")" /><m:grow /></m:dPr><m:e><m:sSub><m:e><m:r><m:t>x</m:t></m:r></m:e><m:sub><m:r><m:t>i</m:t></m:r></m:sub></m:sSub><m:r><m:rPr><m:sty m:val="p" /></m:rPr><m:t>,</m:t></m:r><m:sSub><m:e><m:r><m:t>y</m:t></m:r></m:e><m:sub><m:r><m:t>i</m:t></m:r></m:sub></m:sSub></m:e></m:d></m:oMath></a14:m><a:r><a:rPr /><a:t>. You believe they were produced by</a:t></a:r></a:p><a:p><a:pPr lvl="0" indent="0" marL="0"><a:buNone /></a:pPr><a14:m><m:oMathPara xmlns:m="http://schemas.openxmlformats.org/officeDocument/2006/math"><m:oMathParaPr><m:jc m:val="center" /></m:oMathParaPr><m:oMath><m:r><m:t>Y</m:t></m:r><m:r><m:rPr><m:sty m:val="p" /></m:rPr><m:t>=</m:t></m:r><m:r><m:t>f</m:t></m:r><m:d><m:dPr><m:begChr m:val="(" /><m:sepChr m:val="" /><m:endChr m:val=")" /><m:grow /></m:dPr><m:e><m:r><m:t>X</m:t></m:r></m:e></m:d><m:r><m:rPr><m:sty m:val="p" /></m:rPr><m:t>+</m:t></m:r><m:r><m:t>ε</m:t></m:r><m:r><m:rPr><m:sty m:val="p" /></m:rPr><m:t>,</m:t></m:r><m:r><m:t>  </m:t></m:r><m:r><m:rPr><m:sty m:val="p" /><m:scr m:val="double-struck" /></m:rPr><m:t>E</m:t></m:r><m:d><m:dPr><m:begChr m:val="[" /><m:sepChr m:val="" /><m:endChr m:val="]" /><m:grow /></m:dPr><m:e><m:r><m:t>ε</m:t></m:r><m:r><m:rPr><m:sty m:val="p" /></m:rPr><m:t>∣</m:t></m:r><m:r><m:t>X</m:t></m:r></m:e></m:d><m:r><m:rPr><m:sty m:val="p" /></m:rPr><m:t>=</m:t></m:r><m:r><m:t>0</m:t></m:r><m:r><m:rPr><m:sty m:val="p" /></m:rPr><m:t>,</m:t></m:r><m:r><m:t>  </m:t></m:r><m:r><m:rPr><m:sty m:val="p" /></m:rPr><m:t>V</m:t></m:r><m:r><m:rPr><m:sty m:val="p" /></m:rPr><m:t>a</m:t></m:r><m:r><m:rPr><m:sty m:val="p" /></m:rPr><m:t>r</m:t></m:r><m:d><m:dPr><m:begChr m:val="(" /><m:sepChr m:val="" /><m:endChr m:val=")" /><m:grow /></m:dPr><m:e><m:r><m:t>ε</m:t></m:r></m:e></m:d><m:r><m:rPr><m:sty m:val="p" /></m:rPr><m:t>=</m:t></m:r><m:sSup><m:e><m:r><m:t>σ</m:t></m:r></m:e><m:sup><m:r><m:t>2</m:t></m:r></m:sup></m:sSup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0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14:m><m:oMath xmlns:m="http://schemas.openxmlformats.org/officeDocument/2006/math"><m:r><m:t>f</m:t></m:r></m:oMath></a14:m></a:p></a:txBody></a:tc><a:tc><a:txBody><a:bodyPr /><a:lstStyle /><a:p><a:pPr lvl="0" indent="0" marL="0"><a:buNone /></a:pPr><a:r><a:rPr /><a:t>the </a:t></a:r><a:r><a:rPr b="1" /><a:t>systematic</a:t></a:r><a:r><a:rPr /><a:t> part</a:t></a:r></a:p></a:txBody></a:tc><a:tc><a:txBody><a:bodyPr /><a:lstStyle /><a:p><a:pPr lvl="0" indent="0" marL="0"><a:buNone /></a:pPr><a:r><a:rPr /><a:t>fixed, unknown — the thing you want</a:t></a:r></a:p></a:txBody></a:tc></a:tr><a:tr h="0"><a:tc><a:txBody><a:bodyPr /><a:lstStyle /><a:p><a:pPr lvl="0" indent="0" marL="0"><a:buNone /></a:pPr><a14:m><m:oMath xmlns:m="http://schemas.openxmlformats.org/officeDocument/2006/math"><m:r><m:t>ε</m:t></m:r></m:oMath></a14:m></a:p></a:txBody></a:tc><a:tc><a:txBody><a:bodyPr /><a:lstStyle /><a:p><a:pPr lvl="0" indent="0" marL="0"><a:buNone /></a:pPr><a:r><a:rPr /><a:t>the </a:t></a:r><a:r><a:rPr b="1" /><a:t>noise</a:t></a:r></a:p></a:txBody></a:tc><a:tc><a:txBody><a:bodyPr /><a:lstStyle /><a:p><a:pPr lvl="0" indent="0" marL="0"><a:buNone /></a:pPr><a:r><a:rPr /><a:t>everything driving </a:t></a:r><a14:m><m:oMath xmlns:m="http://schemas.openxmlformats.org/officeDocument/2006/math"><m:r><m:t>Y</m:t></m:r></m:oMath></a14:m><a:r><a:rPr /><a:t> that </a:t></a:r><a14:m><m:oMath xmlns:m="http://schemas.openxmlformats.org/officeDocument/2006/math"><m:r><m:t>X</m:t></m:r></m:oMath></a14:m><a:r><a:rPr /><a:t> does not observe</a:t></a:r></a:p></a:txBody></a:tc></a:tr><a:tr h="0"><a:tc><a:txBody><a:bodyPr /><a:lstStyle /><a:p><a:pPr lvl="0" indent="0" marL="0"><a:buNone /></a:pPr><a14:m><m:oMath xmlns:m="http://schemas.openxmlformats.org/officeDocument/2006/math"><m:acc><m:accPr><m:chr m:val="̂" /></m:accPr><m:e><m:r><m:t>f</m:t></m:r></m:e></m:acc></m:oMath></a14:m></a:p></a:txBody></a:tc><a:tc><a:txBody><a:bodyPr /><a:lstStyle /><a:p><a:pPr lvl="0" indent="0" marL="0"><a:buNone /></a:pPr><a:r><a:rPr /><a:t>your </a:t></a:r><a:r><a:rPr b="1" /><a:t>estimate</a:t></a:r></a:p></a:txBody></a:tc><a:tc><a:txBody><a:bodyPr /><a:lstStyle /><a:p><a:pPr lvl="0" indent="0" marL="0"><a:buNone /></a:pPr><a:r><a:rPr /><a:t>built from data, and therefore </a:t></a:r><a:r><a:rPr b="1" /><a:t>random</a:t></a:r></a:p></a:txBody></a:tc></a:tr></a:tbl></a:graphicData></a:graphic></p:graphicFrame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distinction that trips people 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is </a:t>
                </a:r>
                <a:r>
                  <a:rPr b="1"/>
                  <a:t>fixed and unknown</a:t>
                </a:r>
                <a:r>
                  <a:rPr/>
                  <a:t>.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f</m:t>
                        </m:r>
                      </m:e>
                    </m:acc>
                  </m:oMath>
                </a14:m>
                <a:r>
                  <a:rPr/>
                  <a:t> is </a:t>
                </a:r>
                <a:r>
                  <a:rPr b="1"/>
                  <a:t>known and random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Every confidence interval in this course is a statement about the second, made in order to say something about the first.</a:t>
                </a:r>
              </a:p>
              <a:p>
                <a:pPr lvl="0" indent="0" marL="0">
                  <a:buNone/>
                </a:pPr>
                <a:r>
                  <a:rPr/>
                  <a:t>If that sentence feels like a technicality now, it will not by Session 03.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Three samples, three different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f</m:t>
                        </m:r>
                      </m:e>
                    </m:acc>
                  </m:oMath>
                </a14:m>
              </a:p>
            </p:txBody>
          </p:sp>
        </mc:Choice>
      </mc:AlternateContent>
      <p:pic>
        <p:nvPicPr>
          <p:cNvPr descr="slides-foundations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74800"/>
            <a:ext cx="82296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dashed line is </a:t>
                </a:r>
                <a:r>
                  <a:rPr b="1"/>
                  <a:t>the same in all three panels</a:t>
                </a:r>
                <a:r>
                  <a:rPr/>
                  <a:t> — that is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. The blue line changes every time — that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f</m:t>
                        </m:r>
                      </m:e>
                    </m:acc>
                  </m:oMath>
                </a14:m>
                <a:r>
                  <a:rPr/>
                  <a:t>. Nothing about the world changed; only the sample did.</a:t>
                </a:r>
              </a:p>
            </p:txBody>
          </p:sp>
        </mc:Choice>
      </mc:AlternateContent>
    </p:spTree>
  </p:cSld>
</p:sld>
</file>

<file path=ppt/slides/slide1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mc:AlternateContent xmlns:mc="http://schemas.openxmlformats.org/markup-compatibility/2006"><mc:Choice xmlns:a14="http://schemas.microsoft.com/office/drawing/2010/main" Requires="a14"><p:sp><p:nvSpPr><p:cNvPr id="2" name="Title 1" /><p:cNvSpPr><a:spLocks noGrp="1" /></p:cNvSpPr><p:nvPr><p:ph type="title" /></p:nvPr></p:nvSpPr><p:spPr /><p:txBody><a:bodyPr /><a:lstStyle /><a:p><a:pPr lvl="0" indent="0" marL="0"><a:buNone /></a:pPr><a:r><a:rPr /><a:t>Two reasons to want </a:t></a:r><a14:m><m:oMath xmlns:m="http://schemas.openxmlformats.org/officeDocument/2006/math"><m:acc><m:accPr><m:chr m:val="̂" /></m:accPr><m:e><m:r><m:t>f</m:t></m:r></m:e></m:acc></m:oMath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endParaRPr /></a:p></a:txBody><a:tcPr /></a:tc><a:tc><a:txBody><a:bodyPr /><a:lstStyle /><a:p><a:pPr lvl="0" indent="0" marL="0"><a:buNone /></a:pPr><a:r><a:rPr /><a:t>Prediction</a:t></a:r></a:p></a:txBody><a:tcPr /></a:tc><a:tc><a:txBody><a:bodyPr /><a:lstStyle /><a:p><a:pPr lvl="0" indent="0" marL="0"><a:buNone /></a:pPr><a:r><a:rPr /><a:t>Inference</a:t></a:r></a:p></a:txBody><a:tcPr /></a:tc></a:tr><a:tr h="0"><a:tc><a:txBody><a:bodyPr /><a:lstStyle /><a:p><a:pPr lvl="0" indent="0" marL="0"><a:buNone /></a:pPr><a:r><a:rPr b="1" /><a:t>You want</a:t></a:r></a:p></a:txBody></a:tc><a:tc><a:txBody><a:bodyPr /><a:lstStyle /><a:p><a:pPr lvl="0" indent="0" marL="0"><a:buNone /></a:pPr><a14:m><m:oMath xmlns:m="http://schemas.openxmlformats.org/officeDocument/2006/math"><m:acc><m:accPr><m:chr m:val="̂" /></m:accPr><m:e><m:r><m:t>f</m:t></m:r></m:e></m:acc><m:d><m:dPr><m:begChr m:val="(" /><m:sepChr m:val="" /><m:endChr m:val=")" /><m:grow /></m:dPr><m:e><m:r><m:t>x</m:t></m:r></m:e></m:d></m:oMath></a14:m><a:r><a:rPr /><a:t> close to </a:t></a:r><a14:m><m:oMath xmlns:m="http://schemas.openxmlformats.org/officeDocument/2006/math"><m:r><m:t>y</m:t></m:r></m:oMath></a14:m><a:r><a:rPr /><a:t> for new </a:t></a:r><a14:m><m:oMath xmlns:m="http://schemas.openxmlformats.org/officeDocument/2006/math"><m:r><m:t>x</m:t></m:r></m:oMath></a14:m></a:p></a:txBody></a:tc><a:tc><a:txBody><a:bodyPr /><a:lstStyle /><a:p><a:pPr lvl="0" indent="0" marL="0"><a:buNone /></a:pPr><a:r><a:rPr /><a:t>to know </a:t></a:r><a:r><a:rPr i="1" /><a:t>how</a:t></a:r><a:r><a:rPr /><a:t> </a:t></a:r><a14:m><m:oMath xmlns:m="http://schemas.openxmlformats.org/officeDocument/2006/math"><m:r><m:t>Y</m:t></m:r></m:oMath></a14:m><a:r><a:rPr /><a:t> depends on </a:t></a:r><a14:m><m:oMath xmlns:m="http://schemas.openxmlformats.org/officeDocument/2006/math"><m:r><m:t>X</m:t></m:r></m:oMath></a14:m></a:p></a:txBody></a:tc></a:tr><a:tr h="0"><a:tc><a:txBody><a:bodyPr /><a:lstStyle /><a:p><a:pPr lvl="0" indent="0" marL="0"><a:buNone /></a:pPr><a:r><a:rPr b="1" /><a:t>A black box is</a:t></a:r></a:p></a:txBody></a:tc><a:tc><a:txBody><a:bodyPr /><a:lstStyle /><a:p><a:pPr lvl="0" indent="0" marL="0"><a:buNone /></a:pPr><a:r><a:rPr /><a:t>a success, if it predicts</a:t></a:r></a:p></a:txBody></a:tc><a:tc><a:txBody><a:bodyPr /><a:lstStyle /><a:p><a:pPr lvl="0" indent="0" marL="0"><a:buNone /></a:pPr><a:r><a:rPr /><a:t>a failure, even if it predicts</a:t></a:r></a:p></a:txBody></a:tc></a:tr></a:tbl></a:graphicData></a:graphic></p:graphicFrame></p:spTree></p:cSld>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Sessions 02–03 are </a:t>
            </a:r>
            <a:r>
              <a:rPr b="1"/>
              <a:t>inference</a:t>
            </a:r>
            <a:r>
              <a:rPr/>
              <a:t>. Sessions 04–09 are </a:t>
            </a:r>
            <a:r>
              <a:rPr b="1"/>
              <a:t>prediction</a:t>
            </a:r>
            <a:r>
              <a:rPr/>
              <a:t>. Session 10 is what happens when you need a third thing — </a:t>
            </a:r>
            <a:r>
              <a:rPr b="1"/>
              <a:t>causation</a:t>
            </a:r>
            <a:r>
              <a:rPr/>
              <a:t> — and find that neither of the first two supplies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0.2 · Loss and risk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say what a mistake costs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loss function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</m:d>
                  </m:oMath>
                </a14:m>
                <a:r>
                  <a:rPr/>
                  <a:t> prices a single mistake.</a:t>
                </a:r>
              </a:p>
            </p:txBody>
          </p:sp>
        </mc:Choice>
      </mc:AlternateContent>
      <p:pic>
        <p:nvPicPr>
          <p:cNvPr descr="slides-foundations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Squared loss punishes one big error more than several small ones. Log loss punishes </a:t>
            </a:r>
            <a:r>
              <a:rPr b="1"/>
              <a:t>confident and wrong</a:t>
            </a:r>
            <a:r>
              <a:rPr/>
              <a:t> without limit — which is why it, not accuracy, trains a classifier.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is loss over the population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g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Read the expectation carefully. It averages over </a:t>
                </a:r>
                <a:r>
                  <a:rPr b="1"/>
                  <a:t>new</a:t>
                </a:r>
                <a:r>
                  <a:rPr/>
                  <a:t> draws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 — including draws you have never seen and never will.</a:t>
                </a:r>
              </a:p>
              <a:p>
                <a:pPr lvl="0" indent="0" marL="0">
                  <a:buNone/>
                </a:pPr>
                <a:r>
                  <a:rPr/>
                  <a:t>That is what makes risk the quantity you </a:t>
                </a:r>
                <a:r>
                  <a:rPr b="1"/>
                  <a:t>care about</a:t>
                </a:r>
                <a:r>
                  <a:rPr/>
                  <a:t> and the sample average the quantity you can </a:t>
                </a:r>
                <a:r>
                  <a:rPr b="1"/>
                  <a:t>compute</a:t>
                </a:r>
                <a:r>
                  <a:rPr/>
                  <a:t>. The gap between them is the entire subject of Session 04.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 the gap</a:t>
            </a:r>
          </a:p>
        </p:txBody>
      </p:sp>
      <p:pic>
        <p:nvPicPr>
          <p:cNvPr descr="slides-foundations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" y="1193800"/>
            <a:ext cx="7975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green histogram sits </a:t>
                </a:r>
                <a:r>
                  <a:rPr b="1"/>
                  <a:t>below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The red one sits far above it. They are the same models, scored two different ways.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0.3 · The best predictor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Suppose you knew everything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Suppose you knew the entire joint distribution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 — no estimation, no sample, perfect knowledge. What would you predict?</a:t>
                </a:r>
              </a:p>
              <a:p>
                <a:pPr lvl="0" indent="0" marL="0">
                  <a:buNone/>
                </a:pPr>
                <a:r>
                  <a:rPr/>
                  <a:t>Under squared-error loss, the </a:t>
                </a:r>
                <a:r>
                  <a:rPr b="1"/>
                  <a:t>conditional expectation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⋆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Not a convention, not a convenience. It falls out of three lines of algebra.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derivation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Take any competing predictor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, and add and subtract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inside the square: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g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  <m:limLow>
                            <m:e>
                              <m:limLow>
                                <m:e>
                                  <m: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rPr>
                                      <m:sty m:val="p"/>
                                      <m:scr m:val="double-struck"/>
                                    </m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sepChr m:val=""/>
                                      <m:endChr m:val="]"/>
                                      <m:grow/>
                                    </m:dPr>
                                    <m:e>
                                      <m:r>
                                        <m:t>Y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∣</m:t>
                                      </m:r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m:t>noise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m:t>+</m:t>
                          </m:r>
                          <m:limLow>
                            <m:e>
                              <m:limLow>
                                <m:e>
                                  <m:r>
                                    <m:rPr>
                                      <m:sty m:val="p"/>
                                      <m:scr m:val="double-struck"/>
                                    </m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sepChr m:val=""/>
                                      <m:endChr m:val="]"/>
                                      <m:grow/>
                                    </m:dPr>
                                    <m:e>
                                      <m:r>
                                        <m:t>Y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∣</m:t>
                                      </m:r>
                                      <m:r>
                                        <m:t>X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g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m:t>your error</m:t>
                              </m:r>
                            </m:lim>
                          </m:limLow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cross term vanishes, because conditioning on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first: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m:t>E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</m:dPr>
                                <m:e>
                                  <m: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m:t>∣</m:t>
                                  </m:r>
                                  <m: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  <m:limLow>
                            <m:e>
                              <m:limLow>
                                <m:e>
                                  <m:r>
                                    <m:rPr>
                                      <m:sty m:val="p"/>
                                      <m:scr m:val="double-struck"/>
                                    </m:rPr>
                                    <m:t>E</m:t>
                                  </m:r>
                                  <m:r>
                                    <m:rPr>
                                      <m:sty m:val="p"/>
                                    </m:rPr>
                                    <m:t>[</m:t>
                                  </m:r>
                                  <m: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rPr>
                                      <m:sty m:val="p"/>
                                      <m:scr m:val="double-struck"/>
                                    </m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sepChr m:val=""/>
                                      <m:endChr m:val="]"/>
                                      <m:grow/>
                                    </m:dPr>
                                    <m:e>
                                      <m:r>
                                        <m:t>Y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∣</m:t>
                                      </m:r>
                                      <m:r>
                                        <m:t>X</m:t>
                                      </m:r>
                                    </m:e>
                                  </m:d>
                                  <m:r>
                                    <m:t> </m:t>
                                  </m:r>
                                  <m:d>
                                    <m:dPr>
                                      <m:begChr m:val="|"/>
                                      <m:sepChr m:val=""/>
                                      <m:endChr m:val="]"/>
                                      <m:grow/>
                                    </m:dPr>
                                    <m:e>
                                      <m:r>
                                        <m:t> </m:t>
                                      </m:r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 </m:t>
                              </m:r>
                              <m:r>
                                <m:t>0</m:t>
                              </m:r>
                            </m:lim>
                          </m:limLow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left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g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rPr>
                                      <m:sty m:val="p"/>
                                      <m:scr m:val="double-struck"/>
                                    </m:rPr>
                                    <m:t>E</m:t>
                                  </m:r>
                                  <m:d>
                                    <m:dPr>
                                      <m:begChr m:val="["/>
                                      <m:sepChr m:val=""/>
                                      <m:endChr m:val="]"/>
                                      <m:grow/>
                                    </m:dPr>
                                    <m:e>
                                      <m:r>
                                        <m:t>Y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∣</m:t>
                                      </m:r>
                                      <m:r>
                                        <m:t>X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g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first</a:t>
                </a:r>
                <a:r>
                  <a:rPr/>
                  <a:t> term does not depend on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at all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second</a:t>
                </a:r>
                <a:r>
                  <a:rPr/>
                  <a:t> is a squared quantity, so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/>
                  <a:t>It is zero </a:t>
                </a:r>
                <a:r>
                  <a:rPr b="1"/>
                  <a:t>exactly</a:t>
                </a:r>
                <a:r>
                  <a:rPr/>
                  <a:t> when </a:t>
                </a:r>
                <a14:m>
                  <m:oMath xmlns:m="http://schemas.openxmlformats.org/officeDocument/2006/math">
                    <m:r>
                      <m:t>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x</m:t>
                        </m:r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/>
                  <a:t>Therefore no predictor — however clever, however flexible, however much data it saw — can achieve a squared-error risk below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And the conditional expectation achieves it.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See it at a single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</p:txBody>
          </p:sp>
        </mc:Choice>
      </mc:AlternateContent>
      <p:pic>
        <p:nvPicPr>
          <p:cNvPr descr="slides-foundations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parabola with its minimum at the conditional mean, and a floor it never touches. </a:t>
                </a:r>
                <a:r>
                  <a:rPr b="1"/>
                  <a:t>That floor is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and the right-hand panel is the whole of §0.3 in one picture.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 classification: the Bayes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Under 0–1 loss the same argument gives: predict the </a:t>
                </a:r>
                <a:r>
                  <a:rPr b="1"/>
                  <a:t>most probable class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⋆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k</m:t>
                          </m:r>
                        </m:lim>
                      </m:limLow>
                      <m:r>
                        <m:t> 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nor/>
                          <m:sty m:val="p"/>
                        </m:rPr>
                        <m:t>Bayes error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max</m:t>
                              </m:r>
                            </m:e>
                            <m:lim>
                              <m:r>
                                <m:t>k</m:t>
                              </m:r>
                            </m:lim>
                          </m:limLow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∣</m:t>
                              </m:r>
                              <m:r>
                                <m:t>X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pic>
        <p:nvPicPr>
          <p:cNvPr descr="slides-foundations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08100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shaded overlap is irreducible: where the two classes genuinely coincide, </a:t>
            </a:r>
            <a:r>
              <a:rPr b="1"/>
              <a:t>no</a:t>
            </a:r>
            <a:r>
              <a:rPr/>
              <a:t> rule separates them. Session 06 is about where to put that line when the two errors cost different amounts.</a:t>
            </a:r>
          </a:p>
        </p:txBody>
      </p:sp>
    </p:spTree>
  </p:cSld>
</p:sld>
</file>

<file path=ppt/slides/slide2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So what is every method in this course?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Session</a:t></a:r></a:p></a:txBody><a:tcPr /></a:tc><a:tc><a:txBody><a:bodyPr /><a:lstStyle /><a:p><a:pPr lvl="0" indent="0" marL="0"><a:buNone /></a:pPr><a:r><a:rPr /><a:t>How it approximates </a:t></a:r><a14:m><m:oMath xmlns:m="http://schemas.openxmlformats.org/officeDocument/2006/math"><m:r><m:rPr><m:sty m:val="p" /><m:scr m:val="double-struck" /></m:rPr><m:t>E</m:t></m:r><m:d><m:dPr><m:begChr m:val="[" /><m:sepChr m:val="" /><m:endChr m:val="]" /><m:grow /></m:dPr><m:e><m:r><m:t>Y</m:t></m:r><m:r><m:rPr><m:sty m:val="p" /></m:rPr><m:t>∣</m:t></m:r><m:r><m:t>X</m:t></m:r></m:e></m:d></m:oMath></a14:m></a:p></a:txBody><a:tcPr /></a:tc></a:tr><a:tr h="0"><a:tc><a:txBody><a:bodyPr /><a:lstStyle /><a:p><a:pPr lvl="0" indent="0" marL="0"><a:buNone /></a:pPr><a:r><a:rPr b="1" /><a:t>02–03</a:t></a:r></a:p></a:txBody></a:tc><a:tc><a:txBody><a:bodyPr /><a:lstStyle /><a:p><a:pPr lvl="0" indent="0" marL="0"><a:buNone /></a:pPr><a:r><a:rPr /><a:t>assume it is linear in </a:t></a:r><a14:m><m:oMath xmlns:m="http://schemas.openxmlformats.org/officeDocument/2006/math"><m:r><m:t>X</m:t></m:r></m:oMath></a14:m><a:r><a:rPr /><a:t>, estimate the coefficients</a:t></a:r></a:p></a:txBody></a:tc></a:tr><a:tr h="0"><a:tc><a:txBody><a:bodyPr /><a:lstStyle /><a:p><a:pPr lvl="0" indent="0" marL="0"><a:buNone /></a:pPr><a:r><a:rPr b="1" /><a:t>05</a:t></a:r></a:p></a:txBody></a:tc><a:tc><a:txBody><a:bodyPr /><a:lstStyle /><a:p><a:pPr lvl="0" indent="0" marL="0"><a:buNone /></a:pPr><a:r><a:rPr /><a:t>assume it is linear and </a:t></a:r><a:r><a:rPr b="1" /><a:t>sparse</a:t></a:r><a:r><a:rPr /><a:t>, and penalise</a:t></a:r></a:p></a:txBody></a:tc></a:tr><a:tr h="0"><a:tc><a:txBody><a:bodyPr /><a:lstStyle /><a:p><a:pPr lvl="0" indent="0" marL="0"><a:buNone /></a:pPr><a:r><a:rPr b="1" /><a:t>06</a:t></a:r></a:p></a:txBody></a:tc><a:tc><a:txBody><a:bodyPr /><a:lstStyle /><a:p><a:pPr lvl="0" indent="0" marL="0"><a:buNone /></a:pPr><a:r><a:rPr /><a:t>model </a:t></a:r><a14:m><m:oMath xmlns:m="http://schemas.openxmlformats.org/officeDocument/2006/math"><m:r><m:t>P</m:t></m:r><m:d><m:dPr><m:begChr m:val="(" /><m:sepChr m:val="" /><m:endChr m:val=")" /><m:grow /></m:dPr><m:e><m:r><m:t>Y</m:t></m:r><m:r><m:rPr><m:sty m:val="p" /></m:rPr><m:t>=</m:t></m:r><m:r><m:t>1</m:t></m:r><m:r><m:rPr><m:sty m:val="p" /></m:rPr><m:t>∣</m:t></m:r><m:r><m:t>X</m:t></m:r></m:e></m:d></m:oMath></a14:m><a:r><a:rPr /><a:t> through a logistic link</a:t></a:r></a:p></a:txBody></a:tc></a:tr><a:tr h="0"><a:tc><a:txBody><a:bodyPr /><a:lstStyle /><a:p><a:pPr lvl="0" indent="0" marL="0"><a:buNone /></a:pPr><a:r><a:rPr b="1" /><a:t>07</a:t></a:r></a:p></a:txBody></a:tc><a:tc><a:txBody><a:bodyPr /><a:lstStyle /><a:p><a:pPr lvl="0" indent="0" marL="0"><a:buNone /></a:pPr><a:r><a:rPr /><a:t>approximate it by a </a:t></a:r><a:r><a:rPr b="1" /><a:t>piecewise constant</a:t></a:r><a:r><a:rPr /><a:t> function on a learned partition</a:t></a:r></a:p></a:txBody></a:tc></a:tr><a:tr h="0"><a:tc><a:txBody><a:bodyPr /><a:lstStyle /><a:p><a:pPr lvl="0" indent="0" marL="0"><a:buNone /></a:pPr><a:r><a:rPr b="1" /><a:t>08</a:t></a:r></a:p></a:txBody></a:tc><a:tc><a:txBody><a:bodyPr /><a:lstStyle /><a:p><a:pPr lvl="0" indent="0" marL="0"><a:buNone /></a:pPr><a:r><a:rPr /><a:t>approximate </a:t></a:r><a14:m><m:oMath xmlns:m="http://schemas.openxmlformats.org/officeDocument/2006/math"><m:r><m:t>X</m:t></m:r></m:oMath></a14:m><a:r><a:rPr /><a:t> itself first, by a few factors</a:t></a:r></a:p></a:txBody></a:tc></a:tr></a:tbl></a:graphicData></a:graphic></p:graphicFrame></p:spTree></p:cSld>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Eleven weeks, one target. The methods differ only in what they are willing to assume about its shape.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0.4 · The irreducible error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What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is, and is not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It survives the optimal predictor with perfect knowledge of the distribution. So it is </a:t>
                </a:r>
                <a:r>
                  <a:rPr b="1"/>
                  <a:t>not a defect of your method</a:t>
                </a:r>
                <a:r>
                  <a:rPr/>
                  <a:t> — it is a statement about your </a:t>
                </a:r>
                <a:r>
                  <a:rPr b="1"/>
                  <a:t>variables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unmeasured determinants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a:p>
              <a:p>
                <a:pPr lvl="0"/>
                <a:r>
                  <a:rPr/>
                  <a:t>genuine randomness</a:t>
                </a:r>
              </a:p>
              <a:p>
                <a:pPr lvl="0"/>
                <a:r>
                  <a:rPr/>
                  <a:t>measurement error in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i="1"/>
                  <a:t>Irreducible</a:t>
                </a:r>
                <a:r>
                  <a:rPr/>
                  <a:t> means irreducible </a:t>
                </a:r>
                <a:r>
                  <a:rPr b="1"/>
                  <a:t>by any method</a:t>
                </a:r>
                <a:r>
                  <a:rPr/>
                  <a:t>. It does not mean irreducible by any </a:t>
                </a:r>
                <a:r>
                  <a:rPr b="1"/>
                  <a:t>dataset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consequences you will use all term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There is a ceiling, and you do not know where it is.</a:t>
                </a:r>
                <a:r>
                  <a:rPr/>
                  <a:t> An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of 0.30 may be excellent or dreadful; nothing in the output tells you which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You lower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 b="1"/>
                  <a:t> only by measuring more things</a:t>
                </a:r>
                <a:r>
                  <a:rPr/>
                  <a:t> — better data, not better algorithms. This is why Session 08’s answer to “more series” is the opposite of Session 05’s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 validation error below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 b="1"/>
                  <a:t> is impossible.</a:t>
                </a:r>
                <a:r>
                  <a:rPr/>
                  <a:t> If you see one you have not discovered something; you have </a:t>
                </a:r>
                <a:r>
                  <a:rPr b="1"/>
                  <a:t>leaked</a:t>
                </a:r>
              </a:p>
              <a:p>
                <a:pPr lvl="0" indent="0" marL="0">
                  <a:buNone/>
                </a:pPr>
                <a:r>
                  <a:rPr/>
                  <a:t>Consequence 3 is the most useful thing on this page. It is a free correctness check you can run on any result, including your own.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floor, drawn</a:t>
            </a:r>
          </a:p>
        </p:txBody>
      </p:sp>
      <p:pic>
        <p:nvPicPr>
          <p:cNvPr descr="slides-foundation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" y="1193800"/>
            <a:ext cx="7975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data closes the gap between the two curves. It does </a:t>
            </a:r>
            <a:r>
              <a:rPr b="1"/>
              <a:t>not</a:t>
            </a:r>
            <a:r>
              <a:rPr/>
              <a:t> move the dashed line. Only new </a:t>
            </a:r>
            <a:r>
              <a:rPr i="1"/>
              <a:t>variables</a:t>
            </a:r>
            <a:r>
              <a:rPr/>
              <a:t> do that.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0.5 · Prediction vs inference</a:t>
            </a:r>
          </a:p>
        </p:txBody>
      </p:sp>
    </p:spTree>
  </p:cSld>
</p:sld>
</file>

<file path=ppt/slides/slide3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mc:AlternateContent xmlns:mc="http://schemas.openxmlformats.org/markup-compatibility/2006"><mc:Choice xmlns:a14="http://schemas.microsoft.com/office/drawing/2010/main" Requires="a14"><p:sp><p:nvSpPr><p:cNvPr id="2" name="Title 1" /><p:cNvSpPr><a:spLocks noGrp="1" /></p:cNvSpPr><p:nvPr><p:ph type="title" /></p:nvPr></p:nvSpPr><p:spPr /><p:txBody><a:bodyPr /><a:lstStyle /><a:p><a:pPr lvl="0" indent="0" marL="0"><a:buNone /></a:pPr><a:r><a:rPr /><a:t>They are served by the same </a:t></a:r><a14:m><m:oMath xmlns:m="http://schemas.openxmlformats.org/officeDocument/2006/math"><m:acc><m:accPr><m:chr m:val="̂" /></m:accPr><m:e><m:r><m:t>f</m:t></m:r></m:e></m:acc></m:oMath></a14:m><a:r><a:rPr /><a:t>, and they pull apart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endParaRPr /></a:p></a:txBody><a:tcPr /></a:tc><a:tc><a:txBody><a:bodyPr /><a:lstStyle /><a:p><a:pPr lvl="0" indent="0" marL="0"><a:buNone /></a:pPr><a:r><a:rPr /><a:t>Prediction asks</a:t></a:r></a:p></a:txBody><a:tcPr /></a:tc><a:tc><a:txBody><a:bodyPr /><a:lstStyle /><a:p><a:pPr lvl="0" indent="0" marL="0"><a:buNone /></a:pPr><a:r><a:rPr /><a:t>Inference asks</a:t></a:r></a:p></a:txBody><a:tcPr /></a:tc></a:tr><a:tr h="0"><a:tc><a:txBody><a:bodyPr /><a:lstStyle /><a:p><a:pPr lvl="0" indent="0" marL="0"><a:buNone /></a:pPr><a:r><a:rPr b="1" /><a:t>Target</a:t></a:r></a:p></a:txBody></a:tc><a:tc><a:txBody><a:bodyPr /><a:lstStyle /><a:p><a:pPr lvl="0" indent="0" marL="0"><a:buNone /></a:pPr><a14:m><m:oMath xmlns:m="http://schemas.openxmlformats.org/officeDocument/2006/math"><m:acc><m:accPr><m:chr m:val="̂" /></m:accPr><m:e><m:r><m:t>f</m:t></m:r></m:e></m:acc><m:d><m:dPr><m:begChr m:val="(" /><m:sepChr m:val="" /><m:endChr m:val=")" /><m:grow /></m:dPr><m:e><m:r><m:t>x</m:t></m:r></m:e></m:d></m:oMath></a14:m><a:r><a:rPr /><a:t> close to </a:t></a:r><a14:m><m:oMath xmlns:m="http://schemas.openxmlformats.org/officeDocument/2006/math"><m:r><m:t>y</m:t></m:r></m:oMath></a14:m></a:p></a:txBody></a:tc><a:tc><a:txBody><a:bodyPr /><a:lstStyle /><a:p><a:pPr lvl="0" indent="0" marL="0"><a:buNone /></a:pPr><a14:m><m:oMath xmlns:m="http://schemas.openxmlformats.org/officeDocument/2006/math"><m:sSub><m:e><m:acc><m:accPr><m:chr m:val="̂" /></m:accPr><m:e><m:r><m:t>β</m:t></m:r></m:e></m:acc></m:e><m:sub><m:r><m:t>j</m:t></m:r></m:sub></m:sSub></m:oMath></a14:m><a:r><a:rPr /><a:t> close to </a:t></a:r><a14:m><m:oMath xmlns:m="http://schemas.openxmlformats.org/officeDocument/2006/math"><m:sSub><m:e><m:r><m:t>β</m:t></m:r></m:e><m:sub><m:r><m:t>j</m:t></m:r></m:sub></m:sSub></m:oMath></a14:m><a:r><a:rPr /><a:t>, honestly</a:t></a:r></a:p></a:txBody></a:tc></a:tr><a:tr h="0"><a:tc><a:txBody><a:bodyPr /><a:lstStyle /><a:p><a:pPr lvl="0" indent="0" marL="0"><a:buNone /></a:pPr><a:r><a:rPr b="1" /><a:t>Judged by</a:t></a:r></a:p></a:txBody></a:tc><a:tc><a:txBody><a:bodyPr /><a:lstStyle /><a:p><a:pPr lvl="0" indent="0" marL="0"><a:buNone /></a:pPr><a:r><a:rPr /><a:t>error on data never seen</a:t></a:r></a:p></a:txBody></a:tc><a:tc><a:txBody><a:bodyPr /><a:lstStyle /><a:p><a:pPr lvl="0" indent="0" marL="0"><a:buNone /></a:pPr><a:r><a:rPr /><a:t>coverage of the interval</a:t></a:r></a:p></a:txBody></a:tc></a:tr><a:tr h="0"><a:tc><a:txBody><a:bodyPr /><a:lstStyle /><a:p><a:pPr lvl="0" indent="0" marL="0"><a:buNone /></a:pPr><a:r><a:rPr b="1" /><a:t>Flexibility is</a:t></a:r></a:p></a:txBody></a:tc><a:tc><a:txBody><a:bodyPr /><a:lstStyle /><a:p><a:pPr lvl="0" indent="0" marL="0"><a:buNone /></a:pPr><a:r><a:rPr /><a:t>a resource</a:t></a:r></a:p></a:txBody></a:tc><a:tc><a:txBody><a:bodyPr /><a:lstStyle /><a:p><a:pPr lvl="0" indent="0" marL="0"><a:buNone /></a:pPr><a:r><a:rPr /><a:t>a hazard</a:t></a:r></a:p></a:txBody></a:tc></a:tr><a:tr h="0"><a:tc><a:txBody><a:bodyPr /><a:lstStyle /><a:p><a:pPr lvl="0" indent="0" marL="0"><a:buNone /></a:pPr><a:r><a:rPr b="1" /><a:t>Correlated predictors</a:t></a:r></a:p></a:txBody></a:tc><a:tc><a:txBody><a:bodyPr /><a:lstStyle /><a:p><a:pPr lvl="0" indent="0" marL="0"><a:buNone /></a:pPr><a:r><a:rPr /><a:t>mostly harmless</a:t></a:r></a:p></a:txBody></a:tc><a:tc><a:txBody><a:bodyPr /><a:lstStyle /><a:p><a:pPr lvl="0" indent="0" marL="0"><a:buNone /></a:pPr><a:r><a:rPr b="1" /><a:t>fatal</a:t></a:r><a:r><a:rPr /><a:t> (Session 03)</a:t></a:r></a:p></a:txBody></a:tc></a:tr><a:tr h="0"><a:tc><a:txBody><a:bodyPr /><a:lstStyle /><a:p><a:pPr lvl="0" indent="0" marL="0"><a:buNone /></a:pPr><a:r><a:rPr b="1" /><a:t>Fails when</a:t></a:r></a:p></a:txBody></a:tc><a:tc><a:txBody><a:bodyPr /><a:lstStyle /><a:p><a:pPr lvl="0" indent="0" marL="0"><a:buNone /></a:pPr><a:r><a:rPr /><a:t>the future differs (S11)</a:t></a:r></a:p></a:txBody></a:tc><a:tc><a:txBody><a:bodyPr /><a:lstStyle /><a:p><a:pPr lvl="0" indent="0" marL="0"><a:buNone /></a:pPr><a:r><a:rPr /><a:t>misspecified, or a confounder is missing</a:t></a:r></a:p></a:txBody></a:tc></a:tr></a:tbl></a:graphicData></a:graphic></p:graphicFrame></p:spTree></p:cSld>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Prove the fourth 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np.random.default_rng(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BETA, RHO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np.array([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]), </a:t>
            </a:r>
            <a:r>
              <a:rPr>
                <a:solidFill>
                  <a:srgbClr val="40A070"/>
                </a:solidFill>
                <a:latin typeface="Courier"/>
              </a:rPr>
              <a:t>0.985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experiment(correlated, reps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"""Same truth, same sample size. Only the correlation between x1 and x2 changes."""</a:t>
            </a:r>
            <a:br/>
            <a:r>
              <a:rPr>
                <a:latin typeface="Courier"/>
              </a:rPr>
              <a:t>    coef, err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(reps):</a:t>
            </a:r>
            <a:br/>
            <a:r>
              <a:rPr>
                <a:latin typeface="Courier"/>
              </a:rPr>
              <a:t>        z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rng.normal(size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(n,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np.c_[z[:,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RHO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z[:,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np.sqrt(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RHO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z[:,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]]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correlated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z</a:t>
            </a:r>
            <a:br/>
            <a:r>
              <a:rPr>
                <a:latin typeface="Courier"/>
              </a:rPr>
              <a:t>       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BETA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rng.normal(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n)</a:t>
            </a:r>
            <a:br/>
            <a:r>
              <a:rPr>
                <a:latin typeface="Courier"/>
              </a:rPr>
              <a:t>        fit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sm.OLS(y, sm.add_constant(X)).fit()</a:t>
            </a:r>
            <a:br/>
            <a:r>
              <a:rPr>
                <a:latin typeface="Courier"/>
              </a:rPr>
              <a:t>        coef.append(fit.params[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    zt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rng.normal(size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    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np.c_[zt[:,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RHO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zt[:,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np.sqrt(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RHO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zt[:,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]]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correlated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zt</a:t>
            </a:r>
            <a:br/>
            <a:r>
              <a:rPr>
                <a:latin typeface="Courier"/>
              </a:rPr>
              <a:t>        yt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Xt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BETA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rng.normal(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err.append(np.sqrt(mean_squared_error(yt, fit.predict(sm.add_constant(Xt)))))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np.array(coef), np.array(err)</a:t>
            </a:r>
            <a:br/>
            <a:br/>
            <a:r>
              <a:rPr>
                <a:latin typeface="Courier"/>
              </a:rPr>
              <a:t>c_cor, e_cor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experiment(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c_ind, e_ind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experiment(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f"correlated  : beta1 sd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c_cor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std()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   wrong sign in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(c_cor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:.0%}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BB6688"/>
                </a:solidFill>
                <a:latin typeface="Courier"/>
              </a:rPr>
              <a:t>f"   test RMSE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e_cor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f"independent : beta1 sd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c_ind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std()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   wrong sign in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(c_ind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:.0%}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BB6688"/>
                </a:solidFill>
                <a:latin typeface="Courier"/>
              </a:rPr>
              <a:t>f"   test RMSE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e_ind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correlated  : beta1 sd 0.75   wrong sign in 11%   test RMSE 1.026
independent : beta1 sd 0.13   wrong sign in 0%   test RMSE 1.028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what that means</a:t>
            </a:r>
          </a:p>
        </p:txBody>
      </p:sp>
      <p:pic>
        <p:nvPicPr>
          <p:cNvPr descr="slides-foundations_files/figure-pptx/cell-10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Same truth, same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. The coefficient’s spread grows </a:t>
                </a:r>
                <a:r>
                  <a:rPr b="1"/>
                  <a:t>almost sixfold</a:t>
                </a:r>
                <a:r>
                  <a:rPr/>
                  <a:t> and it comes out with the </a:t>
                </a:r>
                <a:r>
                  <a:rPr b="1"/>
                  <a:t>wrong sign in 11% of samples</a:t>
                </a:r>
                <a:r>
                  <a:rPr/>
                  <a:t> — while the prediction error is identical to three decimals.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 a third question, which looks like the second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 b="1"/>
                  <a:t>Causation.</a:t>
                </a:r>
                <a:r>
                  <a:rPr sz="2000"/>
                  <a:t> </a:t>
                </a:r>
                <a:r>
                  <a:rPr sz="2000" i="1"/>
                  <a:t>If we changed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 sz="2000" i="1"/>
                  <a:t>, what would happen to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 sz="2000" i="1"/>
                  <a:t>?</a:t>
                </a:r>
              </a:p>
              <a:p>
                <a:pPr lvl="0" indent="0" marL="0">
                  <a:buNone/>
                </a:pPr>
                <a:r>
                  <a:rPr/>
                  <a:t>Nothing in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  <a:r>
                  <a:rPr/>
                  <a:t> answers that. The model describes an association in the population that </a:t>
                </a:r>
                <a:r>
                  <a:rPr b="1"/>
                  <a:t>generated your data</a:t>
                </a:r>
                <a:r>
                  <a:rPr/>
                  <a:t>. It says nothing about a population in which somebody intervened.</a:t>
                </a:r>
              </a:p>
              <a:p>
                <a:pPr lvl="0" indent="0" marL="0">
                  <a:buNone/>
                </a:pPr>
                <a:r>
                  <a:rPr/>
                  <a:t>A model can predict perfectly, carry tight standard errors, and still be a completely wrong guide to policy. </a:t>
                </a:r>
                <a:r>
                  <a:rPr b="1"/>
                  <a:t>Session 10</a:t>
                </a:r>
                <a:r>
                  <a:rPr/>
                  <a:t> is where that is confronted, and it is meant to be uncomfortable.</a:t>
                </a:r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Session 01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 these on paper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State the difference between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f</m:t>
                        </m:r>
                      </m:e>
                    </m:acc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in one sentence each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Show that the cross term in §0.3 vanishes. </a:t>
                </a:r>
                <a:r>
                  <a:rPr b="1"/>
                  <a:t>Which property of conditional expectation did you use?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 colleague reports a cross-validated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t>0.98</m:t>
                    </m:r>
                  </m:oMath>
                </a14:m>
                <a:r>
                  <a:rPr/>
                  <a:t> where every published model reaches </a:t>
                </a:r>
                <a14:m>
                  <m:oMath xmlns:m="http://schemas.openxmlformats.org/officeDocument/2006/math">
                    <m:r>
                      <m:t>0.4</m:t>
                    </m:r>
                  </m:oMath>
                </a14:m>
                <a:r>
                  <a:rPr/>
                  <a:t>. Give two explanations, and say which you would check first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Give a variable that is an excellent </a:t>
                </a:r>
                <a:r>
                  <a:rPr b="1"/>
                  <a:t>predictor</a:t>
                </a:r>
                <a:r>
                  <a:rPr/>
                  <a:t> and a useless </a:t>
                </a:r>
                <a:r>
                  <a:rPr b="1"/>
                  <a:t>policy lever</a:t>
                </a:r>
                <a:r>
                  <a:rPr/>
                  <a:t>. Say why they can differ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Under 0–1 loss, what does the Bayes error rate measure, and why can no classifier beat it?</a:t>
                </a:r>
              </a:p>
              <a:p>
                <a:pPr lvl="0" indent="0" marL="0">
                  <a:buNone/>
                </a:pPr>
                <a:r>
                  <a:rPr/>
                  <a:t>If you cannot answer one, re-read that section — not the whole page.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carry into Session 02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is fixed and unknown;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f</m:t>
                        </m:r>
                      </m:e>
                    </m:acc>
                  </m:oMath>
                </a14:m>
                <a:r>
                  <a:rPr/>
                  <a:t> is known and random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Risk is over draws you have never seen; the sample average is not</a:t>
                </a:r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is the best predictor under squared loss, and </a:t>
                </a:r>
                <a14:m>
                  <m:oMath xmlns:m="http://schemas.openxmlformats.org/officeDocument/2006/math">
                    <m: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g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…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is a fact about your </a:t>
                </a:r>
                <a:r>
                  <a:rPr b="1"/>
                  <a:t>variables</a:t>
                </a:r>
                <a:r>
                  <a:rPr/>
                  <a:t>, not about your method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Prediction, inference and causation are </a:t>
                </a:r>
                <a:r>
                  <a:rPr b="1"/>
                  <a:t>three different questions</a:t>
                </a:r>
              </a:p>
              <a:p>
                <a:pPr lvl="0" indent="0" marL="0">
                  <a:buNone/>
                </a:pPr>
                <a:r>
                  <a:rPr/>
                  <a:t>Reading: </a:t>
                </a:r>
                <a:r>
                  <a:rPr>
                    <a:hlinkClick r:id="rId2"/>
                    <a:latin typeface="Courier"/>
                  </a:rPr>
                  <a:t>the-supervised-learning-problem.md</a:t>
                </a:r>
                <a:r>
                  <a:rPr/>
                  <a:t> · Setup: </a:t>
                </a:r>
                <a:r>
                  <a:rPr>
                    <a:hlinkClick r:id="rId3"/>
                    <a:latin typeface="Courier"/>
                  </a:rPr>
                  <a:t>setup-vscodium-local-llm.md</a:t>
                </a:r>
                <a:r>
                  <a:rPr/>
                  <a:t> · Then: </a:t>
                </a:r>
                <a:r>
                  <a:rPr>
                    <a:hlinkClick r:id="rId4"/>
                  </a:rPr>
                  <a:t>Session 02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Supervised Learning Problem</dc:title>
  <dc:creator>Thierry Warin</dc:creator>
  <cp:keywords/>
  <dcterms:created xsi:type="dcterms:W3CDTF">2026-08-23T15:17:42Z</dcterms:created>
  <dcterms:modified xsi:type="dcterms:W3CDTF">2026-08-23T15:17:42Z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23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01 pre-session · what Session 02 assumes you have</vt:lpwstr>
  </property>
  <property fmtid="{D5CDD505-2E9C-101B-9397-08002B2CF9AE}" pid="18" name="toc-title">
    <vt:lpwstr>Table of contents</vt:lpwstr>
  </property>
</Properties>
</file>