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Quantitative Methods in International Business — building your workstation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are walking into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course asks one question in ten different ways:</a:t>
            </a:r>
          </a:p>
          <a:p>
            <a:pPr lvl="0" indent="0" marL="1270000">
              <a:buNone/>
            </a:pPr>
            <a:r>
              <a:rPr sz="2000" b="1"/>
              <a:t>When can a number about the past be used to make a claim about the future?</a:t>
            </a:r>
          </a:p>
          <a:p>
            <a:pPr lvl="0"/>
            <a:r>
              <a:rPr/>
              <a:t>The methods are standard: least squares, penalisation, trees, factors, causal ML.</a:t>
            </a:r>
          </a:p>
          <a:p>
            <a:pPr lvl="0"/>
            <a:r>
              <a:rPr/>
              <a:t>The data are European, international, and messy on purpose.</a:t>
            </a:r>
          </a:p>
          <a:p>
            <a:pPr lvl="0"/>
            <a:r>
              <a:rPr/>
              <a:t>The discipline is knowing </a:t>
            </a:r>
            <a:r>
              <a:rPr b="1"/>
              <a:t>what your estimate does not entitle you to say.</a:t>
            </a:r>
          </a:p>
          <a:p>
            <a:pPr lvl="0" indent="0" marL="0">
              <a:buNone/>
            </a:pPr>
            <a:r>
              <a:rPr/>
              <a:t>Ten sessions of method. One question throughout.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distinctions we will not let go 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 scenario is not a forecast.</a:t>
            </a:r>
            <a:r>
              <a:rPr/>
              <a:t> </a:t>
            </a:r>
            <a:r>
              <a:rPr i="1"/>
              <a:t>Europe 2031</a:t>
            </a:r>
            <a:r>
              <a:rPr/>
              <a:t> is a conditional narrative — a stress test, not a prediction. You will read it as a set of assumptions you can measure.</a:t>
            </a:r>
          </a:p>
          <a:p>
            <a:pPr lvl="0" indent="-342900" marL="342900">
              <a:buAutoNum type="arabicPeriod"/>
            </a:pPr>
            <a:r>
              <a:rPr b="1"/>
              <a:t>Prediction is not inference.</a:t>
            </a:r>
            <a:r>
              <a:rPr/>
              <a:t> “How well does this predict?” and “what is the effect of X?” are different questions, answered by different estimators, with different guarantees.</a:t>
            </a:r>
          </a:p>
          <a:p>
            <a:pPr lvl="0" indent="-342900" marL="342900">
              <a:buAutoNum type="arabicPeriod"/>
            </a:pPr>
            <a:r>
              <a:rPr b="1"/>
              <a:t>A construct is not a measurement.</a:t>
            </a:r>
            <a:r>
              <a:rPr/>
              <a:t> An “AI exposure index” is something we built. Session 09 is about being honest about that.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this session’s pre-work 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things, before you arrive: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Build your workstation</a:t>
                      </a:r>
                      <a:r>
                        <a:rPr/>
                        <a:t> — these slides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60–90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 </a:t>
                      </a:r>
                      <a:r>
                        <a:rPr i="1"/>
                        <a:t>Europe 2031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 three concepts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the verification script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Session 1 does not include installation time.</a:t>
            </a:r>
            <a:r>
              <a:rPr/>
              <a:t> Arriving without a working environment means you cannot take part in the lab.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stack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install, and why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this 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VS Codium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VS Code with telemetry removed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work touches confidential and licensed data. The editor should not phone home.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Python 3.10+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analysis 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Everything in the course runs here.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Ollama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Runs LLMs on </a:t>
                      </a:r>
                      <a:r>
                        <a:rPr i="1"/>
                        <a:t>your</a:t>
                      </a:r>
                      <a:r>
                        <a:rPr/>
                        <a:t> machine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API key, no per-token cost, no data leaving your laptop.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Qwen 2.5 Coder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model Ollama serves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enough for a laptop, strong at code.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AI agent in your terminal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Reads and edits your files, and commits.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principle behind the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piece runs </a:t>
            </a:r>
            <a:r>
              <a:rPr b="1"/>
              <a:t>locally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The test that matters.</a:t>
            </a:r>
            <a:r>
              <a:rPr/>
              <a:t> When your environment is finished, turn off your wifi and ask the model a question. If it still answers, your setup is genuinely local — and your data never left the room.</a:t>
            </a:r>
          </a:p>
          <a:p>
            <a:pPr lvl="0" indent="0" marL="0">
              <a:buNone/>
            </a:pPr>
            <a:r>
              <a:rPr/>
              <a:t>This is not ideology. In Session 09 you work with licensed text, and in the group project you may work with data you are not permitted to upload anywhere.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do I type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this slide before you type anything.</a:t>
            </a:r>
            <a:r>
              <a:rPr/>
              <a:t> It is the single most common source of lost time.</a:t>
            </a:r>
          </a:p>
          <a:p>
            <a:pPr lvl="0" indent="0" marL="0">
              <a:buNone/>
            </a:pPr>
            <a:r>
              <a:rPr/>
              <a:t>Two kinds of instruction appear in these slides, and they are always labelled:</a:t>
            </a:r>
          </a:p>
          <a:p>
            <a:pPr lvl="0" indent="0" marL="0">
              <a:buNone/>
            </a:pPr>
            <a:r>
              <a:rPr/>
              <a:t>download</a:t>
            </a:r>
          </a:p>
          <a:p>
            <a:pPr lvl="0" indent="0" marL="0">
              <a:buNone/>
            </a:pPr>
            <a:r>
              <a:rPr/>
              <a:t>Go to a website in your browser and run an installer. No typing.</a:t>
            </a:r>
          </a:p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 marL="0">
              <a:buNone/>
            </a:pPr>
            <a:r>
              <a:rPr/>
              <a:t>Type it in the terminal </a:t>
            </a:r>
            <a:r>
              <a:rPr b="1"/>
              <a:t>inside VS Codium</a:t>
            </a:r>
            <a:r>
              <a:rPr/>
              <a:t> — never the macOS Terminal app, never PowerShell on its own.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always the VS Codium terminal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opens </a:t>
            </a:r>
            <a:r>
              <a:rPr b="1"/>
              <a:t>in your project folder</a:t>
            </a:r>
            <a:r>
              <a:rPr/>
              <a:t>, so </a:t>
            </a:r>
            <a:r>
              <a:rPr>
                <a:latin typeface="Courier"/>
              </a:rPr>
              <a:t>git</a:t>
            </a:r>
            <a:r>
              <a:rPr/>
              <a:t> and </a:t>
            </a:r>
            <a:r>
              <a:rPr>
                <a:latin typeface="Courier"/>
              </a:rPr>
              <a:t>python</a:t>
            </a:r>
            <a:r>
              <a:rPr/>
              <a:t> act on the right files</a:t>
            </a:r>
          </a:p>
          <a:p>
            <a:pPr lvl="0"/>
            <a:r>
              <a:rPr/>
              <a:t>It sees the </a:t>
            </a:r>
            <a:r>
              <a:rPr>
                <a:latin typeface="Courier"/>
              </a:rPr>
              <a:t>.venv</a:t>
            </a:r>
            <a:r>
              <a:rPr/>
              <a:t> you activate; a separate Terminal window does not</a:t>
            </a:r>
          </a:p>
          <a:p>
            <a:pPr lvl="0"/>
            <a:r>
              <a:rPr/>
              <a:t>It is the same on macOS, Windows and Linux, so these slides work for everyone</a:t>
            </a:r>
          </a:p>
          <a:p>
            <a:pPr lvl="0" indent="0" marL="0">
              <a:buNone/>
            </a:pPr>
            <a:r>
              <a:rPr b="1"/>
              <a:t>Open it now:</a:t>
            </a:r>
            <a:r>
              <a:rPr/>
              <a:t> </a:t>
            </a:r>
            <a:r>
              <a:rPr>
                <a:latin typeface="Courier"/>
              </a:rPr>
              <a:t>View → Terminal</a:t>
            </a:r>
            <a:r>
              <a:rPr/>
              <a:t>, or </a:t>
            </a:r>
            <a:r>
              <a:rPr>
                <a:latin typeface="Courier"/>
              </a:rPr>
              <a:t>Ctrl+`</a:t>
            </a:r>
            <a:r>
              <a:rPr/>
              <a:t> (the backtick key, above Tab). A panel appears at the bottom. That panel is where every command below goes.</a:t>
            </a:r>
          </a:p>
          <a:p>
            <a:pPr lvl="0" indent="0" marL="0">
              <a:buNone/>
            </a:pPr>
            <a:r>
              <a:rPr/>
              <a:t>If a command fails, check </a:t>
            </a:r>
            <a:r>
              <a:rPr i="1"/>
              <a:t>where you typed it</a:t>
            </a:r>
            <a:r>
              <a:rPr/>
              <a:t> before you check anything else.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need:</a:t>
            </a:r>
          </a:p>
          <a:p>
            <a:pPr lvl="0"/>
            <a:r>
              <a:rPr/>
              <a:t>A laptop with </a:t>
            </a:r>
            <a:r>
              <a:rPr b="1"/>
              <a:t>8 GB RAM minimum</a:t>
            </a:r>
            <a:r>
              <a:rPr/>
              <a:t> (16 GB is much more comfortable)</a:t>
            </a:r>
          </a:p>
          <a:p>
            <a:pPr lvl="0"/>
            <a:r>
              <a:rPr/>
              <a:t>A browser — you will download the course folder, no account needed</a:t>
            </a:r>
          </a:p>
          <a:p>
            <a:pPr lvl="0"/>
            <a:r>
              <a:rPr b="1"/>
              <a:t>Administrator rights</a:t>
            </a:r>
            <a:r>
              <a:rPr/>
              <a:t> to install software</a:t>
            </a:r>
          </a:p>
          <a:p>
            <a:pPr lvl="0"/>
            <a:r>
              <a:rPr/>
              <a:t>About </a:t>
            </a:r>
            <a:r>
              <a:rPr b="1"/>
              <a:t>10 GB free disk space</a:t>
            </a:r>
            <a:r>
              <a:rPr/>
              <a:t> — the model files are large</a:t>
            </a:r>
          </a:p>
          <a:p>
            <a:pPr lvl="0"/>
            <a:r>
              <a:rPr/>
              <a:t>60–90 minutes, uninterrupted</a:t>
            </a:r>
          </a:p>
          <a:p>
            <a:pPr lvl="0" indent="0" marL="0">
              <a:buNone/>
            </a:pPr>
            <a:r>
              <a:rPr/>
              <a:t>Do this on the machine you will actually bring to class. A working setup on a desktop at home is of no use in the lab.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 — VS Codium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 VS Codium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</a:t>
            </a:r>
          </a:p>
          <a:p>
            <a:pPr lvl="0" indent="0" marL="0">
              <a:buNone/>
            </a:pPr>
            <a:r>
              <a:rPr/>
              <a:t>Go to </a:t>
            </a:r>
            <a:r>
              <a:rPr b="1"/>
              <a:t>vscodium.com</a:t>
            </a:r>
            <a:r>
              <a:rPr/>
              <a:t> and download the build for your operating system.</a:t>
            </a:r>
          </a:p>
          <a:p>
            <a:pPr lvl="0" indent="0" marL="0">
              <a:buNone/>
            </a:pPr>
            <a:r>
              <a:rPr/>
              <a:t>This is the one step that cannot use the VS Codium terminal — you are installing the thing that provides it.</a:t>
            </a:r>
          </a:p>
          <a:p>
            <a:pPr lvl="0" indent="0" marL="0">
              <a:buNone/>
            </a:pPr>
            <a:r>
              <a:rPr b="1"/>
              <a:t>macOS</a:t>
            </a:r>
          </a:p>
          <a:p>
            <a:pPr lvl="0" indent="0" marL="0">
              <a:buNone/>
            </a:pPr>
            <a:r>
              <a:rPr/>
              <a:t>Download the </a:t>
            </a:r>
            <a:r>
              <a:rPr>
                <a:latin typeface="Courier"/>
              </a:rPr>
              <a:t>.dmg</a:t>
            </a:r>
            <a:r>
              <a:rPr/>
              <a:t>, open it, drag </a:t>
            </a:r>
            <a:r>
              <a:rPr b="1"/>
              <a:t>VSCodium</a:t>
            </a:r>
            <a:r>
              <a:rPr/>
              <a:t> to Applications.</a:t>
            </a:r>
          </a:p>
          <a:p>
            <a:pPr lvl="0" indent="0" marL="0">
              <a:buNone/>
            </a:pPr>
            <a:r>
              <a:rPr/>
              <a:t>If macOS refuses to open it: right-click the app → </a:t>
            </a:r>
            <a:r>
              <a:rPr b="1"/>
              <a:t>Open</a:t>
            </a:r>
            <a:r>
              <a:rPr/>
              <a:t> → </a:t>
            </a:r>
            <a:r>
              <a:rPr b="1"/>
              <a:t>Open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Windows</a:t>
            </a:r>
          </a:p>
          <a:p>
            <a:pPr lvl="0" indent="0" marL="0">
              <a:buNone/>
            </a:pPr>
            <a:r>
              <a:rPr/>
              <a:t>Download the </a:t>
            </a:r>
            <a:r>
              <a:rPr i="1"/>
              <a:t>User Installer</a:t>
            </a:r>
            <a:r>
              <a:rPr/>
              <a:t> </a:t>
            </a:r>
            <a:r>
              <a:rPr>
                <a:latin typeface="Courier"/>
              </a:rPr>
              <a:t>.exe</a:t>
            </a:r>
            <a:r>
              <a:rPr/>
              <a:t> and run it.</a:t>
            </a:r>
          </a:p>
          <a:p>
            <a:pPr lvl="0" indent="0" marL="0">
              <a:buNone/>
            </a:pPr>
            <a:r>
              <a:rPr/>
              <a:t>Tick </a:t>
            </a:r>
            <a:r>
              <a:rPr b="1"/>
              <a:t>“Add to PATH”</a:t>
            </a:r>
            <a:r>
              <a:rPr/>
              <a:t> when the installer offers it.</a:t>
            </a:r>
          </a:p>
          <a:p>
            <a:pPr lvl="0" indent="0" marL="0">
              <a:buNone/>
            </a:pPr>
            <a:r>
              <a:rPr b="1"/>
              <a:t>Linux:</a:t>
            </a:r>
            <a:r>
              <a:rPr/>
              <a:t> use your package manager, or the </a:t>
            </a:r>
            <a:r>
              <a:rPr>
                <a:latin typeface="Courier"/>
              </a:rPr>
              <a:t>.deb</a:t>
            </a:r>
            <a:r>
              <a:rPr/>
              <a:t> / </a:t>
            </a:r>
            <a:r>
              <a:rPr>
                <a:latin typeface="Courier"/>
              </a:rPr>
              <a:t>.rpm</a:t>
            </a:r>
            <a:r>
              <a:rPr/>
              <a:t> from the same page.</a:t>
            </a:r>
          </a:p>
          <a:p>
            <a:pPr lvl="0" indent="0" marL="0">
              <a:buNone/>
            </a:pPr>
            <a:r>
              <a:rPr b="1"/>
              <a:t>Check.</a:t>
            </a:r>
            <a:r>
              <a:rPr/>
              <a:t> VS Codium opens and shows the Welcome tab.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the two panels you will live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 VS Codium window ]</a:t>
            </a:r>
          </a:p>
          <a:p>
            <a:pPr lvl="0" indent="0" marL="0">
              <a:buNone/>
            </a:pPr>
            <a:r>
              <a:rPr/>
              <a:t>Left: </a:t>
            </a:r>
            <a:r>
              <a:rPr b="1"/>
              <a:t>Explorer</a:t>
            </a:r>
            <a:r>
              <a:rPr/>
              <a:t> (your files) · Bottom: </a:t>
            </a:r>
            <a:r>
              <a:rPr b="1"/>
              <a:t>Terminal</a:t>
            </a:r>
            <a:r>
              <a:rPr/>
              <a:t> · Right: </a:t>
            </a:r>
            <a:r>
              <a:rPr b="1"/>
              <a:t>Continue</a:t>
            </a:r>
            <a:r>
              <a:rPr/>
              <a:t> (chat)</a:t>
            </a:r>
          </a:p>
          <a:p>
            <a:pPr lvl="0" indent="0" marL="0">
              <a:buNone/>
            </a:pPr>
            <a:r>
              <a:rPr/>
              <a:t>Two things to find right now:</a:t>
            </a:r>
          </a:p>
          <a:p>
            <a:pPr lvl="0"/>
            <a:r>
              <a:rPr b="1"/>
              <a:t>The Explorer</a:t>
            </a:r>
            <a:r>
              <a:rPr/>
              <a:t> — </a:t>
            </a:r>
            <a:r>
              <a:rPr>
                <a:latin typeface="Courier"/>
              </a:rPr>
              <a:t>View → Explorer</a:t>
            </a:r>
            <a:r>
              <a:rPr/>
              <a:t>, or </a:t>
            </a:r>
            <a:r>
              <a:rPr>
                <a:latin typeface="Courier"/>
              </a:rPr>
              <a:t>Ctrl/Cmd+Shift+E</a:t>
            </a:r>
          </a:p>
          <a:p>
            <a:pPr lvl="0"/>
            <a:r>
              <a:rPr b="1"/>
              <a:t>The integrated Terminal</a:t>
            </a:r>
            <a:r>
              <a:rPr/>
              <a:t> — </a:t>
            </a:r>
            <a:r>
              <a:rPr>
                <a:latin typeface="Courier"/>
              </a:rPr>
              <a:t>View → Terminal</a:t>
            </a:r>
            <a:r>
              <a:rPr/>
              <a:t>, or </a:t>
            </a:r>
            <a:r>
              <a:rPr>
                <a:latin typeface="Courier"/>
              </a:rPr>
              <a:t>Ctrl+`</a:t>
            </a:r>
            <a:r>
              <a:rPr/>
              <a:t> (backtick)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Terminal</a:t>
            </a:r>
            <a:r>
              <a:rPr/>
              <a:t> is where most of this course happens. If you have never used a command line, that is fine — every command you need is on these slides.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Extensions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Extensions panel: </a:t>
            </a:r>
            <a:r>
              <a:rPr>
                <a:latin typeface="Courier"/>
              </a:rPr>
              <a:t>Ctrl/Cmd+Shift+X</a:t>
            </a:r>
            <a:r>
              <a:rPr/>
              <a:t>. Install three: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ms-python.python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Syntax, linting, environment selection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Jupyter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ms-toolsai.jupyter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notebooks inside the editor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Continue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Continue.continue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chat sidebar, wired to your local model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uses the Open VSX registry, not Microsoft’s Marketplace. Most extensions are there. If one is missing, the course does not depend on it.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 — The course materials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 the course folder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from here on runs </a:t>
            </a:r>
            <a:r>
              <a:rPr b="1"/>
              <a:t>inside the course folder</a:t>
            </a:r>
            <a:r>
              <a:rPr/>
              <a:t>, so you need it on your machine before anything else works.</a:t>
            </a:r>
          </a:p>
          <a:p>
            <a:pPr lvl="0" indent="0" marL="0">
              <a:buNone/>
            </a:pPr>
            <a:r>
              <a:rPr/>
              <a:t>download</a:t>
            </a:r>
          </a:p>
          <a:p>
            <a:pPr lvl="0" indent="-342900" marL="342900">
              <a:buAutoNum type="arabicPeriod"/>
            </a:pPr>
            <a:r>
              <a:rPr/>
              <a:t>Go to </a:t>
            </a:r>
            <a:r>
              <a:rPr b="1"/>
              <a:t>github.com/warint/quantitative-methods</a:t>
            </a:r>
          </a:p>
          <a:p>
            <a:pPr lvl="0" indent="-342900" marL="342900">
              <a:buAutoNum type="arabicPeriod"/>
            </a:pPr>
            <a:r>
              <a:rPr/>
              <a:t>Click the green </a:t>
            </a:r>
            <a:r>
              <a:rPr b="1"/>
              <a:t>Code</a:t>
            </a:r>
            <a:r>
              <a:rPr/>
              <a:t> button</a:t>
            </a:r>
          </a:p>
          <a:p>
            <a:pPr lvl="0" indent="-342900" marL="342900">
              <a:buAutoNum type="arabicPeriod"/>
            </a:pPr>
            <a:r>
              <a:rPr/>
              <a:t>Choose </a:t>
            </a:r>
            <a:r>
              <a:rPr b="1"/>
              <a:t>Download ZIP</a:t>
            </a:r>
          </a:p>
          <a:p>
            <a:pPr lvl="0" indent="-342900" marL="342900">
              <a:buAutoNum type="arabicPeriod"/>
            </a:pPr>
            <a:r>
              <a:rPr/>
              <a:t>Unzip it somewhere you will find again — Documents, not Downloads</a:t>
            </a:r>
          </a:p>
          <a:p>
            <a:pPr lvl="0" indent="0" marL="0">
              <a:buNone/>
            </a:pPr>
            <a:r>
              <a:rPr/>
              <a:t>No account needed. You are just downloading a folder.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it in VS Codium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File → Open Folder…</a:t>
            </a:r>
            <a:r>
              <a:rPr/>
              <a:t> and choose the unzipped folder.</a:t>
            </a:r>
          </a:p>
          <a:p>
            <a:pPr lvl="0" indent="0" marL="0">
              <a:buNone/>
            </a:pPr>
            <a:r>
              <a:rPr/>
              <a:t>The Explorer on the left should show </a:t>
            </a:r>
            <a:r>
              <a:rPr>
                <a:latin typeface="Courier"/>
              </a:rPr>
              <a:t>README.md</a:t>
            </a:r>
            <a:r>
              <a:rPr/>
              <a:t>, </a:t>
            </a:r>
            <a:r>
              <a:rPr>
                <a:latin typeface="Courier"/>
              </a:rPr>
              <a:t>requirements.txt</a:t>
            </a:r>
            <a:r>
              <a:rPr/>
              <a:t>, a </a:t>
            </a:r>
            <a:r>
              <a:rPr>
                <a:latin typeface="Courier"/>
              </a:rPr>
              <a:t>data/</a:t>
            </a:r>
            <a:r>
              <a:rPr/>
              <a:t> folder and the numbered session folders. If it shows a single folder you have to click into, you picked the level above — go one deeper.</a:t>
            </a:r>
          </a:p>
          <a:p>
            <a:pPr lvl="0" indent="0" marL="0">
              <a:buNone/>
            </a:pPr>
            <a:r>
              <a:rPr/>
              <a:t>Keep it there. Every command in these slides is relative to this folder, and the terminal you opened is already sitting in it.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Session 2 you will do this properly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Downloading a ZIP gets you a </a:t>
            </a:r>
            <a:r>
              <a:rPr b="1"/>
              <a:t>snapshot</a:t>
            </a:r>
            <a:r>
              <a:rPr/>
              <a:t>. It cannot receive corrections, and it has no history.</a:t>
            </a:r>
          </a:p>
          <a:p>
            <a:pPr lvl="0"/>
            <a:r>
              <a:rPr/>
              <a:t>Before Session 2 you install git and clone the repository instead</a:t>
            </a:r>
          </a:p>
          <a:p>
            <a:pPr lvl="0"/>
            <a:r>
              <a:rPr/>
              <a:t>That version updates with </a:t>
            </a:r>
            <a:r>
              <a:rPr>
                <a:latin typeface="Courier"/>
              </a:rPr>
              <a:t>git pull</a:t>
            </a:r>
            <a:r>
              <a:rPr/>
              <a:t> when I fix something</a:t>
            </a:r>
          </a:p>
          <a:p>
            <a:pPr lvl="0"/>
            <a:r>
              <a:rPr/>
              <a:t>It is also where your group’s own work will live</a:t>
            </a:r>
          </a:p>
          <a:p>
            <a:pPr lvl="0" indent="0" marL="0">
              <a:buNone/>
            </a:pPr>
            <a:r>
              <a:rPr/>
              <a:t>For today the snapshot is enough, and it saves you creating an account before you have seen the course.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 — Python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</a:t>
            </a:r>
          </a:p>
          <a:p>
            <a:pPr lvl="0" indent="0" marL="0">
              <a:buNone/>
            </a:pPr>
            <a:r>
              <a:rPr/>
              <a:t>Go to </a:t>
            </a:r>
            <a:r>
              <a:rPr b="1"/>
              <a:t>python.org/downloads</a:t>
            </a:r>
            <a:r>
              <a:rPr/>
              <a:t> and install </a:t>
            </a:r>
            <a:r>
              <a:rPr b="1"/>
              <a:t>Python 3.11 or 3.12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Windows: tick “Add python.exe to PATH”</a:t>
            </a:r>
            <a:r>
              <a:rPr/>
              <a:t> on the first installer screen. It is easy to miss, and without it nothing below works.</a:t>
            </a:r>
          </a:p>
          <a:p>
            <a:pPr lvl="0" indent="0" marL="0">
              <a:buNone/>
            </a:pPr>
            <a:r>
              <a:rPr/>
              <a:t>macOS ships an old Python that is not suitable. Install a current one anyway.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Python is there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--version</a:t>
            </a:r>
          </a:p>
          <a:p>
            <a:pPr lvl="0" indent="0" marL="0">
              <a:buNone/>
            </a:pPr>
            <a:r>
              <a:rPr/>
              <a:t>Prints </a:t>
            </a:r>
            <a:r>
              <a:rPr>
                <a:latin typeface="Courier"/>
              </a:rPr>
              <a:t>Python 3.11.x</a:t>
            </a:r>
            <a:r>
              <a:rPr/>
              <a:t> or </a:t>
            </a:r>
            <a:r>
              <a:rPr>
                <a:latin typeface="Courier"/>
              </a:rPr>
              <a:t>3.12.x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On Windows, if </a:t>
            </a:r>
            <a:r>
              <a:rPr>
                <a:latin typeface="Courier"/>
              </a:rPr>
              <a:t>python3</a:t>
            </a:r>
            <a:r>
              <a:rPr/>
              <a:t> is not found, try </a:t>
            </a:r>
            <a:r>
              <a:rPr>
                <a:latin typeface="Courier"/>
              </a:rPr>
              <a:t>python --version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If it says </a:t>
            </a:r>
            <a:r>
              <a:rPr i="1"/>
              <a:t>command not found</a:t>
            </a:r>
            <a:r>
              <a:rPr/>
              <a:t>, the PATH box was not ticked. Re-run the installer — do not try to work around it.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 marL="0">
              <a:buNone/>
            </a:pPr>
            <a:r>
              <a:rPr/>
              <a:t>With the course folder open (Step 3), run: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venv .venv</a:t>
            </a:r>
          </a:p>
          <a:p>
            <a:pPr lvl="0" indent="0" marL="0">
              <a:buNone/>
            </a:pPr>
            <a:r>
              <a:rPr/>
              <a:t>This makes a private package folder for this course, so it cannot break your other work.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Activate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macOS / Linux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source</a:t>
            </a:r>
            <a:r>
              <a:rPr>
                <a:latin typeface="Courier"/>
              </a:rPr>
              <a:t> .venv/bin/activate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Windows (PowerShell)</a:t>
            </a:r>
            <a:br/>
            <a:r>
              <a:rPr>
                <a:latin typeface="Courier"/>
              </a:rPr>
              <a:t>.venv\Scripts\Activate.ps1</a:t>
            </a:r>
          </a:p>
          <a:p>
            <a:pPr lvl="0" indent="0" marL="0">
              <a:buNone/>
            </a:pPr>
            <a:r>
              <a:rPr/>
              <a:t>Your prompt now starts with </a:t>
            </a:r>
            <a:r>
              <a:rPr>
                <a:latin typeface="Courier"/>
              </a:rPr>
              <a:t>(.venv)</a:t>
            </a:r>
            <a:r>
              <a:rPr/>
              <a:t>. </a:t>
            </a:r>
            <a:r>
              <a:rPr b="1"/>
              <a:t>Every command from here on assumes you see that.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 the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 · with </a:t>
            </a:r>
            <a:r>
              <a:rPr>
                <a:latin typeface="Courier"/>
              </a:rPr>
              <a:t>(.venv)</a:t>
            </a:r>
            <a:r>
              <a:rPr/>
              <a:t> showing</a:t>
            </a:r>
          </a:p>
          <a:p>
            <a:pPr lvl="0" indent="0">
              <a:buNone/>
            </a:pPr>
            <a:r>
              <a:rPr>
                <a:latin typeface="Courier"/>
              </a:rPr>
              <a:t>pip install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</a:p>
          <a:p>
            <a:pPr lvl="0" indent="0" marL="0">
              <a:buNone/>
            </a:pPr>
            <a:r>
              <a:rPr/>
              <a:t>numpy, pandas, scikit-learn, statsmodels, matplotlib and the rest. A few minutes.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"import numpy, pandas, sklearn; print('ok')"</a:t>
            </a:r>
          </a:p>
          <a:p>
            <a:pPr lvl="0" indent="0" marL="0">
              <a:buNone/>
            </a:pPr>
            <a:r>
              <a:rPr/>
              <a:t>prints </a:t>
            </a:r>
            <a:r>
              <a:rPr>
                <a:latin typeface="Courier"/>
              </a:rPr>
              <a:t>ok</a:t>
            </a:r>
            <a:r>
              <a:rPr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 — Ollama and Qwen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 Ollama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</a:t>
            </a:r>
          </a:p>
          <a:p>
            <a:pPr lvl="0" indent="0" marL="0">
              <a:buNone/>
            </a:pPr>
            <a:r>
              <a:rPr/>
              <a:t>Go to </a:t>
            </a:r>
            <a:r>
              <a:rPr b="1"/>
              <a:t>ollama.com/download</a:t>
            </a:r>
            <a:r>
              <a:rPr/>
              <a:t>, choose your operating system, and run the installer. This works on macOS, Windows and Linux.</a:t>
            </a:r>
          </a:p>
          <a:p>
            <a:pPr lvl="0" indent="0" marL="0">
              <a:buNone/>
            </a:pPr>
            <a:r>
              <a:rPr/>
              <a:t>You may see a one-line </a:t>
            </a:r>
            <a:r>
              <a:rPr>
                <a:latin typeface="Courier"/>
              </a:rPr>
              <a:t>curl … | sh</a:t>
            </a:r>
            <a:r>
              <a:rPr/>
              <a:t> command on the web. Ignore it — the installer does the same thing and there is nothing to mistype.</a:t>
            </a:r>
          </a:p>
          <a:p>
            <a:pPr lvl="0" indent="0" marL="0">
              <a:buNone/>
            </a:pPr>
            <a:r>
              <a:rPr/>
              <a:t>On macOS, </a:t>
            </a:r>
            <a:r>
              <a:rPr b="1"/>
              <a:t>open the app once</a:t>
            </a:r>
            <a:r>
              <a:rPr/>
              <a:t> after installing. It puts the </a:t>
            </a:r>
            <a:r>
              <a:rPr>
                <a:latin typeface="Courier"/>
              </a:rPr>
              <a:t>ollama</a:t>
            </a:r>
            <a:r>
              <a:rPr/>
              <a:t> command in place and starts the background service.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Ollama is there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>
              <a:buNone/>
            </a:pPr>
            <a:r>
              <a:rPr>
                <a:latin typeface="Courier"/>
              </a:rPr>
              <a:t>ollama </a:t>
            </a:r>
            <a:r>
              <a:rPr>
                <a:solidFill>
                  <a:srgbClr val="7D9029"/>
                </a:solidFill>
                <a:latin typeface="Courier"/>
              </a:rPr>
              <a:t>--version</a:t>
            </a:r>
          </a:p>
          <a:p>
            <a:pPr lvl="0" indent="0" marL="0">
              <a:buNone/>
            </a:pPr>
            <a:r>
              <a:rPr/>
              <a:t>Prints a version number.</a:t>
            </a:r>
          </a:p>
          <a:p>
            <a:pPr lvl="0" indent="0" marL="0">
              <a:buNone/>
            </a:pPr>
            <a:r>
              <a:rPr i="1"/>
              <a:t>Command not found?</a:t>
            </a:r>
            <a:r>
              <a:rPr/>
              <a:t> Close the terminal panel and open a new one — a new terminal picks up the changed PATH. On Windows, restart VS Codium.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Pull Qwen 2.5 Coder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 marL="0">
              <a:buNone/>
            </a:pPr>
            <a:r>
              <a:rPr/>
              <a:t>Choose by the RAM in your machine. Rough rule: </a:t>
            </a:r>
            <a:r>
              <a:rPr b="1"/>
              <a:t>model size + 2 GB free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GB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qwen2.5-coder:3b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ollama pull qwen2.5-coder:3b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GB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qwen2.5-coder:7b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ollama pull qwen2.5-coder:7b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 GB+ / Apple Silicon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qwen2.5-coder:14b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ollama pull qwen2.5-coder:14b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also need the embedding model for Session 10:</a:t>
            </a:r>
          </a:p>
          <a:p>
            <a:pPr lvl="0" indent="0">
              <a:buNone/>
            </a:pPr>
            <a:r>
              <a:rPr>
                <a:latin typeface="Courier"/>
              </a:rPr>
              <a:t>ollama pull nomic-embed-text</a:t>
            </a:r>
          </a:p>
          <a:p>
            <a:pPr lvl="0" indent="0" marL="0">
              <a:buNone/>
            </a:pPr>
            <a:r>
              <a:rPr/>
              <a:t>This downloads several gigabytes. Do it on a good connection, </a:t>
            </a:r>
            <a:r>
              <a:rPr b="1"/>
              <a:t>not</a:t>
            </a:r>
            <a:r>
              <a:rPr/>
              <a:t> ten minutes before class.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>
              <a:buNone/>
            </a:pPr>
            <a:r>
              <a:rPr>
                <a:latin typeface="Courier"/>
              </a:rPr>
              <a:t>ollama list</a:t>
            </a:r>
          </a:p>
          <a:p>
            <a:pPr lvl="0" indent="0" marL="0">
              <a:buNone/>
            </a:pPr>
            <a:r>
              <a:rPr/>
              <a:t>You should see your model listed. Now talk to it:</a:t>
            </a:r>
          </a:p>
          <a:p>
            <a:pPr lvl="0" indent="0">
              <a:buNone/>
            </a:pPr>
            <a:r>
              <a:rPr>
                <a:latin typeface="Courier"/>
              </a:rPr>
              <a:t>ollama run qwen2.5-coder:7b </a:t>
            </a:r>
            <a:r>
              <a:rPr>
                <a:solidFill>
                  <a:srgbClr val="4070A0"/>
                </a:solidFill>
                <a:latin typeface="Courier"/>
              </a:rPr>
              <a:t>"Explain the bias-variance tradeoff in three sentences."</a:t>
            </a:r>
          </a:p>
          <a:p>
            <a:pPr lvl="0" indent="0" marL="0">
              <a:buNone/>
            </a:pPr>
            <a:r>
              <a:rPr/>
              <a:t>Type </a:t>
            </a:r>
            <a:r>
              <a:rPr>
                <a:latin typeface="Courier"/>
              </a:rPr>
              <a:t>/bye</a:t>
            </a:r>
            <a:r>
              <a:rPr/>
              <a:t> to leave the chat.</a:t>
            </a:r>
          </a:p>
          <a:p>
            <a:pPr lvl="0" indent="0" marL="0">
              <a:buNone/>
            </a:pPr>
            <a:r>
              <a:rPr b="1"/>
              <a:t>The real check.</a:t>
            </a:r>
            <a:r>
              <a:rPr/>
              <a:t> Turn off your wifi and run that command again. It should still answer. That is what “local” means.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6 — The CLI agent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Talking to Qwen from the terminal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Continue sidebar is useful for questions about a selected block of code.</a:t>
            </a:r>
          </a:p>
          <a:p>
            <a:pPr lvl="0" indent="0" marL="0">
              <a:buNone/>
            </a:pPr>
            <a:r>
              <a:rPr/>
              <a:t>But the way this course actually works — and the way I work in front of you — is an </a:t>
            </a:r>
            <a:r>
              <a:rPr b="1"/>
              <a:t>agent in the terminal</a:t>
            </a:r>
            <a:r>
              <a:rPr/>
              <a:t>: something that reads your files, edits them, and commits, while you steer it in prose.</a:t>
            </a:r>
          </a:p>
          <a:p>
            <a:pPr lvl="0" indent="0" marL="0">
              <a:buNone/>
            </a:pPr>
            <a:r>
              <a:rPr/>
              <a:t>That tool is </a:t>
            </a:r>
            <a:r>
              <a:rPr b="1"/>
              <a:t>aider</a:t>
            </a:r>
            <a:r>
              <a:rPr/>
              <a:t>, and it runs against your local Qwen.</a:t>
            </a:r>
          </a:p>
          <a:p>
            <a:pPr lvl="0" indent="0" marL="0">
              <a:buNone/>
            </a:pPr>
            <a:r>
              <a:rPr/>
              <a:t>The same shape as the workflow you have seen me use in class — and it is running on your laptop, on a model you downloaded.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 aider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 · with </a:t>
            </a:r>
            <a:r>
              <a:rPr>
                <a:latin typeface="Courier"/>
              </a:rPr>
              <a:t>(.venv)</a:t>
            </a:r>
            <a:r>
              <a:rPr/>
              <a:t> showing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pip install aider-install</a:t>
            </a:r>
            <a:br/>
            <a:r>
              <a:rPr>
                <a:latin typeface="Courier"/>
              </a:rPr>
              <a:t>aider-install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aider at Ollama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macOS / Linux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export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OLLAMA_API_BASE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http://127.0.0.1:11434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Windows (PowerShell) — then open a new terminal</a:t>
            </a:r>
            <a:br/>
            <a:r>
              <a:rPr>
                <a:latin typeface="Courier"/>
              </a:rPr>
              <a:t>setx OLLAMA_API_BASE http://127.0.0.1:11434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 Ollama a real context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step is not optional.</a:t>
            </a:r>
            <a:r>
              <a:rPr/>
              <a:t> Ollama defaults to a </a:t>
            </a:r>
            <a:r>
              <a:rPr b="1"/>
              <a:t>2k</a:t>
            </a:r>
            <a:r>
              <a:rPr/>
              <a:t> context window and then </a:t>
            </a:r>
            <a:r>
              <a:rPr i="1"/>
              <a:t>silently discards</a:t>
            </a:r>
            <a:r>
              <a:rPr/>
              <a:t> whatever does not fit. Your agent will appear to “forget” the file you just gave it.</a:t>
            </a:r>
          </a:p>
          <a:p>
            <a:pPr lvl="0" indent="0" marL="0">
              <a:buNone/>
            </a:pPr>
            <a:r>
              <a:rPr/>
              <a:t>Start the server with a larger window:</a:t>
            </a:r>
          </a:p>
          <a:p>
            <a:pPr lvl="0" indent="0" marL="0">
              <a:buNone/>
            </a:pPr>
            <a:r>
              <a:rPr/>
              <a:t>VS Codium terminal 1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OLLAMA_CONTEXT_LENGTH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8192 ollama serve</a:t>
            </a:r>
          </a:p>
          <a:p>
            <a:pPr lvl="0" indent="0" marL="0">
              <a:buNone/>
            </a:pPr>
            <a:r>
              <a:rPr/>
              <a:t>Leave that terminal running. Open a </a:t>
            </a:r>
            <a:r>
              <a:rPr b="1"/>
              <a:t>second</a:t>
            </a:r>
            <a:r>
              <a:rPr/>
              <a:t> terminal for aider.</a:t>
            </a:r>
          </a:p>
          <a:p>
            <a:pPr lvl="0" indent="0" marL="0">
              <a:buNone/>
            </a:pPr>
            <a:r>
              <a:rPr/>
              <a:t>In VS Codium: the </a:t>
            </a:r>
            <a:r>
              <a:rPr>
                <a:latin typeface="Courier"/>
              </a:rPr>
              <a:t>+</a:t>
            </a:r>
            <a:r>
              <a:rPr/>
              <a:t> icon in the terminal panel splits off a new shell.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 2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/path/to/your/repo</a:t>
            </a:r>
            <a:br/>
            <a:r>
              <a:rPr>
                <a:latin typeface="Courier"/>
              </a:rPr>
              <a:t>aider </a:t>
            </a:r>
            <a:r>
              <a:rPr>
                <a:solidFill>
                  <a:srgbClr val="7D9029"/>
                </a:solidFill>
                <a:latin typeface="Courier"/>
              </a:rPr>
              <a:t>--model</a:t>
            </a:r>
            <a:r>
              <a:rPr>
                <a:latin typeface="Courier"/>
              </a:rPr>
              <a:t> ollama_chat/qwen2.5-coder:7b</a:t>
            </a:r>
          </a:p>
          <a:p>
            <a:pPr lvl="0" indent="0" marL="0">
              <a:buNone/>
            </a:pPr>
            <a:r>
              <a:rPr/>
              <a:t>Note the prefix: </a:t>
            </a:r>
            <a:r>
              <a:rPr b="1">
                <a:latin typeface="Courier"/>
              </a:rPr>
              <a:t>ollama_chat/</a:t>
            </a:r>
            <a:r>
              <a:rPr/>
              <a:t>, not </a:t>
            </a:r>
            <a:r>
              <a:rPr>
                <a:latin typeface="Courier"/>
              </a:rPr>
              <a:t>ollama/</a:t>
            </a:r>
            <a:r>
              <a:rPr/>
              <a:t>. The second one exists and behaves worse.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it for something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are now at a prompt. Ask in plain language:</a:t>
            </a:r>
          </a:p>
          <a:p>
            <a:pPr lvl="0" indent="0">
              <a:buNone/>
            </a:pPr>
            <a:r>
              <a:rPr>
                <a:latin typeface="Courier"/>
              </a:rPr>
              <a:t>&gt; add a function that loads data/spine/core.parquet
  and prints the number of rows per country</a:t>
            </a:r>
          </a:p>
          <a:p>
            <a:pPr lvl="0" indent="0" marL="0">
              <a:buNone/>
            </a:pPr>
            <a:r>
              <a:rPr/>
              <a:t>aider writes the code, shows you a </a:t>
            </a:r>
            <a:r>
              <a:rPr b="1"/>
              <a:t>diff</a:t>
            </a:r>
            <a:r>
              <a:rPr/>
              <a:t>, and asks to apply it.</a:t>
            </a:r>
          </a:p>
          <a:p>
            <a:pPr lvl="0" indent="0" marL="0">
              <a:buNone/>
            </a:pPr>
            <a:r>
              <a:rPr/>
              <a:t>Read the diff before you accept. That habit is the whole skill.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worked example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terminals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Terminal 1</a:t>
            </a:r>
            <a:r>
              <a:rPr/>
              <a:t> — the model server, left running:</a:t>
            </a:r>
          </a:p>
          <a:p>
            <a:pPr lvl="0" indent="0" marL="0">
              <a:buNone/>
            </a:pPr>
            <a:r>
              <a:rPr/>
              <a:t>VS Codium terminal 1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OLLAMA_CONTEXT_LENGTH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8192 ollama serve</a:t>
            </a:r>
          </a:p>
          <a:p>
            <a:pPr lvl="0" indent="0" marL="0">
              <a:buNone/>
            </a:pPr>
            <a:r>
              <a:rPr b="1"/>
              <a:t>Terminal 2</a:t>
            </a:r>
            <a:r>
              <a:rPr/>
              <a:t> — inside your course folder:</a:t>
            </a:r>
          </a:p>
          <a:p>
            <a:pPr lvl="0" indent="0" marL="0">
              <a:buNone/>
            </a:pPr>
            <a:r>
              <a:rPr/>
              <a:t>VS Codium terminal 2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source</a:t>
            </a:r>
            <a:r>
              <a:rPr>
                <a:latin typeface="Courier"/>
              </a:rPr>
              <a:t> .venv/bin/activate</a:t>
            </a:r>
            <a:br/>
            <a:r>
              <a:rPr>
                <a:latin typeface="Courier"/>
              </a:rPr>
              <a:t>aider </a:t>
            </a:r>
            <a:r>
              <a:rPr>
                <a:solidFill>
                  <a:srgbClr val="7D9029"/>
                </a:solidFill>
                <a:latin typeface="Courier"/>
              </a:rPr>
              <a:t>--model</a:t>
            </a:r>
            <a:r>
              <a:rPr>
                <a:latin typeface="Courier"/>
              </a:rPr>
              <a:t> ollama_chat/qwen2.5-coder:7b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for something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the aider prompt</a:t>
            </a:r>
          </a:p>
          <a:p>
            <a:pPr lvl="0" indent="0">
              <a:buNone/>
            </a:pPr>
            <a:r>
              <a:rPr>
                <a:latin typeface="Courier"/>
              </a:rPr>
              <a:t>&gt; create explore.py that loads data/spine/core.parquet,
  prints the shape, and shows mean gdp_pc_eur by year</a:t>
            </a:r>
          </a:p>
          <a:p>
            <a:pPr lvl="0" indent="0" marL="0">
              <a:buNone/>
            </a:pPr>
            <a:r>
              <a:rPr/>
              <a:t>aider proposes a diff. You read it. You accept it.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explore.py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just happened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ran a model </a:t>
            </a:r>
            <a:r>
              <a:rPr b="1"/>
              <a:t>on your own hardware</a:t>
            </a:r>
            <a:r>
              <a:rPr/>
              <a:t>, had it write code against real data, reviewed the change, and accepted it — </a:t>
            </a:r>
            <a:r>
              <a:rPr b="1"/>
              <a:t>without sending one byte to anyone’s API.</a:t>
            </a:r>
          </a:p>
          <a:p>
            <a:pPr lvl="0" indent="0" marL="0">
              <a:buNone/>
            </a:pPr>
            <a:r>
              <a:rPr/>
              <a:t>Every lab this term is a variation on those two terminals.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 do it this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data stay put.</a:t>
            </a:r>
            <a:r>
              <a:rPr/>
              <a:t> Some of what you use this term cannot legally be uploaded.</a:t>
            </a:r>
          </a:p>
          <a:p>
            <a:pPr lvl="0"/>
            <a:r>
              <a:rPr b="1"/>
              <a:t>The cost is zero.</a:t>
            </a:r>
            <a:r>
              <a:rPr/>
              <a:t> No key, no quota, no bill at the end of the month.</a:t>
            </a:r>
          </a:p>
          <a:p>
            <a:pPr lvl="0"/>
            <a:r>
              <a:rPr b="1"/>
              <a:t>The record is honest.</a:t>
            </a:r>
            <a:r>
              <a:rPr/>
              <a:t> The diff shows exactly what changed, and why.</a:t>
            </a:r>
          </a:p>
          <a:p>
            <a:pPr lvl="0"/>
            <a:r>
              <a:rPr b="1"/>
              <a:t>The skill transfers.</a:t>
            </a:r>
            <a:r>
              <a:rPr/>
              <a:t> This is how the work is actually done now.</a:t>
            </a:r>
          </a:p>
          <a:p>
            <a:pPr lvl="0" indent="0" marL="0">
              <a:buNone/>
            </a:pPr>
            <a:r>
              <a:rPr/>
              <a:t>The model is a </a:t>
            </a:r>
            <a:r>
              <a:rPr b="1"/>
              <a:t>junior collaborator with no accountability.</a:t>
            </a:r>
            <a:r>
              <a:rPr/>
              <a:t> It will produce confident, wrong code. Every line you accept is a line you are claiming as correct. Read the diff.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If it breaks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ollama: command not found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Reopen the terminal; on Windows, restart VS Codium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answers very slowly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a smaller model (</a:t>
                      </a:r>
                      <a:r>
                        <a:rPr>
                          <a:latin typeface="Courier"/>
                        </a:rPr>
                        <a:t>:3b</a:t>
                      </a:r>
                      <a:r>
                        <a:rPr/>
                        <a:t>); close other applications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aider “forgets” your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skipped </a:t>
                      </a:r>
                      <a:r>
                        <a:rPr>
                          <a:latin typeface="Courier"/>
                        </a:rPr>
                        <a:t>OLLAMA_CONTEXT_LENGTH=8192 ollama serve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connection refused</a:t>
                      </a:r>
                      <a:r>
                        <a:rPr/>
                        <a:t> from aider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>
                          <a:latin typeface="Courier"/>
                        </a:rPr>
                        <a:t>ollama serve</a:t>
                      </a:r>
                      <a:r>
                        <a:rPr/>
                        <a:t> terminal is not running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pip</a:t>
                      </a:r>
                      <a:r>
                        <a:rPr/>
                        <a:t> fails on install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>
                          <a:latin typeface="Courier"/>
                        </a:rPr>
                        <a:t>(.venv)</a:t>
                      </a:r>
                      <a:r>
                        <a:rPr/>
                        <a:t> is in your prompt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python3</a:t>
                      </a:r>
                      <a:r>
                        <a:rPr/>
                        <a:t> not found on Windows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Try </a:t>
                      </a:r>
                      <a:r>
                        <a:rPr>
                          <a:latin typeface="Courier"/>
                        </a:rPr>
                        <a:t>python</a:t>
                      </a:r>
                      <a:r>
                        <a:rPr/>
                        <a:t>; if still missing, PATH was not ticked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Still stuck? Ask Qwen — that is itself a test of whether your setup works.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last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 Codium terminal · with </a:t>
            </a:r>
            <a:r>
              <a:rPr>
                <a:latin typeface="Courier"/>
              </a:rPr>
              <a:t>(.venv)</a:t>
            </a:r>
            <a:r>
              <a:rPr/>
              <a:t> showing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01-foundations-scenarios-and-tools/00-pre-session/verify_environment.py</a:t>
            </a:r>
          </a:p>
          <a:p>
            <a:pPr lvl="0" indent="0" marL="0">
              <a:buNone/>
            </a:pPr>
            <a:r>
              <a:rPr/>
              <a:t>You should see five checks pass.</a:t>
            </a:r>
          </a:p>
          <a:p>
            <a:pPr lvl="0" indent="0" marL="0">
              <a:buNone/>
            </a:pPr>
            <a:r>
              <a:rPr b="1"/>
              <a:t>Bring the output to class</a:t>
            </a:r>
            <a:r>
              <a:rPr/>
              <a:t> — a screenshot or a paste into your notes.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Session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VS Codium installed, Python environment built</a:t>
            </a:r>
          </a:p>
          <a:p>
            <a:pPr lvl="0"/>
            <a:r>
              <a:rPr/>
              <a:t>✅ Ollama running Qwen 2.5 Coder, verified </a:t>
            </a:r>
            <a:r>
              <a:rPr b="1"/>
              <a:t>with the wifi off</a:t>
            </a:r>
          </a:p>
          <a:p>
            <a:pPr lvl="0"/>
            <a:r>
              <a:rPr/>
              <a:t>✅ aider talking to your local model, editing a real file</a:t>
            </a:r>
          </a:p>
          <a:p>
            <a:pPr lvl="0"/>
            <a:r>
              <a:rPr/>
              <a:t>✅ </a:t>
            </a:r>
            <a:r>
              <a:rPr i="1"/>
              <a:t>Europe 2031</a:t>
            </a:r>
            <a:r>
              <a:rPr/>
              <a:t> read as a stress test, not a prediction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verify_environment.py</a:t>
            </a:r>
            <a:r>
              <a:rPr/>
              <a:t> output in hand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See you in Session 1.</a:t>
            </a:r>
          </a:p>
          <a:p>
            <a:pPr lvl="0" indent="0" marL="0">
              <a:buNone/>
            </a:pPr>
            <a:r>
              <a:rPr/>
              <a:t>Bring the machine you set up. Everything this term runs on it.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Thierry Warin</dc:creator>
  <cp:keywords/>
  <dcterms:created xsi:type="dcterms:W3CDTF">2026-08-20T19:40:04Z</dcterms:created>
  <dcterms:modified xsi:type="dcterms:W3CDTF">2026-08-20T19:40:04Z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19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Quantitative Methods in International Business — building your workstation</vt:lpwstr>
  </property>
  <property fmtid="{D5CDD505-2E9C-101B-9397-08002B2CF9AE}" pid="16" name="toc-title">
    <vt:lpwstr>Table of contents</vt:lpwstr>
  </property>
</Properties>
</file>