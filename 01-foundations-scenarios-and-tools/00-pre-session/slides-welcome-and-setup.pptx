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Override PartName="/docProps/app.xml" ContentType="application/vnd.openxmlformats-officedocument.extended-properties+xml"/>
  <Override PartName="/ppt/slideLayouts/slideLayout9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1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theme/theme2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viewProps.xml" ContentType="application/vnd.openxmlformats-officedocument.presentationml.viewProp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slides/slide45.xml" ContentType="application/vnd.openxmlformats-officedocument.presentationml.slide+xml"/>
  <Override PartName="/ppt/slides/slide46.xml" ContentType="application/vnd.openxmlformats-officedocument.presentationml.slide+xml"/>
  <Override PartName="/ppt/slides/slide47.xml" ContentType="application/vnd.openxmlformats-officedocument.presentationml.slide+xml"/>
  <Override PartName="/ppt/slides/slide48.xml" ContentType="application/vnd.openxmlformats-officedocument.presentationml.slide+xml"/>
  <Override PartName="/ppt/slides/slide49.xml" ContentType="application/vnd.openxmlformats-officedocument.presentationml.slide+xml"/>
  <Override PartName="/ppt/slides/slide50.xml" ContentType="application/vnd.openxmlformats-officedocument.presentationml.slide+xml"/>
  <Override PartName="/ppt/slides/slide51.xml" ContentType="application/vnd.openxmlformats-officedocument.presentationml.slide+xml"/>
</Types>
</file>

<file path=_rels/.rels><?xml version="1.0" encoding="UTF-8"?><Relationships xmlns="http://schemas.openxmlformats.org/package/2006/relationships"><Relationship Id="rId1" Type="http://schemas.openxmlformats.org/officeDocument/2006/relationships/officeDocument" Target="ppt/presentation.xml" /><Relationship Id="rId2" Type="http://schemas.openxmlformats.org/package/2006/relationships/metadata/core-properties" Target="docProps/core.xml" /><Relationship Id="rId3" Type="http://schemas.openxmlformats.org/package/2006/relationships/metadata/extended-properties" Target="docProps/app.xml" /><Relationship Id="rId4" Type="http://schemas.openxmlformats.org/officeDocument/2006/relationships/custom-properties" Target="docProps/custom.xml" />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autoCompressPictures="0" saveSubsetFonts="1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  <p:sldId id="283" r:id="rId29"/>
    <p:sldId id="284" r:id="rId30"/>
    <p:sldId id="285" r:id="rId31"/>
    <p:sldId id="286" r:id="rId32"/>
    <p:sldId id="287" r:id="rId33"/>
    <p:sldId id="288" r:id="rId34"/>
    <p:sldId id="289" r:id="rId35"/>
    <p:sldId id="290" r:id="rId36"/>
    <p:sldId id="291" r:id="rId37"/>
    <p:sldId id="292" r:id="rId38"/>
    <p:sldId id="293" r:id="rId39"/>
    <p:sldId id="294" r:id="rId40"/>
    <p:sldId id="295" r:id="rId41"/>
    <p:sldId id="296" r:id="rId42"/>
    <p:sldId id="297" r:id="rId43"/>
    <p:sldId id="298" r:id="rId44"/>
    <p:sldId id="299" r:id="rId45"/>
    <p:sldId id="300" r:id="rId46"/>
    <p:sldId id="301" r:id="rId47"/>
    <p:sldId id="302" r:id="rId48"/>
    <p:sldId id="303" r:id="rId49"/>
    <p:sldId id="304" r:id="rId50"/>
    <p:sldId id="305" r:id="rId51"/>
    <p:sldId id="306" r:id="rId52"/>
  </p:sldIdLst>
  <p:sldSz cx="9144000" cy="5143500" type="screen16x9"/>
  <p:notesSz cx="6858000" cy="9144000"/>
  <p:defaultTextStyle>
    <a:defPPr>
      <a:defRPr lang="en-US"/>
    </a:defPPr>
    <a:lvl1pPr algn="l" defTabSz="457200" eaLnBrk="1" hangingPunct="1" latinLnBrk="0" marL="0" rtl="0">
      <a:defRPr kern="1200" sz="1800">
        <a:solidFill>
          <a:schemeClr val="tx1"/>
        </a:solidFill>
        <a:latin typeface="+mn-lt"/>
        <a:ea typeface="+mn-ea"/>
        <a:cs typeface="+mn-cs"/>
      </a:defRPr>
    </a:lvl1pPr>
    <a:lvl2pPr algn="l" defTabSz="457200" eaLnBrk="1" hangingPunct="1" latinLnBrk="0" marL="457200" rtl="0">
      <a:defRPr kern="1200" sz="1800">
        <a:solidFill>
          <a:schemeClr val="tx1"/>
        </a:solidFill>
        <a:latin typeface="+mn-lt"/>
        <a:ea typeface="+mn-ea"/>
        <a:cs typeface="+mn-cs"/>
      </a:defRPr>
    </a:lvl2pPr>
    <a:lvl3pPr algn="l" defTabSz="457200" eaLnBrk="1" hangingPunct="1" latinLnBrk="0" marL="914400" rtl="0">
      <a:defRPr kern="1200" sz="1800">
        <a:solidFill>
          <a:schemeClr val="tx1"/>
        </a:solidFill>
        <a:latin typeface="+mn-lt"/>
        <a:ea typeface="+mn-ea"/>
        <a:cs typeface="+mn-cs"/>
      </a:defRPr>
    </a:lvl3pPr>
    <a:lvl4pPr algn="l" defTabSz="457200" eaLnBrk="1" hangingPunct="1" latinLnBrk="0" marL="1371600" rtl="0">
      <a:defRPr kern="1200" sz="1800">
        <a:solidFill>
          <a:schemeClr val="tx1"/>
        </a:solidFill>
        <a:latin typeface="+mn-lt"/>
        <a:ea typeface="+mn-ea"/>
        <a:cs typeface="+mn-cs"/>
      </a:defRPr>
    </a:lvl4pPr>
    <a:lvl5pPr algn="l" defTabSz="457200" eaLnBrk="1" hangingPunct="1" latinLnBrk="0" marL="1828800" rtl="0">
      <a:defRPr kern="1200" sz="1800">
        <a:solidFill>
          <a:schemeClr val="tx1"/>
        </a:solidFill>
        <a:latin typeface="+mn-lt"/>
        <a:ea typeface="+mn-ea"/>
        <a:cs typeface="+mn-cs"/>
      </a:defRPr>
    </a:lvl5pPr>
    <a:lvl6pPr algn="l" defTabSz="457200" eaLnBrk="1" hangingPunct="1" latinLnBrk="0" marL="2286000" rtl="0">
      <a:defRPr kern="1200" sz="1800">
        <a:solidFill>
          <a:schemeClr val="tx1"/>
        </a:solidFill>
        <a:latin typeface="+mn-lt"/>
        <a:ea typeface="+mn-ea"/>
        <a:cs typeface="+mn-cs"/>
      </a:defRPr>
    </a:lvl6pPr>
    <a:lvl7pPr algn="l" defTabSz="457200" eaLnBrk="1" hangingPunct="1" latinLnBrk="0" marL="2743200" rtl="0">
      <a:defRPr kern="1200" sz="1800">
        <a:solidFill>
          <a:schemeClr val="tx1"/>
        </a:solidFill>
        <a:latin typeface="+mn-lt"/>
        <a:ea typeface="+mn-ea"/>
        <a:cs typeface="+mn-cs"/>
      </a:defRPr>
    </a:lvl7pPr>
    <a:lvl8pPr algn="l" defTabSz="457200" eaLnBrk="1" hangingPunct="1" latinLnBrk="0" marL="3200400" rtl="0">
      <a:defRPr kern="1200" sz="1800">
        <a:solidFill>
          <a:schemeClr val="tx1"/>
        </a:solidFill>
        <a:latin typeface="+mn-lt"/>
        <a:ea typeface="+mn-ea"/>
        <a:cs typeface="+mn-cs"/>
      </a:defRPr>
    </a:lvl8pPr>
    <a:lvl9pPr algn="l" defTabSz="457200" eaLnBrk="1" hangingPunct="1" latinLnBrk="0" marL="3657600" rtl="0">
      <a:defRPr kern="1200" sz="18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620" userDrawn="1">
          <p15:clr>
            <a:srgbClr val="A4A3A4"/>
          </p15:clr>
        </p15:guide>
        <p15:guide id="2" pos="288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p="http://schemas.openxmlformats.org/presentationml/2006/main" xmlns:r="http://schemas.openxmlformats.org/officeDocument/2006/relationships">
  <p:normalViewPr>
    <p:restoredLeft autoAdjust="0" sz="15643"/>
    <p:restoredTop autoAdjust="0" sz="94694"/>
  </p:normalViewPr>
  <p:slideViewPr>
    <p:cSldViewPr snapToGrid="0" snapToObjects="1">
      <p:cViewPr varScale="1">
        <p:scale>
          <a:sx d="100" n="161"/>
          <a:sy d="100" n="161"/>
        </p:scale>
        <p:origin x="560" y="200"/>
      </p:cViewPr>
      <p:guideLst>
        <p:guide orient="horz" pos="1620"/>
        <p:guide pos="2880"/>
      </p:guideLst>
    </p:cSldViewPr>
  </p:slideViewPr>
  <p:outlineViewPr>
    <p:cViewPr>
      <p:scale>
        <a:sx d="100" n="33"/>
        <a:sy d="100" n="33"/>
      </p:scale>
      <p:origin x="0" y="0"/>
    </p:cViewPr>
  </p:outlineViewPr>
  <p:notesTextViewPr>
    <p:cViewPr>
      <p:scale>
        <a:sx d="100" n="100"/>
        <a:sy d="100" n="100"/>
      </p:scale>
      <p:origin x="0" y="0"/>
    </p:cViewPr>
  </p:notesTextViewPr>
  <p:gridSpacing cx="76200" cy="76200"/>
</p:viewPr>
</file>

<file path=ppt/_rels/presentation.xml.rels><?xml version="1.0" encoding="UTF-8"?><Relationships xmlns="http://schemas.openxmlformats.org/package/2006/relationships"><Relationship Id="rId2" Type="http://schemas.openxmlformats.org/officeDocument/2006/relationships/slide" Target="slides/slide1.xml" /><Relationship Id="rId3" Type="http://schemas.openxmlformats.org/officeDocument/2006/relationships/slide" Target="slides/slide2.xml" /><Relationship Id="rId4" Type="http://schemas.openxmlformats.org/officeDocument/2006/relationships/slide" Target="slides/slide3.xml" /><Relationship Id="rId5" Type="http://schemas.openxmlformats.org/officeDocument/2006/relationships/slide" Target="slides/slide4.xml" /><Relationship Id="rId6" Type="http://schemas.openxmlformats.org/officeDocument/2006/relationships/slide" Target="slides/slide5.xml" /><Relationship Id="rId7" Type="http://schemas.openxmlformats.org/officeDocument/2006/relationships/slide" Target="slides/slide6.xml" /><Relationship Id="rId8" Type="http://schemas.openxmlformats.org/officeDocument/2006/relationships/slide" Target="slides/slide7.xml" /><Relationship Id="rId9" Type="http://schemas.openxmlformats.org/officeDocument/2006/relationships/slide" Target="slides/slide8.xml" /><Relationship Id="rId10" Type="http://schemas.openxmlformats.org/officeDocument/2006/relationships/slide" Target="slides/slide9.xml" /><Relationship Id="rId11" Type="http://schemas.openxmlformats.org/officeDocument/2006/relationships/slide" Target="slides/slide10.xml" /><Relationship Id="rId12" Type="http://schemas.openxmlformats.org/officeDocument/2006/relationships/slide" Target="slides/slide11.xml" /><Relationship Id="rId13" Type="http://schemas.openxmlformats.org/officeDocument/2006/relationships/slide" Target="slides/slide12.xml" /><Relationship Id="rId14" Type="http://schemas.openxmlformats.org/officeDocument/2006/relationships/slide" Target="slides/slide13.xml" /><Relationship Id="rId15" Type="http://schemas.openxmlformats.org/officeDocument/2006/relationships/slide" Target="slides/slide14.xml" /><Relationship Id="rId16" Type="http://schemas.openxmlformats.org/officeDocument/2006/relationships/slide" Target="slides/slide15.xml" /><Relationship Id="rId17" Type="http://schemas.openxmlformats.org/officeDocument/2006/relationships/slide" Target="slides/slide16.xml" /><Relationship Id="rId18" Type="http://schemas.openxmlformats.org/officeDocument/2006/relationships/slide" Target="slides/slide17.xml" /><Relationship Id="rId19" Type="http://schemas.openxmlformats.org/officeDocument/2006/relationships/slide" Target="slides/slide18.xml" /><Relationship Id="rId20" Type="http://schemas.openxmlformats.org/officeDocument/2006/relationships/slide" Target="slides/slide19.xml" /><Relationship Id="rId21" Type="http://schemas.openxmlformats.org/officeDocument/2006/relationships/slide" Target="slides/slide20.xml" /><Relationship Id="rId22" Type="http://schemas.openxmlformats.org/officeDocument/2006/relationships/slide" Target="slides/slide21.xml" /><Relationship Id="rId23" Type="http://schemas.openxmlformats.org/officeDocument/2006/relationships/slide" Target="slides/slide22.xml" /><Relationship Id="rId24" Type="http://schemas.openxmlformats.org/officeDocument/2006/relationships/slide" Target="slides/slide23.xml" /><Relationship Id="rId25" Type="http://schemas.openxmlformats.org/officeDocument/2006/relationships/slide" Target="slides/slide24.xml" /><Relationship Id="rId26" Type="http://schemas.openxmlformats.org/officeDocument/2006/relationships/slide" Target="slides/slide25.xml" /><Relationship Id="rId27" Type="http://schemas.openxmlformats.org/officeDocument/2006/relationships/slide" Target="slides/slide26.xml" /><Relationship Id="rId28" Type="http://schemas.openxmlformats.org/officeDocument/2006/relationships/slide" Target="slides/slide27.xml" /><Relationship Id="rId29" Type="http://schemas.openxmlformats.org/officeDocument/2006/relationships/slide" Target="slides/slide28.xml" /><Relationship Id="rId30" Type="http://schemas.openxmlformats.org/officeDocument/2006/relationships/slide" Target="slides/slide29.xml" /><Relationship Id="rId31" Type="http://schemas.openxmlformats.org/officeDocument/2006/relationships/slide" Target="slides/slide30.xml" /><Relationship Id="rId32" Type="http://schemas.openxmlformats.org/officeDocument/2006/relationships/slide" Target="slides/slide31.xml" /><Relationship Id="rId33" Type="http://schemas.openxmlformats.org/officeDocument/2006/relationships/slide" Target="slides/slide32.xml" /><Relationship Id="rId34" Type="http://schemas.openxmlformats.org/officeDocument/2006/relationships/slide" Target="slides/slide33.xml" /><Relationship Id="rId35" Type="http://schemas.openxmlformats.org/officeDocument/2006/relationships/slide" Target="slides/slide34.xml" /><Relationship Id="rId36" Type="http://schemas.openxmlformats.org/officeDocument/2006/relationships/slide" Target="slides/slide35.xml" /><Relationship Id="rId37" Type="http://schemas.openxmlformats.org/officeDocument/2006/relationships/slide" Target="slides/slide36.xml" /><Relationship Id="rId38" Type="http://schemas.openxmlformats.org/officeDocument/2006/relationships/slide" Target="slides/slide37.xml" /><Relationship Id="rId39" Type="http://schemas.openxmlformats.org/officeDocument/2006/relationships/slide" Target="slides/slide38.xml" /><Relationship Id="rId40" Type="http://schemas.openxmlformats.org/officeDocument/2006/relationships/slide" Target="slides/slide39.xml" /><Relationship Id="rId41" Type="http://schemas.openxmlformats.org/officeDocument/2006/relationships/slide" Target="slides/slide40.xml" /><Relationship Id="rId42" Type="http://schemas.openxmlformats.org/officeDocument/2006/relationships/slide" Target="slides/slide41.xml" /><Relationship Id="rId43" Type="http://schemas.openxmlformats.org/officeDocument/2006/relationships/slide" Target="slides/slide42.xml" /><Relationship Id="rId44" Type="http://schemas.openxmlformats.org/officeDocument/2006/relationships/slide" Target="slides/slide43.xml" /><Relationship Id="rId45" Type="http://schemas.openxmlformats.org/officeDocument/2006/relationships/slide" Target="slides/slide44.xml" /><Relationship Id="rId46" Type="http://schemas.openxmlformats.org/officeDocument/2006/relationships/slide" Target="slides/slide45.xml" /><Relationship Id="rId47" Type="http://schemas.openxmlformats.org/officeDocument/2006/relationships/slide" Target="slides/slide46.xml" /><Relationship Id="rId48" Type="http://schemas.openxmlformats.org/officeDocument/2006/relationships/slide" Target="slides/slide47.xml" /><Relationship Id="rId49" Type="http://schemas.openxmlformats.org/officeDocument/2006/relationships/slide" Target="slides/slide48.xml" /><Relationship Id="rId50" Type="http://schemas.openxmlformats.org/officeDocument/2006/relationships/slide" Target="slides/slide49.xml" /><Relationship Id="rId51" Type="http://schemas.openxmlformats.org/officeDocument/2006/relationships/slide" Target="slides/slide50.xml" /><Relationship Id="rId52" Type="http://schemas.openxmlformats.org/officeDocument/2006/relationships/slide" Target="slides/slide51.xml" /><Relationship Id="rId54" Type="http://schemas.openxmlformats.org/officeDocument/2006/relationships/viewProps" Target="viewProps.xml" /><Relationship Id="rId53" Type="http://schemas.openxmlformats.org/officeDocument/2006/relationships/presProps" Target="presProps.xml" /><Relationship Id="rId1" Type="http://schemas.openxmlformats.org/officeDocument/2006/relationships/slideMaster" Target="slideMasters/slideMaster1.xml" /><Relationship Id="rId56" Type="http://schemas.openxmlformats.org/officeDocument/2006/relationships/tableStyles" Target="tableStyles.xml" /><Relationship Id="rId55" Type="http://schemas.openxmlformats.org/officeDocument/2006/relationships/theme" Target="theme/theme1.xml" 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2914650"/>
            <a:ext cx="6400800" cy="131445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3429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685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0287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17145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057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24003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4435751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834600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 anchor="t"/>
          <a:lstStyle>
            <a:lvl1pPr algn="l">
              <a:defRPr sz="185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180035"/>
            <a:ext cx="7772400" cy="1125140"/>
          </a:xfrm>
        </p:spPr>
        <p:txBody>
          <a:bodyPr anchor="b"/>
          <a:lstStyle>
            <a:lvl1pPr marL="0" indent="0">
              <a:buNone/>
              <a:defRPr sz="95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>
              <a:buNone/>
              <a:defRPr sz="85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75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65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65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65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65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65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65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7306907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200151"/>
            <a:ext cx="4038600" cy="3394472"/>
          </a:xfrm>
        </p:spPr>
        <p:txBody>
          <a:bodyPr/>
          <a:lstStyle>
            <a:lvl1pPr>
              <a:defRPr sz="1300"/>
            </a:lvl1pPr>
            <a:lvl2pPr>
              <a:defRPr sz="1100"/>
            </a:lvl2pPr>
            <a:lvl3pPr>
              <a:defRPr sz="950"/>
            </a:lvl3pPr>
            <a:lvl4pPr>
              <a:defRPr sz="850"/>
            </a:lvl4pPr>
            <a:lvl5pPr>
              <a:defRPr sz="850"/>
            </a:lvl5pPr>
            <a:lvl6pPr>
              <a:defRPr sz="850"/>
            </a:lvl6pPr>
            <a:lvl7pPr>
              <a:defRPr sz="850"/>
            </a:lvl7pPr>
            <a:lvl8pPr>
              <a:defRPr sz="850"/>
            </a:lvl8pPr>
            <a:lvl9pPr>
              <a:defRPr sz="85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200151"/>
            <a:ext cx="4038600" cy="3394472"/>
          </a:xfrm>
        </p:spPr>
        <p:txBody>
          <a:bodyPr/>
          <a:lstStyle>
            <a:lvl1pPr>
              <a:defRPr sz="1300"/>
            </a:lvl1pPr>
            <a:lvl2pPr>
              <a:defRPr sz="1100"/>
            </a:lvl2pPr>
            <a:lvl3pPr>
              <a:defRPr sz="950"/>
            </a:lvl3pPr>
            <a:lvl4pPr>
              <a:defRPr sz="850"/>
            </a:lvl4pPr>
            <a:lvl5pPr>
              <a:defRPr sz="850"/>
            </a:lvl5pPr>
            <a:lvl6pPr>
              <a:defRPr sz="850"/>
            </a:lvl6pPr>
            <a:lvl7pPr>
              <a:defRPr sz="850"/>
            </a:lvl7pPr>
            <a:lvl8pPr>
              <a:defRPr sz="850"/>
            </a:lvl8pPr>
            <a:lvl9pPr>
              <a:defRPr sz="85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988624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151335"/>
            <a:ext cx="4040188" cy="479822"/>
          </a:xfrm>
        </p:spPr>
        <p:txBody>
          <a:bodyPr anchor="b"/>
          <a:lstStyle>
            <a:lvl1pPr marL="0" indent="0">
              <a:buNone/>
              <a:defRPr sz="1100" b="1"/>
            </a:lvl1pPr>
            <a:lvl2pPr marL="342900" indent="0">
              <a:buNone/>
              <a:defRPr sz="950" b="1"/>
            </a:lvl2pPr>
            <a:lvl3pPr marL="685800" indent="0">
              <a:buNone/>
              <a:defRPr sz="850" b="1"/>
            </a:lvl3pPr>
            <a:lvl4pPr marL="1028700" indent="0">
              <a:buNone/>
              <a:defRPr sz="750" b="1"/>
            </a:lvl4pPr>
            <a:lvl5pPr marL="1371600" indent="0">
              <a:buNone/>
              <a:defRPr sz="750" b="1"/>
            </a:lvl5pPr>
            <a:lvl6pPr marL="1714500" indent="0">
              <a:buNone/>
              <a:defRPr sz="750" b="1"/>
            </a:lvl6pPr>
            <a:lvl7pPr marL="2057400" indent="0">
              <a:buNone/>
              <a:defRPr sz="750" b="1"/>
            </a:lvl7pPr>
            <a:lvl8pPr marL="2400300" indent="0">
              <a:buNone/>
              <a:defRPr sz="750" b="1"/>
            </a:lvl8pPr>
            <a:lvl9pPr marL="2743200" indent="0">
              <a:buNone/>
              <a:defRPr sz="75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1631156"/>
            <a:ext cx="4040188" cy="2963466"/>
          </a:xfrm>
        </p:spPr>
        <p:txBody>
          <a:bodyPr/>
          <a:lstStyle>
            <a:lvl1pPr>
              <a:defRPr sz="1100"/>
            </a:lvl1pPr>
            <a:lvl2pPr>
              <a:defRPr sz="950"/>
            </a:lvl2pPr>
            <a:lvl3pPr>
              <a:defRPr sz="850"/>
            </a:lvl3pPr>
            <a:lvl4pPr>
              <a:defRPr sz="750"/>
            </a:lvl4pPr>
            <a:lvl5pPr>
              <a:defRPr sz="750"/>
            </a:lvl5pPr>
            <a:lvl6pPr>
              <a:defRPr sz="750"/>
            </a:lvl6pPr>
            <a:lvl7pPr>
              <a:defRPr sz="750"/>
            </a:lvl7pPr>
            <a:lvl8pPr>
              <a:defRPr sz="750"/>
            </a:lvl8pPr>
            <a:lvl9pPr>
              <a:defRPr sz="75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6" y="1151335"/>
            <a:ext cx="4041775" cy="479822"/>
          </a:xfrm>
        </p:spPr>
        <p:txBody>
          <a:bodyPr anchor="b"/>
          <a:lstStyle>
            <a:lvl1pPr marL="0" indent="0">
              <a:buNone/>
              <a:defRPr sz="1100" b="1"/>
            </a:lvl1pPr>
            <a:lvl2pPr marL="342900" indent="0">
              <a:buNone/>
              <a:defRPr sz="950" b="1"/>
            </a:lvl2pPr>
            <a:lvl3pPr marL="685800" indent="0">
              <a:buNone/>
              <a:defRPr sz="850" b="1"/>
            </a:lvl3pPr>
            <a:lvl4pPr marL="1028700" indent="0">
              <a:buNone/>
              <a:defRPr sz="750" b="1"/>
            </a:lvl4pPr>
            <a:lvl5pPr marL="1371600" indent="0">
              <a:buNone/>
              <a:defRPr sz="750" b="1"/>
            </a:lvl5pPr>
            <a:lvl6pPr marL="1714500" indent="0">
              <a:buNone/>
              <a:defRPr sz="750" b="1"/>
            </a:lvl6pPr>
            <a:lvl7pPr marL="2057400" indent="0">
              <a:buNone/>
              <a:defRPr sz="750" b="1"/>
            </a:lvl7pPr>
            <a:lvl8pPr marL="2400300" indent="0">
              <a:buNone/>
              <a:defRPr sz="750" b="1"/>
            </a:lvl8pPr>
            <a:lvl9pPr marL="2743200" indent="0">
              <a:buNone/>
              <a:defRPr sz="75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6" y="1631156"/>
            <a:ext cx="4041775" cy="2963466"/>
          </a:xfrm>
        </p:spPr>
        <p:txBody>
          <a:bodyPr/>
          <a:lstStyle>
            <a:lvl1pPr>
              <a:defRPr sz="1100"/>
            </a:lvl1pPr>
            <a:lvl2pPr>
              <a:defRPr sz="950"/>
            </a:lvl2pPr>
            <a:lvl3pPr>
              <a:defRPr sz="850"/>
            </a:lvl3pPr>
            <a:lvl4pPr>
              <a:defRPr sz="750"/>
            </a:lvl4pPr>
            <a:lvl5pPr>
              <a:defRPr sz="750"/>
            </a:lvl5pPr>
            <a:lvl6pPr>
              <a:defRPr sz="750"/>
            </a:lvl6pPr>
            <a:lvl7pPr>
              <a:defRPr sz="750"/>
            </a:lvl7pPr>
            <a:lvl8pPr>
              <a:defRPr sz="750"/>
            </a:lvl8pPr>
            <a:lvl9pPr>
              <a:defRPr sz="75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3579396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7272125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3090109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1" y="204787"/>
            <a:ext cx="3008313" cy="871538"/>
          </a:xfrm>
        </p:spPr>
        <p:txBody>
          <a:bodyPr anchor="b"/>
          <a:lstStyle>
            <a:lvl1pPr algn="l">
              <a:defRPr sz="95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04788"/>
            <a:ext cx="5111750" cy="4389835"/>
          </a:xfrm>
        </p:spPr>
        <p:txBody>
          <a:bodyPr/>
          <a:lstStyle>
            <a:lvl1pPr>
              <a:defRPr sz="1500"/>
            </a:lvl1pPr>
            <a:lvl2pPr>
              <a:defRPr sz="1300"/>
            </a:lvl2pPr>
            <a:lvl3pPr>
              <a:defRPr sz="1100"/>
            </a:lvl3pPr>
            <a:lvl4pPr>
              <a:defRPr sz="950"/>
            </a:lvl4pPr>
            <a:lvl5pPr>
              <a:defRPr sz="950"/>
            </a:lvl5pPr>
            <a:lvl6pPr>
              <a:defRPr sz="950"/>
            </a:lvl6pPr>
            <a:lvl7pPr>
              <a:defRPr sz="950"/>
            </a:lvl7pPr>
            <a:lvl8pPr>
              <a:defRPr sz="950"/>
            </a:lvl8pPr>
            <a:lvl9pPr>
              <a:defRPr sz="95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1" y="1076326"/>
            <a:ext cx="3008313" cy="3518297"/>
          </a:xfrm>
        </p:spPr>
        <p:txBody>
          <a:bodyPr/>
          <a:lstStyle>
            <a:lvl1pPr marL="0" indent="0">
              <a:buNone/>
              <a:defRPr sz="650"/>
            </a:lvl1pPr>
            <a:lvl2pPr marL="342900" indent="0">
              <a:buNone/>
              <a:defRPr sz="550"/>
            </a:lvl2pPr>
            <a:lvl3pPr marL="685800" indent="0">
              <a:buNone/>
              <a:defRPr sz="550"/>
            </a:lvl3pPr>
            <a:lvl4pPr marL="1028700" indent="0">
              <a:buNone/>
              <a:defRPr sz="550"/>
            </a:lvl4pPr>
            <a:lvl5pPr marL="1371600" indent="0">
              <a:buNone/>
              <a:defRPr sz="550"/>
            </a:lvl5pPr>
            <a:lvl6pPr marL="1714500" indent="0">
              <a:buNone/>
              <a:defRPr sz="550"/>
            </a:lvl6pPr>
            <a:lvl7pPr marL="2057400" indent="0">
              <a:buNone/>
              <a:defRPr sz="550"/>
            </a:lvl7pPr>
            <a:lvl8pPr marL="2400300" indent="0">
              <a:buNone/>
              <a:defRPr sz="550"/>
            </a:lvl8pPr>
            <a:lvl9pPr marL="2743200" indent="0">
              <a:buNone/>
              <a:defRPr sz="55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4089564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3600450"/>
            <a:ext cx="5486400" cy="425054"/>
          </a:xfrm>
        </p:spPr>
        <p:txBody>
          <a:bodyPr anchor="b"/>
          <a:lstStyle>
            <a:lvl1pPr algn="l">
              <a:defRPr sz="95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459581"/>
            <a:ext cx="5486400" cy="3086100"/>
          </a:xfrm>
        </p:spPr>
        <p:txBody>
          <a:bodyPr/>
          <a:lstStyle>
            <a:lvl1pPr marL="0" indent="0">
              <a:buNone/>
              <a:defRPr sz="1500"/>
            </a:lvl1pPr>
            <a:lvl2pPr marL="342900" indent="0">
              <a:buNone/>
              <a:defRPr sz="1300"/>
            </a:lvl2pPr>
            <a:lvl3pPr marL="685800" indent="0">
              <a:buNone/>
              <a:defRPr sz="1100"/>
            </a:lvl3pPr>
            <a:lvl4pPr marL="1028700" indent="0">
              <a:buNone/>
              <a:defRPr sz="950"/>
            </a:lvl4pPr>
            <a:lvl5pPr marL="1371600" indent="0">
              <a:buNone/>
              <a:defRPr sz="950"/>
            </a:lvl5pPr>
            <a:lvl6pPr marL="1714500" indent="0">
              <a:buNone/>
              <a:defRPr sz="950"/>
            </a:lvl6pPr>
            <a:lvl7pPr marL="2057400" indent="0">
              <a:buNone/>
              <a:defRPr sz="950"/>
            </a:lvl7pPr>
            <a:lvl8pPr marL="2400300" indent="0">
              <a:buNone/>
              <a:defRPr sz="950"/>
            </a:lvl8pPr>
            <a:lvl9pPr marL="2743200" indent="0">
              <a:buNone/>
              <a:defRPr sz="95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4025503"/>
            <a:ext cx="5486400" cy="603647"/>
          </a:xfrm>
        </p:spPr>
        <p:txBody>
          <a:bodyPr/>
          <a:lstStyle>
            <a:lvl1pPr marL="0" indent="0">
              <a:buNone/>
              <a:defRPr sz="650"/>
            </a:lvl1pPr>
            <a:lvl2pPr marL="342900" indent="0">
              <a:buNone/>
              <a:defRPr sz="550"/>
            </a:lvl2pPr>
            <a:lvl3pPr marL="685800" indent="0">
              <a:buNone/>
              <a:defRPr sz="550"/>
            </a:lvl3pPr>
            <a:lvl4pPr marL="1028700" indent="0">
              <a:buNone/>
              <a:defRPr sz="550"/>
            </a:lvl4pPr>
            <a:lvl5pPr marL="1371600" indent="0">
              <a:buNone/>
              <a:defRPr sz="550"/>
            </a:lvl5pPr>
            <a:lvl6pPr marL="1714500" indent="0">
              <a:buNone/>
              <a:defRPr sz="550"/>
            </a:lvl6pPr>
            <a:lvl7pPr marL="2057400" indent="0">
              <a:buNone/>
              <a:defRPr sz="550"/>
            </a:lvl7pPr>
            <a:lvl8pPr marL="2400300" indent="0">
              <a:buNone/>
              <a:defRPr sz="550"/>
            </a:lvl8pPr>
            <a:lvl9pPr marL="2743200" indent="0">
              <a:buNone/>
              <a:defRPr sz="55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6689985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391479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05979"/>
            <a:ext cx="2057400" cy="4388644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05979"/>
            <a:ext cx="6019800" cy="438864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81529045"/>
      </p:ext>
    </p:extLst>
  </p:cSld>
  <p:clrMapOvr>
    <a:masterClrMapping/>
  </p:clrMapOvr>
</p:sldLayout>
</file>

<file path=ppt/slideMasters/_rels/slideMaster1.xml.rels><?xml version="1.0" encoding="UTF-8"?><Relationships xmlns="http://schemas.openxmlformats.org/package/2006/relationships"><Relationship Id="rId8" Target="../slideLayouts/slideLayout8.xml" Type="http://schemas.openxmlformats.org/officeDocument/2006/relationships/slideLayout" /><Relationship Id="rId3" Target="../slideLayouts/slideLayout3.xml" Type="http://schemas.openxmlformats.org/officeDocument/2006/relationships/slideLayout" /><Relationship Id="rId7" Target="../slideLayouts/slideLayout7.xml" Type="http://schemas.openxmlformats.org/officeDocument/2006/relationships/slideLayout" /><Relationship Id="rId12" Target="../theme/theme1.xml" Type="http://schemas.openxmlformats.org/officeDocument/2006/relationships/theme" /><Relationship Id="rId2" Target="../slideLayouts/slideLayout2.xml" Type="http://schemas.openxmlformats.org/officeDocument/2006/relationships/slideLayout" /><Relationship Id="rId1" Target="../slideLayouts/slideLayout1.xml" Type="http://schemas.openxmlformats.org/officeDocument/2006/relationships/slideLayout" /><Relationship Id="rId6" Target="../slideLayouts/slideLayout6.xml" Type="http://schemas.openxmlformats.org/officeDocument/2006/relationships/slideLayout" /><Relationship Id="rId11" Target="../slideLayouts/slideLayout11.xml" Type="http://schemas.openxmlformats.org/officeDocument/2006/relationships/slideLayout" /><Relationship Id="rId5" Target="../slideLayouts/slideLayout5.xml" Type="http://schemas.openxmlformats.org/officeDocument/2006/relationships/slideLayout" /><Relationship Id="rId10" Target="../slideLayouts/slideLayout10.xml" Type="http://schemas.openxmlformats.org/officeDocument/2006/relationships/slideLayout" /><Relationship Id="rId4" Target="../slideLayouts/slideLayout4.xml" Type="http://schemas.openxmlformats.org/officeDocument/2006/relationships/slideLayout" /><Relationship Id="rId9" Target="../slideLayouts/slideLayout9.xml" Type="http://schemas.openxmlformats.org/officeDocument/2006/relationships/slideLayout" 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05979"/>
            <a:ext cx="8229600" cy="857250"/>
          </a:xfrm>
          <a:prstGeom prst="rect">
            <a:avLst/>
          </a:prstGeom>
        </p:spPr>
        <p:txBody>
          <a:bodyPr anchor="ctr" bIns="45720" lIns="91440" rIns="91440" rtlCol="0" tIns="45720" vert="horz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>
          <a:xfrm>
            <a:off x="457200" y="1200151"/>
            <a:ext cx="8229600" cy="3394472"/>
          </a:xfrm>
          <a:prstGeom prst="rect">
            <a:avLst/>
          </a:prstGeom>
        </p:spPr>
        <p:txBody>
          <a:bodyPr bIns="45720" lIns="91440" rIns="91440" rtlCol="0" tIns="45720" vert="horz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2" sz="half" type="dt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l">
              <a:defRPr sz="55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idx="3" sz="quarter" type="ftr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ctr">
              <a:defRPr sz="55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idx="4" sz="quarter" type="sldNum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r">
              <a:defRPr sz="55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  <p:sp>
        <p:nvSpPr>
          <p:cNvPr id="7" name="Author Footer"/>
          <p:cNvSpPr txBox="1"/>
          <p:nvPr/>
        </p:nvSpPr>
        <p:spPr>
          <a:xfrm>
            <a:off x="457200" y="4735000"/>
            <a:ext cx="5000000" cy="260000"/>
          </a:xfrm>
          <a:prstGeom prst="rect">
            <a:avLst/>
          </a:prstGeom>
          <a:noFill/>
        </p:spPr>
        <p:txBody>
          <a:bodyPr anchor="ctr" bIns="0" lIns="0" rIns="0" tIns="0" wrap="square"/>
          <a:lstStyle/>
          <a:p>
            <a:pPr algn="l"/>
            <a:r>
              <a:rPr dirty="0" lang="en-US" sz="900">
                <a:solidFill>
                  <a:srgbClr val="6E7275"/>
                </a:solidFill>
                <a:latin typeface="+mn-lt"/>
              </a:rPr>
              <a:t>Thierry Warin, PhD</a:t>
            </a:r>
          </a:p>
        </p:txBody>
      </p:sp>
      <p:sp>
        <p:nvSpPr>
          <p:cNvPr id="8" name="Slide Number Footer"/>
          <p:cNvSpPr txBox="1"/>
          <p:nvPr/>
        </p:nvSpPr>
        <p:spPr>
          <a:xfrm>
            <a:off x="7200000" y="4735000"/>
            <a:ext cx="1486800" cy="260000"/>
          </a:xfrm>
          <a:prstGeom prst="rect">
            <a:avLst/>
          </a:prstGeom>
          <a:noFill/>
        </p:spPr>
        <p:txBody>
          <a:bodyPr anchor="ctr" bIns="0" lIns="0" rIns="0" tIns="0" wrap="square"/>
          <a:lstStyle/>
          <a:p>
            <a:pPr algn="r"/>
            <a:fld id="{9B1A2C3D-4E5F-6A7B-8C9D-0E1F2A3B4C5D}" type="slidenum">
              <a:rPr dirty="0" lang="en-US" sz="900">
                <a:solidFill>
                  <a:srgbClr val="6E7275"/>
                </a:solidFill>
                <a:latin typeface="+mn-lt"/>
              </a:rPr>
              <a:t>2</a:t>
            </a:fld>
          </a:p>
        </p:txBody>
      </p:sp>
    </p:spTree>
    <p:extLst>
      <p:ext uri="{BB962C8B-B14F-4D97-AF65-F5344CB8AC3E}">
        <p14:creationId xmlns:p14="http://schemas.microsoft.com/office/powerpoint/2010/main" val="3676200875"/>
      </p:ext>
    </p:extLst>
  </p:cSld>
  <p:clrMap accent1="accent1" accent2="accent2" accent3="accent3" accent4="accent4" accent5="accent5" accent6="accent6" bg1="lt1" bg2="lt2" folHlink="folHlink" hlink="hlink" tx1="dk1" tx2="dk2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342900" eaLnBrk="1" hangingPunct="1" latinLnBrk="0" rtl="0">
        <a:spcBef>
          <a:spcPct val="0"/>
        </a:spcBef>
        <a:buNone/>
        <a:defRPr kern="1200" sz="205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algn="l" defTabSz="342900" eaLnBrk="1" hangingPunct="1" indent="-342900" latinLnBrk="0" marL="3429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indent="-342900" latinLnBrk="0" marL="685800" rtl="0">
        <a:spcBef>
          <a:spcPct val="20000"/>
        </a:spcBef>
        <a:buFont typeface="Arial"/>
        <a:buChar char="–"/>
        <a:defRPr kern="1200" sz="130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indent="-342900" latinLnBrk="0" marL="1028700" rtl="0">
        <a:spcBef>
          <a:spcPct val="20000"/>
        </a:spcBef>
        <a:buFont typeface="Arial"/>
        <a:buChar char="•"/>
        <a:defRPr kern="1200" sz="110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indent="-342900" latinLnBrk="0" marL="1371600" rtl="0">
        <a:spcBef>
          <a:spcPct val="20000"/>
        </a:spcBef>
        <a:buFont typeface="Arial"/>
        <a:buChar char="–"/>
        <a:defRPr kern="1200" sz="95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indent="-342900" latinLnBrk="0" marL="1714500" rtl="0">
        <a:spcBef>
          <a:spcPct val="20000"/>
        </a:spcBef>
        <a:buFont typeface="Arial"/>
        <a:buChar char="»"/>
        <a:defRPr kern="1200" sz="95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indent="-342900" latinLnBrk="0" marL="2057400" rtl="0">
        <a:spcBef>
          <a:spcPct val="20000"/>
        </a:spcBef>
        <a:buFont typeface="Arial"/>
        <a:buChar char="•"/>
        <a:defRPr kern="1200" sz="95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indent="-342900" latinLnBrk="0" marL="2400300" rtl="0">
        <a:spcBef>
          <a:spcPct val="20000"/>
        </a:spcBef>
        <a:buFont typeface="Arial"/>
        <a:buChar char="•"/>
        <a:defRPr kern="1200" sz="95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indent="-342900" latinLnBrk="0" marL="2743200" rtl="0">
        <a:spcBef>
          <a:spcPct val="20000"/>
        </a:spcBef>
        <a:buFont typeface="Arial"/>
        <a:buChar char="•"/>
        <a:defRPr kern="1200" sz="95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indent="-342900" latinLnBrk="0" marL="3086100" rtl="0">
        <a:spcBef>
          <a:spcPct val="20000"/>
        </a:spcBef>
        <a:buFont typeface="Arial"/>
        <a:buChar char="•"/>
        <a:defRPr kern="1200" sz="95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algn="l" defTabSz="342900" eaLnBrk="1" hangingPunct="1" latinLnBrk="0" marL="0" rtl="0">
        <a:defRPr kern="1200" sz="85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latinLnBrk="0" marL="342900" rtl="0">
        <a:defRPr kern="1200" sz="85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latinLnBrk="0" marL="685800" rtl="0">
        <a:defRPr kern="1200" sz="85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latinLnBrk="0" marL="1028700" rtl="0">
        <a:defRPr kern="1200" sz="85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latinLnBrk="0" marL="1371600" rtl="0">
        <a:defRPr kern="1200" sz="85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latinLnBrk="0" marL="1714500" rtl="0">
        <a:defRPr kern="1200" sz="85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latinLnBrk="0" marL="2057400" rtl="0">
        <a:defRPr kern="1200" sz="85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latinLnBrk="0" marL="2400300" rtl="0">
        <a:defRPr kern="1200" sz="85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latinLnBrk="0" marL="2743200" rtl="0">
        <a:defRPr kern="1200" sz="85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 /></Relationships>
</file>

<file path=ppt/slides/_rels/slide2.xml.rels><?xml version="1.0" encoding="UTF-8"?><Relationships xmlns="http://schemas.openxmlformats.org/package/2006/relationships"><Relationship Id="rId1" Type="http://schemas.openxmlformats.org/officeDocument/2006/relationships/slideLayout" Target="../slideLayouts/slideLayout3.xml" /></Relationships>
</file>

<file path=ppt/slides/_rels/slide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5.xml.rels><?xml version="1.0" encoding="UTF-8"?><Relationships xmlns="http://schemas.openxmlformats.org/package/2006/relationships"><Relationship Id="rId1" Type="http://schemas.openxmlformats.org/officeDocument/2006/relationships/slideLayout" Target="../slideLayouts/slideLayout8.xml" /></Relationships>
</file>

<file path=ppt/slides/_rels/slide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7.xml.rels><?xml version="1.0" encoding="UTF-8"?><Relationships xmlns="http://schemas.openxmlformats.org/package/2006/relationships"><Relationship Id="rId1" Type="http://schemas.openxmlformats.org/officeDocument/2006/relationships/slideLayout" Target="../slideLayouts/slideLayout3.xml" /></Relationships>
</file>

<file path=ppt/slides/_rels/slide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3.xml.rels><?xml version="1.0" encoding="UTF-8"?><Relationships xmlns="http://schemas.openxmlformats.org/package/2006/relationships"><Relationship Id="rId1" Type="http://schemas.openxmlformats.org/officeDocument/2006/relationships/slideLayout" Target="../slideLayouts/slideLayout3.xml" /></Relationships>
</file>

<file path=ppt/slides/_rels/slide1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6.xml.rels><?xml version="1.0" encoding="UTF-8"?><Relationships xmlns="http://schemas.openxmlformats.org/package/2006/relationships"><Relationship Id="rId1" Type="http://schemas.openxmlformats.org/officeDocument/2006/relationships/slideLayout" Target="../slideLayouts/slideLayout8.xml" /></Relationships>
</file>

<file path=ppt/slides/_rels/slide1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8.xml.rels><?xml version="1.0" encoding="UTF-8"?><Relationships xmlns="http://schemas.openxmlformats.org/package/2006/relationships"><Relationship Id="rId1" Type="http://schemas.openxmlformats.org/officeDocument/2006/relationships/slideLayout" Target="../slideLayouts/slideLayout3.xml" /></Relationships>
</file>

<file path=ppt/slides/_rels/slide1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2.xml.rels><?xml version="1.0" encoding="UTF-8"?><Relationships xmlns="http://schemas.openxmlformats.org/package/2006/relationships"><Relationship Id="rId1" Type="http://schemas.openxmlformats.org/officeDocument/2006/relationships/slideLayout" Target="../slideLayouts/slideLayout3.xml" /></Relationships>
</file>

<file path=ppt/slides/_rels/slide2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8.xml.rels><?xml version="1.0" encoding="UTF-8"?><Relationships xmlns="http://schemas.openxmlformats.org/package/2006/relationships"><Relationship Id="rId1" Type="http://schemas.openxmlformats.org/officeDocument/2006/relationships/slideLayout" Target="../slideLayouts/slideLayout3.xml" /></Relationships>
</file>

<file path=ppt/slides/_rels/slide2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1.xml.rels><?xml version="1.0" encoding="UTF-8"?><Relationships xmlns="http://schemas.openxmlformats.org/package/2006/relationships"><Relationship Id="rId1" Type="http://schemas.openxmlformats.org/officeDocument/2006/relationships/slideLayout" Target="../slideLayouts/slideLayout8.xml" /></Relationships>
</file>

<file path=ppt/slides/_rels/slide3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4.xml.rels><?xml version="1.0" encoding="UTF-8"?><Relationships xmlns="http://schemas.openxmlformats.org/package/2006/relationships"><Relationship Id="rId1" Type="http://schemas.openxmlformats.org/officeDocument/2006/relationships/slideLayout" Target="../slideLayouts/slideLayout3.xml" /></Relationships>
</file>

<file path=ppt/slides/_rels/slide3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1.xml.rels><?xml version="1.0" encoding="UTF-8"?><Relationships xmlns="http://schemas.openxmlformats.org/package/2006/relationships"><Relationship Id="rId1" Type="http://schemas.openxmlformats.org/officeDocument/2006/relationships/slideLayout" Target="../slideLayouts/slideLayout3.xml" /></Relationships>
</file>

<file path=ppt/slides/_rels/slide4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6.xml.rels><?xml version="1.0" encoding="UTF-8"?><Relationships xmlns="http://schemas.openxmlformats.org/package/2006/relationships"><Relationship Id="rId1" Type="http://schemas.openxmlformats.org/officeDocument/2006/relationships/slideLayout" Target="../slideLayouts/slideLayout3.xml" /></Relationships>
</file>

<file path=ppt/slides/_rels/slide4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5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5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/>
          <a:lstStyle/>
          <a:p>
            <a:pPr lvl="0" indent="0" marL="0">
              <a:buNone/>
            </a:pPr>
            <a:r>
              <a:rPr/>
              <a:t>Welcome</a:t>
            </a:r>
          </a:p>
        </p:txBody>
      </p:sp>
      <p:sp>
        <p:nvSpPr>
          <p:cNvPr id="3" name="Subtitle 2"/>
          <p:cNvSpPr>
            <a:spLocks noGrp="1"/>
          </p:cNvSpPr>
          <p:nvPr>
            <p:ph idx="1" type="subTitle"/>
          </p:nvPr>
        </p:nvSpPr>
        <p:spPr>
          <a:xfrm>
            <a:off x="1371600" y="2914650"/>
            <a:ext cx="6400800" cy="13144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Quantitative Methods in International Business — building your workstation</a:t>
            </a:r>
            <a:br/>
            <a:br/>
            <a:r>
              <a:rPr/>
              <a:t>Thierry Warin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10" sz="half" type="dt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20 August 2026</a:t>
            </a:r>
          </a:p>
        </p:txBody>
      </p:sp>
    </p:spTree>
  </p:cSld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/>
          <a:lstStyle/>
          <a:p>
            <a:pPr lvl="0" indent="0" marL="0">
              <a:buNone/>
            </a:pPr>
            <a:r>
              <a:rPr/>
              <a:t>Welcome</a:t>
            </a:r>
          </a:p>
        </p:txBody>
      </p:sp>
    </p:spTree>
  </p:cSld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What you are walking into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This course asks one question in ten different ways:</a:t>
            </a:r>
          </a:p>
          <a:p>
            <a:pPr lvl="0" indent="0" marL="1270000">
              <a:buNone/>
            </a:pPr>
            <a:r>
              <a:rPr sz="2000" b="1"/>
              <a:t>When can a number about the past be used to make a claim about the future?</a:t>
            </a:r>
          </a:p>
          <a:p>
            <a:pPr lvl="0"/>
            <a:r>
              <a:rPr/>
              <a:t>The methods are standard: least squares, penalisation, trees, factors, causal ML.</a:t>
            </a:r>
          </a:p>
          <a:p>
            <a:pPr lvl="0"/>
            <a:r>
              <a:rPr/>
              <a:t>The data are European, international, and messy on purpose.</a:t>
            </a:r>
          </a:p>
          <a:p>
            <a:pPr lvl="0"/>
            <a:r>
              <a:rPr/>
              <a:t>The discipline is knowing </a:t>
            </a:r>
            <a:r>
              <a:rPr b="1"/>
              <a:t>what your estimate does not entitle you to say.</a:t>
            </a:r>
          </a:p>
          <a:p>
            <a:pPr lvl="0" indent="0" marL="0">
              <a:buNone/>
            </a:pPr>
            <a:r>
              <a:rPr/>
              <a:t>Ten sessions of method. One question throughout.</a:t>
            </a:r>
          </a:p>
        </p:txBody>
      </p:sp>
    </p:spTree>
  </p:cSld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Three distinctions we will not let go of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-342900" marL="342900">
              <a:buAutoNum type="arabicPeriod"/>
            </a:pPr>
            <a:r>
              <a:rPr b="1"/>
              <a:t>A scenario is not a forecast.</a:t>
            </a:r>
            <a:r>
              <a:rPr/>
              <a:t> </a:t>
            </a:r>
            <a:r>
              <a:rPr i="1"/>
              <a:t>Europe 2031</a:t>
            </a:r>
            <a:r>
              <a:rPr/>
              <a:t> is a conditional narrative — a stress test, not a prediction. You will read it as a set of assumptions you can measure.</a:t>
            </a:r>
          </a:p>
          <a:p>
            <a:pPr lvl="0" indent="-342900" marL="342900">
              <a:buAutoNum type="arabicPeriod"/>
            </a:pPr>
            <a:r>
              <a:rPr b="1"/>
              <a:t>Prediction is not inference.</a:t>
            </a:r>
            <a:r>
              <a:rPr/>
              <a:t> “How well does this predict?” and “what is the effect of X?” are different questions, answered by different estimators, with different guarantees.</a:t>
            </a:r>
          </a:p>
          <a:p>
            <a:pPr lvl="0" indent="-342900" marL="342900">
              <a:buAutoNum type="arabicPeriod"/>
            </a:pPr>
            <a:r>
              <a:rPr b="1"/>
              <a:t>A construct is not a measurement.</a:t>
            </a:r>
            <a:r>
              <a:rPr/>
              <a:t> An “AI exposure index” is something we built. Session 09 is about being honest about that.</a:t>
            </a:r>
          </a:p>
        </p:txBody>
      </p:sp>
    </p:spTree>
  </p:cSld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1" y="204787"/>
            <a:ext cx="3008313" cy="871538"/>
          </a:xfrm>
        </p:spPr>
        <p:txBody>
          <a:bodyPr/>
          <a:lstStyle/>
          <a:p>
            <a:pPr lvl="0" indent="0" marL="0">
              <a:buNone/>
            </a:pPr>
            <a:r>
              <a:rPr/>
              <a:t>What this session’s pre-work is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idx="2" sz="half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Four things, before you arrive:</a:t>
            </a:r>
          </a:p>
        </p:txBody>
      </p:sp>
      <p:graphicFrame>
        <p:nvGraphicFramePr>
          <p:cNvPr id="6" name="Content Placeholder 5"/>
          <p:cNvGraphicFramePr>
            <a:graphicFrameLocks noGrp="1"/>
          </p:cNvGraphicFramePr>
          <p:nvPr>
            <p:ph idx="1"/>
          </p:nvPr>
        </p:nvGraphicFramePr>
        <p:xfrm>
          <a:off x="3568700" y="203200"/>
          <a:ext cx="5105400" cy="43815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701800"/>
                <a:gridCol w="1701800"/>
                <a:gridCol w="1701800"/>
              </a:tblGrid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#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Task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Time</a:t>
                      </a:r>
                    </a:p>
                  </a:txBody>
                  <a:tcPr/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0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Build your workstation</a:t>
                      </a:r>
                      <a:r>
                        <a:rPr/>
                        <a:t> — these slides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60–90 min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1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Read </a:t>
                      </a:r>
                      <a:r>
                        <a:rPr i="1"/>
                        <a:t>Europe 2031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30 min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2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Review three concepts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15 min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3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Run the verification script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5 min</a:t>
                      </a:r>
                    </a:p>
                  </a:txBody>
                </a:tc>
              </a:tr>
            </a:tbl>
          </a:graphicData>
        </a:graphic>
      </p:graphicFrame>
    </p:spTree>
  </p:cSld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Session 1 does not include installation time.</a:t>
            </a:r>
            <a:r>
              <a:rPr/>
              <a:t> Arriving without a working environment means you cannot take part in the practice session.</a:t>
            </a:r>
          </a:p>
        </p:txBody>
      </p:sp>
    </p:spTree>
  </p:cSld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/>
          <a:lstStyle/>
          <a:p>
            <a:pPr lvl="0" indent="0" marL="0">
              <a:buNone/>
            </a:pPr>
            <a:r>
              <a:rPr/>
              <a:t>The stack</a:t>
            </a:r>
          </a:p>
        </p:txBody>
      </p:sp>
    </p:spTree>
  </p:cSld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What we install, and why</a:t>
            </a:r>
          </a:p>
        </p:txBody>
      </p:sp>
      <p:graphicFrame>
        <p:nvGraphicFramePr>
          <p:cNvPr id="6" name="Content Placeholder 5"/>
          <p:cNvGraphicFramePr>
            <a:graphicFrameLocks noGrp="1"/>
          </p:cNvGraphicFramePr>
          <p:nvPr>
            <p:ph idx="1"/>
          </p:nvPr>
        </p:nvGraphicFramePr>
        <p:xfrm>
          <a:off x="457200" y="1193800"/>
          <a:ext cx="8229600" cy="33909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743200"/>
                <a:gridCol w="2743200"/>
                <a:gridCol w="2743200"/>
              </a:tblGrid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Tool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What it is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Why this one</a:t>
                      </a:r>
                    </a:p>
                  </a:txBody>
                  <a:tcPr/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VS Codium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VS Code with telemetry removed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Your work touches confidential and licensed data. The editor should not phone home.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Python 3.10+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The analysis language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Everything in the course runs here.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Ollama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Runs LLMs on </a:t>
                      </a:r>
                      <a:r>
                        <a:rPr i="1"/>
                        <a:t>your</a:t>
                      </a:r>
                      <a:r>
                        <a:rPr/>
                        <a:t> machine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No API key, no per-token cost, no data leaving your laptop.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Qwen 2.5 Coder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The model Ollama serves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Small enough for a laptop, strong at code.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aider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An AI agent in your terminal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Reads and edits your files, and commits.</a:t>
                      </a:r>
                    </a:p>
                  </a:txBody>
                </a:tc>
              </a:tr>
            </a:tbl>
          </a:graphicData>
        </a:graphic>
      </p:graphicFrame>
    </p:spTree>
  </p:cSld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The principle behind the stack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Every piece runs </a:t>
            </a:r>
            <a:r>
              <a:rPr b="1"/>
              <a:t>locally</a:t>
            </a:r>
            <a:r>
              <a:rPr/>
              <a:t>.</a:t>
            </a:r>
          </a:p>
          <a:p>
            <a:pPr lvl="0" indent="0" marL="0">
              <a:buNone/>
            </a:pPr>
            <a:r>
              <a:rPr b="1"/>
              <a:t>The test that matters.</a:t>
            </a:r>
            <a:r>
              <a:rPr/>
              <a:t> When your environment is finished, turn off your wifi and ask the model a question. If it still answers, your setup is genuinely local — and your data never left the room.</a:t>
            </a:r>
          </a:p>
          <a:p>
            <a:pPr lvl="0" indent="0" marL="0">
              <a:buNone/>
            </a:pPr>
            <a:r>
              <a:rPr/>
              <a:t>This is not ideology. In Session 09 you work with licensed text, and in the group project you may work with data you are not permitted to upload anywhere.</a:t>
            </a:r>
          </a:p>
        </p:txBody>
      </p:sp>
    </p:spTree>
  </p:cSld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Where do I type this?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Read this slide before you type anything.</a:t>
            </a:r>
            <a:r>
              <a:rPr/>
              <a:t> It is the single most common source of lost time.</a:t>
            </a:r>
          </a:p>
          <a:p>
            <a:pPr lvl="0" indent="0" marL="0">
              <a:buNone/>
            </a:pPr>
            <a:r>
              <a:rPr/>
              <a:t>Two kinds of instruction appear in these slides, and they are always labelled:</a:t>
            </a:r>
          </a:p>
          <a:p>
            <a:pPr lvl="0" indent="0" marL="0">
              <a:buNone/>
            </a:pPr>
            <a:r>
              <a:rPr/>
              <a:t>download</a:t>
            </a:r>
          </a:p>
          <a:p>
            <a:pPr lvl="0" indent="0" marL="0">
              <a:buNone/>
            </a:pPr>
            <a:r>
              <a:rPr/>
              <a:t>Go to a website in your browser and run an installer. No typing.</a:t>
            </a:r>
          </a:p>
          <a:p>
            <a:pPr lvl="0" indent="0" marL="0">
              <a:buNone/>
            </a:pPr>
            <a:r>
              <a:rPr/>
              <a:t>VS Codium terminal</a:t>
            </a:r>
          </a:p>
          <a:p>
            <a:pPr lvl="0" indent="0" marL="0">
              <a:buNone/>
            </a:pPr>
            <a:r>
              <a:rPr/>
              <a:t>Type it in the terminal </a:t>
            </a:r>
            <a:r>
              <a:rPr b="1"/>
              <a:t>inside VS Codium</a:t>
            </a:r>
            <a:r>
              <a:rPr/>
              <a:t> — never the macOS Terminal app, never PowerShell on its own.</a:t>
            </a:r>
          </a:p>
        </p:txBody>
      </p:sp>
    </p:spTree>
  </p:cSld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Why always the VS Codium terminal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It opens </a:t>
            </a:r>
            <a:r>
              <a:rPr b="1"/>
              <a:t>in your project folder</a:t>
            </a:r>
            <a:r>
              <a:rPr/>
              <a:t>, so </a:t>
            </a:r>
            <a:r>
              <a:rPr>
                <a:latin typeface="Courier"/>
              </a:rPr>
              <a:t>git</a:t>
            </a:r>
            <a:r>
              <a:rPr/>
              <a:t> and </a:t>
            </a:r>
            <a:r>
              <a:rPr>
                <a:latin typeface="Courier"/>
              </a:rPr>
              <a:t>python</a:t>
            </a:r>
            <a:r>
              <a:rPr/>
              <a:t> act on the right files</a:t>
            </a:r>
          </a:p>
          <a:p>
            <a:pPr lvl="0"/>
            <a:r>
              <a:rPr/>
              <a:t>It sees the </a:t>
            </a:r>
            <a:r>
              <a:rPr>
                <a:latin typeface="Courier"/>
              </a:rPr>
              <a:t>.venv</a:t>
            </a:r>
            <a:r>
              <a:rPr/>
              <a:t> you activate; a separate Terminal window does not</a:t>
            </a:r>
          </a:p>
          <a:p>
            <a:pPr lvl="0"/>
            <a:r>
              <a:rPr/>
              <a:t>It is the same on macOS, Windows and Linux, so these slides work for everyone</a:t>
            </a:r>
          </a:p>
          <a:p>
            <a:pPr lvl="0" indent="0" marL="0">
              <a:buNone/>
            </a:pPr>
            <a:r>
              <a:rPr b="1"/>
              <a:t>Open it now:</a:t>
            </a:r>
            <a:r>
              <a:rPr/>
              <a:t> </a:t>
            </a:r>
            <a:r>
              <a:rPr>
                <a:latin typeface="Courier"/>
              </a:rPr>
              <a:t>View → Terminal</a:t>
            </a:r>
            <a:r>
              <a:rPr/>
              <a:t>, or </a:t>
            </a:r>
            <a:r>
              <a:rPr>
                <a:latin typeface="Courier"/>
              </a:rPr>
              <a:t>Ctrl+`</a:t>
            </a:r>
            <a:r>
              <a:rPr/>
              <a:t> (the backtick key, above Tab). A panel appears at the bottom. That panel is where every command below goes.</a:t>
            </a:r>
          </a:p>
          <a:p>
            <a:pPr lvl="0" indent="0" marL="0">
              <a:buNone/>
            </a:pPr>
            <a:r>
              <a:rPr/>
              <a:t>If a command fails, check </a:t>
            </a:r>
            <a:r>
              <a:rPr i="1"/>
              <a:t>where you typed it</a:t>
            </a:r>
            <a:r>
              <a:rPr/>
              <a:t> before you check anything else.</a:t>
            </a:r>
          </a:p>
        </p:txBody>
      </p:sp>
    </p:spTree>
  </p:cSld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Before you start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You need:</a:t>
            </a:r>
          </a:p>
          <a:p>
            <a:pPr lvl="0"/>
            <a:r>
              <a:rPr/>
              <a:t>A laptop with </a:t>
            </a:r>
            <a:r>
              <a:rPr b="1"/>
              <a:t>8 GB RAM minimum</a:t>
            </a:r>
            <a:r>
              <a:rPr/>
              <a:t> (16 GB is much more comfortable)</a:t>
            </a:r>
          </a:p>
          <a:p>
            <a:pPr lvl="0"/>
            <a:r>
              <a:rPr/>
              <a:t>A browser — you will download the course folder, no account needed</a:t>
            </a:r>
          </a:p>
          <a:p>
            <a:pPr lvl="0"/>
            <a:r>
              <a:rPr b="1"/>
              <a:t>Administrator rights</a:t>
            </a:r>
            <a:r>
              <a:rPr/>
              <a:t> to install software</a:t>
            </a:r>
          </a:p>
          <a:p>
            <a:pPr lvl="0"/>
            <a:r>
              <a:rPr/>
              <a:t>About </a:t>
            </a:r>
            <a:r>
              <a:rPr b="1"/>
              <a:t>10 GB free disk space</a:t>
            </a:r>
            <a:r>
              <a:rPr/>
              <a:t> — the model files are large</a:t>
            </a:r>
          </a:p>
          <a:p>
            <a:pPr lvl="0"/>
            <a:r>
              <a:rPr/>
              <a:t>60–90 minutes, uninterrupted</a:t>
            </a:r>
          </a:p>
          <a:p>
            <a:pPr lvl="0" indent="0" marL="0">
              <a:buNone/>
            </a:pPr>
            <a:r>
              <a:rPr/>
              <a:t>Do this on the machine you will actually bring to class. A working setup on a desktop at home is of no use in the practice session.</a:t>
            </a:r>
          </a:p>
        </p:txBody>
      </p:sp>
    </p:spTree>
  </p:cSld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/>
          <a:lstStyle/>
          <a:p>
            <a:pPr lvl="0" indent="0" marL="0">
              <a:buNone/>
            </a:pPr>
            <a:r>
              <a:rPr/>
              <a:t>Step 1 — VS Codium</a:t>
            </a:r>
          </a:p>
        </p:txBody>
      </p:sp>
    </p:spTree>
  </p:cSld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Install VS Codium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download</a:t>
            </a:r>
          </a:p>
          <a:p>
            <a:pPr lvl="0" indent="0" marL="0">
              <a:buNone/>
            </a:pPr>
            <a:r>
              <a:rPr/>
              <a:t>Go to </a:t>
            </a:r>
            <a:r>
              <a:rPr b="1"/>
              <a:t>vscodium.com</a:t>
            </a:r>
            <a:r>
              <a:rPr/>
              <a:t> and download the build for your operating system.</a:t>
            </a:r>
          </a:p>
          <a:p>
            <a:pPr lvl="0" indent="0" marL="0">
              <a:buNone/>
            </a:pPr>
            <a:r>
              <a:rPr/>
              <a:t>This is the one step that cannot use the VS Codium terminal — you are installing the thing that provides it.</a:t>
            </a:r>
          </a:p>
          <a:p>
            <a:pPr lvl="0" indent="0" marL="0">
              <a:buNone/>
            </a:pPr>
            <a:r>
              <a:rPr b="1"/>
              <a:t>macOS</a:t>
            </a:r>
          </a:p>
          <a:p>
            <a:pPr lvl="0" indent="0" marL="0">
              <a:buNone/>
            </a:pPr>
            <a:r>
              <a:rPr/>
              <a:t>Download the </a:t>
            </a:r>
            <a:r>
              <a:rPr>
                <a:latin typeface="Courier"/>
              </a:rPr>
              <a:t>.dmg</a:t>
            </a:r>
            <a:r>
              <a:rPr/>
              <a:t>, open it, drag </a:t>
            </a:r>
            <a:r>
              <a:rPr b="1"/>
              <a:t>VSCodium</a:t>
            </a:r>
            <a:r>
              <a:rPr/>
              <a:t> to Applications.</a:t>
            </a:r>
          </a:p>
          <a:p>
            <a:pPr lvl="0" indent="0" marL="0">
              <a:buNone/>
            </a:pPr>
            <a:r>
              <a:rPr/>
              <a:t>If macOS refuses to open it: right-click the app → </a:t>
            </a:r>
            <a:r>
              <a:rPr b="1"/>
              <a:t>Open</a:t>
            </a:r>
            <a:r>
              <a:rPr/>
              <a:t> → </a:t>
            </a:r>
            <a:r>
              <a:rPr b="1"/>
              <a:t>Open</a:t>
            </a:r>
            <a:r>
              <a:rPr/>
              <a:t>.</a:t>
            </a:r>
          </a:p>
          <a:p>
            <a:pPr lvl="0" indent="0" marL="0">
              <a:buNone/>
            </a:pPr>
            <a:r>
              <a:rPr b="1"/>
              <a:t>Windows</a:t>
            </a:r>
          </a:p>
          <a:p>
            <a:pPr lvl="0" indent="0" marL="0">
              <a:buNone/>
            </a:pPr>
            <a:r>
              <a:rPr/>
              <a:t>Download the </a:t>
            </a:r>
            <a:r>
              <a:rPr i="1"/>
              <a:t>User Installer</a:t>
            </a:r>
            <a:r>
              <a:rPr/>
              <a:t> </a:t>
            </a:r>
            <a:r>
              <a:rPr>
                <a:latin typeface="Courier"/>
              </a:rPr>
              <a:t>.exe</a:t>
            </a:r>
            <a:r>
              <a:rPr/>
              <a:t> and run it.</a:t>
            </a:r>
          </a:p>
          <a:p>
            <a:pPr lvl="0" indent="0" marL="0">
              <a:buNone/>
            </a:pPr>
            <a:r>
              <a:rPr/>
              <a:t>Tick </a:t>
            </a:r>
            <a:r>
              <a:rPr b="1"/>
              <a:t>“Add to PATH”</a:t>
            </a:r>
            <a:r>
              <a:rPr/>
              <a:t> when the installer offers it.</a:t>
            </a:r>
          </a:p>
          <a:p>
            <a:pPr lvl="0" indent="0" marL="0">
              <a:buNone/>
            </a:pPr>
            <a:r>
              <a:rPr b="1"/>
              <a:t>Linux:</a:t>
            </a:r>
            <a:r>
              <a:rPr/>
              <a:t> use your package manager, or the </a:t>
            </a:r>
            <a:r>
              <a:rPr>
                <a:latin typeface="Courier"/>
              </a:rPr>
              <a:t>.deb</a:t>
            </a:r>
            <a:r>
              <a:rPr/>
              <a:t> / </a:t>
            </a:r>
            <a:r>
              <a:rPr>
                <a:latin typeface="Courier"/>
              </a:rPr>
              <a:t>.rpm</a:t>
            </a:r>
            <a:r>
              <a:rPr/>
              <a:t> from the same page.</a:t>
            </a:r>
          </a:p>
          <a:p>
            <a:pPr lvl="0" indent="0" marL="0">
              <a:buNone/>
            </a:pPr>
            <a:r>
              <a:rPr b="1"/>
              <a:t>Check.</a:t>
            </a:r>
            <a:r>
              <a:rPr/>
              <a:t> VS Codium opens and shows the Welcome tab.</a:t>
            </a:r>
          </a:p>
        </p:txBody>
      </p:sp>
    </p:spTree>
  </p:cSld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Meet the two panels you will live in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[ VS Codium window ]</a:t>
            </a:r>
          </a:p>
          <a:p>
            <a:pPr lvl="0" indent="0" marL="0">
              <a:buNone/>
            </a:pPr>
            <a:r>
              <a:rPr/>
              <a:t>Left: </a:t>
            </a:r>
            <a:r>
              <a:rPr b="1"/>
              <a:t>Explorer</a:t>
            </a:r>
            <a:r>
              <a:rPr/>
              <a:t> (your files) · Bottom: </a:t>
            </a:r>
            <a:r>
              <a:rPr b="1"/>
              <a:t>Terminal</a:t>
            </a:r>
            <a:r>
              <a:rPr/>
              <a:t> · Right: </a:t>
            </a:r>
            <a:r>
              <a:rPr b="1"/>
              <a:t>Continue</a:t>
            </a:r>
            <a:r>
              <a:rPr/>
              <a:t> (chat)</a:t>
            </a:r>
          </a:p>
          <a:p>
            <a:pPr lvl="0" indent="0" marL="0">
              <a:buNone/>
            </a:pPr>
            <a:r>
              <a:rPr/>
              <a:t>Two things to find right now:</a:t>
            </a:r>
          </a:p>
          <a:p>
            <a:pPr lvl="0"/>
            <a:r>
              <a:rPr b="1"/>
              <a:t>The Explorer</a:t>
            </a:r>
            <a:r>
              <a:rPr/>
              <a:t> — </a:t>
            </a:r>
            <a:r>
              <a:rPr>
                <a:latin typeface="Courier"/>
              </a:rPr>
              <a:t>View → Explorer</a:t>
            </a:r>
            <a:r>
              <a:rPr/>
              <a:t>, or </a:t>
            </a:r>
            <a:r>
              <a:rPr>
                <a:latin typeface="Courier"/>
              </a:rPr>
              <a:t>Ctrl/Cmd+Shift+E</a:t>
            </a:r>
          </a:p>
          <a:p>
            <a:pPr lvl="0"/>
            <a:r>
              <a:rPr b="1"/>
              <a:t>The integrated Terminal</a:t>
            </a:r>
            <a:r>
              <a:rPr/>
              <a:t> — </a:t>
            </a:r>
            <a:r>
              <a:rPr>
                <a:latin typeface="Courier"/>
              </a:rPr>
              <a:t>View → Terminal</a:t>
            </a:r>
            <a:r>
              <a:rPr/>
              <a:t>, or </a:t>
            </a:r>
            <a:r>
              <a:rPr>
                <a:latin typeface="Courier"/>
              </a:rPr>
              <a:t>Ctrl+`</a:t>
            </a:r>
            <a:r>
              <a:rPr/>
              <a:t> (backtick)</a:t>
            </a:r>
          </a:p>
          <a:p>
            <a:pPr lvl="0" indent="0" marL="0">
              <a:buNone/>
            </a:pPr>
            <a:r>
              <a:rPr/>
              <a:t>The </a:t>
            </a:r>
            <a:r>
              <a:rPr b="1"/>
              <a:t>Terminal</a:t>
            </a:r>
            <a:r>
              <a:rPr/>
              <a:t> is where most of this course happens. If you have never used a command line, that is fine — every command you need is on these slides.</a:t>
            </a:r>
          </a:p>
        </p:txBody>
      </p:sp>
    </p:spTree>
  </p:cSld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1" y="204787"/>
            <a:ext cx="3008313" cy="871538"/>
          </a:xfrm>
        </p:spPr>
        <p:txBody>
          <a:bodyPr/>
          <a:lstStyle/>
          <a:p>
            <a:pPr lvl="0" indent="0" marL="0">
              <a:buNone/>
            </a:pPr>
            <a:r>
              <a:rPr/>
              <a:t>Step 2 — Extensions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idx="2" sz="half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Open the Extensions panel: </a:t>
            </a:r>
            <a:r>
              <a:rPr>
                <a:latin typeface="Courier"/>
              </a:rPr>
              <a:t>Ctrl/Cmd+Shift+X</a:t>
            </a:r>
            <a:r>
              <a:rPr/>
              <a:t>. Install three:</a:t>
            </a:r>
          </a:p>
        </p:txBody>
      </p:sp>
      <p:graphicFrame>
        <p:nvGraphicFramePr>
          <p:cNvPr id="6" name="Content Placeholder 5"/>
          <p:cNvGraphicFramePr>
            <a:graphicFrameLocks noGrp="1"/>
          </p:cNvGraphicFramePr>
          <p:nvPr>
            <p:ph idx="1"/>
          </p:nvPr>
        </p:nvGraphicFramePr>
        <p:xfrm>
          <a:off x="3568700" y="203200"/>
          <a:ext cx="5105400" cy="43815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701800"/>
                <a:gridCol w="1701800"/>
                <a:gridCol w="1701800"/>
              </a:tblGrid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Extension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Search for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What it does</a:t>
                      </a:r>
                    </a:p>
                  </a:txBody>
                  <a:tcPr/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Python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>
                          <a:latin typeface="Courier"/>
                        </a:rPr>
                        <a:t>ms-python.python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Syntax, linting, environment selection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Jupyter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>
                          <a:latin typeface="Courier"/>
                        </a:rPr>
                        <a:t>ms-toolsai.jupyter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Run notebooks inside the editor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Continue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>
                          <a:latin typeface="Courier"/>
                        </a:rPr>
                        <a:t>Continue.continue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The chat sidebar, wired to your local model</a:t>
                      </a:r>
                    </a:p>
                  </a:txBody>
                </a:tc>
              </a:tr>
            </a:tbl>
          </a:graphicData>
        </a:graphic>
      </p:graphicFrame>
    </p:spTree>
  </p:cSld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VS Codium uses the Open VSX registry, not Microsoft’s Marketplace. Most extensions are there. If one is missing, the course does not depend on it.</a:t>
            </a:r>
          </a:p>
        </p:txBody>
      </p:sp>
    </p:spTree>
  </p:cSld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/>
          <a:lstStyle/>
          <a:p>
            <a:pPr lvl="0" indent="0" marL="0">
              <a:buNone/>
            </a:pPr>
            <a:r>
              <a:rPr/>
              <a:t>Step 3 — The course materials</a:t>
            </a:r>
          </a:p>
        </p:txBody>
      </p:sp>
    </p:spTree>
  </p:cSld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Get the course folder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Everything from here on runs </a:t>
            </a:r>
            <a:r>
              <a:rPr b="1"/>
              <a:t>inside the course folder</a:t>
            </a:r>
            <a:r>
              <a:rPr/>
              <a:t>, so you need it on your machine before anything else works.</a:t>
            </a:r>
          </a:p>
          <a:p>
            <a:pPr lvl="0" indent="0" marL="0">
              <a:buNone/>
            </a:pPr>
            <a:r>
              <a:rPr/>
              <a:t>download</a:t>
            </a:r>
          </a:p>
          <a:p>
            <a:pPr lvl="0" indent="-342900" marL="342900">
              <a:buAutoNum type="arabicPeriod"/>
            </a:pPr>
            <a:r>
              <a:rPr/>
              <a:t>Go to </a:t>
            </a:r>
            <a:r>
              <a:rPr b="1"/>
              <a:t>github.com/warint/quantitative-methods</a:t>
            </a:r>
          </a:p>
          <a:p>
            <a:pPr lvl="0" indent="-342900" marL="342900">
              <a:buAutoNum type="arabicPeriod"/>
            </a:pPr>
            <a:r>
              <a:rPr/>
              <a:t>Click the green </a:t>
            </a:r>
            <a:r>
              <a:rPr b="1"/>
              <a:t>Code</a:t>
            </a:r>
            <a:r>
              <a:rPr/>
              <a:t> button</a:t>
            </a:r>
          </a:p>
          <a:p>
            <a:pPr lvl="0" indent="-342900" marL="342900">
              <a:buAutoNum type="arabicPeriod"/>
            </a:pPr>
            <a:r>
              <a:rPr/>
              <a:t>Choose </a:t>
            </a:r>
            <a:r>
              <a:rPr b="1"/>
              <a:t>Download ZIP</a:t>
            </a:r>
          </a:p>
          <a:p>
            <a:pPr lvl="0" indent="-342900" marL="342900">
              <a:buAutoNum type="arabicPeriod"/>
            </a:pPr>
            <a:r>
              <a:rPr/>
              <a:t>Unzip it somewhere you will find again — Documents, not Downloads</a:t>
            </a:r>
          </a:p>
          <a:p>
            <a:pPr lvl="0" indent="0" marL="0">
              <a:buNone/>
            </a:pPr>
            <a:r>
              <a:rPr/>
              <a:t>No account needed. You are just downloading a folder.</a:t>
            </a:r>
          </a:p>
        </p:txBody>
      </p:sp>
    </p:spTree>
  </p:cSld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Open it in VS Codium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>
                <a:latin typeface="Courier"/>
              </a:rPr>
              <a:t>File → Open Folder…</a:t>
            </a:r>
            <a:r>
              <a:rPr/>
              <a:t> and choose the unzipped folder.</a:t>
            </a:r>
          </a:p>
          <a:p>
            <a:pPr lvl="0" indent="0" marL="0">
              <a:buNone/>
            </a:pPr>
            <a:r>
              <a:rPr/>
              <a:t>The Explorer on the left should show </a:t>
            </a:r>
            <a:r>
              <a:rPr>
                <a:latin typeface="Courier"/>
              </a:rPr>
              <a:t>README.md</a:t>
            </a:r>
            <a:r>
              <a:rPr/>
              <a:t>, </a:t>
            </a:r>
            <a:r>
              <a:rPr>
                <a:latin typeface="Courier"/>
              </a:rPr>
              <a:t>requirements.txt</a:t>
            </a:r>
            <a:r>
              <a:rPr/>
              <a:t>, a </a:t>
            </a:r>
            <a:r>
              <a:rPr>
                <a:latin typeface="Courier"/>
              </a:rPr>
              <a:t>data/</a:t>
            </a:r>
            <a:r>
              <a:rPr/>
              <a:t> folder and the numbered session folders. If it shows a single folder you have to click into, you picked the level above — go one deeper.</a:t>
            </a:r>
          </a:p>
          <a:p>
            <a:pPr lvl="0" indent="0" marL="0">
              <a:buNone/>
            </a:pPr>
            <a:r>
              <a:rPr/>
              <a:t>Keep it there. Every command in these slides is relative to this folder, and the terminal you opened is already sitting in it.</a:t>
            </a:r>
          </a:p>
        </p:txBody>
      </p:sp>
    </p:spTree>
  </p:cSld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In Session 2 you will do this properly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Downloading a ZIP gets you a </a:t>
            </a:r>
            <a:r>
              <a:rPr b="1"/>
              <a:t>snapshot</a:t>
            </a:r>
            <a:r>
              <a:rPr/>
              <a:t>. It cannot receive corrections, and it has no history.</a:t>
            </a:r>
          </a:p>
          <a:p>
            <a:pPr lvl="0"/>
            <a:r>
              <a:rPr/>
              <a:t>Before Session 2 you install git and clone the repository instead</a:t>
            </a:r>
          </a:p>
          <a:p>
            <a:pPr lvl="0"/>
            <a:r>
              <a:rPr/>
              <a:t>That version updates with </a:t>
            </a:r>
            <a:r>
              <a:rPr>
                <a:latin typeface="Courier"/>
              </a:rPr>
              <a:t>git pull</a:t>
            </a:r>
            <a:r>
              <a:rPr/>
              <a:t> when I fix something</a:t>
            </a:r>
          </a:p>
          <a:p>
            <a:pPr lvl="0"/>
            <a:r>
              <a:rPr/>
              <a:t>It is also where your group’s own work will live</a:t>
            </a:r>
          </a:p>
          <a:p>
            <a:pPr lvl="0" indent="0" marL="0">
              <a:buNone/>
            </a:pPr>
            <a:r>
              <a:rPr/>
              <a:t>For today the snapshot is enough, and it saves you creating an account before you have seen the course.</a:t>
            </a:r>
          </a:p>
        </p:txBody>
      </p:sp>
    </p:spTree>
  </p:cSld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/>
          <a:lstStyle/>
          <a:p>
            <a:pPr lvl="0" indent="0" marL="0">
              <a:buNone/>
            </a:pPr>
            <a:r>
              <a:rPr/>
              <a:t>Step 4 — Python</a:t>
            </a:r>
          </a:p>
        </p:txBody>
      </p:sp>
    </p:spTree>
  </p:cSld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Install Python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download</a:t>
            </a:r>
          </a:p>
          <a:p>
            <a:pPr lvl="0" indent="0" marL="0">
              <a:buNone/>
            </a:pPr>
            <a:r>
              <a:rPr/>
              <a:t>Go to </a:t>
            </a:r>
            <a:r>
              <a:rPr b="1"/>
              <a:t>python.org/downloads</a:t>
            </a:r>
            <a:r>
              <a:rPr/>
              <a:t> and install </a:t>
            </a:r>
            <a:r>
              <a:rPr b="1"/>
              <a:t>Python 3.11 or 3.12</a:t>
            </a:r>
            <a:r>
              <a:rPr/>
              <a:t>.</a:t>
            </a:r>
          </a:p>
          <a:p>
            <a:pPr lvl="0" indent="0" marL="0">
              <a:buNone/>
            </a:pPr>
            <a:r>
              <a:rPr b="1"/>
              <a:t>Windows: tick “Add python.exe to PATH”</a:t>
            </a:r>
            <a:r>
              <a:rPr/>
              <a:t> on the first installer screen. It is easy to miss, and without it nothing below works.</a:t>
            </a:r>
          </a:p>
          <a:p>
            <a:pPr lvl="0" indent="0" marL="0">
              <a:buNone/>
            </a:pPr>
            <a:r>
              <a:rPr/>
              <a:t>macOS ships an old Python that is not suitable. Install a current one anyway.</a:t>
            </a:r>
          </a:p>
        </p:txBody>
      </p:sp>
    </p:spTree>
  </p:cSld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Check Python is there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VS Codium terminal</a:t>
            </a:r>
          </a:p>
          <a:p>
            <a:pPr lvl="0" indent="0">
              <a:buNone/>
            </a:pPr>
            <a:r>
              <a:rPr>
                <a:latin typeface="Courier"/>
              </a:rPr>
              <a:t>python3 </a:t>
            </a:r>
            <a:r>
              <a:rPr>
                <a:solidFill>
                  <a:srgbClr val="7D9029"/>
                </a:solidFill>
                <a:latin typeface="Courier"/>
              </a:rPr>
              <a:t>--version</a:t>
            </a:r>
          </a:p>
          <a:p>
            <a:pPr lvl="0" indent="0" marL="0">
              <a:buNone/>
            </a:pPr>
            <a:r>
              <a:rPr/>
              <a:t>Prints </a:t>
            </a:r>
            <a:r>
              <a:rPr>
                <a:latin typeface="Courier"/>
              </a:rPr>
              <a:t>Python 3.11.x</a:t>
            </a:r>
            <a:r>
              <a:rPr/>
              <a:t> or </a:t>
            </a:r>
            <a:r>
              <a:rPr>
                <a:latin typeface="Courier"/>
              </a:rPr>
              <a:t>3.12.x</a:t>
            </a:r>
            <a:r>
              <a:rPr/>
              <a:t>.</a:t>
            </a:r>
          </a:p>
          <a:p>
            <a:pPr lvl="0" indent="0" marL="0">
              <a:buNone/>
            </a:pPr>
            <a:r>
              <a:rPr/>
              <a:t>On Windows, if </a:t>
            </a:r>
            <a:r>
              <a:rPr>
                <a:latin typeface="Courier"/>
              </a:rPr>
              <a:t>python3</a:t>
            </a:r>
            <a:r>
              <a:rPr/>
              <a:t> is not found, try </a:t>
            </a:r>
            <a:r>
              <a:rPr>
                <a:latin typeface="Courier"/>
              </a:rPr>
              <a:t>python --version</a:t>
            </a:r>
            <a:r>
              <a:rPr/>
              <a:t>.</a:t>
            </a:r>
          </a:p>
          <a:p>
            <a:pPr lvl="0" indent="0" marL="0">
              <a:buNone/>
            </a:pPr>
            <a:r>
              <a:rPr/>
              <a:t>If it says </a:t>
            </a:r>
            <a:r>
              <a:rPr i="1"/>
              <a:t>command not found</a:t>
            </a:r>
            <a:r>
              <a:rPr/>
              <a:t>, the PATH box was not ticked. Re-run the installer — do not try to work around it.</a:t>
            </a:r>
          </a:p>
        </p:txBody>
      </p:sp>
    </p:spTree>
  </p:cSld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Create the environment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VS Codium terminal</a:t>
            </a:r>
          </a:p>
          <a:p>
            <a:pPr lvl="0" indent="0" marL="0">
              <a:buNone/>
            </a:pPr>
            <a:r>
              <a:rPr/>
              <a:t>With the course folder open (Step 3), run:</a:t>
            </a:r>
          </a:p>
          <a:p>
            <a:pPr lvl="0" indent="0">
              <a:buNone/>
            </a:pPr>
            <a:r>
              <a:rPr>
                <a:latin typeface="Courier"/>
              </a:rPr>
              <a:t>python3 </a:t>
            </a:r>
            <a:r>
              <a:rPr>
                <a:solidFill>
                  <a:srgbClr val="7D9029"/>
                </a:solidFill>
                <a:latin typeface="Courier"/>
              </a:rPr>
              <a:t>-m</a:t>
            </a:r>
            <a:r>
              <a:rPr>
                <a:latin typeface="Courier"/>
              </a:rPr>
              <a:t> venv .venv</a:t>
            </a:r>
          </a:p>
          <a:p>
            <a:pPr lvl="0" indent="0" marL="0">
              <a:buNone/>
            </a:pPr>
            <a:r>
              <a:rPr/>
              <a:t>This makes a private package folder for this course, so it cannot break your other work.</a:t>
            </a:r>
          </a:p>
        </p:txBody>
      </p:sp>
    </p:spTree>
  </p:cSld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Activate it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VS Codium terminal</a:t>
            </a:r>
          </a:p>
          <a:p>
            <a:pPr lvl="0" indent="0">
              <a:buNone/>
            </a:pPr>
            <a:r>
              <a:rPr i="1">
                <a:solidFill>
                  <a:srgbClr val="60A0B0"/>
                </a:solidFill>
                <a:latin typeface="Courier"/>
              </a:rPr>
              <a:t># macOS / Linux</a:t>
            </a:r>
            <a:br/>
            <a:r>
              <a:rPr>
                <a:solidFill>
                  <a:srgbClr val="008000"/>
                </a:solidFill>
                <a:latin typeface="Courier"/>
              </a:rPr>
              <a:t>source</a:t>
            </a:r>
            <a:r>
              <a:rPr>
                <a:latin typeface="Courier"/>
              </a:rPr>
              <a:t> .venv/bin/activate</a:t>
            </a:r>
            <a:br/>
            <a:br/>
            <a:r>
              <a:rPr i="1">
                <a:solidFill>
                  <a:srgbClr val="60A0B0"/>
                </a:solidFill>
                <a:latin typeface="Courier"/>
              </a:rPr>
              <a:t># Windows (PowerShell)</a:t>
            </a:r>
            <a:br/>
            <a:r>
              <a:rPr>
                <a:latin typeface="Courier"/>
              </a:rPr>
              <a:t>.venv\Scripts\Activate.ps1</a:t>
            </a:r>
          </a:p>
          <a:p>
            <a:pPr lvl="0" indent="0" marL="0">
              <a:buNone/>
            </a:pPr>
            <a:r>
              <a:rPr/>
              <a:t>Your prompt now starts with </a:t>
            </a:r>
            <a:r>
              <a:rPr>
                <a:latin typeface="Courier"/>
              </a:rPr>
              <a:t>(.venv)</a:t>
            </a:r>
            <a:r>
              <a:rPr/>
              <a:t>. </a:t>
            </a:r>
            <a:r>
              <a:rPr b="1"/>
              <a:t>Every command from here on assumes you see that.</a:t>
            </a:r>
          </a:p>
        </p:txBody>
      </p:sp>
    </p:spTree>
  </p:cSld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Install the packages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VS Codium terminal · with </a:t>
            </a:r>
            <a:r>
              <a:rPr>
                <a:latin typeface="Courier"/>
              </a:rPr>
              <a:t>(.venv)</a:t>
            </a:r>
            <a:r>
              <a:rPr/>
              <a:t> showing</a:t>
            </a:r>
          </a:p>
          <a:p>
            <a:pPr lvl="0" indent="0">
              <a:buNone/>
            </a:pPr>
            <a:r>
              <a:rPr>
                <a:latin typeface="Courier"/>
              </a:rPr>
              <a:t>pip install </a:t>
            </a:r>
            <a:r>
              <a:rPr>
                <a:solidFill>
                  <a:srgbClr val="7D9029"/>
                </a:solidFill>
                <a:latin typeface="Courier"/>
              </a:rPr>
              <a:t>-r</a:t>
            </a:r>
            <a:r>
              <a:rPr>
                <a:latin typeface="Courier"/>
              </a:rPr>
              <a:t> requirements.txt</a:t>
            </a:r>
          </a:p>
          <a:p>
            <a:pPr lvl="0" indent="0" marL="0">
              <a:buNone/>
            </a:pPr>
            <a:r>
              <a:rPr/>
              <a:t>numpy, pandas, scikit-learn, statsmodels, matplotlib and the rest. A few minutes.</a:t>
            </a:r>
          </a:p>
          <a:p>
            <a:pPr lvl="0" indent="0">
              <a:buNone/>
            </a:pPr>
            <a:r>
              <a:rPr>
                <a:latin typeface="Courier"/>
              </a:rPr>
              <a:t>python </a:t>
            </a:r>
            <a:r>
              <a:rPr>
                <a:solidFill>
                  <a:srgbClr val="7D9029"/>
                </a:solidFill>
                <a:latin typeface="Courier"/>
              </a:rPr>
              <a:t>-c</a:t>
            </a:r>
            <a:r>
              <a:rPr>
                <a:latin typeface="Courier"/>
              </a:rPr>
              <a:t> </a:t>
            </a:r>
            <a:r>
              <a:rPr>
                <a:solidFill>
                  <a:srgbClr val="4070A0"/>
                </a:solidFill>
                <a:latin typeface="Courier"/>
              </a:rPr>
              <a:t>"import numpy, pandas, sklearn; print('ok')"</a:t>
            </a:r>
          </a:p>
          <a:p>
            <a:pPr lvl="0" indent="0" marL="0">
              <a:buNone/>
            </a:pPr>
            <a:r>
              <a:rPr/>
              <a:t>prints </a:t>
            </a:r>
            <a:r>
              <a:rPr>
                <a:latin typeface="Courier"/>
              </a:rPr>
              <a:t>ok</a:t>
            </a:r>
            <a:r>
              <a:rPr/>
              <a:t>.</a:t>
            </a:r>
          </a:p>
        </p:txBody>
      </p:sp>
    </p:spTree>
  </p:cSld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/>
          <a:lstStyle/>
          <a:p>
            <a:pPr lvl="0" indent="0" marL="0">
              <a:buNone/>
            </a:pPr>
            <a:r>
              <a:rPr/>
              <a:t>Step 5 — Ollama and Qwen</a:t>
            </a:r>
          </a:p>
        </p:txBody>
      </p:sp>
    </p:spTree>
  </p:cSld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Install Ollama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download</a:t>
            </a:r>
          </a:p>
          <a:p>
            <a:pPr lvl="0" indent="0" marL="0">
              <a:buNone/>
            </a:pPr>
            <a:r>
              <a:rPr/>
              <a:t>Go to </a:t>
            </a:r>
            <a:r>
              <a:rPr b="1"/>
              <a:t>ollama.com/download</a:t>
            </a:r>
            <a:r>
              <a:rPr/>
              <a:t>, choose your operating system, and run the installer. This works on macOS, Windows and Linux.</a:t>
            </a:r>
          </a:p>
          <a:p>
            <a:pPr lvl="0" indent="0" marL="0">
              <a:buNone/>
            </a:pPr>
            <a:r>
              <a:rPr/>
              <a:t>You may see a one-line </a:t>
            </a:r>
            <a:r>
              <a:rPr>
                <a:latin typeface="Courier"/>
              </a:rPr>
              <a:t>curl … | sh</a:t>
            </a:r>
            <a:r>
              <a:rPr/>
              <a:t> command on the web. Ignore it — the installer does the same thing and there is nothing to mistype.</a:t>
            </a:r>
          </a:p>
          <a:p>
            <a:pPr lvl="0" indent="0" marL="0">
              <a:buNone/>
            </a:pPr>
            <a:r>
              <a:rPr/>
              <a:t>On macOS, </a:t>
            </a:r>
            <a:r>
              <a:rPr b="1"/>
              <a:t>open the app once</a:t>
            </a:r>
            <a:r>
              <a:rPr/>
              <a:t> after installing. It puts the </a:t>
            </a:r>
            <a:r>
              <a:rPr>
                <a:latin typeface="Courier"/>
              </a:rPr>
              <a:t>ollama</a:t>
            </a:r>
            <a:r>
              <a:rPr/>
              <a:t> command in place and starts the background service.</a:t>
            </a:r>
          </a:p>
        </p:txBody>
      </p:sp>
    </p:spTree>
  </p:cSld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Check Ollama is there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VS Codium terminal</a:t>
            </a:r>
          </a:p>
          <a:p>
            <a:pPr lvl="0" indent="0">
              <a:buNone/>
            </a:pPr>
            <a:r>
              <a:rPr>
                <a:latin typeface="Courier"/>
              </a:rPr>
              <a:t>ollama </a:t>
            </a:r>
            <a:r>
              <a:rPr>
                <a:solidFill>
                  <a:srgbClr val="7D9029"/>
                </a:solidFill>
                <a:latin typeface="Courier"/>
              </a:rPr>
              <a:t>--version</a:t>
            </a:r>
          </a:p>
          <a:p>
            <a:pPr lvl="0" indent="0" marL="0">
              <a:buNone/>
            </a:pPr>
            <a:r>
              <a:rPr/>
              <a:t>Prints a version number.</a:t>
            </a:r>
          </a:p>
          <a:p>
            <a:pPr lvl="0" indent="0" marL="0">
              <a:buNone/>
            </a:pPr>
            <a:r>
              <a:rPr i="1"/>
              <a:t>Command not found?</a:t>
            </a:r>
            <a:r>
              <a:rPr/>
              <a:t> Close the terminal panel and open a new one — a new terminal picks up the changed PATH. On Windows, restart VS Codium.</a:t>
            </a:r>
          </a:p>
        </p:txBody>
      </p:sp>
    </p:spTree>
  </p:cSld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1" y="204787"/>
            <a:ext cx="3008313" cy="871538"/>
          </a:xfrm>
        </p:spPr>
        <p:txBody>
          <a:bodyPr/>
          <a:lstStyle/>
          <a:p>
            <a:pPr lvl="0" indent="0" marL="0">
              <a:buNone/>
            </a:pPr>
            <a:r>
              <a:rPr/>
              <a:t>Pull Qwen 2.5 Coder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idx="2" sz="half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VS Codium terminal</a:t>
            </a:r>
          </a:p>
          <a:p>
            <a:pPr lvl="0" indent="0" marL="0">
              <a:buNone/>
            </a:pPr>
            <a:r>
              <a:rPr/>
              <a:t>Choose by the RAM in your machine. Rough rule: </a:t>
            </a:r>
            <a:r>
              <a:rPr b="1"/>
              <a:t>model size + 2 GB free</a:t>
            </a:r>
            <a:r>
              <a:rPr/>
              <a:t>.</a:t>
            </a:r>
          </a:p>
        </p:txBody>
      </p:sp>
      <p:graphicFrame>
        <p:nvGraphicFramePr>
          <p:cNvPr id="6" name="Content Placeholder 5"/>
          <p:cNvGraphicFramePr>
            <a:graphicFrameLocks noGrp="1"/>
          </p:cNvGraphicFramePr>
          <p:nvPr>
            <p:ph idx="1"/>
          </p:nvPr>
        </p:nvGraphicFramePr>
        <p:xfrm>
          <a:off x="3568700" y="203200"/>
          <a:ext cx="5105400" cy="43815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701800"/>
                <a:gridCol w="1701800"/>
                <a:gridCol w="1701800"/>
              </a:tblGrid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Your machine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Model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Command</a:t>
                      </a:r>
                    </a:p>
                  </a:txBody>
                  <a:tcPr/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8 GB RAM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>
                          <a:latin typeface="Courier"/>
                        </a:rPr>
                        <a:t>qwen2.5-coder:3b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>
                          <a:latin typeface="Courier"/>
                        </a:rPr>
                        <a:t>ollama pull qwen2.5-coder:3b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16 GB RAM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>
                          <a:latin typeface="Courier"/>
                        </a:rPr>
                        <a:t>qwen2.5-coder:7b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>
                          <a:latin typeface="Courier"/>
                        </a:rPr>
                        <a:t>ollama pull qwen2.5-coder:7b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32 GB+ / Apple Silicon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>
                          <a:latin typeface="Courier"/>
                        </a:rPr>
                        <a:t>qwen2.5-coder:14b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>
                          <a:latin typeface="Courier"/>
                        </a:rPr>
                        <a:t>ollama pull qwen2.5-coder:14b</a:t>
                      </a:r>
                    </a:p>
                  </a:txBody>
                </a:tc>
              </a:tr>
            </a:tbl>
          </a:graphicData>
        </a:graphic>
      </p:graphicFrame>
    </p:spTree>
  </p:cSld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You also need the embedding model for Session 10:</a:t>
            </a:r>
          </a:p>
          <a:p>
            <a:pPr lvl="0" indent="0">
              <a:buNone/>
            </a:pPr>
            <a:r>
              <a:rPr>
                <a:latin typeface="Courier"/>
              </a:rPr>
              <a:t>ollama pull nomic-embed-text</a:t>
            </a:r>
          </a:p>
          <a:p>
            <a:pPr lvl="0" indent="0" marL="0">
              <a:buNone/>
            </a:pPr>
            <a:r>
              <a:rPr/>
              <a:t>This downloads several gigabytes. Do it on a good connection, </a:t>
            </a:r>
            <a:r>
              <a:rPr b="1"/>
              <a:t>not</a:t>
            </a:r>
            <a:r>
              <a:rPr/>
              <a:t> ten minutes before class.</a:t>
            </a:r>
          </a:p>
        </p:txBody>
      </p:sp>
    </p:spTree>
  </p:cSld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Verify the model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VS Codium terminal</a:t>
            </a:r>
          </a:p>
          <a:p>
            <a:pPr lvl="0" indent="0">
              <a:buNone/>
            </a:pPr>
            <a:r>
              <a:rPr>
                <a:latin typeface="Courier"/>
              </a:rPr>
              <a:t>ollama list</a:t>
            </a:r>
          </a:p>
          <a:p>
            <a:pPr lvl="0" indent="0" marL="0">
              <a:buNone/>
            </a:pPr>
            <a:r>
              <a:rPr/>
              <a:t>You should see your model listed. Now talk to it:</a:t>
            </a:r>
          </a:p>
          <a:p>
            <a:pPr lvl="0" indent="0">
              <a:buNone/>
            </a:pPr>
            <a:r>
              <a:rPr>
                <a:latin typeface="Courier"/>
              </a:rPr>
              <a:t>ollama run qwen2.5-coder:7b </a:t>
            </a:r>
            <a:r>
              <a:rPr>
                <a:solidFill>
                  <a:srgbClr val="4070A0"/>
                </a:solidFill>
                <a:latin typeface="Courier"/>
              </a:rPr>
              <a:t>"Explain the bias-variance tradeoff in three sentences."</a:t>
            </a:r>
          </a:p>
          <a:p>
            <a:pPr lvl="0" indent="0" marL="0">
              <a:buNone/>
            </a:pPr>
            <a:r>
              <a:rPr/>
              <a:t>Type </a:t>
            </a:r>
            <a:r>
              <a:rPr>
                <a:latin typeface="Courier"/>
              </a:rPr>
              <a:t>/bye</a:t>
            </a:r>
            <a:r>
              <a:rPr/>
              <a:t> to leave the chat.</a:t>
            </a:r>
          </a:p>
          <a:p>
            <a:pPr lvl="0" indent="0" marL="0">
              <a:buNone/>
            </a:pPr>
            <a:r>
              <a:rPr b="1"/>
              <a:t>The real check.</a:t>
            </a:r>
            <a:r>
              <a:rPr/>
              <a:t> Turn off your wifi and run that command again. It should still answer. That is what “local” means.</a:t>
            </a:r>
          </a:p>
        </p:txBody>
      </p:sp>
    </p:spTree>
  </p:cSld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/>
          <a:lstStyle/>
          <a:p>
            <a:pPr lvl="0" indent="0" marL="0">
              <a:buNone/>
            </a:pPr>
            <a:r>
              <a:rPr/>
              <a:t>Step 6 — The CLI agent</a:t>
            </a:r>
          </a:p>
        </p:txBody>
      </p:sp>
    </p:spTree>
  </p:cSld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Talking to Qwen from the terminal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The Continue sidebar is useful for questions about a selected block of code.</a:t>
            </a:r>
          </a:p>
          <a:p>
            <a:pPr lvl="0" indent="0" marL="0">
              <a:buNone/>
            </a:pPr>
            <a:r>
              <a:rPr/>
              <a:t>But the way this course actually works — and the way I work in front of you — is an </a:t>
            </a:r>
            <a:r>
              <a:rPr b="1"/>
              <a:t>agent in the terminal</a:t>
            </a:r>
            <a:r>
              <a:rPr/>
              <a:t>: something that reads your files, edits them, and commits, while you steer it in prose.</a:t>
            </a:r>
          </a:p>
          <a:p>
            <a:pPr lvl="0" indent="0" marL="0">
              <a:buNone/>
            </a:pPr>
            <a:r>
              <a:rPr/>
              <a:t>That tool is </a:t>
            </a:r>
            <a:r>
              <a:rPr b="1"/>
              <a:t>aider</a:t>
            </a:r>
            <a:r>
              <a:rPr/>
              <a:t>, and it runs against your local Qwen.</a:t>
            </a:r>
          </a:p>
          <a:p>
            <a:pPr lvl="0" indent="0" marL="0">
              <a:buNone/>
            </a:pPr>
            <a:r>
              <a:rPr/>
              <a:t>The same shape as the workflow you have seen me use in class — and it is running on your laptop, on a model you downloaded.</a:t>
            </a:r>
          </a:p>
        </p:txBody>
      </p:sp>
    </p:spTree>
  </p:cSld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Install aider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VS Codium terminal · with </a:t>
            </a:r>
            <a:r>
              <a:rPr>
                <a:latin typeface="Courier"/>
              </a:rPr>
              <a:t>(.venv)</a:t>
            </a:r>
            <a:r>
              <a:rPr/>
              <a:t> showing</a:t>
            </a:r>
          </a:p>
          <a:p>
            <a:pPr lvl="0" indent="0">
              <a:buNone/>
            </a:pPr>
            <a:r>
              <a:rPr>
                <a:latin typeface="Courier"/>
              </a:rPr>
              <a:t>python </a:t>
            </a:r>
            <a:r>
              <a:rPr>
                <a:solidFill>
                  <a:srgbClr val="7D9029"/>
                </a:solidFill>
                <a:latin typeface="Courier"/>
              </a:rPr>
              <a:t>-m</a:t>
            </a:r>
            <a:r>
              <a:rPr>
                <a:latin typeface="Courier"/>
              </a:rPr>
              <a:t> pip install aider-install</a:t>
            </a:r>
            <a:br/>
            <a:r>
              <a:rPr>
                <a:latin typeface="Courier"/>
              </a:rPr>
              <a:t>aider-install</a:t>
            </a:r>
          </a:p>
        </p:txBody>
      </p:sp>
    </p:spTree>
  </p:cSld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Point aider at Ollama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VS Codium terminal</a:t>
            </a:r>
          </a:p>
          <a:p>
            <a:pPr lvl="0" indent="0">
              <a:buNone/>
            </a:pPr>
            <a:r>
              <a:rPr i="1">
                <a:solidFill>
                  <a:srgbClr val="60A0B0"/>
                </a:solidFill>
                <a:latin typeface="Courier"/>
              </a:rPr>
              <a:t># macOS / Linux</a:t>
            </a:r>
            <a:br/>
            <a:r>
              <a:rPr>
                <a:solidFill>
                  <a:srgbClr val="008000"/>
                </a:solidFill>
                <a:latin typeface="Courier"/>
              </a:rPr>
              <a:t>export</a:t>
            </a:r>
            <a:r>
              <a:rPr>
                <a:latin typeface="Courier"/>
              </a:rPr>
              <a:t> </a:t>
            </a:r>
            <a:r>
              <a:rPr>
                <a:solidFill>
                  <a:srgbClr val="19177C"/>
                </a:solidFill>
                <a:latin typeface="Courier"/>
              </a:rPr>
              <a:t>OLLAMA_API_BASE</a:t>
            </a:r>
            <a:r>
              <a:rPr>
                <a:solidFill>
                  <a:srgbClr val="666666"/>
                </a:solidFill>
                <a:latin typeface="Courier"/>
              </a:rPr>
              <a:t>=</a:t>
            </a:r>
            <a:r>
              <a:rPr>
                <a:latin typeface="Courier"/>
              </a:rPr>
              <a:t>http://127.0.0.1:11434</a:t>
            </a:r>
            <a:br/>
            <a:br/>
            <a:r>
              <a:rPr i="1">
                <a:solidFill>
                  <a:srgbClr val="60A0B0"/>
                </a:solidFill>
                <a:latin typeface="Courier"/>
              </a:rPr>
              <a:t># Windows (PowerShell) — then open a new terminal</a:t>
            </a:r>
            <a:br/>
            <a:r>
              <a:rPr>
                <a:latin typeface="Courier"/>
              </a:rPr>
              <a:t>setx OLLAMA_API_BASE http://127.0.0.1:11434</a:t>
            </a:r>
          </a:p>
        </p:txBody>
      </p:sp>
    </p:spTree>
  </p:cSld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Give Ollama a real context window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This step is not optional.</a:t>
            </a:r>
            <a:r>
              <a:rPr/>
              <a:t> Ollama defaults to a </a:t>
            </a:r>
            <a:r>
              <a:rPr b="1"/>
              <a:t>2k</a:t>
            </a:r>
            <a:r>
              <a:rPr/>
              <a:t> context window and then </a:t>
            </a:r>
            <a:r>
              <a:rPr i="1"/>
              <a:t>silently discards</a:t>
            </a:r>
            <a:r>
              <a:rPr/>
              <a:t> whatever does not fit. Your agent will appear to “forget” the file you just gave it.</a:t>
            </a:r>
          </a:p>
          <a:p>
            <a:pPr lvl="0" indent="0" marL="0">
              <a:buNone/>
            </a:pPr>
            <a:r>
              <a:rPr/>
              <a:t>Start the server with a larger window:</a:t>
            </a:r>
          </a:p>
          <a:p>
            <a:pPr lvl="0" indent="0" marL="0">
              <a:buNone/>
            </a:pPr>
            <a:r>
              <a:rPr/>
              <a:t>VS Codium terminal 1</a:t>
            </a:r>
          </a:p>
          <a:p>
            <a:pPr lvl="0" indent="0">
              <a:buNone/>
            </a:pPr>
            <a:r>
              <a:rPr>
                <a:solidFill>
                  <a:srgbClr val="19177C"/>
                </a:solidFill>
                <a:latin typeface="Courier"/>
              </a:rPr>
              <a:t>OLLAMA_CONTEXT_LENGTH</a:t>
            </a:r>
            <a:r>
              <a:rPr>
                <a:solidFill>
                  <a:srgbClr val="666666"/>
                </a:solidFill>
                <a:latin typeface="Courier"/>
              </a:rPr>
              <a:t>=</a:t>
            </a:r>
            <a:r>
              <a:rPr>
                <a:latin typeface="Courier"/>
              </a:rPr>
              <a:t>8192 ollama serve</a:t>
            </a:r>
          </a:p>
          <a:p>
            <a:pPr lvl="0" indent="0" marL="0">
              <a:buNone/>
            </a:pPr>
            <a:r>
              <a:rPr/>
              <a:t>Leave that terminal running. Open a </a:t>
            </a:r>
            <a:r>
              <a:rPr b="1"/>
              <a:t>second</a:t>
            </a:r>
            <a:r>
              <a:rPr/>
              <a:t> terminal for aider.</a:t>
            </a:r>
          </a:p>
          <a:p>
            <a:pPr lvl="0" indent="0" marL="0">
              <a:buNone/>
            </a:pPr>
            <a:r>
              <a:rPr/>
              <a:t>In VS Codium: the </a:t>
            </a:r>
            <a:r>
              <a:rPr>
                <a:latin typeface="Courier"/>
              </a:rPr>
              <a:t>+</a:t>
            </a:r>
            <a:r>
              <a:rPr/>
              <a:t> icon in the terminal panel splits off a new shell.</a:t>
            </a:r>
          </a:p>
        </p:txBody>
      </p:sp>
    </p:spTree>
  </p:cSld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Run the agent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VS Codium terminal 2</a:t>
            </a:r>
          </a:p>
          <a:p>
            <a:pPr lvl="0" indent="0">
              <a:buNone/>
            </a:pPr>
            <a:r>
              <a:rPr>
                <a:solidFill>
                  <a:srgbClr val="008000"/>
                </a:solidFill>
                <a:latin typeface="Courier"/>
              </a:rPr>
              <a:t>cd</a:t>
            </a:r>
            <a:r>
              <a:rPr>
                <a:latin typeface="Courier"/>
              </a:rPr>
              <a:t> /path/to/your/repo</a:t>
            </a:r>
            <a:br/>
            <a:r>
              <a:rPr>
                <a:latin typeface="Courier"/>
              </a:rPr>
              <a:t>aider </a:t>
            </a:r>
            <a:r>
              <a:rPr>
                <a:solidFill>
                  <a:srgbClr val="7D9029"/>
                </a:solidFill>
                <a:latin typeface="Courier"/>
              </a:rPr>
              <a:t>--model</a:t>
            </a:r>
            <a:r>
              <a:rPr>
                <a:latin typeface="Courier"/>
              </a:rPr>
              <a:t> ollama_chat/qwen2.5-coder:7b</a:t>
            </a:r>
          </a:p>
          <a:p>
            <a:pPr lvl="0" indent="0" marL="0">
              <a:buNone/>
            </a:pPr>
            <a:r>
              <a:rPr/>
              <a:t>Note the prefix: </a:t>
            </a:r>
            <a:r>
              <a:rPr b="1">
                <a:latin typeface="Courier"/>
              </a:rPr>
              <a:t>ollama_chat/</a:t>
            </a:r>
            <a:r>
              <a:rPr/>
              <a:t>, not </a:t>
            </a:r>
            <a:r>
              <a:rPr>
                <a:latin typeface="Courier"/>
              </a:rPr>
              <a:t>ollama/</a:t>
            </a:r>
            <a:r>
              <a:rPr/>
              <a:t>. The second one exists and behaves worse.</a:t>
            </a:r>
          </a:p>
        </p:txBody>
      </p:sp>
    </p:spTree>
  </p:cSld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Ask it for something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You are now at a prompt. Ask in plain language:</a:t>
            </a:r>
          </a:p>
          <a:p>
            <a:pPr lvl="0" indent="0">
              <a:buNone/>
            </a:pPr>
            <a:r>
              <a:rPr>
                <a:latin typeface="Courier"/>
              </a:rPr>
              <a:t>&gt; add a function that loads data/spine/core.parquet
  and prints the number of rows per country</a:t>
            </a:r>
          </a:p>
          <a:p>
            <a:pPr lvl="0" indent="0" marL="0">
              <a:buNone/>
            </a:pPr>
            <a:r>
              <a:rPr/>
              <a:t>aider writes the code, shows you a </a:t>
            </a:r>
            <a:r>
              <a:rPr b="1"/>
              <a:t>diff</a:t>
            </a:r>
            <a:r>
              <a:rPr/>
              <a:t>, and asks to apply it.</a:t>
            </a:r>
          </a:p>
          <a:p>
            <a:pPr lvl="0" indent="0" marL="0">
              <a:buNone/>
            </a:pPr>
            <a:r>
              <a:rPr/>
              <a:t>Read the diff before you accept. That habit is the whole skill.</a:t>
            </a:r>
          </a:p>
        </p:txBody>
      </p:sp>
    </p:spTree>
  </p:cSld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/>
          <a:lstStyle/>
          <a:p>
            <a:pPr lvl="0" indent="0" marL="0">
              <a:buNone/>
            </a:pPr>
            <a:r>
              <a:rPr/>
              <a:t>The worked example</a:t>
            </a:r>
          </a:p>
        </p:txBody>
      </p:sp>
    </p:spTree>
  </p:cSld>
</p:sld>
</file>

<file path=ppt/slides/slide4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Two terminals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Terminal 1</a:t>
            </a:r>
            <a:r>
              <a:rPr/>
              <a:t> — the model server, left running:</a:t>
            </a:r>
          </a:p>
          <a:p>
            <a:pPr lvl="0" indent="0" marL="0">
              <a:buNone/>
            </a:pPr>
            <a:r>
              <a:rPr/>
              <a:t>VS Codium terminal 1</a:t>
            </a:r>
          </a:p>
          <a:p>
            <a:pPr lvl="0" indent="0">
              <a:buNone/>
            </a:pPr>
            <a:r>
              <a:rPr>
                <a:solidFill>
                  <a:srgbClr val="19177C"/>
                </a:solidFill>
                <a:latin typeface="Courier"/>
              </a:rPr>
              <a:t>OLLAMA_CONTEXT_LENGTH</a:t>
            </a:r>
            <a:r>
              <a:rPr>
                <a:solidFill>
                  <a:srgbClr val="666666"/>
                </a:solidFill>
                <a:latin typeface="Courier"/>
              </a:rPr>
              <a:t>=</a:t>
            </a:r>
            <a:r>
              <a:rPr>
                <a:latin typeface="Courier"/>
              </a:rPr>
              <a:t>8192 ollama serve</a:t>
            </a:r>
          </a:p>
          <a:p>
            <a:pPr lvl="0" indent="0" marL="0">
              <a:buNone/>
            </a:pPr>
            <a:r>
              <a:rPr b="1"/>
              <a:t>Terminal 2</a:t>
            </a:r>
            <a:r>
              <a:rPr/>
              <a:t> — inside your course folder:</a:t>
            </a:r>
          </a:p>
          <a:p>
            <a:pPr lvl="0" indent="0" marL="0">
              <a:buNone/>
            </a:pPr>
            <a:r>
              <a:rPr/>
              <a:t>VS Codium terminal 2</a:t>
            </a:r>
          </a:p>
          <a:p>
            <a:pPr lvl="0" indent="0">
              <a:buNone/>
            </a:pPr>
            <a:r>
              <a:rPr>
                <a:solidFill>
                  <a:srgbClr val="008000"/>
                </a:solidFill>
                <a:latin typeface="Courier"/>
              </a:rPr>
              <a:t>source</a:t>
            </a:r>
            <a:r>
              <a:rPr>
                <a:latin typeface="Courier"/>
              </a:rPr>
              <a:t> .venv/bin/activate</a:t>
            </a:r>
            <a:br/>
            <a:r>
              <a:rPr>
                <a:latin typeface="Courier"/>
              </a:rPr>
              <a:t>aider </a:t>
            </a:r>
            <a:r>
              <a:rPr>
                <a:solidFill>
                  <a:srgbClr val="7D9029"/>
                </a:solidFill>
                <a:latin typeface="Courier"/>
              </a:rPr>
              <a:t>--model</a:t>
            </a:r>
            <a:r>
              <a:rPr>
                <a:latin typeface="Courier"/>
              </a:rPr>
              <a:t> ollama_chat/qwen2.5-coder:7b</a:t>
            </a:r>
          </a:p>
        </p:txBody>
      </p:sp>
    </p:spTree>
  </p:cSld>
</p:sld>
</file>

<file path=ppt/slides/slide4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Ask for something real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At the aider prompt</a:t>
            </a:r>
          </a:p>
          <a:p>
            <a:pPr lvl="0" indent="0">
              <a:buNone/>
            </a:pPr>
            <a:r>
              <a:rPr>
                <a:latin typeface="Courier"/>
              </a:rPr>
              <a:t>&gt; create explore.py that loads data/spine/core.parquet,
  prints the shape, and shows mean gdp_pc_eur by year</a:t>
            </a:r>
          </a:p>
          <a:p>
            <a:pPr lvl="0" indent="0" marL="0">
              <a:buNone/>
            </a:pPr>
            <a:r>
              <a:rPr/>
              <a:t>aider proposes a diff. You read it. You accept it.</a:t>
            </a:r>
          </a:p>
          <a:p>
            <a:pPr lvl="0" indent="0">
              <a:buNone/>
            </a:pPr>
            <a:r>
              <a:rPr>
                <a:latin typeface="Courier"/>
              </a:rPr>
              <a:t>python explore.py</a:t>
            </a:r>
          </a:p>
        </p:txBody>
      </p:sp>
    </p:spTree>
  </p:cSld>
</p:sld>
</file>

<file path=ppt/slides/slide4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What just happened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You ran a model </a:t>
            </a:r>
            <a:r>
              <a:rPr b="1"/>
              <a:t>on your own hardware</a:t>
            </a:r>
            <a:r>
              <a:rPr/>
              <a:t>, had it write code against real data, reviewed the change, and accepted it — </a:t>
            </a:r>
            <a:r>
              <a:rPr b="1"/>
              <a:t>without sending one byte to anyone’s API.</a:t>
            </a:r>
          </a:p>
          <a:p>
            <a:pPr lvl="0" indent="0" marL="0">
              <a:buNone/>
            </a:pPr>
            <a:r>
              <a:rPr/>
              <a:t>Every practice session this term is a variation on those two terminals.</a:t>
            </a:r>
          </a:p>
        </p:txBody>
      </p:sp>
    </p:spTree>
  </p:cSld>
</p:sld>
</file>

<file path=ppt/slides/slide4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Why we do it this way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b="1"/>
              <a:t>The data stay put.</a:t>
            </a:r>
            <a:r>
              <a:rPr/>
              <a:t> Some of what you use this term cannot legally be uploaded.</a:t>
            </a:r>
          </a:p>
          <a:p>
            <a:pPr lvl="0"/>
            <a:r>
              <a:rPr b="1"/>
              <a:t>The cost is zero.</a:t>
            </a:r>
            <a:r>
              <a:rPr/>
              <a:t> No key, no quota, no bill at the end of the month.</a:t>
            </a:r>
          </a:p>
          <a:p>
            <a:pPr lvl="0"/>
            <a:r>
              <a:rPr b="1"/>
              <a:t>The record is honest.</a:t>
            </a:r>
            <a:r>
              <a:rPr/>
              <a:t> The diff shows exactly what changed, and why.</a:t>
            </a:r>
          </a:p>
          <a:p>
            <a:pPr lvl="0"/>
            <a:r>
              <a:rPr b="1"/>
              <a:t>The skill transfers.</a:t>
            </a:r>
            <a:r>
              <a:rPr/>
              <a:t> This is how the work is actually done now.</a:t>
            </a:r>
          </a:p>
          <a:p>
            <a:pPr lvl="0" indent="0" marL="0">
              <a:buNone/>
            </a:pPr>
            <a:r>
              <a:rPr/>
              <a:t>The model is a </a:t>
            </a:r>
            <a:r>
              <a:rPr b="1"/>
              <a:t>junior collaborator with no accountability.</a:t>
            </a:r>
            <a:r>
              <a:rPr/>
              <a:t> It will produce confident, wrong code. Every line you accept is a line you are claiming as correct. Read the diff.</a:t>
            </a:r>
          </a:p>
        </p:txBody>
      </p:sp>
    </p:spTree>
  </p:cSld>
</p:sld>
</file>

<file path=ppt/slides/slide4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/>
          <a:lstStyle/>
          <a:p>
            <a:pPr lvl="0" indent="0" marL="0">
              <a:buNone/>
            </a:pPr>
            <a:r>
              <a:rPr/>
              <a:t>If it breaks</a:t>
            </a:r>
          </a:p>
        </p:txBody>
      </p:sp>
    </p:spTree>
  </p:cSld>
</p:sld>
</file>

<file path=ppt/slides/slide4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Troubleshooting</a:t>
            </a:r>
          </a:p>
        </p:txBody>
      </p:sp>
      <p:graphicFrame>
        <p:nvGraphicFramePr>
          <p:cNvPr id="6" name="Content Placeholder 5"/>
          <p:cNvGraphicFramePr>
            <a:graphicFrameLocks noGrp="1"/>
          </p:cNvGraphicFramePr>
          <p:nvPr>
            <p:ph idx="1"/>
          </p:nvPr>
        </p:nvGraphicFramePr>
        <p:xfrm>
          <a:off x="457200" y="1193800"/>
          <a:ext cx="8229600" cy="33909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4114800"/>
                <a:gridCol w="4114800"/>
              </a:tblGrid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Symptom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Fix</a:t>
                      </a:r>
                    </a:p>
                  </a:txBody>
                  <a:tcPr/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>
                          <a:latin typeface="Courier"/>
                        </a:rPr>
                        <a:t>ollama: command not found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Reopen the terminal; on Windows, restart VS Codium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Model answers very slowly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Use a smaller model (</a:t>
                      </a:r>
                      <a:r>
                        <a:rPr>
                          <a:latin typeface="Courier"/>
                        </a:rPr>
                        <a:t>:3b</a:t>
                      </a:r>
                      <a:r>
                        <a:rPr/>
                        <a:t>); close other applications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aider “forgets” your file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You skipped </a:t>
                      </a:r>
                      <a:r>
                        <a:rPr>
                          <a:latin typeface="Courier"/>
                        </a:rPr>
                        <a:t>OLLAMA_CONTEXT_LENGTH=8192 ollama serve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>
                          <a:latin typeface="Courier"/>
                        </a:rPr>
                        <a:t>connection refused</a:t>
                      </a:r>
                      <a:r>
                        <a:rPr/>
                        <a:t> from aider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The </a:t>
                      </a:r>
                      <a:r>
                        <a:rPr>
                          <a:latin typeface="Courier"/>
                        </a:rPr>
                        <a:t>ollama serve</a:t>
                      </a:r>
                      <a:r>
                        <a:rPr/>
                        <a:t> terminal is not running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>
                          <a:latin typeface="Courier"/>
                        </a:rPr>
                        <a:t>pip</a:t>
                      </a:r>
                      <a:r>
                        <a:rPr/>
                        <a:t> fails on install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Check </a:t>
                      </a:r>
                      <a:r>
                        <a:rPr>
                          <a:latin typeface="Courier"/>
                        </a:rPr>
                        <a:t>(.venv)</a:t>
                      </a:r>
                      <a:r>
                        <a:rPr/>
                        <a:t> is in your prompt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>
                          <a:latin typeface="Courier"/>
                        </a:rPr>
                        <a:t>python3</a:t>
                      </a:r>
                      <a:r>
                        <a:rPr/>
                        <a:t> not found on Windows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Try </a:t>
                      </a:r>
                      <a:r>
                        <a:rPr>
                          <a:latin typeface="Courier"/>
                        </a:rPr>
                        <a:t>python</a:t>
                      </a:r>
                      <a:r>
                        <a:rPr/>
                        <a:t>; if still missing, PATH was not ticked</a:t>
                      </a:r>
                    </a:p>
                  </a:txBody>
                </a:tc>
              </a:tr>
            </a:tbl>
          </a:graphicData>
        </a:graphic>
      </p:graphicFrame>
    </p:spTree>
  </p:cSld>
</p:sld>
</file>

<file path=ppt/slides/slide4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Still stuck? Ask Qwen — that is itself a test of whether your setup works.</a:t>
            </a:r>
          </a:p>
        </p:txBody>
      </p:sp>
    </p:spTree>
  </p:cSld>
</p:sld>
</file>

<file path=ppt/slides/slide4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The last check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VS Codium terminal · with </a:t>
            </a:r>
            <a:r>
              <a:rPr>
                <a:latin typeface="Courier"/>
              </a:rPr>
              <a:t>(.venv)</a:t>
            </a:r>
            <a:r>
              <a:rPr/>
              <a:t> showing</a:t>
            </a:r>
          </a:p>
          <a:p>
            <a:pPr lvl="0" indent="0">
              <a:buNone/>
            </a:pPr>
            <a:r>
              <a:rPr>
                <a:latin typeface="Courier"/>
              </a:rPr>
              <a:t>python 01-foundations-scenarios-and-tools/00-pre-session/verify_environment.py</a:t>
            </a:r>
          </a:p>
          <a:p>
            <a:pPr lvl="0" indent="0" marL="0">
              <a:buNone/>
            </a:pPr>
            <a:r>
              <a:rPr/>
              <a:t>You should see five checks pass.</a:t>
            </a:r>
          </a:p>
          <a:p>
            <a:pPr lvl="0" indent="0" marL="0">
              <a:buNone/>
            </a:pPr>
            <a:r>
              <a:rPr b="1"/>
              <a:t>Bring the output to class</a:t>
            </a:r>
            <a:r>
              <a:rPr/>
              <a:t> — a screenshot or a paste into your notes.</a:t>
            </a:r>
          </a:p>
        </p:txBody>
      </p:sp>
    </p:spTree>
  </p:cSld>
</p:sld>
</file>

<file path=ppt/slides/slide5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Before Session 1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✅ VS Codium installed, Python environment built</a:t>
            </a:r>
          </a:p>
          <a:p>
            <a:pPr lvl="0"/>
            <a:r>
              <a:rPr/>
              <a:t>✅ Ollama running Qwen 2.5 Coder, verified </a:t>
            </a:r>
            <a:r>
              <a:rPr b="1"/>
              <a:t>with the wifi off</a:t>
            </a:r>
          </a:p>
          <a:p>
            <a:pPr lvl="0"/>
            <a:r>
              <a:rPr/>
              <a:t>✅ aider talking to your local model, editing a real file</a:t>
            </a:r>
          </a:p>
          <a:p>
            <a:pPr lvl="0"/>
            <a:r>
              <a:rPr/>
              <a:t>✅ </a:t>
            </a:r>
            <a:r>
              <a:rPr i="1"/>
              <a:t>Europe 2031</a:t>
            </a:r>
            <a:r>
              <a:rPr/>
              <a:t> read as a stress test, not a prediction</a:t>
            </a:r>
          </a:p>
          <a:p>
            <a:pPr lvl="0"/>
            <a:r>
              <a:rPr/>
              <a:t>✅ </a:t>
            </a:r>
            <a:r>
              <a:rPr>
                <a:latin typeface="Courier"/>
              </a:rPr>
              <a:t>verify_environment.py</a:t>
            </a:r>
            <a:r>
              <a:rPr/>
              <a:t> output in hand</a:t>
            </a:r>
          </a:p>
        </p:txBody>
      </p:sp>
    </p:spTree>
  </p:cSld>
</p:sld>
</file>

<file path=ppt/slides/slide5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See you in Session 1.</a:t>
            </a:r>
          </a:p>
          <a:p>
            <a:pPr lvl="0" indent="0" marL="0">
              <a:buNone/>
            </a:pPr>
            <a:r>
              <a:rPr/>
              <a:t>Bring the machine you set up. Everything this term runs on it.</a:t>
            </a:r>
          </a:p>
        </p:txBody>
      </p:sp>
    </p:spTree>
  </p:cSld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2</TotalTime>
  <Words>49</Words>
  <Application>Microsoft Macintosh PowerPoint</Application>
  <PresentationFormat>On-screen Show (16:9)</PresentationFormat>
  <Paragraphs>15</Paragraphs>
  <Slides>4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7" baseType="lpstr">
      <vt:lpstr>Arial</vt:lpstr>
      <vt:lpstr>Calibri</vt:lpstr>
      <vt:lpstr>Office Theme</vt:lpstr>
      <vt:lpstr>Presentation Title</vt:lpstr>
      <vt:lpstr>Slide Title</vt:lpstr>
      <vt:lpstr>Section header</vt:lpstr>
      <vt:lpstr>Slide Title for Two-Content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Welcome</dc:title>
  <dc:creator>Thierry Warin</dc:creator>
  <cp:keywords/>
  <dcterms:created xsi:type="dcterms:W3CDTF">2026-08-20T20:44:53Z</dcterms:created>
  <dcterms:modified xsi:type="dcterms:W3CDTF">2026-08-20T20:44:53Z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affiliations">
    <vt:lpwstr/>
  </property>
  <property fmtid="{D5CDD505-2E9C-101B-9397-08002B2CF9AE}" pid="3" name="authors">
    <vt:lpwstr/>
  </property>
  <property fmtid="{D5CDD505-2E9C-101B-9397-08002B2CF9AE}" pid="4" name="biblio-config">
    <vt:lpwstr>True</vt:lpwstr>
  </property>
  <property fmtid="{D5CDD505-2E9C-101B-9397-08002B2CF9AE}" pid="5" name="by-affiliation">
    <vt:lpwstr/>
  </property>
  <property fmtid="{D5CDD505-2E9C-101B-9397-08002B2CF9AE}" pid="6" name="by-author">
    <vt:lpwstr/>
  </property>
  <property fmtid="{D5CDD505-2E9C-101B-9397-08002B2CF9AE}" pid="7" name="date">
    <vt:lpwstr>20 August 2026</vt:lpwstr>
  </property>
  <property fmtid="{D5CDD505-2E9C-101B-9397-08002B2CF9AE}" pid="8" name="date-format">
    <vt:lpwstr>D MMMM YYYY</vt:lpwstr>
  </property>
  <property fmtid="{D5CDD505-2E9C-101B-9397-08002B2CF9AE}" pid="9" name="header-includes">
    <vt:lpwstr/>
  </property>
  <property fmtid="{D5CDD505-2E9C-101B-9397-08002B2CF9AE}" pid="10" name="include-after">
    <vt:lpwstr/>
  </property>
  <property fmtid="{D5CDD505-2E9C-101B-9397-08002B2CF9AE}" pid="11" name="include-before">
    <vt:lpwstr/>
  </property>
  <property fmtid="{D5CDD505-2E9C-101B-9397-08002B2CF9AE}" pid="12" name="institute">
    <vt:lpwstr>HEC Montréal</vt:lpwstr>
  </property>
  <property fmtid="{D5CDD505-2E9C-101B-9397-08002B2CF9AE}" pid="13" name="institutes">
    <vt:lpwstr/>
  </property>
  <property fmtid="{D5CDD505-2E9C-101B-9397-08002B2CF9AE}" pid="14" name="labels">
    <vt:lpwstr/>
  </property>
  <property fmtid="{D5CDD505-2E9C-101B-9397-08002B2CF9AE}" pid="15" name="subtitle">
    <vt:lpwstr>Quantitative Methods in International Business — building your workstation</vt:lpwstr>
  </property>
  <property fmtid="{D5CDD505-2E9C-101B-9397-08002B2CF9AE}" pid="16" name="toc-title">
    <vt:lpwstr>Table of contents</vt:lpwstr>
  </property>
</Properties>
</file>