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e7e796147943a0" /><Relationship Type="http://schemas.openxmlformats.org/officeDocument/2006/relationships/extended-properties" Target="/docProps/app.xml" Id="Rb0c35c94721d40ac" /><Relationship Type="http://schemas.openxmlformats.org/officeDocument/2006/relationships/officeDocument" Target="/ppt/presentation.xml" Id="R639d85aa0c5f40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0adced8e3c4724"/>
  </p:sldMasterIdLst>
  <p:notesMasterIdLst>
    <p:notesMasterId xmlns:r="http://schemas.openxmlformats.org/officeDocument/2006/relationships" r:id="R247f81e5049d49b2"/>
  </p:notesMasterIdLst>
  <p:sldIdLst>
    <p:sldId xmlns:r="http://schemas.openxmlformats.org/officeDocument/2006/relationships" id="256" r:id="R5e6759a874d6464d"/>
    <p:sldId xmlns:r="http://schemas.openxmlformats.org/officeDocument/2006/relationships" id="257" r:id="R219bf68aaa2f47f8"/>
    <p:sldId xmlns:r="http://schemas.openxmlformats.org/officeDocument/2006/relationships" id="258" r:id="Rcaee46bd88314940"/>
    <p:sldId xmlns:r="http://schemas.openxmlformats.org/officeDocument/2006/relationships" id="259" r:id="R589ce7ed38784b26"/>
    <p:sldId xmlns:r="http://schemas.openxmlformats.org/officeDocument/2006/relationships" id="260" r:id="R6357d0c9246e41ab"/>
    <p:sldId xmlns:r="http://schemas.openxmlformats.org/officeDocument/2006/relationships" id="261" r:id="Raae3b26346b640ed"/>
    <p:sldId xmlns:r="http://schemas.openxmlformats.org/officeDocument/2006/relationships" id="262" r:id="R9384fac6cf0c44c3"/>
    <p:sldId xmlns:r="http://schemas.openxmlformats.org/officeDocument/2006/relationships" id="263" r:id="Rd4d8b52c2b5546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c18d7aeaa54f58" /><Relationship Type="http://schemas.openxmlformats.org/officeDocument/2006/relationships/slideMaster" Target="/ppt/slideMasters/slideMaster1.xml" Id="Rd50adced8e3c4724" /><Relationship Type="http://schemas.openxmlformats.org/officeDocument/2006/relationships/notesMaster" Target="/ppt/notesMasters/notesMaster1.xml" Id="R247f81e5049d49b2" /><Relationship Type="http://schemas.openxmlformats.org/officeDocument/2006/relationships/presProps" Target="/ppt/presProps.xml" Id="R1c91eeabfd204a01" /><Relationship Type="http://schemas.openxmlformats.org/officeDocument/2006/relationships/tableStyles" Target="/ppt/tableStyles.xml" Id="Rca1d8e901f7c4a78" /><Relationship Type="http://schemas.openxmlformats.org/officeDocument/2006/relationships/slide" Target="/ppt/slides/slide1.xml" Id="R5e6759a874d6464d" /><Relationship Type="http://schemas.openxmlformats.org/officeDocument/2006/relationships/slide" Target="/ppt/slides/slide2.xml" Id="R219bf68aaa2f47f8" /><Relationship Type="http://schemas.openxmlformats.org/officeDocument/2006/relationships/slide" Target="/ppt/slides/slide3.xml" Id="Rcaee46bd88314940" /><Relationship Type="http://schemas.openxmlformats.org/officeDocument/2006/relationships/slide" Target="/ppt/slides/slide4.xml" Id="R589ce7ed38784b26" /><Relationship Type="http://schemas.openxmlformats.org/officeDocument/2006/relationships/slide" Target="/ppt/slides/slide5.xml" Id="R6357d0c9246e41ab" /><Relationship Type="http://schemas.openxmlformats.org/officeDocument/2006/relationships/slide" Target="/ppt/slides/slide6.xml" Id="Raae3b26346b640ed" /><Relationship Type="http://schemas.openxmlformats.org/officeDocument/2006/relationships/slide" Target="/ppt/slides/slide7.xml" Id="R9384fac6cf0c44c3" /><Relationship Type="http://schemas.openxmlformats.org/officeDocument/2006/relationships/slide" Target="/ppt/slides/slide8.xml" Id="Rd4d8b52c2b5546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aa0dc6d26045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3c4213b6144a50" /><Relationship Type="http://schemas.openxmlformats.org/officeDocument/2006/relationships/notesMaster" Target="/ppt/notesMasters/notesMaster1.xml" Id="R42c7cde4f3fa43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a96d88d19c4253" /><Relationship Type="http://schemas.openxmlformats.org/officeDocument/2006/relationships/notesMaster" Target="/ppt/notesMasters/notesMaster1.xml" Id="Reaa433ba03cb40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1c1670f1a54a29" /><Relationship Type="http://schemas.openxmlformats.org/officeDocument/2006/relationships/notesMaster" Target="/ppt/notesMasters/notesMaster1.xml" Id="R0b12a21bc21145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3ee206c6434b70" /><Relationship Type="http://schemas.openxmlformats.org/officeDocument/2006/relationships/notesMaster" Target="/ppt/notesMasters/notesMaster1.xml" Id="Rbc912b7fe6c8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0cd9e4a25a4ac1" /><Relationship Type="http://schemas.openxmlformats.org/officeDocument/2006/relationships/notesMaster" Target="/ppt/notesMasters/notesMaster1.xml" Id="R6fb0a15972534c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09e25af76d45b5" /><Relationship Type="http://schemas.openxmlformats.org/officeDocument/2006/relationships/notesMaster" Target="/ppt/notesMasters/notesMaster1.xml" Id="R0aa47c68203d43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d9ce68b5a74823" /><Relationship Type="http://schemas.openxmlformats.org/officeDocument/2006/relationships/notesMaster" Target="/ppt/notesMasters/notesMaster1.xml" Id="R865626c78f534d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57989c8ec74002" /><Relationship Type="http://schemas.openxmlformats.org/officeDocument/2006/relationships/notesMaster" Target="/ppt/notesMasters/notesMaster1.xml" Id="R58f4563e265942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90 minutes in conversation: evidence, scenario, prediction, and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01-foundations-scenarios-and-tools/01-lecture/TEACHING-PLAN.md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  <a:p xmlns:a="http://schemas.openxmlformats.org/drawingml/2006/main">
            <a:r>
              <a:t>- ISLR, Chapter 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cite the reading by passage or source before interpreting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01-foundations-scenarios-and-tools/02-practice/README.md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  <a:p xmlns:a="http://schemas.openxmlformats.org/drawingml/2006/main">
            <a:r>
              <a:t>- ISLR, Chapter 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Protect the final five minutes for the individual closing 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01-foundations-scenarios-and-tools/02-practice/README.md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  <a:p xmlns:a="http://schemas.openxmlformats.org/drawingml/2006/main">
            <a:r>
              <a:t>- ISLR, Chapter 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exact seam matters more than whether students agree with the scenario.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01-foundations-scenarios-and-tools/02-practice/README.md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  <a:p xmlns:a="http://schemas.openxmlformats.org/drawingml/2006/main">
            <a:r>
              <a:t>- ISLR, Chapter 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 groups to answer with a passage, a source, or a measurable variable—not only an opinion.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01-foundations-scenarios-and-tools/02-practice/README.md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  <a:p xmlns:a="http://schemas.openxmlformats.org/drawingml/2006/main">
            <a:r>
              <a:t>- ISLR, Chapter 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record one model answer and the independent check that confirmed or corrected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01-foundations-scenarios-and-tools/00-pre-session/setup-vscodium-local-llm.md</a:t>
            </a:r>
          </a:p>
          <a:p xmlns:a="http://schemas.openxmlformats.org/drawingml/2006/main">
            <a:r>
              <a:t>- Course source: 01-foundations-scenarios-and-tools/02-practice/README.md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  <a:p xmlns:a="http://schemas.openxmlformats.org/drawingml/2006/main">
            <a:r>
              <a:t>- ISLR, Chapter 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group gives a brief report and every member contributes one concise statement. The class ends after the reports.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01-foundations-scenarios-and-tools/02-practice/README.md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  <a:p xmlns:a="http://schemas.openxmlformats.org/drawingml/2006/main">
            <a:r>
              <a:t>- ISLR, Chapter 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QMIB Lab App is an optional post-class knowledge check. Completion can count toward participation; it is not preparation for the next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QMIB Lab App: /Users/thierrywarin/Desktop/QMIB-lab-app/README.md</a:t>
            </a:r>
          </a:p>
          <a:p xmlns:a="http://schemas.openxmlformats.org/drawingml/2006/main">
            <a:r>
              <a:t>- Course source: 01-foundations-scenarios-and-tools/02-practice/README.md</a:t>
            </a:r>
          </a:p>
          <a:p xmlns:a="http://schemas.openxmlformats.org/drawingml/2006/main">
            <a:r>
              <a:t>- Europe 2031 — https://europe2031.ai</a:t>
            </a:r>
          </a:p>
          <a:p xmlns:a="http://schemas.openxmlformats.org/drawingml/2006/main">
            <a:r>
              <a:t>- Critical reading brief — local:01-foundations-scenarios-and-tools/00-pre-session/reading-europe-2031.md</a:t>
            </a:r>
          </a:p>
          <a:p xmlns:a="http://schemas.openxmlformats.org/drawingml/2006/main">
            <a:r>
              <a:t>- ISLR, Chapter 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99d9efcdff42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4aa5ef44ea43b1" /><Relationship Type="http://schemas.openxmlformats.org/officeDocument/2006/relationships/slideLayout" Target="/ppt/slideLayouts/slideLayout1.xml" Id="Rd326c8d7c94e46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26c8d7c94e46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35a6922ac42b8" /><Relationship Type="http://schemas.openxmlformats.org/officeDocument/2006/relationships/chart" Target="/ppt/slides/charts/chart1.xml" Id="R796f683100114ccd" /><Relationship Type="http://schemas.openxmlformats.org/officeDocument/2006/relationships/notesSlide" Target="/ppt/notesSlides/notesSlide1.xml" Id="R7024399a998047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141cd00044402" /><Relationship Type="http://schemas.openxmlformats.org/officeDocument/2006/relationships/notesSlide" Target="/ppt/notesSlides/notesSlide2.xml" Id="Rd8476b94b42a47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f7daff7df40c3" /><Relationship Type="http://schemas.openxmlformats.org/officeDocument/2006/relationships/notesSlide" Target="/ppt/notesSlides/notesSlide3.xml" Id="R00169dac5c8b49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be32c50b84433" /><Relationship Type="http://schemas.openxmlformats.org/officeDocument/2006/relationships/notesSlide" Target="/ppt/notesSlides/notesSlide4.xml" Id="R6349a9dda2814c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ba67d9d3e4d78" /><Relationship Type="http://schemas.openxmlformats.org/officeDocument/2006/relationships/notesSlide" Target="/ppt/notesSlides/notesSlide5.xml" Id="R76a00264fcca4d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fb6285eb944e8" /><Relationship Type="http://schemas.openxmlformats.org/officeDocument/2006/relationships/notesSlide" Target="/ppt/notesSlides/notesSlide6.xml" Id="Rf599312eb52f4e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a2bbc173e4790" /><Relationship Type="http://schemas.openxmlformats.org/officeDocument/2006/relationships/notesSlide" Target="/ppt/notesSlides/notesSlide7.xml" Id="Re60b278969eb40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955b0c29f4ce1" /><Relationship Type="http://schemas.openxmlformats.org/officeDocument/2006/relationships/notesSlide" Target="/ppt/notesSlides/notesSlide8.xml" Id="Rdff538250953440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1.2</c:v>
              </c:pt>
              <c:pt idx="1">
                <c:v>2</c:v>
              </c:pt>
              <c:pt idx="2">
                <c:v>2.5</c:v>
              </c:pt>
              <c:pt idx="3">
                <c:v>3.1</c:v>
              </c:pt>
              <c:pt idx="4">
                <c:v>3.4</c:v>
              </c:pt>
              <c:pt idx="5">
                <c:v>4.2</c:v>
              </c:pt>
              <c:pt idx="6">
                <c:v>4.6</c:v>
              </c:pt>
              <c:pt idx="7">
                <c:v>5.1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1.8</c:v>
              </c:pt>
              <c:pt idx="1">
                <c:v>1.6</c:v>
              </c:pt>
              <c:pt idx="2">
                <c:v>3.2</c:v>
              </c:pt>
              <c:pt idx="3">
                <c:v>2.7</c:v>
              </c:pt>
              <c:pt idx="4">
                <c:v>4.2</c:v>
              </c:pt>
              <c:pt idx="5">
                <c:v>3.8</c:v>
              </c:pt>
              <c:pt idx="6">
                <c:v>5.4</c:v>
              </c:pt>
              <c:pt idx="7">
                <c:v>4.7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6AD405C-C171-4F4D-BE4C-515AD64D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01 · IN-CLASS PRACTICE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2AAC93B-3A5A-4E07-A03E-027699EA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conversation: Europe 2031, and what AI actually is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DBCDEA0D-10FC-44EC-996D-13B15616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90 minutes in conversation: evidence, scenario, prediction, and AI.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F6CA61BB-A9DC-4181-A331-B5D73819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800819CC-285D-4140-B19E-B6EEFD5C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6f683100114ccd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FA420C1-3EDA-438F-A856-43C6D180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147E678-0672-4C47-937E-FCE60377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E0B0269-6A57-4732-B712-2CE26347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1</a:t>
            </a:r>
          </a:p>
        </p:txBody>
      </p:sp>
    </p:spTree>
    <p:extLst>
      <p:ext uri="{BB962C8B-B14F-4D97-AF65-F5344CB8AC3E}">
        <p14:creationId xmlns:p14="http://schemas.microsoft.com/office/powerpoint/2010/main" val="9075868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D0158928-6D82-4C3F-9110-6347266D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PURPOSE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B62A16-1152-435E-A387-D0EE6911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This is a conversation with an evidence standard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FD3EA9B-7221-4772-84E1-D16635AB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urpose-lead">
            <a:extLst xmlns:a="http://schemas.openxmlformats.org/drawingml/2006/main">
              <a:ext uri="{FF2B5EF4-FFF2-40B4-BE49-F238E27FC236}">
                <a16:creationId xmlns:a16="http://schemas.microsoft.com/office/drawing/2014/main" id="{7772F534-4839-44AB-9C8F-134E76E4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Europe 2031 is useful because it mixes observation, interpretation, projection, and provocation.</a:t>
            </a:r>
          </a:p>
        </p:txBody>
      </p:sp>
      <p:sp>
        <p:nvSpPr>
          <p:cNvPr id="5" name="purpose-label-0">
            <a:extLst xmlns:a="http://schemas.openxmlformats.org/drawingml/2006/main">
              <a:ext uri="{FF2B5EF4-FFF2-40B4-BE49-F238E27FC236}">
                <a16:creationId xmlns:a16="http://schemas.microsoft.com/office/drawing/2014/main" id="{9EEBC9D3-70B0-46B9-A06E-02D1B67C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6" name="purpose-copy-0">
            <a:extLst xmlns:a="http://schemas.openxmlformats.org/drawingml/2006/main">
              <a:ext uri="{FF2B5EF4-FFF2-40B4-BE49-F238E27FC236}">
                <a16:creationId xmlns:a16="http://schemas.microsoft.com/office/drawing/2014/main" id="{79E44889-EABD-4A72-85A8-88D9FE73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claim tied to a source and an observed time period.</a:t>
            </a:r>
          </a:p>
        </p:txBody>
      </p:sp>
      <p:sp>
        <p:nvSpPr>
          <p:cNvPr id="7" name="purpose-label-1">
            <a:extLst xmlns:a="http://schemas.openxmlformats.org/drawingml/2006/main">
              <a:ext uri="{FF2B5EF4-FFF2-40B4-BE49-F238E27FC236}">
                <a16:creationId xmlns:a16="http://schemas.microsoft.com/office/drawing/2014/main" id="{3F485CB0-61BC-41A9-B50C-58DF282D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SCENARIO</a:t>
            </a:r>
          </a:p>
        </p:txBody>
      </p:sp>
      <p:sp>
        <p:nvSpPr>
          <p:cNvPr id="8" name="purpose-copy-1">
            <a:extLst xmlns:a="http://schemas.openxmlformats.org/drawingml/2006/main">
              <a:ext uri="{FF2B5EF4-FFF2-40B4-BE49-F238E27FC236}">
                <a16:creationId xmlns:a16="http://schemas.microsoft.com/office/drawing/2014/main" id="{B6942A74-2F95-469D-8F26-E05DFE64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coherent imagined future—not a forecast by default.</a:t>
            </a:r>
          </a:p>
        </p:txBody>
      </p:sp>
      <p:sp>
        <p:nvSpPr>
          <p:cNvPr id="9" name="purpose-label-2">
            <a:extLst xmlns:a="http://schemas.openxmlformats.org/drawingml/2006/main">
              <a:ext uri="{FF2B5EF4-FFF2-40B4-BE49-F238E27FC236}">
                <a16:creationId xmlns:a16="http://schemas.microsoft.com/office/drawing/2014/main" id="{225724A1-B76A-4805-88C8-6C3364AA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PREDICTION</a:t>
            </a:r>
          </a:p>
        </p:txBody>
      </p:sp>
      <p:sp>
        <p:nvSpPr>
          <p:cNvPr id="10" name="purpose-copy-2">
            <a:extLst xmlns:a="http://schemas.openxmlformats.org/drawingml/2006/main">
              <a:ext uri="{FF2B5EF4-FFF2-40B4-BE49-F238E27FC236}">
                <a16:creationId xmlns:a16="http://schemas.microsoft.com/office/drawing/2014/main" id="{C6777E79-1331-4800-8682-A55C9767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dated, testable statement about an outcome.</a:t>
            </a:r>
          </a:p>
        </p:txBody>
      </p:sp>
      <p:sp>
        <p:nvSpPr>
          <p:cNvPr id="11" name="purpose-label-3">
            <a:extLst xmlns:a="http://schemas.openxmlformats.org/drawingml/2006/main">
              <a:ext uri="{FF2B5EF4-FFF2-40B4-BE49-F238E27FC236}">
                <a16:creationId xmlns:a16="http://schemas.microsoft.com/office/drawing/2014/main" id="{9F39E55F-550F-4FFF-9497-E781321C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52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AI</a:t>
            </a:r>
          </a:p>
        </p:txBody>
      </p:sp>
      <p:sp>
        <p:nvSpPr>
          <p:cNvPr id="12" name="purpose-copy-3">
            <a:extLst xmlns:a="http://schemas.openxmlformats.org/drawingml/2006/main">
              <a:ext uri="{FF2B5EF4-FFF2-40B4-BE49-F238E27FC236}">
                <a16:creationId xmlns:a16="http://schemas.microsoft.com/office/drawing/2014/main" id="{C0577D74-0D2D-491B-BE37-9B2E947B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767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computational system producing outputs from inputs and learned parameters.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67D0EC9-D116-4ECF-B28A-8636BEE1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D89E09D-14D3-4110-BA36-78983924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95610E5-B40D-491F-A6D5-EB081AAD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2</a:t>
            </a:r>
          </a:p>
        </p:txBody>
      </p:sp>
    </p:spTree>
    <p:extLst>
      <p:ext uri="{BB962C8B-B14F-4D97-AF65-F5344CB8AC3E}">
        <p14:creationId xmlns:p14="http://schemas.microsoft.com/office/powerpoint/2010/main" val="1362158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5399AF48-19E9-463D-9CDB-8B71273F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90-MINUTE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9A94F8-0DEB-43AD-820E-41F5535E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together, then interrogate the scenario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A98BFCA-095E-4C85-8967-8D6035D2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1-time-0">
            <a:extLst xmlns:a="http://schemas.openxmlformats.org/drawingml/2006/main">
              <a:ext uri="{FF2B5EF4-FFF2-40B4-BE49-F238E27FC236}">
                <a16:creationId xmlns:a16="http://schemas.microsoft.com/office/drawing/2014/main" id="{23A12745-B6DF-4B0E-BA8A-601B99AB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00–10</a:t>
            </a:r>
          </a:p>
        </p:txBody>
      </p:sp>
      <p:sp>
        <p:nvSpPr>
          <p:cNvPr id="5" name="s1-name-0">
            <a:extLst xmlns:a="http://schemas.openxmlformats.org/drawingml/2006/main">
              <a:ext uri="{FF2B5EF4-FFF2-40B4-BE49-F238E27FC236}">
                <a16:creationId xmlns:a16="http://schemas.microsoft.com/office/drawing/2014/main" id="{BCBA8410-4B69-4642-9091-553130AB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62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Opening</a:t>
            </a:r>
          </a:p>
        </p:txBody>
      </p:sp>
      <p:sp>
        <p:nvSpPr>
          <p:cNvPr id="6" name="s1-copy-0">
            <a:extLst xmlns:a="http://schemas.openxmlformats.org/drawingml/2006/main">
              <a:ext uri="{FF2B5EF4-FFF2-40B4-BE49-F238E27FC236}">
                <a16:creationId xmlns:a16="http://schemas.microsoft.com/office/drawing/2014/main" id="{3EC934D5-FA6F-48CC-BF72-B26FD849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62100"/>
            <a:ext cx="786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sentence each: the claim that stayed with you.</a:t>
            </a:r>
          </a:p>
        </p:txBody>
      </p:sp>
      <p:sp>
        <p:nvSpPr>
          <p:cNvPr id="7" name="rule-170-210">
            <a:extLst xmlns:a="http://schemas.openxmlformats.org/drawingml/2006/main">
              <a:ext uri="{FF2B5EF4-FFF2-40B4-BE49-F238E27FC236}">
                <a16:creationId xmlns:a16="http://schemas.microsoft.com/office/drawing/2014/main" id="{CB88A86B-A418-4C29-9188-B59E275C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1-time-1">
            <a:extLst xmlns:a="http://schemas.openxmlformats.org/drawingml/2006/main">
              <a:ext uri="{FF2B5EF4-FFF2-40B4-BE49-F238E27FC236}">
                <a16:creationId xmlns:a16="http://schemas.microsoft.com/office/drawing/2014/main" id="{6DE83F22-3282-448F-9C81-C4AD4C9E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812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10–25</a:t>
            </a:r>
          </a:p>
        </p:txBody>
      </p:sp>
      <p:sp>
        <p:nvSpPr>
          <p:cNvPr id="9" name="s1-name-1">
            <a:extLst xmlns:a="http://schemas.openxmlformats.org/drawingml/2006/main">
              <a:ext uri="{FF2B5EF4-FFF2-40B4-BE49-F238E27FC236}">
                <a16:creationId xmlns:a16="http://schemas.microsoft.com/office/drawing/2014/main" id="{95FB600F-76A5-40E7-B22C-644CAE36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81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0" name="s1-copy-1">
            <a:extLst xmlns:a="http://schemas.openxmlformats.org/drawingml/2006/main">
              <a:ext uri="{FF2B5EF4-FFF2-40B4-BE49-F238E27FC236}">
                <a16:creationId xmlns:a16="http://schemas.microsoft.com/office/drawing/2014/main" id="{262043EF-08C1-4767-A5CE-221494BE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81225"/>
            <a:ext cx="786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Locate sources, dates, and the boundary of what is observed.</a:t>
            </a:r>
          </a:p>
        </p:txBody>
      </p:sp>
      <p:sp>
        <p:nvSpPr>
          <p:cNvPr id="11" name="rule-170-275">
            <a:extLst xmlns:a="http://schemas.openxmlformats.org/drawingml/2006/main">
              <a:ext uri="{FF2B5EF4-FFF2-40B4-BE49-F238E27FC236}">
                <a16:creationId xmlns:a16="http://schemas.microsoft.com/office/drawing/2014/main" id="{40131F0B-3AF1-4F31-8F12-9CE93AE3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-time-2">
            <a:extLst xmlns:a="http://schemas.openxmlformats.org/drawingml/2006/main">
              <a:ext uri="{FF2B5EF4-FFF2-40B4-BE49-F238E27FC236}">
                <a16:creationId xmlns:a16="http://schemas.microsoft.com/office/drawing/2014/main" id="{2AECB605-E348-4D11-8F14-42F57969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25–45</a:t>
            </a:r>
          </a:p>
        </p:txBody>
      </p:sp>
      <p:sp>
        <p:nvSpPr>
          <p:cNvPr id="13" name="s1-name-2">
            <a:extLst xmlns:a="http://schemas.openxmlformats.org/drawingml/2006/main">
              <a:ext uri="{FF2B5EF4-FFF2-40B4-BE49-F238E27FC236}">
                <a16:creationId xmlns:a16="http://schemas.microsoft.com/office/drawing/2014/main" id="{65E089B0-3AFD-46C4-A208-A2A342BD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0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Scenario</a:t>
            </a:r>
          </a:p>
        </p:txBody>
      </p:sp>
      <p:sp>
        <p:nvSpPr>
          <p:cNvPr id="14" name="s1-copy-2">
            <a:extLst xmlns:a="http://schemas.openxmlformats.org/drawingml/2006/main">
              <a:ext uri="{FF2B5EF4-FFF2-40B4-BE49-F238E27FC236}">
                <a16:creationId xmlns:a16="http://schemas.microsoft.com/office/drawing/2014/main" id="{ADFC043E-0993-41AA-9B55-8A0ECF2E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786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Identify assumptions and make one claim measurable.</a:t>
            </a:r>
          </a:p>
        </p:txBody>
      </p:sp>
      <p:sp>
        <p:nvSpPr>
          <p:cNvPr id="15" name="rule-170-340">
            <a:extLst xmlns:a="http://schemas.openxmlformats.org/drawingml/2006/main">
              <a:ext uri="{FF2B5EF4-FFF2-40B4-BE49-F238E27FC236}">
                <a16:creationId xmlns:a16="http://schemas.microsoft.com/office/drawing/2014/main" id="{DE98E107-908A-44AC-B6CC-A94E170C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1-time-3">
            <a:extLst xmlns:a="http://schemas.openxmlformats.org/drawingml/2006/main">
              <a:ext uri="{FF2B5EF4-FFF2-40B4-BE49-F238E27FC236}">
                <a16:creationId xmlns:a16="http://schemas.microsoft.com/office/drawing/2014/main" id="{EB4A1A7D-38CC-46C2-9154-A4382F72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45–50</a:t>
            </a:r>
          </a:p>
        </p:txBody>
      </p:sp>
      <p:sp>
        <p:nvSpPr>
          <p:cNvPr id="17" name="s1-name-3">
            <a:extLst xmlns:a="http://schemas.openxmlformats.org/drawingml/2006/main">
              <a:ext uri="{FF2B5EF4-FFF2-40B4-BE49-F238E27FC236}">
                <a16:creationId xmlns:a16="http://schemas.microsoft.com/office/drawing/2014/main" id="{55E8C65A-AA6F-4DF4-9173-5B728E75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194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Pause</a:t>
            </a:r>
          </a:p>
        </p:txBody>
      </p:sp>
      <p:sp>
        <p:nvSpPr>
          <p:cNvPr id="18" name="s1-copy-3">
            <a:extLst xmlns:a="http://schemas.openxmlformats.org/drawingml/2006/main">
              <a:ext uri="{FF2B5EF4-FFF2-40B4-BE49-F238E27FC236}">
                <a16:creationId xmlns:a16="http://schemas.microsoft.com/office/drawing/2014/main" id="{461982BF-4474-4B8B-A82F-93F70182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19475"/>
            <a:ext cx="786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Short break.</a:t>
            </a:r>
          </a:p>
        </p:txBody>
      </p:sp>
      <p:sp>
        <p:nvSpPr>
          <p:cNvPr id="19" name="rule-170-405">
            <a:extLst xmlns:a="http://schemas.openxmlformats.org/drawingml/2006/main">
              <a:ext uri="{FF2B5EF4-FFF2-40B4-BE49-F238E27FC236}">
                <a16:creationId xmlns:a16="http://schemas.microsoft.com/office/drawing/2014/main" id="{F3089A00-AD7D-4256-A1DB-ACD99FC8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57625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1-time-4">
            <a:extLst xmlns:a="http://schemas.openxmlformats.org/drawingml/2006/main">
              <a:ext uri="{FF2B5EF4-FFF2-40B4-BE49-F238E27FC236}">
                <a16:creationId xmlns:a16="http://schemas.microsoft.com/office/drawing/2014/main" id="{3B358AF9-2CCB-4B7E-BEA3-83A9A742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50–70</a:t>
            </a:r>
          </a:p>
        </p:txBody>
      </p:sp>
      <p:sp>
        <p:nvSpPr>
          <p:cNvPr id="21" name="s1-name-4">
            <a:extLst xmlns:a="http://schemas.openxmlformats.org/drawingml/2006/main">
              <a:ext uri="{FF2B5EF4-FFF2-40B4-BE49-F238E27FC236}">
                <a16:creationId xmlns:a16="http://schemas.microsoft.com/office/drawing/2014/main" id="{B83F278A-C625-4B40-83C9-DD6B5640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38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AI</a:t>
            </a:r>
          </a:p>
        </p:txBody>
      </p:sp>
      <p:sp>
        <p:nvSpPr>
          <p:cNvPr id="22" name="s1-copy-4">
            <a:extLst xmlns:a="http://schemas.openxmlformats.org/drawingml/2006/main">
              <a:ext uri="{FF2B5EF4-FFF2-40B4-BE49-F238E27FC236}">
                <a16:creationId xmlns:a16="http://schemas.microsoft.com/office/drawing/2014/main" id="{2D339D2F-01A9-4639-B14B-C75DBEFA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38600"/>
            <a:ext cx="786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 the local model to question one passage; verify its response.</a:t>
            </a:r>
          </a:p>
        </p:txBody>
      </p:sp>
      <p:sp>
        <p:nvSpPr>
          <p:cNvPr id="23" name="rule-170-470">
            <a:extLst xmlns:a="http://schemas.openxmlformats.org/drawingml/2006/main">
              <a:ext uri="{FF2B5EF4-FFF2-40B4-BE49-F238E27FC236}">
                <a16:creationId xmlns:a16="http://schemas.microsoft.com/office/drawing/2014/main" id="{44B48E96-6F38-4D52-96EE-AAB0D3D9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1-time-5">
            <a:extLst xmlns:a="http://schemas.openxmlformats.org/drawingml/2006/main">
              <a:ext uri="{FF2B5EF4-FFF2-40B4-BE49-F238E27FC236}">
                <a16:creationId xmlns:a16="http://schemas.microsoft.com/office/drawing/2014/main" id="{200CB9CD-0DC1-41C6-B29C-0C47BE22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70–85</a:t>
            </a:r>
          </a:p>
        </p:txBody>
      </p:sp>
      <p:sp>
        <p:nvSpPr>
          <p:cNvPr id="25" name="s1-name-5">
            <a:extLst xmlns:a="http://schemas.openxmlformats.org/drawingml/2006/main">
              <a:ext uri="{FF2B5EF4-FFF2-40B4-BE49-F238E27FC236}">
                <a16:creationId xmlns:a16="http://schemas.microsoft.com/office/drawing/2014/main" id="{E33C2513-FB6E-43E5-A36A-29093F99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577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Conversation</a:t>
            </a:r>
          </a:p>
        </p:txBody>
      </p:sp>
      <p:sp>
        <p:nvSpPr>
          <p:cNvPr id="26" name="s1-copy-5">
            <a:extLst xmlns:a="http://schemas.openxmlformats.org/drawingml/2006/main">
              <a:ext uri="{FF2B5EF4-FFF2-40B4-BE49-F238E27FC236}">
                <a16:creationId xmlns:a16="http://schemas.microsoft.com/office/drawing/2014/main" id="{2CD8BC33-B92A-405E-A814-1FE21A8E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57725"/>
            <a:ext cx="786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groups; name absent evidence and alternative futures.</a:t>
            </a:r>
          </a:p>
        </p:txBody>
      </p:sp>
      <p:sp>
        <p:nvSpPr>
          <p:cNvPr id="27" name="rule-170-535">
            <a:extLst xmlns:a="http://schemas.openxmlformats.org/drawingml/2006/main">
              <a:ext uri="{FF2B5EF4-FFF2-40B4-BE49-F238E27FC236}">
                <a16:creationId xmlns:a16="http://schemas.microsoft.com/office/drawing/2014/main" id="{963D854A-E78F-4DC8-B7DF-BE54093A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1-time-6">
            <a:extLst xmlns:a="http://schemas.openxmlformats.org/drawingml/2006/main">
              <a:ext uri="{FF2B5EF4-FFF2-40B4-BE49-F238E27FC236}">
                <a16:creationId xmlns:a16="http://schemas.microsoft.com/office/drawing/2014/main" id="{F9F79E16-F8AC-45E0-81D8-0DA575A6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85–90</a:t>
            </a:r>
          </a:p>
        </p:txBody>
      </p:sp>
      <p:sp>
        <p:nvSpPr>
          <p:cNvPr id="29" name="s1-name-6">
            <a:extLst xmlns:a="http://schemas.openxmlformats.org/drawingml/2006/main">
              <a:ext uri="{FF2B5EF4-FFF2-40B4-BE49-F238E27FC236}">
                <a16:creationId xmlns:a16="http://schemas.microsoft.com/office/drawing/2014/main" id="{250A076D-F0F0-4CFD-A558-415C14BB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Close</a:t>
            </a:r>
          </a:p>
        </p:txBody>
      </p:sp>
      <p:sp>
        <p:nvSpPr>
          <p:cNvPr id="30" name="s1-copy-6">
            <a:extLst xmlns:a="http://schemas.openxmlformats.org/drawingml/2006/main">
              <a:ext uri="{FF2B5EF4-FFF2-40B4-BE49-F238E27FC236}">
                <a16:creationId xmlns:a16="http://schemas.microsoft.com/office/drawing/2014/main" id="{1B8FDE52-9C19-4574-B9E1-20F219B9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76850"/>
            <a:ext cx="786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claim, one uncertainty, one question.</a:t>
            </a:r>
          </a:p>
        </p:txBody>
      </p:sp>
      <p:sp>
        <p:nvSpPr>
          <p:cNvPr id="3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96998FD-0B2F-4F45-8C90-485C3B99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99F57CB-173D-471D-890E-2050841C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3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586695C-C479-40AD-9222-211C02FF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3</a:t>
            </a:r>
          </a:p>
        </p:txBody>
      </p:sp>
    </p:spTree>
    <p:extLst>
      <p:ext uri="{BB962C8B-B14F-4D97-AF65-F5344CB8AC3E}">
        <p14:creationId xmlns:p14="http://schemas.microsoft.com/office/powerpoint/2010/main" val="5917492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3F1BC3E1-6C71-4EF5-9072-FAA49885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READING ANATOMY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C85263-AC41-4579-85F4-823BFA59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Mark the seams in Europe 2031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E6FBE6B-DB3F-4F31-854F-EB934ACD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4" name="workflow-edge-0"/>
          <p:cNvCxnSpPr/>
          <p:nvPr/>
        </p:nvCxnSpPr>
        <p:spPr>
          <a:xfrm xmlns:a="http://schemas.openxmlformats.org/drawingml/2006/main">
            <a:off x="4019550" y="30003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5" name="workflow-edge-1"/>
          <p:cNvCxnSpPr/>
          <p:nvPr/>
        </p:nvCxnSpPr>
        <p:spPr>
          <a:xfrm xmlns:a="http://schemas.openxmlformats.org/drawingml/2006/main">
            <a:off x="7829550" y="30003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D11B8264-6963-43F8-9C69-8AF7219D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105B88CF-9E01-4B72-B1BD-6B6BDD54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Observed prologue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4574310B-205F-4F7A-A443-2F04ACE8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AEA4C089-6A98-43C8-869E-619D6B83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Speculative 2031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06282FC7-22EE-4FE4-9530-80BA1D18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6F9C5F5E-36CC-472F-8579-2A05681F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Reflective epilogue</a:t>
            </a:r>
          </a:p>
        </p:txBody>
      </p:sp>
      <p:sp>
        <p:nvSpPr>
          <p:cNvPr id="12" name="anatomy-label-0">
            <a:extLst xmlns:a="http://schemas.openxmlformats.org/drawingml/2006/main">
              <a:ext uri="{FF2B5EF4-FFF2-40B4-BE49-F238E27FC236}">
                <a16:creationId xmlns:a16="http://schemas.microsoft.com/office/drawing/2014/main" id="{9C28C426-BCF9-4477-A2BB-70B7AC8C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OBSERVED</a:t>
            </a:r>
          </a:p>
        </p:txBody>
      </p:sp>
      <p:sp>
        <p:nvSpPr>
          <p:cNvPr id="13" name="anatomy-copy-0">
            <a:extLst xmlns:a="http://schemas.openxmlformats.org/drawingml/2006/main">
              <a:ext uri="{FF2B5EF4-FFF2-40B4-BE49-F238E27FC236}">
                <a16:creationId xmlns:a16="http://schemas.microsoft.com/office/drawing/2014/main" id="{8CF41C6D-C2A4-4C04-8624-E3B288AD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Which statements have dated sources?</a:t>
            </a:r>
          </a:p>
        </p:txBody>
      </p:sp>
      <p:sp>
        <p:nvSpPr>
          <p:cNvPr id="14" name="anatomy-label-1">
            <a:extLst xmlns:a="http://schemas.openxmlformats.org/drawingml/2006/main">
              <a:ext uri="{FF2B5EF4-FFF2-40B4-BE49-F238E27FC236}">
                <a16:creationId xmlns:a16="http://schemas.microsoft.com/office/drawing/2014/main" id="{1857CBA3-3CA8-441F-B527-09302579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05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CONSTRUCTED</a:t>
            </a:r>
          </a:p>
        </p:txBody>
      </p:sp>
      <p:sp>
        <p:nvSpPr>
          <p:cNvPr id="15" name="anatomy-copy-1">
            <a:extLst xmlns:a="http://schemas.openxmlformats.org/drawingml/2006/main">
              <a:ext uri="{FF2B5EF4-FFF2-40B4-BE49-F238E27FC236}">
                <a16:creationId xmlns:a16="http://schemas.microsoft.com/office/drawing/2014/main" id="{03E1325F-1D4B-43FE-B5C8-29B0E528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Where do assumptions begin doing the work?</a:t>
            </a:r>
          </a:p>
        </p:txBody>
      </p:sp>
      <p:sp>
        <p:nvSpPr>
          <p:cNvPr id="16" name="anatomy-label-2">
            <a:extLst xmlns:a="http://schemas.openxmlformats.org/drawingml/2006/main">
              <a:ext uri="{FF2B5EF4-FFF2-40B4-BE49-F238E27FC236}">
                <a16:creationId xmlns:a16="http://schemas.microsoft.com/office/drawing/2014/main" id="{6782CDB8-2CED-496D-AEFD-12F673BE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RHETORICAL</a:t>
            </a:r>
          </a:p>
        </p:txBody>
      </p:sp>
      <p:sp>
        <p:nvSpPr>
          <p:cNvPr id="17" name="anatomy-copy-2">
            <a:extLst xmlns:a="http://schemas.openxmlformats.org/drawingml/2006/main">
              <a:ext uri="{FF2B5EF4-FFF2-40B4-BE49-F238E27FC236}">
                <a16:creationId xmlns:a16="http://schemas.microsoft.com/office/drawing/2014/main" id="{E1BDA82D-D8C0-4250-BA5F-56A51029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Which framing makes one future feel inevitable?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984492A-A8B6-4094-9ED2-9F8B1B9B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A26FBC-6A4B-42EC-A963-70CFC53A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9A4AC0F-BD1F-479C-A288-18A27509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4</a:t>
            </a:r>
          </a:p>
        </p:txBody>
      </p:sp>
    </p:spTree>
    <p:extLst>
      <p:ext uri="{BB962C8B-B14F-4D97-AF65-F5344CB8AC3E}">
        <p14:creationId xmlns:p14="http://schemas.microsoft.com/office/powerpoint/2010/main" val="74513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864CF90-5835-417C-884E-DC194BC1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CONVERSATION PROMPTS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FFF517-7C19-4848-85FF-1861D832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Slow down the claim before debating it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2BFDD87-133B-43C6-B51E-E3A7207E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mpt-label-0">
            <a:extLst xmlns:a="http://schemas.openxmlformats.org/drawingml/2006/main">
              <a:ext uri="{FF2B5EF4-FFF2-40B4-BE49-F238E27FC236}">
                <a16:creationId xmlns:a16="http://schemas.microsoft.com/office/drawing/2014/main" id="{66296B32-E5E6-4482-AE42-13ADA66C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SOURCE STOP</a:t>
            </a:r>
          </a:p>
        </p:txBody>
      </p:sp>
      <p:sp>
        <p:nvSpPr>
          <p:cNvPr id="5" name="prompt-copy-0">
            <a:extLst xmlns:a="http://schemas.openxmlformats.org/drawingml/2006/main">
              <a:ext uri="{FF2B5EF4-FFF2-40B4-BE49-F238E27FC236}">
                <a16:creationId xmlns:a16="http://schemas.microsoft.com/office/drawing/2014/main" id="{F59E5339-7A77-41B5-9670-8E3AF5C6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is the source, date, unit, and observed period?</a:t>
            </a:r>
          </a:p>
        </p:txBody>
      </p:sp>
      <p:sp>
        <p:nvSpPr>
          <p:cNvPr id="6" name="rule-300-242">
            <a:extLst xmlns:a="http://schemas.openxmlformats.org/drawingml/2006/main">
              <a:ext uri="{FF2B5EF4-FFF2-40B4-BE49-F238E27FC236}">
                <a16:creationId xmlns:a16="http://schemas.microsoft.com/office/drawing/2014/main" id="{3E002223-13E6-4C96-BD8D-47A58A33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mpt-label-1">
            <a:extLst xmlns:a="http://schemas.openxmlformats.org/drawingml/2006/main">
              <a:ext uri="{FF2B5EF4-FFF2-40B4-BE49-F238E27FC236}">
                <a16:creationId xmlns:a16="http://schemas.microsoft.com/office/drawing/2014/main" id="{41C42A9D-F74A-4117-B0C2-0032FBF2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MEASUREMENT STOP</a:t>
            </a:r>
          </a:p>
        </p:txBody>
      </p:sp>
      <p:sp>
        <p:nvSpPr>
          <p:cNvPr id="8" name="prompt-copy-1">
            <a:extLst xmlns:a="http://schemas.openxmlformats.org/drawingml/2006/main">
              <a:ext uri="{FF2B5EF4-FFF2-40B4-BE49-F238E27FC236}">
                <a16:creationId xmlns:a16="http://schemas.microsoft.com/office/drawing/2014/main" id="{58CB53AE-7AF9-40B6-80B7-47C4B333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variable would make this claim testable?</a:t>
            </a:r>
          </a:p>
        </p:txBody>
      </p:sp>
      <p:sp>
        <p:nvSpPr>
          <p:cNvPr id="9" name="rule-300-348">
            <a:extLst xmlns:a="http://schemas.openxmlformats.org/drawingml/2006/main">
              <a:ext uri="{FF2B5EF4-FFF2-40B4-BE49-F238E27FC236}">
                <a16:creationId xmlns:a16="http://schemas.microsoft.com/office/drawing/2014/main" id="{642FA938-828A-43F5-BA4A-CAE2572F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147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mpt-label-2">
            <a:extLst xmlns:a="http://schemas.openxmlformats.org/drawingml/2006/main">
              <a:ext uri="{FF2B5EF4-FFF2-40B4-BE49-F238E27FC236}">
                <a16:creationId xmlns:a16="http://schemas.microsoft.com/office/drawing/2014/main" id="{D9760898-E37A-4EC2-8515-D6DEB98F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ALTERNATIVE STOP</a:t>
            </a:r>
          </a:p>
        </p:txBody>
      </p:sp>
      <p:sp>
        <p:nvSpPr>
          <p:cNvPr id="11" name="prompt-copy-2">
            <a:extLst xmlns:a="http://schemas.openxmlformats.org/drawingml/2006/main">
              <a:ext uri="{FF2B5EF4-FFF2-40B4-BE49-F238E27FC236}">
                <a16:creationId xmlns:a16="http://schemas.microsoft.com/office/drawing/2014/main" id="{9736F0DB-0008-4BCF-A783-75A93B4A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mechanism or future is missing?</a:t>
            </a:r>
          </a:p>
        </p:txBody>
      </p:sp>
      <p:sp>
        <p:nvSpPr>
          <p:cNvPr id="12" name="rule-300-454">
            <a:extLst xmlns:a="http://schemas.openxmlformats.org/drawingml/2006/main">
              <a:ext uri="{FF2B5EF4-FFF2-40B4-BE49-F238E27FC236}">
                <a16:creationId xmlns:a16="http://schemas.microsoft.com/office/drawing/2014/main" id="{8DA05AE5-1A75-40DD-B772-D1DC9F98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243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mpt-label-3">
            <a:extLst xmlns:a="http://schemas.openxmlformats.org/drawingml/2006/main">
              <a:ext uri="{FF2B5EF4-FFF2-40B4-BE49-F238E27FC236}">
                <a16:creationId xmlns:a16="http://schemas.microsoft.com/office/drawing/2014/main" id="{85C6CFE3-3CA3-4A7D-B486-4A1E8601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REVERSAL STOP</a:t>
            </a:r>
          </a:p>
        </p:txBody>
      </p:sp>
      <p:sp>
        <p:nvSpPr>
          <p:cNvPr id="14" name="prompt-copy-3">
            <a:extLst xmlns:a="http://schemas.openxmlformats.org/drawingml/2006/main">
              <a:ext uri="{FF2B5EF4-FFF2-40B4-BE49-F238E27FC236}">
                <a16:creationId xmlns:a16="http://schemas.microsoft.com/office/drawing/2014/main" id="{DFDBA74F-1CD0-4BEE-B2C3-93A66983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482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evidence would change your mind?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15965B6-F026-4BD7-A2C8-5C5B262B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B71F28E-D332-489B-9D1A-B605207A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01168B6-BF96-47C9-9070-5E6E8BDB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5</a:t>
            </a:r>
          </a:p>
        </p:txBody>
      </p:sp>
    </p:spTree>
    <p:extLst>
      <p:ext uri="{BB962C8B-B14F-4D97-AF65-F5344CB8AC3E}">
        <p14:creationId xmlns:p14="http://schemas.microsoft.com/office/powerpoint/2010/main" val="919180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45553411-0E98-47F0-A947-784701F3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WHAT AI 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2CD6AA-116B-4A2E-8479-30011C8E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local language model predicts tokens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058B433-978E-49E1-936E-15161405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5" name="workflow-edge-0"/>
          <p:cNvCxnSpPr/>
          <p:nvPr/>
        </p:nvCxnSpPr>
        <p:spPr>
          <a:xfrm xmlns:a="http://schemas.openxmlformats.org/drawingml/2006/main">
            <a:off x="3019425" y="29051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6" name="workflow-edge-1"/>
          <p:cNvCxnSpPr/>
          <p:nvPr/>
        </p:nvCxnSpPr>
        <p:spPr>
          <a:xfrm xmlns:a="http://schemas.openxmlformats.org/drawingml/2006/main">
            <a:off x="5924550" y="29051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7" name="workflow-edge-2"/>
          <p:cNvCxnSpPr/>
          <p:nvPr/>
        </p:nvCxnSpPr>
        <p:spPr>
          <a:xfrm xmlns:a="http://schemas.openxmlformats.org/drawingml/2006/main">
            <a:off x="8829675" y="29051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C2D438EA-5D1D-4A84-9C6A-7B32806D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562225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EE061FAB-FDD6-484A-B1BE-C992DB4F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23717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Prompt tokens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43E298D9-3394-42D2-8D83-1A128040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81200"/>
            <a:ext cx="2562225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5B750317-FA9C-487D-B9F0-91D77680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23717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Learned parameters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739D3E12-B1E2-4809-8221-05CADBED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2562225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E4EBE3AA-F1A0-47D4-B1F3-7F71BDD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23717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Next-token scores</a:t>
            </a:r>
          </a:p>
        </p:txBody>
      </p:sp>
      <p:sp>
        <p:nvSpPr>
          <p:cNvPr id="13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AC4F64EB-EA71-4325-9FD6-F070556B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81200"/>
            <a:ext cx="2562225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3">
            <a:extLst xmlns:a="http://schemas.openxmlformats.org/drawingml/2006/main">
              <a:ext uri="{FF2B5EF4-FFF2-40B4-BE49-F238E27FC236}">
                <a16:creationId xmlns:a16="http://schemas.microsoft.com/office/drawing/2014/main" id="{93898B31-4F28-4918-9760-EA6A54FA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95500"/>
            <a:ext cx="23717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Generated text</a:t>
            </a:r>
          </a:p>
        </p:txBody>
      </p:sp>
      <p:sp>
        <p:nvSpPr>
          <p:cNvPr id="15" name="ai-left-label">
            <a:extLst xmlns:a="http://schemas.openxmlformats.org/drawingml/2006/main">
              <a:ext uri="{FF2B5EF4-FFF2-40B4-BE49-F238E27FC236}">
                <a16:creationId xmlns:a16="http://schemas.microsoft.com/office/drawing/2014/main" id="{EB1123E9-5BD9-4F34-9AC5-40AD33CD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WHAT IT CAN DO</a:t>
            </a:r>
          </a:p>
        </p:txBody>
      </p:sp>
      <p:sp>
        <p:nvSpPr>
          <p:cNvPr id="16" name="ai-left">
            <a:extLst xmlns:a="http://schemas.openxmlformats.org/drawingml/2006/main">
              <a:ext uri="{FF2B5EF4-FFF2-40B4-BE49-F238E27FC236}">
                <a16:creationId xmlns:a16="http://schemas.microsoft.com/office/drawing/2014/main" id="{0BE8B91E-2028-4B8F-ABE5-93380190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911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Propose questions, transformations, code, summaries, and alternative phrasing.</a:t>
            </a:r>
          </a:p>
        </p:txBody>
      </p:sp>
      <p:sp>
        <p:nvSpPr>
          <p:cNvPr id="17" name="ai-right-label">
            <a:extLst xmlns:a="http://schemas.openxmlformats.org/drawingml/2006/main">
              <a:ext uri="{FF2B5EF4-FFF2-40B4-BE49-F238E27FC236}">
                <a16:creationId xmlns:a16="http://schemas.microsoft.com/office/drawing/2014/main" id="{358651F8-3A92-46FD-8BF7-D8489BC7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WHAT IT CANNOT GUARANTEE</a:t>
            </a:r>
          </a:p>
        </p:txBody>
      </p:sp>
      <p:sp>
        <p:nvSpPr>
          <p:cNvPr id="18" name="ai-right">
            <a:extLst xmlns:a="http://schemas.openxmlformats.org/drawingml/2006/main">
              <a:ext uri="{FF2B5EF4-FFF2-40B4-BE49-F238E27FC236}">
                <a16:creationId xmlns:a16="http://schemas.microsoft.com/office/drawing/2014/main" id="{04413A80-E887-45C9-A454-9E33BBD1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911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Truth, valid sources, causal identification, reproducibility, or responsibility.</a:t>
            </a:r>
          </a:p>
        </p:txBody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04D33F8-1EC9-4F97-A55B-E72C9405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B2B0B90-FB09-4887-9D37-885B8A19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6393381-53BB-4720-9D3D-9AD47D4F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6</a:t>
            </a:r>
          </a:p>
        </p:txBody>
      </p:sp>
    </p:spTree>
    <p:extLst>
      <p:ext uri="{BB962C8B-B14F-4D97-AF65-F5344CB8AC3E}">
        <p14:creationId xmlns:p14="http://schemas.microsoft.com/office/powerpoint/2010/main" val="20178121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111A897F-1BEB-4711-9146-2FD4671D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PRACTICE · CLOSING ROUND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B15B1E5-1D1F-4B50-AC70-19B3B207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brief group report. Everyone speaks.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F92DAACE-E70D-4B03-BC8B-8D79F34B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ONE CLAIM</a:t>
            </a:r>
          </a:p>
        </p:txBody>
      </p:sp>
      <p:sp>
        <p:nvSpPr>
          <p:cNvPr id="4" name="close-copy-0">
            <a:extLst xmlns:a="http://schemas.openxmlformats.org/drawingml/2006/main">
              <a:ext uri="{FF2B5EF4-FFF2-40B4-BE49-F238E27FC236}">
                <a16:creationId xmlns:a16="http://schemas.microsoft.com/office/drawing/2014/main" id="{9A1832A7-1055-4581-AB18-C40B5656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State the narrowest claim the evidence supports.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CA47B7C4-D49E-4BC8-B886-308982A7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ONE UNCERTAINTY</a:t>
            </a:r>
          </a:p>
        </p:txBody>
      </p:sp>
      <p:sp>
        <p:nvSpPr>
          <p:cNvPr id="6" name="close-copy-1">
            <a:extLst xmlns:a="http://schemas.openxmlformats.org/drawingml/2006/main">
              <a:ext uri="{FF2B5EF4-FFF2-40B4-BE49-F238E27FC236}">
                <a16:creationId xmlns:a16="http://schemas.microsoft.com/office/drawing/2014/main" id="{E1485FC7-8187-4811-B333-8FB80343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00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Name the assumption or missing evidence.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14A81C78-5E99-47AE-942E-7C2905F2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ONE QUESTION</a:t>
            </a:r>
          </a:p>
        </p:txBody>
      </p:sp>
      <p:sp>
        <p:nvSpPr>
          <p:cNvPr id="8" name="close-copy-2">
            <a:extLst xmlns:a="http://schemas.openxmlformats.org/drawingml/2006/main">
              <a:ext uri="{FF2B5EF4-FFF2-40B4-BE49-F238E27FC236}">
                <a16:creationId xmlns:a16="http://schemas.microsoft.com/office/drawing/2014/main" id="{B233A1AE-6782-44E0-B45B-FCA1D019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148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Carry it into Session 02.</a:t>
            </a:r>
          </a:p>
        </p:txBody>
      </p:sp>
      <p:sp>
        <p:nvSpPr>
          <p:cNvPr id="9" name="close-rule">
            <a:extLst xmlns:a="http://schemas.openxmlformats.org/drawingml/2006/main">
              <a:ext uri="{FF2B5EF4-FFF2-40B4-BE49-F238E27FC236}">
                <a16:creationId xmlns:a16="http://schemas.microsoft.com/office/drawing/2014/main" id="{37578E40-5EEC-47AC-AA3C-670FACE3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Ninety seconds per group · listen for traceable evidence, not confidence of delivery.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B72F522-0177-45BF-86FE-ECE9BA8D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CC727CE-CA45-4A5E-A557-48EFEB4B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E363A08-70C7-4F2B-A15F-4EF6888A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7</a:t>
            </a:r>
          </a:p>
        </p:txBody>
      </p:sp>
    </p:spTree>
    <p:extLst>
      <p:ext uri="{BB962C8B-B14F-4D97-AF65-F5344CB8AC3E}">
        <p14:creationId xmlns:p14="http://schemas.microsoft.com/office/powerpoint/2010/main" val="20111793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ab-kicker">
            <a:extLst xmlns:a="http://schemas.openxmlformats.org/drawingml/2006/main">
              <a:ext uri="{FF2B5EF4-FFF2-40B4-BE49-F238E27FC236}">
                <a16:creationId xmlns:a16="http://schemas.microsoft.com/office/drawing/2014/main" id="{DCA41649-485D-44E2-8003-556A234A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AFTER CLASS · OPTIONAL PARTICIPATION LAB</a:t>
            </a:r>
          </a:p>
        </p:txBody>
      </p:sp>
      <p:sp>
        <p:nvSpPr>
          <p:cNvPr id="2" name="lab-title">
            <a:extLst xmlns:a="http://schemas.openxmlformats.org/drawingml/2006/main">
              <a:ext uri="{FF2B5EF4-FFF2-40B4-BE49-F238E27FC236}">
                <a16:creationId xmlns:a16="http://schemas.microsoft.com/office/drawing/2014/main" id="{83FBBF71-0AEC-4209-B3D4-50E8503A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Class ends with the group presentations.</a:t>
            </a:r>
          </a:p>
        </p:txBody>
      </p:sp>
      <p:sp>
        <p:nvSpPr>
          <p:cNvPr id="3" name="lab-availability">
            <a:extLst xmlns:a="http://schemas.openxmlformats.org/drawingml/2006/main">
              <a:ext uri="{FF2B5EF4-FFF2-40B4-BE49-F238E27FC236}">
                <a16:creationId xmlns:a16="http://schemas.microsoft.com/office/drawing/2014/main" id="{793A6D1C-08A0-41A6-8D04-0264FEF9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QMIB Lab 01 is a short at-home knowledge check.</a:t>
            </a:r>
          </a:p>
        </p:txBody>
      </p:sp>
      <p:sp>
        <p:nvSpPr>
          <p:cNvPr id="4" name="lab-policy">
            <a:extLst xmlns:a="http://schemas.openxmlformats.org/drawingml/2006/main">
              <a:ext uri="{FF2B5EF4-FFF2-40B4-BE49-F238E27FC236}">
                <a16:creationId xmlns:a16="http://schemas.microsoft.com/office/drawing/2014/main" id="{C798FD1C-8F50-40A1-A056-4EAF866E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657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lab is optional. A completed app report counts toward participation; it is separate from the next pre-session reading and data preparation.</a:t>
            </a:r>
          </a:p>
        </p:txBody>
      </p:sp>
      <p:sp>
        <p:nvSpPr>
          <p:cNvPr id="5" name="lab-steps-bg">
            <a:extLst xmlns:a="http://schemas.openxmlformats.org/drawingml/2006/main">
              <a:ext uri="{FF2B5EF4-FFF2-40B4-BE49-F238E27FC236}">
                <a16:creationId xmlns:a16="http://schemas.microsoft.com/office/drawing/2014/main" id="{1CDACD98-F81A-405B-A70D-FF833615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3676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E2A34"/>
          </a:solidFill>
          <a:ln xmlns:a="http://schemas.openxmlformats.org/drawingml/2006/main" w="9525">
            <a:solidFill>
              <a:srgbClr val="3A4652"/>
            </a:solidFill>
            <a:prstDash val="solid"/>
          </a:ln>
        </p:spPr>
      </p:sp>
      <p:sp>
        <p:nvSpPr>
          <p:cNvPr id="6" name="lab-steps-title">
            <a:extLst xmlns:a="http://schemas.openxmlformats.org/drawingml/2006/main">
              <a:ext uri="{FF2B5EF4-FFF2-40B4-BE49-F238E27FC236}">
                <a16:creationId xmlns:a16="http://schemas.microsoft.com/office/drawing/2014/main" id="{AAF83BC6-3033-4C07-9F79-94FDD9EA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If you choose the lab</a:t>
            </a:r>
          </a:p>
        </p:txBody>
      </p:sp>
      <p:sp>
        <p:nvSpPr>
          <p:cNvPr id="7" name="lab-step-num-0">
            <a:extLst xmlns:a="http://schemas.openxmlformats.org/drawingml/2006/main">
              <a:ext uri="{FF2B5EF4-FFF2-40B4-BE49-F238E27FC236}">
                <a16:creationId xmlns:a16="http://schemas.microsoft.com/office/drawing/2014/main" id="{B955AF46-8A4F-4291-BA84-4E04147E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lab-step-0">
            <a:extLst xmlns:a="http://schemas.openxmlformats.org/drawingml/2006/main">
              <a:ext uri="{FF2B5EF4-FFF2-40B4-BE49-F238E27FC236}">
                <a16:creationId xmlns:a16="http://schemas.microsoft.com/office/drawing/2014/main" id="{5F1B0884-F857-417C-A48C-1E444EBF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the session check in the web app</a:t>
            </a:r>
          </a:p>
        </p:txBody>
      </p:sp>
      <p:sp>
        <p:nvSpPr>
          <p:cNvPr id="9" name="lab-step-num-1">
            <a:extLst xmlns:a="http://schemas.openxmlformats.org/drawingml/2006/main">
              <a:ext uri="{FF2B5EF4-FFF2-40B4-BE49-F238E27FC236}">
                <a16:creationId xmlns:a16="http://schemas.microsoft.com/office/drawing/2014/main" id="{63C1624E-C057-4874-84B2-7160B025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lab-step-1">
            <a:extLst xmlns:a="http://schemas.openxmlformats.org/drawingml/2006/main">
              <a:ext uri="{FF2B5EF4-FFF2-40B4-BE49-F238E27FC236}">
                <a16:creationId xmlns:a16="http://schemas.microsoft.com/office/drawing/2014/main" id="{707B3C7B-B1EA-4ABF-A59D-6EA69FB5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 once without your notes</a:t>
            </a:r>
          </a:p>
        </p:txBody>
      </p:sp>
      <p:sp>
        <p:nvSpPr>
          <p:cNvPr id="11" name="lab-step-num-2">
            <a:extLst xmlns:a="http://schemas.openxmlformats.org/drawingml/2006/main">
              <a:ext uri="{FF2B5EF4-FFF2-40B4-BE49-F238E27FC236}">
                <a16:creationId xmlns:a16="http://schemas.microsoft.com/office/drawing/2014/main" id="{77E54E91-7BF1-445E-8EAA-53418A85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lab-step-2">
            <a:extLst xmlns:a="http://schemas.openxmlformats.org/drawingml/2006/main">
              <a:ext uri="{FF2B5EF4-FFF2-40B4-BE49-F238E27FC236}">
                <a16:creationId xmlns:a16="http://schemas.microsoft.com/office/drawing/2014/main" id="{54302795-66CE-41BB-9891-48CCE66D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Retry and explain missed concepts</a:t>
            </a:r>
          </a:p>
        </p:txBody>
      </p:sp>
      <p:sp>
        <p:nvSpPr>
          <p:cNvPr id="13" name="lab-step-num-3">
            <a:extLst xmlns:a="http://schemas.openxmlformats.org/drawingml/2006/main">
              <a:ext uri="{FF2B5EF4-FFF2-40B4-BE49-F238E27FC236}">
                <a16:creationId xmlns:a16="http://schemas.microsoft.com/office/drawing/2014/main" id="{9810F466-5F86-41F2-97AF-C910DA52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lab-step-3">
            <a:extLst xmlns:a="http://schemas.openxmlformats.org/drawingml/2006/main">
              <a:ext uri="{FF2B5EF4-FFF2-40B4-BE49-F238E27FC236}">
                <a16:creationId xmlns:a16="http://schemas.microsoft.com/office/drawing/2014/main" id="{E92879B5-7799-4583-B98D-AABC79F7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and submit the report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E7C63CA-B2B3-415A-B07B-E96AC393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B86EC55-A276-47B3-94FF-661D95B4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A373F6D-0AE8-4532-9CFD-A5FD6AF9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8</a:t>
            </a:r>
          </a:p>
        </p:txBody>
      </p:sp>
    </p:spTree>
    <p:extLst>
      <p:ext uri="{BB962C8B-B14F-4D97-AF65-F5344CB8AC3E}">
        <p14:creationId xmlns:p14="http://schemas.microsoft.com/office/powerpoint/2010/main" val="1264464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2026-08-23T21:43:10.4830000Z</dcterms:created>
  <dcterms:modified xsi:type="dcterms:W3CDTF">2026-08-23T21:43:10.4830000Z</dcterms:modified>
</coreProperties>
</file>