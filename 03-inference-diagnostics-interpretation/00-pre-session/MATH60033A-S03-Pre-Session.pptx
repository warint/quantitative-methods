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2ebf816d6e4bb2" /><Relationship Type="http://schemas.openxmlformats.org/officeDocument/2006/relationships/extended-properties" Target="/docProps/app.xml" Id="R957d86f611c94cb7" /><Relationship Type="http://schemas.openxmlformats.org/officeDocument/2006/relationships/officeDocument" Target="/ppt/presentation.xml" Id="Rb4eabb18aa9c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010d93bbcf4b82"/>
  </p:sldMasterIdLst>
  <p:notesMasterIdLst>
    <p:notesMasterId xmlns:r="http://schemas.openxmlformats.org/officeDocument/2006/relationships" r:id="R1a3a5578e95145bd"/>
  </p:notesMasterIdLst>
  <p:sldIdLst>
    <p:sldId xmlns:r="http://schemas.openxmlformats.org/officeDocument/2006/relationships" id="256" r:id="Rc0bc9087d2834cf8"/>
    <p:sldId xmlns:r="http://schemas.openxmlformats.org/officeDocument/2006/relationships" id="257" r:id="Re9372635a2434e48"/>
    <p:sldId xmlns:r="http://schemas.openxmlformats.org/officeDocument/2006/relationships" id="258" r:id="R22f3148c40d345a4"/>
    <p:sldId xmlns:r="http://schemas.openxmlformats.org/officeDocument/2006/relationships" id="259" r:id="R57ad4b7f9aa6456a"/>
    <p:sldId xmlns:r="http://schemas.openxmlformats.org/officeDocument/2006/relationships" id="260" r:id="Rad480447c8474868"/>
    <p:sldId xmlns:r="http://schemas.openxmlformats.org/officeDocument/2006/relationships" id="261" r:id="R68e4b0b24fbc49f1"/>
    <p:sldId xmlns:r="http://schemas.openxmlformats.org/officeDocument/2006/relationships" id="262" r:id="Rdd8f0003b85e4b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44890cf24143c8" /><Relationship Type="http://schemas.openxmlformats.org/officeDocument/2006/relationships/slideMaster" Target="/ppt/slideMasters/slideMaster1.xml" Id="R7e010d93bbcf4b82" /><Relationship Type="http://schemas.openxmlformats.org/officeDocument/2006/relationships/notesMaster" Target="/ppt/notesMasters/notesMaster1.xml" Id="R1a3a5578e95145bd" /><Relationship Type="http://schemas.openxmlformats.org/officeDocument/2006/relationships/presProps" Target="/ppt/presProps.xml" Id="Rc1ee10137f8f46a4" /><Relationship Type="http://schemas.openxmlformats.org/officeDocument/2006/relationships/tableStyles" Target="/ppt/tableStyles.xml" Id="R5ba68ff9fdb34b9e" /><Relationship Type="http://schemas.openxmlformats.org/officeDocument/2006/relationships/slide" Target="/ppt/slides/slide1.xml" Id="Rc0bc9087d2834cf8" /><Relationship Type="http://schemas.openxmlformats.org/officeDocument/2006/relationships/slide" Target="/ppt/slides/slide2.xml" Id="Re9372635a2434e48" /><Relationship Type="http://schemas.openxmlformats.org/officeDocument/2006/relationships/slide" Target="/ppt/slides/slide3.xml" Id="R22f3148c40d345a4" /><Relationship Type="http://schemas.openxmlformats.org/officeDocument/2006/relationships/slide" Target="/ppt/slides/slide4.xml" Id="R57ad4b7f9aa6456a" /><Relationship Type="http://schemas.openxmlformats.org/officeDocument/2006/relationships/slide" Target="/ppt/slides/slide5.xml" Id="Rad480447c8474868" /><Relationship Type="http://schemas.openxmlformats.org/officeDocument/2006/relationships/slide" Target="/ppt/slides/slide6.xml" Id="R68e4b0b24fbc49f1" /><Relationship Type="http://schemas.openxmlformats.org/officeDocument/2006/relationships/slide" Target="/ppt/slides/slide7.xml" Id="Rdd8f0003b85e4b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606209208b4e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b639f1d043488a" /><Relationship Type="http://schemas.openxmlformats.org/officeDocument/2006/relationships/notesMaster" Target="/ppt/notesMasters/notesMaster1.xml" Id="R8cf56e8a1b6343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49f9b883c542e0" /><Relationship Type="http://schemas.openxmlformats.org/officeDocument/2006/relationships/notesMaster" Target="/ppt/notesMasters/notesMaster1.xml" Id="R929e3f02f03d40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d0c23b14124d59" /><Relationship Type="http://schemas.openxmlformats.org/officeDocument/2006/relationships/notesMaster" Target="/ppt/notesMasters/notesMaster1.xml" Id="R4c78dd033d774f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d1c5e41f5e4321" /><Relationship Type="http://schemas.openxmlformats.org/officeDocument/2006/relationships/notesMaster" Target="/ppt/notesMasters/notesMaster1.xml" Id="Rd4a269dbee9a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32f8d0b3ce4d32" /><Relationship Type="http://schemas.openxmlformats.org/officeDocument/2006/relationships/notesMaster" Target="/ppt/notesMasters/notesMaster1.xml" Id="R6f44ace35b4448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b7aa46ccb848f0" /><Relationship Type="http://schemas.openxmlformats.org/officeDocument/2006/relationships/notesMaster" Target="/ppt/notesMasters/notesMaster1.xml" Id="R985cd6e61e144e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de586f806046b3" /><Relationship Type="http://schemas.openxmlformats.org/officeDocument/2006/relationships/notesMaster" Target="/ppt/notesMasters/notesMaster1.xml" Id="R007acc109b7843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Your coefficient has a standard error. When does it mean anything?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03-inference-diagnostics-interpretation/00-pre-session/README.md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one inference result, then compare conventional, robust, and design-aware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03-inference-diagnostics-interpretation/00-pre-session/README.md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03-inference-diagnostics-interpretation/00-pre-session/README.md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03-inference-diagnostics-interpretation/00-pre-session/README.md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one inference result, then compare conventional, robust, and design-aware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03-inference-diagnostics-interpretation/00-pre-session/README.md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03-inference-diagnostics-interpretation/00-pre-session/README.md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03-inference-diagnostics-interpretation/00-pre-session/README.md</a:t>
            </a:r>
          </a:p>
          <a:p xmlns:a="http://schemas.openxmlformats.org/drawingml/2006/main">
            <a:r>
              <a:t>- Ferman &amp; Pinto (2019) — Inference in DiD with Few Treated Groups — https://doi.org/10.1162/rest_a_00759</a:t>
            </a:r>
          </a:p>
          <a:p xmlns:a="http://schemas.openxmlformats.org/drawingml/2006/main">
            <a:r>
              <a:t>- Harvard Dataverse 10.7910/DVN/PIAZWN — https://doi.org/10.7910/DVN/PIAZWN</a:t>
            </a:r>
          </a:p>
          <a:p xmlns:a="http://schemas.openxmlformats.org/drawingml/2006/main">
            <a:r>
              <a:t>- ISLR 3.3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675d17d6d4c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0301034df74581" /><Relationship Type="http://schemas.openxmlformats.org/officeDocument/2006/relationships/slideLayout" Target="/ppt/slideLayouts/slideLayout1.xml" Id="R92b6407408ee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b6407408ee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015af55c445e1" /><Relationship Type="http://schemas.openxmlformats.org/officeDocument/2006/relationships/chart" Target="/ppt/slides/charts/chart1.xml" Id="R7ce6af9ecc6646ac" /><Relationship Type="http://schemas.openxmlformats.org/officeDocument/2006/relationships/notesSlide" Target="/ppt/notesSlides/notesSlide1.xml" Id="R0e7d54218a764f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0b2a1f70a4dae" /><Relationship Type="http://schemas.openxmlformats.org/officeDocument/2006/relationships/notesSlide" Target="/ppt/notesSlides/notesSlide2.xml" Id="R6f0406cab51446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59f11f6694000" /><Relationship Type="http://schemas.openxmlformats.org/officeDocument/2006/relationships/notesSlide" Target="/ppt/notesSlides/notesSlide3.xml" Id="Rb6e7a5b6675e42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b5ae496014da7" /><Relationship Type="http://schemas.openxmlformats.org/officeDocument/2006/relationships/notesSlide" Target="/ppt/notesSlides/notesSlide4.xml" Id="R1ccd1bb893fb41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1b4d66d97429c" /><Relationship Type="http://schemas.openxmlformats.org/officeDocument/2006/relationships/notesSlide" Target="/ppt/notesSlides/notesSlide5.xml" Id="Rc398c1efd2504f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a707ab5ee4ff8" /><Relationship Type="http://schemas.openxmlformats.org/officeDocument/2006/relationships/notesSlide" Target="/ppt/notesSlides/notesSlide6.xml" Id="Rffd3c92b9f7f43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5955894dd4018" /><Relationship Type="http://schemas.openxmlformats.org/officeDocument/2006/relationships/notesSlide" Target="/ppt/notesSlides/notesSlide7.xml" Id="Rd1e146197334434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0.1</c:v>
              </c:pt>
              <c:pt idx="1">
                <c:v>0.45</c:v>
              </c:pt>
              <c:pt idx="2">
                <c:v>1</c:v>
              </c:pt>
              <c:pt idx="3">
                <c:v>0.45</c:v>
              </c:pt>
              <c:pt idx="4">
                <c:v>0.1</c:v>
              </c:pt>
            </c:numLit>
          </c:val>
          <c:smooth val="1"/>
        </c:ser>
        <c:ser>
          <c:idx val="1"/>
          <c:order val="1"/>
          <c:tx>
            <c:v>Observed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5"/>
              <c:pt idx="0">
                <c:v>−2</c:v>
              </c:pt>
              <c:pt idx="1">
                <c:v>−1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</c:strLit>
          </c:cat>
          <c:val>
            <c:numLit>
              <c:formatCode>General</c:formatCode>
              <c:ptCount val="5"/>
              <c:pt idx="0">
                <c:v>0.04</c:v>
              </c:pt>
              <c:pt idx="1">
                <c:v>0.28</c:v>
              </c:pt>
              <c:pt idx="2">
                <c:v>1</c:v>
              </c:pt>
              <c:pt idx="3">
                <c:v>0.28</c:v>
              </c:pt>
              <c:pt idx="4">
                <c:v>0.04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0FCB5C-1DD9-4411-8385-1C1366AF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03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E080AB2-21DE-4F61-B7FF-3C5BB4EE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6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Linear regression: inference, diagnostics, interpretation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62ADFDEC-BD5C-42B4-82B3-7C7A4611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FFF142CB-28B9-433A-BB78-BEFFE1E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73775BD2-26F6-4826-917D-5BE3DD9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e6af9ecc6646ac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045620D-A5C3-4DA1-8D6A-26F8825C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09BFAD8-B402-4285-8E75-F6B5DDBF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24F4291-FD6C-4361-A204-07275E9C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940491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E2849C44-1656-42E5-8158-BBCAA96D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2605C5-469C-4F0D-B07F-34361744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050AA3B-0B7C-4F88-A948-EC22A7E2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9D2EC71C-73CC-4498-AB33-E4E8F5F6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A72B1364-6004-453E-9273-7B0A3834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Ferman &amp; Pinto (2019) — Inference in DiD with Few Treated Groups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58EEFDAD-F366-48B4-9565-CCBE4B3F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why familiar standard errors can fail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691BEC21-6B72-4203-BFE2-004EDB2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https://doi.org/10.1162/rest_a_00759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B3C7F9A7-5137-430B-ACD7-B6314ACB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DF10E84C-CF7E-4739-B877-153166E2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https://doi.org/10.7910/DVN/PIAZWN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4E5A0B6F-1373-4762-AF23-65B84B21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39A908EE-E61D-4C8E-955F-99FC4830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2E9D9198-8C3B-4E4A-90AB-72FD96E0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27F72C4E-1B83-4FFA-8A1F-9FAFAC20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A751C8B1-41E8-4287-A7FA-F5A007A9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D309D2C4-38C8-4337-94E9-0CE02AEE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79E6AFD1-0ED9-4ABA-939F-9A3F1389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E1C71B81-20A5-40AE-8086-BC9B111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7844E65B-C32F-4016-A0D2-2B150134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C046EA1F-A1BA-4469-93C8-CB5B316D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A4C70268-4EAE-4F3E-8259-43C5B196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520997D0-F4E0-41CE-97D1-6E77D424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C6C3FD2-B9D5-438E-AC3D-125E78B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A2E2173-9226-44DF-92D6-D0CF0843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7F3CEC7-65ED-461C-AE2F-1E9E586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1098082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802ACA3-EDA0-403D-810B-419FA1D9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881652-E69F-4FB3-9EB4-584C9DCD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174A0B2-9A1F-4C4E-8D1F-FC34510A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5123DD24-FDFC-4038-8079-5FE91E6B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01473E31-7036-4678-BECF-FC33E3CF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Ferman &amp; Pinto (2019) — Inference in DiD with Few Treated Groups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E51C19B0-27B1-43A8-B82C-3E2B8D2D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why familiar standard errors can fail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CE070C47-6C9B-4DED-B567-19BB12A3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https://doi.org/10.1162/rest_a_00759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B04A2250-E094-4060-8D58-36B5695E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CD6A2AAD-EB65-4AF2-BDA6-5CD635F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10.7910/DVN/PIAZWN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AB63F965-08E0-4B8D-B441-14E54405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data and code for the article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015A9FBE-421B-4E2A-8660-49FE7140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https://doi.org/10.7910/DVN/PIAZWN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2515E80B-1D76-4B28-A827-9DDE1A09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1CA0C5AD-AEB9-4F8C-91E3-10A1E33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 3.3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FE5DB702-D816-4FF3-A792-3B03E43F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review of regression diagnostics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C518E3B8-943E-438F-B9A1-8698DF66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A7697C1-6DDC-447C-AFFF-A0C747F7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5B6035-AE03-4F5E-B606-6F711B8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84CB327-C96D-4DB8-A942-9D3CBBE2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2035512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CEC9C65-73CE-444E-9DA5-ED650316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CCCAAF-EF85-4F2B-A40C-657EA430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D297D89-6605-45AC-AF4B-B2A377D0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6FA4E7D5-DBB0-4E57-B22B-E21AABD7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Standard error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D6C832FE-C291-405C-8E63-9C40805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Estimated sampling variability of an estimator.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FBB48FC4-5767-408F-8A51-4DE17C98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2775F4A9-B971-4E01-B1F6-8849A557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Confidence interval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3F2C76D1-1CA5-475A-9261-41C09C4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procedure that covers the target at a stated long-run rate.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789BAA38-266E-47AF-892B-6C833A66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851C7C8D-C86A-4A7F-85E7-CE40E41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Robust SE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A10E344A-8110-4977-8031-0B7B722F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Uncertainty valid under heteroskedasticity, not a cure for endogeneity.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2EDD7C59-2368-4F57-9A76-C9184BDB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F088BEE-21A3-4E08-A827-BCFAFA99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7CA6A6B-1D90-4C56-A614-35552508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C5B0E8-F554-4CBF-ABEC-EACF16A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1466098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8200826C-98BE-4C1D-91CF-95F50174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4B58D0-9A1B-490A-9336-D434BEAA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9A5C080-C69E-447E-80DE-7D5BA0B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77B3C262-E641-4D15-81E7-729E6EB5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1783E58F-EAC2-43E0-8C23-39B49D4A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10.7910/DVN/PIAZWN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CCED67D3-19AE-4B0C-AC65-517F622D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and extract the package before class; do not wait for the practice clock.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1B05D790-63F8-4631-8B67-7150B334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CC202D9E-180A-4D8E-AF9B-1453B9E7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Desktop/quantitative-methods/03-inference-diagnostics-interpretation/data/replication/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1ECC01B-FCA1-4F77-8B2B-930C1F26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7BFC51A-DDD4-4610-BC0F-89E8FFC5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2723E59-7359-4AED-8FD8-97FBE9C7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E0438DB-ADD8-4E0B-B2D3-415DEFC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53FCC49-4435-4604-B582-C6A4DE24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7A48D25-183F-4EBC-BFD6-E99A949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A466E59-A4E6-417B-B1D0-16EDE4D7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437F83C-282B-42DF-AA5C-BD9644CC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B914886-2FB6-4577-9FBE-3D1C612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683592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1EB9527A-A41C-4285-9DF6-A0213D3A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A616FE-440B-42BB-90AE-585FAA5F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82FE0FA-C2FD-453E-9BE8-E3ABA99C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701CB40D-7279-470E-9C7A-C40E6A0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E2AA7C1F-A4C1-41A7-80B2-F7CDCD98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assumptions give unbiasedness?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53D46776-E441-4BB9-A8E7-4B2E669A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326EE30D-74C4-452F-94FB-5A9C96B0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42A68C5A-08AB-43FF-9347-4C61498C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does HC3 change?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B4F9639A-DA63-4315-BFC7-C8489E43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BA65A321-C381-4ABA-954F-921707B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1D6AE57B-8D19-43E3-A627-5FA9A358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Can a robust SE repair confounding?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CF2F1921-A46C-48FE-BD6E-74787CFE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A752A7E-3042-4CDC-876F-67A42ED0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B7EF7C7-27F7-497E-9D79-D15DF85F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5D1D9C1-3501-4C67-87F2-F6FC53C2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886023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B5A25E94-D3AC-4C3F-AACB-039A7CBF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6C83E85C-ABFA-4A30-9462-DDFED3A8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03?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7079F2F6-DFB1-4070-8305-967C31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937F528C-2D52-41AC-A5B3-31CD43DD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7675651E-638A-4988-8F37-CD52F8FE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51C82599-744E-4C7F-9B88-D554A056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6AFD8033-B79B-4532-9D74-57BFEB64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AC8EC496-2801-427A-A146-7C9617DD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CAD70297-5054-43FD-9950-7D66F6F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52D41D1D-070E-4DF9-8A4A-7DAA1A3A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6CDAE297-D7DF-4D01-92A8-94F9046A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A6CA9D1B-8537-4218-BBFD-81F82047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CCC1A811-0897-41E7-BF38-E5363775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Your coefficient has a standard error. When does it mean anything?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3234A93-7C85-4729-B33A-45B882DD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41CBC23-1333-49B6-BDA3-6DCDB59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03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204EB52-2FA8-4AA9-B6BC-824550F2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1792312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2026-08-23T21:42:59.2330000Z</dcterms:created>
  <dcterms:modified xsi:type="dcterms:W3CDTF">2026-08-23T21:42:59.2330000Z</dcterms:modified>
</coreProperties>
</file>