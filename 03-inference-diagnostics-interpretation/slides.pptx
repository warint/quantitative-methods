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Linear Regression: 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coefficient has a standard error. When does it mean anything?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Sampling distribution of the OLS estimator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Gauss–Markov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assumption 4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Omitted variable bias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Mincer coefficient identifies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3.1 Sampling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 that is all of inference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Substitute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y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that follows depends only on what you are willing to assume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Unbiasedness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using only </a:t>
                </a:r>
                <a:r>
                  <a:rPr b="1"/>
                  <a:t>strict exogeneity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Note what is </a:t>
                </a:r>
                <a:r>
                  <a:rPr i="1"/>
                  <a:t>not</a:t>
                </a:r>
                <a:r>
                  <a:rPr/>
                  <a:t> needed: no homoskedasticity, no normality, no independence.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Variance, under homoskedasticity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ε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 worth memorising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single coefficient: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m:t>⋅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Sup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other regressors.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levers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</a:t>
                </a:r>
                <a:r>
                  <a:rPr b="1"/>
                  <a:t>noise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— </a:t>
                </a:r>
                <a:r>
                  <a:rPr b="1"/>
                  <a:t>sample size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variation in the regressor</a:t>
                </a:r>
              </a:p>
              <a:p>
                <a:pPr lvl="0"/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Sup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 — </a:t>
                </a:r>
                <a:r>
                  <a:rPr b="1"/>
                  <a:t>redundancy</a:t>
                </a:r>
                <a:r>
                  <a:rPr/>
                  <a:t>: the variance inflation factor</a:t>
                </a:r>
              </a:p>
              <a:p>
                <a:pPr lvl="0" indent="0" marL="0">
                  <a:buNone/>
                </a:pPr>
                <a:r>
                  <a:rPr/>
                  <a:t>That last factor is the price of collinearity — and precisely what regularisation in Session 05 proposes to pay differently.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3.2 Gauss–Markov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Under assumptions 1–4,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b>
                    </m:sSub>
                  </m:oMath>
                </a14:m>
                <a:r>
                  <a:rPr sz="2000"/>
                  <a:t> has the </a:t>
                </a:r>
                <a:r>
                  <a:rPr sz="2000" b="1"/>
                  <a:t>smallest variance in the class of linear unbiased estimators</a:t>
                </a:r>
                <a:r>
                  <a:rPr sz="2000"/>
                  <a:t>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sketch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C</m:t>
                    </m:r>
                    <m:r>
                      <m:t>y</m:t>
                    </m:r>
                  </m:oMath>
                </a14:m>
                <a:r>
                  <a:rPr/>
                  <a:t> be any linear unbiased estimator;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Unbiasedness forces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D</m:t>
                          </m:r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≽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D</m:t>
                    </m:r>
                    <m:sSup>
                      <m:e>
                        <m:r>
                          <m:t>D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crucial caveat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is a guarantee </a:t>
            </a:r>
            <a:r>
              <a:rPr b="1"/>
              <a:t>within the class of unbiased estimators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Sessions 04 and 05 show that deliberately accepting bias can lower total error. Gauss–Markov does not forbid this. It simply does not apply.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3.3 When assumption 4 fails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sandwich is always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Ω</m:t>
                          </m:r>
                          <m:r>
                            <m:t>X</m:t>
                          </m:r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changes. Only your claimed precision does.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Heteroskedasticity-robust — White / HC1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a small-sample correction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Cluster-robust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errors are correlated within groups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— firms, regions, countries: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Ω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g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ε</m:t>
                                  </m:r>
                                </m:e>
                              </m:acc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sSub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ε</m:t>
                              </m:r>
                            </m:e>
                          </m:acc>
                        </m:e>
                        <m:sub>
                          <m:r>
                            <m:t>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Requires </a:t>
                </a:r>
                <a:r>
                  <a:rPr b="1"/>
                  <a:t>many</a:t>
                </a:r>
                <a:r>
                  <a:rPr/>
                  <a:t> clusters. With fewer than roughly </a:t>
                </a:r>
                <a:r>
                  <a:rPr b="1"/>
                  <a:t>40</a:t>
                </a:r>
                <a:r>
                  <a:rPr/>
                  <a:t>, inference is unreliable — and a 30-country panel sits below that line.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practical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Cluster at the level at which treatment is assigned.</a:t>
            </a:r>
          </a:p>
          <a:p>
            <a:pPr lvl="0" indent="0" marL="0">
              <a:buNone/>
            </a:pPr>
            <a:r>
              <a:rPr/>
              <a:t>Not at the level that gives the smallest standard error. State the level in your table note: two papers can both write “robust standard errors” and mean different things.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3.4 Omitted variable bias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True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u</m:t>
                    </m:r>
                  </m:oMath>
                </a14:m>
                <a:r>
                  <a:rPr/>
                  <a:t>, but you estimate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alone. Let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  <a:r>
                  <a:rPr/>
                  <a:t> be the coefficient matrix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the bias with two questions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How does the omitted variable relate to </a:t>
                </a:r>
                <a:r>
                  <a:rPr b="1"/>
                  <a:t>my regressor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r>
                      <m:t>δ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How does it relate to the </a:t>
                </a:r>
                <a:r>
                  <a:rPr b="1"/>
                  <a:t>outcome</a:t>
                </a:r>
                <a:r>
                  <a:rPr/>
                  <a:t>?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Same sign in both → upward bias.</a:t>
                </a:r>
              </a:p>
              <a:p>
                <a:pPr lvl="0" indent="0" marL="0">
                  <a:buNone/>
                </a:pPr>
                <a:r>
                  <a:rPr/>
                  <a:t>Answer both in writing </a:t>
                </a:r>
                <a:r>
                  <a:rPr i="1"/>
                  <a:t>before</a:t>
                </a:r>
                <a:r>
                  <a:rPr/>
                  <a:t> you estimate. The single most useful discipline in applied work, and it is free.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3.5 A Mincer coefficient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identifies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ρ</m:t>
                      </m:r>
                      <m:r>
                        <m:t> 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is often read as “the return to a year of schooling”.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mean log-wage difference associated with an additional year of schooling </a:t>
            </a:r>
            <a:r>
              <a:rPr sz="2000" b="1"/>
              <a:t>among people who are otherwise identical on the included covariates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Unobserved ability, selection into schooling and measurement error all break the causal reading. Session 10 gives tools that take this seriously.</a:t>
            </a:r>
          </a:p>
          <a:p>
            <a:pPr lvl="0" indent="0" marL="0">
              <a:buNone/>
            </a:pPr>
            <a:r>
              <a:rPr/>
              <a:t>Today the discipline is simply to </a:t>
            </a:r>
            <a:r>
              <a:rPr b="1"/>
              <a:t>say precisely what you have estimated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your angle’s specification; inspect residuals against fitted values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Compute classical, HC1 and cluster-robust standard errors side by side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Name a confounder, </a:t>
                </a:r>
                <a:r>
                  <a:rPr b="1"/>
                  <a:t>sign its bias</a:t>
                </a:r>
                <a:r>
                  <a:rPr/>
                  <a:t>, then test your prediction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coefficient with the cluster level named</a:t>
                </a:r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number of clusters. Both are true; only one governs precision.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specification, and what you clustered 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with its interval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the confounder you could not rule out, and its direction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Regression: Inference, Diagnostics, Interpretation</dc:title>
  <dc:creator>Thierry Warin</dc:creator>
  <cp:keywords/>
  <dcterms:created xsi:type="dcterms:W3CDTF">2026-08-20T16:00:15Z</dcterms:created>
  <dcterms:modified xsi:type="dcterms:W3CDTF">2026-08-20T16:00:15Z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Lecture, first half</vt:lpwstr>
  </property>
  <property fmtid="{D5CDD505-2E9C-101B-9397-08002B2CF9AE}" pid="16" name="toc-title">
    <vt:lpwstr>Table of contents</vt:lpwstr>
  </property>
</Properties>
</file>