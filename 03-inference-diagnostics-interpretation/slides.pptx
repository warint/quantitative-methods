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3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50"/>
            </a:lvl1pPr>
            <a:lvl2pPr>
              <a:defRPr sz="1650"/>
            </a:lvl2pPr>
            <a:lvl3pPr>
              <a:defRPr sz="1400"/>
            </a:lvl3pPr>
            <a:lvl4pPr>
              <a:defRPr sz="1150"/>
            </a:lvl4pPr>
            <a:lvl5pPr>
              <a:defRPr sz="1150"/>
            </a:lvl5pPr>
            <a:lvl6pPr>
              <a:defRPr sz="1150"/>
            </a:lvl6pPr>
            <a:lvl7pPr>
              <a:defRPr sz="1150"/>
            </a:lvl7pPr>
            <a:lvl8pPr>
              <a:defRPr sz="1150"/>
            </a:lvl8pPr>
            <a:lvl9pPr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850"/>
            </a:lvl1pPr>
            <a:lvl2pPr marL="342900" indent="0">
              <a:buNone/>
              <a:defRPr sz="1650"/>
            </a:lvl2pPr>
            <a:lvl3pPr marL="685800" indent="0">
              <a:buNone/>
              <a:defRPr sz="1400"/>
            </a:lvl3pPr>
            <a:lvl4pPr marL="1028700" indent="0">
              <a:buNone/>
              <a:defRPr sz="1150"/>
            </a:lvl4pPr>
            <a:lvl5pPr marL="1371600" indent="0">
              <a:buNone/>
              <a:defRPr sz="1150"/>
            </a:lvl5pPr>
            <a:lvl6pPr marL="1714500" indent="0">
              <a:buNone/>
              <a:defRPr sz="1150"/>
            </a:lvl6pPr>
            <a:lvl7pPr marL="2057400" indent="0">
              <a:buNone/>
              <a:defRPr sz="1150"/>
            </a:lvl7pPr>
            <a:lvl8pPr marL="2400300" indent="0">
              <a:buNone/>
              <a:defRPr sz="1150"/>
            </a:lvl8pPr>
            <a:lvl9pPr marL="2743200" indent="0">
              <a:buNone/>
              <a:defRPr sz="11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5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2-lab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Inference, Diagnostics, Interpretation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03 · Standard errors that survive contact with panel data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are</a:t>
            </a:r>
          </a:p>
        </p:txBody>
      </p:sp>
    </p:spTree>
  </p:cSld>
</p:sld>
</file>

<file path=ppt/slides/slide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The 90 minutes ahead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0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b="1" /><a:t>0–10</a:t></a:r></a:p></a:txBody></a:tc><a:tc><a:txBody><a:bodyPr /><a:lstStyle /><a:p><a:pPr lvl="0" indent="0" marL="0"><a:buNone /></a:pPr><a:r><a:rPr /><a:t>Three ways a standard error lies</a:t></a:r></a:p></a:txBody></a:tc></a:tr><a:tr h="0"><a:tc><a:txBody><a:bodyPr /><a:lstStyle /><a:p><a:pPr lvl="0" indent="0" marL="0"><a:buNone /></a:pPr><a:r><a:rPr b="1" /><a:t>10–30</a:t></a:r></a:p></a:txBody></a:tc><a:tc><a:txBody><a:bodyPr /><a:lstStyle /><a:p><a:pPr lvl="0" indent="0" marL="0"><a:buNone /></a:pPr><a:r><a:rPr /><a:t>The sandwich, and three guesses at </a:t></a:r><a14:m><m:oMath xmlns:m="http://schemas.openxmlformats.org/officeDocument/2006/math"><m:r><m:t>Ω</m:t></m:r></m:oMath></a14:m></a:p></a:txBody></a:tc></a:tr><a:tr h="0"><a:tc><a:txBody><a:bodyPr /><a:lstStyle /><a:p><a:pPr lvl="0" indent="0" marL="0"><a:buNone /></a:pPr><a:r><a:rPr b="1" /><a:t>30–45</a:t></a:r></a:p></a:txBody></a:tc><a:tc><a:txBody><a:bodyPr /><a:lstStyle /><a:p><a:pPr lvl="0" indent="0" marL="0"><a:buNone /></a:pPr><a:r><a:rPr /><a:t>Omitted variables, and signing the bias</a:t></a:r></a:p></a:txBody></a:tc></a:tr><a:tr h="0"><a:tc><a:txBody><a:bodyPr /><a:lstStyle /><a:p><a:pPr lvl="0" indent="0" marL="0"><a:buNone /></a:pPr><a:r><a:rPr b="1" /><a:t>45–70</a:t></a:r></a:p></a:txBody></a:tc><a:tc><a:txBody><a:bodyPr /><a:lstStyle /><a:p><a:pPr lvl="0" indent="0" marL="0"><a:buNone /></a:pPr><a:r><a:rPr /><a:t>Doing it: three standard errors, one coefficient</a:t></a:r></a:p></a:txBody></a:tc></a:tr><a:tr h="0"><a:tc><a:txBody><a:bodyPr /><a:lstStyle /><a:p><a:pPr lvl="0" indent="0" marL="0"><a:buNone /></a:pPr><a:r><a:rPr b="1" /><a:t>70–85</a:t></a:r></a:p></a:txBody></a:tc><a:tc><a:txBody><a:bodyPr /><a:lstStyle /><a:p><a:pPr lvl="0" indent="0" marL="0"><a:buNone /></a:pPr><a:r><a:rPr /><a:t>What a p-value is and is not</a:t></a:r></a:p></a:txBody></a:tc></a:tr><a:tr h="0"><a:tc><a:txBody><a:bodyPr /><a:lstStyle /><a:p><a:pPr lvl="0" indent="0" marL="0"><a:buNone /></a:pPr><a:r><a:rPr b="1" /><a:t>85–90</a:t></a:r></a:p></a:txBody></a:tc><a:tc><a:txBody><a:bodyPr /><a:lstStyle /><a:p><a:pPr lvl="0" indent="0" marL="0"><a:buNone /></a:pPr><a:r><a:rPr /><a:t>Handoff to the lab</a:t></a:r></a:p></a:txBody></a:tc></a:tr></a:tbl></a:graphicData></a:graphic></p:graphicFrame></p:spTree></p:cSld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class you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Bertrand, Duflo &amp; Mullainathan</a:t>
            </a:r>
            <a:r>
              <a:rPr/>
              <a:t>, </a:t>
            </a:r>
            <a:r>
              <a:rPr i="1"/>
              <a:t>How Much Should We Trust Differences-in-Differences Estimates?</a:t>
            </a:r>
            <a:r>
              <a:rPr/>
              <a:t>, </a:t>
            </a:r>
            <a:r>
              <a:rPr b="1"/>
              <a:t>QJE</a:t>
            </a:r>
            <a:r>
              <a:rPr/>
              <a:t> 2004.</a:t>
            </a:r>
          </a:p>
          <a:p>
            <a:pPr lvl="0" indent="0" marL="0">
              <a:buNone/>
            </a:pPr>
            <a:r>
              <a:rPr/>
              <a:t>DOI: 10.1162/003355304772839588</a:t>
            </a:r>
          </a:p>
          <a:p>
            <a:pPr lvl="0" indent="0" marL="0">
              <a:buNone/>
            </a:pPr>
            <a:r>
              <a:rPr/>
              <a:t>Their result, which should alarm you:</a:t>
            </a:r>
          </a:p>
          <a:p>
            <a:pPr lvl="0" indent="0" marL="1270000">
              <a:buNone/>
            </a:pPr>
            <a:r>
              <a:rPr sz="2000"/>
              <a:t>Using placebo “treatments” that could have no effect, conventional standard errors rejected the true null in </a:t>
            </a:r>
            <a:r>
              <a:rPr sz="2000" b="1"/>
              <a:t>up to 45%</a:t>
            </a:r>
            <a:r>
              <a:rPr sz="2000"/>
              <a:t> of cases — at a nominal 5% level.</a:t>
            </a:r>
          </a:p>
          <a:p>
            <a:pPr lvl="0" indent="0" marL="0">
              <a:buNone/>
            </a:pPr>
            <a:r>
              <a:rPr/>
              <a:t>Not a modelling subtlety. An error rate nine times what was claimed, in a literature that was already published.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that came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Serially correlated outcomes</a:t>
            </a:r>
          </a:p>
          <a:p>
            <a:pPr lvl="0"/>
            <a:r>
              <a:rPr/>
              <a:t>Repeated observations on the same unit</a:t>
            </a:r>
          </a:p>
          <a:p>
            <a:pPr lvl="0"/>
            <a:r>
              <a:rPr/>
              <a:t>Standard errors computed as though each row were an independent draw</a:t>
            </a:r>
          </a:p>
          <a:p>
            <a:pPr lvl="0" indent="0" marL="0">
              <a:buNone/>
            </a:pPr>
            <a:r>
              <a:rPr/>
              <a:t>Our panel has all three. 3,150 rows, 30 countries. Today is about not making their mistake.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question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Earnings and education across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“A higher tertiary-education share is associated with higher annual earnings.”</a:t>
            </a:r>
          </a:p>
          <a:p>
            <a:pPr lvl="0" indent="0" marL="0">
              <a:buNone/>
            </a:pPr>
            <a:r>
              <a:rPr/>
              <a:t>Estimating that coefficient is the easy part. The hard part:</a:t>
            </a:r>
          </a:p>
          <a:p>
            <a:pPr lvl="0"/>
            <a:r>
              <a:rPr/>
              <a:t>How </a:t>
            </a:r>
            <a:r>
              <a:rPr b="1"/>
              <a:t>precise</a:t>
            </a:r>
            <a:r>
              <a:rPr/>
              <a:t> is it?</a:t>
            </a:r>
          </a:p>
          <a:p>
            <a:pPr lvl="0"/>
            <a:r>
              <a:rPr/>
              <a:t>What is the </a:t>
            </a:r>
            <a:r>
              <a:rPr b="1"/>
              <a:t>p-value</a:t>
            </a:r>
            <a:r>
              <a:rPr/>
              <a:t> actually testing?</a:t>
            </a:r>
          </a:p>
          <a:p>
            <a:pPr lvl="0"/>
            <a:r>
              <a:rPr/>
              <a:t>What would make the whole thing </a:t>
            </a:r>
            <a:r>
              <a:rPr b="1"/>
              <a:t>wrong</a:t>
            </a:r>
            <a:r>
              <a:rPr/>
              <a:t> rather than merely imprecise?</a:t>
            </a:r>
          </a:p>
          <a:p>
            <a:pPr lvl="0" indent="0" marL="0">
              <a:buNone/>
            </a:pPr>
            <a:r>
              <a:rPr/>
              <a:t>Session 02 gave you the point estimate. This session is about whether you are entitled to any confidence in it.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ways your standard errors 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Heteroskedasticity</a:t>
            </a:r>
            <a:r>
              <a:rPr/>
              <a:t> — the error variance is not constant. In this panel it scales with country size.</a:t>
            </a:r>
          </a:p>
          <a:p>
            <a:pPr lvl="0" indent="-342900" marL="342900">
              <a:buAutoNum type="arabicPeriod"/>
            </a:pPr>
            <a:r>
              <a:rPr b="1"/>
              <a:t>Within-country correlation</a:t>
            </a:r>
            <a:r>
              <a:rPr/>
              <a:t> — Germany in 2019 and Germany in 2020 are not independent draws.</a:t>
            </a:r>
          </a:p>
          <a:p>
            <a:pPr lvl="0" indent="-342900" marL="342900">
              <a:buAutoNum type="arabicPeriod"/>
            </a:pPr>
            <a:r>
              <a:rPr b="1"/>
              <a:t>Omitted variables</a:t>
            </a:r>
            <a:r>
              <a:rPr/>
              <a:t> — no standard error can rescue you from a missing confounder. That is a bias, not a variance.</a:t>
            </a:r>
          </a:p>
          <a:p>
            <a:pPr lvl="0" indent="0" marL="0">
              <a:buNone/>
            </a:pPr>
            <a:r>
              <a:rPr/>
              <a:t>The first two make your intervals </a:t>
            </a:r>
            <a:r>
              <a:rPr b="1"/>
              <a:t>too narrow</a:t>
            </a:r>
            <a:r>
              <a:rPr/>
              <a:t>. The third makes the estimate </a:t>
            </a:r>
            <a:r>
              <a:rPr b="1"/>
              <a:t>wrong</a:t>
            </a:r>
            <a:r>
              <a:rPr/>
              <a:t>. They require different responses.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method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What OLS assumes about </a:t>
                </a:r>
                <a14:m>
                  <m:oMath xmlns:m="http://schemas.openxmlformats.org/officeDocument/2006/math">
                    <m:r>
                      <m:t>ε</m:t>
                    </m:r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Under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  <a:r>
                  <a:rPr/>
                  <a:t>, the classical variance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which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Var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ε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I</m:t>
                    </m:r>
                  </m:oMath>
                </a14:m>
                <a:r>
                  <a:rPr/>
                  <a:t> — constant variance, zero correlation.</a:t>
                </a:r>
              </a:p>
              <a:p>
                <a:pPr lvl="0" indent="0" marL="0">
                  <a:buNone/>
                </a:pPr>
                <a:r>
                  <a:rPr/>
                  <a:t>The general (sandwich) form makes no such promise: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r>
                        <m:t> 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′</m:t>
                      </m:r>
                      <m:r>
                        <m:t>Ω</m:t>
                      </m:r>
                      <m:r>
                        <m:t>X</m:t>
                      </m:r>
                      <m:r>
                        <m:t> 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Everything below is a different guess at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  <a:r>
                  <a:rPr/>
                  <a:t>. The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β</m:t>
                        </m:r>
                      </m:e>
                    </m:acc>
                  </m:oMath>
                </a14:m>
                <a:r>
                  <a:rPr/>
                  <a:t> never changes — only your claimed precision.</a:t>
                </a:r>
              </a:p>
            </p:txBody>
          </p:sp>
        </mc:Choice>
      </mc:AlternateContent>
    </p:spTree>
  </p:cSld>
</p:sld>
</file>

<file path=ppt/slides/slide11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mc:AlternateContent xmlns:mc="http://schemas.openxmlformats.org/markup-compatibility/2006"><mc:Choice xmlns:a14="http://schemas.microsoft.com/office/drawing/2010/main" Requires="a14"><p:sp><p:nvSpPr><p:cNvPr id="2" name="Title 1" /><p:cNvSpPr><a:spLocks noGrp="1" /></p:cNvSpPr><p:nvPr><p:ph type="title" /></p:nvPr></p:nvSpPr><p:spPr /><p:txBody><a:bodyPr /><a:lstStyle /><a:p><a:pPr lvl="0" indent="0" marL="0"><a:buNone /></a:pPr><a:r><a:rPr /><a:t>Three estimators of </a:t></a:r><a14:m><m:oMath xmlns:m="http://schemas.openxmlformats.org/officeDocument/2006/math"><m:r><m:t>Ω</m:t></m:r></m:oMath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Assumption</a:t></a:r></a:p></a:txBody><a:tcPr /></a:tc><a:tc><a:txBody><a:bodyPr /><a:lstStyle /><a:p><a:pPr lvl="0" indent="0" marL="0"><a:buNone /></a:pPr><a14:m><m:oMath xmlns:m="http://schemas.openxmlformats.org/officeDocument/2006/math"><m:r><m:t>Ω</m:t></m:r></m:oMath></a14:m></a:p></a:txBody><a:tcPr /></a:tc><a:tc><a:txBody><a:bodyPr /><a:lstStyle /><a:p><a:pPr lvl="0" indent="0" marL="0"><a:buNone /></a:pPr><a:r><a:rPr /><a:t>Use when</a:t></a:r></a:p></a:txBody><a:tcPr /></a:tc></a:tr><a:tr h="0"><a:tc><a:txBody><a:bodyPr /><a:lstStyle /><a:p><a:pPr lvl="0" indent="0" marL="0"><a:buNone /></a:pPr><a:r><a:rPr /><a:t>Classical</a:t></a:r></a:p></a:txBody></a:tc><a:tc><a:txBody><a:bodyPr /><a:lstStyle /><a:p><a:pPr lvl="0" indent="0" marL="0"><a:buNone /></a:pPr><a14:m><m:oMath xmlns:m="http://schemas.openxmlformats.org/officeDocument/2006/math"><m:sSup><m:e><m:r><m:t>σ</m:t></m:r></m:e><m:sup><m:r><m:t>2</m:t></m:r></m:sup></m:sSup><m:r><m:t>I</m:t></m:r></m:oMath></a14:m></a:p></a:txBody></a:tc><a:tc><a:txBody><a:bodyPr /><a:lstStyle /><a:p><a:pPr lvl="0" indent="0" marL="0"><a:buNone /></a:pPr><a:r><a:rPr /><a:t>Essentially never with real panels</a:t></a:r></a:p></a:txBody></a:tc></a:tr><a:tr h="0"><a:tc><a:txBody><a:bodyPr /><a:lstStyle /><a:p><a:pPr lvl="0" indent="0" marL="0"><a:buNone /></a:pPr><a:r><a:rPr b="1" /><a:t>HC (robust)</a:t></a:r></a:p></a:txBody></a:tc><a:tc><a:txBody><a:bodyPr /><a:lstStyle /><a:p><a:pPr lvl="0" indent="0" marL="0"><a:buNone /></a:pPr><a14:m><m:oMath xmlns:m="http://schemas.openxmlformats.org/officeDocument/2006/math"><m:r><m:rPr><m:sty m:val="p" /></m:rPr><m:t>diag</m:t></m:r><m:d><m:dPr><m:begChr m:val="(" /><m:sepChr m:val="" /><m:endChr m:val=")" /><m:grow /></m:dPr><m:e><m:sSubSup><m:e><m:r><m:t>e</m:t></m:r></m:e><m:sub><m:r><m:t>i</m:t></m:r></m:sub><m:sup><m:r><m:t>2</m:t></m:r></m:sup></m:sSubSup></m:e></m:d></m:oMath></a14:m></a:p></a:txBody></a:tc><a:tc><a:txBody><a:bodyPr /><a:lstStyle /><a:p><a:pPr lvl="0" indent="0" marL="0"><a:buNone /></a:pPr><a:r><a:rPr /><a:t>Variance differs across units</a:t></a:r></a:p></a:txBody></a:tc></a:tr><a:tr h="0"><a:tc><a:txBody><a:bodyPr /><a:lstStyle /><a:p><a:pPr lvl="0" indent="0" marL="0"><a:buNone /></a:pPr><a:r><a:rPr b="1" /><a:t>Clustered</a:t></a:r></a:p></a:txBody></a:tc><a:tc><a:txBody><a:bodyPr /><a:lstStyle /><a:p><a:pPr lvl="0" indent="0" marL="0"><a:buNone /></a:pPr><a:r><a:rPr /><a:t>Block-diagonal by group</a:t></a:r></a:p></a:txBody></a:tc><a:tc><a:txBody><a:bodyPr /><a:lstStyle /><a:p><a:pPr lvl="0" indent="0" marL="0"><a:buNone /></a:pPr><a:r><a:rPr /><a:t>Observations correlated within a unit</a:t></a:r></a:p></a:txBody></a:tc></a:tr></a:tbl></a:graphicData></a:graphic></p:graphicFrame></p:spTree></p:cSld>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cluster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g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G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g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′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g</m:t>
                          </m:r>
                        </m:sub>
                      </m:sSub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m:t>′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g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Clustering by country lets errors correlate freely </a:t>
                </a:r>
                <a:r>
                  <a:rPr b="1"/>
                  <a:t>within</a:t>
                </a:r>
                <a:r>
                  <a:rPr/>
                  <a:t> a country and assumes independence </a:t>
                </a:r>
                <a:r>
                  <a:rPr b="1"/>
                  <a:t>across</a:t>
                </a:r>
                <a:r>
                  <a:rPr/>
                  <a:t> countries.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omitted-variable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the true model is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  <a:r>
                  <a:rPr/>
                  <a:t> and you omit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plim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r>
                                <m:t>δ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  <m:sty m:val="p"/>
                                  </m:rPr>
                                  <m:t> on 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lim>
                      </m:limLow>
                      <m:r>
                        <m:t>​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 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bias has a </a:t>
                </a:r>
                <a:r>
                  <a:rPr b="1"/>
                  <a:t>sign you can reason about</a:t>
                </a:r>
                <a:r>
                  <a:rPr/>
                  <a:t> before you see any output:</a:t>
                </a:r>
              </a:p>
              <a:p>
                <a:pPr lvl="0"/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→ upward bias</a:t>
                </a:r>
              </a:p>
              <a:p>
                <a:pPr lvl="0"/>
                <a:r>
                  <a:rPr/>
                  <a:t>signs opposite → downward bias</a:t>
                </a:r>
              </a:p>
              <a:p>
                <a:pPr lvl="0" indent="0" marL="0">
                  <a:buNone/>
                </a:pPr>
                <a:r>
                  <a:rPr/>
                  <a:t>State the expected direction in writing </a:t>
                </a:r>
                <a:r>
                  <a:rPr i="1"/>
                  <a:t>before</a:t>
                </a:r>
                <a:r>
                  <a:rPr/>
                  <a:t> estimating. This is the single most useful discipline in applied work.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data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panel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br/>
            <a:r>
              <a:rPr>
                <a:latin typeface="Courier"/>
              </a:rPr>
              <a:t>b  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"data/spine/angle_b_sector.parquet"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"data/spine/core.parquet"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b.merge(core[[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"gdp_pc_eur"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"productivity_idx"</a:t>
            </a:r>
            <a:r>
              <a:rPr>
                <a:latin typeface="Courier"/>
              </a:rPr>
              <a:t>]],</a:t>
            </a:r>
            <a:br/>
            <a:r>
              <a:rPr>
                <a:latin typeface="Courier"/>
              </a:rPr>
              <a:t>             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])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(df.shape)     </a:t>
            </a:r>
            <a:r>
              <a:rPr i="1">
                <a:solidFill>
                  <a:srgbClr val="60A0B0"/>
                </a:solidFill>
                <a:latin typeface="Courier"/>
              </a:rPr>
              <a:t># 3150 rows: 30 countries x 7 sectors x 15 years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annual_earnings_eur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annual earnings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tertiary_share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 of employment with tertiary education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vacancy_rate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Job vacancy rate,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nace_r2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Sector (NACE Rev. 2 section)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deliberately wrong with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Variance scales with country size.</a:t>
            </a:r>
            <a:r>
              <a:rPr/>
              <a:t> Small countries are noisier. That is heteroskedasticity you can see.</a:t>
            </a:r>
          </a:p>
          <a:p>
            <a:pPr lvl="0"/>
            <a:r>
              <a:rPr b="1"/>
              <a:t>Repeated observations per country.</a:t>
            </a:r>
            <a:r>
              <a:rPr/>
              <a:t> 105 rows per country — nowhere near 105 independent facts.</a:t>
            </a:r>
          </a:p>
          <a:p>
            <a:pPr lvl="0"/>
            <a:r>
              <a:rPr b="1">
                <a:latin typeface="Courier"/>
              </a:rPr>
              <a:t>annual_earnings_eur</a:t>
            </a:r>
            <a:r>
              <a:rPr b="1"/>
              <a:t> comes from a quadrennial source.</a:t>
            </a:r>
            <a:r>
              <a:rPr/>
              <a:t> Annual variation is partly interpolation, not measurement.</a:t>
            </a:r>
          </a:p>
          <a:p>
            <a:pPr lvl="0" indent="0" marL="0">
              <a:buNone/>
            </a:pPr>
            <a:r>
              <a:rPr/>
              <a:t>Treating 3,150 rows as 3,150 independent observations is how you get a t-statistic of 12 for an effect that is not there.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Doing it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Fit, then look at the residuals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statsmodels.formula.api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smf</a:t>
            </a:r>
            <a:br/>
            <a:br/>
            <a:r>
              <a:rPr>
                <a:latin typeface="Courier"/>
              </a:rPr>
              <a:t>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smf.ols(</a:t>
            </a:r>
            <a:r>
              <a:rPr>
                <a:solidFill>
                  <a:srgbClr val="4070A0"/>
                </a:solidFill>
                <a:latin typeface="Courier"/>
              </a:rPr>
              <a:t>"np.log(annual_earnings_eur) ~ tertiary_share + vacancy_rate "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4070A0"/>
                </a:solidFill>
                <a:latin typeface="Courier"/>
              </a:rPr>
              <a:t>"+ C(nace_r2)"</a:t>
            </a:r>
            <a:r>
              <a:rPr>
                <a:latin typeface="Courier"/>
              </a:rPr>
              <a:t>, 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df).fit()</a:t>
            </a:r>
            <a:br/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matplotlib.pyplot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plt</a:t>
            </a:r>
            <a:br/>
            <a:r>
              <a:rPr>
                <a:latin typeface="Courier"/>
              </a:rPr>
              <a:t>plt.scatter(m.fittedvalues, m.resid, 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, alpha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plt.axhline(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plt.xlabel(</a:t>
            </a:r>
            <a:r>
              <a:rPr>
                <a:solidFill>
                  <a:srgbClr val="4070A0"/>
                </a:solidFill>
                <a:latin typeface="Courier"/>
              </a:rPr>
              <a:t>"fitted"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plt.ylabel(</a:t>
            </a:r>
            <a:r>
              <a:rPr>
                <a:solidFill>
                  <a:srgbClr val="4070A0"/>
                </a:solidFill>
                <a:latin typeface="Courier"/>
              </a:rPr>
              <a:t>"residual"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A fan opening to the right is heteroskedasticity. You are looking for a shape, not running a test yet.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model, three standard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classical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</a:t>
            </a:r>
            <a:br/>
            <a:r>
              <a:rPr>
                <a:latin typeface="Courier"/>
              </a:rPr>
              <a:t>robust  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m.get_robustcov_results(cov_type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"HC3"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clustered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m.get_robustcov_results(cov_type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"cluster"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           groups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df.loc[m.model.data.row_labels, 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])</a:t>
            </a:r>
            <a:br/>
            <a:br/>
            <a:r>
              <a:rPr>
                <a:latin typeface="Courier"/>
              </a:rPr>
              <a:t>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(m.params.index).index(</a:t>
            </a:r>
            <a:r>
              <a:rPr>
                <a:solidFill>
                  <a:srgbClr val="4070A0"/>
                </a:solidFill>
                <a:latin typeface="Courier"/>
              </a:rPr>
              <a:t>"tertiary_share"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name, 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[(</a:t>
            </a:r>
            <a:r>
              <a:rPr>
                <a:solidFill>
                  <a:srgbClr val="4070A0"/>
                </a:solidFill>
                <a:latin typeface="Courier"/>
              </a:rPr>
              <a:t>"classical"</a:t>
            </a:r>
            <a:r>
              <a:rPr>
                <a:latin typeface="Courier"/>
              </a:rPr>
              <a:t>, classical), (</a:t>
            </a:r>
            <a:r>
              <a:rPr>
                <a:solidFill>
                  <a:srgbClr val="4070A0"/>
                </a:solidFill>
                <a:latin typeface="Courier"/>
              </a:rPr>
              <a:t>"HC3"</a:t>
            </a:r>
            <a:r>
              <a:rPr>
                <a:latin typeface="Courier"/>
              </a:rPr>
              <a:t>, robust), (</a:t>
            </a:r>
            <a:r>
              <a:rPr>
                <a:solidFill>
                  <a:srgbClr val="4070A0"/>
                </a:solidFill>
                <a:latin typeface="Courier"/>
              </a:rPr>
              <a:t>"cluster"</a:t>
            </a:r>
            <a:r>
              <a:rPr>
                <a:latin typeface="Courier"/>
              </a:rPr>
              <a:t>, clustered)]: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:10s}</a:t>
            </a:r>
            <a:r>
              <a:rPr>
                <a:solidFill>
                  <a:srgbClr val="BB6688"/>
                </a:solidFill>
                <a:latin typeface="Courier"/>
              </a:rPr>
              <a:t> se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np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asarray(r.bse)[i]</a:t>
            </a:r>
            <a:r>
              <a:rPr>
                <a:solidFill>
                  <a:srgbClr val="4070A0"/>
                </a:solidFill>
                <a:latin typeface="Courier"/>
              </a:rPr>
              <a:t>:.4f}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Index by </a:t>
            </a:r>
            <a:r>
              <a:rPr b="1"/>
              <a:t>name</a:t>
            </a:r>
            <a:r>
              <a:rPr/>
              <a:t>, not position. </a:t>
            </a:r>
            <a:r>
              <a:rPr>
                <a:latin typeface="Courier"/>
              </a:rPr>
              <a:t>m.bse</a:t>
            </a:r>
            <a:r>
              <a:rPr/>
              <a:t> is a name-indexed Series while the robust results return a plain array, so </a:t>
            </a:r>
            <a:r>
              <a:rPr>
                <a:latin typeface="Courier"/>
              </a:rPr>
              <a:t>bse[1]</a:t>
            </a:r>
            <a:r>
              <a:rPr/>
              <a:t> means different things — or raises — depending on which object you hand it.</a:t>
            </a:r>
          </a:p>
          <a:p>
            <a:pPr lvl="0" indent="0" marL="0">
              <a:buNone/>
            </a:pPr>
            <a:r>
              <a:rPr/>
              <a:t>The coefficient is identical in all three. Only the standard error moves. On this specification the clustered one is about </a:t>
            </a:r>
            <a:r>
              <a:rPr b="1"/>
              <a:t>3× the classical</a:t>
            </a:r>
            <a:r>
              <a:rPr/>
              <a:t> — so a t-statistic of 6 was really a t-statistic of 2.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Clustering stops mattering —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a country-level control and re-run:</a:t>
            </a:r>
          </a:p>
          <a:p>
            <a:pPr lvl="0" indent="0">
              <a:buNone/>
            </a:pPr>
            <a:r>
              <a:rPr>
                <a:latin typeface="Courier"/>
              </a:rPr>
              <a:t>m2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smf.ols(</a:t>
            </a:r>
            <a:r>
              <a:rPr>
                <a:solidFill>
                  <a:srgbClr val="4070A0"/>
                </a:solidFill>
                <a:latin typeface="Courier"/>
              </a:rPr>
              <a:t>"np.log(annual_earnings_eur) ~ tertiary_share + vacancy_rate "</a:t>
            </a:r>
            <a:br/>
            <a:r>
              <a:rPr>
                <a:latin typeface="Courier"/>
              </a:rPr>
              <a:t>             </a:t>
            </a:r>
            <a:r>
              <a:rPr>
                <a:solidFill>
                  <a:srgbClr val="4070A0"/>
                </a:solidFill>
                <a:latin typeface="Courier"/>
              </a:rPr>
              <a:t>"+ np.log(gdp_pc_eur) + C(nace_r2)"</a:t>
            </a:r>
            <a:r>
              <a:rPr>
                <a:latin typeface="Courier"/>
              </a:rPr>
              <a:t>, 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df).fit()</a:t>
            </a:r>
          </a:p>
          <a:p>
            <a:pPr lvl="0" indent="0" marL="0">
              <a:buNone/>
            </a:pPr>
            <a:r>
              <a:rPr/>
              <a:t>Now classical and clustered standard errors are </a:t>
            </a:r>
            <a:r>
              <a:rPr b="1"/>
              <a:t>almost identical</a:t>
            </a:r>
            <a:r>
              <a:rPr/>
              <a:t> — the ratio falls to about 1.0.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that happened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log(gdp_pc_eur)</a:t>
            </a:r>
            <a:r>
              <a:rPr/>
              <a:t> varies at the country-year level. Putting it in the model </a:t>
            </a:r>
            <a:r>
              <a:rPr b="1"/>
              <a:t>absorbs the common shock</a:t>
            </a:r>
            <a:r>
              <a:rPr/>
              <a:t> that was making residuals correlate within a country. There is little correlation left for clustering to correct.</a:t>
            </a:r>
          </a:p>
          <a:p>
            <a:pPr lvl="0"/>
            <a:r>
              <a:rPr/>
              <a:t>Clustered SEs matter when a </a:t>
            </a:r>
            <a:r>
              <a:rPr b="1"/>
              <a:t>shared, unmodelled</a:t>
            </a:r>
            <a:r>
              <a:rPr/>
              <a:t> shock is in the residual</a:t>
            </a:r>
          </a:p>
          <a:p>
            <a:pPr lvl="0"/>
            <a:r>
              <a:rPr/>
              <a:t>Model that shock explicitly and the correction shrinks</a:t>
            </a:r>
          </a:p>
          <a:p>
            <a:pPr lvl="0"/>
            <a:r>
              <a:rPr/>
              <a:t>Neither route is cheating; they are the same fact handled in two places</a:t>
            </a:r>
          </a:p>
          <a:p>
            <a:pPr lvl="0" indent="0" marL="0">
              <a:buNone/>
            </a:pPr>
            <a:r>
              <a:rPr/>
              <a:t>Do </a:t>
            </a:r>
            <a:r>
              <a:rPr b="1"/>
              <a:t>not</a:t>
            </a:r>
            <a:r>
              <a:rPr/>
              <a:t> conclude “clustering never matters, just add controls”. A control that absorbs the shock may also absorb the variation you wanted to study.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one do you report?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Cluster at the level at which </a:t>
                </a:r>
                <a:r>
                  <a:rPr b="1"/>
                  <a:t>treatment varies</a:t>
                </a:r>
                <a:r>
                  <a:rPr/>
                  <a:t> and shocks are shared — here, </a:t>
                </a:r>
                <a:r>
                  <a:rPr>
                    <a:latin typeface="Courier"/>
                  </a:rPr>
                  <a:t>geo</a:t>
                </a:r>
                <a:r>
                  <a:rPr/>
                  <a:t>.</a:t>
                </a:r>
              </a:p>
              <a:p>
                <a:pPr lvl="0"/>
                <a:r>
                  <a:rPr/>
                  <a:t>With 30 countries you are near the small-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 regime; clustered standard errors are themselves noisy.</a:t>
                </a:r>
              </a:p>
              <a:p>
                <a:pPr lvl="0"/>
                <a:r>
                  <a:rPr/>
                  <a:t>Report the clustered version, </a:t>
                </a:r>
                <a:r>
                  <a:rPr b="1"/>
                  <a:t>say</a:t>
                </a:r>
                <a:r>
                  <a:rPr/>
                  <a:t> you clustered, and say on what.</a:t>
                </a:r>
              </a:p>
              <a:p>
                <a:pPr lvl="0" indent="0" marL="0">
                  <a:buNone/>
                </a:pPr>
                <a:r>
                  <a:rPr/>
                  <a:t>“Robust standard errors” in a table note without naming the cluster level tells the reader nothing. Two papers can write that sentence and mean different things.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confounder you can sign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Suppose you omit </a:t>
                </a:r>
                <a:r>
                  <a:rPr>
                    <a:latin typeface="Courier"/>
                  </a:rPr>
                  <a:t>productivity_idx</a:t>
                </a:r>
                <a:r>
                  <a:rPr/>
                  <a:t>.</a:t>
                </a:r>
              </a:p>
              <a:p>
                <a:pPr lvl="0"/>
                <a:r>
                  <a:rPr/>
                  <a:t>Productive countries have </a:t>
                </a:r>
                <a:r>
                  <a:rPr b="1"/>
                  <a:t>higher</a:t>
                </a:r>
                <a:r>
                  <a:rPr/>
                  <a:t> earnings →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a:p>
              <a:p>
                <a:pPr lvl="0"/>
                <a:r>
                  <a:rPr/>
                  <a:t>Productive countries also have </a:t>
                </a:r>
                <a:r>
                  <a:rPr b="1"/>
                  <a:t>higher</a:t>
                </a:r>
                <a:r>
                  <a:rPr/>
                  <a:t> tertiary shares →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a:p>
              <a:p>
                <a:pPr lvl="0"/>
                <a:r>
                  <a:rPr/>
                  <a:t>Therefore the omitted-variable bias on </a:t>
                </a:r>
                <a:r>
                  <a:rPr>
                    <a:latin typeface="Courier"/>
                  </a:rPr>
                  <a:t>tertiary_share</a:t>
                </a:r>
                <a:r>
                  <a:rPr/>
                  <a:t> is </a:t>
                </a:r>
                <a:r>
                  <a:rPr b="1"/>
                  <a:t>upward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short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smf.ols(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"np.log(annual_earnings_eur) ~ tertiary_share"</a:t>
                </a:r>
                <a:r>
                  <a:rPr>
                    <a:latin typeface="Courier"/>
                  </a:rPr>
                  <a:t>, data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df).fit()</a:t>
                </a:r>
                <a:br/>
                <a:r>
                  <a:rPr>
                    <a:latin typeface="Courier"/>
                  </a:rPr>
                  <a:t>long_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smf.ols(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"np.log(annual_earnings_eur) ~ tertiary_share "</a:t>
                </a:r>
                <a:br/>
                <a:r>
                  <a:rPr>
                    <a:latin typeface="Courier"/>
                  </a:rPr>
                  <a:t>               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"+ productivity_idx"</a:t>
                </a:r>
                <a:r>
                  <a:rPr>
                    <a:latin typeface="Courier"/>
                  </a:rPr>
                  <a:t>, data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df).fit()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(short.params[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"tertiary_share"</a:t>
                </a:r>
                <a:r>
                  <a:rPr>
                    <a:latin typeface="Courier"/>
                  </a:rPr>
                  <a:t>], long_.params[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"tertiary_share"</a:t>
                </a:r>
                <a:r>
                  <a:rPr>
                    <a:latin typeface="Courier"/>
                  </a:rPr>
                  <a:t>])</a:t>
                </a:r>
              </a:p>
              <a:p>
                <a:pPr lvl="0" indent="0" marL="0">
                  <a:buNone/>
                </a:pPr>
                <a:r>
                  <a:rPr/>
                  <a:t>The short coefficient should exceed the long one. You predicted the direction before you ran it.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coefficient, its </a:t>
            </a:r>
            <a:r>
              <a:rPr b="1"/>
              <a:t>clustered</a:t>
            </a:r>
            <a:r>
              <a:rPr/>
              <a:t> standard error, and the cluster unit</a:t>
            </a:r>
          </a:p>
          <a:p>
            <a:pPr lvl="0"/>
            <a:r>
              <a:rPr/>
              <a:t>The residual plot, or a sentence about what it showed</a:t>
            </a:r>
          </a:p>
          <a:p>
            <a:pPr lvl="0"/>
            <a:r>
              <a:rPr/>
              <a:t>The confounder you worried about and </a:t>
            </a:r>
            <a:r>
              <a:rPr b="1"/>
              <a:t>which way</a:t>
            </a:r>
            <a:r>
              <a:rPr/>
              <a:t> it would bias you</a:t>
            </a:r>
          </a:p>
          <a:p>
            <a:pPr lvl="0"/>
            <a:r>
              <a:rPr/>
              <a:t>Sample size </a:t>
            </a:r>
            <a:r>
              <a:rPr b="1"/>
              <a:t>and</a:t>
            </a:r>
            <a:r>
              <a:rPr/>
              <a:t> number of clusters — 3,150 and 30 are both true, and only one governs precision</a:t>
            </a:r>
          </a:p>
          <a:p>
            <a:pPr lvl="0" indent="0" marL="0">
              <a:buNone/>
            </a:pPr>
            <a:r>
              <a:rPr/>
              <a:t>A p-value answers “how surprising is this under the null?” — not “how large is the effect?” and not “is the model right?”. Report the magnitude in euros.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p-value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Pr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 </m:t>
                      </m:r>
                      <m:d>
                        <m:dPr>
                          <m:begChr m:val="|"/>
                          <m:sepChr m:val=""/>
                          <m:endChr m:val="|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≥</m:t>
                      </m:r>
                      <m:d>
                        <m:dPr>
                          <m:begChr m:val="|"/>
                          <m:sepChr m:val=""/>
                          <m:endChr m:val="|"/>
                          <m:grow/>
                        </m:dPr>
                        <m:e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obs</m:t>
                              </m:r>
                            </m:sub>
                          </m:sSub>
                        </m:e>
                      </m:d>
                      <m:r>
                        <m:t> </m:t>
                      </m:r>
                      <m:d>
                        <m:dPr>
                          <m:begChr m:val="|"/>
                          <m:sepChr m:val=""/>
                          <m:endChr m:val=")"/>
                          <m:grow/>
                        </m:dPr>
                        <m:e>
                          <m:r>
                            <m:t> 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  <m:sty m:val="p"/>
                            </m:rPr>
                            <m:t> true</m:t>
                          </m:r>
                          <m:r>
                            <m:t> </m:t>
                          </m:r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✅ “If there were no effect, data this extreme would arise 3% of the time.”</a:t>
                </a:r>
              </a:p>
              <a:p>
                <a:pPr lvl="0"/>
                <a:r>
                  <a:rPr/>
                  <a:t>❌ “There is a 97% chance the effect is real.”</a:t>
                </a:r>
              </a:p>
              <a:p>
                <a:pPr lvl="0"/>
                <a:r>
                  <a:rPr/>
                  <a:t>❌ “The effect is large.”</a:t>
                </a:r>
              </a:p>
              <a:p>
                <a:pPr lvl="0"/>
                <a:r>
                  <a:rPr/>
                  <a:t>❌ “The model is correct.”</a:t>
                </a:r>
              </a:p>
              <a:p>
                <a:pPr lvl="0" indent="0" marL="0">
                  <a:buNone/>
                </a:pPr>
                <a:r>
                  <a:rPr/>
                  <a:t>It is a statement about </a:t>
                </a:r>
                <a:r>
                  <a:rPr b="1"/>
                  <a:t>data under an assumed null</a:t>
                </a:r>
                <a:r>
                  <a:rPr/>
                  <a:t> — not about the hypothesis, and not about magnitude.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many clusters is enough?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cluster-robust estimator is consistent as the number of </a:t>
                </a:r>
                <a:r>
                  <a:rPr b="1"/>
                  <a:t>clusters</a:t>
                </a:r>
                <a:r>
                  <a:rPr/>
                  <a:t> grows, not as the number of rows grows.</a:t>
                </a:r>
              </a:p>
              <a:p>
                <a:pPr lvl="0"/>
                <a:r>
                  <a:rPr/>
                  <a:t>30 countries is on the edge — often cited as a rough minimum</a:t>
                </a:r>
              </a:p>
              <a:p>
                <a:pPr lvl="0"/>
                <a:r>
                  <a:rPr/>
                  <a:t>Below that, intervals are too narrow again, for a new reason</a:t>
                </a:r>
              </a:p>
              <a:p>
                <a:pPr lvl="0"/>
                <a:r>
                  <a:rPr/>
                  <a:t>The wild cluster bootstrap is the standard remedy</a:t>
                </a:r>
              </a:p>
              <a:p>
                <a:pPr lvl="0" indent="0" marL="0">
                  <a:buNone/>
                </a:pPr>
                <a:r>
                  <a:rPr/>
                  <a:t>Report your number of clusters next to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. A reader cannot judge your inference without it, and almost nobody prints it.</a:t>
                </a:r>
              </a:p>
            </p:txBody>
          </p:sp>
        </mc:Choice>
      </mc:AlternateContent>
    </p:spTree>
  </p:cSld>
</p:sld>
</file>

<file path=ppt/slides/slide27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Common mistakes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Mistake</a:t></a:r></a:p></a:txBody><a:tcPr /></a:tc><a:tc><a:txBody><a:bodyPr /><a:lstStyle /><a:p><a:pPr lvl="0" indent="0" marL="0"><a:buNone /></a:pPr><a:r><a:rPr /><a:t>Consequence</a:t></a:r></a:p></a:txBody><a:tcPr /></a:tc></a:tr><a:tr h="0"><a:tc><a:txBody><a:bodyPr /><a:lstStyle /><a:p><a:pPr lvl="0" indent="0" marL="0"><a:buNone /></a:pPr><a:r><a:rPr /><a:t>Default standard errors on panel data</a:t></a:r></a:p></a:txBody></a:tc><a:tc><a:txBody><a:bodyPr /><a:lstStyle /><a:p><a:pPr lvl="0" indent="0" marL="0"><a:buNone /></a:pPr><a:r><a:rPr /><a:t>Intervals far too narrow</a:t></a:r></a:p></a:txBody></a:tc></a:tr><a:tr h="0"><a:tc><a:txBody><a:bodyPr /><a:lstStyle /><a:p><a:pPr lvl="0" indent="0" marL="0"><a:buNone /></a:pPr><a:r><a:rPr /><a:t>Clustering on the wrong level</a:t></a:r></a:p></a:txBody></a:tc><a:tc><a:txBody><a:bodyPr /><a:lstStyle /><a:p><a:pPr lvl="0" indent="0" marL="0"><a:buNone /></a:pPr><a:r><a:rPr /><a:t>Precision over- or under-stated</a:t></a:r></a:p></a:txBody></a:tc></a:tr><a:tr h="0"><a:tc><a:txBody><a:bodyPr /><a:lstStyle /><a:p><a:pPr lvl="0" indent="0" marL="0"><a:buNone /></a:pPr><a:r><a:rPr /><a:t>“Controlling for everything”</a:t></a:r></a:p></a:txBody></a:tc><a:tc><a:txBody><a:bodyPr /><a:lstStyle /><a:p><a:pPr lvl="0" indent="0" marL="0"><a:buNone /></a:pPr><a:r><a:rPr /><a:t>Post-treatment bias; uninterpretable coefficients</a:t></a:r></a:p></a:txBody></a:tc></a:tr><a:tr h="0"><a:tc><a:txBody><a:bodyPr /><a:lstStyle /><a:p><a:pPr lvl="0" indent="0" marL="0"><a:buNone /></a:pPr><a:r><a:rPr /><a:t>Reading significance from </a:t></a:r><a14:m><m:oMath xmlns:m="http://schemas.openxmlformats.org/officeDocument/2006/math"><m:r><m:t>n</m:t></m:r><m:r><m:rPr><m:sty m:val="p" /></m:rPr><m:t>=</m:t></m:r><m:r><m:t>3150</m:t></m:r></m:oMath></a14:m></a:p></a:txBody></a:tc><a:tc><a:txBody><a:bodyPr /><a:lstStyle /><a:p><a:pPr lvl="0" indent="0" marL="0"><a:buNone /></a:pPr><a:r><a:rPr /><a:t>You have 30 independent units</a:t></a:r></a:p></a:txBody></a:tc></a:tr><a:tr h="0"><a:tc><a:txBody><a:bodyPr /><a:lstStyle /><a:p><a:pPr lvl="0" indent="0" marL="0"><a:buNone /></a:pPr><a:r><a:rPr /><a:t>Dropping </a:t></a:r><a:r><a:rPr><a:latin typeface="Courier" /></a:rPr><a:t>flag == &quot;u&quot;</a:t></a:r><a:r><a:rPr /><a:t> rows</a:t></a:r></a:p></a:txBody></a:tc><a:tc><a:txBody><a:bodyPr /><a:lstStyle /><a:p><a:pPr lvl="0" indent="0" marL="0"><a:buNone /></a:pPr><a:r><a:rPr /><a:t>Coverage biased toward large economies</a:t></a:r></a:p></a:txBody></a:tc></a:tr></a:tbl></a:graphicData></a:graphic></p:graphicFrame></p:spTree></p:cSld>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 through </a:t>
            </a:r>
            <a:r>
              <a:rPr>
                <a:hlinkClick r:id="rId2"/>
                <a:latin typeface="Courier"/>
              </a:rPr>
              <a:t>02-lab/README.md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Fit the earnings model and inspect residuals against fitted values</a:t>
            </a:r>
          </a:p>
          <a:p>
            <a:pPr lvl="0" indent="-342900" marL="342900">
              <a:buAutoNum type="arabicPeriod"/>
            </a:pPr>
            <a:r>
              <a:rPr/>
              <a:t>Compute classical, HC3 and clustered standard errors side by side</a:t>
            </a:r>
          </a:p>
          <a:p>
            <a:pPr lvl="0" indent="-342900" marL="342900">
              <a:buAutoNum type="arabicPeriod"/>
            </a:pPr>
            <a:r>
              <a:rPr/>
              <a:t>Write down a confounder, sign its bias, then test your prediction</a:t>
            </a:r>
          </a:p>
          <a:p>
            <a:pPr lvl="0" indent="-342900" marL="342900">
              <a:buAutoNum type="arabicPeriod"/>
            </a:pPr>
            <a:r>
              <a:rPr/>
              <a:t>Three sentences — with the cluster level named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Inference, Diagnostics, Interpretation</dc:title>
  <dc:creator>Thierry Warin</dc:creator>
  <cp:keywords/>
  <dcterms:created xsi:type="dcterms:W3CDTF">2026-08-19T02:57:33Z</dcterms:created>
  <dcterms:modified xsi:type="dcterms:W3CDTF">2026-08-19T02:57:33Z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18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03 · Standard errors that survive contact with panel data</vt:lpwstr>
  </property>
  <property fmtid="{D5CDD505-2E9C-101B-9397-08002B2CF9AE}" pid="16" name="toc-title">
    <vt:lpwstr>Table of contents</vt:lpwstr>
  </property>
</Properties>
</file>