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4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slides/charts/chart5.xml" ContentType="application/vnd.openxmlformats-officedocument.drawingml.chart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slides/charts/chart6.xml" ContentType="application/vnd.openxmlformats-officedocument.drawingml.chart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56b0664c884ac4" /><Relationship Type="http://schemas.openxmlformats.org/officeDocument/2006/relationships/extended-properties" Target="/docProps/app.xml" Id="R5c182bd683844ece" /><Relationship Type="http://schemas.openxmlformats.org/officeDocument/2006/relationships/officeDocument" Target="/ppt/presentation.xml" Id="R348f2f039f374b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c5bdcb257341e4"/>
  </p:sldMasterIdLst>
  <p:notesMasterIdLst>
    <p:notesMasterId xmlns:r="http://schemas.openxmlformats.org/officeDocument/2006/relationships" r:id="Ra4497ec387a44633"/>
  </p:notesMasterIdLst>
  <p:sldIdLst>
    <p:sldId xmlns:r="http://schemas.openxmlformats.org/officeDocument/2006/relationships" id="256" r:id="R63f484a908f246f3"/>
    <p:sldId xmlns:r="http://schemas.openxmlformats.org/officeDocument/2006/relationships" id="257" r:id="R62b988fb9c604524"/>
    <p:sldId xmlns:r="http://schemas.openxmlformats.org/officeDocument/2006/relationships" id="258" r:id="R668cbbf720e14f65"/>
    <p:sldId xmlns:r="http://schemas.openxmlformats.org/officeDocument/2006/relationships" id="259" r:id="R2cc5a8cc70a449ee"/>
    <p:sldId xmlns:r="http://schemas.openxmlformats.org/officeDocument/2006/relationships" id="260" r:id="R6ad8e6331c9a481a"/>
    <p:sldId xmlns:r="http://schemas.openxmlformats.org/officeDocument/2006/relationships" id="261" r:id="R83a39e058b384b67"/>
    <p:sldId xmlns:r="http://schemas.openxmlformats.org/officeDocument/2006/relationships" id="262" r:id="Rea6c49a487f84ac2"/>
    <p:sldId xmlns:r="http://schemas.openxmlformats.org/officeDocument/2006/relationships" id="263" r:id="R975978dc181e4f56"/>
    <p:sldId xmlns:r="http://schemas.openxmlformats.org/officeDocument/2006/relationships" id="264" r:id="Re3a59c9beb534bff"/>
    <p:sldId xmlns:r="http://schemas.openxmlformats.org/officeDocument/2006/relationships" id="265" r:id="Rec7321561710445e"/>
    <p:sldId xmlns:r="http://schemas.openxmlformats.org/officeDocument/2006/relationships" id="266" r:id="R13fb30feda9f413e"/>
    <p:sldId xmlns:r="http://schemas.openxmlformats.org/officeDocument/2006/relationships" id="267" r:id="Rc36270f474a14ecb"/>
    <p:sldId xmlns:r="http://schemas.openxmlformats.org/officeDocument/2006/relationships" id="268" r:id="R65e051dc5e1742bd"/>
    <p:sldId xmlns:r="http://schemas.openxmlformats.org/officeDocument/2006/relationships" id="269" r:id="R8ce4696ff8464bb2"/>
    <p:sldId xmlns:r="http://schemas.openxmlformats.org/officeDocument/2006/relationships" id="270" r:id="R36b4539da8e04618"/>
    <p:sldId xmlns:r="http://schemas.openxmlformats.org/officeDocument/2006/relationships" id="271" r:id="Rac6d904def314a58"/>
    <p:sldId xmlns:r="http://schemas.openxmlformats.org/officeDocument/2006/relationships" id="272" r:id="R3ccc114cdaee47ae"/>
    <p:sldId xmlns:r="http://schemas.openxmlformats.org/officeDocument/2006/relationships" id="273" r:id="R155e4e9815974489"/>
    <p:sldId xmlns:r="http://schemas.openxmlformats.org/officeDocument/2006/relationships" id="274" r:id="R4398cfc3ba964668"/>
    <p:sldId xmlns:r="http://schemas.openxmlformats.org/officeDocument/2006/relationships" id="275" r:id="R490f426ca9d14f7a"/>
    <p:sldId xmlns:r="http://schemas.openxmlformats.org/officeDocument/2006/relationships" id="276" r:id="R3b87abe63d0d4ae4"/>
    <p:sldId xmlns:r="http://schemas.openxmlformats.org/officeDocument/2006/relationships" id="277" r:id="R46229037c0ca4a48"/>
    <p:sldId xmlns:r="http://schemas.openxmlformats.org/officeDocument/2006/relationships" id="278" r:id="R56ba666287934432"/>
    <p:sldId xmlns:r="http://schemas.openxmlformats.org/officeDocument/2006/relationships" id="279" r:id="Rfc64bccd70474a25"/>
    <p:sldId xmlns:r="http://schemas.openxmlformats.org/officeDocument/2006/relationships" id="280" r:id="Rd57976f2db564cc5"/>
    <p:sldId xmlns:r="http://schemas.openxmlformats.org/officeDocument/2006/relationships" id="281" r:id="R2409d14c2149473c"/>
    <p:sldId xmlns:r="http://schemas.openxmlformats.org/officeDocument/2006/relationships" id="282" r:id="R83ba6a02738345d5"/>
    <p:sldId xmlns:r="http://schemas.openxmlformats.org/officeDocument/2006/relationships" id="283" r:id="R1217f8fef89d4bba"/>
    <p:sldId xmlns:r="http://schemas.openxmlformats.org/officeDocument/2006/relationships" id="284" r:id="Rac5201e399734380"/>
    <p:sldId xmlns:r="http://schemas.openxmlformats.org/officeDocument/2006/relationships" id="285" r:id="Rbcc4ffb69d0e48a3"/>
    <p:sldId xmlns:r="http://schemas.openxmlformats.org/officeDocument/2006/relationships" id="286" r:id="Rf5090d8fcda5459f"/>
    <p:sldId xmlns:r="http://schemas.openxmlformats.org/officeDocument/2006/relationships" id="287" r:id="Rcf1a7f34788d4dde"/>
    <p:sldId xmlns:r="http://schemas.openxmlformats.org/officeDocument/2006/relationships" id="288" r:id="R91bac30e68264714"/>
    <p:sldId xmlns:r="http://schemas.openxmlformats.org/officeDocument/2006/relationships" id="289" r:id="Re83e41624974434c"/>
    <p:sldId xmlns:r="http://schemas.openxmlformats.org/officeDocument/2006/relationships" id="290" r:id="Ra4d116beaaba48e9"/>
    <p:sldId xmlns:r="http://schemas.openxmlformats.org/officeDocument/2006/relationships" id="291" r:id="Rb3649788897e406b"/>
    <p:sldId xmlns:r="http://schemas.openxmlformats.org/officeDocument/2006/relationships" id="292" r:id="R3a1c48b5f1e94a75"/>
    <p:sldId xmlns:r="http://schemas.openxmlformats.org/officeDocument/2006/relationships" id="293" r:id="R6e499282958f4f27"/>
    <p:sldId xmlns:r="http://schemas.openxmlformats.org/officeDocument/2006/relationships" id="294" r:id="Ra37fe7fb8c2148ec"/>
    <p:sldId xmlns:r="http://schemas.openxmlformats.org/officeDocument/2006/relationships" id="295" r:id="R57e72562e91941ea"/>
    <p:sldId xmlns:r="http://schemas.openxmlformats.org/officeDocument/2006/relationships" id="296" r:id="R94f464305603473a"/>
    <p:sldId xmlns:r="http://schemas.openxmlformats.org/officeDocument/2006/relationships" id="297" r:id="R898a4cc3ff3a4a70"/>
    <p:sldId xmlns:r="http://schemas.openxmlformats.org/officeDocument/2006/relationships" id="298" r:id="R061440b8df854097"/>
    <p:sldId xmlns:r="http://schemas.openxmlformats.org/officeDocument/2006/relationships" id="299" r:id="R366ea814e00541f2"/>
    <p:sldId xmlns:r="http://schemas.openxmlformats.org/officeDocument/2006/relationships" id="300" r:id="Rc33e0dafb792436d"/>
    <p:sldId xmlns:r="http://schemas.openxmlformats.org/officeDocument/2006/relationships" id="301" r:id="Rdbe8755b16484e42"/>
    <p:sldId xmlns:r="http://schemas.openxmlformats.org/officeDocument/2006/relationships" id="302" r:id="Re6fdbfa5685949f4"/>
    <p:sldId xmlns:r="http://schemas.openxmlformats.org/officeDocument/2006/relationships" id="303" r:id="Rdb036869a9084271"/>
    <p:sldId xmlns:r="http://schemas.openxmlformats.org/officeDocument/2006/relationships" id="304" r:id="R9f4b960fa59f465e"/>
    <p:sldId xmlns:r="http://schemas.openxmlformats.org/officeDocument/2006/relationships" id="305" r:id="R43cf0f0c47434a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bad2c315e347f0" /><Relationship Type="http://schemas.openxmlformats.org/officeDocument/2006/relationships/slideMaster" Target="/ppt/slideMasters/slideMaster1.xml" Id="Rc6c5bdcb257341e4" /><Relationship Type="http://schemas.openxmlformats.org/officeDocument/2006/relationships/notesMaster" Target="/ppt/notesMasters/notesMaster1.xml" Id="Ra4497ec387a44633" /><Relationship Type="http://schemas.openxmlformats.org/officeDocument/2006/relationships/presProps" Target="/ppt/presProps.xml" Id="R1c33f5f07e764f0e" /><Relationship Type="http://schemas.openxmlformats.org/officeDocument/2006/relationships/tableStyles" Target="/ppt/tableStyles.xml" Id="R4e3f5d2700ef4a15" /><Relationship Type="http://schemas.openxmlformats.org/officeDocument/2006/relationships/slide" Target="/ppt/slides/slide1.xml" Id="R63f484a908f246f3" /><Relationship Type="http://schemas.openxmlformats.org/officeDocument/2006/relationships/slide" Target="/ppt/slides/slide2.xml" Id="R62b988fb9c604524" /><Relationship Type="http://schemas.openxmlformats.org/officeDocument/2006/relationships/slide" Target="/ppt/slides/slide3.xml" Id="R668cbbf720e14f65" /><Relationship Type="http://schemas.openxmlformats.org/officeDocument/2006/relationships/slide" Target="/ppt/slides/slide4.xml" Id="R2cc5a8cc70a449ee" /><Relationship Type="http://schemas.openxmlformats.org/officeDocument/2006/relationships/slide" Target="/ppt/slides/slide5.xml" Id="R6ad8e6331c9a481a" /><Relationship Type="http://schemas.openxmlformats.org/officeDocument/2006/relationships/slide" Target="/ppt/slides/slide6.xml" Id="R83a39e058b384b67" /><Relationship Type="http://schemas.openxmlformats.org/officeDocument/2006/relationships/slide" Target="/ppt/slides/slide7.xml" Id="Rea6c49a487f84ac2" /><Relationship Type="http://schemas.openxmlformats.org/officeDocument/2006/relationships/slide" Target="/ppt/slides/slide8.xml" Id="R975978dc181e4f56" /><Relationship Type="http://schemas.openxmlformats.org/officeDocument/2006/relationships/slide" Target="/ppt/slides/slide9.xml" Id="Re3a59c9beb534bff" /><Relationship Type="http://schemas.openxmlformats.org/officeDocument/2006/relationships/slide" Target="/ppt/slides/slide10.xml" Id="Rec7321561710445e" /><Relationship Type="http://schemas.openxmlformats.org/officeDocument/2006/relationships/slide" Target="/ppt/slides/slide11.xml" Id="R13fb30feda9f413e" /><Relationship Type="http://schemas.openxmlformats.org/officeDocument/2006/relationships/slide" Target="/ppt/slides/slide12.xml" Id="Rc36270f474a14ecb" /><Relationship Type="http://schemas.openxmlformats.org/officeDocument/2006/relationships/slide" Target="/ppt/slides/slide13.xml" Id="R65e051dc5e1742bd" /><Relationship Type="http://schemas.openxmlformats.org/officeDocument/2006/relationships/slide" Target="/ppt/slides/slide14.xml" Id="R8ce4696ff8464bb2" /><Relationship Type="http://schemas.openxmlformats.org/officeDocument/2006/relationships/slide" Target="/ppt/slides/slide15.xml" Id="R36b4539da8e04618" /><Relationship Type="http://schemas.openxmlformats.org/officeDocument/2006/relationships/slide" Target="/ppt/slides/slide16.xml" Id="Rac6d904def314a58" /><Relationship Type="http://schemas.openxmlformats.org/officeDocument/2006/relationships/slide" Target="/ppt/slides/slide17.xml" Id="R3ccc114cdaee47ae" /><Relationship Type="http://schemas.openxmlformats.org/officeDocument/2006/relationships/slide" Target="/ppt/slides/slide18.xml" Id="R155e4e9815974489" /><Relationship Type="http://schemas.openxmlformats.org/officeDocument/2006/relationships/slide" Target="/ppt/slides/slide19.xml" Id="R4398cfc3ba964668" /><Relationship Type="http://schemas.openxmlformats.org/officeDocument/2006/relationships/slide" Target="/ppt/slides/slide20.xml" Id="R490f426ca9d14f7a" /><Relationship Type="http://schemas.openxmlformats.org/officeDocument/2006/relationships/slide" Target="/ppt/slides/slide21.xml" Id="R3b87abe63d0d4ae4" /><Relationship Type="http://schemas.openxmlformats.org/officeDocument/2006/relationships/slide" Target="/ppt/slides/slide22.xml" Id="R46229037c0ca4a48" /><Relationship Type="http://schemas.openxmlformats.org/officeDocument/2006/relationships/slide" Target="/ppt/slides/slide23.xml" Id="R56ba666287934432" /><Relationship Type="http://schemas.openxmlformats.org/officeDocument/2006/relationships/slide" Target="/ppt/slides/slide24.xml" Id="Rfc64bccd70474a25" /><Relationship Type="http://schemas.openxmlformats.org/officeDocument/2006/relationships/slide" Target="/ppt/slides/slide25.xml" Id="Rd57976f2db564cc5" /><Relationship Type="http://schemas.openxmlformats.org/officeDocument/2006/relationships/slide" Target="/ppt/slides/slide26.xml" Id="R2409d14c2149473c" /><Relationship Type="http://schemas.openxmlformats.org/officeDocument/2006/relationships/slide" Target="/ppt/slides/slide27.xml" Id="R83ba6a02738345d5" /><Relationship Type="http://schemas.openxmlformats.org/officeDocument/2006/relationships/slide" Target="/ppt/slides/slide28.xml" Id="R1217f8fef89d4bba" /><Relationship Type="http://schemas.openxmlformats.org/officeDocument/2006/relationships/slide" Target="/ppt/slides/slide29.xml" Id="Rac5201e399734380" /><Relationship Type="http://schemas.openxmlformats.org/officeDocument/2006/relationships/slide" Target="/ppt/slides/slide30.xml" Id="Rbcc4ffb69d0e48a3" /><Relationship Type="http://schemas.openxmlformats.org/officeDocument/2006/relationships/slide" Target="/ppt/slides/slide31.xml" Id="Rf5090d8fcda5459f" /><Relationship Type="http://schemas.openxmlformats.org/officeDocument/2006/relationships/slide" Target="/ppt/slides/slide32.xml" Id="Rcf1a7f34788d4dde" /><Relationship Type="http://schemas.openxmlformats.org/officeDocument/2006/relationships/slide" Target="/ppt/slides/slide33.xml" Id="R91bac30e68264714" /><Relationship Type="http://schemas.openxmlformats.org/officeDocument/2006/relationships/slide" Target="/ppt/slides/slide34.xml" Id="Re83e41624974434c" /><Relationship Type="http://schemas.openxmlformats.org/officeDocument/2006/relationships/slide" Target="/ppt/slides/slide35.xml" Id="Ra4d116beaaba48e9" /><Relationship Type="http://schemas.openxmlformats.org/officeDocument/2006/relationships/slide" Target="/ppt/slides/slide36.xml" Id="Rb3649788897e406b" /><Relationship Type="http://schemas.openxmlformats.org/officeDocument/2006/relationships/slide" Target="/ppt/slides/slide37.xml" Id="R3a1c48b5f1e94a75" /><Relationship Type="http://schemas.openxmlformats.org/officeDocument/2006/relationships/slide" Target="/ppt/slides/slide38.xml" Id="R6e499282958f4f27" /><Relationship Type="http://schemas.openxmlformats.org/officeDocument/2006/relationships/slide" Target="/ppt/slides/slide39.xml" Id="Ra37fe7fb8c2148ec" /><Relationship Type="http://schemas.openxmlformats.org/officeDocument/2006/relationships/slide" Target="/ppt/slides/slide40.xml" Id="R57e72562e91941ea" /><Relationship Type="http://schemas.openxmlformats.org/officeDocument/2006/relationships/slide" Target="/ppt/slides/slide41.xml" Id="R94f464305603473a" /><Relationship Type="http://schemas.openxmlformats.org/officeDocument/2006/relationships/slide" Target="/ppt/slides/slide42.xml" Id="R898a4cc3ff3a4a70" /><Relationship Type="http://schemas.openxmlformats.org/officeDocument/2006/relationships/slide" Target="/ppt/slides/slide43.xml" Id="R061440b8df854097" /><Relationship Type="http://schemas.openxmlformats.org/officeDocument/2006/relationships/slide" Target="/ppt/slides/slide44.xml" Id="R366ea814e00541f2" /><Relationship Type="http://schemas.openxmlformats.org/officeDocument/2006/relationships/slide" Target="/ppt/slides/slide45.xml" Id="Rc33e0dafb792436d" /><Relationship Type="http://schemas.openxmlformats.org/officeDocument/2006/relationships/slide" Target="/ppt/slides/slide46.xml" Id="Rdbe8755b16484e42" /><Relationship Type="http://schemas.openxmlformats.org/officeDocument/2006/relationships/slide" Target="/ppt/slides/slide47.xml" Id="Re6fdbfa5685949f4" /><Relationship Type="http://schemas.openxmlformats.org/officeDocument/2006/relationships/slide" Target="/ppt/slides/slide48.xml" Id="Rdb036869a9084271" /><Relationship Type="http://schemas.openxmlformats.org/officeDocument/2006/relationships/slide" Target="/ppt/slides/slide49.xml" Id="R9f4b960fa59f465e" /><Relationship Type="http://schemas.openxmlformats.org/officeDocument/2006/relationships/slide" Target="/ppt/slides/slide50.xml" Id="R43cf0f0c47434a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99e5519c9f4c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a3370b4b284644" /><Relationship Type="http://schemas.openxmlformats.org/officeDocument/2006/relationships/notesMaster" Target="/ppt/notesMasters/notesMaster1.xml" Id="R73453f925d2d4d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75f0b9cc0e4c63" /><Relationship Type="http://schemas.openxmlformats.org/officeDocument/2006/relationships/notesMaster" Target="/ppt/notesMasters/notesMaster1.xml" Id="R916939b19bee48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a635d967274774" /><Relationship Type="http://schemas.openxmlformats.org/officeDocument/2006/relationships/notesMaster" Target="/ppt/notesMasters/notesMaster1.xml" Id="R4b40f946e65d4d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708b0765e54611" /><Relationship Type="http://schemas.openxmlformats.org/officeDocument/2006/relationships/notesMaster" Target="/ppt/notesMasters/notesMaster1.xml" Id="R6dea47e5241c4d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e6fe8d964947ed" /><Relationship Type="http://schemas.openxmlformats.org/officeDocument/2006/relationships/notesMaster" Target="/ppt/notesMasters/notesMaster1.xml" Id="R6cc3737bd7fa4e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7d98e181584b93" /><Relationship Type="http://schemas.openxmlformats.org/officeDocument/2006/relationships/notesMaster" Target="/ppt/notesMasters/notesMaster1.xml" Id="Rd3a9a2291c544d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38159b17e34225" /><Relationship Type="http://schemas.openxmlformats.org/officeDocument/2006/relationships/notesMaster" Target="/ppt/notesMasters/notesMaster1.xml" Id="R5565f3a45e8343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5be673e45a4f12" /><Relationship Type="http://schemas.openxmlformats.org/officeDocument/2006/relationships/notesMaster" Target="/ppt/notesMasters/notesMaster1.xml" Id="R8adf94b35dd040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47118a3f544dea" /><Relationship Type="http://schemas.openxmlformats.org/officeDocument/2006/relationships/notesMaster" Target="/ppt/notesMasters/notesMaster1.xml" Id="R7f0e6c27a6524f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bbc89278934446" /><Relationship Type="http://schemas.openxmlformats.org/officeDocument/2006/relationships/notesMaster" Target="/ppt/notesMasters/notesMaster1.xml" Id="Rfe49af3a93a843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1f77159a924bc5" /><Relationship Type="http://schemas.openxmlformats.org/officeDocument/2006/relationships/notesMaster" Target="/ppt/notesMasters/notesMaster1.xml" Id="R480de289e49d44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5ba39a585f452e" /><Relationship Type="http://schemas.openxmlformats.org/officeDocument/2006/relationships/notesMaster" Target="/ppt/notesMasters/notesMaster1.xml" Id="R5db6a86f498b45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a6aa9bd673422f" /><Relationship Type="http://schemas.openxmlformats.org/officeDocument/2006/relationships/notesMaster" Target="/ppt/notesMasters/notesMaster1.xml" Id="R22dad28d818042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b0c6175b48403c" /><Relationship Type="http://schemas.openxmlformats.org/officeDocument/2006/relationships/notesMaster" Target="/ppt/notesMasters/notesMaster1.xml" Id="R6e67902a18944a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553ad8a77e4702" /><Relationship Type="http://schemas.openxmlformats.org/officeDocument/2006/relationships/notesMaster" Target="/ppt/notesMasters/notesMaster1.xml" Id="Ra7d2ef13eae348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4f971c74084f65" /><Relationship Type="http://schemas.openxmlformats.org/officeDocument/2006/relationships/notesMaster" Target="/ppt/notesMasters/notesMaster1.xml" Id="Rcac34ed4808849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f575cf923064dae" /><Relationship Type="http://schemas.openxmlformats.org/officeDocument/2006/relationships/notesMaster" Target="/ppt/notesMasters/notesMaster1.xml" Id="R4d7a8a594c82470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135a9e524954dc4" /><Relationship Type="http://schemas.openxmlformats.org/officeDocument/2006/relationships/notesMaster" Target="/ppt/notesMasters/notesMaster1.xml" Id="R95f931c4b6b64a7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409e3d0e3114ab5" /><Relationship Type="http://schemas.openxmlformats.org/officeDocument/2006/relationships/notesMaster" Target="/ppt/notesMasters/notesMaster1.xml" Id="R38a0331b6039446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cb26e0ff8984e5d" /><Relationship Type="http://schemas.openxmlformats.org/officeDocument/2006/relationships/notesMaster" Target="/ppt/notesMasters/notesMaster1.xml" Id="Rb671340a88054ab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b09e9c164f2476c" /><Relationship Type="http://schemas.openxmlformats.org/officeDocument/2006/relationships/notesMaster" Target="/ppt/notesMasters/notesMaster1.xml" Id="R778b951195e44c4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a30bb1e21174008" /><Relationship Type="http://schemas.openxmlformats.org/officeDocument/2006/relationships/notesMaster" Target="/ppt/notesMasters/notesMaster1.xml" Id="R57578699c8fd437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65798fc8afa40f8" /><Relationship Type="http://schemas.openxmlformats.org/officeDocument/2006/relationships/notesMaster" Target="/ppt/notesMasters/notesMaster1.xml" Id="R5268849fd20d448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e83254ecdd9468c" /><Relationship Type="http://schemas.openxmlformats.org/officeDocument/2006/relationships/notesMaster" Target="/ppt/notesMasters/notesMaster1.xml" Id="Ref0af0f03346480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9ddc20524d846ff" /><Relationship Type="http://schemas.openxmlformats.org/officeDocument/2006/relationships/notesMaster" Target="/ppt/notesMasters/notesMaster1.xml" Id="R513837e493fd451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f90552232734a5b" /><Relationship Type="http://schemas.openxmlformats.org/officeDocument/2006/relationships/notesMaster" Target="/ppt/notesMasters/notesMaster1.xml" Id="R079c070f054d493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14bf19db3a84d05" /><Relationship Type="http://schemas.openxmlformats.org/officeDocument/2006/relationships/notesMaster" Target="/ppt/notesMasters/notesMaster1.xml" Id="R4cffee491ea340d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8226525c268469b" /><Relationship Type="http://schemas.openxmlformats.org/officeDocument/2006/relationships/notesMaster" Target="/ppt/notesMasters/notesMaster1.xml" Id="Rfa0e9cfca6bf44b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d57581826674550" /><Relationship Type="http://schemas.openxmlformats.org/officeDocument/2006/relationships/notesMaster" Target="/ppt/notesMasters/notesMaster1.xml" Id="Rca5b7360b5754b3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b7a1667a2a54731" /><Relationship Type="http://schemas.openxmlformats.org/officeDocument/2006/relationships/notesMaster" Target="/ppt/notesMasters/notesMaster1.xml" Id="R331c0dba075d496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959ac40e78d4639" /><Relationship Type="http://schemas.openxmlformats.org/officeDocument/2006/relationships/notesMaster" Target="/ppt/notesMasters/notesMaster1.xml" Id="Rcd91d2d55f194f1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f82ffb0dfe6484c" /><Relationship Type="http://schemas.openxmlformats.org/officeDocument/2006/relationships/notesMaster" Target="/ppt/notesMasters/notesMaster1.xml" Id="Rb5fd4895c39c451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9a8761d2ebe4109" /><Relationship Type="http://schemas.openxmlformats.org/officeDocument/2006/relationships/notesMaster" Target="/ppt/notesMasters/notesMaster1.xml" Id="R8e0541b2d4dc488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2308170a68b4142" /><Relationship Type="http://schemas.openxmlformats.org/officeDocument/2006/relationships/notesMaster" Target="/ppt/notesMasters/notesMaster1.xml" Id="R724dcf713127477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7844472776a46aa" /><Relationship Type="http://schemas.openxmlformats.org/officeDocument/2006/relationships/notesMaster" Target="/ppt/notesMasters/notesMaster1.xml" Id="R3eb670a4620f4e5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8aa114390714f29" /><Relationship Type="http://schemas.openxmlformats.org/officeDocument/2006/relationships/notesMaster" Target="/ppt/notesMasters/notesMaster1.xml" Id="R29d284106763456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8a41eb777644bed" /><Relationship Type="http://schemas.openxmlformats.org/officeDocument/2006/relationships/notesMaster" Target="/ppt/notesMasters/notesMaster1.xml" Id="R5f4661a0364c4ec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30f4174ad1b480f" /><Relationship Type="http://schemas.openxmlformats.org/officeDocument/2006/relationships/notesMaster" Target="/ppt/notesMasters/notesMaster1.xml" Id="Rb9644b8fe0c2439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76a88803d9140b9" /><Relationship Type="http://schemas.openxmlformats.org/officeDocument/2006/relationships/notesMaster" Target="/ppt/notesMasters/notesMaster1.xml" Id="R5ecff8faf5c8423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6caf15798ce4e5f" /><Relationship Type="http://schemas.openxmlformats.org/officeDocument/2006/relationships/notesMaster" Target="/ppt/notesMasters/notesMaster1.xml" Id="R2f4b8a1e3a4245a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39e15c6483446eb" /><Relationship Type="http://schemas.openxmlformats.org/officeDocument/2006/relationships/notesMaster" Target="/ppt/notesMasters/notesMaster1.xml" Id="Rfd0e613b29de4e0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16a55e043a8441c" /><Relationship Type="http://schemas.openxmlformats.org/officeDocument/2006/relationships/notesMaster" Target="/ppt/notesMasters/notesMaster1.xml" Id="R64c49622710947b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f47f69481664b04" /><Relationship Type="http://schemas.openxmlformats.org/officeDocument/2006/relationships/notesMaster" Target="/ppt/notesMasters/notesMaster1.xml" Id="Re1c61503e0e948f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0ada1d2f54f4c19" /><Relationship Type="http://schemas.openxmlformats.org/officeDocument/2006/relationships/notesMaster" Target="/ppt/notesMasters/notesMaster1.xml" Id="Rd58758027ac74a1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bb17e78becf4e06" /><Relationship Type="http://schemas.openxmlformats.org/officeDocument/2006/relationships/notesMaster" Target="/ppt/notesMasters/notesMaster1.xml" Id="R5f42afa93149409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e70505155a44ada" /><Relationship Type="http://schemas.openxmlformats.org/officeDocument/2006/relationships/notesMaster" Target="/ppt/notesMasters/notesMaster1.xml" Id="Rc4e26546ceba46f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e0b73ca7d6647b2" /><Relationship Type="http://schemas.openxmlformats.org/officeDocument/2006/relationships/notesMaster" Target="/ppt/notesMasters/notesMaster1.xml" Id="R6c23b94ba004421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a1a28830aa748e9" /><Relationship Type="http://schemas.openxmlformats.org/officeDocument/2006/relationships/notesMaster" Target="/ppt/notesMasters/notesMaster1.xml" Id="R21ea132a0ffc49d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e48926192ff462e" /><Relationship Type="http://schemas.openxmlformats.org/officeDocument/2006/relationships/notesMaster" Target="/ppt/notesMasters/notesMaster1.xml" Id="Rb4f5fb8c8e854839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b6fc63f73d54006" /><Relationship Type="http://schemas.openxmlformats.org/officeDocument/2006/relationships/notesMaster" Target="/ppt/notesMasters/notesMaster1.xml" Id="Rfd060484252048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session question. Ask students what kind of claim the method is designed to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route as a promise: students should always know whether a slide is defining, motivating, deriving, implementing, or challenging the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cumulative course structure explicit before introducing new notation.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one use case and one misuse before showing the mathematics.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Abraham Wald and connect the biography to the method—not to hero worship.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Asset: slides/course-assets/historical-portraits/wald.png — AI-generated interpretive illustration; not an archival photograph.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1 · What this adds.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Session 02 gave you a number.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today adds.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2 · The sampling distribution.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decomposition that is all of inference.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Asset: 03-inference-diagnostics-interpretation/demo/outputs/residual_fan.png — generated by 03-inference-diagnostics-interpretation/demo/session03_inference_demo.py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Unbiasedness is cheap.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Unbiasedness is cheap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variance, and its four levers.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variance, and its four levers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redundancy costs.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redundancy costs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3 · Gauss–Markov.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Asset: 03-inference-diagnostics-interpretation/demo/outputs/residual_fan.png — generated by 03-inference-diagnostics-interpretation/demo/session03_inference_demo.py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Read the middle word.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4 · When assumption 4 fails.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Look at the residuals first.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Look at the residuals first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sandwich is always correct.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sandwich is always correct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5 · Three standard errors.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Asset: 03-inference-diagnostics-interpretation/demo/outputs/residual_fan.png — generated by 03-inference-diagnostics-interpretation/demo/session03_inference_demo.py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same coefficient, three intervals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Now watch it disappear.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Now watch it disappear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Why it disappeared.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Which one do you report?.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6 · Omitted variable bias.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formula.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Asset: 03-inference-diagnostics-interpretation/demo/outputs/residual_fan.png — generated by 03-inference-diagnostics-interpretation/demo/session03_inference_demo.py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Sign it with two questions.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Sign it with two questions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Then test the prediction.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Then test the prediction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7 · What it identifies.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Mincer example.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Mincer example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Asset: 03-inference-diagnostics-interpretation/demo/outputs/residual_fan.png — generated by 03-inference-diagnostics-interpretation/demo/session03_inference_demo.py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to carry out of this session.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loses marks reliably.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In the practice session.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article and Dataverse package must already be available. ISLR is optional background, never the practice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say the sentence aloud before they see the result they will replicate.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most fragile assumption in the article and make it the first diagnostic in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lecture ends here. Open the separate in-class practice presentation and start the 90-minute clock.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03-inference-diagnostics-interpretation/slides.qmd</a:t>
            </a:r>
          </a:p>
          <a:p xmlns:a="http://schemas.openxmlformats.org/drawingml/2006/main">
            <a:r>
              <a:t>- https://warin.ca/quant/en/session3_cours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dc0c8408d549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aaf9ba915841df" /><Relationship Type="http://schemas.openxmlformats.org/officeDocument/2006/relationships/slideLayout" Target="/ppt/slideLayouts/slideLayout1.xml" Id="R0a4ccadae22445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4ccadae22445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09dfd5c0243e5" /><Relationship Type="http://schemas.openxmlformats.org/officeDocument/2006/relationships/chart" Target="/ppt/slides/charts/chart1.xml" Id="R7586eff4f214461b" /><Relationship Type="http://schemas.openxmlformats.org/officeDocument/2006/relationships/notesSlide" Target="/ppt/notesSlides/notesSlide1.xml" Id="R292ef9201b5f44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9f4c94af34553" /><Relationship Type="http://schemas.openxmlformats.org/officeDocument/2006/relationships/notesSlide" Target="/ppt/notesSlides/notesSlide2.xml" Id="Rce15395350a041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b3a6ea18a441c" /><Relationship Type="http://schemas.openxmlformats.org/officeDocument/2006/relationships/notesSlide" Target="/ppt/notesSlides/notesSlide3.xml" Id="R2b733689aac640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d47138bc3447b" /><Relationship Type="http://schemas.openxmlformats.org/officeDocument/2006/relationships/notesSlide" Target="/ppt/notesSlides/notesSlide4.xml" Id="R8b313e79dc6c4d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0cd69e199489d" /><Relationship Type="http://schemas.openxmlformats.org/officeDocument/2006/relationships/image" Target="/ppt/media/image.png" Id="R815b08da20bb4678" /><Relationship Type="http://schemas.openxmlformats.org/officeDocument/2006/relationships/notesSlide" Target="/ppt/notesSlides/notesSlide5.xml" Id="R020810817d294e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b24026b0240b2" /><Relationship Type="http://schemas.openxmlformats.org/officeDocument/2006/relationships/notesSlide" Target="/ppt/notesSlides/notesSlide6.xml" Id="R20a4638f9b8041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206cfa8f74703" /><Relationship Type="http://schemas.openxmlformats.org/officeDocument/2006/relationships/chart" Target="/ppt/slides/charts/chart2.xml" Id="Rcd22b056bd7b4586" /><Relationship Type="http://schemas.openxmlformats.org/officeDocument/2006/relationships/notesSlide" Target="/ppt/notesSlides/notesSlide7.xml" Id="Rfe5a60b150bd48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cab02f8ce4a77" /><Relationship Type="http://schemas.openxmlformats.org/officeDocument/2006/relationships/notesSlide" Target="/ppt/notesSlides/notesSlide8.xml" Id="R4c23ec65c39744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864250b6b4260" /><Relationship Type="http://schemas.openxmlformats.org/officeDocument/2006/relationships/notesSlide" Target="/ppt/notesSlides/notesSlide9.xml" Id="R367c6e6869744e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c615d1ea64841" /><Relationship Type="http://schemas.openxmlformats.org/officeDocument/2006/relationships/notesSlide" Target="/ppt/notesSlides/notesSlide10.xml" Id="Re6526f3d119c4b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43b34494e430e" /><Relationship Type="http://schemas.openxmlformats.org/officeDocument/2006/relationships/image" Target="/ppt/media/image2.png" Id="R7a46c1f8bd764cd2" /><Relationship Type="http://schemas.openxmlformats.org/officeDocument/2006/relationships/notesSlide" Target="/ppt/notesSlides/notesSlide11.xml" Id="R5266cbe55eb24e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560507f594792" /><Relationship Type="http://schemas.openxmlformats.org/officeDocument/2006/relationships/notesSlide" Target="/ppt/notesSlides/notesSlide12.xml" Id="Rc9682660d0de41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184ef649042e8" /><Relationship Type="http://schemas.openxmlformats.org/officeDocument/2006/relationships/chart" Target="/ppt/slides/charts/chart3.xml" Id="Re8a85540413a4c22" /><Relationship Type="http://schemas.openxmlformats.org/officeDocument/2006/relationships/notesSlide" Target="/ppt/notesSlides/notesSlide13.xml" Id="R2891b98e459f4e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8540d9e9a44dd" /><Relationship Type="http://schemas.openxmlformats.org/officeDocument/2006/relationships/notesSlide" Target="/ppt/notesSlides/notesSlide14.xml" Id="R777d7fb4bb0e42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1a04f21ae4a98" /><Relationship Type="http://schemas.openxmlformats.org/officeDocument/2006/relationships/notesSlide" Target="/ppt/notesSlides/notesSlide15.xml" Id="Rf0e7891789304a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b87c0be3c4c61" /><Relationship Type="http://schemas.openxmlformats.org/officeDocument/2006/relationships/notesSlide" Target="/ppt/notesSlides/notesSlide16.xml" Id="R204746ae985c4a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1a122af98480b" /><Relationship Type="http://schemas.openxmlformats.org/officeDocument/2006/relationships/notesSlide" Target="/ppt/notesSlides/notesSlide17.xml" Id="Rd29ddb91e598420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7a1e17fe445d8" /><Relationship Type="http://schemas.openxmlformats.org/officeDocument/2006/relationships/notesSlide" Target="/ppt/notesSlides/notesSlide18.xml" Id="R85c5652895024e7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f68569faf403a" /><Relationship Type="http://schemas.openxmlformats.org/officeDocument/2006/relationships/image" Target="/ppt/media/image3.png" Id="R56730c8b54614bb5" /><Relationship Type="http://schemas.openxmlformats.org/officeDocument/2006/relationships/notesSlide" Target="/ppt/notesSlides/notesSlide19.xml" Id="R4dd1884bea4d42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44b2d12054f1a" /><Relationship Type="http://schemas.openxmlformats.org/officeDocument/2006/relationships/notesSlide" Target="/ppt/notesSlides/notesSlide20.xml" Id="Ra246687c28b94af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94238648545d1" /><Relationship Type="http://schemas.openxmlformats.org/officeDocument/2006/relationships/chart" Target="/ppt/slides/charts/chart4.xml" Id="R9eb8145182564599" /><Relationship Type="http://schemas.openxmlformats.org/officeDocument/2006/relationships/notesSlide" Target="/ppt/notesSlides/notesSlide21.xml" Id="Rb2aa6bdd9c6445a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1063d2ee54888" /><Relationship Type="http://schemas.openxmlformats.org/officeDocument/2006/relationships/notesSlide" Target="/ppt/notesSlides/notesSlide22.xml" Id="Rd8643cd2ef2d4fa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55d4e98134bf9" /><Relationship Type="http://schemas.openxmlformats.org/officeDocument/2006/relationships/notesSlide" Target="/ppt/notesSlides/notesSlide23.xml" Id="Rc13e2556a3a546f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6ee5293bf4431" /><Relationship Type="http://schemas.openxmlformats.org/officeDocument/2006/relationships/notesSlide" Target="/ppt/notesSlides/notesSlide24.xml" Id="R3a3c248a8bc0484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3de2ff0324b3d" /><Relationship Type="http://schemas.openxmlformats.org/officeDocument/2006/relationships/notesSlide" Target="/ppt/notesSlides/notesSlide25.xml" Id="R4b858858a846426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35cbe20cc4339" /><Relationship Type="http://schemas.openxmlformats.org/officeDocument/2006/relationships/notesSlide" Target="/ppt/notesSlides/notesSlide26.xml" Id="R4518495c047b48b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d2b05cd2c47f9" /><Relationship Type="http://schemas.openxmlformats.org/officeDocument/2006/relationships/image" Target="/ppt/media/image4.png" Id="R4661a3cbc1424f6f" /><Relationship Type="http://schemas.openxmlformats.org/officeDocument/2006/relationships/notesSlide" Target="/ppt/notesSlides/notesSlide27.xml" Id="Ra8096df6ab5946b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662cf9a5f4a1a" /><Relationship Type="http://schemas.openxmlformats.org/officeDocument/2006/relationships/notesSlide" Target="/ppt/notesSlides/notesSlide28.xml" Id="Rfdb5f9f796474c3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5f3fc81614516" /><Relationship Type="http://schemas.openxmlformats.org/officeDocument/2006/relationships/notesSlide" Target="/ppt/notesSlides/notesSlide29.xml" Id="R4242da627f70485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13e887d584157" /><Relationship Type="http://schemas.openxmlformats.org/officeDocument/2006/relationships/chart" Target="/ppt/slides/charts/chart5.xml" Id="Red8cf64e09bc4bd6" /><Relationship Type="http://schemas.openxmlformats.org/officeDocument/2006/relationships/notesSlide" Target="/ppt/notesSlides/notesSlide30.xml" Id="R750e975abf444cc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3a6264d0245d2" /><Relationship Type="http://schemas.openxmlformats.org/officeDocument/2006/relationships/notesSlide" Target="/ppt/notesSlides/notesSlide31.xml" Id="Rb93537ea819347c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51d4e62004a8e" /><Relationship Type="http://schemas.openxmlformats.org/officeDocument/2006/relationships/notesSlide" Target="/ppt/notesSlides/notesSlide32.xml" Id="R357c1bf6b97b48c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1da08e34148cb" /><Relationship Type="http://schemas.openxmlformats.org/officeDocument/2006/relationships/notesSlide" Target="/ppt/notesSlides/notesSlide33.xml" Id="Rc06642c36ad64a1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482f947664f91" /><Relationship Type="http://schemas.openxmlformats.org/officeDocument/2006/relationships/notesSlide" Target="/ppt/notesSlides/notesSlide34.xml" Id="R4f8ba84e8a8c4e6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e127160db46ad" /><Relationship Type="http://schemas.openxmlformats.org/officeDocument/2006/relationships/image" Target="/ppt/media/image5.png" Id="R33928a83a71446ab" /><Relationship Type="http://schemas.openxmlformats.org/officeDocument/2006/relationships/notesSlide" Target="/ppt/notesSlides/notesSlide35.xml" Id="R64dfc6640289477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35a0baac34dc7" /><Relationship Type="http://schemas.openxmlformats.org/officeDocument/2006/relationships/notesSlide" Target="/ppt/notesSlides/notesSlide36.xml" Id="Rfaf93acce67a442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2616355a4402b" /><Relationship Type="http://schemas.openxmlformats.org/officeDocument/2006/relationships/chart" Target="/ppt/slides/charts/chart6.xml" Id="Rc4f21c0aecb54670" /><Relationship Type="http://schemas.openxmlformats.org/officeDocument/2006/relationships/notesSlide" Target="/ppt/notesSlides/notesSlide37.xml" Id="R4ab1944c9494427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53d24479449e8" /><Relationship Type="http://schemas.openxmlformats.org/officeDocument/2006/relationships/notesSlide" Target="/ppt/notesSlides/notesSlide38.xml" Id="R5158360d4c164fc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c541aa9414207" /><Relationship Type="http://schemas.openxmlformats.org/officeDocument/2006/relationships/notesSlide" Target="/ppt/notesSlides/notesSlide39.xml" Id="Rca0a988ba4b4439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222585aed4798" /><Relationship Type="http://schemas.openxmlformats.org/officeDocument/2006/relationships/notesSlide" Target="/ppt/notesSlides/notesSlide40.xml" Id="Rffa8923609924c6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70f75faf542e7" /><Relationship Type="http://schemas.openxmlformats.org/officeDocument/2006/relationships/notesSlide" Target="/ppt/notesSlides/notesSlide41.xml" Id="Rc05fd49cbfd7436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e611c913646fd" /><Relationship Type="http://schemas.openxmlformats.org/officeDocument/2006/relationships/notesSlide" Target="/ppt/notesSlides/notesSlide42.xml" Id="Re0dbe56cb53949a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82e4189c94deb" /><Relationship Type="http://schemas.openxmlformats.org/officeDocument/2006/relationships/image" Target="/ppt/media/image6.png" Id="R9114cac7bf9b4a82" /><Relationship Type="http://schemas.openxmlformats.org/officeDocument/2006/relationships/notesSlide" Target="/ppt/notesSlides/notesSlide43.xml" Id="R92c3e34339c24c3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51d97e2cb45d9" /><Relationship Type="http://schemas.openxmlformats.org/officeDocument/2006/relationships/notesSlide" Target="/ppt/notesSlides/notesSlide44.xml" Id="R0050c6c6914e4f2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8ee7d91b3430b" /><Relationship Type="http://schemas.openxmlformats.org/officeDocument/2006/relationships/notesSlide" Target="/ppt/notesSlides/notesSlide45.xml" Id="Rcfef5058503f483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30da3ecd2410a" /><Relationship Type="http://schemas.openxmlformats.org/officeDocument/2006/relationships/notesSlide" Target="/ppt/notesSlides/notesSlide46.xml" Id="R1ecd1e376741403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f655ac303448d" /><Relationship Type="http://schemas.openxmlformats.org/officeDocument/2006/relationships/notesSlide" Target="/ppt/notesSlides/notesSlide47.xml" Id="R7aed42da82f74b4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5ad6f9ca342b5" /><Relationship Type="http://schemas.openxmlformats.org/officeDocument/2006/relationships/notesSlide" Target="/ppt/notesSlides/notesSlide48.xml" Id="R72be928dd956442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2dc64a03a438c" /><Relationship Type="http://schemas.openxmlformats.org/officeDocument/2006/relationships/notesSlide" Target="/ppt/notesSlides/notesSlide49.xml" Id="R33d829d9ccba4bb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12a06f0ba43b2" /><Relationship Type="http://schemas.openxmlformats.org/officeDocument/2006/relationships/notesSlide" Target="/ppt/notesSlides/notesSlide50.xml" Id="R448f9736fba74bc6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0.1</c:v>
              </c:pt>
              <c:pt idx="1">
                <c:v>0.45</c:v>
              </c:pt>
              <c:pt idx="2">
                <c:v>1</c:v>
              </c:pt>
              <c:pt idx="3">
                <c:v>0.45</c:v>
              </c:pt>
              <c:pt idx="4">
                <c:v>0.1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0.04</c:v>
              </c:pt>
              <c:pt idx="1">
                <c:v>0.28</c:v>
              </c:pt>
              <c:pt idx="2">
                <c:v>1</c:v>
              </c:pt>
              <c:pt idx="3">
                <c:v>0.28</c:v>
              </c:pt>
              <c:pt idx="4">
                <c:v>0.04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0.1</c:v>
              </c:pt>
              <c:pt idx="1">
                <c:v>0.45</c:v>
              </c:pt>
              <c:pt idx="2">
                <c:v>1</c:v>
              </c:pt>
              <c:pt idx="3">
                <c:v>0.45</c:v>
              </c:pt>
              <c:pt idx="4">
                <c:v>0.1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0.04</c:v>
              </c:pt>
              <c:pt idx="1">
                <c:v>0.28</c:v>
              </c:pt>
              <c:pt idx="2">
                <c:v>1</c:v>
              </c:pt>
              <c:pt idx="3">
                <c:v>0.28</c:v>
              </c:pt>
              <c:pt idx="4">
                <c:v>0.04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0.1</c:v>
              </c:pt>
              <c:pt idx="1">
                <c:v>0.45</c:v>
              </c:pt>
              <c:pt idx="2">
                <c:v>1</c:v>
              </c:pt>
              <c:pt idx="3">
                <c:v>0.45</c:v>
              </c:pt>
              <c:pt idx="4">
                <c:v>0.1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0.04</c:v>
              </c:pt>
              <c:pt idx="1">
                <c:v>0.28</c:v>
              </c:pt>
              <c:pt idx="2">
                <c:v>1</c:v>
              </c:pt>
              <c:pt idx="3">
                <c:v>0.28</c:v>
              </c:pt>
              <c:pt idx="4">
                <c:v>0.04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0.1</c:v>
              </c:pt>
              <c:pt idx="1">
                <c:v>0.45</c:v>
              </c:pt>
              <c:pt idx="2">
                <c:v>1</c:v>
              </c:pt>
              <c:pt idx="3">
                <c:v>0.45</c:v>
              </c:pt>
              <c:pt idx="4">
                <c:v>0.1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0.04</c:v>
              </c:pt>
              <c:pt idx="1">
                <c:v>0.28</c:v>
              </c:pt>
              <c:pt idx="2">
                <c:v>1</c:v>
              </c:pt>
              <c:pt idx="3">
                <c:v>0.28</c:v>
              </c:pt>
              <c:pt idx="4">
                <c:v>0.04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0.1</c:v>
              </c:pt>
              <c:pt idx="1">
                <c:v>0.45</c:v>
              </c:pt>
              <c:pt idx="2">
                <c:v>1</c:v>
              </c:pt>
              <c:pt idx="3">
                <c:v>0.45</c:v>
              </c:pt>
              <c:pt idx="4">
                <c:v>0.1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0.04</c:v>
              </c:pt>
              <c:pt idx="1">
                <c:v>0.28</c:v>
              </c:pt>
              <c:pt idx="2">
                <c:v>1</c:v>
              </c:pt>
              <c:pt idx="3">
                <c:v>0.28</c:v>
              </c:pt>
              <c:pt idx="4">
                <c:v>0.04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0.1</c:v>
              </c:pt>
              <c:pt idx="1">
                <c:v>0.45</c:v>
              </c:pt>
              <c:pt idx="2">
                <c:v>1</c:v>
              </c:pt>
              <c:pt idx="3">
                <c:v>0.45</c:v>
              </c:pt>
              <c:pt idx="4">
                <c:v>0.1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0.04</c:v>
              </c:pt>
              <c:pt idx="1">
                <c:v>0.28</c:v>
              </c:pt>
              <c:pt idx="2">
                <c:v>1</c:v>
              </c:pt>
              <c:pt idx="3">
                <c:v>0.28</c:v>
              </c:pt>
              <c:pt idx="4">
                <c:v>0.04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A396B1E-47B1-49EF-8D28-407085C6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03 · LECTURE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5806962-E621-47F9-83D4-142E9CCA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Linear regression: inference, diagnostics, interpretation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230151D9-4C24-4EAA-BC1B-38DDBB6B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coefficient has a standard error. When does it mean anything?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1117BEA8-837D-460B-A55E-3A5C14AB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B88F288C-E149-4380-8A03-BC71B9FA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57975" y="685800"/>
          <a:ext xmlns:a="http://schemas.openxmlformats.org/drawingml/2006/main" cx="4752975" cy="5086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86eff4f214461b"/>
          </a:graphicData>
        </a:graphic>
      </p:graphicFrame>
      <p:sp>
        <p:nvSpPr>
          <p:cNvPr id="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18B7B93-D754-4A62-AB9C-DB7A18D3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41A905E-720A-4E39-BA3E-F05FF92D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35BC986-9357-4CFC-B027-50011576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1/50</a:t>
            </a:r>
          </a:p>
        </p:txBody>
      </p:sp>
    </p:spTree>
    <p:extLst>
      <p:ext uri="{BB962C8B-B14F-4D97-AF65-F5344CB8AC3E}">
        <p14:creationId xmlns:p14="http://schemas.microsoft.com/office/powerpoint/2010/main" val="15357574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92513BD9-8541-4DC7-BA48-0FD6757A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ROUTE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6F8D36-44CB-40EE-AA2B-B9DD8A1C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What, why, how—and what changes today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F31D162-C79B-485E-8D58-050BDE2B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bjective">
            <a:extLst xmlns:a="http://schemas.openxmlformats.org/drawingml/2006/main">
              <a:ext uri="{FF2B5EF4-FFF2-40B4-BE49-F238E27FC236}">
                <a16:creationId xmlns:a16="http://schemas.microsoft.com/office/drawing/2014/main" id="{8FCFD25B-5ED9-4FD0-84FC-B5F21A47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Connect sampling variation, assumptions, standard errors, and the claims a coefficient can support.</a:t>
            </a:r>
          </a:p>
        </p:txBody>
      </p:sp>
      <p:cxnSp>
        <p:nvCxnSpPr>
          <p:cNvPr id="33" name="workflow-edge-0"/>
          <p:cNvCxnSpPr/>
          <p:nvPr/>
        </p:nvCxnSpPr>
        <p:spPr>
          <a:xfrm xmlns:a="http://schemas.openxmlformats.org/drawingml/2006/main">
            <a:off x="401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4" name="workflow-edge-1"/>
          <p:cNvCxnSpPr/>
          <p:nvPr/>
        </p:nvCxnSpPr>
        <p:spPr>
          <a:xfrm xmlns:a="http://schemas.openxmlformats.org/drawingml/2006/main">
            <a:off x="782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4E999562-8141-4984-A281-FCC878F0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F6547196-F646-4DFF-93A5-DC3C6119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Name the object and notation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A0F84D2-0D6C-4000-A129-1F31292A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518F3E03-9535-481A-B5D7-27284F47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See the problem it solves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7844A67E-0129-4E25-9FE5-3D2DBB4F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A37D2E56-92E3-40D6-A0F0-82FAE4F5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Derive, run, interpret, challenge</a:t>
            </a:r>
          </a:p>
        </p:txBody>
      </p:sp>
      <p:sp>
        <p:nvSpPr>
          <p:cNvPr id="13" name="arc-caption">
            <a:extLst xmlns:a="http://schemas.openxmlformats.org/drawingml/2006/main">
              <a:ext uri="{FF2B5EF4-FFF2-40B4-BE49-F238E27FC236}">
                <a16:creationId xmlns:a16="http://schemas.microsoft.com/office/drawing/2014/main" id="{6BAC9BC3-761C-4EE3-962E-928E5EEC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lecture ends by connecting the method to the required article and the 90-minute replication.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1F2015E-05E1-4777-AF54-FB5A4EB0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99C1210-A4F0-4A7C-9669-188FA8BC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0EE1933-7A13-4023-BEDF-1F1CCF03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2/50</a:t>
            </a:r>
          </a:p>
        </p:txBody>
      </p:sp>
    </p:spTree>
    <p:extLst>
      <p:ext uri="{BB962C8B-B14F-4D97-AF65-F5344CB8AC3E}">
        <p14:creationId xmlns:p14="http://schemas.microsoft.com/office/powerpoint/2010/main" val="515270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D718625-5F17-441C-9F97-9C2DCCEB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BRIDGE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735CD2-9E35-4E9E-A460-6A1D7E7E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this adds to the previous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F5A6B16-02D0-4AA6-B623-5FD6C415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F72B8AD-8EFA-4D66-9854-3D1BA0A4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D669CC78-7309-43C5-B28C-32098A31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 02: estimate β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38F15949-5578-47FD-B524-6129CDB6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D1181864-A0CD-4B53-9F43-989361B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Today: quantify uncertainty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0A1B06C8-8731-42C6-884A-3A98C96A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892A5084-71F5-4C39-AC90-DB179F70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Then: diagnose the claim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801FEFB0-79F5-442F-951F-CF83CAE4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New capacity: Connect sampling variation, assumptions, standard errors, and the claims a coefficient can support.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C357510-C5AE-4855-8780-540881AF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BA9A14C-1973-4293-8708-C249E501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BB59281-4801-4D51-A36A-B4251587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3/50</a:t>
            </a:r>
          </a:p>
        </p:txBody>
      </p:sp>
    </p:spTree>
    <p:extLst>
      <p:ext uri="{BB962C8B-B14F-4D97-AF65-F5344CB8AC3E}">
        <p14:creationId xmlns:p14="http://schemas.microsoft.com/office/powerpoint/2010/main" val="5911754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154A433-0202-42EA-B5E7-8904B071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WHY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5FF76A-3BF1-4AC1-B4B0-F6F1786B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this method enters the course now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4A3C74D-5610-4ECF-9AE7-FBB51299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506D12F8-B4CD-4BE3-8C01-111EC72F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coefficient without a defensible uncertainty model can be precise, reproducible, and still misleading.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FA17D744-6B8E-4F1A-BD46-E95807A7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Used in: policy evaluation · firm panels · reported effects.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DB0FABD-AA61-4D64-BE4D-126DC27B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DECISION TEST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24C764DC-C9C5-4586-9269-1EED6349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decision becomes better—or more honest—after learning this method?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444F7D3F-E064-49B0-BC73-F3859721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AE0FD5A-D057-47D9-BBC9-23FFB93D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 ↔ Z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C86EB638-7A2F-4732-B661-F3409A3D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B4FD31F-9562-4F27-A809-5AAD0184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Z → Y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1FF0822D-3080-460E-B141-592E801A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9597937-AAE0-425F-94E7-35AEB566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Bias in β̂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53C6B87-A5F6-4CC7-9998-F1562BE9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C45AF39-9760-4D3D-82D4-05DED560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6138CA1-F941-4EB7-8B78-6F9F2F4A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4/50</a:t>
            </a:r>
          </a:p>
        </p:txBody>
      </p:sp>
    </p:spTree>
    <p:extLst>
      <p:ext uri="{BB962C8B-B14F-4D97-AF65-F5344CB8AC3E}">
        <p14:creationId xmlns:p14="http://schemas.microsoft.com/office/powerpoint/2010/main" val="8092208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5AAFFEB2-890A-40C9-AC69-AA1817D8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HISTORICAL CONNECTION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38AEC0-B723-4907-9EF2-876DBD20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face behind the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C255245-032D-4BBD-A1C7-0827CD87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nterval-bg">
            <a:extLst xmlns:a="http://schemas.openxmlformats.org/drawingml/2006/main">
              <a:ext uri="{FF2B5EF4-FFF2-40B4-BE49-F238E27FC236}">
                <a16:creationId xmlns:a16="http://schemas.microsoft.com/office/drawing/2014/main" id="{AE7E193F-BEA4-4788-A979-9D232F2D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5" name="interval-label-0">
            <a:extLst xmlns:a="http://schemas.openxmlformats.org/drawingml/2006/main">
              <a:ext uri="{FF2B5EF4-FFF2-40B4-BE49-F238E27FC236}">
                <a16:creationId xmlns:a16="http://schemas.microsoft.com/office/drawing/2014/main" id="{9B735DB7-64CB-473B-B8D5-CAF556E8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Classical</a:t>
            </a:r>
          </a:p>
        </p:txBody>
      </p:sp>
      <p:sp>
        <p:nvSpPr>
          <p:cNvPr id="6" name="interval-line-0">
            <a:extLst xmlns:a="http://schemas.openxmlformats.org/drawingml/2006/main">
              <a:ext uri="{FF2B5EF4-FFF2-40B4-BE49-F238E27FC236}">
                <a16:creationId xmlns:a16="http://schemas.microsoft.com/office/drawing/2014/main" id="{79F553CC-0DFB-44E3-BF8E-8F7C0A95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2286000"/>
            <a:ext cx="205930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terval-dot-0">
            <a:extLst xmlns:a="http://schemas.openxmlformats.org/drawingml/2006/main">
              <a:ext uri="{FF2B5EF4-FFF2-40B4-BE49-F238E27FC236}">
                <a16:creationId xmlns:a16="http://schemas.microsoft.com/office/drawing/2014/main" id="{22E25A59-0330-48C8-83F0-07BE2743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3" y="2219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terval-label-1">
            <a:extLst xmlns:a="http://schemas.openxmlformats.org/drawingml/2006/main">
              <a:ext uri="{FF2B5EF4-FFF2-40B4-BE49-F238E27FC236}">
                <a16:creationId xmlns:a16="http://schemas.microsoft.com/office/drawing/2014/main" id="{D7D84733-6FE6-420A-9C80-83E09B81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</a:t>
            </a:r>
          </a:p>
        </p:txBody>
      </p:sp>
      <p:sp>
        <p:nvSpPr>
          <p:cNvPr id="9" name="interval-line-1">
            <a:extLst xmlns:a="http://schemas.openxmlformats.org/drawingml/2006/main">
              <a:ext uri="{FF2B5EF4-FFF2-40B4-BE49-F238E27FC236}">
                <a16:creationId xmlns:a16="http://schemas.microsoft.com/office/drawing/2014/main" id="{94C7F7B0-2E6D-47FB-97A0-AE2EDB43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090" y="3162300"/>
            <a:ext cx="28651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terval-dot-1">
            <a:extLst xmlns:a="http://schemas.openxmlformats.org/drawingml/2006/main">
              <a:ext uri="{FF2B5EF4-FFF2-40B4-BE49-F238E27FC236}">
                <a16:creationId xmlns:a16="http://schemas.microsoft.com/office/drawing/2014/main" id="{2E06070F-89FB-45C0-B574-803B3EF4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985" y="3095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terval-label-2">
            <a:extLst xmlns:a="http://schemas.openxmlformats.org/drawingml/2006/main">
              <a:ext uri="{FF2B5EF4-FFF2-40B4-BE49-F238E27FC236}">
                <a16:creationId xmlns:a16="http://schemas.microsoft.com/office/drawing/2014/main" id="{E6E7AE14-088A-4282-9D9F-7A8AA4EE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Clustered</a:t>
            </a:r>
          </a:p>
        </p:txBody>
      </p:sp>
      <p:sp>
        <p:nvSpPr>
          <p:cNvPr id="12" name="interval-line-2">
            <a:extLst xmlns:a="http://schemas.openxmlformats.org/drawingml/2006/main">
              <a:ext uri="{FF2B5EF4-FFF2-40B4-BE49-F238E27FC236}">
                <a16:creationId xmlns:a16="http://schemas.microsoft.com/office/drawing/2014/main" id="{82BABE75-49FF-46EE-9CE8-8406711C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485" y="4038600"/>
            <a:ext cx="367093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terval-dot-2">
            <a:extLst xmlns:a="http://schemas.openxmlformats.org/drawingml/2006/main">
              <a:ext uri="{FF2B5EF4-FFF2-40B4-BE49-F238E27FC236}">
                <a16:creationId xmlns:a16="http://schemas.microsoft.com/office/drawing/2014/main" id="{4670F995-9531-4EE8-A062-6C7BA45F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288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terval-caption">
            <a:extLst xmlns:a="http://schemas.openxmlformats.org/drawingml/2006/main">
              <a:ext uri="{FF2B5EF4-FFF2-40B4-BE49-F238E27FC236}">
                <a16:creationId xmlns:a16="http://schemas.microsoft.com/office/drawing/2014/main" id="{404D05DE-76B1-4492-87A3-DE5D17B6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48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Same estimate · different uncertainty assumptions</a:t>
            </a:r>
          </a:p>
        </p:txBody>
      </p:sp>
      <p:sp>
        <p:nvSpPr>
          <p:cNvPr id="1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DA999CC8-4BBC-41C2-85FE-899B966C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Abraham Wald</a:t>
            </a:r>
          </a:p>
        </p:txBody>
      </p:sp>
      <p:sp>
        <p:nvSpPr>
          <p:cNvPr id="1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A2A21522-7C0F-44BA-B794-C52754ED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1902–1950</a:t>
            </a:r>
          </a:p>
        </p:txBody>
      </p:sp>
      <p:sp>
        <p:nvSpPr>
          <p:cNvPr id="1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CE23DC49-72FD-4742-B56F-15A55874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4AED30A8-F1D9-4FE6-94FB-38672E2A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WHY THIS PERSON MATTERS</a:t>
            </a:r>
          </a:p>
        </p:txBody>
      </p:sp>
      <p:sp>
        <p:nvSpPr>
          <p:cNvPr id="1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A8E75B73-D9FC-42CA-B93C-17B6F6FC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26C61157-28EB-4AA2-BCE1-371DC702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His decision-theoretic work—and the survivorship-bias aircraft example—show why…</a:t>
            </a:r>
          </a:p>
        </p:txBody>
      </p:sp>
      <p:sp>
        <p:nvSpPr>
          <p:cNvPr id="2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BE34A696-24E6-48B4-A198-F626D59D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F16DA2E-3FD0-44E3-98B4-A137E90F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505FDBE-B7F4-46C4-AD57-32D62014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225F99A-4C80-405C-8626-2005C2CE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5/50</a:t>
            </a:r>
          </a:p>
        </p:txBody>
      </p:sp>
      <p:sp>
        <p:nvSpPr>
          <p:cNvPr id="26" name="media-matte-wald.png">
            <a:extLst xmlns:a="http://schemas.openxmlformats.org/drawingml/2006/main">
              <a:ext uri="{FF2B5EF4-FFF2-40B4-BE49-F238E27FC236}">
                <a16:creationId xmlns:a16="http://schemas.microsoft.com/office/drawing/2014/main" id="{489C61B0-7EBF-4F0C-AA08-91B26A55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b08da20bb4678"/>
          <a:stretch xmlns:a="http://schemas.openxmlformats.org/drawingml/2006/main"/>
        </p:blipFill>
        <p:spPr>
          <a:xfrm xmlns:a="http://schemas.openxmlformats.org/drawingml/2006/main">
            <a:off x="3017520" y="1600200"/>
            <a:ext cx="173736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20770639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7E9B905-73EC-4B58-A765-0733D3A1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852FC0-24C2-4B92-B16F-CE801477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A291ED3-5914-4412-AE09-2F44243D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5B94C63A-7278-46CD-9C9B-4559496C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9E6D0952-58A1-43E5-B36B-32C42576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90188155-5777-430F-A37B-FC0C3BD7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E49B2393-29C3-498F-93CD-7D3C4503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70A89960-AF49-4B3A-9BB5-4F6AE2E0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5914ACC9-156D-4608-AD8E-70348F0D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Confidence interval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DA761413-8EF1-4BFA-AD98-591E3B63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E08650E3-07BD-418D-AE9A-73F822C8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the coefficient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94678659-E347-45E7-B812-33B1053D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F12A6036-A95D-4B59-B636-081394D0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 SE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858CAD81-346E-4C6F-916E-59EBC5D0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20F29CA2-DF7C-4785-8CE7-D372F88D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Inspect residual structure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367D42EA-868D-4073-A13A-D25A588B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12EB3C7-E162-4B43-BAB1-D18C9232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B695A02-5871-4868-85FB-F0EE5530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6CCA787-E3DF-472C-B9EC-12D91B4E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6/50</a:t>
            </a:r>
          </a:p>
        </p:txBody>
      </p:sp>
    </p:spTree>
    <p:extLst>
      <p:ext uri="{BB962C8B-B14F-4D97-AF65-F5344CB8AC3E}">
        <p14:creationId xmlns:p14="http://schemas.microsoft.com/office/powerpoint/2010/main" val="9142716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284DBDF-53CE-4E71-A7D9-6A365931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B29C11-23CC-4C2C-9FBE-0CD424A5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 02 gave you a number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C05D39C-9FA9-4D02-8E43-822D57E4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9B26D89-35FA-472C-A2A0-05D2F240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Var(β̂|X) = σ²(XᵀX)⁻¹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75CDD464-590E-4118-BF0A-36100E97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You can now fit a line and say exactly what it optimises. What you cannot yet say is whether that number would survive a different sample — and therefore whether it means anything at all.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40846571-E7E6-4537-88D7-9ECB0596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90FC79B-D8FB-4D72-B683-049D418D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You can now fit a line and say exactly what it optimises.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22b056bd7b4586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0ABA624-D485-46C4-AE70-F532A55E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FB38050-94AC-4146-8217-1A818B54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466022A-CAFA-4B42-AD10-AFE5E1A8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7/50</a:t>
            </a:r>
          </a:p>
        </p:txBody>
      </p:sp>
    </p:spTree>
    <p:extLst>
      <p:ext uri="{BB962C8B-B14F-4D97-AF65-F5344CB8AC3E}">
        <p14:creationId xmlns:p14="http://schemas.microsoft.com/office/powerpoint/2010/main" val="10082703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D718625-5F17-441C-9F97-9C2DCCEB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735CD2-9E35-4E9E-A460-6A1D7E7E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today adds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F5A6B16-02D0-4AA6-B623-5FD6C415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F72B8AD-8EFA-4D66-9854-3D1BA0A4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D669CC78-7309-43C5-B28C-32098A31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 02 was deterministic linear algebra.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38F15949-5578-47FD-B524-6129CDB6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D1181864-A0CD-4B53-9F43-989361B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 03 is where randomness enters — and almost everything that goes wrong in applied work goes…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0A1B06C8-8731-42C6-884A-3A98C96A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892A5084-71F5-4C39-AC90-DB179F70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the coefficient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801FEFB0-79F5-442F-951F-CF83CAE4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Inspect residual structure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C357510-C5AE-4855-8780-540881AF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BA9A14C-1973-4293-8708-C249E501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BB59281-4801-4D51-A36A-B4251587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8/50</a:t>
            </a:r>
          </a:p>
        </p:txBody>
      </p:sp>
    </p:spTree>
    <p:extLst>
      <p:ext uri="{BB962C8B-B14F-4D97-AF65-F5344CB8AC3E}">
        <p14:creationId xmlns:p14="http://schemas.microsoft.com/office/powerpoint/2010/main" val="5911754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97F9CDA4-B4E3-43E0-B196-E8CBE0A5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7EA0B0-D740-4468-9BA5-3AF91C52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The sampling distribution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E2EA0B5-0AB7-4FF3-8331-A0910F25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8E3FF735-A9EA-44E1-8570-9BF76C07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β̂ − β = (XᵀX)⁻¹Xᵀε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282CF204-6E8C-4060-AC74-6ED5DB85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The sampling distribution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C1551256-9395-4F93-89FB-79DACD77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F6185E10-3F24-4FE8-B7CB-9F8D9CA7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The sampling distribution</a:t>
            </a:r>
          </a:p>
        </p:txBody>
      </p:sp>
      <p:sp>
        <p:nvSpPr>
          <p:cNvPr id="8" name="interval-bg">
            <a:extLst xmlns:a="http://schemas.openxmlformats.org/drawingml/2006/main">
              <a:ext uri="{FF2B5EF4-FFF2-40B4-BE49-F238E27FC236}">
                <a16:creationId xmlns:a16="http://schemas.microsoft.com/office/drawing/2014/main" id="{D05378F5-340E-4ADF-8744-2E80623D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5810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interval-label-0">
            <a:extLst xmlns:a="http://schemas.openxmlformats.org/drawingml/2006/main">
              <a:ext uri="{FF2B5EF4-FFF2-40B4-BE49-F238E27FC236}">
                <a16:creationId xmlns:a16="http://schemas.microsoft.com/office/drawing/2014/main" id="{F188311D-C08E-49FB-A444-4DDD8F46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Classical</a:t>
            </a:r>
          </a:p>
        </p:txBody>
      </p:sp>
      <p:sp>
        <p:nvSpPr>
          <p:cNvPr id="10" name="interval-line-0">
            <a:extLst xmlns:a="http://schemas.openxmlformats.org/drawingml/2006/main">
              <a:ext uri="{FF2B5EF4-FFF2-40B4-BE49-F238E27FC236}">
                <a16:creationId xmlns:a16="http://schemas.microsoft.com/office/drawing/2014/main" id="{B6456DDD-F48E-45DA-864B-9282AA19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940" y="2343150"/>
            <a:ext cx="15773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terval-dot-0">
            <a:extLst xmlns:a="http://schemas.openxmlformats.org/drawingml/2006/main">
              <a:ext uri="{FF2B5EF4-FFF2-40B4-BE49-F238E27FC236}">
                <a16:creationId xmlns:a16="http://schemas.microsoft.com/office/drawing/2014/main" id="{60F93D15-68B8-4A65-AAFB-593F9075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410" y="2276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nterval-label-1">
            <a:extLst xmlns:a="http://schemas.openxmlformats.org/drawingml/2006/main">
              <a:ext uri="{FF2B5EF4-FFF2-40B4-BE49-F238E27FC236}">
                <a16:creationId xmlns:a16="http://schemas.microsoft.com/office/drawing/2014/main" id="{6A60C56F-410E-4A73-B97B-ED2F1B68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</a:t>
            </a:r>
          </a:p>
        </p:txBody>
      </p:sp>
      <p:sp>
        <p:nvSpPr>
          <p:cNvPr id="13" name="interval-line-1">
            <a:extLst xmlns:a="http://schemas.openxmlformats.org/drawingml/2006/main">
              <a:ext uri="{FF2B5EF4-FFF2-40B4-BE49-F238E27FC236}">
                <a16:creationId xmlns:a16="http://schemas.microsoft.com/office/drawing/2014/main" id="{D245BF0C-44A2-41C0-BA32-F37BB5CA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620" y="3219450"/>
            <a:ext cx="219456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terval-dot-1">
            <a:extLst xmlns:a="http://schemas.openxmlformats.org/drawingml/2006/main">
              <a:ext uri="{FF2B5EF4-FFF2-40B4-BE49-F238E27FC236}">
                <a16:creationId xmlns:a16="http://schemas.microsoft.com/office/drawing/2014/main" id="{98A5237F-DDCE-40E6-99CD-9ACD6C28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terval-label-2">
            <a:extLst xmlns:a="http://schemas.openxmlformats.org/drawingml/2006/main">
              <a:ext uri="{FF2B5EF4-FFF2-40B4-BE49-F238E27FC236}">
                <a16:creationId xmlns:a16="http://schemas.microsoft.com/office/drawing/2014/main" id="{F13E83C8-1C43-418C-A892-1D81ECB3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Clustered</a:t>
            </a:r>
          </a:p>
        </p:txBody>
      </p:sp>
      <p:sp>
        <p:nvSpPr>
          <p:cNvPr id="16" name="interval-line-2">
            <a:extLst xmlns:a="http://schemas.openxmlformats.org/drawingml/2006/main">
              <a:ext uri="{FF2B5EF4-FFF2-40B4-BE49-F238E27FC236}">
                <a16:creationId xmlns:a16="http://schemas.microsoft.com/office/drawing/2014/main" id="{FA0DC923-DFEF-4F59-9C50-5BC5D76A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4095750"/>
            <a:ext cx="28117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nterval-dot-2">
            <a:extLst xmlns:a="http://schemas.openxmlformats.org/drawingml/2006/main">
              <a:ext uri="{FF2B5EF4-FFF2-40B4-BE49-F238E27FC236}">
                <a16:creationId xmlns:a16="http://schemas.microsoft.com/office/drawing/2014/main" id="{C3249FBF-7B84-476C-B778-3E85DF15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29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nterval-caption">
            <a:extLst xmlns:a="http://schemas.openxmlformats.org/drawingml/2006/main">
              <a:ext uri="{FF2B5EF4-FFF2-40B4-BE49-F238E27FC236}">
                <a16:creationId xmlns:a16="http://schemas.microsoft.com/office/drawing/2014/main" id="{99AB3E60-4C7F-432B-8C16-045CE6B0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483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Same estimate · different uncertainty assumptions</a:t>
            </a:r>
          </a:p>
        </p:txBody>
      </p:sp>
      <p:sp>
        <p:nvSpPr>
          <p:cNvPr id="1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C5038BD-8DB8-4BE4-AB41-71D33A8C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10BC07-9D6F-4D19-9D9A-B86C8AFA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E6EC7AE-A7F4-48CF-BE88-07E94D3F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9/50</a:t>
            </a:r>
          </a:p>
        </p:txBody>
      </p:sp>
    </p:spTree>
    <p:extLst>
      <p:ext uri="{BB962C8B-B14F-4D97-AF65-F5344CB8AC3E}">
        <p14:creationId xmlns:p14="http://schemas.microsoft.com/office/powerpoint/2010/main" val="16575074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154A433-0202-42EA-B5E7-8904B071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5FF76A-3BF1-4AC1-B4B0-F6F1786B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decomposition that is all of inference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4A3C74D-5610-4ECF-9AE7-FBB51299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506D12F8-B4CD-4BE3-8C01-111EC72F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β̂ = β + (X^ᵀ X)^-1X^ᵀε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FA17D744-6B8E-4F1A-BD46-E95807A7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Substitute y = Xβ + ε into β-hat = (X^ᵀ X)^-1X^ᵀ y: Truth, plus a term that is pure noise. Everything that follows depends only on what you are willing to assume about ε.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DB0FABD-AA61-4D64-BE4D-126DC27B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24C764DC-C9C5-4586-9269-1EED6349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Substitute y = Xβ + ε into β-hat = (X^ᵀ X)^-1X^ᵀ y: Truth, plus a term that is pure noise.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444F7D3F-E064-49B0-BC73-F3859721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AE0FD5A-D057-47D9-BBC9-23FFB93D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 ↔ Z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C86EB638-7A2F-4732-B661-F3409A3D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B4FD31F-9562-4F27-A809-5AAD0184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Z → Y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1FF0822D-3080-460E-B141-592E801A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9597937-AAE0-425F-94E7-35AEB566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Bias in β̂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53C6B87-A5F6-4CC7-9998-F1562BE9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C45AF39-9760-4D3D-82D4-05DED560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6138CA1-F941-4EB7-8B78-6F9F2F4A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10/50</a:t>
            </a:r>
          </a:p>
        </p:txBody>
      </p:sp>
    </p:spTree>
    <p:extLst>
      <p:ext uri="{BB962C8B-B14F-4D97-AF65-F5344CB8AC3E}">
        <p14:creationId xmlns:p14="http://schemas.microsoft.com/office/powerpoint/2010/main" val="8092208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5AAFFEB2-890A-40C9-AC69-AA1817D8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38AEC0-B723-4907-9EF2-876DBD20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decomposition that is all of inference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C255245-032D-4BBD-A1C7-0827CD87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nterval-bg">
            <a:extLst xmlns:a="http://schemas.openxmlformats.org/drawingml/2006/main">
              <a:ext uri="{FF2B5EF4-FFF2-40B4-BE49-F238E27FC236}">
                <a16:creationId xmlns:a16="http://schemas.microsoft.com/office/drawing/2014/main" id="{AE7E193F-BEA4-4788-A979-9D232F2D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5" name="interval-label-0">
            <a:extLst xmlns:a="http://schemas.openxmlformats.org/drawingml/2006/main">
              <a:ext uri="{FF2B5EF4-FFF2-40B4-BE49-F238E27FC236}">
                <a16:creationId xmlns:a16="http://schemas.microsoft.com/office/drawing/2014/main" id="{9B735DB7-64CB-473B-B8D5-CAF556E8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Classical</a:t>
            </a:r>
          </a:p>
        </p:txBody>
      </p:sp>
      <p:sp>
        <p:nvSpPr>
          <p:cNvPr id="6" name="interval-line-0">
            <a:extLst xmlns:a="http://schemas.openxmlformats.org/drawingml/2006/main">
              <a:ext uri="{FF2B5EF4-FFF2-40B4-BE49-F238E27FC236}">
                <a16:creationId xmlns:a16="http://schemas.microsoft.com/office/drawing/2014/main" id="{79F553CC-0DFB-44E3-BF8E-8F7C0A95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2286000"/>
            <a:ext cx="205930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terval-dot-0">
            <a:extLst xmlns:a="http://schemas.openxmlformats.org/drawingml/2006/main">
              <a:ext uri="{FF2B5EF4-FFF2-40B4-BE49-F238E27FC236}">
                <a16:creationId xmlns:a16="http://schemas.microsoft.com/office/drawing/2014/main" id="{22E25A59-0330-48C8-83F0-07BE2743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3" y="2219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terval-label-1">
            <a:extLst xmlns:a="http://schemas.openxmlformats.org/drawingml/2006/main">
              <a:ext uri="{FF2B5EF4-FFF2-40B4-BE49-F238E27FC236}">
                <a16:creationId xmlns:a16="http://schemas.microsoft.com/office/drawing/2014/main" id="{D7D84733-6FE6-420A-9C80-83E09B81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</a:t>
            </a:r>
          </a:p>
        </p:txBody>
      </p:sp>
      <p:sp>
        <p:nvSpPr>
          <p:cNvPr id="9" name="interval-line-1">
            <a:extLst xmlns:a="http://schemas.openxmlformats.org/drawingml/2006/main">
              <a:ext uri="{FF2B5EF4-FFF2-40B4-BE49-F238E27FC236}">
                <a16:creationId xmlns:a16="http://schemas.microsoft.com/office/drawing/2014/main" id="{94C7F7B0-2E6D-47FB-97A0-AE2EDB43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090" y="3162300"/>
            <a:ext cx="28651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terval-dot-1">
            <a:extLst xmlns:a="http://schemas.openxmlformats.org/drawingml/2006/main">
              <a:ext uri="{FF2B5EF4-FFF2-40B4-BE49-F238E27FC236}">
                <a16:creationId xmlns:a16="http://schemas.microsoft.com/office/drawing/2014/main" id="{2E06070F-89FB-45C0-B574-803B3EF4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985" y="3095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terval-label-2">
            <a:extLst xmlns:a="http://schemas.openxmlformats.org/drawingml/2006/main">
              <a:ext uri="{FF2B5EF4-FFF2-40B4-BE49-F238E27FC236}">
                <a16:creationId xmlns:a16="http://schemas.microsoft.com/office/drawing/2014/main" id="{E6E7AE14-088A-4282-9D9F-7A8AA4EE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Clustered</a:t>
            </a:r>
          </a:p>
        </p:txBody>
      </p:sp>
      <p:sp>
        <p:nvSpPr>
          <p:cNvPr id="12" name="interval-line-2">
            <a:extLst xmlns:a="http://schemas.openxmlformats.org/drawingml/2006/main">
              <a:ext uri="{FF2B5EF4-FFF2-40B4-BE49-F238E27FC236}">
                <a16:creationId xmlns:a16="http://schemas.microsoft.com/office/drawing/2014/main" id="{82BABE75-49FF-46EE-9CE8-8406711C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485" y="4038600"/>
            <a:ext cx="367093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terval-dot-2">
            <a:extLst xmlns:a="http://schemas.openxmlformats.org/drawingml/2006/main">
              <a:ext uri="{FF2B5EF4-FFF2-40B4-BE49-F238E27FC236}">
                <a16:creationId xmlns:a16="http://schemas.microsoft.com/office/drawing/2014/main" id="{4670F995-9531-4EE8-A062-6C7BA45F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288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terval-caption">
            <a:extLst xmlns:a="http://schemas.openxmlformats.org/drawingml/2006/main">
              <a:ext uri="{FF2B5EF4-FFF2-40B4-BE49-F238E27FC236}">
                <a16:creationId xmlns:a16="http://schemas.microsoft.com/office/drawing/2014/main" id="{404D05DE-76B1-4492-87A3-DE5D17B6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48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Same estimate · different uncertainty assumptions</a:t>
            </a:r>
          </a:p>
        </p:txBody>
      </p:sp>
      <p:sp>
        <p:nvSpPr>
          <p:cNvPr id="1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DA999CC8-4BBC-41C2-85FE-899B966C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1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A2A21522-7C0F-44BA-B794-C52754ED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Substitute y = Xβ + ε into β-hat = (X^ᵀ X)^-1X^ᵀ y: Truth, plus a term that is pure noise.</a:t>
            </a:r>
          </a:p>
        </p:txBody>
      </p:sp>
      <p:sp>
        <p:nvSpPr>
          <p:cNvPr id="1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CE23DC49-72FD-4742-B56F-15A55874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4AED30A8-F1D9-4FE6-94FB-38672E2A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Everything that follows depends only on what you are willing to assume about ε.</a:t>
            </a:r>
          </a:p>
        </p:txBody>
      </p:sp>
      <p:sp>
        <p:nvSpPr>
          <p:cNvPr id="1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A8E75B73-D9FC-42CA-B93C-17B6F6FC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26C61157-28EB-4AA2-BCE1-371DC702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the coefficient</a:t>
            </a:r>
          </a:p>
        </p:txBody>
      </p:sp>
      <p:sp>
        <p:nvSpPr>
          <p:cNvPr id="2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BE34A696-24E6-48B4-A198-F626D59D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F16DA2E-3FD0-44E3-98B4-A137E90F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505FDBE-B7F4-46C4-AD57-32D62014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225F99A-4C80-405C-8626-2005C2CE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11/50</a:t>
            </a:r>
          </a:p>
        </p:txBody>
      </p:sp>
      <p:sp>
        <p:nvSpPr>
          <p:cNvPr id="26" name="media-matte-residual_fan.png">
            <a:extLst xmlns:a="http://schemas.openxmlformats.org/drawingml/2006/main">
              <a:ext uri="{FF2B5EF4-FFF2-40B4-BE49-F238E27FC236}">
                <a16:creationId xmlns:a16="http://schemas.microsoft.com/office/drawing/2014/main" id="{28822AFD-01F4-4BD5-84BF-0597FDD3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6c1f8bd764cd2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20770639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29D91FB7-4246-4534-B553-E5D66ECF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3B1811-A885-401E-9FA2-A43EE2D6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Unbiasedness is cheap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DBB952C-B4F9-4BA3-9AF0-A1932CF7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A94489C5-0FCF-4D7C-890F-54CC72D0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6E61153B-8543-4377-BF2D-55163145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D50C5849-A1E4-4643-9CC8-3EE9A03A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EDEE7BC4-1ABC-42F1-8329-A45E197C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03-inference-diagnostics-interpretation/demo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session03_inference_demo.py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F46BB1C7-0A1C-45BE-B087-8F7C00E5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FE6B0B78-6DF9-4E57-9BC3-F5F5D252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np, statsmodels.api as sm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 = np.arange(1., 9.)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y = 1 + .7*x + np.array([-.4,.2,.1,-.1,.3,-.2,.4,-.3])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 = sm.OLS(y, sm.add_constant(x)).fit(cov_type='HC3')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print(m.params, m.conf_int())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E1712970-97B0-42AF-BE0F-5EC235FC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914E43C-5635-44BA-B056-6B958D62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D6E121A-01AD-4454-BF75-137E862A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18AE62F-721F-4DA2-8419-09EBAB6D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12/50</a:t>
            </a:r>
          </a:p>
        </p:txBody>
      </p:sp>
    </p:spTree>
    <p:extLst>
      <p:ext uri="{BB962C8B-B14F-4D97-AF65-F5344CB8AC3E}">
        <p14:creationId xmlns:p14="http://schemas.microsoft.com/office/powerpoint/2010/main" val="3561262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284DBDF-53CE-4E71-A7D9-6A365931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FORMULA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B29C11-23CC-4C2C-9FBE-0CD424A5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Unbiasedness is cheap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C05D39C-9FA9-4D02-8E43-822D57E4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9B26D89-35FA-472C-A2A0-05D2F240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E[β̂ mid X] = β + (X^ᵀ X)^-1X^ᵀE[εmid X] = 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75CDD464-590E-4118-BF0A-36100E97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using only strict exogeneity. Note what is not needed: no homoskedasticity, no normality, no independence. Unbiasedness is a weak requirement — which is why it is a weak reassurance.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40846571-E7E6-4537-88D7-9ECB0596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90FC79B-D8FB-4D72-B683-049D418D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using only strict exogeneity.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a85540413a4c22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0ABA624-D485-46C4-AE70-F532A55E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FB38050-94AC-4146-8217-1A818B54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466022A-CAFA-4B42-AD10-AFE5E1A8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13/50</a:t>
            </a:r>
          </a:p>
        </p:txBody>
      </p:sp>
    </p:spTree>
    <p:extLst>
      <p:ext uri="{BB962C8B-B14F-4D97-AF65-F5344CB8AC3E}">
        <p14:creationId xmlns:p14="http://schemas.microsoft.com/office/powerpoint/2010/main" val="10082703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6B52192-7F76-41ED-B0CE-5A7E02D1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63041F-84A4-41E6-A0EC-0266E0C7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variance, and its four levers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4EFAF9F-A373-450B-BBB8-E39C5B09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2CD35414-F565-4AAF-B826-9E859E5F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Under homoskedasticity, for one coefficient: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54F78061-2D59-4F20-B517-261B03DA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41ADD54D-7727-4025-969D-F281E128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σ^2 — noise you cannot reduce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F069218C-651B-4208-BF8D-5A6AEB38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8FC5D719-1FFE-4790-AC81-0C577AD1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5ED97711-4D4C-4C0A-BD76-0DFAF325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 — sample size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B1A1491C-A502-40B9-896A-A80991B8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6DBFEBDB-0D75-41B4-87C5-758DD070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9706FB36-D3D8-459F-B824-343DE3B7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Var(xj) — variation in the regressor: no variation, no estimate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F9D9AD67-CB02-4B1A-8F3E-0E9D9567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DE9438AB-6CEB-4859-A01C-F3962BDD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6EB97C04-7C67-4583-B160-57C324EF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1/(1-Rj^2) — redundancy, the variance inflation factor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0480C7EC-4126-4874-8F5C-AAEB6B29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9281233-BB53-4EC4-A1BE-C51BEEA5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A253AED-7289-402C-81AF-F36E6119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BEA9496-ACE3-4E5C-BBE1-F3A423C9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14/50</a:t>
            </a:r>
          </a:p>
        </p:txBody>
      </p:sp>
    </p:spTree>
    <p:extLst>
      <p:ext uri="{BB962C8B-B14F-4D97-AF65-F5344CB8AC3E}">
        <p14:creationId xmlns:p14="http://schemas.microsoft.com/office/powerpoint/2010/main" val="19062751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97F9CDA4-B4E3-43E0-B196-E8CBE0A5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FORMULA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7EA0B0-D740-4468-9BA5-3AF91C52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variance, and its four levers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E2EA0B5-0AB7-4FF3-8331-A0910F25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8E3FF735-A9EA-44E1-8570-9BF76C07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Var(β̂_j) = (σ²)/(n Var(x_j) (1 - R_j²))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282CF204-6E8C-4060-AC74-6ED5DB85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Under homoskedasticity, for one coefficient: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C1551256-9395-4F93-89FB-79DACD77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F6185E10-3F24-4FE8-B7CB-9F8D9CA7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σ^2 — noise you cannot reduce</a:t>
            </a:r>
          </a:p>
        </p:txBody>
      </p:sp>
      <p:sp>
        <p:nvSpPr>
          <p:cNvPr id="8" name="interval-bg">
            <a:extLst xmlns:a="http://schemas.openxmlformats.org/drawingml/2006/main">
              <a:ext uri="{FF2B5EF4-FFF2-40B4-BE49-F238E27FC236}">
                <a16:creationId xmlns:a16="http://schemas.microsoft.com/office/drawing/2014/main" id="{D05378F5-340E-4ADF-8744-2E80623D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5810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interval-label-0">
            <a:extLst xmlns:a="http://schemas.openxmlformats.org/drawingml/2006/main">
              <a:ext uri="{FF2B5EF4-FFF2-40B4-BE49-F238E27FC236}">
                <a16:creationId xmlns:a16="http://schemas.microsoft.com/office/drawing/2014/main" id="{F188311D-C08E-49FB-A444-4DDD8F46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Classical</a:t>
            </a:r>
          </a:p>
        </p:txBody>
      </p:sp>
      <p:sp>
        <p:nvSpPr>
          <p:cNvPr id="10" name="interval-line-0">
            <a:extLst xmlns:a="http://schemas.openxmlformats.org/drawingml/2006/main">
              <a:ext uri="{FF2B5EF4-FFF2-40B4-BE49-F238E27FC236}">
                <a16:creationId xmlns:a16="http://schemas.microsoft.com/office/drawing/2014/main" id="{B6456DDD-F48E-45DA-864B-9282AA19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940" y="2343150"/>
            <a:ext cx="15773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terval-dot-0">
            <a:extLst xmlns:a="http://schemas.openxmlformats.org/drawingml/2006/main">
              <a:ext uri="{FF2B5EF4-FFF2-40B4-BE49-F238E27FC236}">
                <a16:creationId xmlns:a16="http://schemas.microsoft.com/office/drawing/2014/main" id="{60F93D15-68B8-4A65-AAFB-593F9075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410" y="2276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nterval-label-1">
            <a:extLst xmlns:a="http://schemas.openxmlformats.org/drawingml/2006/main">
              <a:ext uri="{FF2B5EF4-FFF2-40B4-BE49-F238E27FC236}">
                <a16:creationId xmlns:a16="http://schemas.microsoft.com/office/drawing/2014/main" id="{6A60C56F-410E-4A73-B97B-ED2F1B68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</a:t>
            </a:r>
          </a:p>
        </p:txBody>
      </p:sp>
      <p:sp>
        <p:nvSpPr>
          <p:cNvPr id="13" name="interval-line-1">
            <a:extLst xmlns:a="http://schemas.openxmlformats.org/drawingml/2006/main">
              <a:ext uri="{FF2B5EF4-FFF2-40B4-BE49-F238E27FC236}">
                <a16:creationId xmlns:a16="http://schemas.microsoft.com/office/drawing/2014/main" id="{D245BF0C-44A2-41C0-BA32-F37BB5CA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620" y="3219450"/>
            <a:ext cx="219456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terval-dot-1">
            <a:extLst xmlns:a="http://schemas.openxmlformats.org/drawingml/2006/main">
              <a:ext uri="{FF2B5EF4-FFF2-40B4-BE49-F238E27FC236}">
                <a16:creationId xmlns:a16="http://schemas.microsoft.com/office/drawing/2014/main" id="{98A5237F-DDCE-40E6-99CD-9ACD6C28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terval-label-2">
            <a:extLst xmlns:a="http://schemas.openxmlformats.org/drawingml/2006/main">
              <a:ext uri="{FF2B5EF4-FFF2-40B4-BE49-F238E27FC236}">
                <a16:creationId xmlns:a16="http://schemas.microsoft.com/office/drawing/2014/main" id="{F13E83C8-1C43-418C-A892-1D81ECB3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Clustered</a:t>
            </a:r>
          </a:p>
        </p:txBody>
      </p:sp>
      <p:sp>
        <p:nvSpPr>
          <p:cNvPr id="16" name="interval-line-2">
            <a:extLst xmlns:a="http://schemas.openxmlformats.org/drawingml/2006/main">
              <a:ext uri="{FF2B5EF4-FFF2-40B4-BE49-F238E27FC236}">
                <a16:creationId xmlns:a16="http://schemas.microsoft.com/office/drawing/2014/main" id="{FA0DC923-DFEF-4F59-9C50-5BC5D76A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4095750"/>
            <a:ext cx="28117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nterval-dot-2">
            <a:extLst xmlns:a="http://schemas.openxmlformats.org/drawingml/2006/main">
              <a:ext uri="{FF2B5EF4-FFF2-40B4-BE49-F238E27FC236}">
                <a16:creationId xmlns:a16="http://schemas.microsoft.com/office/drawing/2014/main" id="{C3249FBF-7B84-476C-B778-3E85DF15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29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nterval-caption">
            <a:extLst xmlns:a="http://schemas.openxmlformats.org/drawingml/2006/main">
              <a:ext uri="{FF2B5EF4-FFF2-40B4-BE49-F238E27FC236}">
                <a16:creationId xmlns:a16="http://schemas.microsoft.com/office/drawing/2014/main" id="{99AB3E60-4C7F-432B-8C16-045CE6B0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483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Same estimate · different uncertainty assumptions</a:t>
            </a:r>
          </a:p>
        </p:txBody>
      </p:sp>
      <p:sp>
        <p:nvSpPr>
          <p:cNvPr id="1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C5038BD-8DB8-4BE4-AB41-71D33A8C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10BC07-9D6F-4D19-9D9A-B86C8AFA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E6EC7AE-A7F4-48CF-BE88-07E94D3F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15/50</a:t>
            </a:r>
          </a:p>
        </p:txBody>
      </p:sp>
    </p:spTree>
    <p:extLst>
      <p:ext uri="{BB962C8B-B14F-4D97-AF65-F5344CB8AC3E}">
        <p14:creationId xmlns:p14="http://schemas.microsoft.com/office/powerpoint/2010/main" val="16575074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7E9B905-73EC-4B58-A765-0733D3A1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852FC0-24C2-4B92-B16F-CE801477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redundancy costs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A291ED3-5914-4412-AE09-2F44243D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5B94C63A-7278-46CD-9C9B-4559496C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9E6D0952-58A1-43E5-B36B-32C42576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redundancy costs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90188155-5777-430F-A37B-FC0C3BD7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E49B2393-29C3-498F-93CD-7D3C4503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r2 = np.linspace(0, 0.985, 300) fig, ax = plt.subplots(figsize=(6.6, 2.8)) ax.plot(r2, 1 / (1 -…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70A89960-AF49-4B3A-9BB5-4F6AE2E0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5914ACC9-156D-4608-AD8E-70348F0D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 SE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DA761413-8EF1-4BFA-AD98-591E3B63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E08650E3-07BD-418D-AE9A-73F822C8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r2 = np.linspace(0, 0.985, 300) fig, ax = plt.subplots(figsize=(6.6, 2.8)) ax.plot(r2, 1 / (1 - r2),…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94678659-E347-45E7-B812-33B1053D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F12A6036-A95D-4B59-B636-081394D0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Standard error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858CAD81-346E-4C6F-916E-59EBC5D0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20F29CA2-DF7C-4785-8CE7-D372F88D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the coefficient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367D42EA-868D-4073-A13A-D25A588B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12EB3C7-E162-4B43-BAB1-D18C9232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B695A02-5871-4868-85FB-F0EE5530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6CCA787-E3DF-472C-B9EC-12D91B4E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16/50</a:t>
            </a:r>
          </a:p>
        </p:txBody>
      </p:sp>
    </p:spTree>
    <p:extLst>
      <p:ext uri="{BB962C8B-B14F-4D97-AF65-F5344CB8AC3E}">
        <p14:creationId xmlns:p14="http://schemas.microsoft.com/office/powerpoint/2010/main" val="9142716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154A433-0202-42EA-B5E7-8904B071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5FF76A-3BF1-4AC1-B4B0-F6F1786B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redundancy costs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4A3C74D-5610-4ECF-9AE7-FBB51299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506D12F8-B4CD-4BE3-8C01-111EC72F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OVB = δ × γ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FA17D744-6B8E-4F1A-BD46-E95807A7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r2 = np.linspace(0, 0.985, 300) fig, ax = plt.subplots(figsize=(6.6, 2.8)) ax.plot(r2, 1 / (1 - r2), color=CL.accent, lw=2.4)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DB0FABD-AA61-4D64-BE4D-126DC27B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24C764DC-C9C5-4586-9269-1EED6349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r2 = np.linspace(0, 0.985, 300) fig, ax = plt.subplots(figsize=(6.6, 2.8)) ax.plot(r2, 1 / (1 -…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444F7D3F-E064-49B0-BC73-F3859721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AE0FD5A-D057-47D9-BBC9-23FFB93D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 ↔ Z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C86EB638-7A2F-4732-B661-F3409A3D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B4FD31F-9562-4F27-A809-5AAD0184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Z → Y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1FF0822D-3080-460E-B141-592E801A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9597937-AAE0-425F-94E7-35AEB566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Bias in β̂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53C6B87-A5F6-4CC7-9998-F1562BE9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C45AF39-9760-4D3D-82D4-05DED560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6138CA1-F941-4EB7-8B78-6F9F2F4A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17/50</a:t>
            </a:r>
          </a:p>
        </p:txBody>
      </p:sp>
    </p:spTree>
    <p:extLst>
      <p:ext uri="{BB962C8B-B14F-4D97-AF65-F5344CB8AC3E}">
        <p14:creationId xmlns:p14="http://schemas.microsoft.com/office/powerpoint/2010/main" val="8092208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D718625-5F17-441C-9F97-9C2DCCEB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735CD2-9E35-4E9E-A460-6A1D7E7E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Gauss–Markov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F5A6B16-02D0-4AA6-B623-5FD6C415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F72B8AD-8EFA-4D66-9854-3D1BA0A4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D669CC78-7309-43C5-B28C-32098A31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Gauss–Markov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38F15949-5578-47FD-B524-6129CDB6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D1181864-A0CD-4B53-9F43-989361B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the coefficient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0A1B06C8-8731-42C6-884A-3A98C96A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892A5084-71F5-4C39-AC90-DB179F70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Inspect residual structure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801FEFB0-79F5-442F-951F-CF83CAE4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Choose uncertainty that matches dependence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C357510-C5AE-4855-8780-540881AF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BA9A14C-1973-4293-8708-C249E501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BB59281-4801-4D51-A36A-B4251587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18/50</a:t>
            </a:r>
          </a:p>
        </p:txBody>
      </p:sp>
    </p:spTree>
    <p:extLst>
      <p:ext uri="{BB962C8B-B14F-4D97-AF65-F5344CB8AC3E}">
        <p14:creationId xmlns:p14="http://schemas.microsoft.com/office/powerpoint/2010/main" val="5911754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5AAFFEB2-890A-40C9-AC69-AA1817D8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38AEC0-B723-4907-9EF2-876DBD20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theorem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C255245-032D-4BBD-A1C7-0827CD87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nterval-bg">
            <a:extLst xmlns:a="http://schemas.openxmlformats.org/drawingml/2006/main">
              <a:ext uri="{FF2B5EF4-FFF2-40B4-BE49-F238E27FC236}">
                <a16:creationId xmlns:a16="http://schemas.microsoft.com/office/drawing/2014/main" id="{AE7E193F-BEA4-4788-A979-9D232F2D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5" name="interval-label-0">
            <a:extLst xmlns:a="http://schemas.openxmlformats.org/drawingml/2006/main">
              <a:ext uri="{FF2B5EF4-FFF2-40B4-BE49-F238E27FC236}">
                <a16:creationId xmlns:a16="http://schemas.microsoft.com/office/drawing/2014/main" id="{9B735DB7-64CB-473B-B8D5-CAF556E8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Classical</a:t>
            </a:r>
          </a:p>
        </p:txBody>
      </p:sp>
      <p:sp>
        <p:nvSpPr>
          <p:cNvPr id="6" name="interval-line-0">
            <a:extLst xmlns:a="http://schemas.openxmlformats.org/drawingml/2006/main">
              <a:ext uri="{FF2B5EF4-FFF2-40B4-BE49-F238E27FC236}">
                <a16:creationId xmlns:a16="http://schemas.microsoft.com/office/drawing/2014/main" id="{79F553CC-0DFB-44E3-BF8E-8F7C0A95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2286000"/>
            <a:ext cx="205930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terval-dot-0">
            <a:extLst xmlns:a="http://schemas.openxmlformats.org/drawingml/2006/main">
              <a:ext uri="{FF2B5EF4-FFF2-40B4-BE49-F238E27FC236}">
                <a16:creationId xmlns:a16="http://schemas.microsoft.com/office/drawing/2014/main" id="{22E25A59-0330-48C8-83F0-07BE2743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3" y="2219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terval-label-1">
            <a:extLst xmlns:a="http://schemas.openxmlformats.org/drawingml/2006/main">
              <a:ext uri="{FF2B5EF4-FFF2-40B4-BE49-F238E27FC236}">
                <a16:creationId xmlns:a16="http://schemas.microsoft.com/office/drawing/2014/main" id="{D7D84733-6FE6-420A-9C80-83E09B81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</a:t>
            </a:r>
          </a:p>
        </p:txBody>
      </p:sp>
      <p:sp>
        <p:nvSpPr>
          <p:cNvPr id="9" name="interval-line-1">
            <a:extLst xmlns:a="http://schemas.openxmlformats.org/drawingml/2006/main">
              <a:ext uri="{FF2B5EF4-FFF2-40B4-BE49-F238E27FC236}">
                <a16:creationId xmlns:a16="http://schemas.microsoft.com/office/drawing/2014/main" id="{94C7F7B0-2E6D-47FB-97A0-AE2EDB43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090" y="3162300"/>
            <a:ext cx="28651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terval-dot-1">
            <a:extLst xmlns:a="http://schemas.openxmlformats.org/drawingml/2006/main">
              <a:ext uri="{FF2B5EF4-FFF2-40B4-BE49-F238E27FC236}">
                <a16:creationId xmlns:a16="http://schemas.microsoft.com/office/drawing/2014/main" id="{2E06070F-89FB-45C0-B574-803B3EF4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985" y="3095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terval-label-2">
            <a:extLst xmlns:a="http://schemas.openxmlformats.org/drawingml/2006/main">
              <a:ext uri="{FF2B5EF4-FFF2-40B4-BE49-F238E27FC236}">
                <a16:creationId xmlns:a16="http://schemas.microsoft.com/office/drawing/2014/main" id="{E6E7AE14-088A-4282-9D9F-7A8AA4EE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Clustered</a:t>
            </a:r>
          </a:p>
        </p:txBody>
      </p:sp>
      <p:sp>
        <p:nvSpPr>
          <p:cNvPr id="12" name="interval-line-2">
            <a:extLst xmlns:a="http://schemas.openxmlformats.org/drawingml/2006/main">
              <a:ext uri="{FF2B5EF4-FFF2-40B4-BE49-F238E27FC236}">
                <a16:creationId xmlns:a16="http://schemas.microsoft.com/office/drawing/2014/main" id="{82BABE75-49FF-46EE-9CE8-8406711C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485" y="4038600"/>
            <a:ext cx="367093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terval-dot-2">
            <a:extLst xmlns:a="http://schemas.openxmlformats.org/drawingml/2006/main">
              <a:ext uri="{FF2B5EF4-FFF2-40B4-BE49-F238E27FC236}">
                <a16:creationId xmlns:a16="http://schemas.microsoft.com/office/drawing/2014/main" id="{4670F995-9531-4EE8-A062-6C7BA45F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288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terval-caption">
            <a:extLst xmlns:a="http://schemas.openxmlformats.org/drawingml/2006/main">
              <a:ext uri="{FF2B5EF4-FFF2-40B4-BE49-F238E27FC236}">
                <a16:creationId xmlns:a16="http://schemas.microsoft.com/office/drawing/2014/main" id="{404D05DE-76B1-4492-87A3-DE5D17B6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48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Same estimate · different uncertainty assumptions</a:t>
            </a:r>
          </a:p>
        </p:txBody>
      </p:sp>
      <p:sp>
        <p:nvSpPr>
          <p:cNvPr id="1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DA999CC8-4BBC-41C2-85FE-899B966C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1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A2A21522-7C0F-44BA-B794-C52754ED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&gt; Under assumptions 1–4, βOLS-hat has the smallest variance among linear unbiased &gt; estimators.</a:t>
            </a:r>
          </a:p>
        </p:txBody>
      </p:sp>
      <p:sp>
        <p:nvSpPr>
          <p:cNvPr id="1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CE23DC49-72FD-4742-B56F-15A55874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4AED30A8-F1D9-4FE6-94FB-38672E2A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then Var(tildeβ) = σ^2[(X^ᵀ X)^-1 + DD^ᵀ] succeq Var(β).-hat</a:t>
            </a:r>
          </a:p>
        </p:txBody>
      </p:sp>
      <p:sp>
        <p:nvSpPr>
          <p:cNvPr id="1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A8E75B73-D9FC-42CA-B93C-17B6F6FC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26C61157-28EB-4AA2-BCE1-371DC702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the coefficient</a:t>
            </a:r>
          </a:p>
        </p:txBody>
      </p:sp>
      <p:sp>
        <p:nvSpPr>
          <p:cNvPr id="2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BE34A696-24E6-48B4-A198-F626D59D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F16DA2E-3FD0-44E3-98B4-A137E90F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505FDBE-B7F4-46C4-AD57-32D62014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225F99A-4C80-405C-8626-2005C2CE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19/50</a:t>
            </a:r>
          </a:p>
        </p:txBody>
      </p:sp>
      <p:sp>
        <p:nvSpPr>
          <p:cNvPr id="26" name="media-matte-residual_fan.png">
            <a:extLst xmlns:a="http://schemas.openxmlformats.org/drawingml/2006/main">
              <a:ext uri="{FF2B5EF4-FFF2-40B4-BE49-F238E27FC236}">
                <a16:creationId xmlns:a16="http://schemas.microsoft.com/office/drawing/2014/main" id="{6F794256-FF5A-45BA-9C5D-5DF16829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30c8b54614bb5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20770639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29D91FB7-4246-4534-B553-E5D66ECF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3B1811-A885-401E-9FA2-A43EE2D6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the middle word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DBB952C-B4F9-4BA3-9AF0-A1932CF7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A94489C5-0FCF-4D7C-890F-54CC72D0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6E61153B-8543-4377-BF2D-55163145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D50C5849-A1E4-4643-9CC8-3EE9A03A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EDEE7BC4-1ABC-42F1-8329-A45E197C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03-inference-diagnostics-interpretation/demo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session03_inference_demo.py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F46BB1C7-0A1C-45BE-B087-8F7C00E5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FE6B0B78-6DF9-4E57-9BC3-F5F5D252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np, statsmodels.api as sm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 = np.arange(1., 9.)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y = 1 + .7*x + np.array([-.4,.2,.1,-.1,.3,-.2,.4,-.3])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 = sm.OLS(y, sm.add_constant(x)).fit(cov_type='HC3')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print(m.params, m.conf_int())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E1712970-97B0-42AF-BE0F-5EC235FC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914E43C-5635-44BA-B056-6B958D62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D6E121A-01AD-4454-BF75-137E862A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18AE62F-721F-4DA2-8419-09EBAB6D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20/50</a:t>
            </a:r>
          </a:p>
        </p:txBody>
      </p:sp>
    </p:spTree>
    <p:extLst>
      <p:ext uri="{BB962C8B-B14F-4D97-AF65-F5344CB8AC3E}">
        <p14:creationId xmlns:p14="http://schemas.microsoft.com/office/powerpoint/2010/main" val="3561262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284DBDF-53CE-4E71-A7D9-6A365931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B29C11-23CC-4C2C-9FBE-0CD424A5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When assumption 4 fails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C05D39C-9FA9-4D02-8E43-822D57E4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9B26D89-35FA-472C-A2A0-05D2F240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β̂ − β = (XᵀX)⁻¹Xᵀε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75CDD464-590E-4118-BF0A-36100E97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When assumption 4 fails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40846571-E7E6-4537-88D7-9ECB0596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90FC79B-D8FB-4D72-B683-049D418D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When assumption 4 fails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b8145182564599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0ABA624-D485-46C4-AE70-F532A55E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FB38050-94AC-4146-8217-1A818B54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466022A-CAFA-4B42-AD10-AFE5E1A8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21/50</a:t>
            </a:r>
          </a:p>
        </p:txBody>
      </p:sp>
    </p:spTree>
    <p:extLst>
      <p:ext uri="{BB962C8B-B14F-4D97-AF65-F5344CB8AC3E}">
        <p14:creationId xmlns:p14="http://schemas.microsoft.com/office/powerpoint/2010/main" val="10082703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97F9CDA4-B4E3-43E0-B196-E8CBE0A5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7EA0B0-D740-4468-9BA5-3AF91C52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Look at the residuals first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E2EA0B5-0AB7-4FF3-8331-A0910F25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8E3FF735-A9EA-44E1-8570-9BF76C07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Var(β̂|X) = σ²(XᵀX)⁻¹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282CF204-6E8C-4060-AC74-6ED5DB85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plt.subplots() ax.scatter(m.fittedvalues, m.resid, s=9, color=CL.accent, alpha=.35, edgecolor="none") ax.axhline(0, color=CL.muted, lw=1.2)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C1551256-9395-4F93-89FB-79DACD77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F6185E10-3F24-4FE8-B7CB-9F8D9CA7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plt.subplots() ax.scatter(m.fittedvalues, m.resid, s=9, color=CL.accent, alpha=.35,…</a:t>
            </a:r>
          </a:p>
        </p:txBody>
      </p:sp>
      <p:sp>
        <p:nvSpPr>
          <p:cNvPr id="8" name="interval-bg">
            <a:extLst xmlns:a="http://schemas.openxmlformats.org/drawingml/2006/main">
              <a:ext uri="{FF2B5EF4-FFF2-40B4-BE49-F238E27FC236}">
                <a16:creationId xmlns:a16="http://schemas.microsoft.com/office/drawing/2014/main" id="{D05378F5-340E-4ADF-8744-2E80623D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5810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interval-label-0">
            <a:extLst xmlns:a="http://schemas.openxmlformats.org/drawingml/2006/main">
              <a:ext uri="{FF2B5EF4-FFF2-40B4-BE49-F238E27FC236}">
                <a16:creationId xmlns:a16="http://schemas.microsoft.com/office/drawing/2014/main" id="{F188311D-C08E-49FB-A444-4DDD8F46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Classical</a:t>
            </a:r>
          </a:p>
        </p:txBody>
      </p:sp>
      <p:sp>
        <p:nvSpPr>
          <p:cNvPr id="10" name="interval-line-0">
            <a:extLst xmlns:a="http://schemas.openxmlformats.org/drawingml/2006/main">
              <a:ext uri="{FF2B5EF4-FFF2-40B4-BE49-F238E27FC236}">
                <a16:creationId xmlns:a16="http://schemas.microsoft.com/office/drawing/2014/main" id="{B6456DDD-F48E-45DA-864B-9282AA19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940" y="2343150"/>
            <a:ext cx="15773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terval-dot-0">
            <a:extLst xmlns:a="http://schemas.openxmlformats.org/drawingml/2006/main">
              <a:ext uri="{FF2B5EF4-FFF2-40B4-BE49-F238E27FC236}">
                <a16:creationId xmlns:a16="http://schemas.microsoft.com/office/drawing/2014/main" id="{60F93D15-68B8-4A65-AAFB-593F9075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410" y="2276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nterval-label-1">
            <a:extLst xmlns:a="http://schemas.openxmlformats.org/drawingml/2006/main">
              <a:ext uri="{FF2B5EF4-FFF2-40B4-BE49-F238E27FC236}">
                <a16:creationId xmlns:a16="http://schemas.microsoft.com/office/drawing/2014/main" id="{6A60C56F-410E-4A73-B97B-ED2F1B68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</a:t>
            </a:r>
          </a:p>
        </p:txBody>
      </p:sp>
      <p:sp>
        <p:nvSpPr>
          <p:cNvPr id="13" name="interval-line-1">
            <a:extLst xmlns:a="http://schemas.openxmlformats.org/drawingml/2006/main">
              <a:ext uri="{FF2B5EF4-FFF2-40B4-BE49-F238E27FC236}">
                <a16:creationId xmlns:a16="http://schemas.microsoft.com/office/drawing/2014/main" id="{D245BF0C-44A2-41C0-BA32-F37BB5CA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620" y="3219450"/>
            <a:ext cx="219456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terval-dot-1">
            <a:extLst xmlns:a="http://schemas.openxmlformats.org/drawingml/2006/main">
              <a:ext uri="{FF2B5EF4-FFF2-40B4-BE49-F238E27FC236}">
                <a16:creationId xmlns:a16="http://schemas.microsoft.com/office/drawing/2014/main" id="{98A5237F-DDCE-40E6-99CD-9ACD6C28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terval-label-2">
            <a:extLst xmlns:a="http://schemas.openxmlformats.org/drawingml/2006/main">
              <a:ext uri="{FF2B5EF4-FFF2-40B4-BE49-F238E27FC236}">
                <a16:creationId xmlns:a16="http://schemas.microsoft.com/office/drawing/2014/main" id="{F13E83C8-1C43-418C-A892-1D81ECB3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Clustered</a:t>
            </a:r>
          </a:p>
        </p:txBody>
      </p:sp>
      <p:sp>
        <p:nvSpPr>
          <p:cNvPr id="16" name="interval-line-2">
            <a:extLst xmlns:a="http://schemas.openxmlformats.org/drawingml/2006/main">
              <a:ext uri="{FF2B5EF4-FFF2-40B4-BE49-F238E27FC236}">
                <a16:creationId xmlns:a16="http://schemas.microsoft.com/office/drawing/2014/main" id="{FA0DC923-DFEF-4F59-9C50-5BC5D76A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4095750"/>
            <a:ext cx="28117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nterval-dot-2">
            <a:extLst xmlns:a="http://schemas.openxmlformats.org/drawingml/2006/main">
              <a:ext uri="{FF2B5EF4-FFF2-40B4-BE49-F238E27FC236}">
                <a16:creationId xmlns:a16="http://schemas.microsoft.com/office/drawing/2014/main" id="{C3249FBF-7B84-476C-B778-3E85DF15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29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nterval-caption">
            <a:extLst xmlns:a="http://schemas.openxmlformats.org/drawingml/2006/main">
              <a:ext uri="{FF2B5EF4-FFF2-40B4-BE49-F238E27FC236}">
                <a16:creationId xmlns:a16="http://schemas.microsoft.com/office/drawing/2014/main" id="{99AB3E60-4C7F-432B-8C16-045CE6B0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483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Same estimate · different uncertainty assumptions</a:t>
            </a:r>
          </a:p>
        </p:txBody>
      </p:sp>
      <p:sp>
        <p:nvSpPr>
          <p:cNvPr id="1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C5038BD-8DB8-4BE4-AB41-71D33A8C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10BC07-9D6F-4D19-9D9A-B86C8AFA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E6EC7AE-A7F4-48CF-BE88-07E94D3F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22/50</a:t>
            </a:r>
          </a:p>
        </p:txBody>
      </p:sp>
    </p:spTree>
    <p:extLst>
      <p:ext uri="{BB962C8B-B14F-4D97-AF65-F5344CB8AC3E}">
        <p14:creationId xmlns:p14="http://schemas.microsoft.com/office/powerpoint/2010/main" val="16575074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154A433-0202-42EA-B5E7-8904B071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5FF76A-3BF1-4AC1-B4B0-F6F1786B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Look at the residuals first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4A3C74D-5610-4ECF-9AE7-FBB51299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506D12F8-B4CD-4BE3-8C01-111EC72F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OVB = δ × γ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FA17D744-6B8E-4F1A-BD46-E95807A7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plt.subplots() ax.scatter(m.fittedvalues, m.resid, s=9, color=CL.accent, alpha=.35, edgecolor="none") ax.axhline(0, color=CL.muted, lw=1.2)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DB0FABD-AA61-4D64-BE4D-126DC27B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24C764DC-C9C5-4586-9269-1EED6349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plt.subplots() ax.scatter(m.fittedvalues, m.resid, s=9, color=CL.accent, alpha=.35,…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444F7D3F-E064-49B0-BC73-F3859721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AE0FD5A-D057-47D9-BBC9-23FFB93D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 ↔ Z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C86EB638-7A2F-4732-B661-F3409A3D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B4FD31F-9562-4F27-A809-5AAD0184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Z → Y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1FF0822D-3080-460E-B141-592E801A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9597937-AAE0-425F-94E7-35AEB566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Bias in β̂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53C6B87-A5F6-4CC7-9998-F1562BE9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C45AF39-9760-4D3D-82D4-05DED560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6138CA1-F941-4EB7-8B78-6F9F2F4A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23/50</a:t>
            </a:r>
          </a:p>
        </p:txBody>
      </p:sp>
    </p:spTree>
    <p:extLst>
      <p:ext uri="{BB962C8B-B14F-4D97-AF65-F5344CB8AC3E}">
        <p14:creationId xmlns:p14="http://schemas.microsoft.com/office/powerpoint/2010/main" val="80922082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ailure-kicker">
            <a:extLst xmlns:a="http://schemas.openxmlformats.org/drawingml/2006/main">
              <a:ext uri="{FF2B5EF4-FFF2-40B4-BE49-F238E27FC236}">
                <a16:creationId xmlns:a16="http://schemas.microsoft.com/office/drawing/2014/main" id="{673A1775-2C45-4BD0-836A-8143E620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LECTURE · FAILURE MODE</a:t>
            </a:r>
          </a:p>
        </p:txBody>
      </p:sp>
      <p:sp>
        <p:nvSpPr>
          <p:cNvPr id="2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F1A85D6C-230E-4C4A-8E29-0B121D97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sandwich is always correct</a:t>
            </a:r>
          </a:p>
        </p:txBody>
      </p:sp>
      <p:sp>
        <p:nvSpPr>
          <p:cNvPr id="3" name="rule-48-350">
            <a:extLst xmlns:a="http://schemas.openxmlformats.org/drawingml/2006/main">
              <a:ext uri="{FF2B5EF4-FFF2-40B4-BE49-F238E27FC236}">
                <a16:creationId xmlns:a16="http://schemas.microsoft.com/office/drawing/2014/main" id="{2C74C030-2128-4D68-92B4-BE8533EE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ilure-left-title">
            <a:extLst xmlns:a="http://schemas.openxmlformats.org/drawingml/2006/main">
              <a:ext uri="{FF2B5EF4-FFF2-40B4-BE49-F238E27FC236}">
                <a16:creationId xmlns:a16="http://schemas.microsoft.com/office/drawing/2014/main" id="{EE910BDF-B59C-4FB2-9A9D-CA1BA2B5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WHAT BREAKS</a:t>
            </a:r>
          </a:p>
        </p:txBody>
      </p:sp>
      <p:sp>
        <p:nvSpPr>
          <p:cNvPr id="5" name="failure-left">
            <a:extLst xmlns:a="http://schemas.openxmlformats.org/drawingml/2006/main">
              <a:ext uri="{FF2B5EF4-FFF2-40B4-BE49-F238E27FC236}">
                <a16:creationId xmlns:a16="http://schemas.microsoft.com/office/drawing/2014/main" id="{54B56A4E-15A3-4ABE-9FD6-D4B2626F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small standard error can make an omitted-variable bias look very precise.</a:t>
            </a:r>
          </a:p>
        </p:txBody>
      </p:sp>
      <p:sp>
        <p:nvSpPr>
          <p:cNvPr id="6" name="failure-right-title">
            <a:extLst xmlns:a="http://schemas.openxmlformats.org/drawingml/2006/main">
              <a:ext uri="{FF2B5EF4-FFF2-40B4-BE49-F238E27FC236}">
                <a16:creationId xmlns:a16="http://schemas.microsoft.com/office/drawing/2014/main" id="{6CB5F0EB-93AA-426F-970F-86836F18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failure-right">
            <a:extLst xmlns:a="http://schemas.openxmlformats.org/drawingml/2006/main">
              <a:ext uri="{FF2B5EF4-FFF2-40B4-BE49-F238E27FC236}">
                <a16:creationId xmlns:a16="http://schemas.microsoft.com/office/drawing/2014/main" id="{445E0A93-C2C5-4239-8A4F-0A5F52D7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 perfect collinearity</a:t>
            </a:r>
          </a:p>
        </p:txBody>
      </p:sp>
      <p:sp>
        <p:nvSpPr>
          <p:cNvPr id="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40725DA-B378-4B70-AC2F-B4B92FB1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16F5E6C-B2CB-47DC-9A5D-E5DE2DAF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A1CEDAF-4D70-4F84-ABF9-E44772B1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24/50</a:t>
            </a:r>
          </a:p>
        </p:txBody>
      </p:sp>
    </p:spTree>
    <p:extLst>
      <p:ext uri="{BB962C8B-B14F-4D97-AF65-F5344CB8AC3E}">
        <p14:creationId xmlns:p14="http://schemas.microsoft.com/office/powerpoint/2010/main" val="47622250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7E9B905-73EC-4B58-A765-0733D3A1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852FC0-24C2-4B92-B16F-CE801477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sandwich is always correct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A291ED3-5914-4412-AE09-2F44243D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5B94C63A-7278-46CD-9C9B-4559496C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9E6D0952-58A1-43E5-B36B-32C42576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sandwich is always…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90188155-5777-430F-A37B-FC0C3BD7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E49B2393-29C3-498F-93CD-7D3C4503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Omega = Var(εmid X) β-hat never changes.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70A89960-AF49-4B3A-9BB5-4F6AE2E0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5914ACC9-156D-4608-AD8E-70348F0D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 SE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DA761413-8EF1-4BFA-AD98-591E3B63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E08650E3-07BD-418D-AE9A-73F822C8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Only your claimed precision does.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94678659-E347-45E7-B812-33B1053D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F12A6036-A95D-4B59-B636-081394D0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Standard error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858CAD81-346E-4C6F-916E-59EBC5D0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20F29CA2-DF7C-4785-8CE7-D372F88D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the coefficient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367D42EA-868D-4073-A13A-D25A588B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12EB3C7-E162-4B43-BAB1-D18C9232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B695A02-5871-4868-85FB-F0EE5530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6CCA787-E3DF-472C-B9EC-12D91B4E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25/50</a:t>
            </a:r>
          </a:p>
        </p:txBody>
      </p:sp>
    </p:spTree>
    <p:extLst>
      <p:ext uri="{BB962C8B-B14F-4D97-AF65-F5344CB8AC3E}">
        <p14:creationId xmlns:p14="http://schemas.microsoft.com/office/powerpoint/2010/main" val="91427168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D718625-5F17-441C-9F97-9C2DCCEB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735CD2-9E35-4E9E-A460-6A1D7E7E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 · Three standard errors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F5A6B16-02D0-4AA6-B623-5FD6C415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F72B8AD-8EFA-4D66-9854-3D1BA0A4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D669CC78-7309-43C5-B28C-32098A31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 · Three standard errors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38F15949-5578-47FD-B524-6129CDB6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D1181864-A0CD-4B53-9F43-989361B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the coefficient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0A1B06C8-8731-42C6-884A-3A98C96A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892A5084-71F5-4C39-AC90-DB179F70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Inspect residual structure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801FEFB0-79F5-442F-951F-CF83CAE4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Choose uncertainty that matches dependence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C357510-C5AE-4855-8780-540881AF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BA9A14C-1973-4293-8708-C249E501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BB59281-4801-4D51-A36A-B4251587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26/50</a:t>
            </a:r>
          </a:p>
        </p:txBody>
      </p:sp>
    </p:spTree>
    <p:extLst>
      <p:ext uri="{BB962C8B-B14F-4D97-AF65-F5344CB8AC3E}">
        <p14:creationId xmlns:p14="http://schemas.microsoft.com/office/powerpoint/2010/main" val="59117549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5AAFFEB2-890A-40C9-AC69-AA1817D8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38AEC0-B723-4907-9EF2-876DBD20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same coefficient, three intervals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C255245-032D-4BBD-A1C7-0827CD87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nterval-bg">
            <a:extLst xmlns:a="http://schemas.openxmlformats.org/drawingml/2006/main">
              <a:ext uri="{FF2B5EF4-FFF2-40B4-BE49-F238E27FC236}">
                <a16:creationId xmlns:a16="http://schemas.microsoft.com/office/drawing/2014/main" id="{AE7E193F-BEA4-4788-A979-9D232F2D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5" name="interval-label-0">
            <a:extLst xmlns:a="http://schemas.openxmlformats.org/drawingml/2006/main">
              <a:ext uri="{FF2B5EF4-FFF2-40B4-BE49-F238E27FC236}">
                <a16:creationId xmlns:a16="http://schemas.microsoft.com/office/drawing/2014/main" id="{9B735DB7-64CB-473B-B8D5-CAF556E8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Classical</a:t>
            </a:r>
          </a:p>
        </p:txBody>
      </p:sp>
      <p:sp>
        <p:nvSpPr>
          <p:cNvPr id="6" name="interval-line-0">
            <a:extLst xmlns:a="http://schemas.openxmlformats.org/drawingml/2006/main">
              <a:ext uri="{FF2B5EF4-FFF2-40B4-BE49-F238E27FC236}">
                <a16:creationId xmlns:a16="http://schemas.microsoft.com/office/drawing/2014/main" id="{79F553CC-0DFB-44E3-BF8E-8F7C0A95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2286000"/>
            <a:ext cx="205930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terval-dot-0">
            <a:extLst xmlns:a="http://schemas.openxmlformats.org/drawingml/2006/main">
              <a:ext uri="{FF2B5EF4-FFF2-40B4-BE49-F238E27FC236}">
                <a16:creationId xmlns:a16="http://schemas.microsoft.com/office/drawing/2014/main" id="{22E25A59-0330-48C8-83F0-07BE2743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3" y="2219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terval-label-1">
            <a:extLst xmlns:a="http://schemas.openxmlformats.org/drawingml/2006/main">
              <a:ext uri="{FF2B5EF4-FFF2-40B4-BE49-F238E27FC236}">
                <a16:creationId xmlns:a16="http://schemas.microsoft.com/office/drawing/2014/main" id="{D7D84733-6FE6-420A-9C80-83E09B81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</a:t>
            </a:r>
          </a:p>
        </p:txBody>
      </p:sp>
      <p:sp>
        <p:nvSpPr>
          <p:cNvPr id="9" name="interval-line-1">
            <a:extLst xmlns:a="http://schemas.openxmlformats.org/drawingml/2006/main">
              <a:ext uri="{FF2B5EF4-FFF2-40B4-BE49-F238E27FC236}">
                <a16:creationId xmlns:a16="http://schemas.microsoft.com/office/drawing/2014/main" id="{94C7F7B0-2E6D-47FB-97A0-AE2EDB43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090" y="3162300"/>
            <a:ext cx="28651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terval-dot-1">
            <a:extLst xmlns:a="http://schemas.openxmlformats.org/drawingml/2006/main">
              <a:ext uri="{FF2B5EF4-FFF2-40B4-BE49-F238E27FC236}">
                <a16:creationId xmlns:a16="http://schemas.microsoft.com/office/drawing/2014/main" id="{2E06070F-89FB-45C0-B574-803B3EF4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985" y="3095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terval-label-2">
            <a:extLst xmlns:a="http://schemas.openxmlformats.org/drawingml/2006/main">
              <a:ext uri="{FF2B5EF4-FFF2-40B4-BE49-F238E27FC236}">
                <a16:creationId xmlns:a16="http://schemas.microsoft.com/office/drawing/2014/main" id="{E6E7AE14-088A-4282-9D9F-7A8AA4EE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Clustered</a:t>
            </a:r>
          </a:p>
        </p:txBody>
      </p:sp>
      <p:sp>
        <p:nvSpPr>
          <p:cNvPr id="12" name="interval-line-2">
            <a:extLst xmlns:a="http://schemas.openxmlformats.org/drawingml/2006/main">
              <a:ext uri="{FF2B5EF4-FFF2-40B4-BE49-F238E27FC236}">
                <a16:creationId xmlns:a16="http://schemas.microsoft.com/office/drawing/2014/main" id="{82BABE75-49FF-46EE-9CE8-8406711C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485" y="4038600"/>
            <a:ext cx="367093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terval-dot-2">
            <a:extLst xmlns:a="http://schemas.openxmlformats.org/drawingml/2006/main">
              <a:ext uri="{FF2B5EF4-FFF2-40B4-BE49-F238E27FC236}">
                <a16:creationId xmlns:a16="http://schemas.microsoft.com/office/drawing/2014/main" id="{4670F995-9531-4EE8-A062-6C7BA45F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288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terval-caption">
            <a:extLst xmlns:a="http://schemas.openxmlformats.org/drawingml/2006/main">
              <a:ext uri="{FF2B5EF4-FFF2-40B4-BE49-F238E27FC236}">
                <a16:creationId xmlns:a16="http://schemas.microsoft.com/office/drawing/2014/main" id="{404D05DE-76B1-4492-87A3-DE5D17B6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48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Same estimate · different uncertainty assumptions</a:t>
            </a:r>
          </a:p>
        </p:txBody>
      </p:sp>
      <p:sp>
        <p:nvSpPr>
          <p:cNvPr id="1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DA999CC8-4BBC-41C2-85FE-899B966C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1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A2A21522-7C0F-44BA-B794-C52754ED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3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labels = ["classical", "HC1", "cluster by country"] ses = [cls, hcs, clu] cols = [CL.muted,…</a:t>
            </a:r>
          </a:p>
        </p:txBody>
      </p:sp>
      <p:sp>
        <p:nvSpPr>
          <p:cNvPr id="1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CE23DC49-72FD-4742-B56F-15A55874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4AED30A8-F1D9-4FE6-94FB-38672E2A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9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labels = ["classical", "HC1", "cluster by country"] ses = [cls, hcs, clu] cols = [CL.muted, CL.accent,…</a:t>
            </a:r>
          </a:p>
        </p:txBody>
      </p:sp>
      <p:sp>
        <p:nvSpPr>
          <p:cNvPr id="1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A8E75B73-D9FC-42CA-B93C-17B6F6FC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26C61157-28EB-4AA2-BCE1-371DC702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the coefficient</a:t>
            </a:r>
          </a:p>
        </p:txBody>
      </p:sp>
      <p:sp>
        <p:nvSpPr>
          <p:cNvPr id="2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BE34A696-24E6-48B4-A198-F626D59D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F16DA2E-3FD0-44E3-98B4-A137E90F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505FDBE-B7F4-46C4-AD57-32D62014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225F99A-4C80-405C-8626-2005C2CE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27/50</a:t>
            </a:r>
          </a:p>
        </p:txBody>
      </p:sp>
      <p:sp>
        <p:nvSpPr>
          <p:cNvPr id="26" name="media-matte-residual_fan.png">
            <a:extLst xmlns:a="http://schemas.openxmlformats.org/drawingml/2006/main">
              <a:ext uri="{FF2B5EF4-FFF2-40B4-BE49-F238E27FC236}">
                <a16:creationId xmlns:a16="http://schemas.microsoft.com/office/drawing/2014/main" id="{21A4102B-2E9A-4CC3-9561-2E0A21D2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1a3cbc1424f6f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20770639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29D91FB7-4246-4534-B553-E5D66ECF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3B1811-A885-401E-9FA2-A43EE2D6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same coefficient, three intervals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DBB952C-B4F9-4BA3-9AF0-A1932CF7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A94489C5-0FCF-4D7C-890F-54CC72D0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6E61153B-8543-4377-BF2D-55163145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D50C5849-A1E4-4643-9CC8-3EE9A03A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EDEE7BC4-1ABC-42F1-8329-A45E197C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03-inference-diagnostics-interpretation/demo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session03_inference_demo.py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F46BB1C7-0A1C-45BE-B087-8F7C00E5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FE6B0B78-6DF9-4E57-9BC3-F5F5D252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labels = ["classical", "HC1", "cluster by country"]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ses    = [cls, hcs, clu]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cols   = [CL.muted, CL.accent, CL.warn]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fig, ax = plt.subplots(figsize=(6.8, 2.5))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i, (lab, s, col) in enumerate(zip(labels, ses, cols)):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ax.errorbar(coef, i, xerr=1.96 * s, fmt="o", color=col, capsize=5, lw=2.4, ms=7)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ax.text(coef + 1.96 * s + .012, i, f"±{1.96*s:.3f}", color=col, va="center", fontsize=9)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ax.axvline(0, color=CL.ink, ls=":", lw=1.2)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ax.set_yticks(range(3)); ax.set_yticklabels(labels)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ax.set_xlabel("coefficient on tertiary_share, with 95% interval")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ax.set_ylim(-.6, 2.6); ax.grid(axis="y", alpha=0)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plt.show()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E1712970-97B0-42AF-BE0F-5EC235FC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914E43C-5635-44BA-B056-6B958D62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D6E121A-01AD-4454-BF75-137E862A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18AE62F-721F-4DA2-8419-09EBAB6D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28/50</a:t>
            </a:r>
          </a:p>
        </p:txBody>
      </p:sp>
    </p:spTree>
    <p:extLst>
      <p:ext uri="{BB962C8B-B14F-4D97-AF65-F5344CB8AC3E}">
        <p14:creationId xmlns:p14="http://schemas.microsoft.com/office/powerpoint/2010/main" val="35612625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6B52192-7F76-41ED-B0CE-5A7E02D1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63041F-84A4-41E6-A0EC-0266E0C7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Now watch it disappear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4EFAF9F-A373-450B-BBB8-E39C5B09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2CD35414-F565-4AAF-B826-9E859E5F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1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Add one country-level control — log GDP per capita: fig, ax = plt.subplots(figsize=(6.8, 2.4)) pairs = [("without GDP control", cls, clu, coef), ("with GDP control",…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54F78061-2D59-4F20-B517-261B03DA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41ADD54D-7727-4025-969D-F281E128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Add one country-level control — log GDP per capita: fig, ax = plt.subplots(figsize=(6.8, 2.4))…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F069218C-651B-4208-BF8D-5A6AEB38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8FC5D719-1FFE-4790-AC81-0C577AD1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5ED97711-4D4C-4C0A-BD76-0DFAF325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Add one country-level control — log GDP per capita: fig, ax = plt.subplots(figsize=(6.8, 2.4)) pairs =…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B1A1491C-A502-40B9-896A-A80991B8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6DBFEBDB-0D75-41B4-87C5-758DD070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9706FB36-D3D8-459F-B824-343DE3B7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the coefficient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F9D9AD67-CB02-4B1A-8F3E-0E9D9567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DE9438AB-6CEB-4859-A01C-F3962BDD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6EB97C04-7C67-4583-B160-57C324EF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Inspect residual structure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0480C7EC-4126-4874-8F5C-AAEB6B29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9281233-BB53-4EC4-A1BE-C51BEEA5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A253AED-7289-402C-81AF-F36E6119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BEA9496-ACE3-4E5C-BBE1-F3A423C9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29/50</a:t>
            </a:r>
          </a:p>
        </p:txBody>
      </p:sp>
    </p:spTree>
    <p:extLst>
      <p:ext uri="{BB962C8B-B14F-4D97-AF65-F5344CB8AC3E}">
        <p14:creationId xmlns:p14="http://schemas.microsoft.com/office/powerpoint/2010/main" val="190627515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284DBDF-53CE-4E71-A7D9-6A365931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B29C11-23CC-4C2C-9FBE-0CD424A5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Now watch it disappear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C05D39C-9FA9-4D02-8E43-822D57E4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9B26D89-35FA-472C-A2A0-05D2F240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β̂ − β = (XᵀX)⁻¹Xᵀε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75CDD464-590E-4118-BF0A-36100E97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Add one country-level control — log GDP per capita: fig, ax = plt.subplots(figsize=(6.8, 2.4)) pairs = [("without GDP control", cls, clu, coef), ("with GDP control", cls2, clu2, coef2)]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40846571-E7E6-4537-88D7-9ECB0596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90FC79B-D8FB-4D72-B683-049D418D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Add one country-level control — log GDP per capita: fig, ax = plt.subplots(figsize=(6.8, 2.4))…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8cf64e09bc4bd6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0ABA624-D485-46C4-AE70-F532A55E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FB38050-94AC-4146-8217-1A818B54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466022A-CAFA-4B42-AD10-AFE5E1A8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30/50</a:t>
            </a:r>
          </a:p>
        </p:txBody>
      </p:sp>
    </p:spTree>
    <p:extLst>
      <p:ext uri="{BB962C8B-B14F-4D97-AF65-F5344CB8AC3E}">
        <p14:creationId xmlns:p14="http://schemas.microsoft.com/office/powerpoint/2010/main" val="100827032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97F9CDA4-B4E3-43E0-B196-E8CBE0A5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7EA0B0-D740-4468-9BA5-3AF91C52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it disappeared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E2EA0B5-0AB7-4FF3-8331-A0910F25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8E3FF735-A9EA-44E1-8570-9BF76C07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Var(β̂|X) = σ²(XᵀX)⁻¹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282CF204-6E8C-4060-AC74-6ED5DB85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3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log(GDP per capita) varies at the country-year level, so including it absorbs the common shock that was making residuals correlate within a country. Do not conclude "clustering never matters, just add controls". A control that absorbs the shock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C1551256-9395-4F93-89FB-79DACD77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F6185E10-3F24-4FE8-B7CB-9F8D9CA7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Clustering matters when a shared, unmodelled shock sits in the residual</a:t>
            </a:r>
          </a:p>
        </p:txBody>
      </p:sp>
      <p:sp>
        <p:nvSpPr>
          <p:cNvPr id="8" name="interval-bg">
            <a:extLst xmlns:a="http://schemas.openxmlformats.org/drawingml/2006/main">
              <a:ext uri="{FF2B5EF4-FFF2-40B4-BE49-F238E27FC236}">
                <a16:creationId xmlns:a16="http://schemas.microsoft.com/office/drawing/2014/main" id="{D05378F5-340E-4ADF-8744-2E80623D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5810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interval-label-0">
            <a:extLst xmlns:a="http://schemas.openxmlformats.org/drawingml/2006/main">
              <a:ext uri="{FF2B5EF4-FFF2-40B4-BE49-F238E27FC236}">
                <a16:creationId xmlns:a16="http://schemas.microsoft.com/office/drawing/2014/main" id="{F188311D-C08E-49FB-A444-4DDD8F46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Classical</a:t>
            </a:r>
          </a:p>
        </p:txBody>
      </p:sp>
      <p:sp>
        <p:nvSpPr>
          <p:cNvPr id="10" name="interval-line-0">
            <a:extLst xmlns:a="http://schemas.openxmlformats.org/drawingml/2006/main">
              <a:ext uri="{FF2B5EF4-FFF2-40B4-BE49-F238E27FC236}">
                <a16:creationId xmlns:a16="http://schemas.microsoft.com/office/drawing/2014/main" id="{B6456DDD-F48E-45DA-864B-9282AA19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940" y="2343150"/>
            <a:ext cx="15773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terval-dot-0">
            <a:extLst xmlns:a="http://schemas.openxmlformats.org/drawingml/2006/main">
              <a:ext uri="{FF2B5EF4-FFF2-40B4-BE49-F238E27FC236}">
                <a16:creationId xmlns:a16="http://schemas.microsoft.com/office/drawing/2014/main" id="{60F93D15-68B8-4A65-AAFB-593F9075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410" y="2276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nterval-label-1">
            <a:extLst xmlns:a="http://schemas.openxmlformats.org/drawingml/2006/main">
              <a:ext uri="{FF2B5EF4-FFF2-40B4-BE49-F238E27FC236}">
                <a16:creationId xmlns:a16="http://schemas.microsoft.com/office/drawing/2014/main" id="{6A60C56F-410E-4A73-B97B-ED2F1B68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</a:t>
            </a:r>
          </a:p>
        </p:txBody>
      </p:sp>
      <p:sp>
        <p:nvSpPr>
          <p:cNvPr id="13" name="interval-line-1">
            <a:extLst xmlns:a="http://schemas.openxmlformats.org/drawingml/2006/main">
              <a:ext uri="{FF2B5EF4-FFF2-40B4-BE49-F238E27FC236}">
                <a16:creationId xmlns:a16="http://schemas.microsoft.com/office/drawing/2014/main" id="{D245BF0C-44A2-41C0-BA32-F37BB5CA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620" y="3219450"/>
            <a:ext cx="219456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terval-dot-1">
            <a:extLst xmlns:a="http://schemas.openxmlformats.org/drawingml/2006/main">
              <a:ext uri="{FF2B5EF4-FFF2-40B4-BE49-F238E27FC236}">
                <a16:creationId xmlns:a16="http://schemas.microsoft.com/office/drawing/2014/main" id="{98A5237F-DDCE-40E6-99CD-9ACD6C28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terval-label-2">
            <a:extLst xmlns:a="http://schemas.openxmlformats.org/drawingml/2006/main">
              <a:ext uri="{FF2B5EF4-FFF2-40B4-BE49-F238E27FC236}">
                <a16:creationId xmlns:a16="http://schemas.microsoft.com/office/drawing/2014/main" id="{F13E83C8-1C43-418C-A892-1D81ECB3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Clustered</a:t>
            </a:r>
          </a:p>
        </p:txBody>
      </p:sp>
      <p:sp>
        <p:nvSpPr>
          <p:cNvPr id="16" name="interval-line-2">
            <a:extLst xmlns:a="http://schemas.openxmlformats.org/drawingml/2006/main">
              <a:ext uri="{FF2B5EF4-FFF2-40B4-BE49-F238E27FC236}">
                <a16:creationId xmlns:a16="http://schemas.microsoft.com/office/drawing/2014/main" id="{FA0DC923-DFEF-4F59-9C50-5BC5D76A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4095750"/>
            <a:ext cx="28117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nterval-dot-2">
            <a:extLst xmlns:a="http://schemas.openxmlformats.org/drawingml/2006/main">
              <a:ext uri="{FF2B5EF4-FFF2-40B4-BE49-F238E27FC236}">
                <a16:creationId xmlns:a16="http://schemas.microsoft.com/office/drawing/2014/main" id="{C3249FBF-7B84-476C-B778-3E85DF15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29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nterval-caption">
            <a:extLst xmlns:a="http://schemas.openxmlformats.org/drawingml/2006/main">
              <a:ext uri="{FF2B5EF4-FFF2-40B4-BE49-F238E27FC236}">
                <a16:creationId xmlns:a16="http://schemas.microsoft.com/office/drawing/2014/main" id="{99AB3E60-4C7F-432B-8C16-045CE6B0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483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Same estimate · different uncertainty assumptions</a:t>
            </a:r>
          </a:p>
        </p:txBody>
      </p:sp>
      <p:sp>
        <p:nvSpPr>
          <p:cNvPr id="1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C5038BD-8DB8-4BE4-AB41-71D33A8C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10BC07-9D6F-4D19-9D9A-B86C8AFA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E6EC7AE-A7F4-48CF-BE88-07E94D3F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31/50</a:t>
            </a:r>
          </a:p>
        </p:txBody>
      </p:sp>
    </p:spTree>
    <p:extLst>
      <p:ext uri="{BB962C8B-B14F-4D97-AF65-F5344CB8AC3E}">
        <p14:creationId xmlns:p14="http://schemas.microsoft.com/office/powerpoint/2010/main" val="165750745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154A433-0202-42EA-B5E7-8904B071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5FF76A-3BF1-4AC1-B4B0-F6F1786B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Which one do you report?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4A3C74D-5610-4ECF-9AE7-FBB51299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506D12F8-B4CD-4BE3-8C01-111EC72F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OVB = δ × γ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FA17D744-6B8E-4F1A-BD46-E95807A7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"Robust standard errors" in a table note, with no cluster level named, tells the reader nothing.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DB0FABD-AA61-4D64-BE4D-126DC27B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24C764DC-C9C5-4586-9269-1EED6349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 at the level at which treatment varies and shocks are shared — here, geo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444F7D3F-E064-49B0-BC73-F3859721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AE0FD5A-D057-47D9-BBC9-23FFB93D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 ↔ Z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C86EB638-7A2F-4732-B661-F3409A3D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B4FD31F-9562-4F27-A809-5AAD0184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Z → Y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1FF0822D-3080-460E-B141-592E801A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9597937-AAE0-425F-94E7-35AEB566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Bias in β̂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53C6B87-A5F6-4CC7-9998-F1562BE9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C45AF39-9760-4D3D-82D4-05DED560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6138CA1-F941-4EB7-8B78-6F9F2F4A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32/50</a:t>
            </a:r>
          </a:p>
        </p:txBody>
      </p:sp>
    </p:spTree>
    <p:extLst>
      <p:ext uri="{BB962C8B-B14F-4D97-AF65-F5344CB8AC3E}">
        <p14:creationId xmlns:p14="http://schemas.microsoft.com/office/powerpoint/2010/main" val="80922082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7E9B905-73EC-4B58-A765-0733D3A1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852FC0-24C2-4B92-B16F-CE801477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Omitted variable bias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A291ED3-5914-4412-AE09-2F44243D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5B94C63A-7278-46CD-9C9B-4559496C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9E6D0952-58A1-43E5-B36B-32C42576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Omitted variable…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90188155-5777-430F-A37B-FC0C3BD7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E49B2393-29C3-498F-93CD-7D3C4503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Omitted variable bias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70A89960-AF49-4B3A-9BB5-4F6AE2E0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5914ACC9-156D-4608-AD8E-70348F0D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Confidence interval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DA761413-8EF1-4BFA-AD98-591E3B63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E08650E3-07BD-418D-AE9A-73F822C8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the coefficient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94678659-E347-45E7-B812-33B1053D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F12A6036-A95D-4B59-B636-081394D0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 SE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858CAD81-346E-4C6F-916E-59EBC5D0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20F29CA2-DF7C-4785-8CE7-D372F88D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Inspect residual structure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367D42EA-868D-4073-A13A-D25A588B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12EB3C7-E162-4B43-BAB1-D18C9232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B695A02-5871-4868-85FB-F0EE5530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6CCA787-E3DF-472C-B9EC-12D91B4E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33/50</a:t>
            </a:r>
          </a:p>
        </p:txBody>
      </p:sp>
    </p:spTree>
    <p:extLst>
      <p:ext uri="{BB962C8B-B14F-4D97-AF65-F5344CB8AC3E}">
        <p14:creationId xmlns:p14="http://schemas.microsoft.com/office/powerpoint/2010/main" val="91427168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D718625-5F17-441C-9F97-9C2DCCEB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735CD2-9E35-4E9E-A460-6A1D7E7E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formula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F5A6B16-02D0-4AA6-B623-5FD6C415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F72B8AD-8EFA-4D66-9854-3D1BA0A4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D669CC78-7309-43C5-B28C-32098A31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True model y = X1β1 + X2β2 + u, estimated on X1 alone.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38F15949-5578-47FD-B524-6129CDB6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D1181864-A0CD-4B53-9F43-989361B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With delta from regressing X2 on X1: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0A1B06C8-8731-42C6-884A-3A98C96A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892A5084-71F5-4C39-AC90-DB179F70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the coefficient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801FEFB0-79F5-442F-951F-CF83CAE4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Inspect residual structure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C357510-C5AE-4855-8780-540881AF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BA9A14C-1973-4293-8708-C249E501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BB59281-4801-4D51-A36A-B4251587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34/50</a:t>
            </a:r>
          </a:p>
        </p:txBody>
      </p:sp>
    </p:spTree>
    <p:extLst>
      <p:ext uri="{BB962C8B-B14F-4D97-AF65-F5344CB8AC3E}">
        <p14:creationId xmlns:p14="http://schemas.microsoft.com/office/powerpoint/2010/main" val="59117549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5AAFFEB2-890A-40C9-AC69-AA1817D8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38AEC0-B723-4907-9EF2-876DBD20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formula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C255245-032D-4BBD-A1C7-0827CD87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nterval-bg">
            <a:extLst xmlns:a="http://schemas.openxmlformats.org/drawingml/2006/main">
              <a:ext uri="{FF2B5EF4-FFF2-40B4-BE49-F238E27FC236}">
                <a16:creationId xmlns:a16="http://schemas.microsoft.com/office/drawing/2014/main" id="{AE7E193F-BEA4-4788-A979-9D232F2D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5" name="interval-label-0">
            <a:extLst xmlns:a="http://schemas.openxmlformats.org/drawingml/2006/main">
              <a:ext uri="{FF2B5EF4-FFF2-40B4-BE49-F238E27FC236}">
                <a16:creationId xmlns:a16="http://schemas.microsoft.com/office/drawing/2014/main" id="{9B735DB7-64CB-473B-B8D5-CAF556E8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Classical</a:t>
            </a:r>
          </a:p>
        </p:txBody>
      </p:sp>
      <p:sp>
        <p:nvSpPr>
          <p:cNvPr id="6" name="interval-line-0">
            <a:extLst xmlns:a="http://schemas.openxmlformats.org/drawingml/2006/main">
              <a:ext uri="{FF2B5EF4-FFF2-40B4-BE49-F238E27FC236}">
                <a16:creationId xmlns:a16="http://schemas.microsoft.com/office/drawing/2014/main" id="{79F553CC-0DFB-44E3-BF8E-8F7C0A95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2286000"/>
            <a:ext cx="205930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terval-dot-0">
            <a:extLst xmlns:a="http://schemas.openxmlformats.org/drawingml/2006/main">
              <a:ext uri="{FF2B5EF4-FFF2-40B4-BE49-F238E27FC236}">
                <a16:creationId xmlns:a16="http://schemas.microsoft.com/office/drawing/2014/main" id="{22E25A59-0330-48C8-83F0-07BE2743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3" y="2219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terval-label-1">
            <a:extLst xmlns:a="http://schemas.openxmlformats.org/drawingml/2006/main">
              <a:ext uri="{FF2B5EF4-FFF2-40B4-BE49-F238E27FC236}">
                <a16:creationId xmlns:a16="http://schemas.microsoft.com/office/drawing/2014/main" id="{D7D84733-6FE6-420A-9C80-83E09B81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</a:t>
            </a:r>
          </a:p>
        </p:txBody>
      </p:sp>
      <p:sp>
        <p:nvSpPr>
          <p:cNvPr id="9" name="interval-line-1">
            <a:extLst xmlns:a="http://schemas.openxmlformats.org/drawingml/2006/main">
              <a:ext uri="{FF2B5EF4-FFF2-40B4-BE49-F238E27FC236}">
                <a16:creationId xmlns:a16="http://schemas.microsoft.com/office/drawing/2014/main" id="{94C7F7B0-2E6D-47FB-97A0-AE2EDB43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090" y="3162300"/>
            <a:ext cx="28651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terval-dot-1">
            <a:extLst xmlns:a="http://schemas.openxmlformats.org/drawingml/2006/main">
              <a:ext uri="{FF2B5EF4-FFF2-40B4-BE49-F238E27FC236}">
                <a16:creationId xmlns:a16="http://schemas.microsoft.com/office/drawing/2014/main" id="{2E06070F-89FB-45C0-B574-803B3EF4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985" y="3095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terval-label-2">
            <a:extLst xmlns:a="http://schemas.openxmlformats.org/drawingml/2006/main">
              <a:ext uri="{FF2B5EF4-FFF2-40B4-BE49-F238E27FC236}">
                <a16:creationId xmlns:a16="http://schemas.microsoft.com/office/drawing/2014/main" id="{E6E7AE14-088A-4282-9D9F-7A8AA4EE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Clustered</a:t>
            </a:r>
          </a:p>
        </p:txBody>
      </p:sp>
      <p:sp>
        <p:nvSpPr>
          <p:cNvPr id="12" name="interval-line-2">
            <a:extLst xmlns:a="http://schemas.openxmlformats.org/drawingml/2006/main">
              <a:ext uri="{FF2B5EF4-FFF2-40B4-BE49-F238E27FC236}">
                <a16:creationId xmlns:a16="http://schemas.microsoft.com/office/drawing/2014/main" id="{82BABE75-49FF-46EE-9CE8-8406711C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485" y="4038600"/>
            <a:ext cx="367093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terval-dot-2">
            <a:extLst xmlns:a="http://schemas.openxmlformats.org/drawingml/2006/main">
              <a:ext uri="{FF2B5EF4-FFF2-40B4-BE49-F238E27FC236}">
                <a16:creationId xmlns:a16="http://schemas.microsoft.com/office/drawing/2014/main" id="{4670F995-9531-4EE8-A062-6C7BA45F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288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terval-caption">
            <a:extLst xmlns:a="http://schemas.openxmlformats.org/drawingml/2006/main">
              <a:ext uri="{FF2B5EF4-FFF2-40B4-BE49-F238E27FC236}">
                <a16:creationId xmlns:a16="http://schemas.microsoft.com/office/drawing/2014/main" id="{404D05DE-76B1-4492-87A3-DE5D17B6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48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Same estimate · different uncertainty assumptions</a:t>
            </a:r>
          </a:p>
        </p:txBody>
      </p:sp>
      <p:sp>
        <p:nvSpPr>
          <p:cNvPr id="1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DA999CC8-4BBC-41C2-85FE-899B966C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1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A2A21522-7C0F-44BA-B794-C52754ED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True model y = X1β1 + X2β2 + u, estimated on X1 alone.</a:t>
            </a:r>
          </a:p>
        </p:txBody>
      </p:sp>
      <p:sp>
        <p:nvSpPr>
          <p:cNvPr id="1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CE23DC49-72FD-4742-B56F-15A55874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4AED30A8-F1D9-4FE6-94FB-38672E2A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With delta from regressing X2 on X1:</a:t>
            </a:r>
          </a:p>
        </p:txBody>
      </p:sp>
      <p:sp>
        <p:nvSpPr>
          <p:cNvPr id="1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A8E75B73-D9FC-42CA-B93C-17B6F6FC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26C61157-28EB-4AA2-BCE1-371DC702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the coefficient</a:t>
            </a:r>
          </a:p>
        </p:txBody>
      </p:sp>
      <p:sp>
        <p:nvSpPr>
          <p:cNvPr id="2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BE34A696-24E6-48B4-A198-F626D59D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F16DA2E-3FD0-44E3-98B4-A137E90F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505FDBE-B7F4-46C4-AD57-32D62014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225F99A-4C80-405C-8626-2005C2CE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35/50</a:t>
            </a:r>
          </a:p>
        </p:txBody>
      </p:sp>
      <p:sp>
        <p:nvSpPr>
          <p:cNvPr id="26" name="media-matte-residual_fan.png">
            <a:extLst xmlns:a="http://schemas.openxmlformats.org/drawingml/2006/main">
              <a:ext uri="{FF2B5EF4-FFF2-40B4-BE49-F238E27FC236}">
                <a16:creationId xmlns:a16="http://schemas.microsoft.com/office/drawing/2014/main" id="{49F89423-63DC-47CB-A8D0-B04D66A8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28a83a71446ab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207706390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29D91FB7-4246-4534-B553-E5D66ECF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3B1811-A885-401E-9FA2-A43EE2D6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Sign it with two questions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DBB952C-B4F9-4BA3-9AF0-A1932CF7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A94489C5-0FCF-4D7C-890F-54CC72D0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6E61153B-8543-4377-BF2D-55163145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D50C5849-A1E4-4643-9CC8-3EE9A03A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EDEE7BC4-1ABC-42F1-8329-A45E197C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03-inference-diagnostics-interpretation/demo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session03_inference_demo.py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F46BB1C7-0A1C-45BE-B087-8F7C00E5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FE6B0B78-6DF9-4E57-9BC3-F5F5D252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fig, ax = plt.subplots(figsize=(6.6, 2.3))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ax.axis("off")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cells = [(r"$\delta&gt;0,\ \beta_2&gt;0$", "upward", CL.warn),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(r"$\delta&lt;0,\ \beta_2&lt;0$", "upward", CL.warn),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(r"$\delta&gt;0,\ \beta_2&lt;0$", "downward", CL.good),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(r"$\delta&lt;0,\ \beta_2&gt;0$", "downward", CL.good)]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i, (cond, direction, col) in enumerate(cells):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x  = .04 + (i % 2) * .50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yy = .66 - (i // 2) * .45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ax.text(x, yy, cond, fontsize=11.5, color=CL.ink)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ax.annotate("", xy=(x + .29, yy + (.06 if direction == "upward" else -.06)),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xytext=(x + .23, yy), arrowprops=dict(arrowstyle="-&gt;", color=col, lw=2.6))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E1712970-97B0-42AF-BE0F-5EC235FC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914E43C-5635-44BA-B056-6B958D62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D6E121A-01AD-4454-BF75-137E862A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18AE62F-721F-4DA2-8419-09EBAB6D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36/50</a:t>
            </a:r>
          </a:p>
        </p:txBody>
      </p:sp>
    </p:spTree>
    <p:extLst>
      <p:ext uri="{BB962C8B-B14F-4D97-AF65-F5344CB8AC3E}">
        <p14:creationId xmlns:p14="http://schemas.microsoft.com/office/powerpoint/2010/main" val="35612625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284DBDF-53CE-4E71-A7D9-6A365931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B29C11-23CC-4C2C-9FBE-0CD424A5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Sign it with two questions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C05D39C-9FA9-4D02-8E43-822D57E4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9B26D89-35FA-472C-A2A0-05D2F240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Var(β̂|X) = σ²(XᵀX)⁻¹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75CDD464-590E-4118-BF0A-36100E97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plt.subplots(figsize=(6.6, 2.3)) ax.axis("off") cells = [(r"delta&gt;0, β2&gt;0", "upward", CL.warn),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40846571-E7E6-4537-88D7-9ECB0596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90FC79B-D8FB-4D72-B683-049D418D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plt.subplots(figsize=(6.6, 2.3)) ax.axis("off") cells = [(r"delta&gt;0, β2&gt;0", "upward",…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f21c0aecb54670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0ABA624-D485-46C4-AE70-F532A55E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FB38050-94AC-4146-8217-1A818B54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466022A-CAFA-4B42-AD10-AFE5E1A8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37/50</a:t>
            </a:r>
          </a:p>
        </p:txBody>
      </p:sp>
    </p:spTree>
    <p:extLst>
      <p:ext uri="{BB962C8B-B14F-4D97-AF65-F5344CB8AC3E}">
        <p14:creationId xmlns:p14="http://schemas.microsoft.com/office/powerpoint/2010/main" val="100827032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97F9CDA4-B4E3-43E0-B196-E8CBE0A5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7EA0B0-D740-4468-9BA5-3AF91C52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Then test the prediction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E2EA0B5-0AB7-4FF3-8331-A0910F25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8E3FF735-A9EA-44E1-8570-9BF76C07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OVB = δ × γ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282CF204-6E8C-4060-AC74-6ED5DB85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short = smf.ols("np.log(annualearningseur) ~ tertiaryshare", data=df).fit() lng = smf.ols("np.log(annualearningseur) ~ tertiaryshare + productivityidx", data=df).fit() fig, ax = plt.subplots(figsize=(6.2, 2.1))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C1551256-9395-4F93-89FB-79DACD77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F6185E10-3F24-4FE8-B7CB-9F8D9CA7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short = smf.ols("np.log(annualearningseur) ~ tertiaryshare", data=df).fit() lng =…</a:t>
            </a:r>
          </a:p>
        </p:txBody>
      </p:sp>
      <p:sp>
        <p:nvSpPr>
          <p:cNvPr id="8" name="interval-bg">
            <a:extLst xmlns:a="http://schemas.openxmlformats.org/drawingml/2006/main">
              <a:ext uri="{FF2B5EF4-FFF2-40B4-BE49-F238E27FC236}">
                <a16:creationId xmlns:a16="http://schemas.microsoft.com/office/drawing/2014/main" id="{D05378F5-340E-4ADF-8744-2E80623D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5810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interval-label-0">
            <a:extLst xmlns:a="http://schemas.openxmlformats.org/drawingml/2006/main">
              <a:ext uri="{FF2B5EF4-FFF2-40B4-BE49-F238E27FC236}">
                <a16:creationId xmlns:a16="http://schemas.microsoft.com/office/drawing/2014/main" id="{F188311D-C08E-49FB-A444-4DDD8F46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Classical</a:t>
            </a:r>
          </a:p>
        </p:txBody>
      </p:sp>
      <p:sp>
        <p:nvSpPr>
          <p:cNvPr id="10" name="interval-line-0">
            <a:extLst xmlns:a="http://schemas.openxmlformats.org/drawingml/2006/main">
              <a:ext uri="{FF2B5EF4-FFF2-40B4-BE49-F238E27FC236}">
                <a16:creationId xmlns:a16="http://schemas.microsoft.com/office/drawing/2014/main" id="{B6456DDD-F48E-45DA-864B-9282AA19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940" y="2343150"/>
            <a:ext cx="15773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terval-dot-0">
            <a:extLst xmlns:a="http://schemas.openxmlformats.org/drawingml/2006/main">
              <a:ext uri="{FF2B5EF4-FFF2-40B4-BE49-F238E27FC236}">
                <a16:creationId xmlns:a16="http://schemas.microsoft.com/office/drawing/2014/main" id="{60F93D15-68B8-4A65-AAFB-593F9075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410" y="2276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nterval-label-1">
            <a:extLst xmlns:a="http://schemas.openxmlformats.org/drawingml/2006/main">
              <a:ext uri="{FF2B5EF4-FFF2-40B4-BE49-F238E27FC236}">
                <a16:creationId xmlns:a16="http://schemas.microsoft.com/office/drawing/2014/main" id="{6A60C56F-410E-4A73-B97B-ED2F1B68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</a:t>
            </a:r>
          </a:p>
        </p:txBody>
      </p:sp>
      <p:sp>
        <p:nvSpPr>
          <p:cNvPr id="13" name="interval-line-1">
            <a:extLst xmlns:a="http://schemas.openxmlformats.org/drawingml/2006/main">
              <a:ext uri="{FF2B5EF4-FFF2-40B4-BE49-F238E27FC236}">
                <a16:creationId xmlns:a16="http://schemas.microsoft.com/office/drawing/2014/main" id="{D245BF0C-44A2-41C0-BA32-F37BB5CA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620" y="3219450"/>
            <a:ext cx="219456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terval-dot-1">
            <a:extLst xmlns:a="http://schemas.openxmlformats.org/drawingml/2006/main">
              <a:ext uri="{FF2B5EF4-FFF2-40B4-BE49-F238E27FC236}">
                <a16:creationId xmlns:a16="http://schemas.microsoft.com/office/drawing/2014/main" id="{98A5237F-DDCE-40E6-99CD-9ACD6C28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terval-label-2">
            <a:extLst xmlns:a="http://schemas.openxmlformats.org/drawingml/2006/main">
              <a:ext uri="{FF2B5EF4-FFF2-40B4-BE49-F238E27FC236}">
                <a16:creationId xmlns:a16="http://schemas.microsoft.com/office/drawing/2014/main" id="{F13E83C8-1C43-418C-A892-1D81ECB3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Clustered</a:t>
            </a:r>
          </a:p>
        </p:txBody>
      </p:sp>
      <p:sp>
        <p:nvSpPr>
          <p:cNvPr id="16" name="interval-line-2">
            <a:extLst xmlns:a="http://schemas.openxmlformats.org/drawingml/2006/main">
              <a:ext uri="{FF2B5EF4-FFF2-40B4-BE49-F238E27FC236}">
                <a16:creationId xmlns:a16="http://schemas.microsoft.com/office/drawing/2014/main" id="{FA0DC923-DFEF-4F59-9C50-5BC5D76A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4095750"/>
            <a:ext cx="28117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nterval-dot-2">
            <a:extLst xmlns:a="http://schemas.openxmlformats.org/drawingml/2006/main">
              <a:ext uri="{FF2B5EF4-FFF2-40B4-BE49-F238E27FC236}">
                <a16:creationId xmlns:a16="http://schemas.microsoft.com/office/drawing/2014/main" id="{C3249FBF-7B84-476C-B778-3E85DF15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29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nterval-caption">
            <a:extLst xmlns:a="http://schemas.openxmlformats.org/drawingml/2006/main">
              <a:ext uri="{FF2B5EF4-FFF2-40B4-BE49-F238E27FC236}">
                <a16:creationId xmlns:a16="http://schemas.microsoft.com/office/drawing/2014/main" id="{99AB3E60-4C7F-432B-8C16-045CE6B0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483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Same estimate · different uncertainty assumptions</a:t>
            </a:r>
          </a:p>
        </p:txBody>
      </p:sp>
      <p:sp>
        <p:nvSpPr>
          <p:cNvPr id="1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C5038BD-8DB8-4BE4-AB41-71D33A8C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10BC07-9D6F-4D19-9D9A-B86C8AFA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2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E6EC7AE-A7F4-48CF-BE88-07E94D3F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38/50</a:t>
            </a:r>
          </a:p>
        </p:txBody>
      </p:sp>
    </p:spTree>
    <p:extLst>
      <p:ext uri="{BB962C8B-B14F-4D97-AF65-F5344CB8AC3E}">
        <p14:creationId xmlns:p14="http://schemas.microsoft.com/office/powerpoint/2010/main" val="165750745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154A433-0202-42EA-B5E7-8904B071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5FF76A-3BF1-4AC1-B4B0-F6F1786B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Then test the prediction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4A3C74D-5610-4ECF-9AE7-FBB51299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506D12F8-B4CD-4BE3-8C01-111EC72F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β̂ − β = (XᵀX)⁻¹Xᵀε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FA17D744-6B8E-4F1A-BD46-E95807A7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short = smf.ols("np.log(annualearningseur) ~ tertiaryshare", data=df).fit() lng = smf.ols("np.log(annualearningseur) ~ tertiaryshare + productivityidx", data=df).fit() fig, ax = plt.subplots(figsize=(6.2, 2.1))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DB0FABD-AA61-4D64-BE4D-126DC27B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24C764DC-C9C5-4586-9269-1EED6349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short = smf.ols("np.log(annualearningseur) ~ tertiaryshare", data=df).fit() lng =…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444F7D3F-E064-49B0-BC73-F3859721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AE0FD5A-D057-47D9-BBC9-23FFB93D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 ↔ Z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C86EB638-7A2F-4732-B661-F3409A3D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B4FD31F-9562-4F27-A809-5AAD0184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Z → Y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1FF0822D-3080-460E-B141-592E801A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9597937-AAE0-425F-94E7-35AEB566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Bias in β̂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53C6B87-A5F6-4CC7-9998-F1562BE9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C45AF39-9760-4D3D-82D4-05DED560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6138CA1-F941-4EB7-8B78-6F9F2F4A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39/50</a:t>
            </a:r>
          </a:p>
        </p:txBody>
      </p:sp>
    </p:spTree>
    <p:extLst>
      <p:ext uri="{BB962C8B-B14F-4D97-AF65-F5344CB8AC3E}">
        <p14:creationId xmlns:p14="http://schemas.microsoft.com/office/powerpoint/2010/main" val="80922082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6B52192-7F76-41ED-B0CE-5A7E02D1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63041F-84A4-41E6-A0EC-0266E0C7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What it identifies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4EFAF9F-A373-450B-BBB8-E39C5B09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2CD35414-F565-4AAF-B826-9E859E5F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7 · What it identifies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54F78061-2D59-4F20-B517-261B03DA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41ADD54D-7727-4025-969D-F281E128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What it identifies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F069218C-651B-4208-BF8D-5A6AEB38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8FC5D719-1FFE-4790-AC81-0C577AD1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5ED97711-4D4C-4C0A-BD76-0DFAF325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the coefficient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B1A1491C-A502-40B9-896A-A80991B8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6DBFEBDB-0D75-41B4-87C5-758DD070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9706FB36-D3D8-459F-B824-343DE3B7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Inspect residual structure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F9D9AD67-CB02-4B1A-8F3E-0E9D9567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DE9438AB-6CEB-4859-A01C-F3962BDD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6EB97C04-7C67-4583-B160-57C324EF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uncertainty that matches dependence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0480C7EC-4126-4874-8F5C-AAEB6B29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9281233-BB53-4EC4-A1BE-C51BEEA5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A253AED-7289-402C-81AF-F36E6119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BEA9496-ACE3-4E5C-BBE1-F3A423C9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40/50</a:t>
            </a:r>
          </a:p>
        </p:txBody>
      </p:sp>
    </p:spTree>
    <p:extLst>
      <p:ext uri="{BB962C8B-B14F-4D97-AF65-F5344CB8AC3E}">
        <p14:creationId xmlns:p14="http://schemas.microsoft.com/office/powerpoint/2010/main" val="190627515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7E9B905-73EC-4B58-A765-0733D3A1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852FC0-24C2-4B92-B16F-CE801477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Mincer example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A291ED3-5914-4412-AE09-2F44243D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5B94C63A-7278-46CD-9C9B-4559496C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9E6D0952-58A1-43E5-B36B-32C42576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Mincer example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90188155-5777-430F-A37B-FC0C3BD7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E49B2393-29C3-498F-93CD-7D3C4503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rho is often read as "the return to a year of schooling".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70A89960-AF49-4B3A-9BB5-4F6AE2E0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5914ACC9-156D-4608-AD8E-70348F0D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Standard error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DA761413-8EF1-4BFA-AD98-591E3B63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E08650E3-07BD-418D-AE9A-73F822C8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Strictly, it is &gt; the mean log-wage difference associated with an additional year of schooling…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94678659-E347-45E7-B812-33B1053D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F12A6036-A95D-4B59-B636-081394D0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Confidence interval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858CAD81-346E-4C6F-916E-59EBC5D0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20F29CA2-DF7C-4785-8CE7-D372F88D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Strictly, it is &gt; the mean log-wage difference associated with an additional year of schooling among…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367D42EA-868D-4073-A13A-D25A588B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12EB3C7-E162-4B43-BAB1-D18C9232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B695A02-5871-4868-85FB-F0EE5530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6CCA787-E3DF-472C-B9EC-12D91B4E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41/50</a:t>
            </a:r>
          </a:p>
        </p:txBody>
      </p:sp>
    </p:spTree>
    <p:extLst>
      <p:ext uri="{BB962C8B-B14F-4D97-AF65-F5344CB8AC3E}">
        <p14:creationId xmlns:p14="http://schemas.microsoft.com/office/powerpoint/2010/main" val="91427168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D718625-5F17-441C-9F97-9C2DCCEB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735CD2-9E35-4E9E-A460-6A1D7E7E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Mincer example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F5A6B16-02D0-4AA6-B623-5FD6C415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F72B8AD-8EFA-4D66-9854-3D1BA0A4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D669CC78-7309-43C5-B28C-32098A31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rho is often read as "the return to a year of schooling".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38F15949-5578-47FD-B524-6129CDB6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D1181864-A0CD-4B53-9F43-989361B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Strictly, it is &gt; the mean log-wage difference associated with an additional year of schooling…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0A1B06C8-8731-42C6-884A-3A98C96A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892A5084-71F5-4C39-AC90-DB179F70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Strictly, it is &gt; the mean log-wage difference associated with an additional year of schooling among…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801FEFB0-79F5-442F-951F-CF83CAE4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Estimate the coefficient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C357510-C5AE-4855-8780-540881AF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BA9A14C-1973-4293-8708-C249E501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BB59281-4801-4D51-A36A-B4251587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42/50</a:t>
            </a:r>
          </a:p>
        </p:txBody>
      </p:sp>
    </p:spTree>
    <p:extLst>
      <p:ext uri="{BB962C8B-B14F-4D97-AF65-F5344CB8AC3E}">
        <p14:creationId xmlns:p14="http://schemas.microsoft.com/office/powerpoint/2010/main" val="59117549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5AAFFEB2-890A-40C9-AC69-AA1817D8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38AEC0-B723-4907-9EF2-876DBD20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8 · Key takeaways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C255245-032D-4BBD-A1C7-0827CD87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nterval-bg">
            <a:extLst xmlns:a="http://schemas.openxmlformats.org/drawingml/2006/main">
              <a:ext uri="{FF2B5EF4-FFF2-40B4-BE49-F238E27FC236}">
                <a16:creationId xmlns:a16="http://schemas.microsoft.com/office/drawing/2014/main" id="{AE7E193F-BEA4-4788-A979-9D232F2D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5" name="interval-label-0">
            <a:extLst xmlns:a="http://schemas.openxmlformats.org/drawingml/2006/main">
              <a:ext uri="{FF2B5EF4-FFF2-40B4-BE49-F238E27FC236}">
                <a16:creationId xmlns:a16="http://schemas.microsoft.com/office/drawing/2014/main" id="{9B735DB7-64CB-473B-B8D5-CAF556E8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Classical</a:t>
            </a:r>
          </a:p>
        </p:txBody>
      </p:sp>
      <p:sp>
        <p:nvSpPr>
          <p:cNvPr id="6" name="interval-line-0">
            <a:extLst xmlns:a="http://schemas.openxmlformats.org/drawingml/2006/main">
              <a:ext uri="{FF2B5EF4-FFF2-40B4-BE49-F238E27FC236}">
                <a16:creationId xmlns:a16="http://schemas.microsoft.com/office/drawing/2014/main" id="{79F553CC-0DFB-44E3-BF8E-8F7C0A95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2286000"/>
            <a:ext cx="205930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terval-dot-0">
            <a:extLst xmlns:a="http://schemas.openxmlformats.org/drawingml/2006/main">
              <a:ext uri="{FF2B5EF4-FFF2-40B4-BE49-F238E27FC236}">
                <a16:creationId xmlns:a16="http://schemas.microsoft.com/office/drawing/2014/main" id="{22E25A59-0330-48C8-83F0-07BE2743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3" y="2219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terval-label-1">
            <a:extLst xmlns:a="http://schemas.openxmlformats.org/drawingml/2006/main">
              <a:ext uri="{FF2B5EF4-FFF2-40B4-BE49-F238E27FC236}">
                <a16:creationId xmlns:a16="http://schemas.microsoft.com/office/drawing/2014/main" id="{D7D84733-6FE6-420A-9C80-83E09B81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</a:t>
            </a:r>
          </a:p>
        </p:txBody>
      </p:sp>
      <p:sp>
        <p:nvSpPr>
          <p:cNvPr id="9" name="interval-line-1">
            <a:extLst xmlns:a="http://schemas.openxmlformats.org/drawingml/2006/main">
              <a:ext uri="{FF2B5EF4-FFF2-40B4-BE49-F238E27FC236}">
                <a16:creationId xmlns:a16="http://schemas.microsoft.com/office/drawing/2014/main" id="{94C7F7B0-2E6D-47FB-97A0-AE2EDB43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090" y="3162300"/>
            <a:ext cx="28651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terval-dot-1">
            <a:extLst xmlns:a="http://schemas.openxmlformats.org/drawingml/2006/main">
              <a:ext uri="{FF2B5EF4-FFF2-40B4-BE49-F238E27FC236}">
                <a16:creationId xmlns:a16="http://schemas.microsoft.com/office/drawing/2014/main" id="{2E06070F-89FB-45C0-B574-803B3EF4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985" y="3095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terval-label-2">
            <a:extLst xmlns:a="http://schemas.openxmlformats.org/drawingml/2006/main">
              <a:ext uri="{FF2B5EF4-FFF2-40B4-BE49-F238E27FC236}">
                <a16:creationId xmlns:a16="http://schemas.microsoft.com/office/drawing/2014/main" id="{E6E7AE14-088A-4282-9D9F-7A8AA4EE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Clustered</a:t>
            </a:r>
          </a:p>
        </p:txBody>
      </p:sp>
      <p:sp>
        <p:nvSpPr>
          <p:cNvPr id="12" name="interval-line-2">
            <a:extLst xmlns:a="http://schemas.openxmlformats.org/drawingml/2006/main">
              <a:ext uri="{FF2B5EF4-FFF2-40B4-BE49-F238E27FC236}">
                <a16:creationId xmlns:a16="http://schemas.microsoft.com/office/drawing/2014/main" id="{82BABE75-49FF-46EE-9CE8-8406711C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485" y="4038600"/>
            <a:ext cx="367093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terval-dot-2">
            <a:extLst xmlns:a="http://schemas.openxmlformats.org/drawingml/2006/main">
              <a:ext uri="{FF2B5EF4-FFF2-40B4-BE49-F238E27FC236}">
                <a16:creationId xmlns:a16="http://schemas.microsoft.com/office/drawing/2014/main" id="{4670F995-9531-4EE8-A062-6C7BA45F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288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terval-caption">
            <a:extLst xmlns:a="http://schemas.openxmlformats.org/drawingml/2006/main">
              <a:ext uri="{FF2B5EF4-FFF2-40B4-BE49-F238E27FC236}">
                <a16:creationId xmlns:a16="http://schemas.microsoft.com/office/drawing/2014/main" id="{404D05DE-76B1-4492-87A3-DE5D17B6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48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Same estimate · different uncertainty assumptions</a:t>
            </a:r>
          </a:p>
        </p:txBody>
      </p:sp>
      <p:sp>
        <p:nvSpPr>
          <p:cNvPr id="1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DA999CC8-4BBC-41C2-85FE-899B966C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1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A2A21522-7C0F-44BA-B794-C52754ED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8 · Key takeaways</a:t>
            </a:r>
          </a:p>
        </p:txBody>
      </p:sp>
      <p:sp>
        <p:nvSpPr>
          <p:cNvPr id="1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CE23DC49-72FD-4742-B56F-15A55874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4AED30A8-F1D9-4FE6-94FB-38672E2A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 the coefficient</a:t>
            </a:r>
          </a:p>
        </p:txBody>
      </p:sp>
      <p:sp>
        <p:nvSpPr>
          <p:cNvPr id="1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A8E75B73-D9FC-42CA-B93C-17B6F6FC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26C61157-28EB-4AA2-BCE1-371DC702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Inspect residual structure</a:t>
            </a:r>
          </a:p>
        </p:txBody>
      </p:sp>
      <p:sp>
        <p:nvSpPr>
          <p:cNvPr id="2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BE34A696-24E6-48B4-A198-F626D59D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F16DA2E-3FD0-44E3-98B4-A137E90F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505FDBE-B7F4-46C4-AD57-32D62014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225F99A-4C80-405C-8626-2005C2CE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43/50</a:t>
            </a:r>
          </a:p>
        </p:txBody>
      </p:sp>
      <p:sp>
        <p:nvSpPr>
          <p:cNvPr id="26" name="media-matte-residual_fan.png">
            <a:extLst xmlns:a="http://schemas.openxmlformats.org/drawingml/2006/main">
              <a:ext uri="{FF2B5EF4-FFF2-40B4-BE49-F238E27FC236}">
                <a16:creationId xmlns:a16="http://schemas.microsoft.com/office/drawing/2014/main" id="{0B32F6E8-E7C8-4736-BDA9-246F01CF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4cac7bf9b4a82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207706390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29D91FB7-4246-4534-B553-E5D66ECF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3B1811-A885-401E-9FA2-A43EE2D6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to carry out of this session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DBB952C-B4F9-4BA3-9AF0-A1932CF7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A94489C5-0FCF-4D7C-890F-54CC72D0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6E61153B-8543-4377-BF2D-55163145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D50C5849-A1E4-4643-9CC8-3EE9A03A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EDEE7BC4-1ABC-42F1-8329-A45E197C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03-inference-diagnostics-interpretation/demo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session03_inference_demo.py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F46BB1C7-0A1C-45BE-B087-8F7C00E5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FE6B0B78-6DF9-4E57-9BC3-F5F5D252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np, statsmodels.api as sm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 = np.arange(1., 9.)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y = 1 + .7*x + np.array([-.4,.2,.1,-.1,.3,-.2,.4,-.3])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 = sm.OLS(y, sm.add_constant(x)).fit(cov_type='HC3')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print(m.params, m.conf_int())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E1712970-97B0-42AF-BE0F-5EC235FC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914E43C-5635-44BA-B056-6B958D62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D6E121A-01AD-4454-BF75-137E862A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18AE62F-721F-4DA2-8419-09EBAB6D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44/50</a:t>
            </a:r>
          </a:p>
        </p:txBody>
      </p:sp>
    </p:spTree>
    <p:extLst>
      <p:ext uri="{BB962C8B-B14F-4D97-AF65-F5344CB8AC3E}">
        <p14:creationId xmlns:p14="http://schemas.microsoft.com/office/powerpoint/2010/main" val="35612625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ailure-kicker">
            <a:extLst xmlns:a="http://schemas.openxmlformats.org/drawingml/2006/main">
              <a:ext uri="{FF2B5EF4-FFF2-40B4-BE49-F238E27FC236}">
                <a16:creationId xmlns:a16="http://schemas.microsoft.com/office/drawing/2014/main" id="{673A1775-2C45-4BD0-836A-8143E620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LECTURE · FAILURE MODE</a:t>
            </a:r>
          </a:p>
        </p:txBody>
      </p:sp>
      <p:sp>
        <p:nvSpPr>
          <p:cNvPr id="2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F1A85D6C-230E-4C4A-8E29-0B121D97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loses marks reliably</a:t>
            </a:r>
          </a:p>
        </p:txBody>
      </p:sp>
      <p:sp>
        <p:nvSpPr>
          <p:cNvPr id="3" name="rule-48-350">
            <a:extLst xmlns:a="http://schemas.openxmlformats.org/drawingml/2006/main">
              <a:ext uri="{FF2B5EF4-FFF2-40B4-BE49-F238E27FC236}">
                <a16:creationId xmlns:a16="http://schemas.microsoft.com/office/drawing/2014/main" id="{2C74C030-2128-4D68-92B4-BE8533EE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ilure-left-title">
            <a:extLst xmlns:a="http://schemas.openxmlformats.org/drawingml/2006/main">
              <a:ext uri="{FF2B5EF4-FFF2-40B4-BE49-F238E27FC236}">
                <a16:creationId xmlns:a16="http://schemas.microsoft.com/office/drawing/2014/main" id="{EE910BDF-B59C-4FB2-9A9D-CA1BA2B5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WHAT BREAKS</a:t>
            </a:r>
          </a:p>
        </p:txBody>
      </p:sp>
      <p:sp>
        <p:nvSpPr>
          <p:cNvPr id="5" name="failure-left">
            <a:extLst xmlns:a="http://schemas.openxmlformats.org/drawingml/2006/main">
              <a:ext uri="{FF2B5EF4-FFF2-40B4-BE49-F238E27FC236}">
                <a16:creationId xmlns:a16="http://schemas.microsoft.com/office/drawing/2014/main" id="{54B56A4E-15A3-4ABE-9FD6-D4B2626F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small standard error can make an omitted-variable bias look very precise.</a:t>
            </a:r>
          </a:p>
        </p:txBody>
      </p:sp>
      <p:sp>
        <p:nvSpPr>
          <p:cNvPr id="6" name="failure-right-title">
            <a:extLst xmlns:a="http://schemas.openxmlformats.org/drawingml/2006/main">
              <a:ext uri="{FF2B5EF4-FFF2-40B4-BE49-F238E27FC236}">
                <a16:creationId xmlns:a16="http://schemas.microsoft.com/office/drawing/2014/main" id="{6CB5F0EB-93AA-426F-970F-86836F18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failure-right">
            <a:extLst xmlns:a="http://schemas.openxmlformats.org/drawingml/2006/main">
              <a:ext uri="{FF2B5EF4-FFF2-40B4-BE49-F238E27FC236}">
                <a16:creationId xmlns:a16="http://schemas.microsoft.com/office/drawing/2014/main" id="{445E0A93-C2C5-4239-8A4F-0A5F52D7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covariance estimator matches heteroskedasticity or clustering</a:t>
            </a:r>
          </a:p>
        </p:txBody>
      </p:sp>
      <p:sp>
        <p:nvSpPr>
          <p:cNvPr id="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40725DA-B378-4B70-AC2F-B4B92FB1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16F5E6C-B2CB-47DC-9A5D-E5DE2DAF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A1CEDAF-4D70-4F84-ABF9-E44772B1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45/50</a:t>
            </a:r>
          </a:p>
        </p:txBody>
      </p:sp>
    </p:spTree>
    <p:extLst>
      <p:ext uri="{BB962C8B-B14F-4D97-AF65-F5344CB8AC3E}">
        <p14:creationId xmlns:p14="http://schemas.microsoft.com/office/powerpoint/2010/main" val="47622250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37569DFF-7E3F-41AD-9FED-18BBBA14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20A241-C766-4D69-930E-C1E852C7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 the practice session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A1E9CDB-E231-420F-8731-B6AB1D0F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y-label">
            <a:extLst xmlns:a="http://schemas.openxmlformats.org/drawingml/2006/main">
              <a:ext uri="{FF2B5EF4-FFF2-40B4-BE49-F238E27FC236}">
                <a16:creationId xmlns:a16="http://schemas.microsoft.com/office/drawing/2014/main" id="{3B1E922A-7C01-475E-818D-5F9EAEFE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SAY</a:t>
            </a:r>
          </a:p>
        </p:txBody>
      </p:sp>
      <p:sp>
        <p:nvSpPr>
          <p:cNvPr id="5" name="say-copy">
            <a:extLst xmlns:a="http://schemas.openxmlformats.org/drawingml/2006/main">
              <a:ext uri="{FF2B5EF4-FFF2-40B4-BE49-F238E27FC236}">
                <a16:creationId xmlns:a16="http://schemas.microsoft.com/office/drawing/2014/main" id="{3F460E32-3A9B-4142-BB10-D88E2FEB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Brief: 02-practice/README.md · derivations: 01-lecture/README.md §3.1–3.5</a:t>
            </a:r>
          </a:p>
        </p:txBody>
      </p:sp>
      <p:sp>
        <p:nvSpPr>
          <p:cNvPr id="6" name="interpretation-divider">
            <a:extLst xmlns:a="http://schemas.openxmlformats.org/drawingml/2006/main">
              <a:ext uri="{FF2B5EF4-FFF2-40B4-BE49-F238E27FC236}">
                <a16:creationId xmlns:a16="http://schemas.microsoft.com/office/drawing/2014/main" id="{67E1B1D8-8A32-4D2A-A014-69D72B6C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oid-label">
            <a:extLst xmlns:a="http://schemas.openxmlformats.org/drawingml/2006/main">
              <a:ext uri="{FF2B5EF4-FFF2-40B4-BE49-F238E27FC236}">
                <a16:creationId xmlns:a16="http://schemas.microsoft.com/office/drawing/2014/main" id="{885A41D8-571F-48C8-A5E0-DCEB7EE1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8" name="avoid-copy">
            <a:extLst xmlns:a="http://schemas.openxmlformats.org/drawingml/2006/main">
              <a:ext uri="{FF2B5EF4-FFF2-40B4-BE49-F238E27FC236}">
                <a16:creationId xmlns:a16="http://schemas.microsoft.com/office/drawing/2014/main" id="{2E6B5064-4629-4D4B-8631-B3C3CBAE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small standard error can make an omitted-variable bias look very precise.</a:t>
            </a:r>
          </a:p>
        </p:txBody>
      </p:sp>
      <p:sp>
        <p:nvSpPr>
          <p:cNvPr id="9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FE6570DC-FF87-4892-9E13-0805E42F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Estimate + comparison + uncertainty + assumption + limitation.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AA6BAA0-B033-477D-B000-1DEFBAA4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7182658-2140-4AEF-8BE0-BA95ECC0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75752F9-3B14-4E38-9BA1-7B06420A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46/50</a:t>
            </a:r>
          </a:p>
        </p:txBody>
      </p:sp>
    </p:spTree>
    <p:extLst>
      <p:ext uri="{BB962C8B-B14F-4D97-AF65-F5344CB8AC3E}">
        <p14:creationId xmlns:p14="http://schemas.microsoft.com/office/powerpoint/2010/main" val="1271630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5DFB4349-8536-45BA-8BC4-9F04823A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REQUIRED READING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CAC72E-A791-476C-9CEC-ED2710CC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article becomes the practice challenge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6F58EC7-31D3-4003-8FD9-CA6D0D6C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ading-status-0">
            <a:extLst xmlns:a="http://schemas.openxmlformats.org/drawingml/2006/main">
              <a:ext uri="{FF2B5EF4-FFF2-40B4-BE49-F238E27FC236}">
                <a16:creationId xmlns:a16="http://schemas.microsoft.com/office/drawing/2014/main" id="{B60A4635-A948-4479-9F0B-4D53BDD7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BEFORE CLASS</a:t>
            </a:r>
          </a:p>
        </p:txBody>
      </p:sp>
      <p:sp>
        <p:nvSpPr>
          <p:cNvPr id="5" name="reading-title-0">
            <a:extLst xmlns:a="http://schemas.openxmlformats.org/drawingml/2006/main">
              <a:ext uri="{FF2B5EF4-FFF2-40B4-BE49-F238E27FC236}">
                <a16:creationId xmlns:a16="http://schemas.microsoft.com/office/drawing/2014/main" id="{8CCF144A-E019-4D48-A4A7-E95B1263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Ferman &amp; Pinto (2019) — Inference in DiD with Few Treated Groups</a:t>
            </a:r>
          </a:p>
        </p:txBody>
      </p:sp>
      <p:sp>
        <p:nvSpPr>
          <p:cNvPr id="6" name="reading-why-0">
            <a:extLst xmlns:a="http://schemas.openxmlformats.org/drawingml/2006/main">
              <a:ext uri="{FF2B5EF4-FFF2-40B4-BE49-F238E27FC236}">
                <a16:creationId xmlns:a16="http://schemas.microsoft.com/office/drawing/2014/main" id="{91904AA8-68BE-48DB-908F-FFA8BCA4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Required article: why familiar standard errors can fail</a:t>
            </a:r>
          </a:p>
        </p:txBody>
      </p:sp>
      <p:sp>
        <p:nvSpPr>
          <p:cNvPr id="7" name="reading-url-0">
            <a:extLst xmlns:a="http://schemas.openxmlformats.org/drawingml/2006/main">
              <a:ext uri="{FF2B5EF4-FFF2-40B4-BE49-F238E27FC236}">
                <a16:creationId xmlns:a16="http://schemas.microsoft.com/office/drawing/2014/main" id="{C3D627F4-48F3-4732-A8AE-24D38268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https://doi.org/10.1162/rest_a_00759</a:t>
            </a:r>
          </a:p>
        </p:txBody>
      </p:sp>
      <p:sp>
        <p:nvSpPr>
          <p:cNvPr id="8" name="rule-48-348">
            <a:extLst xmlns:a="http://schemas.openxmlformats.org/drawingml/2006/main">
              <a:ext uri="{FF2B5EF4-FFF2-40B4-BE49-F238E27FC236}">
                <a16:creationId xmlns:a16="http://schemas.microsoft.com/office/drawing/2014/main" id="{F3DF8D76-36EE-4B94-A2A1-D21ED203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ading-status-1">
            <a:extLst xmlns:a="http://schemas.openxmlformats.org/drawingml/2006/main">
              <a:ext uri="{FF2B5EF4-FFF2-40B4-BE49-F238E27FC236}">
                <a16:creationId xmlns:a16="http://schemas.microsoft.com/office/drawing/2014/main" id="{114B64E8-5729-4B51-8BA9-B23D2D32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10" name="reading-title-1">
            <a:extLst xmlns:a="http://schemas.openxmlformats.org/drawingml/2006/main">
              <a:ext uri="{FF2B5EF4-FFF2-40B4-BE49-F238E27FC236}">
                <a16:creationId xmlns:a16="http://schemas.microsoft.com/office/drawing/2014/main" id="{143951F2-7982-4BA6-AC08-E7A0634A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Harvard Dataverse 10.7910/DVN/PIAZWN</a:t>
            </a:r>
          </a:p>
        </p:txBody>
      </p:sp>
      <p:sp>
        <p:nvSpPr>
          <p:cNvPr id="11" name="reading-why-1">
            <a:extLst xmlns:a="http://schemas.openxmlformats.org/drawingml/2006/main">
              <a:ext uri="{FF2B5EF4-FFF2-40B4-BE49-F238E27FC236}">
                <a16:creationId xmlns:a16="http://schemas.microsoft.com/office/drawing/2014/main" id="{7797D9A9-6261-42BE-ADCD-038B737E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Required replication package: data and code for the article</a:t>
            </a:r>
          </a:p>
        </p:txBody>
      </p:sp>
      <p:sp>
        <p:nvSpPr>
          <p:cNvPr id="12" name="reading-url-1">
            <a:extLst xmlns:a="http://schemas.openxmlformats.org/drawingml/2006/main">
              <a:ext uri="{FF2B5EF4-FFF2-40B4-BE49-F238E27FC236}">
                <a16:creationId xmlns:a16="http://schemas.microsoft.com/office/drawing/2014/main" id="{14C7FD87-9F50-4F2C-A084-4A79FA29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https://doi.org/10.7910/DVN/PIAZWN</a:t>
            </a:r>
          </a:p>
        </p:txBody>
      </p:sp>
      <p:sp>
        <p:nvSpPr>
          <p:cNvPr id="13" name="rule-48-526">
            <a:extLst xmlns:a="http://schemas.openxmlformats.org/drawingml/2006/main">
              <a:ext uri="{FF2B5EF4-FFF2-40B4-BE49-F238E27FC236}">
                <a16:creationId xmlns:a16="http://schemas.microsoft.com/office/drawing/2014/main" id="{BBEDAEE8-A924-498D-B6C8-FA5AD4EA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ading-status-2">
            <a:extLst xmlns:a="http://schemas.openxmlformats.org/drawingml/2006/main">
              <a:ext uri="{FF2B5EF4-FFF2-40B4-BE49-F238E27FC236}">
                <a16:creationId xmlns:a16="http://schemas.microsoft.com/office/drawing/2014/main" id="{AB456127-06FF-462E-B382-AB84804D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5" name="reading-title-2">
            <a:extLst xmlns:a="http://schemas.openxmlformats.org/drawingml/2006/main">
              <a:ext uri="{FF2B5EF4-FFF2-40B4-BE49-F238E27FC236}">
                <a16:creationId xmlns:a16="http://schemas.microsoft.com/office/drawing/2014/main" id="{EEDF2D84-2398-4304-8335-ECB563F2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ISLR 3.3</a:t>
            </a:r>
          </a:p>
        </p:txBody>
      </p:sp>
      <p:sp>
        <p:nvSpPr>
          <p:cNvPr id="16" name="reading-why-2">
            <a:extLst xmlns:a="http://schemas.openxmlformats.org/drawingml/2006/main">
              <a:ext uri="{FF2B5EF4-FFF2-40B4-BE49-F238E27FC236}">
                <a16:creationId xmlns:a16="http://schemas.microsoft.com/office/drawing/2014/main" id="{FA3B14AF-DC0C-42D0-9829-259A8454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review of regression diagnostics</a:t>
            </a:r>
          </a:p>
        </p:txBody>
      </p:sp>
      <p:sp>
        <p:nvSpPr>
          <p:cNvPr id="17" name="reading-url-2">
            <a:extLst xmlns:a="http://schemas.openxmlformats.org/drawingml/2006/main">
              <a:ext uri="{FF2B5EF4-FFF2-40B4-BE49-F238E27FC236}">
                <a16:creationId xmlns:a16="http://schemas.microsoft.com/office/drawing/2014/main" id="{7740298B-FF26-4E90-ACC7-09510E82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2B2C0E2-A3B1-4FF0-A558-52E85ECA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35A3FA5-F9C2-4BDB-9BE5-FC7490C0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8D1C8CB-2283-4EC9-881C-D3DA3C97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47/50</a:t>
            </a:r>
          </a:p>
        </p:txBody>
      </p:sp>
    </p:spTree>
    <p:extLst>
      <p:ext uri="{BB962C8B-B14F-4D97-AF65-F5344CB8AC3E}">
        <p14:creationId xmlns:p14="http://schemas.microsoft.com/office/powerpoint/2010/main" val="53552765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37569DFF-7E3F-41AD-9FED-18BBBA14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20A241-C766-4D69-930E-C1E852C7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output into a defensible sentence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A1E9CDB-E231-420F-8731-B6AB1D0F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y-label">
            <a:extLst xmlns:a="http://schemas.openxmlformats.org/drawingml/2006/main">
              <a:ext uri="{FF2B5EF4-FFF2-40B4-BE49-F238E27FC236}">
                <a16:creationId xmlns:a16="http://schemas.microsoft.com/office/drawing/2014/main" id="{3B1E922A-7C01-475E-818D-5F9EAEFE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SAY</a:t>
            </a:r>
          </a:p>
        </p:txBody>
      </p:sp>
      <p:sp>
        <p:nvSpPr>
          <p:cNvPr id="5" name="say-copy">
            <a:extLst xmlns:a="http://schemas.openxmlformats.org/drawingml/2006/main">
              <a:ext uri="{FF2B5EF4-FFF2-40B4-BE49-F238E27FC236}">
                <a16:creationId xmlns:a16="http://schemas.microsoft.com/office/drawing/2014/main" id="{3F460E32-3A9B-4142-BB10-D88E2FEB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Report the estimate, its interval, the covariance method, and the identifying assumption in one breath.</a:t>
            </a:r>
          </a:p>
        </p:txBody>
      </p:sp>
      <p:sp>
        <p:nvSpPr>
          <p:cNvPr id="6" name="interpretation-divider">
            <a:extLst xmlns:a="http://schemas.openxmlformats.org/drawingml/2006/main">
              <a:ext uri="{FF2B5EF4-FFF2-40B4-BE49-F238E27FC236}">
                <a16:creationId xmlns:a16="http://schemas.microsoft.com/office/drawing/2014/main" id="{67E1B1D8-8A32-4D2A-A014-69D72B6C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oid-label">
            <a:extLst xmlns:a="http://schemas.openxmlformats.org/drawingml/2006/main">
              <a:ext uri="{FF2B5EF4-FFF2-40B4-BE49-F238E27FC236}">
                <a16:creationId xmlns:a16="http://schemas.microsoft.com/office/drawing/2014/main" id="{885A41D8-571F-48C8-A5E0-DCEB7EE1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8" name="avoid-copy">
            <a:extLst xmlns:a="http://schemas.openxmlformats.org/drawingml/2006/main">
              <a:ext uri="{FF2B5EF4-FFF2-40B4-BE49-F238E27FC236}">
                <a16:creationId xmlns:a16="http://schemas.microsoft.com/office/drawing/2014/main" id="{2E6B5064-4629-4D4B-8631-B3C3CBAE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small standard error can make an omitted-variable bias look very precise.</a:t>
            </a:r>
          </a:p>
        </p:txBody>
      </p:sp>
      <p:sp>
        <p:nvSpPr>
          <p:cNvPr id="9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FE6570DC-FF87-4892-9E13-0805E42F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Name the unit, estimate, benchmark, uncertainty, assumption, and limitation.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AA6BAA0-B033-477D-B000-1DEFBAA4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7182658-2140-4AEF-8BE0-BA95ECC0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75752F9-3B14-4E38-9BA1-7B06420A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48/50</a:t>
            </a:r>
          </a:p>
        </p:txBody>
      </p:sp>
    </p:spTree>
    <p:extLst>
      <p:ext uri="{BB962C8B-B14F-4D97-AF65-F5344CB8AC3E}">
        <p14:creationId xmlns:p14="http://schemas.microsoft.com/office/powerpoint/2010/main" val="1271630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6B52192-7F76-41ED-B0CE-5A7E02D1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LIMITATIONS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63041F-84A4-41E6-A0EC-0266E0C7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this method does not give you for free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4EFAF9F-A373-450B-BBB8-E39C5B09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2CD35414-F565-4AAF-B826-9E859E5F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small standard error can make an omitted-variable bias look very precise.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54F78061-2D59-4F20-B517-261B03DA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41ADD54D-7727-4025-969D-F281E128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E[ε|X] = 0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F069218C-651B-4208-BF8D-5A6AEB38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8FC5D719-1FFE-4790-AC81-0C577AD1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5ED97711-4D4C-4C0A-BD76-0DFAF325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 perfect collinearity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B1A1491C-A502-40B9-896A-A80991B8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6DBFEBDB-0D75-41B4-87C5-758DD070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9706FB36-D3D8-459F-B824-343DE3B7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covariance estimator matches heteroskedasticity or clustering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F9D9AD67-CB02-4B1A-8F3E-0E9D9567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DE9438AB-6CEB-4859-A01C-F3962BDD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6EB97C04-7C67-4583-B160-57C324EF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sample represents the target population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0480C7EC-4126-4874-8F5C-AAEB6B29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limitation is not a disclaimer at the end. It determines the design, diagnostic, and wording of the result.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9281233-BB53-4EC4-A1BE-C51BEEA5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A253AED-7289-402C-81AF-F36E6119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BEA9496-ACE3-4E5C-BBE1-F3A423C9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49/50</a:t>
            </a:r>
          </a:p>
        </p:txBody>
      </p:sp>
    </p:spTree>
    <p:extLst>
      <p:ext uri="{BB962C8B-B14F-4D97-AF65-F5344CB8AC3E}">
        <p14:creationId xmlns:p14="http://schemas.microsoft.com/office/powerpoint/2010/main" val="190627515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C1DCC365-CF88-468C-89D9-524D6596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NEXT 90 MINUTES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85D6BA-C84F-4DF2-A409-78C8819E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 inference with few treated groups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815C3270-91C5-499A-BAD0-2D0D01B6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9334EB57-E2ED-49F3-A7E7-82425520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Reproduce an article result, change the uncertainty estimator, and explain why the conclusion moves.</a:t>
            </a:r>
          </a:p>
        </p:txBody>
      </p:sp>
      <p:sp>
        <p:nvSpPr>
          <p:cNvPr id="5" name="practice-step-0">
            <a:extLst xmlns:a="http://schemas.openxmlformats.org/drawingml/2006/main">
              <a:ext uri="{FF2B5EF4-FFF2-40B4-BE49-F238E27FC236}">
                <a16:creationId xmlns:a16="http://schemas.microsoft.com/office/drawing/2014/main" id="{7455E0FA-5226-4F18-9154-568D7577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practice-task-0">
            <a:extLst xmlns:a="http://schemas.openxmlformats.org/drawingml/2006/main">
              <a:ext uri="{FF2B5EF4-FFF2-40B4-BE49-F238E27FC236}">
                <a16:creationId xmlns:a16="http://schemas.microsoft.com/office/drawing/2014/main" id="{FA053F62-BCDF-45C7-85D5-E49EC82D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the estimand and clustering level</a:t>
            </a:r>
          </a:p>
        </p:txBody>
      </p:sp>
      <p:sp>
        <p:nvSpPr>
          <p:cNvPr id="7" name="practice-step-1">
            <a:extLst xmlns:a="http://schemas.openxmlformats.org/drawingml/2006/main">
              <a:ext uri="{FF2B5EF4-FFF2-40B4-BE49-F238E27FC236}">
                <a16:creationId xmlns:a16="http://schemas.microsoft.com/office/drawing/2014/main" id="{50F24C43-E445-4083-BC65-4E39FDD7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practice-task-1">
            <a:extLst xmlns:a="http://schemas.openxmlformats.org/drawingml/2006/main">
              <a:ext uri="{FF2B5EF4-FFF2-40B4-BE49-F238E27FC236}">
                <a16:creationId xmlns:a16="http://schemas.microsoft.com/office/drawing/2014/main" id="{C1ECD266-278D-427B-9E42-A635D371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reported estimate</a:t>
            </a:r>
          </a:p>
        </p:txBody>
      </p:sp>
      <p:sp>
        <p:nvSpPr>
          <p:cNvPr id="9" name="practice-step-2">
            <a:extLst xmlns:a="http://schemas.openxmlformats.org/drawingml/2006/main">
              <a:ext uri="{FF2B5EF4-FFF2-40B4-BE49-F238E27FC236}">
                <a16:creationId xmlns:a16="http://schemas.microsoft.com/office/drawing/2014/main" id="{555DD75A-2AA7-4797-941A-2FCE19CB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practice-task-2">
            <a:extLst xmlns:a="http://schemas.openxmlformats.org/drawingml/2006/main">
              <a:ext uri="{FF2B5EF4-FFF2-40B4-BE49-F238E27FC236}">
                <a16:creationId xmlns:a16="http://schemas.microsoft.com/office/drawing/2014/main" id="{D3DB0D9E-4D43-49CD-B727-7BD09AF1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conventional and robust uncertainty</a:t>
            </a:r>
          </a:p>
        </p:txBody>
      </p:sp>
      <p:sp>
        <p:nvSpPr>
          <p:cNvPr id="11" name="practice-step-3">
            <a:extLst xmlns:a="http://schemas.openxmlformats.org/drawingml/2006/main">
              <a:ext uri="{FF2B5EF4-FFF2-40B4-BE49-F238E27FC236}">
                <a16:creationId xmlns:a16="http://schemas.microsoft.com/office/drawing/2014/main" id="{335470FC-CF4A-4418-8087-54BCFC76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practice-task-3">
            <a:extLst xmlns:a="http://schemas.openxmlformats.org/drawingml/2006/main">
              <a:ext uri="{FF2B5EF4-FFF2-40B4-BE49-F238E27FC236}">
                <a16:creationId xmlns:a16="http://schemas.microsoft.com/office/drawing/2014/main" id="{2DD46493-FFD9-4619-BE03-9FD37467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Stress heteroskedastic group sizes</a:t>
            </a:r>
          </a:p>
        </p:txBody>
      </p:sp>
      <p:sp>
        <p:nvSpPr>
          <p:cNvPr id="13" name="practice-step-4">
            <a:extLst xmlns:a="http://schemas.openxmlformats.org/drawingml/2006/main">
              <a:ext uri="{FF2B5EF4-FFF2-40B4-BE49-F238E27FC236}">
                <a16:creationId xmlns:a16="http://schemas.microsoft.com/office/drawing/2014/main" id="{2618EC2A-2D12-4A5E-A827-49AE8FA6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4" name="practice-task-4">
            <a:extLst xmlns:a="http://schemas.openxmlformats.org/drawingml/2006/main">
              <a:ext uri="{FF2B5EF4-FFF2-40B4-BE49-F238E27FC236}">
                <a16:creationId xmlns:a16="http://schemas.microsoft.com/office/drawing/2014/main" id="{DC7BBF95-E9B4-464A-8A36-9708B94A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Write the narrowest defensible interpretation</a:t>
            </a:r>
          </a:p>
        </p:txBody>
      </p:sp>
      <p:sp>
        <p:nvSpPr>
          <p:cNvPr id="15" name="practice-callout-bg">
            <a:extLst xmlns:a="http://schemas.openxmlformats.org/drawingml/2006/main">
              <a:ext uri="{FF2B5EF4-FFF2-40B4-BE49-F238E27FC236}">
                <a16:creationId xmlns:a16="http://schemas.microsoft.com/office/drawing/2014/main" id="{241DA143-717A-4B80-B125-7AF1DCC0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3505200" cy="37147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practice-callout-label">
            <a:extLst xmlns:a="http://schemas.openxmlformats.org/drawingml/2006/main">
              <a:ext uri="{FF2B5EF4-FFF2-40B4-BE49-F238E27FC236}">
                <a16:creationId xmlns:a16="http://schemas.microsoft.com/office/drawing/2014/main" id="{A55B08B0-DD0B-4E44-8C9B-F3C664D6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AIM FOR</a:t>
            </a:r>
          </a:p>
        </p:txBody>
      </p:sp>
      <p:sp>
        <p:nvSpPr>
          <p:cNvPr id="17" name="practice-callout">
            <a:extLst xmlns:a="http://schemas.openxmlformats.org/drawingml/2006/main">
              <a:ext uri="{FF2B5EF4-FFF2-40B4-BE49-F238E27FC236}">
                <a16:creationId xmlns:a16="http://schemas.microsoft.com/office/drawing/2014/main" id="{D99ED318-21C3-4E50-8677-03CEFD21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reproducible result.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comparison.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stressed assumption.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short group presentation.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D2B4983-32B6-475C-AE85-176265CE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9AD8A2E-06CC-41C9-AEDA-ED8B5A2A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49C0927-6C6B-4B90-8843-CE78FC1C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50/50</a:t>
            </a:r>
          </a:p>
        </p:txBody>
      </p:sp>
    </p:spTree>
    <p:extLst>
      <p:ext uri="{BB962C8B-B14F-4D97-AF65-F5344CB8AC3E}">
        <p14:creationId xmlns:p14="http://schemas.microsoft.com/office/powerpoint/2010/main" val="62202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MATH60033A Session 03 Lecture</dc:title>
  <dcterms:created xsi:type="dcterms:W3CDTF">2026-08-23T23:37:12.9530000Z</dcterms:created>
  <dcterms:modified xsi:type="dcterms:W3CDTF">2026-08-23T23:37:12.9530000Z</dcterms:modified>
</coreProperties>
</file>