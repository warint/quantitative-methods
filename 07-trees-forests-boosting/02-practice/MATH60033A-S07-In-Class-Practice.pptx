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d293d0dbef48e7" /><Relationship Type="http://schemas.openxmlformats.org/officeDocument/2006/relationships/extended-properties" Target="/docProps/app.xml" Id="R74720e55da854105" /><Relationship Type="http://schemas.openxmlformats.org/officeDocument/2006/relationships/officeDocument" Target="/ppt/presentation.xml" Id="R969eec75916640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987b6f7927486e"/>
  </p:sldMasterIdLst>
  <p:notesMasterIdLst>
    <p:notesMasterId xmlns:r="http://schemas.openxmlformats.org/officeDocument/2006/relationships" r:id="R27a619946177444f"/>
  </p:notesMasterIdLst>
  <p:sldIdLst>
    <p:sldId xmlns:r="http://schemas.openxmlformats.org/officeDocument/2006/relationships" id="256" r:id="R9e9d0849745347f0"/>
    <p:sldId xmlns:r="http://schemas.openxmlformats.org/officeDocument/2006/relationships" id="257" r:id="R0b89cd77674c481b"/>
    <p:sldId xmlns:r="http://schemas.openxmlformats.org/officeDocument/2006/relationships" id="258" r:id="R26935b44fea040b8"/>
    <p:sldId xmlns:r="http://schemas.openxmlformats.org/officeDocument/2006/relationships" id="259" r:id="Re66b4c7b9ed54643"/>
    <p:sldId xmlns:r="http://schemas.openxmlformats.org/officeDocument/2006/relationships" id="260" r:id="R89c45e92e269414e"/>
    <p:sldId xmlns:r="http://schemas.openxmlformats.org/officeDocument/2006/relationships" id="261" r:id="Rdb4a9672d4c74020"/>
    <p:sldId xmlns:r="http://schemas.openxmlformats.org/officeDocument/2006/relationships" id="262" r:id="R29792b2b0ca44f48"/>
    <p:sldId xmlns:r="http://schemas.openxmlformats.org/officeDocument/2006/relationships" id="263" r:id="Re6835dc8b08141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c57e12bb644f22" /><Relationship Type="http://schemas.openxmlformats.org/officeDocument/2006/relationships/slideMaster" Target="/ppt/slideMasters/slideMaster1.xml" Id="R98987b6f7927486e" /><Relationship Type="http://schemas.openxmlformats.org/officeDocument/2006/relationships/notesMaster" Target="/ppt/notesMasters/notesMaster1.xml" Id="R27a619946177444f" /><Relationship Type="http://schemas.openxmlformats.org/officeDocument/2006/relationships/presProps" Target="/ppt/presProps.xml" Id="Rc48c5c4584c34604" /><Relationship Type="http://schemas.openxmlformats.org/officeDocument/2006/relationships/tableStyles" Target="/ppt/tableStyles.xml" Id="R71349229d9b342fc" /><Relationship Type="http://schemas.openxmlformats.org/officeDocument/2006/relationships/slide" Target="/ppt/slides/slide1.xml" Id="R9e9d0849745347f0" /><Relationship Type="http://schemas.openxmlformats.org/officeDocument/2006/relationships/slide" Target="/ppt/slides/slide2.xml" Id="R0b89cd77674c481b" /><Relationship Type="http://schemas.openxmlformats.org/officeDocument/2006/relationships/slide" Target="/ppt/slides/slide3.xml" Id="R26935b44fea040b8" /><Relationship Type="http://schemas.openxmlformats.org/officeDocument/2006/relationships/slide" Target="/ppt/slides/slide4.xml" Id="Re66b4c7b9ed54643" /><Relationship Type="http://schemas.openxmlformats.org/officeDocument/2006/relationships/slide" Target="/ppt/slides/slide5.xml" Id="R89c45e92e269414e" /><Relationship Type="http://schemas.openxmlformats.org/officeDocument/2006/relationships/slide" Target="/ppt/slides/slide6.xml" Id="Rdb4a9672d4c74020" /><Relationship Type="http://schemas.openxmlformats.org/officeDocument/2006/relationships/slide" Target="/ppt/slides/slide7.xml" Id="R29792b2b0ca44f48" /><Relationship Type="http://schemas.openxmlformats.org/officeDocument/2006/relationships/slide" Target="/ppt/slides/slide8.xml" Id="Re6835dc8b08141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da50d481ea49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17e2d6e4a2484a" /><Relationship Type="http://schemas.openxmlformats.org/officeDocument/2006/relationships/notesMaster" Target="/ppt/notesMasters/notesMaster1.xml" Id="R466965b124b749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a8962ffc1c4e32" /><Relationship Type="http://schemas.openxmlformats.org/officeDocument/2006/relationships/notesMaster" Target="/ppt/notesMasters/notesMaster1.xml" Id="Rf7895863c4054c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57d2fc99784421" /><Relationship Type="http://schemas.openxmlformats.org/officeDocument/2006/relationships/notesMaster" Target="/ppt/notesMasters/notesMaster1.xml" Id="R8b048aeb57e044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bbe3b8617c4091" /><Relationship Type="http://schemas.openxmlformats.org/officeDocument/2006/relationships/notesMaster" Target="/ppt/notesMasters/notesMaster1.xml" Id="Rd9cd01f4cde844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b2568bf75e460e" /><Relationship Type="http://schemas.openxmlformats.org/officeDocument/2006/relationships/notesMaster" Target="/ppt/notesMasters/notesMaster1.xml" Id="R00394e8ad6ce4b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b7b94a77e54aa7" /><Relationship Type="http://schemas.openxmlformats.org/officeDocument/2006/relationships/notesMaster" Target="/ppt/notesMasters/notesMaster1.xml" Id="Rc60f6b8b7ca84e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fb6d9df616419a" /><Relationship Type="http://schemas.openxmlformats.org/officeDocument/2006/relationships/notesMaster" Target="/ppt/notesMasters/notesMaster1.xml" Id="R2ca7c536f1a44c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8502a5346e482a" /><Relationship Type="http://schemas.openxmlformats.org/officeDocument/2006/relationships/notesMaster" Target="/ppt/notesMasters/notesMaster1.xml" Id="R0161c3bb17fe4a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90 minutes in groups: Reproduce the article comparison, add boosting, and audit whether the explanation is 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07-trees-forests-boosting/slides.qmd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ISLR, tree-based methods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Groups work collaboratively. Assign a driver, a checker, and a narrator, then rotate roles halfway 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07-trees-forests-boosting/02-practice/README.md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ISLR, tree-based methods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time at each transition. The one-slide presentation is the in-class product, not homework.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07-trees-forests-boosting/02-practice/README.md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ISLR, tree-based methods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 demo fails, fix the environment before starting the research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07-trees-forests-boosting/02-practice/README.md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ISLR, tree-based methods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 one member to narrate why each transition exists while another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07-trees-forests-boosting/02-practice/README.md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ISLR, tree-based methods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failure is the learning objective. Do not let groups skip it after obtaining a clean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07-trees-forests-boosting/02-practice/README.md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ISLR, tree-based methods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the presenter after the group is called. This makes shared understanding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07-trees-forests-boosting/02-practice/README.md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ISLR, tree-based methods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QMIB Lab App is an optional post-class knowledge check. Completion can count toward participation; it is not preparation for the next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QMIB Lab App: /Users/thierrywarin/Desktop/QMIB-lab-app/README.md</a:t>
            </a:r>
          </a:p>
          <a:p xmlns:a="http://schemas.openxmlformats.org/drawingml/2006/main">
            <a:r>
              <a:t>- Course source: 07-trees-forests-boosting/02-practice/README.md</a:t>
            </a:r>
          </a:p>
          <a:p xmlns:a="http://schemas.openxmlformats.org/drawingml/2006/main">
            <a:r>
              <a:t>- Amsili, van Es &amp; Schindelbeck (2025) — Soil Protein with Random Forests — https://doi.org/10.1080/00103624.2025.2454015</a:t>
            </a:r>
          </a:p>
          <a:p xmlns:a="http://schemas.openxmlformats.org/drawingml/2006/main">
            <a:r>
              <a:t>- Harvard Dataverse 10.7910/DVN/HGBPCW — https://doi.org/10.7910/DVN/HGBPCW</a:t>
            </a:r>
          </a:p>
          <a:p xmlns:a="http://schemas.openxmlformats.org/drawingml/2006/main">
            <a:r>
              <a:t>- ISLR, tree-based methods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195ec2e23f42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961100749449bc" /><Relationship Type="http://schemas.openxmlformats.org/officeDocument/2006/relationships/slideLayout" Target="/ppt/slideLayouts/slideLayout1.xml" Id="Raee42bc6dfd248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e42bc6dfd248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810f128c546c4" /><Relationship Type="http://schemas.openxmlformats.org/officeDocument/2006/relationships/notesSlide" Target="/ppt/notesSlides/notesSlide1.xml" Id="R67d554327fa843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4aa41e90a417f" /><Relationship Type="http://schemas.openxmlformats.org/officeDocument/2006/relationships/notesSlide" Target="/ppt/notesSlides/notesSlide2.xml" Id="R515307295ea847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7f0d9a41c4965" /><Relationship Type="http://schemas.openxmlformats.org/officeDocument/2006/relationships/notesSlide" Target="/ppt/notesSlides/notesSlide3.xml" Id="R0d5dbe06f0c448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e6de4c44144da" /><Relationship Type="http://schemas.openxmlformats.org/officeDocument/2006/relationships/notesSlide" Target="/ppt/notesSlides/notesSlide4.xml" Id="R40bd92d9ebf948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674359cd24bc7" /><Relationship Type="http://schemas.openxmlformats.org/officeDocument/2006/relationships/notesSlide" Target="/ppt/notesSlides/notesSlide5.xml" Id="R6db4dfd8225e48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982e4b6344a65" /><Relationship Type="http://schemas.openxmlformats.org/officeDocument/2006/relationships/notesSlide" Target="/ppt/notesSlides/notesSlide6.xml" Id="R85b1c2df35ae4a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83880c13b4a56" /><Relationship Type="http://schemas.openxmlformats.org/officeDocument/2006/relationships/notesSlide" Target="/ppt/notesSlides/notesSlide7.xml" Id="R20017d145ae048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19bef205a4ce7" /><Relationship Type="http://schemas.openxmlformats.org/officeDocument/2006/relationships/notesSlide" Target="/ppt/notesSlides/notesSlide8.xml" Id="R5ac3ee7d11354e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D4913B8-AEA8-46C0-8BFE-EC977867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07 · IN-CLASS PRACTICE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D81E8F2-E009-4249-B847-28154684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the soil-protein random forest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64045793-32BA-4143-9E12-D2156E2B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90 minutes in groups: Reproduce the article comparison, add boosting, and audit whether the explanation is stable.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C0AEAF79-6FEF-4B71-B4DF-35A0A9D9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6DF8154F-F436-4D8E-B922-2E764B8B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cxnSp>
        <p:nvCxnSpPr>
          <p:cNvPr id="23" name="tree-edge-a-0"/>
          <p:cNvCxnSpPr/>
          <p:nvPr/>
        </p:nvCxnSpPr>
        <p:spPr>
          <a:xfrm xmlns:a="http://schemas.openxmlformats.org/drawingml/2006/main">
            <a:off x="8443913" y="16573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4" name="tree-edge-b-0"/>
          <p:cNvCxnSpPr/>
          <p:nvPr/>
        </p:nvCxnSpPr>
        <p:spPr>
          <a:xfrm xmlns:a="http://schemas.openxmlformats.org/drawingml/2006/main">
            <a:off x="9034463" y="1657350"/>
            <a:ext cx="5905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5" name="tree-edge-c-0"/>
          <p:cNvCxnSpPr/>
          <p:nvPr/>
        </p:nvCxnSpPr>
        <p:spPr>
          <a:xfrm xmlns:a="http://schemas.openxmlformats.org/drawingml/2006/main">
            <a:off x="8120063" y="24955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6" name="tree-edge-d-0"/>
          <p:cNvCxnSpPr/>
          <p:nvPr/>
        </p:nvCxnSpPr>
        <p:spPr>
          <a:xfrm xmlns:a="http://schemas.openxmlformats.org/drawingml/2006/main">
            <a:off x="8443913" y="2495550"/>
            <a:ext cx="3238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tree-root-0">
            <a:extLst xmlns:a="http://schemas.openxmlformats.org/drawingml/2006/main">
              <a:ext uri="{FF2B5EF4-FFF2-40B4-BE49-F238E27FC236}">
                <a16:creationId xmlns:a16="http://schemas.microsoft.com/office/drawing/2014/main" id="{99EF1C58-6C60-4BC9-A983-DD52A476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413" y="1200150"/>
            <a:ext cx="800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ee-mid-l-0">
            <a:extLst xmlns:a="http://schemas.openxmlformats.org/drawingml/2006/main">
              <a:ext uri="{FF2B5EF4-FFF2-40B4-BE49-F238E27FC236}">
                <a16:creationId xmlns:a16="http://schemas.microsoft.com/office/drawing/2014/main" id="{CF7189AC-76A5-465F-AC20-0E874FB0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863" y="21145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tree-mid-r-0">
            <a:extLst xmlns:a="http://schemas.openxmlformats.org/drawingml/2006/main">
              <a:ext uri="{FF2B5EF4-FFF2-40B4-BE49-F238E27FC236}">
                <a16:creationId xmlns:a16="http://schemas.microsoft.com/office/drawing/2014/main" id="{CEDE7CB1-7569-49A4-80E5-4C9056CD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2114550"/>
            <a:ext cx="800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tree-low-l-0">
            <a:extLst xmlns:a="http://schemas.openxmlformats.org/drawingml/2006/main">
              <a:ext uri="{FF2B5EF4-FFF2-40B4-BE49-F238E27FC236}">
                <a16:creationId xmlns:a16="http://schemas.microsoft.com/office/drawing/2014/main" id="{AE4BF622-F025-40E5-8AD2-1CE67E5A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213" y="30670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ree-low-r-0">
            <a:extLst xmlns:a="http://schemas.openxmlformats.org/drawingml/2006/main">
              <a:ext uri="{FF2B5EF4-FFF2-40B4-BE49-F238E27FC236}">
                <a16:creationId xmlns:a16="http://schemas.microsoft.com/office/drawing/2014/main" id="{6AD5EB98-AD8A-44DF-9CE3-B7912E5C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113" y="3067050"/>
            <a:ext cx="590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A26A0F4-78AA-4A49-829B-D272D60C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A66E9B0-C64A-42B0-9776-04D575C4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E65E813-E8B1-4325-B823-E9549868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1</a:t>
            </a:r>
          </a:p>
        </p:txBody>
      </p:sp>
    </p:spTree>
    <p:extLst>
      <p:ext uri="{BB962C8B-B14F-4D97-AF65-F5344CB8AC3E}">
        <p14:creationId xmlns:p14="http://schemas.microsoft.com/office/powerpoint/2010/main" val="643111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41BF5BB0-268E-4FBC-BCF3-4193F3F6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CHALLENGE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C42DF7-4312-4582-A885-F038E7CA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the method into a defensible group result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80FD800-C0FD-45DC-B860-2B4ECDB0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hallenge-label">
            <a:extLst xmlns:a="http://schemas.openxmlformats.org/drawingml/2006/main">
              <a:ext uri="{FF2B5EF4-FFF2-40B4-BE49-F238E27FC236}">
                <a16:creationId xmlns:a16="http://schemas.microsoft.com/office/drawing/2014/main" id="{619E76DB-8E54-4278-BF6C-2A28EBE4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CHALLENGE</a:t>
            </a:r>
          </a:p>
        </p:txBody>
      </p:sp>
      <p:sp>
        <p:nvSpPr>
          <p:cNvPr id="5" name="challenge-copy">
            <a:extLst xmlns:a="http://schemas.openxmlformats.org/drawingml/2006/main">
              <a:ext uri="{FF2B5EF4-FFF2-40B4-BE49-F238E27FC236}">
                <a16:creationId xmlns:a16="http://schemas.microsoft.com/office/drawing/2014/main" id="{D39C7E01-FC37-4FD8-AA54-44845482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5905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the article comparison, add boosting, and audit whether the explanation is stable.</a:t>
            </a:r>
          </a:p>
        </p:txBody>
      </p:sp>
      <p:sp>
        <p:nvSpPr>
          <p:cNvPr id="6" name="challenge-result-label">
            <a:extLst xmlns:a="http://schemas.openxmlformats.org/drawingml/2006/main">
              <a:ext uri="{FF2B5EF4-FFF2-40B4-BE49-F238E27FC236}">
                <a16:creationId xmlns:a16="http://schemas.microsoft.com/office/drawing/2014/main" id="{6DBB877D-8A1D-458C-AEA3-CC06B36F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RESULT AT MINUTE 70</a:t>
            </a:r>
          </a:p>
        </p:txBody>
      </p:sp>
      <p:sp>
        <p:nvSpPr>
          <p:cNvPr id="7" name="challenge-result">
            <a:extLst xmlns:a="http://schemas.openxmlformats.org/drawingml/2006/main">
              <a:ext uri="{FF2B5EF4-FFF2-40B4-BE49-F238E27FC236}">
                <a16:creationId xmlns:a16="http://schemas.microsoft.com/office/drawing/2014/main" id="{F61610FD-8A94-4A1B-B2AF-ABD46784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590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the full-versus-reduced random-forest comparison, then add a tuned boosting benchmark and audit importance.</a:t>
            </a:r>
          </a:p>
        </p:txBody>
      </p:sp>
      <p:sp>
        <p:nvSpPr>
          <p:cNvPr id="8" name="objective-bg">
            <a:extLst xmlns:a="http://schemas.openxmlformats.org/drawingml/2006/main">
              <a:ext uri="{FF2B5EF4-FFF2-40B4-BE49-F238E27FC236}">
                <a16:creationId xmlns:a16="http://schemas.microsoft.com/office/drawing/2014/main" id="{23DA99F2-4425-45AF-9DE8-009102BC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76400"/>
            <a:ext cx="419100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objective-title">
            <a:extLst xmlns:a="http://schemas.openxmlformats.org/drawingml/2006/main">
              <a:ext uri="{FF2B5EF4-FFF2-40B4-BE49-F238E27FC236}">
                <a16:creationId xmlns:a16="http://schemas.microsoft.com/office/drawing/2014/main" id="{7266211C-38F6-42B7-A371-AB3D8DC5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By the end, your group can…</a:t>
            </a:r>
          </a:p>
        </p:txBody>
      </p:sp>
      <p:sp>
        <p:nvSpPr>
          <p:cNvPr id="10" name="objective-num-0">
            <a:extLst xmlns:a="http://schemas.openxmlformats.org/drawingml/2006/main">
              <a:ext uri="{FF2B5EF4-FFF2-40B4-BE49-F238E27FC236}">
                <a16:creationId xmlns:a16="http://schemas.microsoft.com/office/drawing/2014/main" id="{4467E51B-F11B-4230-B11A-27782426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objective-item-0">
            <a:extLst xmlns:a="http://schemas.openxmlformats.org/drawingml/2006/main">
              <a:ext uri="{FF2B5EF4-FFF2-40B4-BE49-F238E27FC236}">
                <a16:creationId xmlns:a16="http://schemas.microsoft.com/office/drawing/2014/main" id="{0760F38B-106A-4A55-9DB6-9FFD9C34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336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an article result</a:t>
            </a:r>
          </a:p>
        </p:txBody>
      </p:sp>
      <p:sp>
        <p:nvSpPr>
          <p:cNvPr id="12" name="objective-num-1">
            <a:extLst xmlns:a="http://schemas.openxmlformats.org/drawingml/2006/main">
              <a:ext uri="{FF2B5EF4-FFF2-40B4-BE49-F238E27FC236}">
                <a16:creationId xmlns:a16="http://schemas.microsoft.com/office/drawing/2014/main" id="{F721D023-7D70-4D31-B07F-359F7968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09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objective-item-1">
            <a:extLst xmlns:a="http://schemas.openxmlformats.org/drawingml/2006/main">
              <a:ext uri="{FF2B5EF4-FFF2-40B4-BE49-F238E27FC236}">
                <a16:creationId xmlns:a16="http://schemas.microsoft.com/office/drawing/2014/main" id="{D8602D67-D67E-4946-9280-7EFC4C74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benchmark</a:t>
            </a:r>
          </a:p>
        </p:txBody>
      </p:sp>
      <p:sp>
        <p:nvSpPr>
          <p:cNvPr id="14" name="objective-num-2">
            <a:extLst xmlns:a="http://schemas.openxmlformats.org/drawingml/2006/main">
              <a:ext uri="{FF2B5EF4-FFF2-40B4-BE49-F238E27FC236}">
                <a16:creationId xmlns:a16="http://schemas.microsoft.com/office/drawing/2014/main" id="{C1856755-722F-480E-B424-C83D4DD8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38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objective-item-2">
            <a:extLst xmlns:a="http://schemas.openxmlformats.org/drawingml/2006/main">
              <a:ext uri="{FF2B5EF4-FFF2-40B4-BE49-F238E27FC236}">
                <a16:creationId xmlns:a16="http://schemas.microsoft.com/office/drawing/2014/main" id="{BB269EE5-8B73-42B2-A734-A82CEDA9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909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 one assumption</a:t>
            </a:r>
          </a:p>
        </p:txBody>
      </p:sp>
      <p:sp>
        <p:nvSpPr>
          <p:cNvPr id="16" name="objective-num-3">
            <a:extLst xmlns:a="http://schemas.openxmlformats.org/drawingml/2006/main">
              <a:ext uri="{FF2B5EF4-FFF2-40B4-BE49-F238E27FC236}">
                <a16:creationId xmlns:a16="http://schemas.microsoft.com/office/drawing/2014/main" id="{323DFD9F-6017-4D2C-BD21-0725D6C1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objective-item-3">
            <a:extLst xmlns:a="http://schemas.openxmlformats.org/drawingml/2006/main">
              <a:ext uri="{FF2B5EF4-FFF2-40B4-BE49-F238E27FC236}">
                <a16:creationId xmlns:a16="http://schemas.microsoft.com/office/drawing/2014/main" id="{D1BE0C7C-53C3-4E34-A838-2C8FEC51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Explain the supported claim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46E0056-FEDD-4BF0-ACA4-C756BDBA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410B0F4-463B-4DF6-86B6-A9248291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A8AA6DE-390F-4A51-B212-DB131A52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2</a:t>
            </a:r>
          </a:p>
        </p:txBody>
      </p:sp>
    </p:spTree>
    <p:extLst>
      <p:ext uri="{BB962C8B-B14F-4D97-AF65-F5344CB8AC3E}">
        <p14:creationId xmlns:p14="http://schemas.microsoft.com/office/powerpoint/2010/main" val="11437488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71BC69BA-AD80-49C9-BA87-F0FF2CE4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90-MINUTE PLAN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FEECDB-EBA7-4FFF-B81B-5DAD9AED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Protect the final 20 minutes for presentations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701F617-95D6-4769-A71A-877B1594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ing-time-0">
            <a:extLst xmlns:a="http://schemas.openxmlformats.org/drawingml/2006/main">
              <a:ext uri="{FF2B5EF4-FFF2-40B4-BE49-F238E27FC236}">
                <a16:creationId xmlns:a16="http://schemas.microsoft.com/office/drawing/2014/main" id="{A01597BC-D8CC-415A-AC40-23C553D8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00–10</a:t>
            </a:r>
          </a:p>
        </p:txBody>
      </p:sp>
      <p:sp>
        <p:nvSpPr>
          <p:cNvPr id="5" name="timing-name-0">
            <a:extLst xmlns:a="http://schemas.openxmlformats.org/drawingml/2006/main">
              <a:ext uri="{FF2B5EF4-FFF2-40B4-BE49-F238E27FC236}">
                <a16:creationId xmlns:a16="http://schemas.microsoft.com/office/drawing/2014/main" id="{69369E3F-E813-44C1-A1A9-0162A916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57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Locate</a:t>
            </a:r>
          </a:p>
        </p:txBody>
      </p:sp>
      <p:sp>
        <p:nvSpPr>
          <p:cNvPr id="6" name="timing-copy-0">
            <a:extLst xmlns:a="http://schemas.openxmlformats.org/drawingml/2006/main">
              <a:ext uri="{FF2B5EF4-FFF2-40B4-BE49-F238E27FC236}">
                <a16:creationId xmlns:a16="http://schemas.microsoft.com/office/drawing/2014/main" id="{3E8B9DC4-E4FA-4DCC-92F6-1FBE1D77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57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roles and locate the exact article result to reproduce.</a:t>
            </a:r>
          </a:p>
        </p:txBody>
      </p:sp>
      <p:sp>
        <p:nvSpPr>
          <p:cNvPr id="7" name="rule-184-226">
            <a:extLst xmlns:a="http://schemas.openxmlformats.org/drawingml/2006/main">
              <a:ext uri="{FF2B5EF4-FFF2-40B4-BE49-F238E27FC236}">
                <a16:creationId xmlns:a16="http://schemas.microsoft.com/office/drawing/2014/main" id="{20611A1C-0B51-4DB6-8D56-0C3E65FF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526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ing-time-1">
            <a:extLst xmlns:a="http://schemas.openxmlformats.org/drawingml/2006/main">
              <a:ext uri="{FF2B5EF4-FFF2-40B4-BE49-F238E27FC236}">
                <a16:creationId xmlns:a16="http://schemas.microsoft.com/office/drawing/2014/main" id="{794521DB-C32B-41EE-83E6-46BEAD25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10–30</a:t>
            </a:r>
          </a:p>
        </p:txBody>
      </p:sp>
      <p:sp>
        <p:nvSpPr>
          <p:cNvPr id="9" name="timing-name-1">
            <a:extLst xmlns:a="http://schemas.openxmlformats.org/drawingml/2006/main">
              <a:ext uri="{FF2B5EF4-FFF2-40B4-BE49-F238E27FC236}">
                <a16:creationId xmlns:a16="http://schemas.microsoft.com/office/drawing/2014/main" id="{51AE081C-120A-484D-AE90-78F77366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43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</a:t>
            </a:r>
          </a:p>
        </p:txBody>
      </p:sp>
      <p:sp>
        <p:nvSpPr>
          <p:cNvPr id="10" name="timing-copy-1">
            <a:extLst xmlns:a="http://schemas.openxmlformats.org/drawingml/2006/main">
              <a:ext uri="{FF2B5EF4-FFF2-40B4-BE49-F238E27FC236}">
                <a16:creationId xmlns:a16="http://schemas.microsoft.com/office/drawing/2014/main" id="{185BFDB7-D880-464A-BC34-C2C6E1C3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 the authors' data or prepared file and reproduce the target.</a:t>
            </a:r>
          </a:p>
        </p:txBody>
      </p:sp>
      <p:sp>
        <p:nvSpPr>
          <p:cNvPr id="11" name="rule-184-298">
            <a:extLst xmlns:a="http://schemas.openxmlformats.org/drawingml/2006/main">
              <a:ext uri="{FF2B5EF4-FFF2-40B4-BE49-F238E27FC236}">
                <a16:creationId xmlns:a16="http://schemas.microsoft.com/office/drawing/2014/main" id="{F2CFB9D2-539B-411E-AC54-AC8575AA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384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ing-time-2">
            <a:extLst xmlns:a="http://schemas.openxmlformats.org/drawingml/2006/main">
              <a:ext uri="{FF2B5EF4-FFF2-40B4-BE49-F238E27FC236}">
                <a16:creationId xmlns:a16="http://schemas.microsoft.com/office/drawing/2014/main" id="{76324911-F6B1-4487-AEEE-A7313BD9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30–45</a:t>
            </a:r>
          </a:p>
        </p:txBody>
      </p:sp>
      <p:sp>
        <p:nvSpPr>
          <p:cNvPr id="13" name="timing-name-2">
            <a:extLst xmlns:a="http://schemas.openxmlformats.org/drawingml/2006/main">
              <a:ext uri="{FF2B5EF4-FFF2-40B4-BE49-F238E27FC236}">
                <a16:creationId xmlns:a16="http://schemas.microsoft.com/office/drawing/2014/main" id="{E04EB1FA-503A-4D4E-88CB-DCE1C0F3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14" name="timing-copy-2">
            <a:extLst xmlns:a="http://schemas.openxmlformats.org/drawingml/2006/main">
              <a:ext uri="{FF2B5EF4-FFF2-40B4-BE49-F238E27FC236}">
                <a16:creationId xmlns:a16="http://schemas.microsoft.com/office/drawing/2014/main" id="{F8AF3245-FA53-431F-AA80-3770DA2E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Apply the session method or benchmark on the same sample.</a:t>
            </a:r>
          </a:p>
        </p:txBody>
      </p:sp>
      <p:sp>
        <p:nvSpPr>
          <p:cNvPr id="15" name="rule-184-370">
            <a:extLst xmlns:a="http://schemas.openxmlformats.org/drawingml/2006/main">
              <a:ext uri="{FF2B5EF4-FFF2-40B4-BE49-F238E27FC236}">
                <a16:creationId xmlns:a16="http://schemas.microsoft.com/office/drawing/2014/main" id="{3D45257B-5C95-4A08-907C-25601F5A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242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ing-time-3">
            <a:extLst xmlns:a="http://schemas.openxmlformats.org/drawingml/2006/main">
              <a:ext uri="{FF2B5EF4-FFF2-40B4-BE49-F238E27FC236}">
                <a16:creationId xmlns:a16="http://schemas.microsoft.com/office/drawing/2014/main" id="{BD3F9D2F-D233-48EC-B4BE-4553C90C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45–60</a:t>
            </a:r>
          </a:p>
        </p:txBody>
      </p:sp>
      <p:sp>
        <p:nvSpPr>
          <p:cNvPr id="17" name="timing-name-3">
            <a:extLst xmlns:a="http://schemas.openxmlformats.org/drawingml/2006/main">
              <a:ext uri="{FF2B5EF4-FFF2-40B4-BE49-F238E27FC236}">
                <a16:creationId xmlns:a16="http://schemas.microsoft.com/office/drawing/2014/main" id="{F370E399-A0A3-42C3-A704-2312B18A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14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</a:t>
            </a:r>
          </a:p>
        </p:txBody>
      </p:sp>
      <p:sp>
        <p:nvSpPr>
          <p:cNvPr id="18" name="timing-copy-3">
            <a:extLst xmlns:a="http://schemas.openxmlformats.org/drawingml/2006/main">
              <a:ext uri="{FF2B5EF4-FFF2-40B4-BE49-F238E27FC236}">
                <a16:creationId xmlns:a16="http://schemas.microsoft.com/office/drawing/2014/main" id="{3E19CA19-F13F-4117-8C79-0941FA08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Stress one assumption and save before/after evidence.</a:t>
            </a:r>
          </a:p>
        </p:txBody>
      </p:sp>
      <p:sp>
        <p:nvSpPr>
          <p:cNvPr id="19" name="rule-184-442">
            <a:extLst xmlns:a="http://schemas.openxmlformats.org/drawingml/2006/main">
              <a:ext uri="{FF2B5EF4-FFF2-40B4-BE49-F238E27FC236}">
                <a16:creationId xmlns:a16="http://schemas.microsoft.com/office/drawing/2014/main" id="{DE33FBB8-2C40-49CF-B214-D1FF543E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00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ing-time-4">
            <a:extLst xmlns:a="http://schemas.openxmlformats.org/drawingml/2006/main">
              <a:ext uri="{FF2B5EF4-FFF2-40B4-BE49-F238E27FC236}">
                <a16:creationId xmlns:a16="http://schemas.microsoft.com/office/drawing/2014/main" id="{66F8B54C-B556-45DD-B187-CD5057ED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60–70</a:t>
            </a:r>
          </a:p>
        </p:txBody>
      </p:sp>
      <p:sp>
        <p:nvSpPr>
          <p:cNvPr id="21" name="timing-name-4">
            <a:extLst xmlns:a="http://schemas.openxmlformats.org/drawingml/2006/main">
              <a:ext uri="{FF2B5EF4-FFF2-40B4-BE49-F238E27FC236}">
                <a16:creationId xmlns:a16="http://schemas.microsoft.com/office/drawing/2014/main" id="{8A958524-F244-49D7-BB14-3C4414F7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005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Synthesize</a:t>
            </a:r>
          </a:p>
        </p:txBody>
      </p:sp>
      <p:sp>
        <p:nvSpPr>
          <p:cNvPr id="22" name="timing-copy-4">
            <a:extLst xmlns:a="http://schemas.openxmlformats.org/drawingml/2006/main">
              <a:ext uri="{FF2B5EF4-FFF2-40B4-BE49-F238E27FC236}">
                <a16:creationId xmlns:a16="http://schemas.microsoft.com/office/drawing/2014/main" id="{D698E079-16A4-46D5-9D9F-562C22E0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Create one slide: article, replication, catch.</a:t>
            </a:r>
          </a:p>
        </p:txBody>
      </p:sp>
      <p:sp>
        <p:nvSpPr>
          <p:cNvPr id="23" name="rule-184-514">
            <a:extLst xmlns:a="http://schemas.openxmlformats.org/drawingml/2006/main">
              <a:ext uri="{FF2B5EF4-FFF2-40B4-BE49-F238E27FC236}">
                <a16:creationId xmlns:a16="http://schemas.microsoft.com/office/drawing/2014/main" id="{DD4A3495-85AC-43E0-832F-84DCE6BF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958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ing-time-5">
            <a:extLst xmlns:a="http://schemas.openxmlformats.org/drawingml/2006/main">
              <a:ext uri="{FF2B5EF4-FFF2-40B4-BE49-F238E27FC236}">
                <a16:creationId xmlns:a16="http://schemas.microsoft.com/office/drawing/2014/main" id="{595EAFE5-FEDA-409D-BE70-1282CD13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70–90</a:t>
            </a:r>
          </a:p>
        </p:txBody>
      </p:sp>
      <p:sp>
        <p:nvSpPr>
          <p:cNvPr id="25" name="timing-name-5">
            <a:extLst xmlns:a="http://schemas.openxmlformats.org/drawingml/2006/main">
              <a:ext uri="{FF2B5EF4-FFF2-40B4-BE49-F238E27FC236}">
                <a16:creationId xmlns:a16="http://schemas.microsoft.com/office/drawing/2014/main" id="{7010528B-7EA0-45FD-9189-06508D1B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86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Present</a:t>
            </a:r>
          </a:p>
        </p:txBody>
      </p:sp>
      <p:sp>
        <p:nvSpPr>
          <p:cNvPr id="26" name="timing-copy-5">
            <a:extLst xmlns:a="http://schemas.openxmlformats.org/drawingml/2006/main">
              <a:ext uri="{FF2B5EF4-FFF2-40B4-BE49-F238E27FC236}">
                <a16:creationId xmlns:a16="http://schemas.microsoft.com/office/drawing/2014/main" id="{3EB51912-2CD8-4147-BC0C-0D492CB3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86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minutes per group; presenter chosen at random.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93286CC-38C9-4A8A-A1AE-A229601D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2149A1D-A7C9-45F6-B4C0-9C43F7DD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7590742-061B-4E59-8EAC-548D9B97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3</a:t>
            </a:r>
          </a:p>
        </p:txBody>
      </p:sp>
    </p:spTree>
    <p:extLst>
      <p:ext uri="{BB962C8B-B14F-4D97-AF65-F5344CB8AC3E}">
        <p14:creationId xmlns:p14="http://schemas.microsoft.com/office/powerpoint/2010/main" val="19673795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BD25054C-8277-4C10-84F5-1A606265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START HERE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BB0031-D62A-43D5-AB54-A87832CA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the Desktop clone in VS Codium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752F849-0CEA-4F69-9986-749C274A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path">
            <a:extLst xmlns:a="http://schemas.openxmlformats.org/drawingml/2006/main">
              <a:ext uri="{FF2B5EF4-FFF2-40B4-BE49-F238E27FC236}">
                <a16:creationId xmlns:a16="http://schemas.microsoft.com/office/drawing/2014/main" id="{8DB1A58B-67E1-472B-B18E-1E6FC9CF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Desktop/quantitative-methods</a:t>
            </a:r>
          </a:p>
        </p:txBody>
      </p:sp>
      <p:sp>
        <p:nvSpPr>
          <p:cNvPr id="5" name="practice-commands">
            <a:extLst xmlns:a="http://schemas.openxmlformats.org/drawingml/2006/main">
              <a:ext uri="{FF2B5EF4-FFF2-40B4-BE49-F238E27FC236}">
                <a16:creationId xmlns:a16="http://schemas.microsoft.com/office/drawing/2014/main" id="{B9FB934F-5842-4071-9DD3-CD25C498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619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52400" rIns="19050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07-trees-forests-boosting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session07_ensembles_demo.py</a:t>
            </a:r>
          </a:p>
        </p:txBody>
      </p:sp>
      <p:sp>
        <p:nvSpPr>
          <p:cNvPr id="6" name="practice-local">
            <a:extLst xmlns:a="http://schemas.openxmlformats.org/drawingml/2006/main">
              <a:ext uri="{FF2B5EF4-FFF2-40B4-BE49-F238E27FC236}">
                <a16:creationId xmlns:a16="http://schemas.microsoft.com/office/drawing/2014/main" id="{EB9B4777-9E8E-4428-9A96-BD724FDD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Package: 10.7910/DVN/HGBPCW. Keep the article result and your comparison separate.</a:t>
            </a:r>
          </a:p>
        </p:txBody>
      </p:sp>
      <p:cxnSp>
        <p:nvCxnSpPr>
          <p:cNvPr id="24" name="workflow-edge-0"/>
          <p:cNvCxnSpPr/>
          <p:nvPr/>
        </p:nvCxnSpPr>
        <p:spPr>
          <a:xfrm xmlns:a="http://schemas.openxmlformats.org/drawingml/2006/main">
            <a:off x="84899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5" name="workflow-edge-1"/>
          <p:cNvCxnSpPr/>
          <p:nvPr/>
        </p:nvCxnSpPr>
        <p:spPr>
          <a:xfrm xmlns:a="http://schemas.openxmlformats.org/drawingml/2006/main">
            <a:off x="99123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9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FC03FAC-3673-4D68-8899-BEBD8569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3AEED48-C6E8-4589-8579-A855F2B7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11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2E3B0975-8427-4FF4-BE3E-904FF9A5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578F0998-7CA2-4981-B314-B15BD5D3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Course demo</a:t>
            </a:r>
          </a:p>
        </p:txBody>
      </p:sp>
      <p:sp>
        <p:nvSpPr>
          <p:cNvPr id="13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DD3924D2-3FBE-49E4-B816-A27D4314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187D787B-8DB2-4614-8482-ED562F6B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Your replication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8719962-2CC0-4C6B-AC3E-49D88755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83D29CB-7F22-4B21-B59D-F79AE8AD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7B30021-B288-4915-8064-93716272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4</a:t>
            </a:r>
          </a:p>
        </p:txBody>
      </p:sp>
    </p:spTree>
    <p:extLst>
      <p:ext uri="{BB962C8B-B14F-4D97-AF65-F5344CB8AC3E}">
        <p14:creationId xmlns:p14="http://schemas.microsoft.com/office/powerpoint/2010/main" val="8171950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43FC5ED4-0FC2-47B3-9779-A4415C4F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WORK SEQUENCE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4F03AB-A9C8-4D7E-AEB5-955CD662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Complete all five moves before presenting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54B03EF-E960-49D2-B342-323C0B66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ask-label-0">
            <a:extLst xmlns:a="http://schemas.openxmlformats.org/drawingml/2006/main">
              <a:ext uri="{FF2B5EF4-FFF2-40B4-BE49-F238E27FC236}">
                <a16:creationId xmlns:a16="http://schemas.microsoft.com/office/drawing/2014/main" id="{23E29392-A4AF-44A2-8DAA-58F19207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1</a:t>
            </a:r>
          </a:p>
        </p:txBody>
      </p:sp>
      <p:sp>
        <p:nvSpPr>
          <p:cNvPr id="5" name="task-body-0">
            <a:extLst xmlns:a="http://schemas.openxmlformats.org/drawingml/2006/main">
              <a:ext uri="{FF2B5EF4-FFF2-40B4-BE49-F238E27FC236}">
                <a16:creationId xmlns:a16="http://schemas.microsoft.com/office/drawing/2014/main" id="{03B54D9B-BA1E-4016-9610-C4F1D3AD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097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the article target and validation sample</a:t>
            </a:r>
          </a:p>
        </p:txBody>
      </p:sp>
      <p:sp>
        <p:nvSpPr>
          <p:cNvPr id="6" name="rule-196-228">
            <a:extLst xmlns:a="http://schemas.openxmlformats.org/drawingml/2006/main">
              <a:ext uri="{FF2B5EF4-FFF2-40B4-BE49-F238E27FC236}">
                <a16:creationId xmlns:a16="http://schemas.microsoft.com/office/drawing/2014/main" id="{7A4B5D8D-0C46-4122-992B-74CE0F31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717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sk-label-1">
            <a:extLst xmlns:a="http://schemas.openxmlformats.org/drawingml/2006/main">
              <a:ext uri="{FF2B5EF4-FFF2-40B4-BE49-F238E27FC236}">
                <a16:creationId xmlns:a16="http://schemas.microsoft.com/office/drawing/2014/main" id="{9B87926E-E6F5-492D-80A9-1C1A58EB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2</a:t>
            </a:r>
          </a:p>
        </p:txBody>
      </p:sp>
      <p:sp>
        <p:nvSpPr>
          <p:cNvPr id="8" name="task-body-1">
            <a:extLst xmlns:a="http://schemas.openxmlformats.org/drawingml/2006/main">
              <a:ext uri="{FF2B5EF4-FFF2-40B4-BE49-F238E27FC236}">
                <a16:creationId xmlns:a16="http://schemas.microsoft.com/office/drawing/2014/main" id="{837CA333-F9DF-4CEE-A6C3-21B8FCFC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the linear and forest comparison</a:t>
            </a:r>
          </a:p>
        </p:txBody>
      </p:sp>
      <p:sp>
        <p:nvSpPr>
          <p:cNvPr id="9" name="rule-196-312">
            <a:extLst xmlns:a="http://schemas.openxmlformats.org/drawingml/2006/main">
              <a:ext uri="{FF2B5EF4-FFF2-40B4-BE49-F238E27FC236}">
                <a16:creationId xmlns:a16="http://schemas.microsoft.com/office/drawing/2014/main" id="{A5150C9C-9AAB-40A5-A9E7-0CD674C1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718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-label-2">
            <a:extLst xmlns:a="http://schemas.openxmlformats.org/drawingml/2006/main">
              <a:ext uri="{FF2B5EF4-FFF2-40B4-BE49-F238E27FC236}">
                <a16:creationId xmlns:a16="http://schemas.microsoft.com/office/drawing/2014/main" id="{F4CD6979-8FFB-4E11-9430-970ADB6E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3</a:t>
            </a:r>
          </a:p>
        </p:txBody>
      </p:sp>
      <p:sp>
        <p:nvSpPr>
          <p:cNvPr id="11" name="task-body-2">
            <a:extLst xmlns:a="http://schemas.openxmlformats.org/drawingml/2006/main">
              <a:ext uri="{FF2B5EF4-FFF2-40B4-BE49-F238E27FC236}">
                <a16:creationId xmlns:a16="http://schemas.microsoft.com/office/drawing/2014/main" id="{EE8E2821-DC99-4D57-A207-6EE44226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99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Tune a boosting model under the same split</a:t>
            </a:r>
          </a:p>
        </p:txBody>
      </p:sp>
      <p:sp>
        <p:nvSpPr>
          <p:cNvPr id="12" name="rule-196-396">
            <a:extLst xmlns:a="http://schemas.openxmlformats.org/drawingml/2006/main">
              <a:ext uri="{FF2B5EF4-FFF2-40B4-BE49-F238E27FC236}">
                <a16:creationId xmlns:a16="http://schemas.microsoft.com/office/drawing/2014/main" id="{E5AB1B79-7FB9-4E7A-8FFD-37A6753A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719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sk-label-3">
            <a:extLst xmlns:a="http://schemas.openxmlformats.org/drawingml/2006/main">
              <a:ext uri="{FF2B5EF4-FFF2-40B4-BE49-F238E27FC236}">
                <a16:creationId xmlns:a16="http://schemas.microsoft.com/office/drawing/2014/main" id="{A84773B8-2D55-4025-BB42-48E9FED0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STEP 4</a:t>
            </a:r>
          </a:p>
        </p:txBody>
      </p:sp>
      <p:sp>
        <p:nvSpPr>
          <p:cNvPr id="14" name="task-body-3">
            <a:extLst xmlns:a="http://schemas.openxmlformats.org/drawingml/2006/main">
              <a:ext uri="{FF2B5EF4-FFF2-40B4-BE49-F238E27FC236}">
                <a16:creationId xmlns:a16="http://schemas.microsoft.com/office/drawing/2014/main" id="{CB80BB07-501E-4028-A341-B4F88705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100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all models on one metric</a:t>
            </a:r>
          </a:p>
        </p:txBody>
      </p:sp>
      <p:sp>
        <p:nvSpPr>
          <p:cNvPr id="15" name="rule-196-480">
            <a:extLst xmlns:a="http://schemas.openxmlformats.org/drawingml/2006/main">
              <a:ext uri="{FF2B5EF4-FFF2-40B4-BE49-F238E27FC236}">
                <a16:creationId xmlns:a16="http://schemas.microsoft.com/office/drawing/2014/main" id="{AEE35F8D-585C-42A3-81C0-A26F0E8C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720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sk-label-4">
            <a:extLst xmlns:a="http://schemas.openxmlformats.org/drawingml/2006/main">
              <a:ext uri="{FF2B5EF4-FFF2-40B4-BE49-F238E27FC236}">
                <a16:creationId xmlns:a16="http://schemas.microsoft.com/office/drawing/2014/main" id="{43207D56-E6E8-4C11-8932-0EEB46F5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5</a:t>
            </a:r>
          </a:p>
        </p:txBody>
      </p:sp>
      <p:sp>
        <p:nvSpPr>
          <p:cNvPr id="17" name="task-body-4">
            <a:extLst xmlns:a="http://schemas.openxmlformats.org/drawingml/2006/main">
              <a:ext uri="{FF2B5EF4-FFF2-40B4-BE49-F238E27FC236}">
                <a16:creationId xmlns:a16="http://schemas.microsoft.com/office/drawing/2014/main" id="{93AD966D-2D73-4BBA-9815-3B832255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01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Audit one importance explanation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EA856E9-D24C-4BCA-BC24-C4A618C6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F8FFA00-3580-480F-8734-BC89CC41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7552E62-76F1-440B-B893-1F217C5B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5</a:t>
            </a:r>
          </a:p>
        </p:txBody>
      </p:sp>
    </p:spTree>
    <p:extLst>
      <p:ext uri="{BB962C8B-B14F-4D97-AF65-F5344CB8AC3E}">
        <p14:creationId xmlns:p14="http://schemas.microsoft.com/office/powerpoint/2010/main" val="1175346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eak-kicker">
            <a:extLst xmlns:a="http://schemas.openxmlformats.org/drawingml/2006/main">
              <a:ext uri="{FF2B5EF4-FFF2-40B4-BE49-F238E27FC236}">
                <a16:creationId xmlns:a16="http://schemas.microsoft.com/office/drawing/2014/main" id="{D2DA7B27-B24A-495E-BAEA-10103774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PRACTICE · BREAK IT DELIBERATELY</a:t>
            </a:r>
          </a:p>
        </p:txBody>
      </p:sp>
      <p:sp>
        <p:nvSpPr>
          <p:cNvPr id="2" name="break-title">
            <a:extLst xmlns:a="http://schemas.openxmlformats.org/drawingml/2006/main">
              <a:ext uri="{FF2B5EF4-FFF2-40B4-BE49-F238E27FC236}">
                <a16:creationId xmlns:a16="http://schemas.microsoft.com/office/drawing/2014/main" id="{7A068280-8C6F-4519-9F66-E35BEA0A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8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feature can look important because it offers many possible splits, not because it matters substantively.</a:t>
            </a:r>
          </a:p>
        </p:txBody>
      </p:sp>
      <p:sp>
        <p:nvSpPr>
          <p:cNvPr id="3" name="break-instruction">
            <a:extLst xmlns:a="http://schemas.openxmlformats.org/drawingml/2006/main">
              <a:ext uri="{FF2B5EF4-FFF2-40B4-BE49-F238E27FC236}">
                <a16:creationId xmlns:a16="http://schemas.microsoft.com/office/drawing/2014/main" id="{64D1142F-5CFA-477A-A3A2-DCC6DD85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Create the failure. Save the before/after evidence. Explain the mechanism without blaming the software.</a:t>
            </a:r>
          </a:p>
        </p:txBody>
      </p:sp>
      <p:sp>
        <p:nvSpPr>
          <p:cNvPr id="4" name="break-llm">
            <a:extLst xmlns:a="http://schemas.openxmlformats.org/drawingml/2006/main">
              <a:ext uri="{FF2B5EF4-FFF2-40B4-BE49-F238E27FC236}">
                <a16:creationId xmlns:a16="http://schemas.microsoft.com/office/drawing/2014/main" id="{37DE6CD5-3D30-4E35-8303-E98FA2EF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Required: record one LLM claim you found wrong, unverifiable, or misleading—and how you checked it.</a:t>
            </a:r>
          </a:p>
        </p:txBody>
      </p:sp>
      <p:sp>
        <p:nvSpPr>
          <p:cNvPr id="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1FA361D-0405-40B5-8212-A64086B1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90AC28-5C20-434D-9251-843B9621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FE2D5BF-C593-41AB-A983-131F4D35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6</a:t>
            </a:r>
          </a:p>
        </p:txBody>
      </p:sp>
    </p:spTree>
    <p:extLst>
      <p:ext uri="{BB962C8B-B14F-4D97-AF65-F5344CB8AC3E}">
        <p14:creationId xmlns:p14="http://schemas.microsoft.com/office/powerpoint/2010/main" val="134456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FA141A91-8FB3-47DC-9DFB-BF597A3F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GROUP PRESENTATION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B678FB-029F-4267-A6A6-B4312B3B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slide. Two minutes. Random presenter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560285C-3195-4778-A9C3-C42E0432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port-label-0">
            <a:extLst xmlns:a="http://schemas.openxmlformats.org/drawingml/2006/main">
              <a:ext uri="{FF2B5EF4-FFF2-40B4-BE49-F238E27FC236}">
                <a16:creationId xmlns:a16="http://schemas.microsoft.com/office/drawing/2014/main" id="{8C468239-8365-4383-A008-7D799586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5" name="report-body-0">
            <a:extLst xmlns:a="http://schemas.openxmlformats.org/drawingml/2006/main">
              <a:ext uri="{FF2B5EF4-FFF2-40B4-BE49-F238E27FC236}">
                <a16:creationId xmlns:a16="http://schemas.microsoft.com/office/drawing/2014/main" id="{2FB0E9E8-2160-4074-AC4D-3EF5DF52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954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published estimate or figure your group targeted.</a:t>
            </a:r>
          </a:p>
        </p:txBody>
      </p:sp>
      <p:sp>
        <p:nvSpPr>
          <p:cNvPr id="6" name="rule-278-272">
            <a:extLst xmlns:a="http://schemas.openxmlformats.org/drawingml/2006/main">
              <a:ext uri="{FF2B5EF4-FFF2-40B4-BE49-F238E27FC236}">
                <a16:creationId xmlns:a16="http://schemas.microsoft.com/office/drawing/2014/main" id="{F9BB9C0B-2B96-443A-AC13-33193CF0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908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port-label-1">
            <a:extLst xmlns:a="http://schemas.openxmlformats.org/drawingml/2006/main">
              <a:ext uri="{FF2B5EF4-FFF2-40B4-BE49-F238E27FC236}">
                <a16:creationId xmlns:a16="http://schemas.microsoft.com/office/drawing/2014/main" id="{A5126D39-BA97-421C-BF25-A278B046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OUR REPLICATION</a:t>
            </a:r>
          </a:p>
        </p:txBody>
      </p:sp>
      <p:sp>
        <p:nvSpPr>
          <p:cNvPr id="8" name="report-body-1">
            <a:extLst xmlns:a="http://schemas.openxmlformats.org/drawingml/2006/main">
              <a:ext uri="{FF2B5EF4-FFF2-40B4-BE49-F238E27FC236}">
                <a16:creationId xmlns:a16="http://schemas.microsoft.com/office/drawing/2014/main" id="{34C59062-BA8C-497E-B4F5-6709B011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52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matched, what differed, and the comparison you added.</a:t>
            </a:r>
          </a:p>
        </p:txBody>
      </p:sp>
      <p:sp>
        <p:nvSpPr>
          <p:cNvPr id="9" name="rule-278-404">
            <a:extLst xmlns:a="http://schemas.openxmlformats.org/drawingml/2006/main">
              <a:ext uri="{FF2B5EF4-FFF2-40B4-BE49-F238E27FC236}">
                <a16:creationId xmlns:a16="http://schemas.microsoft.com/office/drawing/2014/main" id="{A4B94607-86B7-4E47-995B-F3AA44D8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port-label-2">
            <a:extLst xmlns:a="http://schemas.openxmlformats.org/drawingml/2006/main">
              <a:ext uri="{FF2B5EF4-FFF2-40B4-BE49-F238E27FC236}">
                <a16:creationId xmlns:a16="http://schemas.microsoft.com/office/drawing/2014/main" id="{66B855D1-B0B3-42D2-88B3-960E95FB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CATCH</a:t>
            </a:r>
          </a:p>
        </p:txBody>
      </p:sp>
      <p:sp>
        <p:nvSpPr>
          <p:cNvPr id="11" name="report-body-2">
            <a:extLst xmlns:a="http://schemas.openxmlformats.org/drawingml/2006/main">
              <a:ext uri="{FF2B5EF4-FFF2-40B4-BE49-F238E27FC236}">
                <a16:creationId xmlns:a16="http://schemas.microsoft.com/office/drawing/2014/main" id="{5593819B-9360-44F6-9311-CA14C053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100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assumption, data choice, or limitation that changes the claim.</a:t>
            </a:r>
          </a:p>
        </p:txBody>
      </p:sp>
      <p:sp>
        <p:nvSpPr>
          <p:cNvPr id="12" name="rule-278-536">
            <a:extLst xmlns:a="http://schemas.openxmlformats.org/drawingml/2006/main">
              <a:ext uri="{FF2B5EF4-FFF2-40B4-BE49-F238E27FC236}">
                <a16:creationId xmlns:a16="http://schemas.microsoft.com/office/drawing/2014/main" id="{750ECD04-BF99-4275-8047-8B6A475D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port-rule">
            <a:extLst xmlns:a="http://schemas.openxmlformats.org/drawingml/2006/main">
              <a:ext uri="{FF2B5EF4-FFF2-40B4-BE49-F238E27FC236}">
                <a16:creationId xmlns:a16="http://schemas.microsoft.com/office/drawing/2014/main" id="{B6DEAE31-716D-4B07-BF90-557B8EE1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Finish the presentation in class. Nothing carries over as required homework.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1DAE661-9616-462E-96F2-BDF07478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000CB0C-1D3F-4E39-BCD0-9408775A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E12BD90-AC1B-4363-B6FE-064D34EB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7</a:t>
            </a:r>
          </a:p>
        </p:txBody>
      </p:sp>
    </p:spTree>
    <p:extLst>
      <p:ext uri="{BB962C8B-B14F-4D97-AF65-F5344CB8AC3E}">
        <p14:creationId xmlns:p14="http://schemas.microsoft.com/office/powerpoint/2010/main" val="18995257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ab-kicker">
            <a:extLst xmlns:a="http://schemas.openxmlformats.org/drawingml/2006/main">
              <a:ext uri="{FF2B5EF4-FFF2-40B4-BE49-F238E27FC236}">
                <a16:creationId xmlns:a16="http://schemas.microsoft.com/office/drawing/2014/main" id="{975B6E02-0B8F-417B-A5E7-B437AB08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AFTER CLASS · OPTIONAL PARTICIPATION LAB</a:t>
            </a:r>
          </a:p>
        </p:txBody>
      </p:sp>
      <p:sp>
        <p:nvSpPr>
          <p:cNvPr id="2" name="lab-title">
            <a:extLst xmlns:a="http://schemas.openxmlformats.org/drawingml/2006/main">
              <a:ext uri="{FF2B5EF4-FFF2-40B4-BE49-F238E27FC236}">
                <a16:creationId xmlns:a16="http://schemas.microsoft.com/office/drawing/2014/main" id="{0C3003BC-532E-4470-9C12-07DE0044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Class ends with the group presentations.</a:t>
            </a:r>
          </a:p>
        </p:txBody>
      </p:sp>
      <p:sp>
        <p:nvSpPr>
          <p:cNvPr id="3" name="lab-availability">
            <a:extLst xmlns:a="http://schemas.openxmlformats.org/drawingml/2006/main">
              <a:ext uri="{FF2B5EF4-FFF2-40B4-BE49-F238E27FC236}">
                <a16:creationId xmlns:a16="http://schemas.microsoft.com/office/drawing/2014/main" id="{FA017125-2D9C-4E27-B735-702AA587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QMIB Lab 07 is a short at-home knowledge check.</a:t>
            </a:r>
          </a:p>
        </p:txBody>
      </p:sp>
      <p:sp>
        <p:nvSpPr>
          <p:cNvPr id="4" name="lab-policy">
            <a:extLst xmlns:a="http://schemas.openxmlformats.org/drawingml/2006/main">
              <a:ext uri="{FF2B5EF4-FFF2-40B4-BE49-F238E27FC236}">
                <a16:creationId xmlns:a16="http://schemas.microsoft.com/office/drawing/2014/main" id="{7FEE8593-AF7E-4A79-998B-0380C42B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6572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lab is optional. A completed app report counts toward participation; it is separate from the next pre-session reading and data preparation.</a:t>
            </a:r>
          </a:p>
        </p:txBody>
      </p:sp>
      <p:sp>
        <p:nvSpPr>
          <p:cNvPr id="5" name="lab-steps-bg">
            <a:extLst xmlns:a="http://schemas.openxmlformats.org/drawingml/2006/main">
              <a:ext uri="{FF2B5EF4-FFF2-40B4-BE49-F238E27FC236}">
                <a16:creationId xmlns:a16="http://schemas.microsoft.com/office/drawing/2014/main" id="{439EEC4D-4ED2-48A4-B755-66A32D8C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71700"/>
            <a:ext cx="36766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E2A34"/>
          </a:solidFill>
          <a:ln xmlns:a="http://schemas.openxmlformats.org/drawingml/2006/main" w="9525">
            <a:solidFill>
              <a:srgbClr val="3A4652"/>
            </a:solidFill>
            <a:prstDash val="solid"/>
          </a:ln>
        </p:spPr>
      </p:sp>
      <p:sp>
        <p:nvSpPr>
          <p:cNvPr id="6" name="lab-steps-title">
            <a:extLst xmlns:a="http://schemas.openxmlformats.org/drawingml/2006/main">
              <a:ext uri="{FF2B5EF4-FFF2-40B4-BE49-F238E27FC236}">
                <a16:creationId xmlns:a16="http://schemas.microsoft.com/office/drawing/2014/main" id="{02EB8834-5EB4-4458-89A8-A6181548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If you choose the lab</a:t>
            </a:r>
          </a:p>
        </p:txBody>
      </p:sp>
      <p:sp>
        <p:nvSpPr>
          <p:cNvPr id="7" name="lab-step-num-0">
            <a:extLst xmlns:a="http://schemas.openxmlformats.org/drawingml/2006/main">
              <a:ext uri="{FF2B5EF4-FFF2-40B4-BE49-F238E27FC236}">
                <a16:creationId xmlns:a16="http://schemas.microsoft.com/office/drawing/2014/main" id="{C8E25640-F1AC-4323-A46E-7643B59B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lab-step-0">
            <a:extLst xmlns:a="http://schemas.openxmlformats.org/drawingml/2006/main">
              <a:ext uri="{FF2B5EF4-FFF2-40B4-BE49-F238E27FC236}">
                <a16:creationId xmlns:a16="http://schemas.microsoft.com/office/drawing/2014/main" id="{7A8718C3-78E3-43E2-950A-CA61EB91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the session check in the web app</a:t>
            </a:r>
          </a:p>
        </p:txBody>
      </p:sp>
      <p:sp>
        <p:nvSpPr>
          <p:cNvPr id="9" name="lab-step-num-1">
            <a:extLst xmlns:a="http://schemas.openxmlformats.org/drawingml/2006/main">
              <a:ext uri="{FF2B5EF4-FFF2-40B4-BE49-F238E27FC236}">
                <a16:creationId xmlns:a16="http://schemas.microsoft.com/office/drawing/2014/main" id="{F72CDAE7-6598-4CFD-9D92-FB33B6D2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lab-step-1">
            <a:extLst xmlns:a="http://schemas.openxmlformats.org/drawingml/2006/main">
              <a:ext uri="{FF2B5EF4-FFF2-40B4-BE49-F238E27FC236}">
                <a16:creationId xmlns:a16="http://schemas.microsoft.com/office/drawing/2014/main" id="{3B6ECCA0-B8BF-451D-A0EB-D0CDE132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Answer once without your notes</a:t>
            </a:r>
          </a:p>
        </p:txBody>
      </p:sp>
      <p:sp>
        <p:nvSpPr>
          <p:cNvPr id="11" name="lab-step-num-2">
            <a:extLst xmlns:a="http://schemas.openxmlformats.org/drawingml/2006/main">
              <a:ext uri="{FF2B5EF4-FFF2-40B4-BE49-F238E27FC236}">
                <a16:creationId xmlns:a16="http://schemas.microsoft.com/office/drawing/2014/main" id="{207D62EE-1D44-42F0-9648-81F85E4F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lab-step-2">
            <a:extLst xmlns:a="http://schemas.openxmlformats.org/drawingml/2006/main">
              <a:ext uri="{FF2B5EF4-FFF2-40B4-BE49-F238E27FC236}">
                <a16:creationId xmlns:a16="http://schemas.microsoft.com/office/drawing/2014/main" id="{7CC6A2DD-300B-4A5F-8251-ECAA4E1B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338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Retry and explain missed concepts</a:t>
            </a:r>
          </a:p>
        </p:txBody>
      </p:sp>
      <p:sp>
        <p:nvSpPr>
          <p:cNvPr id="13" name="lab-step-num-3">
            <a:extLst xmlns:a="http://schemas.openxmlformats.org/drawingml/2006/main">
              <a:ext uri="{FF2B5EF4-FFF2-40B4-BE49-F238E27FC236}">
                <a16:creationId xmlns:a16="http://schemas.microsoft.com/office/drawing/2014/main" id="{5D78D632-27CB-40FA-AEA2-D805AA2B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lab-step-3">
            <a:extLst xmlns:a="http://schemas.openxmlformats.org/drawingml/2006/main">
              <a:ext uri="{FF2B5EF4-FFF2-40B4-BE49-F238E27FC236}">
                <a16:creationId xmlns:a16="http://schemas.microsoft.com/office/drawing/2014/main" id="{42BBFB01-EFE9-41AC-85EA-B2F8B42E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291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 and submit the report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B4428FA-06E0-4032-A195-DEFAA171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8492C66-D41E-47D4-9100-DB654371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07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6A98A41-11AE-48C4-AC12-F23AB917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8</a:t>
            </a:r>
          </a:p>
        </p:txBody>
      </p:sp>
    </p:spTree>
    <p:extLst>
      <p:ext uri="{BB962C8B-B14F-4D97-AF65-F5344CB8AC3E}">
        <p14:creationId xmlns:p14="http://schemas.microsoft.com/office/powerpoint/2010/main" val="971118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2026-08-23T21:43:12.4360000Z</dcterms:created>
  <dcterms:modified xsi:type="dcterms:W3CDTF">2026-08-23T21:43:12.4360000Z</dcterms:modified>
</coreProperties>
</file>