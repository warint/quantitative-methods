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4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5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6.xml" ContentType="application/vnd.openxmlformats-officedocument.drawingml.chart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beb9d3c5274f69" /><Relationship Type="http://schemas.openxmlformats.org/officeDocument/2006/relationships/extended-properties" Target="/docProps/app.xml" Id="R32aaebf0d4244547" /><Relationship Type="http://schemas.openxmlformats.org/officeDocument/2006/relationships/officeDocument" Target="/ppt/presentation.xml" Id="Re29a457c7c9749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c1c666b5264329"/>
  </p:sldMasterIdLst>
  <p:notesMasterIdLst>
    <p:notesMasterId xmlns:r="http://schemas.openxmlformats.org/officeDocument/2006/relationships" r:id="Rebb83fcf4f9440d7"/>
  </p:notesMasterIdLst>
  <p:sldIdLst>
    <p:sldId xmlns:r="http://schemas.openxmlformats.org/officeDocument/2006/relationships" id="256" r:id="R71e4b9accbad4157"/>
    <p:sldId xmlns:r="http://schemas.openxmlformats.org/officeDocument/2006/relationships" id="257" r:id="R7388ae0e6498424b"/>
    <p:sldId xmlns:r="http://schemas.openxmlformats.org/officeDocument/2006/relationships" id="258" r:id="Rfc584856578f415f"/>
    <p:sldId xmlns:r="http://schemas.openxmlformats.org/officeDocument/2006/relationships" id="259" r:id="R3ccb86686bc94283"/>
    <p:sldId xmlns:r="http://schemas.openxmlformats.org/officeDocument/2006/relationships" id="260" r:id="R629be003b81e4bc4"/>
    <p:sldId xmlns:r="http://schemas.openxmlformats.org/officeDocument/2006/relationships" id="261" r:id="Ra8b20ad1555e47da"/>
    <p:sldId xmlns:r="http://schemas.openxmlformats.org/officeDocument/2006/relationships" id="262" r:id="R7ad677266cb8413d"/>
    <p:sldId xmlns:r="http://schemas.openxmlformats.org/officeDocument/2006/relationships" id="263" r:id="R86d270bc617b4266"/>
    <p:sldId xmlns:r="http://schemas.openxmlformats.org/officeDocument/2006/relationships" id="264" r:id="Rc691fe5af39b44cd"/>
    <p:sldId xmlns:r="http://schemas.openxmlformats.org/officeDocument/2006/relationships" id="265" r:id="R4d01d32c938344bf"/>
    <p:sldId xmlns:r="http://schemas.openxmlformats.org/officeDocument/2006/relationships" id="266" r:id="Rb2961bd6e1a84ea2"/>
    <p:sldId xmlns:r="http://schemas.openxmlformats.org/officeDocument/2006/relationships" id="267" r:id="R468aed4c8ab44626"/>
    <p:sldId xmlns:r="http://schemas.openxmlformats.org/officeDocument/2006/relationships" id="268" r:id="R06d49da1439e4bb8"/>
    <p:sldId xmlns:r="http://schemas.openxmlformats.org/officeDocument/2006/relationships" id="269" r:id="R13a5b7cd50a74b97"/>
    <p:sldId xmlns:r="http://schemas.openxmlformats.org/officeDocument/2006/relationships" id="270" r:id="Rc1a27c2c9d0d416a"/>
    <p:sldId xmlns:r="http://schemas.openxmlformats.org/officeDocument/2006/relationships" id="271" r:id="R85c6957f40d648f7"/>
    <p:sldId xmlns:r="http://schemas.openxmlformats.org/officeDocument/2006/relationships" id="272" r:id="R78306a5f457c4802"/>
    <p:sldId xmlns:r="http://schemas.openxmlformats.org/officeDocument/2006/relationships" id="273" r:id="R93dd41744e134c0f"/>
    <p:sldId xmlns:r="http://schemas.openxmlformats.org/officeDocument/2006/relationships" id="274" r:id="R7d6c4d47b3a2444a"/>
    <p:sldId xmlns:r="http://schemas.openxmlformats.org/officeDocument/2006/relationships" id="275" r:id="R2197bdafeb97476e"/>
    <p:sldId xmlns:r="http://schemas.openxmlformats.org/officeDocument/2006/relationships" id="276" r:id="R8f739026ffd74428"/>
    <p:sldId xmlns:r="http://schemas.openxmlformats.org/officeDocument/2006/relationships" id="277" r:id="R88e35c25ff0a4d3d"/>
    <p:sldId xmlns:r="http://schemas.openxmlformats.org/officeDocument/2006/relationships" id="278" r:id="Re64f17765626474d"/>
    <p:sldId xmlns:r="http://schemas.openxmlformats.org/officeDocument/2006/relationships" id="279" r:id="R274b035dcfba4b22"/>
    <p:sldId xmlns:r="http://schemas.openxmlformats.org/officeDocument/2006/relationships" id="280" r:id="Ra503adba7d844698"/>
    <p:sldId xmlns:r="http://schemas.openxmlformats.org/officeDocument/2006/relationships" id="281" r:id="Ra2d7a04e405f42c3"/>
    <p:sldId xmlns:r="http://schemas.openxmlformats.org/officeDocument/2006/relationships" id="282" r:id="R3c6578c8667c457b"/>
    <p:sldId xmlns:r="http://schemas.openxmlformats.org/officeDocument/2006/relationships" id="283" r:id="R41e6aac3b0944663"/>
    <p:sldId xmlns:r="http://schemas.openxmlformats.org/officeDocument/2006/relationships" id="284" r:id="R498173f029ff4ee8"/>
    <p:sldId xmlns:r="http://schemas.openxmlformats.org/officeDocument/2006/relationships" id="285" r:id="Rb88ab20fabaf4581"/>
    <p:sldId xmlns:r="http://schemas.openxmlformats.org/officeDocument/2006/relationships" id="286" r:id="R2ac9bed831974f21"/>
    <p:sldId xmlns:r="http://schemas.openxmlformats.org/officeDocument/2006/relationships" id="287" r:id="Rdc326cd148f04ac1"/>
    <p:sldId xmlns:r="http://schemas.openxmlformats.org/officeDocument/2006/relationships" id="288" r:id="R5789767d88db4b6c"/>
    <p:sldId xmlns:r="http://schemas.openxmlformats.org/officeDocument/2006/relationships" id="289" r:id="R61e1bd8084ae4a22"/>
    <p:sldId xmlns:r="http://schemas.openxmlformats.org/officeDocument/2006/relationships" id="290" r:id="Rcfdc420a34fe48aa"/>
    <p:sldId xmlns:r="http://schemas.openxmlformats.org/officeDocument/2006/relationships" id="291" r:id="Re22708a63acb446f"/>
    <p:sldId xmlns:r="http://schemas.openxmlformats.org/officeDocument/2006/relationships" id="292" r:id="R5ddfc5662b7e4c75"/>
    <p:sldId xmlns:r="http://schemas.openxmlformats.org/officeDocument/2006/relationships" id="293" r:id="R99f8a85718c74550"/>
    <p:sldId xmlns:r="http://schemas.openxmlformats.org/officeDocument/2006/relationships" id="294" r:id="Rd72c69dbada543dc"/>
    <p:sldId xmlns:r="http://schemas.openxmlformats.org/officeDocument/2006/relationships" id="295" r:id="Rf46af12b70f34275"/>
    <p:sldId xmlns:r="http://schemas.openxmlformats.org/officeDocument/2006/relationships" id="296" r:id="R56c033cae5734dd5"/>
    <p:sldId xmlns:r="http://schemas.openxmlformats.org/officeDocument/2006/relationships" id="297" r:id="R315f8ef807b04ba6"/>
    <p:sldId xmlns:r="http://schemas.openxmlformats.org/officeDocument/2006/relationships" id="298" r:id="R33d4b8be870742f8"/>
    <p:sldId xmlns:r="http://schemas.openxmlformats.org/officeDocument/2006/relationships" id="299" r:id="Rce518114ebe34912"/>
    <p:sldId xmlns:r="http://schemas.openxmlformats.org/officeDocument/2006/relationships" id="300" r:id="Rbc9e642485344e04"/>
    <p:sldId xmlns:r="http://schemas.openxmlformats.org/officeDocument/2006/relationships" id="301" r:id="Rb2aef660e8d846b5"/>
    <p:sldId xmlns:r="http://schemas.openxmlformats.org/officeDocument/2006/relationships" id="302" r:id="R39cadac742084368"/>
    <p:sldId xmlns:r="http://schemas.openxmlformats.org/officeDocument/2006/relationships" id="303" r:id="R20dc77aa9f3647d6"/>
    <p:sldId xmlns:r="http://schemas.openxmlformats.org/officeDocument/2006/relationships" id="304" r:id="R571c0be7928745ce"/>
    <p:sldId xmlns:r="http://schemas.openxmlformats.org/officeDocument/2006/relationships" id="305" r:id="R1591ec0a498e4a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e70b8519964f3d" /><Relationship Type="http://schemas.openxmlformats.org/officeDocument/2006/relationships/slideMaster" Target="/ppt/slideMasters/slideMaster1.xml" Id="R5cc1c666b5264329" /><Relationship Type="http://schemas.openxmlformats.org/officeDocument/2006/relationships/notesMaster" Target="/ppt/notesMasters/notesMaster1.xml" Id="Rebb83fcf4f9440d7" /><Relationship Type="http://schemas.openxmlformats.org/officeDocument/2006/relationships/presProps" Target="/ppt/presProps.xml" Id="Rfd595532b9324570" /><Relationship Type="http://schemas.openxmlformats.org/officeDocument/2006/relationships/tableStyles" Target="/ppt/tableStyles.xml" Id="R7c35cb1b1311414e" /><Relationship Type="http://schemas.openxmlformats.org/officeDocument/2006/relationships/slide" Target="/ppt/slides/slide1.xml" Id="R71e4b9accbad4157" /><Relationship Type="http://schemas.openxmlformats.org/officeDocument/2006/relationships/slide" Target="/ppt/slides/slide2.xml" Id="R7388ae0e6498424b" /><Relationship Type="http://schemas.openxmlformats.org/officeDocument/2006/relationships/slide" Target="/ppt/slides/slide3.xml" Id="Rfc584856578f415f" /><Relationship Type="http://schemas.openxmlformats.org/officeDocument/2006/relationships/slide" Target="/ppt/slides/slide4.xml" Id="R3ccb86686bc94283" /><Relationship Type="http://schemas.openxmlformats.org/officeDocument/2006/relationships/slide" Target="/ppt/slides/slide5.xml" Id="R629be003b81e4bc4" /><Relationship Type="http://schemas.openxmlformats.org/officeDocument/2006/relationships/slide" Target="/ppt/slides/slide6.xml" Id="Ra8b20ad1555e47da" /><Relationship Type="http://schemas.openxmlformats.org/officeDocument/2006/relationships/slide" Target="/ppt/slides/slide7.xml" Id="R7ad677266cb8413d" /><Relationship Type="http://schemas.openxmlformats.org/officeDocument/2006/relationships/slide" Target="/ppt/slides/slide8.xml" Id="R86d270bc617b4266" /><Relationship Type="http://schemas.openxmlformats.org/officeDocument/2006/relationships/slide" Target="/ppt/slides/slide9.xml" Id="Rc691fe5af39b44cd" /><Relationship Type="http://schemas.openxmlformats.org/officeDocument/2006/relationships/slide" Target="/ppt/slides/slide10.xml" Id="R4d01d32c938344bf" /><Relationship Type="http://schemas.openxmlformats.org/officeDocument/2006/relationships/slide" Target="/ppt/slides/slide11.xml" Id="Rb2961bd6e1a84ea2" /><Relationship Type="http://schemas.openxmlformats.org/officeDocument/2006/relationships/slide" Target="/ppt/slides/slide12.xml" Id="R468aed4c8ab44626" /><Relationship Type="http://schemas.openxmlformats.org/officeDocument/2006/relationships/slide" Target="/ppt/slides/slide13.xml" Id="R06d49da1439e4bb8" /><Relationship Type="http://schemas.openxmlformats.org/officeDocument/2006/relationships/slide" Target="/ppt/slides/slide14.xml" Id="R13a5b7cd50a74b97" /><Relationship Type="http://schemas.openxmlformats.org/officeDocument/2006/relationships/slide" Target="/ppt/slides/slide15.xml" Id="Rc1a27c2c9d0d416a" /><Relationship Type="http://schemas.openxmlformats.org/officeDocument/2006/relationships/slide" Target="/ppt/slides/slide16.xml" Id="R85c6957f40d648f7" /><Relationship Type="http://schemas.openxmlformats.org/officeDocument/2006/relationships/slide" Target="/ppt/slides/slide17.xml" Id="R78306a5f457c4802" /><Relationship Type="http://schemas.openxmlformats.org/officeDocument/2006/relationships/slide" Target="/ppt/slides/slide18.xml" Id="R93dd41744e134c0f" /><Relationship Type="http://schemas.openxmlformats.org/officeDocument/2006/relationships/slide" Target="/ppt/slides/slide19.xml" Id="R7d6c4d47b3a2444a" /><Relationship Type="http://schemas.openxmlformats.org/officeDocument/2006/relationships/slide" Target="/ppt/slides/slide20.xml" Id="R2197bdafeb97476e" /><Relationship Type="http://schemas.openxmlformats.org/officeDocument/2006/relationships/slide" Target="/ppt/slides/slide21.xml" Id="R8f739026ffd74428" /><Relationship Type="http://schemas.openxmlformats.org/officeDocument/2006/relationships/slide" Target="/ppt/slides/slide22.xml" Id="R88e35c25ff0a4d3d" /><Relationship Type="http://schemas.openxmlformats.org/officeDocument/2006/relationships/slide" Target="/ppt/slides/slide23.xml" Id="Re64f17765626474d" /><Relationship Type="http://schemas.openxmlformats.org/officeDocument/2006/relationships/slide" Target="/ppt/slides/slide24.xml" Id="R274b035dcfba4b22" /><Relationship Type="http://schemas.openxmlformats.org/officeDocument/2006/relationships/slide" Target="/ppt/slides/slide25.xml" Id="Ra503adba7d844698" /><Relationship Type="http://schemas.openxmlformats.org/officeDocument/2006/relationships/slide" Target="/ppt/slides/slide26.xml" Id="Ra2d7a04e405f42c3" /><Relationship Type="http://schemas.openxmlformats.org/officeDocument/2006/relationships/slide" Target="/ppt/slides/slide27.xml" Id="R3c6578c8667c457b" /><Relationship Type="http://schemas.openxmlformats.org/officeDocument/2006/relationships/slide" Target="/ppt/slides/slide28.xml" Id="R41e6aac3b0944663" /><Relationship Type="http://schemas.openxmlformats.org/officeDocument/2006/relationships/slide" Target="/ppt/slides/slide29.xml" Id="R498173f029ff4ee8" /><Relationship Type="http://schemas.openxmlformats.org/officeDocument/2006/relationships/slide" Target="/ppt/slides/slide30.xml" Id="Rb88ab20fabaf4581" /><Relationship Type="http://schemas.openxmlformats.org/officeDocument/2006/relationships/slide" Target="/ppt/slides/slide31.xml" Id="R2ac9bed831974f21" /><Relationship Type="http://schemas.openxmlformats.org/officeDocument/2006/relationships/slide" Target="/ppt/slides/slide32.xml" Id="Rdc326cd148f04ac1" /><Relationship Type="http://schemas.openxmlformats.org/officeDocument/2006/relationships/slide" Target="/ppt/slides/slide33.xml" Id="R5789767d88db4b6c" /><Relationship Type="http://schemas.openxmlformats.org/officeDocument/2006/relationships/slide" Target="/ppt/slides/slide34.xml" Id="R61e1bd8084ae4a22" /><Relationship Type="http://schemas.openxmlformats.org/officeDocument/2006/relationships/slide" Target="/ppt/slides/slide35.xml" Id="Rcfdc420a34fe48aa" /><Relationship Type="http://schemas.openxmlformats.org/officeDocument/2006/relationships/slide" Target="/ppt/slides/slide36.xml" Id="Re22708a63acb446f" /><Relationship Type="http://schemas.openxmlformats.org/officeDocument/2006/relationships/slide" Target="/ppt/slides/slide37.xml" Id="R5ddfc5662b7e4c75" /><Relationship Type="http://schemas.openxmlformats.org/officeDocument/2006/relationships/slide" Target="/ppt/slides/slide38.xml" Id="R99f8a85718c74550" /><Relationship Type="http://schemas.openxmlformats.org/officeDocument/2006/relationships/slide" Target="/ppt/slides/slide39.xml" Id="Rd72c69dbada543dc" /><Relationship Type="http://schemas.openxmlformats.org/officeDocument/2006/relationships/slide" Target="/ppt/slides/slide40.xml" Id="Rf46af12b70f34275" /><Relationship Type="http://schemas.openxmlformats.org/officeDocument/2006/relationships/slide" Target="/ppt/slides/slide41.xml" Id="R56c033cae5734dd5" /><Relationship Type="http://schemas.openxmlformats.org/officeDocument/2006/relationships/slide" Target="/ppt/slides/slide42.xml" Id="R315f8ef807b04ba6" /><Relationship Type="http://schemas.openxmlformats.org/officeDocument/2006/relationships/slide" Target="/ppt/slides/slide43.xml" Id="R33d4b8be870742f8" /><Relationship Type="http://schemas.openxmlformats.org/officeDocument/2006/relationships/slide" Target="/ppt/slides/slide44.xml" Id="Rce518114ebe34912" /><Relationship Type="http://schemas.openxmlformats.org/officeDocument/2006/relationships/slide" Target="/ppt/slides/slide45.xml" Id="Rbc9e642485344e04" /><Relationship Type="http://schemas.openxmlformats.org/officeDocument/2006/relationships/slide" Target="/ppt/slides/slide46.xml" Id="Rb2aef660e8d846b5" /><Relationship Type="http://schemas.openxmlformats.org/officeDocument/2006/relationships/slide" Target="/ppt/slides/slide47.xml" Id="R39cadac742084368" /><Relationship Type="http://schemas.openxmlformats.org/officeDocument/2006/relationships/slide" Target="/ppt/slides/slide48.xml" Id="R20dc77aa9f3647d6" /><Relationship Type="http://schemas.openxmlformats.org/officeDocument/2006/relationships/slide" Target="/ppt/slides/slide49.xml" Id="R571c0be7928745ce" /><Relationship Type="http://schemas.openxmlformats.org/officeDocument/2006/relationships/slide" Target="/ppt/slides/slide50.xml" Id="R1591ec0a498e4a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1c338335d94f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c6860f73584614" /><Relationship Type="http://schemas.openxmlformats.org/officeDocument/2006/relationships/notesMaster" Target="/ppt/notesMasters/notesMaster1.xml" Id="R260ce5d5b48742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ef8d6e5c02452d" /><Relationship Type="http://schemas.openxmlformats.org/officeDocument/2006/relationships/notesMaster" Target="/ppt/notesMasters/notesMaster1.xml" Id="R0bfbe05065914b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fd57aaf87f4f70" /><Relationship Type="http://schemas.openxmlformats.org/officeDocument/2006/relationships/notesMaster" Target="/ppt/notesMasters/notesMaster1.xml" Id="R24b495e8c7e44f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01f59faac543c7" /><Relationship Type="http://schemas.openxmlformats.org/officeDocument/2006/relationships/notesMaster" Target="/ppt/notesMasters/notesMaster1.xml" Id="Re167e28f9c0a4e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2f5e0f09c74121" /><Relationship Type="http://schemas.openxmlformats.org/officeDocument/2006/relationships/notesMaster" Target="/ppt/notesMasters/notesMaster1.xml" Id="Rd8e90e73fbe441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046147203f4632" /><Relationship Type="http://schemas.openxmlformats.org/officeDocument/2006/relationships/notesMaster" Target="/ppt/notesMasters/notesMaster1.xml" Id="R0d43fbcba16f43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01d7a4eb2649a0" /><Relationship Type="http://schemas.openxmlformats.org/officeDocument/2006/relationships/notesMaster" Target="/ppt/notesMasters/notesMaster1.xml" Id="Rbd71678ee02545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7859e7b2d34fb3" /><Relationship Type="http://schemas.openxmlformats.org/officeDocument/2006/relationships/notesMaster" Target="/ppt/notesMasters/notesMaster1.xml" Id="Rc0b094a3e4e247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1dcad303724654" /><Relationship Type="http://schemas.openxmlformats.org/officeDocument/2006/relationships/notesMaster" Target="/ppt/notesMasters/notesMaster1.xml" Id="R1b74804b673044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0529ab660c4158" /><Relationship Type="http://schemas.openxmlformats.org/officeDocument/2006/relationships/notesMaster" Target="/ppt/notesMasters/notesMaster1.xml" Id="R75a60d3b730c4d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b4df9b0a714e74" /><Relationship Type="http://schemas.openxmlformats.org/officeDocument/2006/relationships/notesMaster" Target="/ppt/notesMasters/notesMaster1.xml" Id="R3e4c37d71ba040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160249b08e4609" /><Relationship Type="http://schemas.openxmlformats.org/officeDocument/2006/relationships/notesMaster" Target="/ppt/notesMasters/notesMaster1.xml" Id="R52b2765bc9e147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a023e3176947bf" /><Relationship Type="http://schemas.openxmlformats.org/officeDocument/2006/relationships/notesMaster" Target="/ppt/notesMasters/notesMaster1.xml" Id="R7484575f70f24a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f2f6229a164a9c" /><Relationship Type="http://schemas.openxmlformats.org/officeDocument/2006/relationships/notesMaster" Target="/ppt/notesMasters/notesMaster1.xml" Id="Rec1bd7701bca4e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17df6956654c43" /><Relationship Type="http://schemas.openxmlformats.org/officeDocument/2006/relationships/notesMaster" Target="/ppt/notesMasters/notesMaster1.xml" Id="R9ca7c5f662464f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660c8843814467" /><Relationship Type="http://schemas.openxmlformats.org/officeDocument/2006/relationships/notesMaster" Target="/ppt/notesMasters/notesMaster1.xml" Id="R18df7b6ce50348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72c0007ae143a8" /><Relationship Type="http://schemas.openxmlformats.org/officeDocument/2006/relationships/notesMaster" Target="/ppt/notesMasters/notesMaster1.xml" Id="R1588b9d9098b45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ec987ec09a94272" /><Relationship Type="http://schemas.openxmlformats.org/officeDocument/2006/relationships/notesMaster" Target="/ppt/notesMasters/notesMaster1.xml" Id="R999c83fcf7c041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acaafadf8a4e99" /><Relationship Type="http://schemas.openxmlformats.org/officeDocument/2006/relationships/notesMaster" Target="/ppt/notesMasters/notesMaster1.xml" Id="Rede6e83f75f2419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bd5ad5049f640cb" /><Relationship Type="http://schemas.openxmlformats.org/officeDocument/2006/relationships/notesMaster" Target="/ppt/notesMasters/notesMaster1.xml" Id="R170e0ddfa81c4c0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000bdbfdad4425" /><Relationship Type="http://schemas.openxmlformats.org/officeDocument/2006/relationships/notesMaster" Target="/ppt/notesMasters/notesMaster1.xml" Id="Rec2260edeaad47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7b27fbc74a446b6" /><Relationship Type="http://schemas.openxmlformats.org/officeDocument/2006/relationships/notesMaster" Target="/ppt/notesMasters/notesMaster1.xml" Id="Rf7cffeb9d3614ad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62f3fed57a4321" /><Relationship Type="http://schemas.openxmlformats.org/officeDocument/2006/relationships/notesMaster" Target="/ppt/notesMasters/notesMaster1.xml" Id="R06dbe367551345f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bc13ec09b5944ff" /><Relationship Type="http://schemas.openxmlformats.org/officeDocument/2006/relationships/notesMaster" Target="/ppt/notesMasters/notesMaster1.xml" Id="R1af722205ca1426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fbc3d63165a4813" /><Relationship Type="http://schemas.openxmlformats.org/officeDocument/2006/relationships/notesMaster" Target="/ppt/notesMasters/notesMaster1.xml" Id="R63273f0c135e401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a2ccf12f79a44f8" /><Relationship Type="http://schemas.openxmlformats.org/officeDocument/2006/relationships/notesMaster" Target="/ppt/notesMasters/notesMaster1.xml" Id="R8b83d8b25d6e4b0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ae71acba02b41da" /><Relationship Type="http://schemas.openxmlformats.org/officeDocument/2006/relationships/notesMaster" Target="/ppt/notesMasters/notesMaster1.xml" Id="R4f979af7ea9047f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c4b35cbc3024ec0" /><Relationship Type="http://schemas.openxmlformats.org/officeDocument/2006/relationships/notesMaster" Target="/ppt/notesMasters/notesMaster1.xml" Id="R029500dff1e742a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402bdd65f3e439d" /><Relationship Type="http://schemas.openxmlformats.org/officeDocument/2006/relationships/notesMaster" Target="/ppt/notesMasters/notesMaster1.xml" Id="Reea7c1403f52421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23552cc779a4095" /><Relationship Type="http://schemas.openxmlformats.org/officeDocument/2006/relationships/notesMaster" Target="/ppt/notesMasters/notesMaster1.xml" Id="R68501cd79b0c418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b053cb01d1f4077" /><Relationship Type="http://schemas.openxmlformats.org/officeDocument/2006/relationships/notesMaster" Target="/ppt/notesMasters/notesMaster1.xml" Id="Rc30ee0a5d5644cb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d557ca2f26042bb" /><Relationship Type="http://schemas.openxmlformats.org/officeDocument/2006/relationships/notesMaster" Target="/ppt/notesMasters/notesMaster1.xml" Id="Rfdc90576df4f48d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0028347244348c9" /><Relationship Type="http://schemas.openxmlformats.org/officeDocument/2006/relationships/notesMaster" Target="/ppt/notesMasters/notesMaster1.xml" Id="R10db63622cc1456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d0fc7d0138e4984" /><Relationship Type="http://schemas.openxmlformats.org/officeDocument/2006/relationships/notesMaster" Target="/ppt/notesMasters/notesMaster1.xml" Id="Rb27bba3fa8344c7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1e1a1436e2849bd" /><Relationship Type="http://schemas.openxmlformats.org/officeDocument/2006/relationships/notesMaster" Target="/ppt/notesMasters/notesMaster1.xml" Id="Rc44b39586ee541a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87b15a0b9744524" /><Relationship Type="http://schemas.openxmlformats.org/officeDocument/2006/relationships/notesMaster" Target="/ppt/notesMasters/notesMaster1.xml" Id="Ra35b2317c3b7471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38cda67bfa94a60" /><Relationship Type="http://schemas.openxmlformats.org/officeDocument/2006/relationships/notesMaster" Target="/ppt/notesMasters/notesMaster1.xml" Id="R42d03cf52cf044e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09e442733924e33" /><Relationship Type="http://schemas.openxmlformats.org/officeDocument/2006/relationships/notesMaster" Target="/ppt/notesMasters/notesMaster1.xml" Id="R2a007df22e64409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2aea2f2bc9e4643" /><Relationship Type="http://schemas.openxmlformats.org/officeDocument/2006/relationships/notesMaster" Target="/ppt/notesMasters/notesMaster1.xml" Id="R06f632d2b444446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9380d98e40e4144" /><Relationship Type="http://schemas.openxmlformats.org/officeDocument/2006/relationships/notesMaster" Target="/ppt/notesMasters/notesMaster1.xml" Id="R5ff2f652fbf2466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ae996f0357c4fb5" /><Relationship Type="http://schemas.openxmlformats.org/officeDocument/2006/relationships/notesMaster" Target="/ppt/notesMasters/notesMaster1.xml" Id="Ree17ae29676541a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c3eaa3bd053444d" /><Relationship Type="http://schemas.openxmlformats.org/officeDocument/2006/relationships/notesMaster" Target="/ppt/notesMasters/notesMaster1.xml" Id="R6162d9d7d38a498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1b2073f2b2444b1" /><Relationship Type="http://schemas.openxmlformats.org/officeDocument/2006/relationships/notesMaster" Target="/ppt/notesMasters/notesMaster1.xml" Id="R8c038d14665746f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179d2c08dc645f1" /><Relationship Type="http://schemas.openxmlformats.org/officeDocument/2006/relationships/notesMaster" Target="/ppt/notesMasters/notesMaster1.xml" Id="R08971bdc3099482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f5e78631512402b" /><Relationship Type="http://schemas.openxmlformats.org/officeDocument/2006/relationships/notesMaster" Target="/ppt/notesMasters/notesMaster1.xml" Id="R113b54d7e2ab4f4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5ba5beb209145fc" /><Relationship Type="http://schemas.openxmlformats.org/officeDocument/2006/relationships/notesMaster" Target="/ppt/notesMasters/notesMaster1.xml" Id="Ra72977bd6d63461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2fb1484422b408f" /><Relationship Type="http://schemas.openxmlformats.org/officeDocument/2006/relationships/notesMaster" Target="/ppt/notesMasters/notesMaster1.xml" Id="R477afaab12f7462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7aa2328e7484d54" /><Relationship Type="http://schemas.openxmlformats.org/officeDocument/2006/relationships/notesMaster" Target="/ppt/notesMasters/notesMaster1.xml" Id="R7ae03c98adfe4a8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88e59c4654244ec" /><Relationship Type="http://schemas.openxmlformats.org/officeDocument/2006/relationships/notesMaster" Target="/ppt/notesMasters/notesMaster1.xml" Id="Ra8bd554d084b4e2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b165a46dbe34d7e" /><Relationship Type="http://schemas.openxmlformats.org/officeDocument/2006/relationships/notesMaster" Target="/ppt/notesMasters/notesMaster1.xml" Id="R5976b21fb7ae46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session question. Ask students what kind of claim the method is designed to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route as a promise: students should always know whether a slide is defining, motivating, deriving, implementing, or challenging the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cumulative course structure explicit before introducing new 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use case and one misuse before showing the mathematics.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Leo Breiman and connect the biography to the method—not to hero worship.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Asset: slides/course-assets/historical-portraits/breiman.png — AI-generated interpretive illustration; not an archival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1 · What this adds.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Everything so far has been one straight line.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 tree is a partition, not a curve.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 tree is a partition, not a curve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2 · One tree.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Asset: 07-trees-forests-boosting/demo/outputs/ensemble_comparison.png — generated by 07-trees-forests-boosting/demo/session07_ensembles_demo.py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model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So we are greedy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Watch the scan happen.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Watch the scan happen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Why the right-hand panel matters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3 · Pruning.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Cost-complexity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Asset: 07-trees-forests-boosting/demo/outputs/ensemble_comparison.png — generated by 07-trees-forests-boosting/demo/session07_ensembles_demo.py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same picture as Session 05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4 · Why averaging works.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 single tree is a high-variance estimator.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But how far does that go? Do the algebra.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Read it off the graph.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Read it off the graph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Does it actually happen? Measure rho.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Asset: 07-trees-forests-boosting/demo/outputs/ensemble_comparison.png — generated by 07-trees-forests-boosting/demo/session07_ensembles_demo.py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mechanism, and the payoff.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honest scoreboard.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honest scoreboard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5 · Boosting.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Gradient descent in function space.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Gradient descent in function space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Shrinkage is not optional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Asset: 07-trees-forests-boosting/demo/outputs/ensemble_comparison.png — generated by 07-trees-forests-boosting/demo/session07_ensembles_demo.py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learning-rate picture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the modern libraries add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6 · Recovering interpretation.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Five tools, and what each is for.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impurity bias is not theoretical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Why that happens.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relationship itself: PDP and ICE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Asset: 07-trees-forests-boosting/demo/outputs/ensemble_comparison.png — generated by 07-trees-forests-boosting/demo/session07_ensembles_demo.py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7 · Takeaways.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loses marks.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Now, the practice.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article and Dataverse package must already be available. ISLR is optional background, never the practice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say the sentence aloud before they see the result they will replicate.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most fragile assumption in the article and make it the first diagnostic in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lecture ends here. Open the separate in-class practice presentation and start the 90-minute clock.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https://warin.ca/quant/en/session7_cours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e003f2f0645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e9c89f70d44b3c" /><Relationship Type="http://schemas.openxmlformats.org/officeDocument/2006/relationships/slideLayout" Target="/ppt/slideLayouts/slideLayout1.xml" Id="R012cbc35016442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2cbc35016442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745e9ca004257" /><Relationship Type="http://schemas.openxmlformats.org/officeDocument/2006/relationships/notesSlide" Target="/ppt/notesSlides/notesSlide1.xml" Id="Rf1ee06409ab845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f62491bd14a5d" /><Relationship Type="http://schemas.openxmlformats.org/officeDocument/2006/relationships/notesSlide" Target="/ppt/notesSlides/notesSlide2.xml" Id="R9479d19fabd44a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b388d3150472e" /><Relationship Type="http://schemas.openxmlformats.org/officeDocument/2006/relationships/notesSlide" Target="/ppt/notesSlides/notesSlide3.xml" Id="Re8d4ada07fa640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8d96e23e74281" /><Relationship Type="http://schemas.openxmlformats.org/officeDocument/2006/relationships/chart" Target="/ppt/slides/charts/chart1.xml" Id="R221c4e0bd2804eef" /><Relationship Type="http://schemas.openxmlformats.org/officeDocument/2006/relationships/notesSlide" Target="/ppt/notesSlides/notesSlide4.xml" Id="R853880e5bb0a40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f94cdebdc4adc" /><Relationship Type="http://schemas.openxmlformats.org/officeDocument/2006/relationships/image" Target="/ppt/media/image.png" Id="Rfedb4e600f134c71" /><Relationship Type="http://schemas.openxmlformats.org/officeDocument/2006/relationships/notesSlide" Target="/ppt/notesSlides/notesSlide5.xml" Id="R53af0b122fd54c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4c2d9f36f4652" /><Relationship Type="http://schemas.openxmlformats.org/officeDocument/2006/relationships/notesSlide" Target="/ppt/notesSlides/notesSlide6.xml" Id="R05fdc85d1f5747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5b55db2274153" /><Relationship Type="http://schemas.openxmlformats.org/officeDocument/2006/relationships/notesSlide" Target="/ppt/notesSlides/notesSlide7.xml" Id="R8c21d3f385594b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585aee137437f" /><Relationship Type="http://schemas.openxmlformats.org/officeDocument/2006/relationships/notesSlide" Target="/ppt/notesSlides/notesSlide8.xml" Id="Rda90106ba8b548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c3b7e0dd24d3c" /><Relationship Type="http://schemas.openxmlformats.org/officeDocument/2006/relationships/notesSlide" Target="/ppt/notesSlides/notesSlide9.xml" Id="Rfe14143020a442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216802d99456f" /><Relationship Type="http://schemas.openxmlformats.org/officeDocument/2006/relationships/chart" Target="/ppt/slides/charts/chart2.xml" Id="R39cefe269e88466c" /><Relationship Type="http://schemas.openxmlformats.org/officeDocument/2006/relationships/notesSlide" Target="/ppt/notesSlides/notesSlide10.xml" Id="R0b09608922194c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a642f6e964228" /><Relationship Type="http://schemas.openxmlformats.org/officeDocument/2006/relationships/image" Target="/ppt/media/image2.png" Id="R83f89113cba14508" /><Relationship Type="http://schemas.openxmlformats.org/officeDocument/2006/relationships/notesSlide" Target="/ppt/notesSlides/notesSlide11.xml" Id="R73e56f0f9c7b4b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fa2d6215c4ffa" /><Relationship Type="http://schemas.openxmlformats.org/officeDocument/2006/relationships/notesSlide" Target="/ppt/notesSlides/notesSlide12.xml" Id="Re466b695691b40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664b642b64c57" /><Relationship Type="http://schemas.openxmlformats.org/officeDocument/2006/relationships/notesSlide" Target="/ppt/notesSlides/notesSlide13.xml" Id="R94f2ef8935e940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658830444407c" /><Relationship Type="http://schemas.openxmlformats.org/officeDocument/2006/relationships/notesSlide" Target="/ppt/notesSlides/notesSlide14.xml" Id="Rf1ccb9554e8942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378a144674120" /><Relationship Type="http://schemas.openxmlformats.org/officeDocument/2006/relationships/notesSlide" Target="/ppt/notesSlides/notesSlide15.xml" Id="R9e83b69defc64f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35a96c9424d45" /><Relationship Type="http://schemas.openxmlformats.org/officeDocument/2006/relationships/notesSlide" Target="/ppt/notesSlides/notesSlide16.xml" Id="Rbb2a0fb7a95b44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9021f8a75489e" /><Relationship Type="http://schemas.openxmlformats.org/officeDocument/2006/relationships/chart" Target="/ppt/slides/charts/chart3.xml" Id="R1b2129239fe84b24" /><Relationship Type="http://schemas.openxmlformats.org/officeDocument/2006/relationships/notesSlide" Target="/ppt/notesSlides/notesSlide17.xml" Id="Re4afdb8a29a64b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ab24b419d4896" /><Relationship Type="http://schemas.openxmlformats.org/officeDocument/2006/relationships/notesSlide" Target="/ppt/notesSlides/notesSlide18.xml" Id="R5c0b102655964b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57b545b214c50" /><Relationship Type="http://schemas.openxmlformats.org/officeDocument/2006/relationships/image" Target="/ppt/media/image3.png" Id="R2ad89e462e1042f7" /><Relationship Type="http://schemas.openxmlformats.org/officeDocument/2006/relationships/notesSlide" Target="/ppt/notesSlides/notesSlide19.xml" Id="Rb3c860d777554e8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10a15195d4111" /><Relationship Type="http://schemas.openxmlformats.org/officeDocument/2006/relationships/notesSlide" Target="/ppt/notesSlides/notesSlide20.xml" Id="R52ae618b73054c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5be5196f944bd" /><Relationship Type="http://schemas.openxmlformats.org/officeDocument/2006/relationships/notesSlide" Target="/ppt/notesSlides/notesSlide21.xml" Id="R4009125c516f4f0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6b1fa3a564ac9" /><Relationship Type="http://schemas.openxmlformats.org/officeDocument/2006/relationships/notesSlide" Target="/ppt/notesSlides/notesSlide22.xml" Id="Rff82cb0db086411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dfb9c3c644dd4" /><Relationship Type="http://schemas.openxmlformats.org/officeDocument/2006/relationships/chart" Target="/ppt/slides/charts/chart4.xml" Id="Rffc68f294d5f4610" /><Relationship Type="http://schemas.openxmlformats.org/officeDocument/2006/relationships/notesSlide" Target="/ppt/notesSlides/notesSlide23.xml" Id="R3e11bf61a3684c8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54013643a47ba" /><Relationship Type="http://schemas.openxmlformats.org/officeDocument/2006/relationships/notesSlide" Target="/ppt/notesSlides/notesSlide24.xml" Id="R10a0ea6857b84f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3f3662a424896" /><Relationship Type="http://schemas.openxmlformats.org/officeDocument/2006/relationships/notesSlide" Target="/ppt/notesSlides/notesSlide25.xml" Id="Rbc6a47f58b6d476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50675485e437e" /><Relationship Type="http://schemas.openxmlformats.org/officeDocument/2006/relationships/notesSlide" Target="/ppt/notesSlides/notesSlide26.xml" Id="Ra54b510dcd714e1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8cac2249e4eeb" /><Relationship Type="http://schemas.openxmlformats.org/officeDocument/2006/relationships/image" Target="/ppt/media/image4.png" Id="Rd85a452de54f4eca" /><Relationship Type="http://schemas.openxmlformats.org/officeDocument/2006/relationships/notesSlide" Target="/ppt/notesSlides/notesSlide27.xml" Id="R965eca9e1b254fa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93d1884d5418c" /><Relationship Type="http://schemas.openxmlformats.org/officeDocument/2006/relationships/notesSlide" Target="/ppt/notesSlides/notesSlide28.xml" Id="Rd642c3dc1927411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85c2b7c2440ff" /><Relationship Type="http://schemas.openxmlformats.org/officeDocument/2006/relationships/notesSlide" Target="/ppt/notesSlides/notesSlide29.xml" Id="R54506bc2fc37485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943f5f8cb4f31" /><Relationship Type="http://schemas.openxmlformats.org/officeDocument/2006/relationships/notesSlide" Target="/ppt/notesSlides/notesSlide30.xml" Id="Rd3a46ac2986b4d8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90bb507834405" /><Relationship Type="http://schemas.openxmlformats.org/officeDocument/2006/relationships/notesSlide" Target="/ppt/notesSlides/notesSlide31.xml" Id="R257c95f07afb4ea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6dce77066411c" /><Relationship Type="http://schemas.openxmlformats.org/officeDocument/2006/relationships/chart" Target="/ppt/slides/charts/chart5.xml" Id="R352493bf475646b3" /><Relationship Type="http://schemas.openxmlformats.org/officeDocument/2006/relationships/notesSlide" Target="/ppt/notesSlides/notesSlide32.xml" Id="Ra69ee7cdc4484e2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d0616530548d3" /><Relationship Type="http://schemas.openxmlformats.org/officeDocument/2006/relationships/notesSlide" Target="/ppt/notesSlides/notesSlide33.xml" Id="Ra9756e27998e4d2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0b59e503c4a25" /><Relationship Type="http://schemas.openxmlformats.org/officeDocument/2006/relationships/notesSlide" Target="/ppt/notesSlides/notesSlide34.xml" Id="Rb26a3f6762084a5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5912f41ff4abb" /><Relationship Type="http://schemas.openxmlformats.org/officeDocument/2006/relationships/image" Target="/ppt/media/image5.png" Id="Rb364b45b2b02483c" /><Relationship Type="http://schemas.openxmlformats.org/officeDocument/2006/relationships/notesSlide" Target="/ppt/notesSlides/notesSlide35.xml" Id="Rde2c4267bed74d6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410b8e9ba4cb5" /><Relationship Type="http://schemas.openxmlformats.org/officeDocument/2006/relationships/notesSlide" Target="/ppt/notesSlides/notesSlide36.xml" Id="R03968df8bff641a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8d431fad84e66" /><Relationship Type="http://schemas.openxmlformats.org/officeDocument/2006/relationships/notesSlide" Target="/ppt/notesSlides/notesSlide37.xml" Id="R91884fc85e9d4ce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8009b254c4cad" /><Relationship Type="http://schemas.openxmlformats.org/officeDocument/2006/relationships/notesSlide" Target="/ppt/notesSlides/notesSlide38.xml" Id="R124c033e2a554fb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34ccb0a6e438b" /><Relationship Type="http://schemas.openxmlformats.org/officeDocument/2006/relationships/chart" Target="/ppt/slides/charts/chart6.xml" Id="Rd0fef78c6a474003" /><Relationship Type="http://schemas.openxmlformats.org/officeDocument/2006/relationships/notesSlide" Target="/ppt/notesSlides/notesSlide39.xml" Id="Rbfcd000f70e4462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56626f9eb46ed" /><Relationship Type="http://schemas.openxmlformats.org/officeDocument/2006/relationships/notesSlide" Target="/ppt/notesSlides/notesSlide40.xml" Id="R9e38bfac42bc488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c9e38769247ad" /><Relationship Type="http://schemas.openxmlformats.org/officeDocument/2006/relationships/notesSlide" Target="/ppt/notesSlides/notesSlide41.xml" Id="Red1d26f1f07e47b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a1f96372b4894" /><Relationship Type="http://schemas.openxmlformats.org/officeDocument/2006/relationships/notesSlide" Target="/ppt/notesSlides/notesSlide42.xml" Id="Rd51c0b2082bd491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84cc7298c49a8" /><Relationship Type="http://schemas.openxmlformats.org/officeDocument/2006/relationships/image" Target="/ppt/media/image6.png" Id="R9716e3aac7ec4fd9" /><Relationship Type="http://schemas.openxmlformats.org/officeDocument/2006/relationships/notesSlide" Target="/ppt/notesSlides/notesSlide43.xml" Id="Re119119495da4f6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0102590064f4a" /><Relationship Type="http://schemas.openxmlformats.org/officeDocument/2006/relationships/notesSlide" Target="/ppt/notesSlides/notesSlide44.xml" Id="Rdb49c0b0cd4d4c5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913452bde4340" /><Relationship Type="http://schemas.openxmlformats.org/officeDocument/2006/relationships/notesSlide" Target="/ppt/notesSlides/notesSlide45.xml" Id="Rcf72e5f3b7184ba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d1000ca63465f" /><Relationship Type="http://schemas.openxmlformats.org/officeDocument/2006/relationships/notesSlide" Target="/ppt/notesSlides/notesSlide46.xml" Id="Ra36535d777544e9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edd21f2bf4de3" /><Relationship Type="http://schemas.openxmlformats.org/officeDocument/2006/relationships/notesSlide" Target="/ppt/notesSlides/notesSlide47.xml" Id="R10f886a1c45f411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30287356549de" /><Relationship Type="http://schemas.openxmlformats.org/officeDocument/2006/relationships/notesSlide" Target="/ppt/notesSlides/notesSlide48.xml" Id="Rbc02e962331f42b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5d5291f564d71" /><Relationship Type="http://schemas.openxmlformats.org/officeDocument/2006/relationships/notesSlide" Target="/ppt/notesSlides/notesSlide49.xml" Id="R401ea3e1f218488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9188b11014536" /><Relationship Type="http://schemas.openxmlformats.org/officeDocument/2006/relationships/notesSlide" Target="/ppt/notesSlides/notesSlide50.xml" Id="Rfb386358682e4dd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Start</c:v>
              </c:pt>
              <c:pt idx="1">
                <c:v>Tree 1</c:v>
              </c:pt>
              <c:pt idx="2">
                <c:v>Tree 2</c:v>
              </c:pt>
              <c:pt idx="3">
                <c:v>Tree 3</c:v>
              </c:pt>
              <c:pt idx="4">
                <c:v>Tree 4</c:v>
              </c:pt>
            </c:strLit>
          </c:cat>
          <c:val>
            <c:numLit>
              <c:formatCode>General</c:formatCode>
              <c:ptCount val="5"/>
              <c:pt idx="0">
                <c:v>3.2</c:v>
              </c:pt>
              <c:pt idx="1">
                <c:v>2.2</c:v>
              </c:pt>
              <c:pt idx="2">
                <c:v>1.5</c:v>
              </c:pt>
              <c:pt idx="3">
                <c:v>1.05</c:v>
              </c:pt>
              <c:pt idx="4">
                <c:v>0.82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Start</c:v>
              </c:pt>
              <c:pt idx="1">
                <c:v>Tree 1</c:v>
              </c:pt>
              <c:pt idx="2">
                <c:v>Tree 2</c:v>
              </c:pt>
              <c:pt idx="3">
                <c:v>Tree 3</c:v>
              </c:pt>
              <c:pt idx="4">
                <c:v>Tree 4</c:v>
              </c:pt>
            </c:strLit>
          </c:cat>
          <c:val>
            <c:numLit>
              <c:formatCode>General</c:formatCode>
              <c:ptCount val="5"/>
              <c:pt idx="0">
                <c:v>3.2</c:v>
              </c:pt>
              <c:pt idx="1">
                <c:v>2.2</c:v>
              </c:pt>
              <c:pt idx="2">
                <c:v>1.5</c:v>
              </c:pt>
              <c:pt idx="3">
                <c:v>1.05</c:v>
              </c:pt>
              <c:pt idx="4">
                <c:v>0.82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Start</c:v>
              </c:pt>
              <c:pt idx="1">
                <c:v>Tree 1</c:v>
              </c:pt>
              <c:pt idx="2">
                <c:v>Tree 2</c:v>
              </c:pt>
              <c:pt idx="3">
                <c:v>Tree 3</c:v>
              </c:pt>
              <c:pt idx="4">
                <c:v>Tree 4</c:v>
              </c:pt>
            </c:strLit>
          </c:cat>
          <c:val>
            <c:numLit>
              <c:formatCode>General</c:formatCode>
              <c:ptCount val="5"/>
              <c:pt idx="0">
                <c:v>3.2</c:v>
              </c:pt>
              <c:pt idx="1">
                <c:v>2.2</c:v>
              </c:pt>
              <c:pt idx="2">
                <c:v>1.5</c:v>
              </c:pt>
              <c:pt idx="3">
                <c:v>1.05</c:v>
              </c:pt>
              <c:pt idx="4">
                <c:v>0.82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Start</c:v>
              </c:pt>
              <c:pt idx="1">
                <c:v>Tree 1</c:v>
              </c:pt>
              <c:pt idx="2">
                <c:v>Tree 2</c:v>
              </c:pt>
              <c:pt idx="3">
                <c:v>Tree 3</c:v>
              </c:pt>
              <c:pt idx="4">
                <c:v>Tree 4</c:v>
              </c:pt>
            </c:strLit>
          </c:cat>
          <c:val>
            <c:numLit>
              <c:formatCode>General</c:formatCode>
              <c:ptCount val="5"/>
              <c:pt idx="0">
                <c:v>3.2</c:v>
              </c:pt>
              <c:pt idx="1">
                <c:v>2.2</c:v>
              </c:pt>
              <c:pt idx="2">
                <c:v>1.5</c:v>
              </c:pt>
              <c:pt idx="3">
                <c:v>1.05</c:v>
              </c:pt>
              <c:pt idx="4">
                <c:v>0.82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Start</c:v>
              </c:pt>
              <c:pt idx="1">
                <c:v>Tree 1</c:v>
              </c:pt>
              <c:pt idx="2">
                <c:v>Tree 2</c:v>
              </c:pt>
              <c:pt idx="3">
                <c:v>Tree 3</c:v>
              </c:pt>
              <c:pt idx="4">
                <c:v>Tree 4</c:v>
              </c:pt>
            </c:strLit>
          </c:cat>
          <c:val>
            <c:numLit>
              <c:formatCode>General</c:formatCode>
              <c:ptCount val="5"/>
              <c:pt idx="0">
                <c:v>3.2</c:v>
              </c:pt>
              <c:pt idx="1">
                <c:v>2.2</c:v>
              </c:pt>
              <c:pt idx="2">
                <c:v>1.5</c:v>
              </c:pt>
              <c:pt idx="3">
                <c:v>1.05</c:v>
              </c:pt>
              <c:pt idx="4">
                <c:v>0.82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5"/>
              <c:pt idx="0">
                <c:v>Start</c:v>
              </c:pt>
              <c:pt idx="1">
                <c:v>Tree 1</c:v>
              </c:pt>
              <c:pt idx="2">
                <c:v>Tree 2</c:v>
              </c:pt>
              <c:pt idx="3">
                <c:v>Tree 3</c:v>
              </c:pt>
              <c:pt idx="4">
                <c:v>Tree 4</c:v>
              </c:pt>
            </c:strLit>
          </c:cat>
          <c:val>
            <c:numLit>
              <c:formatCode>General</c:formatCode>
              <c:ptCount val="5"/>
              <c:pt idx="0">
                <c:v>3.2</c:v>
              </c:pt>
              <c:pt idx="1">
                <c:v>2.2</c:v>
              </c:pt>
              <c:pt idx="2">
                <c:v>1.5</c:v>
              </c:pt>
              <c:pt idx="3">
                <c:v>1.05</c:v>
              </c:pt>
              <c:pt idx="4">
                <c:v>0.82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C6EAA8D-5CCB-46DF-96C7-5A1F5010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07 · LECTURE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77C668A-BEBF-4014-9A6E-D353BD05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Trees, forests, and gradient boosting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A67675AC-3957-41D2-9C68-05AD203C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If we abandon linearity, is interpretability recoverable?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1D70BC4D-6D58-4B8E-A892-7F38DA54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02EAD6A6-560E-4B11-A23F-8428B013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cxnSp>
        <p:nvCxnSpPr>
          <p:cNvPr id="41" name="tree-edge-a-0"/>
          <p:cNvCxnSpPr/>
          <p:nvPr/>
        </p:nvCxnSpPr>
        <p:spPr>
          <a:xfrm xmlns:a="http://schemas.openxmlformats.org/drawingml/2006/main">
            <a:off x="8443913" y="16573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2" name="tree-edge-b-0"/>
          <p:cNvCxnSpPr/>
          <p:nvPr/>
        </p:nvCxnSpPr>
        <p:spPr>
          <a:xfrm xmlns:a="http://schemas.openxmlformats.org/drawingml/2006/main">
            <a:off x="9034463" y="16573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3" name="tree-edge-c-0"/>
          <p:cNvCxnSpPr/>
          <p:nvPr/>
        </p:nvCxnSpPr>
        <p:spPr>
          <a:xfrm xmlns:a="http://schemas.openxmlformats.org/drawingml/2006/main">
            <a:off x="8120063" y="24955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4" name="tree-edge-d-0"/>
          <p:cNvCxnSpPr/>
          <p:nvPr/>
        </p:nvCxnSpPr>
        <p:spPr>
          <a:xfrm xmlns:a="http://schemas.openxmlformats.org/drawingml/2006/main">
            <a:off x="8443913" y="24955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tree-root-0">
            <a:extLst xmlns:a="http://schemas.openxmlformats.org/drawingml/2006/main">
              <a:ext uri="{FF2B5EF4-FFF2-40B4-BE49-F238E27FC236}">
                <a16:creationId xmlns:a16="http://schemas.microsoft.com/office/drawing/2014/main" id="{6EECE8CE-FC5D-46DC-8F92-151DD63A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12001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809726EC-A232-4D52-8E22-3170D058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863" y="21145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830DF507-C844-427E-A086-B797EBB2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1145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E5EFDEB9-6B30-40EF-AEFF-D9A69D8C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213" y="30670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47C15CBE-8BF0-48B2-BC8F-F12E0591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113" y="30670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458BF16-6E3F-4C97-848F-A446D114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7FFAA86-2844-4262-B573-A37FE337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40FF9B-47E9-4865-8F09-B58D1F11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1/50</a:t>
            </a:r>
          </a:p>
        </p:txBody>
      </p:sp>
    </p:spTree>
    <p:extLst>
      <p:ext uri="{BB962C8B-B14F-4D97-AF65-F5344CB8AC3E}">
        <p14:creationId xmlns:p14="http://schemas.microsoft.com/office/powerpoint/2010/main" val="11487629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A7971BB3-CFE0-4906-9161-CC30B8B0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ROUTE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C9E2AC-542E-42A3-8A88-392C0383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What, why, how—and what changes today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B56C0C1-465E-4F21-93CB-110108F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5324B97C-6333-40B6-AC18-A7FD8A37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Understand how recursive splits become stable ensembles—and where explanations can mislead.</a:t>
            </a:r>
          </a:p>
        </p:txBody>
      </p:sp>
      <p:cxnSp>
        <p:nvCxnSpPr>
          <p:cNvPr id="33" name="workflow-edge-0"/>
          <p:cNvCxnSpPr/>
          <p:nvPr/>
        </p:nvCxnSpPr>
        <p:spPr>
          <a:xfrm xmlns:a="http://schemas.openxmlformats.org/drawingml/2006/main">
            <a:off x="401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4" name="workflow-edge-1"/>
          <p:cNvCxnSpPr/>
          <p:nvPr/>
        </p:nvCxnSpPr>
        <p:spPr>
          <a:xfrm xmlns:a="http://schemas.openxmlformats.org/drawingml/2006/main">
            <a:off x="782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8008958-7256-47E0-AB6F-F3E20938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0EE2686-3F71-4541-B9A7-1B19EBBF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object and notation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8908F5F-92F8-4362-AC6A-E0AE441F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3CE2DFBF-622A-46D3-AEE2-84F1032A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the problem it solves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A3512C78-DC66-41AC-AA16-07D70F79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773DCD1-38B5-4D3E-994C-D9E0C6ED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Derive, run, interpret, challenge</a:t>
            </a:r>
          </a:p>
        </p:txBody>
      </p:sp>
      <p:sp>
        <p:nvSpPr>
          <p:cNvPr id="13" name="arc-caption">
            <a:extLst xmlns:a="http://schemas.openxmlformats.org/drawingml/2006/main">
              <a:ext uri="{FF2B5EF4-FFF2-40B4-BE49-F238E27FC236}">
                <a16:creationId xmlns:a16="http://schemas.microsoft.com/office/drawing/2014/main" id="{3DDEBA10-94AC-447D-800C-4B3FC41D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lecture ends by connecting the method to the required article and the 90-minute replication.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D1BF95E-29B9-4D32-A3B5-FD990AFB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89BAC9C-09B6-4AD9-B4C9-C144C0BA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096171E-6EA1-4D04-B0CF-66E3E047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2/50</a:t>
            </a:r>
          </a:p>
        </p:txBody>
      </p:sp>
    </p:spTree>
    <p:extLst>
      <p:ext uri="{BB962C8B-B14F-4D97-AF65-F5344CB8AC3E}">
        <p14:creationId xmlns:p14="http://schemas.microsoft.com/office/powerpoint/2010/main" val="418965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51848485-799A-4DD3-9C3E-EA92A25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BRIDGE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0942C7-84F6-4F96-AE8F-554F66A8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adds to the previous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B532ED1-2B22-46E4-AB34-324700BF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9B6ADDB-229B-441F-9AED-74CCF39B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67BCCED3-0F3A-431E-BF3A-700E40F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Linear decision surface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B739B53-D37A-4CC0-8FD3-C50E6F26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25817D78-9702-45A6-887E-5E872C79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Recursive partitions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8D318BB-9542-40FA-9DE0-A499515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BAC04FD-2179-4EE2-A97B-3862B31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Stable ensembles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1C58022C-6C30-449A-8BDA-928CCFA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New capacity: Understand how recursive splits become stable ensembles—and where explanations can mislead.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CF3627D-4529-4D92-A859-2EF83AA3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25D3E6-F3B3-4A9B-B6A6-CEF74B3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6C9B78A-0DBB-480B-B883-749C9D9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3/50</a:t>
            </a:r>
          </a:p>
        </p:txBody>
      </p:sp>
    </p:spTree>
    <p:extLst>
      <p:ext uri="{BB962C8B-B14F-4D97-AF65-F5344CB8AC3E}">
        <p14:creationId xmlns:p14="http://schemas.microsoft.com/office/powerpoint/2010/main" val="1956363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095953B-8173-4963-AE91-03179CB9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WHY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FFDFF7-9811-4DB7-B3C7-3AD013C3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this method enters the course now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67A9F80-4342-48F5-AE83-18D1F88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DE14792B-A6B2-40E8-BDC8-AE47F3DC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Trees learn interactions and nonlinearities automatically; ensembles trade a little transparency for large…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F23CD7B-3F57-4E20-88EA-7E8277C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Used in: risk scoring · ranking · complex interactions.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FEEA7066-4994-468F-B191-323994D5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DECISION TEST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A176FD0-882F-4738-971B-8F00D59B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decision becomes better—or more honest—after learning this method?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1c4e0bd2804eef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ED17069-0473-47C3-85E3-996C8166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927BAD0-7557-409E-87F2-395AFEA0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9DF1F5-799F-4A93-A031-63427694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4/50</a:t>
            </a:r>
          </a:p>
        </p:txBody>
      </p:sp>
    </p:spTree>
    <p:extLst>
      <p:ext uri="{BB962C8B-B14F-4D97-AF65-F5344CB8AC3E}">
        <p14:creationId xmlns:p14="http://schemas.microsoft.com/office/powerpoint/2010/main" val="2130920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D54D0A75-05D9-4A7C-8DDA-5A75931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HISTORICAL CONNECTION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BC58F-54D6-43D5-BA6B-AACB526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face behind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96B8721-9A64-41DC-B0B3-2E0FABA1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7" name="tree-edge-a-0"/>
          <p:cNvCxnSpPr/>
          <p:nvPr/>
        </p:nvCxnSpPr>
        <p:spPr>
          <a:xfrm xmlns:a="http://schemas.openxmlformats.org/drawingml/2006/main">
            <a:off x="110109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98" name="tree-edge-b-0"/>
          <p:cNvCxnSpPr/>
          <p:nvPr/>
        </p:nvCxnSpPr>
        <p:spPr>
          <a:xfrm xmlns:a="http://schemas.openxmlformats.org/drawingml/2006/main">
            <a:off x="169164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99" name="tree-edge-c-0"/>
          <p:cNvCxnSpPr/>
          <p:nvPr/>
        </p:nvCxnSpPr>
        <p:spPr>
          <a:xfrm xmlns:a="http://schemas.openxmlformats.org/drawingml/2006/main">
            <a:off x="77724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0" name="tree-edge-d-0"/>
          <p:cNvCxnSpPr/>
          <p:nvPr/>
        </p:nvCxnSpPr>
        <p:spPr>
          <a:xfrm xmlns:a="http://schemas.openxmlformats.org/drawingml/2006/main">
            <a:off x="110109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tree-root-0">
            <a:extLst xmlns:a="http://schemas.openxmlformats.org/drawingml/2006/main">
              <a:ext uri="{FF2B5EF4-FFF2-40B4-BE49-F238E27FC236}">
                <a16:creationId xmlns:a16="http://schemas.microsoft.com/office/drawing/2014/main" id="{3CC95B05-567B-4C62-8B4D-C58E5649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A05E9484-77B7-427F-80B2-B7764F32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883B32AC-49EE-48D0-92F2-213A6C8E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4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C98AEE21-4256-491C-8816-B35B701F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FC171450-F374-467F-AF84-03E2519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6" name="tree-edge-a-1"/>
          <p:cNvCxnSpPr/>
          <p:nvPr/>
        </p:nvCxnSpPr>
        <p:spPr>
          <a:xfrm xmlns:a="http://schemas.openxmlformats.org/drawingml/2006/main">
            <a:off x="329565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7" name="tree-edge-b-1"/>
          <p:cNvCxnSpPr/>
          <p:nvPr/>
        </p:nvCxnSpPr>
        <p:spPr>
          <a:xfrm xmlns:a="http://schemas.openxmlformats.org/drawingml/2006/main">
            <a:off x="388620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8" name="tree-edge-c-1"/>
          <p:cNvCxnSpPr/>
          <p:nvPr/>
        </p:nvCxnSpPr>
        <p:spPr>
          <a:xfrm xmlns:a="http://schemas.openxmlformats.org/drawingml/2006/main">
            <a:off x="297180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9" name="tree-edge-d-1"/>
          <p:cNvCxnSpPr/>
          <p:nvPr/>
        </p:nvCxnSpPr>
        <p:spPr>
          <a:xfrm xmlns:a="http://schemas.openxmlformats.org/drawingml/2006/main">
            <a:off x="329565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7" name="tree-root-1">
            <a:extLst xmlns:a="http://schemas.openxmlformats.org/drawingml/2006/main">
              <a:ext uri="{FF2B5EF4-FFF2-40B4-BE49-F238E27FC236}">
                <a16:creationId xmlns:a16="http://schemas.microsoft.com/office/drawing/2014/main" id="{8C9F6D8E-0374-40FC-8238-23A3842E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ee-mid-l-1">
            <a:extLst xmlns:a="http://schemas.openxmlformats.org/drawingml/2006/main">
              <a:ext uri="{FF2B5EF4-FFF2-40B4-BE49-F238E27FC236}">
                <a16:creationId xmlns:a16="http://schemas.microsoft.com/office/drawing/2014/main" id="{56EE7B22-A375-4A88-A55E-C4BC619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9" name="tree-mid-r-1">
            <a:extLst xmlns:a="http://schemas.openxmlformats.org/drawingml/2006/main">
              <a:ext uri="{FF2B5EF4-FFF2-40B4-BE49-F238E27FC236}">
                <a16:creationId xmlns:a16="http://schemas.microsoft.com/office/drawing/2014/main" id="{59870F00-6C40-44F3-B1B8-2B078864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0" name="tree-low-l-1">
            <a:extLst xmlns:a="http://schemas.openxmlformats.org/drawingml/2006/main">
              <a:ext uri="{FF2B5EF4-FFF2-40B4-BE49-F238E27FC236}">
                <a16:creationId xmlns:a16="http://schemas.microsoft.com/office/drawing/2014/main" id="{54DC97C0-8DE7-4CF2-9C1C-BDC3DBE5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ee-low-r-1">
            <a:extLst xmlns:a="http://schemas.openxmlformats.org/drawingml/2006/main">
              <a:ext uri="{FF2B5EF4-FFF2-40B4-BE49-F238E27FC236}">
                <a16:creationId xmlns:a16="http://schemas.microsoft.com/office/drawing/2014/main" id="{CC901711-A52A-466E-BDF0-F016C231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5" name="tree-edge-a-2"/>
          <p:cNvCxnSpPr/>
          <p:nvPr/>
        </p:nvCxnSpPr>
        <p:spPr>
          <a:xfrm xmlns:a="http://schemas.openxmlformats.org/drawingml/2006/main">
            <a:off x="549021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6" name="tree-edge-b-2"/>
          <p:cNvCxnSpPr/>
          <p:nvPr/>
        </p:nvCxnSpPr>
        <p:spPr>
          <a:xfrm xmlns:a="http://schemas.openxmlformats.org/drawingml/2006/main">
            <a:off x="608076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7" name="tree-edge-c-2"/>
          <p:cNvCxnSpPr/>
          <p:nvPr/>
        </p:nvCxnSpPr>
        <p:spPr>
          <a:xfrm xmlns:a="http://schemas.openxmlformats.org/drawingml/2006/main">
            <a:off x="516636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8" name="tree-edge-d-2"/>
          <p:cNvCxnSpPr/>
          <p:nvPr/>
        </p:nvCxnSpPr>
        <p:spPr>
          <a:xfrm xmlns:a="http://schemas.openxmlformats.org/drawingml/2006/main">
            <a:off x="549021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26" name="tree-root-2">
            <a:extLst xmlns:a="http://schemas.openxmlformats.org/drawingml/2006/main">
              <a:ext uri="{FF2B5EF4-FFF2-40B4-BE49-F238E27FC236}">
                <a16:creationId xmlns:a16="http://schemas.microsoft.com/office/drawing/2014/main" id="{934CA3AE-264E-4628-848D-B4DABDFF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1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ree-mid-l-2">
            <a:extLst xmlns:a="http://schemas.openxmlformats.org/drawingml/2006/main">
              <a:ext uri="{FF2B5EF4-FFF2-40B4-BE49-F238E27FC236}">
                <a16:creationId xmlns:a16="http://schemas.microsoft.com/office/drawing/2014/main" id="{DCAEDDFB-8E36-44D9-8897-F680A74F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8" name="tree-mid-r-2">
            <a:extLst xmlns:a="http://schemas.openxmlformats.org/drawingml/2006/main">
              <a:ext uri="{FF2B5EF4-FFF2-40B4-BE49-F238E27FC236}">
                <a16:creationId xmlns:a16="http://schemas.microsoft.com/office/drawing/2014/main" id="{D1741DC1-8013-4157-BC0D-9B0B828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6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9" name="tree-low-l-2">
            <a:extLst xmlns:a="http://schemas.openxmlformats.org/drawingml/2006/main">
              <a:ext uri="{FF2B5EF4-FFF2-40B4-BE49-F238E27FC236}">
                <a16:creationId xmlns:a16="http://schemas.microsoft.com/office/drawing/2014/main" id="{6F857FBA-7B40-43E1-9150-4C829E0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ree-low-r-2">
            <a:extLst xmlns:a="http://schemas.openxmlformats.org/drawingml/2006/main">
              <a:ext uri="{FF2B5EF4-FFF2-40B4-BE49-F238E27FC236}">
                <a16:creationId xmlns:a16="http://schemas.microsoft.com/office/drawing/2014/main" id="{5DC3985F-903D-4E6C-8444-70E5453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41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rest-average">
            <a:extLst xmlns:a="http://schemas.openxmlformats.org/drawingml/2006/main">
              <a:ext uri="{FF2B5EF4-FFF2-40B4-BE49-F238E27FC236}">
                <a16:creationId xmlns:a16="http://schemas.microsoft.com/office/drawing/2014/main" id="{05F17AFE-827E-4DCE-A13F-EA6F612B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average the trees → stable prediction</a:t>
            </a:r>
          </a:p>
        </p:txBody>
      </p:sp>
      <p:sp>
        <p:nvSpPr>
          <p:cNvPr id="32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C6601753-47B8-4C4C-8E60-BB0EBA8E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Leo Breiman</a:t>
            </a:r>
          </a:p>
        </p:txBody>
      </p:sp>
      <p:sp>
        <p:nvSpPr>
          <p:cNvPr id="33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94F8D392-1408-41A6-BC8B-8AF1919F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1928–2005</a:t>
            </a:r>
          </a:p>
        </p:txBody>
      </p:sp>
      <p:sp>
        <p:nvSpPr>
          <p:cNvPr id="34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E591491B-6B12-4E1D-85D7-19D7DD2D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A7050424-85A0-4EB2-A44A-8F21D39D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WHY THIS PERSON MATTERS</a:t>
            </a:r>
          </a:p>
        </p:txBody>
      </p:sp>
      <p:sp>
        <p:nvSpPr>
          <p:cNvPr id="36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FB850D06-D289-4DA1-B34D-0EC0105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3AF89398-75E1-4354-A896-F28F5B4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Breiman developed CART and random forests and pushed statistics to evaluate…</a:t>
            </a:r>
          </a:p>
        </p:txBody>
      </p:sp>
      <p:sp>
        <p:nvSpPr>
          <p:cNvPr id="38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4BA97CAA-91B4-4279-90F9-9C10222D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675E25D-D0D4-49BB-AE09-4397A42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145E0B-A6A2-41A8-ACC3-5C7A781A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F47BBB2-2B6D-4E48-A96A-ED52A19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5/50</a:t>
            </a:r>
          </a:p>
        </p:txBody>
      </p:sp>
      <p:sp>
        <p:nvSpPr>
          <p:cNvPr id="92" name="media-matte-breiman.png">
            <a:extLst xmlns:a="http://schemas.openxmlformats.org/drawingml/2006/main">
              <a:ext uri="{FF2B5EF4-FFF2-40B4-BE49-F238E27FC236}">
                <a16:creationId xmlns:a16="http://schemas.microsoft.com/office/drawing/2014/main" id="{A98CFD8A-D1FC-4C91-8D33-6A916BF3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b4e600f134c71"/>
          <a:stretch xmlns:a="http://schemas.openxmlformats.org/drawingml/2006/main"/>
        </p:blipFill>
        <p:spPr>
          <a:xfrm xmlns:a="http://schemas.openxmlformats.org/drawingml/2006/main">
            <a:off x="3017520" y="1600200"/>
            <a:ext cx="17373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877355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D4A0D35-BBCE-4252-98FD-A5D40553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CE48F2-89F2-4B87-ABD1-CDFF5B43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27748D2-EB70-4DC6-BE43-85F15468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9660F609-F5F5-4D6B-8916-D1D7CCCA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64E64704-340A-473C-BAFB-0CE1D106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14FB8994-1A8B-4839-9350-FC93BB3C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745BCE14-87C3-4CCD-921F-F44249E1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8F3CA365-DCD5-4079-8480-9F20DB08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A603507A-9047-4418-BA59-6376C163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Bagging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E49C91D0-64D6-42C8-8229-D53E859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A59DEA38-BC4A-44DF-80F6-716C810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6313B73C-3E84-4FDC-9486-F2748A13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A4523491-BE78-4AF0-BC8B-DE16B879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Learning rate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0721A20C-8F0F-487D-88D2-40D95116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61D1F94A-B74C-4B3E-8383-067FFE65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Average or boost many trees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8F52E60C-949E-47EC-B907-E6A265A9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7EEA1C8-EDB4-472D-BB27-3C69C112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EAB7716-3E02-4FBB-8B1F-11117744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B59BB0-13DD-4A63-9611-895B681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6/50</a:t>
            </a:r>
          </a:p>
        </p:txBody>
      </p:sp>
    </p:spTree>
    <p:extLst>
      <p:ext uri="{BB962C8B-B14F-4D97-AF65-F5344CB8AC3E}">
        <p14:creationId xmlns:p14="http://schemas.microsoft.com/office/powerpoint/2010/main" val="17468674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86E1D5E-96BD-457C-8F19-BE1C17EA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BE1591-70A2-4768-AA1E-A458872C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Everything so far has been one straight line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B94FDBB-EBF4-40D9-887B-08C9B468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81C4B2F-B5D9-43EB-A791-44E9A21C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Forest prediction = (1/B) Σ_b T_b(x)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7244CFD-0345-4DC6-B895-0A8236F6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 interaction and every non-linearity so far had to be typed by hand: a squared term, a product, a spline. You had to know it was there.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0B2C165-CA17-4E8B-8261-C2FDF2C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3ADB8F46-0BDD-4318-B06B-F73B427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 interaction and every non-linearity so far had to be typed by hand: a squared term, a…</a:t>
            </a:r>
          </a:p>
        </p:txBody>
      </p:sp>
      <p:cxnSp>
        <p:nvCxnSpPr>
          <p:cNvPr id="49" name="tree-edge-a-0"/>
          <p:cNvCxnSpPr/>
          <p:nvPr/>
        </p:nvCxnSpPr>
        <p:spPr>
          <a:xfrm xmlns:a="http://schemas.openxmlformats.org/drawingml/2006/main">
            <a:off x="823912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0" name="tree-edge-b-0"/>
          <p:cNvCxnSpPr/>
          <p:nvPr/>
        </p:nvCxnSpPr>
        <p:spPr>
          <a:xfrm xmlns:a="http://schemas.openxmlformats.org/drawingml/2006/main">
            <a:off x="882967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1" name="tree-edge-c-0"/>
          <p:cNvCxnSpPr/>
          <p:nvPr/>
        </p:nvCxnSpPr>
        <p:spPr>
          <a:xfrm xmlns:a="http://schemas.openxmlformats.org/drawingml/2006/main">
            <a:off x="791527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2" name="tree-edge-d-0"/>
          <p:cNvCxnSpPr/>
          <p:nvPr/>
        </p:nvCxnSpPr>
        <p:spPr>
          <a:xfrm xmlns:a="http://schemas.openxmlformats.org/drawingml/2006/main">
            <a:off x="823912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2" name="tree-root-0">
            <a:extLst xmlns:a="http://schemas.openxmlformats.org/drawingml/2006/main">
              <a:ext uri="{FF2B5EF4-FFF2-40B4-BE49-F238E27FC236}">
                <a16:creationId xmlns:a16="http://schemas.microsoft.com/office/drawing/2014/main" id="{77E4D4F5-967E-442E-9342-689A0C1A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3691B482-ECEF-4720-A056-8CD3341B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DB5E46CD-6290-45FA-92F5-54D3BB8C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BF06821A-3835-4BA6-A694-E335C28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EC7F4743-3C8E-487B-826A-71B33A8D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0AA7DC4-9B6D-485B-B3D7-D9F70C86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D26E13-6690-46AF-A0A5-6F2E6D0D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9368636-FC17-4C4C-AC7D-1CF3282F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7/50</a:t>
            </a:r>
          </a:p>
        </p:txBody>
      </p:sp>
    </p:spTree>
    <p:extLst>
      <p:ext uri="{BB962C8B-B14F-4D97-AF65-F5344CB8AC3E}">
        <p14:creationId xmlns:p14="http://schemas.microsoft.com/office/powerpoint/2010/main" val="161125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51848485-799A-4DD3-9C3E-EA92A25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0942C7-84F6-4F96-AE8F-554F66A8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tree is a partition, not a curve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B532ED1-2B22-46E4-AB34-324700BF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9B6ADDB-229B-441F-9AED-74CCF39B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67BCCED3-0F3A-431E-BF3A-700E40F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= ["fico", "intrate"] x2tr = Xtr[TWO].tonumpy(); x2te = Xte[TWO].tonumpy() t2 =…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B739B53-D37A-4CC0-8FD3-C50E6F26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25817D78-9702-45A6-887E-5E872C79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8D318BB-9542-40FA-9DE0-A499515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BAC04FD-2179-4EE2-A97B-3862B31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Average or boost many trees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1C58022C-6C30-449A-8BDA-928CCFA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Evaluate and explain on held-out data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CF3627D-4529-4D92-A859-2EF83AA3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25D3E6-F3B3-4A9B-B6A6-CEF74B3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6C9B78A-0DBB-480B-B883-749C9D9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8/50</a:t>
            </a:r>
          </a:p>
        </p:txBody>
      </p:sp>
    </p:spTree>
    <p:extLst>
      <p:ext uri="{BB962C8B-B14F-4D97-AF65-F5344CB8AC3E}">
        <p14:creationId xmlns:p14="http://schemas.microsoft.com/office/powerpoint/2010/main" val="19563639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037442C8-390B-4495-915D-7BADC38A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78B216-9DCE-4C33-8963-46520995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tree is a partition, not a curve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96F0C6B-D43B-428F-BD7A-E4127112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E285EDA-1D93-48DA-B83F-10A0CD90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Split = arg minₛ [SSE(left) + SSE(right)]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9C98C071-2420-4150-AEB5-A78EE69F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= ["fico", "intrate"] x2tr = Xtr[TWO].tonumpy(); x2te = Xte[TWO].tonumpy() t2 = DecisionTreeClassifier(maxdepth=3, minsamplesleaf=60, randomstate=0).fit(x2tr, ytr)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24307B5-671F-468E-8877-08382C84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B3AEACCD-F25A-41E6-95A6-B95ADF73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= ["fico", "intrate"] x2tr = Xtr[TWO].tonumpy(); x2te = Xte[TWO].tonumpy() t2 =…</a:t>
            </a:r>
          </a:p>
        </p:txBody>
      </p:sp>
      <p:cxnSp>
        <p:nvCxnSpPr>
          <p:cNvPr id="104" name="tree-edge-a-0"/>
          <p:cNvCxnSpPr/>
          <p:nvPr/>
        </p:nvCxnSpPr>
        <p:spPr>
          <a:xfrm xmlns:a="http://schemas.openxmlformats.org/drawingml/2006/main">
            <a:off x="637984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5" name="tree-edge-b-0"/>
          <p:cNvCxnSpPr/>
          <p:nvPr/>
        </p:nvCxnSpPr>
        <p:spPr>
          <a:xfrm xmlns:a="http://schemas.openxmlformats.org/drawingml/2006/main">
            <a:off x="697039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6" name="tree-edge-c-0"/>
          <p:cNvCxnSpPr/>
          <p:nvPr/>
        </p:nvCxnSpPr>
        <p:spPr>
          <a:xfrm xmlns:a="http://schemas.openxmlformats.org/drawingml/2006/main">
            <a:off x="605599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7" name="tree-edge-d-0"/>
          <p:cNvCxnSpPr/>
          <p:nvPr/>
        </p:nvCxnSpPr>
        <p:spPr>
          <a:xfrm xmlns:a="http://schemas.openxmlformats.org/drawingml/2006/main">
            <a:off x="637984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2" name="tree-root-0">
            <a:extLst xmlns:a="http://schemas.openxmlformats.org/drawingml/2006/main">
              <a:ext uri="{FF2B5EF4-FFF2-40B4-BE49-F238E27FC236}">
                <a16:creationId xmlns:a16="http://schemas.microsoft.com/office/drawing/2014/main" id="{E62611F8-EAA2-4C9F-BBD7-5119E8B6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34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11283D4E-9FAF-4EF8-83BC-CA5801E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79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9679406C-D8BB-488E-A5BC-207E7EB4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89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D160CA27-39FF-4037-9F61-28D6B285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14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B1FD36CF-B7C8-410E-B0E8-D259AEA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04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3" name="tree-edge-a-1"/>
          <p:cNvCxnSpPr/>
          <p:nvPr/>
        </p:nvCxnSpPr>
        <p:spPr>
          <a:xfrm xmlns:a="http://schemas.openxmlformats.org/drawingml/2006/main">
            <a:off x="823912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4" name="tree-edge-b-1"/>
          <p:cNvCxnSpPr/>
          <p:nvPr/>
        </p:nvCxnSpPr>
        <p:spPr>
          <a:xfrm xmlns:a="http://schemas.openxmlformats.org/drawingml/2006/main">
            <a:off x="882967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5" name="tree-edge-c-1"/>
          <p:cNvCxnSpPr/>
          <p:nvPr/>
        </p:nvCxnSpPr>
        <p:spPr>
          <a:xfrm xmlns:a="http://schemas.openxmlformats.org/drawingml/2006/main">
            <a:off x="791527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6" name="tree-edge-d-1"/>
          <p:cNvCxnSpPr/>
          <p:nvPr/>
        </p:nvCxnSpPr>
        <p:spPr>
          <a:xfrm xmlns:a="http://schemas.openxmlformats.org/drawingml/2006/main">
            <a:off x="823912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21" name="tree-root-1">
            <a:extLst xmlns:a="http://schemas.openxmlformats.org/drawingml/2006/main">
              <a:ext uri="{FF2B5EF4-FFF2-40B4-BE49-F238E27FC236}">
                <a16:creationId xmlns:a16="http://schemas.microsoft.com/office/drawing/2014/main" id="{BD72F8FF-55A5-4CE9-8803-D5C7C11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ee-mid-l-1">
            <a:extLst xmlns:a="http://schemas.openxmlformats.org/drawingml/2006/main">
              <a:ext uri="{FF2B5EF4-FFF2-40B4-BE49-F238E27FC236}">
                <a16:creationId xmlns:a16="http://schemas.microsoft.com/office/drawing/2014/main" id="{DD24F33C-2588-456D-88A5-AE5AA5A5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3" name="tree-mid-r-1">
            <a:extLst xmlns:a="http://schemas.openxmlformats.org/drawingml/2006/main">
              <a:ext uri="{FF2B5EF4-FFF2-40B4-BE49-F238E27FC236}">
                <a16:creationId xmlns:a16="http://schemas.microsoft.com/office/drawing/2014/main" id="{7FB40C56-0552-4090-9A2E-1655841F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4" name="tree-low-l-1">
            <a:extLst xmlns:a="http://schemas.openxmlformats.org/drawingml/2006/main">
              <a:ext uri="{FF2B5EF4-FFF2-40B4-BE49-F238E27FC236}">
                <a16:creationId xmlns:a16="http://schemas.microsoft.com/office/drawing/2014/main" id="{E8CF39B9-425B-4A0B-9A0C-9185885A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ree-low-r-1">
            <a:extLst xmlns:a="http://schemas.openxmlformats.org/drawingml/2006/main">
              <a:ext uri="{FF2B5EF4-FFF2-40B4-BE49-F238E27FC236}">
                <a16:creationId xmlns:a16="http://schemas.microsoft.com/office/drawing/2014/main" id="{F026EE07-C785-48AA-851F-3BC9A88D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2" name="tree-edge-a-2"/>
          <p:cNvCxnSpPr/>
          <p:nvPr/>
        </p:nvCxnSpPr>
        <p:spPr>
          <a:xfrm xmlns:a="http://schemas.openxmlformats.org/drawingml/2006/main">
            <a:off x="1009840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3" name="tree-edge-b-2"/>
          <p:cNvCxnSpPr/>
          <p:nvPr/>
        </p:nvCxnSpPr>
        <p:spPr>
          <a:xfrm xmlns:a="http://schemas.openxmlformats.org/drawingml/2006/main">
            <a:off x="1068895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4" name="tree-edge-c-2"/>
          <p:cNvCxnSpPr/>
          <p:nvPr/>
        </p:nvCxnSpPr>
        <p:spPr>
          <a:xfrm xmlns:a="http://schemas.openxmlformats.org/drawingml/2006/main">
            <a:off x="977455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5" name="tree-edge-d-2"/>
          <p:cNvCxnSpPr/>
          <p:nvPr/>
        </p:nvCxnSpPr>
        <p:spPr>
          <a:xfrm xmlns:a="http://schemas.openxmlformats.org/drawingml/2006/main">
            <a:off x="1009840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30" name="tree-root-2">
            <a:extLst xmlns:a="http://schemas.openxmlformats.org/drawingml/2006/main">
              <a:ext uri="{FF2B5EF4-FFF2-40B4-BE49-F238E27FC236}">
                <a16:creationId xmlns:a16="http://schemas.microsoft.com/office/drawing/2014/main" id="{3B6872FF-972E-46A6-BF54-47B29E1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90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ree-mid-l-2">
            <a:extLst xmlns:a="http://schemas.openxmlformats.org/drawingml/2006/main">
              <a:ext uri="{FF2B5EF4-FFF2-40B4-BE49-F238E27FC236}">
                <a16:creationId xmlns:a16="http://schemas.microsoft.com/office/drawing/2014/main" id="{6A6EFEDA-DDAF-4903-BC66-041ADB0A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2" name="tree-mid-r-2">
            <a:extLst xmlns:a="http://schemas.openxmlformats.org/drawingml/2006/main">
              <a:ext uri="{FF2B5EF4-FFF2-40B4-BE49-F238E27FC236}">
                <a16:creationId xmlns:a16="http://schemas.microsoft.com/office/drawing/2014/main" id="{503ABD49-CD95-46B2-948D-613206E9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45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3" name="tree-low-l-2">
            <a:extLst xmlns:a="http://schemas.openxmlformats.org/drawingml/2006/main">
              <a:ext uri="{FF2B5EF4-FFF2-40B4-BE49-F238E27FC236}">
                <a16:creationId xmlns:a16="http://schemas.microsoft.com/office/drawing/2014/main" id="{124CD21C-A8A7-4169-876B-C2237C2B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70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ree-low-r-2">
            <a:extLst xmlns:a="http://schemas.openxmlformats.org/drawingml/2006/main">
              <a:ext uri="{FF2B5EF4-FFF2-40B4-BE49-F238E27FC236}">
                <a16:creationId xmlns:a16="http://schemas.microsoft.com/office/drawing/2014/main" id="{F53CE39C-F4F6-4B05-9C63-3AE7C044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60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rest-average">
            <a:extLst xmlns:a="http://schemas.openxmlformats.org/drawingml/2006/main">
              <a:ext uri="{FF2B5EF4-FFF2-40B4-BE49-F238E27FC236}">
                <a16:creationId xmlns:a16="http://schemas.microsoft.com/office/drawing/2014/main" id="{02EE8DAA-E605-4FD8-8119-0BECDFC3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29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8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average the trees → stable prediction</a:t>
            </a:r>
          </a:p>
        </p:txBody>
      </p:sp>
      <p:sp>
        <p:nvSpPr>
          <p:cNvPr id="3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BEF9FCC-EA3D-478B-98F3-F80F13C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EE55A5-4827-4012-8475-A9E97FC3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3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53760B-364C-4A67-B216-1A2F8882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9/50</a:t>
            </a:r>
          </a:p>
        </p:txBody>
      </p:sp>
    </p:spTree>
    <p:extLst>
      <p:ext uri="{BB962C8B-B14F-4D97-AF65-F5344CB8AC3E}">
        <p14:creationId xmlns:p14="http://schemas.microsoft.com/office/powerpoint/2010/main" val="3561769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095953B-8173-4963-AE91-03179CB9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FFDFF7-9811-4DB7-B3C7-3AD013C3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One tree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67A9F80-4342-48F5-AE83-18D1F88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DE14792B-A6B2-40E8-BDC8-AE47F3DC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Forest prediction = (1/B) Σ_b T_b(x)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F23CD7B-3F57-4E20-88EA-7E8277C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One tree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FEEA7066-4994-468F-B191-323994D5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A176FD0-882F-4738-971B-8F00D59B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One tree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cefe269e88466c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ED17069-0473-47C3-85E3-996C8166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927BAD0-7557-409E-87F2-395AFEA0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9DF1F5-799F-4A93-A031-63427694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10/50</a:t>
            </a:r>
          </a:p>
        </p:txBody>
      </p:sp>
    </p:spTree>
    <p:extLst>
      <p:ext uri="{BB962C8B-B14F-4D97-AF65-F5344CB8AC3E}">
        <p14:creationId xmlns:p14="http://schemas.microsoft.com/office/powerpoint/2010/main" val="21309201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D54D0A75-05D9-4A7C-8DDA-5A75931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BC58F-54D6-43D5-BA6B-AACB526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model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96B8721-9A64-41DC-B0B3-2E0FABA1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7" name="tree-edge-a-0"/>
          <p:cNvCxnSpPr/>
          <p:nvPr/>
        </p:nvCxnSpPr>
        <p:spPr>
          <a:xfrm xmlns:a="http://schemas.openxmlformats.org/drawingml/2006/main">
            <a:off x="110109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98" name="tree-edge-b-0"/>
          <p:cNvCxnSpPr/>
          <p:nvPr/>
        </p:nvCxnSpPr>
        <p:spPr>
          <a:xfrm xmlns:a="http://schemas.openxmlformats.org/drawingml/2006/main">
            <a:off x="169164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99" name="tree-edge-c-0"/>
          <p:cNvCxnSpPr/>
          <p:nvPr/>
        </p:nvCxnSpPr>
        <p:spPr>
          <a:xfrm xmlns:a="http://schemas.openxmlformats.org/drawingml/2006/main">
            <a:off x="77724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0" name="tree-edge-d-0"/>
          <p:cNvCxnSpPr/>
          <p:nvPr/>
        </p:nvCxnSpPr>
        <p:spPr>
          <a:xfrm xmlns:a="http://schemas.openxmlformats.org/drawingml/2006/main">
            <a:off x="110109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tree-root-0">
            <a:extLst xmlns:a="http://schemas.openxmlformats.org/drawingml/2006/main">
              <a:ext uri="{FF2B5EF4-FFF2-40B4-BE49-F238E27FC236}">
                <a16:creationId xmlns:a16="http://schemas.microsoft.com/office/drawing/2014/main" id="{3CC95B05-567B-4C62-8B4D-C58E5649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A05E9484-77B7-427F-80B2-B7764F32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883B32AC-49EE-48D0-92F2-213A6C8E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4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C98AEE21-4256-491C-8816-B35B701F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FC171450-F374-467F-AF84-03E2519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6" name="tree-edge-a-1"/>
          <p:cNvCxnSpPr/>
          <p:nvPr/>
        </p:nvCxnSpPr>
        <p:spPr>
          <a:xfrm xmlns:a="http://schemas.openxmlformats.org/drawingml/2006/main">
            <a:off x="329565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7" name="tree-edge-b-1"/>
          <p:cNvCxnSpPr/>
          <p:nvPr/>
        </p:nvCxnSpPr>
        <p:spPr>
          <a:xfrm xmlns:a="http://schemas.openxmlformats.org/drawingml/2006/main">
            <a:off x="388620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8" name="tree-edge-c-1"/>
          <p:cNvCxnSpPr/>
          <p:nvPr/>
        </p:nvCxnSpPr>
        <p:spPr>
          <a:xfrm xmlns:a="http://schemas.openxmlformats.org/drawingml/2006/main">
            <a:off x="297180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9" name="tree-edge-d-1"/>
          <p:cNvCxnSpPr/>
          <p:nvPr/>
        </p:nvCxnSpPr>
        <p:spPr>
          <a:xfrm xmlns:a="http://schemas.openxmlformats.org/drawingml/2006/main">
            <a:off x="329565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7" name="tree-root-1">
            <a:extLst xmlns:a="http://schemas.openxmlformats.org/drawingml/2006/main">
              <a:ext uri="{FF2B5EF4-FFF2-40B4-BE49-F238E27FC236}">
                <a16:creationId xmlns:a16="http://schemas.microsoft.com/office/drawing/2014/main" id="{8C9F6D8E-0374-40FC-8238-23A3842E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ee-mid-l-1">
            <a:extLst xmlns:a="http://schemas.openxmlformats.org/drawingml/2006/main">
              <a:ext uri="{FF2B5EF4-FFF2-40B4-BE49-F238E27FC236}">
                <a16:creationId xmlns:a16="http://schemas.microsoft.com/office/drawing/2014/main" id="{56EE7B22-A375-4A88-A55E-C4BC619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9" name="tree-mid-r-1">
            <a:extLst xmlns:a="http://schemas.openxmlformats.org/drawingml/2006/main">
              <a:ext uri="{FF2B5EF4-FFF2-40B4-BE49-F238E27FC236}">
                <a16:creationId xmlns:a16="http://schemas.microsoft.com/office/drawing/2014/main" id="{59870F00-6C40-44F3-B1B8-2B078864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0" name="tree-low-l-1">
            <a:extLst xmlns:a="http://schemas.openxmlformats.org/drawingml/2006/main">
              <a:ext uri="{FF2B5EF4-FFF2-40B4-BE49-F238E27FC236}">
                <a16:creationId xmlns:a16="http://schemas.microsoft.com/office/drawing/2014/main" id="{54DC97C0-8DE7-4CF2-9C1C-BDC3DBE5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ee-low-r-1">
            <a:extLst xmlns:a="http://schemas.openxmlformats.org/drawingml/2006/main">
              <a:ext uri="{FF2B5EF4-FFF2-40B4-BE49-F238E27FC236}">
                <a16:creationId xmlns:a16="http://schemas.microsoft.com/office/drawing/2014/main" id="{CC901711-A52A-466E-BDF0-F016C231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5" name="tree-edge-a-2"/>
          <p:cNvCxnSpPr/>
          <p:nvPr/>
        </p:nvCxnSpPr>
        <p:spPr>
          <a:xfrm xmlns:a="http://schemas.openxmlformats.org/drawingml/2006/main">
            <a:off x="549021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6" name="tree-edge-b-2"/>
          <p:cNvCxnSpPr/>
          <p:nvPr/>
        </p:nvCxnSpPr>
        <p:spPr>
          <a:xfrm xmlns:a="http://schemas.openxmlformats.org/drawingml/2006/main">
            <a:off x="608076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7" name="tree-edge-c-2"/>
          <p:cNvCxnSpPr/>
          <p:nvPr/>
        </p:nvCxnSpPr>
        <p:spPr>
          <a:xfrm xmlns:a="http://schemas.openxmlformats.org/drawingml/2006/main">
            <a:off x="516636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8" name="tree-edge-d-2"/>
          <p:cNvCxnSpPr/>
          <p:nvPr/>
        </p:nvCxnSpPr>
        <p:spPr>
          <a:xfrm xmlns:a="http://schemas.openxmlformats.org/drawingml/2006/main">
            <a:off x="549021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26" name="tree-root-2">
            <a:extLst xmlns:a="http://schemas.openxmlformats.org/drawingml/2006/main">
              <a:ext uri="{FF2B5EF4-FFF2-40B4-BE49-F238E27FC236}">
                <a16:creationId xmlns:a16="http://schemas.microsoft.com/office/drawing/2014/main" id="{934CA3AE-264E-4628-848D-B4DABDFF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1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ree-mid-l-2">
            <a:extLst xmlns:a="http://schemas.openxmlformats.org/drawingml/2006/main">
              <a:ext uri="{FF2B5EF4-FFF2-40B4-BE49-F238E27FC236}">
                <a16:creationId xmlns:a16="http://schemas.microsoft.com/office/drawing/2014/main" id="{DCAEDDFB-8E36-44D9-8897-F680A74F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8" name="tree-mid-r-2">
            <a:extLst xmlns:a="http://schemas.openxmlformats.org/drawingml/2006/main">
              <a:ext uri="{FF2B5EF4-FFF2-40B4-BE49-F238E27FC236}">
                <a16:creationId xmlns:a16="http://schemas.microsoft.com/office/drawing/2014/main" id="{D1741DC1-8013-4157-BC0D-9B0B828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6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9" name="tree-low-l-2">
            <a:extLst xmlns:a="http://schemas.openxmlformats.org/drawingml/2006/main">
              <a:ext uri="{FF2B5EF4-FFF2-40B4-BE49-F238E27FC236}">
                <a16:creationId xmlns:a16="http://schemas.microsoft.com/office/drawing/2014/main" id="{6F857FBA-7B40-43E1-9150-4C829E0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ree-low-r-2">
            <a:extLst xmlns:a="http://schemas.openxmlformats.org/drawingml/2006/main">
              <a:ext uri="{FF2B5EF4-FFF2-40B4-BE49-F238E27FC236}">
                <a16:creationId xmlns:a16="http://schemas.microsoft.com/office/drawing/2014/main" id="{5DC3985F-903D-4E6C-8444-70E5453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41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rest-average">
            <a:extLst xmlns:a="http://schemas.openxmlformats.org/drawingml/2006/main">
              <a:ext uri="{FF2B5EF4-FFF2-40B4-BE49-F238E27FC236}">
                <a16:creationId xmlns:a16="http://schemas.microsoft.com/office/drawing/2014/main" id="{05F17AFE-827E-4DCE-A13F-EA6F612B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average the trees → stable prediction</a:t>
            </a:r>
          </a:p>
        </p:txBody>
      </p:sp>
      <p:sp>
        <p:nvSpPr>
          <p:cNvPr id="32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C6601753-47B8-4C4C-8E60-BB0EBA8E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33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94F8D392-1408-41A6-BC8B-8AF1919F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9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Partition the predictor space into M regions and predict a constant in each: Under squared loss…</a:t>
            </a:r>
          </a:p>
        </p:txBody>
      </p:sp>
      <p:sp>
        <p:nvSpPr>
          <p:cNvPr id="34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E591491B-6B12-4E1D-85D7-19D7DD2D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A7050424-85A0-4EB2-A44A-8F21D39D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 the whole problem is choosing the regions.</a:t>
            </a:r>
          </a:p>
        </p:txBody>
      </p:sp>
      <p:sp>
        <p:nvSpPr>
          <p:cNvPr id="36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FB850D06-D289-4DA1-B34D-0EC0105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3AF89398-75E1-4354-A896-F28F5B4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4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Partition the predictor space into M regions and predict a constant in each: Under squared loss the…</a:t>
            </a:r>
          </a:p>
        </p:txBody>
      </p:sp>
      <p:sp>
        <p:nvSpPr>
          <p:cNvPr id="38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4BA97CAA-91B4-4279-90F9-9C10222D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675E25D-D0D4-49BB-AE09-4397A42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145E0B-A6A2-41A8-ACC3-5C7A781A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F47BBB2-2B6D-4E48-A96A-ED52A19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11/50</a:t>
            </a:r>
          </a:p>
        </p:txBody>
      </p:sp>
      <p:sp>
        <p:nvSpPr>
          <p:cNvPr id="92" name="media-matte-ensemble_comparison.png">
            <a:extLst xmlns:a="http://schemas.openxmlformats.org/drawingml/2006/main">
              <a:ext uri="{FF2B5EF4-FFF2-40B4-BE49-F238E27FC236}">
                <a16:creationId xmlns:a16="http://schemas.microsoft.com/office/drawing/2014/main" id="{C0C55014-9384-431B-8F74-A32250C7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89113cba14508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877355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1F55719-5110-48A6-B75A-4E71BEFF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25C3C8-D120-41BF-B7E6-A62232D3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model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B7D81EA-79AB-4485-9E6D-2B291028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F18182BE-AA4B-4F21-89F3-742316F0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530044D6-D425-4D32-90E9-0015599B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B9E0ECBB-68EA-4623-8E8F-992E67FD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DD7CA5C5-83EC-445F-95C0-F41F5152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07-trees-forests-boosting/demo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session07_ensembles_demo.py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A51B9E90-9DE0-4425-96CE-439759E5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98F66669-1338-4212-8998-52CABBA8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sklearn.ensemble import RandomForestRegressor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np.arange(40.).reshape(20,2); y = X[:,0]**.5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= RandomForestRegressor(n_estimators=100, random_state=60033).fit(X,y)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print(m.predict(X[:3]))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B80E2C95-2717-4527-BA32-E8547EA3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9A795B1-DB4C-4FCB-9744-63BF371C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1F127CE-A247-4631-886C-7DFD3A65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7EDBC8-7149-4BD7-963B-31D7ACC7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12/50</a:t>
            </a:r>
          </a:p>
        </p:txBody>
      </p:sp>
    </p:spTree>
    <p:extLst>
      <p:ext uri="{BB962C8B-B14F-4D97-AF65-F5344CB8AC3E}">
        <p14:creationId xmlns:p14="http://schemas.microsoft.com/office/powerpoint/2010/main" val="13406616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86E1D5E-96BD-457C-8F19-BE1C17EA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BE1591-70A2-4768-AA1E-A458872C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 we are greedy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B94FDBB-EBF4-40D9-887B-08C9B468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81C4B2F-B5D9-43EB-A791-44E9A21C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min_j,sBig[min_c_1 Σ_x_i in R_1(j,s) (y_i-c_1)² + min_c_2 Σ_x_i in R_2(j,s) (y_i-c_2)²Big]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7244CFD-0345-4DC6-B895-0A8236F6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 each node, search over splitting variable j and split point s: + minc2 sumxi in R2(j,s) (yi-c2)^2Big] with R1 = x: xj le s and R2 = x: xj &gt; s.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0B2C165-CA17-4E8B-8261-C2FDF2C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3ADB8F46-0BDD-4318-B06B-F73B427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 each node, search over splitting variable j and split point s: + minc2 sumxi in R2(j,s)…</a:t>
            </a:r>
          </a:p>
        </p:txBody>
      </p:sp>
      <p:cxnSp>
        <p:nvCxnSpPr>
          <p:cNvPr id="49" name="tree-edge-a-0"/>
          <p:cNvCxnSpPr/>
          <p:nvPr/>
        </p:nvCxnSpPr>
        <p:spPr>
          <a:xfrm xmlns:a="http://schemas.openxmlformats.org/drawingml/2006/main">
            <a:off x="823912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0" name="tree-edge-b-0"/>
          <p:cNvCxnSpPr/>
          <p:nvPr/>
        </p:nvCxnSpPr>
        <p:spPr>
          <a:xfrm xmlns:a="http://schemas.openxmlformats.org/drawingml/2006/main">
            <a:off x="882967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1" name="tree-edge-c-0"/>
          <p:cNvCxnSpPr/>
          <p:nvPr/>
        </p:nvCxnSpPr>
        <p:spPr>
          <a:xfrm xmlns:a="http://schemas.openxmlformats.org/drawingml/2006/main">
            <a:off x="791527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2" name="tree-edge-d-0"/>
          <p:cNvCxnSpPr/>
          <p:nvPr/>
        </p:nvCxnSpPr>
        <p:spPr>
          <a:xfrm xmlns:a="http://schemas.openxmlformats.org/drawingml/2006/main">
            <a:off x="823912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2" name="tree-root-0">
            <a:extLst xmlns:a="http://schemas.openxmlformats.org/drawingml/2006/main">
              <a:ext uri="{FF2B5EF4-FFF2-40B4-BE49-F238E27FC236}">
                <a16:creationId xmlns:a16="http://schemas.microsoft.com/office/drawing/2014/main" id="{77E4D4F5-967E-442E-9342-689A0C1A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3691B482-ECEF-4720-A056-8CD3341B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DB5E46CD-6290-45FA-92F5-54D3BB8C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BF06821A-3835-4BA6-A694-E335C28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EC7F4743-3C8E-487B-826A-71B33A8D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0AA7DC4-9B6D-485B-B3D7-D9F70C86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D26E13-6690-46AF-A0A5-6F2E6D0D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9368636-FC17-4C4C-AC7D-1CF3282F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13/50</a:t>
            </a:r>
          </a:p>
        </p:txBody>
      </p:sp>
    </p:spTree>
    <p:extLst>
      <p:ext uri="{BB962C8B-B14F-4D97-AF65-F5344CB8AC3E}">
        <p14:creationId xmlns:p14="http://schemas.microsoft.com/office/powerpoint/2010/main" val="161125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91ED846F-3DB0-4B47-B14F-9C19D997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D14955-018A-42B2-886B-3E814B7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Watch the scan happen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02FB1F5-36E9-496A-A20A-DDD2B916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CCB39837-6724-4316-9216-B5BEC066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fig, axes = plt.subplots(1, 2, figsize=(7.7, 2.9)) f = Xtr["fico"].tonumpy() cuts = np.quantile(f, np.linspace(.03, .97, 90))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D2A59AC1-7B49-4827-AB6C-58DD5543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FC0709CF-912F-4744-B296-91B5130C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2.9)) f = Xtr["fico"].tonumpy() cuts = np.quantile(f,…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C1475B3B-9AE9-4565-B62A-0D8945F4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F7462D43-2478-49B1-999E-50E37D63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1066B385-A5D5-4C45-9C96-43A4CE9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2D668A89-1FB8-439E-92CF-40360245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5C6233F2-66A5-47C2-B6E4-788F6917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030E93C1-821D-4230-9C1E-1CF7A5EE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Average or boost many trees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4D8E8C36-7B00-468E-A939-79A7A0EB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835CE3A5-85E0-4A58-BF53-8B75B8F3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ECFD9F4A-E48E-42EF-B3C0-B053D332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Evaluate and explain on held-out data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AE35BF9A-E2C9-46D1-A2C5-CDE00CE1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D06F15E-F6AA-448B-AEF4-4475D85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E770990-96A2-4D59-B39A-5558A2B0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EEF5488-23E0-46BF-9ABF-520BA45A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14/50</a:t>
            </a:r>
          </a:p>
        </p:txBody>
      </p:sp>
    </p:spTree>
    <p:extLst>
      <p:ext uri="{BB962C8B-B14F-4D97-AF65-F5344CB8AC3E}">
        <p14:creationId xmlns:p14="http://schemas.microsoft.com/office/powerpoint/2010/main" val="826503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037442C8-390B-4495-915D-7BADC38A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78B216-9DCE-4C33-8963-46520995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Watch the scan happen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96F0C6B-D43B-428F-BD7A-E4127112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E285EDA-1D93-48DA-B83F-10A0CD90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Split = arg minₛ [SSE(left) + SSE(right)]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9C98C071-2420-4150-AEB5-A78EE69F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2.9)) f = Xtr["fico"].tonumpy() cuts = np.quantile(f, np.linspace(.03, .97, 90))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24307B5-671F-468E-8877-08382C84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B3AEACCD-F25A-41E6-95A6-B95ADF73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2.9)) f = Xtr["fico"].tonumpy() cuts = np.quantile(f,…</a:t>
            </a:r>
          </a:p>
        </p:txBody>
      </p:sp>
      <p:cxnSp>
        <p:nvCxnSpPr>
          <p:cNvPr id="104" name="tree-edge-a-0"/>
          <p:cNvCxnSpPr/>
          <p:nvPr/>
        </p:nvCxnSpPr>
        <p:spPr>
          <a:xfrm xmlns:a="http://schemas.openxmlformats.org/drawingml/2006/main">
            <a:off x="637984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5" name="tree-edge-b-0"/>
          <p:cNvCxnSpPr/>
          <p:nvPr/>
        </p:nvCxnSpPr>
        <p:spPr>
          <a:xfrm xmlns:a="http://schemas.openxmlformats.org/drawingml/2006/main">
            <a:off x="697039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6" name="tree-edge-c-0"/>
          <p:cNvCxnSpPr/>
          <p:nvPr/>
        </p:nvCxnSpPr>
        <p:spPr>
          <a:xfrm xmlns:a="http://schemas.openxmlformats.org/drawingml/2006/main">
            <a:off x="605599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7" name="tree-edge-d-0"/>
          <p:cNvCxnSpPr/>
          <p:nvPr/>
        </p:nvCxnSpPr>
        <p:spPr>
          <a:xfrm xmlns:a="http://schemas.openxmlformats.org/drawingml/2006/main">
            <a:off x="637984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2" name="tree-root-0">
            <a:extLst xmlns:a="http://schemas.openxmlformats.org/drawingml/2006/main">
              <a:ext uri="{FF2B5EF4-FFF2-40B4-BE49-F238E27FC236}">
                <a16:creationId xmlns:a16="http://schemas.microsoft.com/office/drawing/2014/main" id="{E62611F8-EAA2-4C9F-BBD7-5119E8B6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34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11283D4E-9FAF-4EF8-83BC-CA5801E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79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9679406C-D8BB-488E-A5BC-207E7EB4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89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D160CA27-39FF-4037-9F61-28D6B285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14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B1FD36CF-B7C8-410E-B0E8-D259AEA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04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3" name="tree-edge-a-1"/>
          <p:cNvCxnSpPr/>
          <p:nvPr/>
        </p:nvCxnSpPr>
        <p:spPr>
          <a:xfrm xmlns:a="http://schemas.openxmlformats.org/drawingml/2006/main">
            <a:off x="823912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4" name="tree-edge-b-1"/>
          <p:cNvCxnSpPr/>
          <p:nvPr/>
        </p:nvCxnSpPr>
        <p:spPr>
          <a:xfrm xmlns:a="http://schemas.openxmlformats.org/drawingml/2006/main">
            <a:off x="882967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5" name="tree-edge-c-1"/>
          <p:cNvCxnSpPr/>
          <p:nvPr/>
        </p:nvCxnSpPr>
        <p:spPr>
          <a:xfrm xmlns:a="http://schemas.openxmlformats.org/drawingml/2006/main">
            <a:off x="791527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6" name="tree-edge-d-1"/>
          <p:cNvCxnSpPr/>
          <p:nvPr/>
        </p:nvCxnSpPr>
        <p:spPr>
          <a:xfrm xmlns:a="http://schemas.openxmlformats.org/drawingml/2006/main">
            <a:off x="823912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21" name="tree-root-1">
            <a:extLst xmlns:a="http://schemas.openxmlformats.org/drawingml/2006/main">
              <a:ext uri="{FF2B5EF4-FFF2-40B4-BE49-F238E27FC236}">
                <a16:creationId xmlns:a16="http://schemas.microsoft.com/office/drawing/2014/main" id="{BD72F8FF-55A5-4CE9-8803-D5C7C11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ee-mid-l-1">
            <a:extLst xmlns:a="http://schemas.openxmlformats.org/drawingml/2006/main">
              <a:ext uri="{FF2B5EF4-FFF2-40B4-BE49-F238E27FC236}">
                <a16:creationId xmlns:a16="http://schemas.microsoft.com/office/drawing/2014/main" id="{DD24F33C-2588-456D-88A5-AE5AA5A5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3" name="tree-mid-r-1">
            <a:extLst xmlns:a="http://schemas.openxmlformats.org/drawingml/2006/main">
              <a:ext uri="{FF2B5EF4-FFF2-40B4-BE49-F238E27FC236}">
                <a16:creationId xmlns:a16="http://schemas.microsoft.com/office/drawing/2014/main" id="{7FB40C56-0552-4090-9A2E-1655841F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4" name="tree-low-l-1">
            <a:extLst xmlns:a="http://schemas.openxmlformats.org/drawingml/2006/main">
              <a:ext uri="{FF2B5EF4-FFF2-40B4-BE49-F238E27FC236}">
                <a16:creationId xmlns:a16="http://schemas.microsoft.com/office/drawing/2014/main" id="{E8CF39B9-425B-4A0B-9A0C-9185885A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ree-low-r-1">
            <a:extLst xmlns:a="http://schemas.openxmlformats.org/drawingml/2006/main">
              <a:ext uri="{FF2B5EF4-FFF2-40B4-BE49-F238E27FC236}">
                <a16:creationId xmlns:a16="http://schemas.microsoft.com/office/drawing/2014/main" id="{F026EE07-C785-48AA-851F-3BC9A88D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2" name="tree-edge-a-2"/>
          <p:cNvCxnSpPr/>
          <p:nvPr/>
        </p:nvCxnSpPr>
        <p:spPr>
          <a:xfrm xmlns:a="http://schemas.openxmlformats.org/drawingml/2006/main">
            <a:off x="1009840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3" name="tree-edge-b-2"/>
          <p:cNvCxnSpPr/>
          <p:nvPr/>
        </p:nvCxnSpPr>
        <p:spPr>
          <a:xfrm xmlns:a="http://schemas.openxmlformats.org/drawingml/2006/main">
            <a:off x="1068895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4" name="tree-edge-c-2"/>
          <p:cNvCxnSpPr/>
          <p:nvPr/>
        </p:nvCxnSpPr>
        <p:spPr>
          <a:xfrm xmlns:a="http://schemas.openxmlformats.org/drawingml/2006/main">
            <a:off x="977455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5" name="tree-edge-d-2"/>
          <p:cNvCxnSpPr/>
          <p:nvPr/>
        </p:nvCxnSpPr>
        <p:spPr>
          <a:xfrm xmlns:a="http://schemas.openxmlformats.org/drawingml/2006/main">
            <a:off x="1009840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30" name="tree-root-2">
            <a:extLst xmlns:a="http://schemas.openxmlformats.org/drawingml/2006/main">
              <a:ext uri="{FF2B5EF4-FFF2-40B4-BE49-F238E27FC236}">
                <a16:creationId xmlns:a16="http://schemas.microsoft.com/office/drawing/2014/main" id="{3B6872FF-972E-46A6-BF54-47B29E1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90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ree-mid-l-2">
            <a:extLst xmlns:a="http://schemas.openxmlformats.org/drawingml/2006/main">
              <a:ext uri="{FF2B5EF4-FFF2-40B4-BE49-F238E27FC236}">
                <a16:creationId xmlns:a16="http://schemas.microsoft.com/office/drawing/2014/main" id="{6A6EFEDA-DDAF-4903-BC66-041ADB0A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2" name="tree-mid-r-2">
            <a:extLst xmlns:a="http://schemas.openxmlformats.org/drawingml/2006/main">
              <a:ext uri="{FF2B5EF4-FFF2-40B4-BE49-F238E27FC236}">
                <a16:creationId xmlns:a16="http://schemas.microsoft.com/office/drawing/2014/main" id="{503ABD49-CD95-46B2-948D-613206E9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45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3" name="tree-low-l-2">
            <a:extLst xmlns:a="http://schemas.openxmlformats.org/drawingml/2006/main">
              <a:ext uri="{FF2B5EF4-FFF2-40B4-BE49-F238E27FC236}">
                <a16:creationId xmlns:a16="http://schemas.microsoft.com/office/drawing/2014/main" id="{124CD21C-A8A7-4169-876B-C2237C2B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70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ree-low-r-2">
            <a:extLst xmlns:a="http://schemas.openxmlformats.org/drawingml/2006/main">
              <a:ext uri="{FF2B5EF4-FFF2-40B4-BE49-F238E27FC236}">
                <a16:creationId xmlns:a16="http://schemas.microsoft.com/office/drawing/2014/main" id="{F53CE39C-F4F6-4B05-9C63-3AE7C044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60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rest-average">
            <a:extLst xmlns:a="http://schemas.openxmlformats.org/drawingml/2006/main">
              <a:ext uri="{FF2B5EF4-FFF2-40B4-BE49-F238E27FC236}">
                <a16:creationId xmlns:a16="http://schemas.microsoft.com/office/drawing/2014/main" id="{02EE8DAA-E605-4FD8-8119-0BECDFC3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29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8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average the trees → stable prediction</a:t>
            </a:r>
          </a:p>
        </p:txBody>
      </p:sp>
      <p:sp>
        <p:nvSpPr>
          <p:cNvPr id="3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BEF9FCC-EA3D-478B-98F3-F80F13C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EE55A5-4827-4012-8475-A9E97FC3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3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53760B-364C-4A67-B216-1A2F8882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15/50</a:t>
            </a:r>
          </a:p>
        </p:txBody>
      </p:sp>
    </p:spTree>
    <p:extLst>
      <p:ext uri="{BB962C8B-B14F-4D97-AF65-F5344CB8AC3E}">
        <p14:creationId xmlns:p14="http://schemas.microsoft.com/office/powerpoint/2010/main" val="3561769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D4A0D35-BBCE-4252-98FD-A5D40553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CE48F2-89F2-4B87-ABD1-CDFF5B43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the right-hand panel matters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27748D2-EB70-4DC6-BE43-85F15468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9660F609-F5F5-4D6B-8916-D1D7CCCA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64E64704-340A-473C-BAFB-0CE1D106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the right-hand…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14FB8994-1A8B-4839-9350-FC93BB3C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745BCE14-87C3-4CCD-921F-F44249E1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Entropy = -sumk hat pmkloghat pmk, Miscl.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8F3CA365-DCD5-4079-8480-9F20DB08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A603507A-9047-4418-BA59-6376C163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Learning rate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E49C91D0-64D6-42C8-8229-D53E859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A59DEA38-BC4A-44DF-80F6-716C810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= 1-maxk hat pmk Gini and entropy are strictly concave: they reward a split that makes a node…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6313B73C-3E84-4FDC-9486-F2748A13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A4523491-BE78-4AF0-BC8B-DE16B879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Depth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0721A20C-8F0F-487D-88D2-40D95116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61D1F94A-B74C-4B3E-8383-067FFE65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= 1-maxk hat pmk Gini and entropy are strictly concave: they reward a split that makes a node purer…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8F52E60C-949E-47EC-B907-E6A265A9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7EEA1C8-EDB4-472D-BB27-3C69C112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EAB7716-3E02-4FBB-8B1F-11117744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B59BB0-13DD-4A63-9611-895B681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16/50</a:t>
            </a:r>
          </a:p>
        </p:txBody>
      </p:sp>
    </p:spTree>
    <p:extLst>
      <p:ext uri="{BB962C8B-B14F-4D97-AF65-F5344CB8AC3E}">
        <p14:creationId xmlns:p14="http://schemas.microsoft.com/office/powerpoint/2010/main" val="17468674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095953B-8173-4963-AE91-03179CB9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FFDFF7-9811-4DB7-B3C7-3AD013C3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Pruning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67A9F80-4342-48F5-AE83-18D1F88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DE14792B-A6B2-40E8-BDC8-AE47F3DC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f_m = f_{m−1} + η·h_m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F23CD7B-3F57-4E20-88EA-7E8277C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Pruning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FEEA7066-4994-468F-B191-323994D5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A176FD0-882F-4738-971B-8F00D59B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Pruning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2129239fe84b24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ED17069-0473-47C3-85E3-996C8166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927BAD0-7557-409E-87F2-395AFEA0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9DF1F5-799F-4A93-A031-63427694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17/50</a:t>
            </a:r>
          </a:p>
        </p:txBody>
      </p:sp>
    </p:spTree>
    <p:extLst>
      <p:ext uri="{BB962C8B-B14F-4D97-AF65-F5344CB8AC3E}">
        <p14:creationId xmlns:p14="http://schemas.microsoft.com/office/powerpoint/2010/main" val="21309201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51848485-799A-4DD3-9C3E-EA92A25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0942C7-84F6-4F96-AE8F-554F66A8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Cost-complexity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B532ED1-2B22-46E4-AB34-324700BF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9B6ADDB-229B-441F-9AED-74CCF39B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67BCCED3-0F3A-431E-BF3A-700E40F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large tree T0, then choose the subtree minimising by repeatedly collapsing the internal…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B739B53-D37A-4CC0-8FD3-C50E6F26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25817D78-9702-45A6-887E-5E872C79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That nesting is what makes it tractable: a one-dimensional family indexed by gamma, which you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8D318BB-9542-40FA-9DE0-A499515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BAC04FD-2179-4EE2-A97B-3862B31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large tree T0, then choose the subtree minimising by repeatedly collapsing the internal node…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1C58022C-6C30-449A-8BDA-928CCFA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CF3627D-4529-4D92-A859-2EF83AA3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25D3E6-F3B3-4A9B-B6A6-CEF74B3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6C9B78A-0DBB-480B-B883-749C9D9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18/50</a:t>
            </a:r>
          </a:p>
        </p:txBody>
      </p:sp>
    </p:spTree>
    <p:extLst>
      <p:ext uri="{BB962C8B-B14F-4D97-AF65-F5344CB8AC3E}">
        <p14:creationId xmlns:p14="http://schemas.microsoft.com/office/powerpoint/2010/main" val="19563639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D54D0A75-05D9-4A7C-8DDA-5A75931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BC58F-54D6-43D5-BA6B-AACB526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same picture as Session 05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96B8721-9A64-41DC-B0B3-2E0FABA1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7" name="tree-edge-a-0"/>
          <p:cNvCxnSpPr/>
          <p:nvPr/>
        </p:nvCxnSpPr>
        <p:spPr>
          <a:xfrm xmlns:a="http://schemas.openxmlformats.org/drawingml/2006/main">
            <a:off x="110109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98" name="tree-edge-b-0"/>
          <p:cNvCxnSpPr/>
          <p:nvPr/>
        </p:nvCxnSpPr>
        <p:spPr>
          <a:xfrm xmlns:a="http://schemas.openxmlformats.org/drawingml/2006/main">
            <a:off x="169164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99" name="tree-edge-c-0"/>
          <p:cNvCxnSpPr/>
          <p:nvPr/>
        </p:nvCxnSpPr>
        <p:spPr>
          <a:xfrm xmlns:a="http://schemas.openxmlformats.org/drawingml/2006/main">
            <a:off x="77724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0" name="tree-edge-d-0"/>
          <p:cNvCxnSpPr/>
          <p:nvPr/>
        </p:nvCxnSpPr>
        <p:spPr>
          <a:xfrm xmlns:a="http://schemas.openxmlformats.org/drawingml/2006/main">
            <a:off x="110109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tree-root-0">
            <a:extLst xmlns:a="http://schemas.openxmlformats.org/drawingml/2006/main">
              <a:ext uri="{FF2B5EF4-FFF2-40B4-BE49-F238E27FC236}">
                <a16:creationId xmlns:a16="http://schemas.microsoft.com/office/drawing/2014/main" id="{3CC95B05-567B-4C62-8B4D-C58E5649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A05E9484-77B7-427F-80B2-B7764F32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883B32AC-49EE-48D0-92F2-213A6C8E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4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C98AEE21-4256-491C-8816-B35B701F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FC171450-F374-467F-AF84-03E2519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6" name="tree-edge-a-1"/>
          <p:cNvCxnSpPr/>
          <p:nvPr/>
        </p:nvCxnSpPr>
        <p:spPr>
          <a:xfrm xmlns:a="http://schemas.openxmlformats.org/drawingml/2006/main">
            <a:off x="329565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7" name="tree-edge-b-1"/>
          <p:cNvCxnSpPr/>
          <p:nvPr/>
        </p:nvCxnSpPr>
        <p:spPr>
          <a:xfrm xmlns:a="http://schemas.openxmlformats.org/drawingml/2006/main">
            <a:off x="388620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8" name="tree-edge-c-1"/>
          <p:cNvCxnSpPr/>
          <p:nvPr/>
        </p:nvCxnSpPr>
        <p:spPr>
          <a:xfrm xmlns:a="http://schemas.openxmlformats.org/drawingml/2006/main">
            <a:off x="297180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9" name="tree-edge-d-1"/>
          <p:cNvCxnSpPr/>
          <p:nvPr/>
        </p:nvCxnSpPr>
        <p:spPr>
          <a:xfrm xmlns:a="http://schemas.openxmlformats.org/drawingml/2006/main">
            <a:off x="329565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7" name="tree-root-1">
            <a:extLst xmlns:a="http://schemas.openxmlformats.org/drawingml/2006/main">
              <a:ext uri="{FF2B5EF4-FFF2-40B4-BE49-F238E27FC236}">
                <a16:creationId xmlns:a16="http://schemas.microsoft.com/office/drawing/2014/main" id="{8C9F6D8E-0374-40FC-8238-23A3842E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ee-mid-l-1">
            <a:extLst xmlns:a="http://schemas.openxmlformats.org/drawingml/2006/main">
              <a:ext uri="{FF2B5EF4-FFF2-40B4-BE49-F238E27FC236}">
                <a16:creationId xmlns:a16="http://schemas.microsoft.com/office/drawing/2014/main" id="{56EE7B22-A375-4A88-A55E-C4BC619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9" name="tree-mid-r-1">
            <a:extLst xmlns:a="http://schemas.openxmlformats.org/drawingml/2006/main">
              <a:ext uri="{FF2B5EF4-FFF2-40B4-BE49-F238E27FC236}">
                <a16:creationId xmlns:a16="http://schemas.microsoft.com/office/drawing/2014/main" id="{59870F00-6C40-44F3-B1B8-2B078864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0" name="tree-low-l-1">
            <a:extLst xmlns:a="http://schemas.openxmlformats.org/drawingml/2006/main">
              <a:ext uri="{FF2B5EF4-FFF2-40B4-BE49-F238E27FC236}">
                <a16:creationId xmlns:a16="http://schemas.microsoft.com/office/drawing/2014/main" id="{54DC97C0-8DE7-4CF2-9C1C-BDC3DBE5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ee-low-r-1">
            <a:extLst xmlns:a="http://schemas.openxmlformats.org/drawingml/2006/main">
              <a:ext uri="{FF2B5EF4-FFF2-40B4-BE49-F238E27FC236}">
                <a16:creationId xmlns:a16="http://schemas.microsoft.com/office/drawing/2014/main" id="{CC901711-A52A-466E-BDF0-F016C231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5" name="tree-edge-a-2"/>
          <p:cNvCxnSpPr/>
          <p:nvPr/>
        </p:nvCxnSpPr>
        <p:spPr>
          <a:xfrm xmlns:a="http://schemas.openxmlformats.org/drawingml/2006/main">
            <a:off x="549021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6" name="tree-edge-b-2"/>
          <p:cNvCxnSpPr/>
          <p:nvPr/>
        </p:nvCxnSpPr>
        <p:spPr>
          <a:xfrm xmlns:a="http://schemas.openxmlformats.org/drawingml/2006/main">
            <a:off x="608076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7" name="tree-edge-c-2"/>
          <p:cNvCxnSpPr/>
          <p:nvPr/>
        </p:nvCxnSpPr>
        <p:spPr>
          <a:xfrm xmlns:a="http://schemas.openxmlformats.org/drawingml/2006/main">
            <a:off x="516636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8" name="tree-edge-d-2"/>
          <p:cNvCxnSpPr/>
          <p:nvPr/>
        </p:nvCxnSpPr>
        <p:spPr>
          <a:xfrm xmlns:a="http://schemas.openxmlformats.org/drawingml/2006/main">
            <a:off x="549021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26" name="tree-root-2">
            <a:extLst xmlns:a="http://schemas.openxmlformats.org/drawingml/2006/main">
              <a:ext uri="{FF2B5EF4-FFF2-40B4-BE49-F238E27FC236}">
                <a16:creationId xmlns:a16="http://schemas.microsoft.com/office/drawing/2014/main" id="{934CA3AE-264E-4628-848D-B4DABDFF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1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ree-mid-l-2">
            <a:extLst xmlns:a="http://schemas.openxmlformats.org/drawingml/2006/main">
              <a:ext uri="{FF2B5EF4-FFF2-40B4-BE49-F238E27FC236}">
                <a16:creationId xmlns:a16="http://schemas.microsoft.com/office/drawing/2014/main" id="{DCAEDDFB-8E36-44D9-8897-F680A74F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8" name="tree-mid-r-2">
            <a:extLst xmlns:a="http://schemas.openxmlformats.org/drawingml/2006/main">
              <a:ext uri="{FF2B5EF4-FFF2-40B4-BE49-F238E27FC236}">
                <a16:creationId xmlns:a16="http://schemas.microsoft.com/office/drawing/2014/main" id="{D1741DC1-8013-4157-BC0D-9B0B828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6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9" name="tree-low-l-2">
            <a:extLst xmlns:a="http://schemas.openxmlformats.org/drawingml/2006/main">
              <a:ext uri="{FF2B5EF4-FFF2-40B4-BE49-F238E27FC236}">
                <a16:creationId xmlns:a16="http://schemas.microsoft.com/office/drawing/2014/main" id="{6F857FBA-7B40-43E1-9150-4C829E0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ree-low-r-2">
            <a:extLst xmlns:a="http://schemas.openxmlformats.org/drawingml/2006/main">
              <a:ext uri="{FF2B5EF4-FFF2-40B4-BE49-F238E27FC236}">
                <a16:creationId xmlns:a16="http://schemas.microsoft.com/office/drawing/2014/main" id="{5DC3985F-903D-4E6C-8444-70E5453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41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rest-average">
            <a:extLst xmlns:a="http://schemas.openxmlformats.org/drawingml/2006/main">
              <a:ext uri="{FF2B5EF4-FFF2-40B4-BE49-F238E27FC236}">
                <a16:creationId xmlns:a16="http://schemas.microsoft.com/office/drawing/2014/main" id="{05F17AFE-827E-4DCE-A13F-EA6F612B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average the trees → stable prediction</a:t>
            </a:r>
          </a:p>
        </p:txBody>
      </p:sp>
      <p:sp>
        <p:nvSpPr>
          <p:cNvPr id="32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C6601753-47B8-4C4C-8E60-BB0EBA8E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33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94F8D392-1408-41A6-BC8B-8AF1919F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big = DecisionTreeClassifier(randomstate=0, minsamplesleaf=5).fit(Xtr, ytr) path =…</a:t>
            </a:r>
          </a:p>
        </p:txBody>
      </p:sp>
      <p:sp>
        <p:nvSpPr>
          <p:cNvPr id="34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E591491B-6B12-4E1D-85D7-19D7DD2D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A7050424-85A0-4EB2-A44A-8F21D39D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36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FB850D06-D289-4DA1-B34D-0EC0105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3AF89398-75E1-4354-A896-F28F5B4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Average or boost many trees</a:t>
            </a:r>
          </a:p>
        </p:txBody>
      </p:sp>
      <p:sp>
        <p:nvSpPr>
          <p:cNvPr id="38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4BA97CAA-91B4-4279-90F9-9C10222D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675E25D-D0D4-49BB-AE09-4397A42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145E0B-A6A2-41A8-ACC3-5C7A781A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F47BBB2-2B6D-4E48-A96A-ED52A19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19/50</a:t>
            </a:r>
          </a:p>
        </p:txBody>
      </p:sp>
      <p:sp>
        <p:nvSpPr>
          <p:cNvPr id="92" name="media-matte-ensemble_comparison.png">
            <a:extLst xmlns:a="http://schemas.openxmlformats.org/drawingml/2006/main">
              <a:ext uri="{FF2B5EF4-FFF2-40B4-BE49-F238E27FC236}">
                <a16:creationId xmlns:a16="http://schemas.microsoft.com/office/drawing/2014/main" id="{2309131E-50E3-422E-8974-DA878269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89e462e1042f7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877355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1F55719-5110-48A6-B75A-4E71BEFF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25C3C8-D120-41BF-B7E6-A62232D3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same picture as Session 05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B7D81EA-79AB-4485-9E6D-2B291028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F18182BE-AA4B-4F21-89F3-742316F0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530044D6-D425-4D32-90E9-0015599B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B9E0ECBB-68EA-4623-8E8F-992E67FD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DD7CA5C5-83EC-445F-95C0-F41F5152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07-trees-forests-boosting/demo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session07_ensembles_demo.py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A51B9E90-9DE0-4425-96CE-439759E5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98F66669-1338-4212-8998-52CABBA8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974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big = DecisionTreeClassifier(random_state=0, min_samples_leaf=5).fit(Xtr, ytr)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path = big.cost_complexity_pruning_path(Xtr, ytr)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gam = path.ccp_alphas[::max(1, len(path.ccp_alphas) // 26)]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gam = gam[gam &gt; 0]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rows = []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g in gam: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 = DecisionTreeClassifier(random_state=0, ccp_alpha=g).fit(Xtr, ytr)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rows.append((t.get_n_leaves(),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 cross_val_score(DecisionTreeClassifier(random_state=0, ccp_alpha=g),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                 Xtr, ytr, cv=4, scoring="roc_auc").mean(),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 auc(t)))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B80E2C95-2717-4527-BA32-E8547EA3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9A795B1-DB4C-4FCB-9744-63BF371C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1F127CE-A247-4631-886C-7DFD3A65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7EDBC8-7149-4BD7-963B-31D7ACC7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20/50</a:t>
            </a:r>
          </a:p>
        </p:txBody>
      </p:sp>
    </p:spTree>
    <p:extLst>
      <p:ext uri="{BB962C8B-B14F-4D97-AF65-F5344CB8AC3E}">
        <p14:creationId xmlns:p14="http://schemas.microsoft.com/office/powerpoint/2010/main" val="13406616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86E1D5E-96BD-457C-8F19-BE1C17EA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BE1591-70A2-4768-AA1E-A458872C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Why averaging works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B94FDBB-EBF4-40D9-887B-08C9B468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81C4B2F-B5D9-43EB-A791-44E9A21C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Split = arg minₛ [SSE(left) + SSE(right)]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7244CFD-0345-4DC6-B895-0A8236F6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Why averaging works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0B2C165-CA17-4E8B-8261-C2FDF2C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3ADB8F46-0BDD-4318-B06B-F73B427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Why averaging works</a:t>
            </a:r>
          </a:p>
        </p:txBody>
      </p:sp>
      <p:cxnSp>
        <p:nvCxnSpPr>
          <p:cNvPr id="49" name="tree-edge-a-0"/>
          <p:cNvCxnSpPr/>
          <p:nvPr/>
        </p:nvCxnSpPr>
        <p:spPr>
          <a:xfrm xmlns:a="http://schemas.openxmlformats.org/drawingml/2006/main">
            <a:off x="823912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0" name="tree-edge-b-0"/>
          <p:cNvCxnSpPr/>
          <p:nvPr/>
        </p:nvCxnSpPr>
        <p:spPr>
          <a:xfrm xmlns:a="http://schemas.openxmlformats.org/drawingml/2006/main">
            <a:off x="882967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1" name="tree-edge-c-0"/>
          <p:cNvCxnSpPr/>
          <p:nvPr/>
        </p:nvCxnSpPr>
        <p:spPr>
          <a:xfrm xmlns:a="http://schemas.openxmlformats.org/drawingml/2006/main">
            <a:off x="791527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2" name="tree-edge-d-0"/>
          <p:cNvCxnSpPr/>
          <p:nvPr/>
        </p:nvCxnSpPr>
        <p:spPr>
          <a:xfrm xmlns:a="http://schemas.openxmlformats.org/drawingml/2006/main">
            <a:off x="823912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2" name="tree-root-0">
            <a:extLst xmlns:a="http://schemas.openxmlformats.org/drawingml/2006/main">
              <a:ext uri="{FF2B5EF4-FFF2-40B4-BE49-F238E27FC236}">
                <a16:creationId xmlns:a16="http://schemas.microsoft.com/office/drawing/2014/main" id="{77E4D4F5-967E-442E-9342-689A0C1A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3691B482-ECEF-4720-A056-8CD3341B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DB5E46CD-6290-45FA-92F5-54D3BB8C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BF06821A-3835-4BA6-A694-E335C28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EC7F4743-3C8E-487B-826A-71B33A8D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0AA7DC4-9B6D-485B-B3D7-D9F70C86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D26E13-6690-46AF-A0A5-6F2E6D0D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9368636-FC17-4C4C-AC7D-1CF3282F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21/50</a:t>
            </a:r>
          </a:p>
        </p:txBody>
      </p:sp>
    </p:spTree>
    <p:extLst>
      <p:ext uri="{BB962C8B-B14F-4D97-AF65-F5344CB8AC3E}">
        <p14:creationId xmlns:p14="http://schemas.microsoft.com/office/powerpoint/2010/main" val="161125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037442C8-390B-4495-915D-7BADC38A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78B216-9DCE-4C33-8963-46520995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single tree is a high-variance estimator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96F0C6B-D43B-428F-BD7A-E4127112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E285EDA-1D93-48DA-B83F-10A0CD90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Forest prediction = (1/B) Σ_b T_b(x)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9C98C071-2420-4150-AEB5-A78EE69F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 04's decomposition says: average many high-variance, low-bias estimators and the variance term falls while the bias term does not. That is bagging — fit B trees on bootstrap resamples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24307B5-671F-468E-8877-08382C84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B3AEACCD-F25A-41E6-95A6-B95ADF73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Change 5% of the rows and the first split can change</a:t>
            </a:r>
          </a:p>
        </p:txBody>
      </p:sp>
      <p:cxnSp>
        <p:nvCxnSpPr>
          <p:cNvPr id="104" name="tree-edge-a-0"/>
          <p:cNvCxnSpPr/>
          <p:nvPr/>
        </p:nvCxnSpPr>
        <p:spPr>
          <a:xfrm xmlns:a="http://schemas.openxmlformats.org/drawingml/2006/main">
            <a:off x="637984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5" name="tree-edge-b-0"/>
          <p:cNvCxnSpPr/>
          <p:nvPr/>
        </p:nvCxnSpPr>
        <p:spPr>
          <a:xfrm xmlns:a="http://schemas.openxmlformats.org/drawingml/2006/main">
            <a:off x="697039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6" name="tree-edge-c-0"/>
          <p:cNvCxnSpPr/>
          <p:nvPr/>
        </p:nvCxnSpPr>
        <p:spPr>
          <a:xfrm xmlns:a="http://schemas.openxmlformats.org/drawingml/2006/main">
            <a:off x="605599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7" name="tree-edge-d-0"/>
          <p:cNvCxnSpPr/>
          <p:nvPr/>
        </p:nvCxnSpPr>
        <p:spPr>
          <a:xfrm xmlns:a="http://schemas.openxmlformats.org/drawingml/2006/main">
            <a:off x="637984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2" name="tree-root-0">
            <a:extLst xmlns:a="http://schemas.openxmlformats.org/drawingml/2006/main">
              <a:ext uri="{FF2B5EF4-FFF2-40B4-BE49-F238E27FC236}">
                <a16:creationId xmlns:a16="http://schemas.microsoft.com/office/drawing/2014/main" id="{E62611F8-EAA2-4C9F-BBD7-5119E8B6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34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11283D4E-9FAF-4EF8-83BC-CA5801E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79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9679406C-D8BB-488E-A5BC-207E7EB4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89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D160CA27-39FF-4037-9F61-28D6B285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14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B1FD36CF-B7C8-410E-B0E8-D259AEA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04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3" name="tree-edge-a-1"/>
          <p:cNvCxnSpPr/>
          <p:nvPr/>
        </p:nvCxnSpPr>
        <p:spPr>
          <a:xfrm xmlns:a="http://schemas.openxmlformats.org/drawingml/2006/main">
            <a:off x="823912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4" name="tree-edge-b-1"/>
          <p:cNvCxnSpPr/>
          <p:nvPr/>
        </p:nvCxnSpPr>
        <p:spPr>
          <a:xfrm xmlns:a="http://schemas.openxmlformats.org/drawingml/2006/main">
            <a:off x="882967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5" name="tree-edge-c-1"/>
          <p:cNvCxnSpPr/>
          <p:nvPr/>
        </p:nvCxnSpPr>
        <p:spPr>
          <a:xfrm xmlns:a="http://schemas.openxmlformats.org/drawingml/2006/main">
            <a:off x="791527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6" name="tree-edge-d-1"/>
          <p:cNvCxnSpPr/>
          <p:nvPr/>
        </p:nvCxnSpPr>
        <p:spPr>
          <a:xfrm xmlns:a="http://schemas.openxmlformats.org/drawingml/2006/main">
            <a:off x="823912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21" name="tree-root-1">
            <a:extLst xmlns:a="http://schemas.openxmlformats.org/drawingml/2006/main">
              <a:ext uri="{FF2B5EF4-FFF2-40B4-BE49-F238E27FC236}">
                <a16:creationId xmlns:a16="http://schemas.microsoft.com/office/drawing/2014/main" id="{BD72F8FF-55A5-4CE9-8803-D5C7C11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ee-mid-l-1">
            <a:extLst xmlns:a="http://schemas.openxmlformats.org/drawingml/2006/main">
              <a:ext uri="{FF2B5EF4-FFF2-40B4-BE49-F238E27FC236}">
                <a16:creationId xmlns:a16="http://schemas.microsoft.com/office/drawing/2014/main" id="{DD24F33C-2588-456D-88A5-AE5AA5A5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3" name="tree-mid-r-1">
            <a:extLst xmlns:a="http://schemas.openxmlformats.org/drawingml/2006/main">
              <a:ext uri="{FF2B5EF4-FFF2-40B4-BE49-F238E27FC236}">
                <a16:creationId xmlns:a16="http://schemas.microsoft.com/office/drawing/2014/main" id="{7FB40C56-0552-4090-9A2E-1655841F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4" name="tree-low-l-1">
            <a:extLst xmlns:a="http://schemas.openxmlformats.org/drawingml/2006/main">
              <a:ext uri="{FF2B5EF4-FFF2-40B4-BE49-F238E27FC236}">
                <a16:creationId xmlns:a16="http://schemas.microsoft.com/office/drawing/2014/main" id="{E8CF39B9-425B-4A0B-9A0C-9185885A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ree-low-r-1">
            <a:extLst xmlns:a="http://schemas.openxmlformats.org/drawingml/2006/main">
              <a:ext uri="{FF2B5EF4-FFF2-40B4-BE49-F238E27FC236}">
                <a16:creationId xmlns:a16="http://schemas.microsoft.com/office/drawing/2014/main" id="{F026EE07-C785-48AA-851F-3BC9A88D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2" name="tree-edge-a-2"/>
          <p:cNvCxnSpPr/>
          <p:nvPr/>
        </p:nvCxnSpPr>
        <p:spPr>
          <a:xfrm xmlns:a="http://schemas.openxmlformats.org/drawingml/2006/main">
            <a:off x="1009840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3" name="tree-edge-b-2"/>
          <p:cNvCxnSpPr/>
          <p:nvPr/>
        </p:nvCxnSpPr>
        <p:spPr>
          <a:xfrm xmlns:a="http://schemas.openxmlformats.org/drawingml/2006/main">
            <a:off x="1068895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4" name="tree-edge-c-2"/>
          <p:cNvCxnSpPr/>
          <p:nvPr/>
        </p:nvCxnSpPr>
        <p:spPr>
          <a:xfrm xmlns:a="http://schemas.openxmlformats.org/drawingml/2006/main">
            <a:off x="977455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5" name="tree-edge-d-2"/>
          <p:cNvCxnSpPr/>
          <p:nvPr/>
        </p:nvCxnSpPr>
        <p:spPr>
          <a:xfrm xmlns:a="http://schemas.openxmlformats.org/drawingml/2006/main">
            <a:off x="1009840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30" name="tree-root-2">
            <a:extLst xmlns:a="http://schemas.openxmlformats.org/drawingml/2006/main">
              <a:ext uri="{FF2B5EF4-FFF2-40B4-BE49-F238E27FC236}">
                <a16:creationId xmlns:a16="http://schemas.microsoft.com/office/drawing/2014/main" id="{3B6872FF-972E-46A6-BF54-47B29E1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90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ree-mid-l-2">
            <a:extLst xmlns:a="http://schemas.openxmlformats.org/drawingml/2006/main">
              <a:ext uri="{FF2B5EF4-FFF2-40B4-BE49-F238E27FC236}">
                <a16:creationId xmlns:a16="http://schemas.microsoft.com/office/drawing/2014/main" id="{6A6EFEDA-DDAF-4903-BC66-041ADB0A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2" name="tree-mid-r-2">
            <a:extLst xmlns:a="http://schemas.openxmlformats.org/drawingml/2006/main">
              <a:ext uri="{FF2B5EF4-FFF2-40B4-BE49-F238E27FC236}">
                <a16:creationId xmlns:a16="http://schemas.microsoft.com/office/drawing/2014/main" id="{503ABD49-CD95-46B2-948D-613206E9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45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3" name="tree-low-l-2">
            <a:extLst xmlns:a="http://schemas.openxmlformats.org/drawingml/2006/main">
              <a:ext uri="{FF2B5EF4-FFF2-40B4-BE49-F238E27FC236}">
                <a16:creationId xmlns:a16="http://schemas.microsoft.com/office/drawing/2014/main" id="{124CD21C-A8A7-4169-876B-C2237C2B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70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ree-low-r-2">
            <a:extLst xmlns:a="http://schemas.openxmlformats.org/drawingml/2006/main">
              <a:ext uri="{FF2B5EF4-FFF2-40B4-BE49-F238E27FC236}">
                <a16:creationId xmlns:a16="http://schemas.microsoft.com/office/drawing/2014/main" id="{F53CE39C-F4F6-4B05-9C63-3AE7C044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60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rest-average">
            <a:extLst xmlns:a="http://schemas.openxmlformats.org/drawingml/2006/main">
              <a:ext uri="{FF2B5EF4-FFF2-40B4-BE49-F238E27FC236}">
                <a16:creationId xmlns:a16="http://schemas.microsoft.com/office/drawing/2014/main" id="{02EE8DAA-E605-4FD8-8119-0BECDFC3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29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8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average the trees → stable prediction</a:t>
            </a:r>
          </a:p>
        </p:txBody>
      </p:sp>
      <p:sp>
        <p:nvSpPr>
          <p:cNvPr id="3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BEF9FCC-EA3D-478B-98F3-F80F13C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EE55A5-4827-4012-8475-A9E97FC3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3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53760B-364C-4A67-B216-1A2F8882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22/50</a:t>
            </a:r>
          </a:p>
        </p:txBody>
      </p:sp>
    </p:spTree>
    <p:extLst>
      <p:ext uri="{BB962C8B-B14F-4D97-AF65-F5344CB8AC3E}">
        <p14:creationId xmlns:p14="http://schemas.microsoft.com/office/powerpoint/2010/main" val="3561769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095953B-8173-4963-AE91-03179CB9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FFDFF7-9811-4DB7-B3C7-3AD013C3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But how far does that go? Do the algebra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67A9F80-4342-48F5-AE83-18D1F88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DE14792B-A6B2-40E8-BDC8-AE47F3DC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VarBig(tfrac1BtextstyleΣ_b hat f_bBig) = ρσ² + (1-ρ)/(B)σ² xrightarrow[Btoinfty] ρσ²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F23CD7B-3F57-4E20-88EA-7E8277C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If each tree has variance σ^2 and any two have correlation rho: = rhoσ^2 + frac1-rhoBσ^2 xrightarrow[Bto in fty] rhoσ^2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FEEA7066-4994-468F-B191-323994D5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A176FD0-882F-4738-971B-8F00D59B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If each tree has variance σ^2 and any two have correlation rho: = rhoσ^2 + frac1-rhoBσ^2…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c68f294d5f4610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ED17069-0473-47C3-85E3-996C8166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927BAD0-7557-409E-87F2-395AFEA0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9DF1F5-799F-4A93-A031-63427694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23/50</a:t>
            </a:r>
          </a:p>
        </p:txBody>
      </p:sp>
    </p:spTree>
    <p:extLst>
      <p:ext uri="{BB962C8B-B14F-4D97-AF65-F5344CB8AC3E}">
        <p14:creationId xmlns:p14="http://schemas.microsoft.com/office/powerpoint/2010/main" val="21309201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0345BE3D-EF15-4023-B0C5-78ADBEBC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DDFD1553-FC1A-4680-A778-94C2569C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 it off the graph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4C7A7783-361F-4F88-AD27-BE083178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FCCAE24E-34E2-4C8B-B1FD-ACBAD292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CD9EB25F-661B-439E-AD2A-8CA7AEB6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feature can look important because it offers many possible splits, not because it matters substantively.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0ECE59F9-E7CC-4C02-A217-017D1CA5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9A928E48-7606-4202-8044-77030F38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Importance is not read as causality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D7CFB4A-34ED-4B47-A6DF-E9934599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A5587DF-3807-4682-A7F5-0106F7C0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A1702C4-2BD1-489C-BCFE-209A533D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24/50</a:t>
            </a:r>
          </a:p>
        </p:txBody>
      </p:sp>
    </p:spTree>
    <p:extLst>
      <p:ext uri="{BB962C8B-B14F-4D97-AF65-F5344CB8AC3E}">
        <p14:creationId xmlns:p14="http://schemas.microsoft.com/office/powerpoint/2010/main" val="1965627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D4A0D35-BBCE-4252-98FD-A5D40553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CE48F2-89F2-4B87-ABD1-CDFF5B43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it off the graph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27748D2-EB70-4DC6-BE43-85F15468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9660F609-F5F5-4D6B-8916-D1D7CCCA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64E64704-340A-473C-BAFB-0CE1D106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it off the graph…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14FB8994-1A8B-4839-9350-FC93BB3C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745BCE14-87C3-4CCD-921F-F44249E1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 = np.arange(1, 401) fig, ax = plt.subplots(figsize=(6.4, 2.95)) for rho, c in [(0.6, CL.warn),…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8F3CA365-DCD5-4079-8480-9F20DB08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A603507A-9047-4418-BA59-6376C163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Learning rate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E49C91D0-64D6-42C8-8229-D53E859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A59DEA38-BC4A-44DF-80F6-716C810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 = np.arange(1, 401) fig, ax = plt.subplots(figsize=(6.4, 2.95)) for rho, c in [(0.6, CL.warn), (0.3,…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6313B73C-3E84-4FDC-9486-F2748A13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A4523491-BE78-4AF0-BC8B-DE16B879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Depth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0721A20C-8F0F-487D-88D2-40D95116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61D1F94A-B74C-4B3E-8383-067FFE65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8F52E60C-949E-47EC-B907-E6A265A9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7EEA1C8-EDB4-472D-BB27-3C69C112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EAB7716-3E02-4FBB-8B1F-11117744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B59BB0-13DD-4A63-9611-895B681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25/50</a:t>
            </a:r>
          </a:p>
        </p:txBody>
      </p:sp>
    </p:spTree>
    <p:extLst>
      <p:ext uri="{BB962C8B-B14F-4D97-AF65-F5344CB8AC3E}">
        <p14:creationId xmlns:p14="http://schemas.microsoft.com/office/powerpoint/2010/main" val="17468674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51848485-799A-4DD3-9C3E-EA92A25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0942C7-84F6-4F96-AE8F-554F66A8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Does it actually happen? Measure rho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B532ED1-2B22-46E4-AB34-324700BF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9B6ADDB-229B-441F-9AED-74CCF39B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67BCCED3-0F3A-431E-BF3A-700E40F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fitandmeasure(maxfeatures, depth=4, B=200): """Fit an ensemble, then measure how correlated…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B739B53-D37A-4CC0-8FD3-C50E6F26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25817D78-9702-45A6-887E-5E872C79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fitandmeasure(maxfeatures, depth=4, B=200): """Fit an ensemble, then measure how correlated its…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8D318BB-9542-40FA-9DE0-A499515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BAC04FD-2179-4EE2-A97B-3862B31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1C58022C-6C30-449A-8BDA-928CCFA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Average or boost many trees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CF3627D-4529-4D92-A859-2EF83AA3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25D3E6-F3B3-4A9B-B6A6-CEF74B3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6C9B78A-0DBB-480B-B883-749C9D9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26/50</a:t>
            </a:r>
          </a:p>
        </p:txBody>
      </p:sp>
    </p:spTree>
    <p:extLst>
      <p:ext uri="{BB962C8B-B14F-4D97-AF65-F5344CB8AC3E}">
        <p14:creationId xmlns:p14="http://schemas.microsoft.com/office/powerpoint/2010/main" val="19563639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D54D0A75-05D9-4A7C-8DDA-5A75931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BC58F-54D6-43D5-BA6B-AACB526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Does it actually happen? Measure rho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96B8721-9A64-41DC-B0B3-2E0FABA1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7" name="tree-edge-a-0"/>
          <p:cNvCxnSpPr/>
          <p:nvPr/>
        </p:nvCxnSpPr>
        <p:spPr>
          <a:xfrm xmlns:a="http://schemas.openxmlformats.org/drawingml/2006/main">
            <a:off x="110109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98" name="tree-edge-b-0"/>
          <p:cNvCxnSpPr/>
          <p:nvPr/>
        </p:nvCxnSpPr>
        <p:spPr>
          <a:xfrm xmlns:a="http://schemas.openxmlformats.org/drawingml/2006/main">
            <a:off x="169164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99" name="tree-edge-c-0"/>
          <p:cNvCxnSpPr/>
          <p:nvPr/>
        </p:nvCxnSpPr>
        <p:spPr>
          <a:xfrm xmlns:a="http://schemas.openxmlformats.org/drawingml/2006/main">
            <a:off x="77724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0" name="tree-edge-d-0"/>
          <p:cNvCxnSpPr/>
          <p:nvPr/>
        </p:nvCxnSpPr>
        <p:spPr>
          <a:xfrm xmlns:a="http://schemas.openxmlformats.org/drawingml/2006/main">
            <a:off x="110109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tree-root-0">
            <a:extLst xmlns:a="http://schemas.openxmlformats.org/drawingml/2006/main">
              <a:ext uri="{FF2B5EF4-FFF2-40B4-BE49-F238E27FC236}">
                <a16:creationId xmlns:a16="http://schemas.microsoft.com/office/drawing/2014/main" id="{3CC95B05-567B-4C62-8B4D-C58E5649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A05E9484-77B7-427F-80B2-B7764F32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883B32AC-49EE-48D0-92F2-213A6C8E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4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C98AEE21-4256-491C-8816-B35B701F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FC171450-F374-467F-AF84-03E2519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6" name="tree-edge-a-1"/>
          <p:cNvCxnSpPr/>
          <p:nvPr/>
        </p:nvCxnSpPr>
        <p:spPr>
          <a:xfrm xmlns:a="http://schemas.openxmlformats.org/drawingml/2006/main">
            <a:off x="329565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7" name="tree-edge-b-1"/>
          <p:cNvCxnSpPr/>
          <p:nvPr/>
        </p:nvCxnSpPr>
        <p:spPr>
          <a:xfrm xmlns:a="http://schemas.openxmlformats.org/drawingml/2006/main">
            <a:off x="388620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8" name="tree-edge-c-1"/>
          <p:cNvCxnSpPr/>
          <p:nvPr/>
        </p:nvCxnSpPr>
        <p:spPr>
          <a:xfrm xmlns:a="http://schemas.openxmlformats.org/drawingml/2006/main">
            <a:off x="297180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9" name="tree-edge-d-1"/>
          <p:cNvCxnSpPr/>
          <p:nvPr/>
        </p:nvCxnSpPr>
        <p:spPr>
          <a:xfrm xmlns:a="http://schemas.openxmlformats.org/drawingml/2006/main">
            <a:off x="329565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7" name="tree-root-1">
            <a:extLst xmlns:a="http://schemas.openxmlformats.org/drawingml/2006/main">
              <a:ext uri="{FF2B5EF4-FFF2-40B4-BE49-F238E27FC236}">
                <a16:creationId xmlns:a16="http://schemas.microsoft.com/office/drawing/2014/main" id="{8C9F6D8E-0374-40FC-8238-23A3842E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ee-mid-l-1">
            <a:extLst xmlns:a="http://schemas.openxmlformats.org/drawingml/2006/main">
              <a:ext uri="{FF2B5EF4-FFF2-40B4-BE49-F238E27FC236}">
                <a16:creationId xmlns:a16="http://schemas.microsoft.com/office/drawing/2014/main" id="{56EE7B22-A375-4A88-A55E-C4BC619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9" name="tree-mid-r-1">
            <a:extLst xmlns:a="http://schemas.openxmlformats.org/drawingml/2006/main">
              <a:ext uri="{FF2B5EF4-FFF2-40B4-BE49-F238E27FC236}">
                <a16:creationId xmlns:a16="http://schemas.microsoft.com/office/drawing/2014/main" id="{59870F00-6C40-44F3-B1B8-2B078864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0" name="tree-low-l-1">
            <a:extLst xmlns:a="http://schemas.openxmlformats.org/drawingml/2006/main">
              <a:ext uri="{FF2B5EF4-FFF2-40B4-BE49-F238E27FC236}">
                <a16:creationId xmlns:a16="http://schemas.microsoft.com/office/drawing/2014/main" id="{54DC97C0-8DE7-4CF2-9C1C-BDC3DBE5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ee-low-r-1">
            <a:extLst xmlns:a="http://schemas.openxmlformats.org/drawingml/2006/main">
              <a:ext uri="{FF2B5EF4-FFF2-40B4-BE49-F238E27FC236}">
                <a16:creationId xmlns:a16="http://schemas.microsoft.com/office/drawing/2014/main" id="{CC901711-A52A-466E-BDF0-F016C231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5" name="tree-edge-a-2"/>
          <p:cNvCxnSpPr/>
          <p:nvPr/>
        </p:nvCxnSpPr>
        <p:spPr>
          <a:xfrm xmlns:a="http://schemas.openxmlformats.org/drawingml/2006/main">
            <a:off x="549021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6" name="tree-edge-b-2"/>
          <p:cNvCxnSpPr/>
          <p:nvPr/>
        </p:nvCxnSpPr>
        <p:spPr>
          <a:xfrm xmlns:a="http://schemas.openxmlformats.org/drawingml/2006/main">
            <a:off x="608076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7" name="tree-edge-c-2"/>
          <p:cNvCxnSpPr/>
          <p:nvPr/>
        </p:nvCxnSpPr>
        <p:spPr>
          <a:xfrm xmlns:a="http://schemas.openxmlformats.org/drawingml/2006/main">
            <a:off x="516636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8" name="tree-edge-d-2"/>
          <p:cNvCxnSpPr/>
          <p:nvPr/>
        </p:nvCxnSpPr>
        <p:spPr>
          <a:xfrm xmlns:a="http://schemas.openxmlformats.org/drawingml/2006/main">
            <a:off x="549021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26" name="tree-root-2">
            <a:extLst xmlns:a="http://schemas.openxmlformats.org/drawingml/2006/main">
              <a:ext uri="{FF2B5EF4-FFF2-40B4-BE49-F238E27FC236}">
                <a16:creationId xmlns:a16="http://schemas.microsoft.com/office/drawing/2014/main" id="{934CA3AE-264E-4628-848D-B4DABDFF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1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ree-mid-l-2">
            <a:extLst xmlns:a="http://schemas.openxmlformats.org/drawingml/2006/main">
              <a:ext uri="{FF2B5EF4-FFF2-40B4-BE49-F238E27FC236}">
                <a16:creationId xmlns:a16="http://schemas.microsoft.com/office/drawing/2014/main" id="{DCAEDDFB-8E36-44D9-8897-F680A74F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8" name="tree-mid-r-2">
            <a:extLst xmlns:a="http://schemas.openxmlformats.org/drawingml/2006/main">
              <a:ext uri="{FF2B5EF4-FFF2-40B4-BE49-F238E27FC236}">
                <a16:creationId xmlns:a16="http://schemas.microsoft.com/office/drawing/2014/main" id="{D1741DC1-8013-4157-BC0D-9B0B828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6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9" name="tree-low-l-2">
            <a:extLst xmlns:a="http://schemas.openxmlformats.org/drawingml/2006/main">
              <a:ext uri="{FF2B5EF4-FFF2-40B4-BE49-F238E27FC236}">
                <a16:creationId xmlns:a16="http://schemas.microsoft.com/office/drawing/2014/main" id="{6F857FBA-7B40-43E1-9150-4C829E0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ree-low-r-2">
            <a:extLst xmlns:a="http://schemas.openxmlformats.org/drawingml/2006/main">
              <a:ext uri="{FF2B5EF4-FFF2-40B4-BE49-F238E27FC236}">
                <a16:creationId xmlns:a16="http://schemas.microsoft.com/office/drawing/2014/main" id="{5DC3985F-903D-4E6C-8444-70E5453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41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rest-average">
            <a:extLst xmlns:a="http://schemas.openxmlformats.org/drawingml/2006/main">
              <a:ext uri="{FF2B5EF4-FFF2-40B4-BE49-F238E27FC236}">
                <a16:creationId xmlns:a16="http://schemas.microsoft.com/office/drawing/2014/main" id="{05F17AFE-827E-4DCE-A13F-EA6F612B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average the trees → stable prediction</a:t>
            </a:r>
          </a:p>
        </p:txBody>
      </p:sp>
      <p:sp>
        <p:nvSpPr>
          <p:cNvPr id="32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C6601753-47B8-4C4C-8E60-BB0EBA8E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33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94F8D392-1408-41A6-BC8B-8AF1919F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9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fitandmeasure(maxfeatures, depth=4, B=200): """Fit an ensemble, then measure how correlated…</a:t>
            </a:r>
          </a:p>
        </p:txBody>
      </p:sp>
      <p:sp>
        <p:nvSpPr>
          <p:cNvPr id="34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E591491B-6B12-4E1D-85D7-19D7DD2D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A7050424-85A0-4EB2-A44A-8F21D39D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1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 fitandmeasure(maxfeatures, depth=4, B=200): """Fit an ensemble, then measure how correlated its…</a:t>
            </a:r>
          </a:p>
        </p:txBody>
      </p:sp>
      <p:sp>
        <p:nvSpPr>
          <p:cNvPr id="36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FB850D06-D289-4DA1-B34D-0EC0105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3AF89398-75E1-4354-A896-F28F5B4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38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4BA97CAA-91B4-4279-90F9-9C10222D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675E25D-D0D4-49BB-AE09-4397A42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145E0B-A6A2-41A8-ACC3-5C7A781A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F47BBB2-2B6D-4E48-A96A-ED52A19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27/50</a:t>
            </a:r>
          </a:p>
        </p:txBody>
      </p:sp>
      <p:sp>
        <p:nvSpPr>
          <p:cNvPr id="92" name="media-matte-ensemble_comparison.png">
            <a:extLst xmlns:a="http://schemas.openxmlformats.org/drawingml/2006/main">
              <a:ext uri="{FF2B5EF4-FFF2-40B4-BE49-F238E27FC236}">
                <a16:creationId xmlns:a16="http://schemas.microsoft.com/office/drawing/2014/main" id="{B15F4BE6-7963-4384-946D-AD279452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a452de54f4eca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8773555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1F55719-5110-48A6-B75A-4E71BEFF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25C3C8-D120-41BF-B7E6-A62232D3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mechanism, and the payoff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B7D81EA-79AB-4485-9E6D-2B291028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F18182BE-AA4B-4F21-89F3-742316F0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530044D6-D425-4D32-90E9-0015599B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B9E0ECBB-68EA-4623-8E8F-992E67FD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DD7CA5C5-83EC-445F-95C0-F41F5152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07-trees-forests-boosting/demo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session07_ensembles_demo.py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A51B9E90-9DE0-4425-96CE-439759E5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98F66669-1338-4212-8998-52CABBA8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axes = plt.subplots(1, 2, figsize=(7.7, 2.95))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 = axes[0]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top = root_bag.head(4).index.tolist()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 = .38; pos = np.arange(len(top))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ax.bar(pos - w/2, [root_bag.get(t, 0) for t in top], w, color=CL.warn, label="bagging")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ax.bar(pos + w/2, [root_rf.get(t, 0) for t in top], w, color=CL.good, label="random forest")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ax.set_xticks(pos); ax.set_xticklabels([t[:13] for t in top], fontsize=7.5, rotation=18)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ax.set_ylabel("share of trees splitting here first")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ax.set_title("which feature is the root?", fontsize=9.5)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ax.legend(fontsize=7.5); ax.grid(axis="x", visible=False)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B80E2C95-2717-4527-BA32-E8547EA3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9A795B1-DB4C-4FCB-9744-63BF371C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1F127CE-A247-4631-886C-7DFD3A65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7EDBC8-7149-4BD7-963B-31D7ACC7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28/50</a:t>
            </a:r>
          </a:p>
        </p:txBody>
      </p:sp>
    </p:spTree>
    <p:extLst>
      <p:ext uri="{BB962C8B-B14F-4D97-AF65-F5344CB8AC3E}">
        <p14:creationId xmlns:p14="http://schemas.microsoft.com/office/powerpoint/2010/main" val="134066166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91ED846F-3DB0-4B47-B14F-9C19D997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D14955-018A-42B2-886B-3E814B7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honest scoreboard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02FB1F5-36E9-496A-A20A-DDD2B916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CCB39837-6724-4316-9216-B5BEC066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tuned = RandomForestClassifier(nestimators=500, minsamplesleaf=40, randomstate=0, njobs=-1).fit(Xtr, ytr) print(f"logistic regression (Session 06) AUCLOGIT:.4f")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D2A59AC1-7B49-4827-AB6C-58DD5543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FC0709CF-912F-4744-B296-91B5130C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6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tuned = RandomForestClassifier(nestimators=500, minsamplesleaf=40, randomstate=0,…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C1475B3B-9AE9-4565-B62A-0D8945F4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F7462D43-2478-49B1-999E-50E37D63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1066B385-A5D5-4C45-9C96-43A4CE9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0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tuned = RandomForestClassifier(nestimators=500, minsamplesleaf=40, randomstate=0, njobs=-1).fit(Xtr,…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2D668A89-1FB8-439E-92CF-40360245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5C6233F2-66A5-47C2-B6E4-788F6917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030E93C1-821D-4230-9C1E-1CF7A5EE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4D8E8C36-7B00-468E-A939-79A7A0EB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835CE3A5-85E0-4A58-BF53-8B75B8F3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ECFD9F4A-E48E-42EF-B3C0-B053D332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Average or boost many trees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AE35BF9A-E2C9-46D1-A2C5-CDE00CE1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D06F15E-F6AA-448B-AEF4-4475D85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E770990-96A2-4D59-B39A-5558A2B0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EEF5488-23E0-46BF-9ABF-520BA45A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29/50</a:t>
            </a:r>
          </a:p>
        </p:txBody>
      </p:sp>
    </p:spTree>
    <p:extLst>
      <p:ext uri="{BB962C8B-B14F-4D97-AF65-F5344CB8AC3E}">
        <p14:creationId xmlns:p14="http://schemas.microsoft.com/office/powerpoint/2010/main" val="826503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86E1D5E-96BD-457C-8F19-BE1C17EA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BE1591-70A2-4768-AA1E-A458872C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honest scoreboard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B94FDBB-EBF4-40D9-887B-08C9B468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81C4B2F-B5D9-43EB-A791-44E9A21C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Split = arg minₛ [SSE(left) + SSE(right)]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7244CFD-0345-4DC6-B895-0A8236F6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tuned = RandomForestClassifier(nestimators=500, minsamplesleaf=40, randomstate=0, njobs=-1).fit(Xtr, ytr) print(f"logistic regression (Session 06) AUCLOGIT:.4f")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0B2C165-CA17-4E8B-8261-C2FDF2C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3ADB8F46-0BDD-4318-B06B-F73B427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tuned = RandomForestClassifier(nestimators=500, minsamplesleaf=40, randomstate=0,…</a:t>
            </a:r>
          </a:p>
        </p:txBody>
      </p:sp>
      <p:cxnSp>
        <p:nvCxnSpPr>
          <p:cNvPr id="49" name="tree-edge-a-0"/>
          <p:cNvCxnSpPr/>
          <p:nvPr/>
        </p:nvCxnSpPr>
        <p:spPr>
          <a:xfrm xmlns:a="http://schemas.openxmlformats.org/drawingml/2006/main">
            <a:off x="823912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0" name="tree-edge-b-0"/>
          <p:cNvCxnSpPr/>
          <p:nvPr/>
        </p:nvCxnSpPr>
        <p:spPr>
          <a:xfrm xmlns:a="http://schemas.openxmlformats.org/drawingml/2006/main">
            <a:off x="882967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1" name="tree-edge-c-0"/>
          <p:cNvCxnSpPr/>
          <p:nvPr/>
        </p:nvCxnSpPr>
        <p:spPr>
          <a:xfrm xmlns:a="http://schemas.openxmlformats.org/drawingml/2006/main">
            <a:off x="791527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2" name="tree-edge-d-0"/>
          <p:cNvCxnSpPr/>
          <p:nvPr/>
        </p:nvCxnSpPr>
        <p:spPr>
          <a:xfrm xmlns:a="http://schemas.openxmlformats.org/drawingml/2006/main">
            <a:off x="823912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2" name="tree-root-0">
            <a:extLst xmlns:a="http://schemas.openxmlformats.org/drawingml/2006/main">
              <a:ext uri="{FF2B5EF4-FFF2-40B4-BE49-F238E27FC236}">
                <a16:creationId xmlns:a16="http://schemas.microsoft.com/office/drawing/2014/main" id="{77E4D4F5-967E-442E-9342-689A0C1A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3691B482-ECEF-4720-A056-8CD3341B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DB5E46CD-6290-45FA-92F5-54D3BB8C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BF06821A-3835-4BA6-A694-E335C28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EC7F4743-3C8E-487B-826A-71B33A8D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0AA7DC4-9B6D-485B-B3D7-D9F70C86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D26E13-6690-46AF-A0A5-6F2E6D0D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9368636-FC17-4C4C-AC7D-1CF3282F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30/50</a:t>
            </a:r>
          </a:p>
        </p:txBody>
      </p:sp>
    </p:spTree>
    <p:extLst>
      <p:ext uri="{BB962C8B-B14F-4D97-AF65-F5344CB8AC3E}">
        <p14:creationId xmlns:p14="http://schemas.microsoft.com/office/powerpoint/2010/main" val="1611256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037442C8-390B-4495-915D-7BADC38A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78B216-9DCE-4C33-8963-46520995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Boosting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96F0C6B-D43B-428F-BD7A-E4127112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E285EDA-1D93-48DA-B83F-10A0CD90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Forest prediction = (1/B) Σ_b T_b(x)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9C98C071-2420-4150-AEB5-A78EE69F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Boosting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24307B5-671F-468E-8877-08382C84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B3AEACCD-F25A-41E6-95A6-B95ADF73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Boosting</a:t>
            </a:r>
          </a:p>
        </p:txBody>
      </p:sp>
      <p:cxnSp>
        <p:nvCxnSpPr>
          <p:cNvPr id="104" name="tree-edge-a-0"/>
          <p:cNvCxnSpPr/>
          <p:nvPr/>
        </p:nvCxnSpPr>
        <p:spPr>
          <a:xfrm xmlns:a="http://schemas.openxmlformats.org/drawingml/2006/main">
            <a:off x="637984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5" name="tree-edge-b-0"/>
          <p:cNvCxnSpPr/>
          <p:nvPr/>
        </p:nvCxnSpPr>
        <p:spPr>
          <a:xfrm xmlns:a="http://schemas.openxmlformats.org/drawingml/2006/main">
            <a:off x="697039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6" name="tree-edge-c-0"/>
          <p:cNvCxnSpPr/>
          <p:nvPr/>
        </p:nvCxnSpPr>
        <p:spPr>
          <a:xfrm xmlns:a="http://schemas.openxmlformats.org/drawingml/2006/main">
            <a:off x="605599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7" name="tree-edge-d-0"/>
          <p:cNvCxnSpPr/>
          <p:nvPr/>
        </p:nvCxnSpPr>
        <p:spPr>
          <a:xfrm xmlns:a="http://schemas.openxmlformats.org/drawingml/2006/main">
            <a:off x="637984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2" name="tree-root-0">
            <a:extLst xmlns:a="http://schemas.openxmlformats.org/drawingml/2006/main">
              <a:ext uri="{FF2B5EF4-FFF2-40B4-BE49-F238E27FC236}">
                <a16:creationId xmlns:a16="http://schemas.microsoft.com/office/drawing/2014/main" id="{E62611F8-EAA2-4C9F-BBD7-5119E8B6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34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11283D4E-9FAF-4EF8-83BC-CA5801E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79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9679406C-D8BB-488E-A5BC-207E7EB4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89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D160CA27-39FF-4037-9F61-28D6B285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14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B1FD36CF-B7C8-410E-B0E8-D259AEA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04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3" name="tree-edge-a-1"/>
          <p:cNvCxnSpPr/>
          <p:nvPr/>
        </p:nvCxnSpPr>
        <p:spPr>
          <a:xfrm xmlns:a="http://schemas.openxmlformats.org/drawingml/2006/main">
            <a:off x="823912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4" name="tree-edge-b-1"/>
          <p:cNvCxnSpPr/>
          <p:nvPr/>
        </p:nvCxnSpPr>
        <p:spPr>
          <a:xfrm xmlns:a="http://schemas.openxmlformats.org/drawingml/2006/main">
            <a:off x="882967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5" name="tree-edge-c-1"/>
          <p:cNvCxnSpPr/>
          <p:nvPr/>
        </p:nvCxnSpPr>
        <p:spPr>
          <a:xfrm xmlns:a="http://schemas.openxmlformats.org/drawingml/2006/main">
            <a:off x="791527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6" name="tree-edge-d-1"/>
          <p:cNvCxnSpPr/>
          <p:nvPr/>
        </p:nvCxnSpPr>
        <p:spPr>
          <a:xfrm xmlns:a="http://schemas.openxmlformats.org/drawingml/2006/main">
            <a:off x="823912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21" name="tree-root-1">
            <a:extLst xmlns:a="http://schemas.openxmlformats.org/drawingml/2006/main">
              <a:ext uri="{FF2B5EF4-FFF2-40B4-BE49-F238E27FC236}">
                <a16:creationId xmlns:a16="http://schemas.microsoft.com/office/drawing/2014/main" id="{BD72F8FF-55A5-4CE9-8803-D5C7C11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ee-mid-l-1">
            <a:extLst xmlns:a="http://schemas.openxmlformats.org/drawingml/2006/main">
              <a:ext uri="{FF2B5EF4-FFF2-40B4-BE49-F238E27FC236}">
                <a16:creationId xmlns:a16="http://schemas.microsoft.com/office/drawing/2014/main" id="{DD24F33C-2588-456D-88A5-AE5AA5A5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3" name="tree-mid-r-1">
            <a:extLst xmlns:a="http://schemas.openxmlformats.org/drawingml/2006/main">
              <a:ext uri="{FF2B5EF4-FFF2-40B4-BE49-F238E27FC236}">
                <a16:creationId xmlns:a16="http://schemas.microsoft.com/office/drawing/2014/main" id="{7FB40C56-0552-4090-9A2E-1655841F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4" name="tree-low-l-1">
            <a:extLst xmlns:a="http://schemas.openxmlformats.org/drawingml/2006/main">
              <a:ext uri="{FF2B5EF4-FFF2-40B4-BE49-F238E27FC236}">
                <a16:creationId xmlns:a16="http://schemas.microsoft.com/office/drawing/2014/main" id="{E8CF39B9-425B-4A0B-9A0C-9185885A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ree-low-r-1">
            <a:extLst xmlns:a="http://schemas.openxmlformats.org/drawingml/2006/main">
              <a:ext uri="{FF2B5EF4-FFF2-40B4-BE49-F238E27FC236}">
                <a16:creationId xmlns:a16="http://schemas.microsoft.com/office/drawing/2014/main" id="{F026EE07-C785-48AA-851F-3BC9A88D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2" name="tree-edge-a-2"/>
          <p:cNvCxnSpPr/>
          <p:nvPr/>
        </p:nvCxnSpPr>
        <p:spPr>
          <a:xfrm xmlns:a="http://schemas.openxmlformats.org/drawingml/2006/main">
            <a:off x="1009840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3" name="tree-edge-b-2"/>
          <p:cNvCxnSpPr/>
          <p:nvPr/>
        </p:nvCxnSpPr>
        <p:spPr>
          <a:xfrm xmlns:a="http://schemas.openxmlformats.org/drawingml/2006/main">
            <a:off x="1068895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4" name="tree-edge-c-2"/>
          <p:cNvCxnSpPr/>
          <p:nvPr/>
        </p:nvCxnSpPr>
        <p:spPr>
          <a:xfrm xmlns:a="http://schemas.openxmlformats.org/drawingml/2006/main">
            <a:off x="977455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5" name="tree-edge-d-2"/>
          <p:cNvCxnSpPr/>
          <p:nvPr/>
        </p:nvCxnSpPr>
        <p:spPr>
          <a:xfrm xmlns:a="http://schemas.openxmlformats.org/drawingml/2006/main">
            <a:off x="1009840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30" name="tree-root-2">
            <a:extLst xmlns:a="http://schemas.openxmlformats.org/drawingml/2006/main">
              <a:ext uri="{FF2B5EF4-FFF2-40B4-BE49-F238E27FC236}">
                <a16:creationId xmlns:a16="http://schemas.microsoft.com/office/drawing/2014/main" id="{3B6872FF-972E-46A6-BF54-47B29E1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90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ree-mid-l-2">
            <a:extLst xmlns:a="http://schemas.openxmlformats.org/drawingml/2006/main">
              <a:ext uri="{FF2B5EF4-FFF2-40B4-BE49-F238E27FC236}">
                <a16:creationId xmlns:a16="http://schemas.microsoft.com/office/drawing/2014/main" id="{6A6EFEDA-DDAF-4903-BC66-041ADB0A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2" name="tree-mid-r-2">
            <a:extLst xmlns:a="http://schemas.openxmlformats.org/drawingml/2006/main">
              <a:ext uri="{FF2B5EF4-FFF2-40B4-BE49-F238E27FC236}">
                <a16:creationId xmlns:a16="http://schemas.microsoft.com/office/drawing/2014/main" id="{503ABD49-CD95-46B2-948D-613206E9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45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3" name="tree-low-l-2">
            <a:extLst xmlns:a="http://schemas.openxmlformats.org/drawingml/2006/main">
              <a:ext uri="{FF2B5EF4-FFF2-40B4-BE49-F238E27FC236}">
                <a16:creationId xmlns:a16="http://schemas.microsoft.com/office/drawing/2014/main" id="{124CD21C-A8A7-4169-876B-C2237C2B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70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ree-low-r-2">
            <a:extLst xmlns:a="http://schemas.openxmlformats.org/drawingml/2006/main">
              <a:ext uri="{FF2B5EF4-FFF2-40B4-BE49-F238E27FC236}">
                <a16:creationId xmlns:a16="http://schemas.microsoft.com/office/drawing/2014/main" id="{F53CE39C-F4F6-4B05-9C63-3AE7C044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60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rest-average">
            <a:extLst xmlns:a="http://schemas.openxmlformats.org/drawingml/2006/main">
              <a:ext uri="{FF2B5EF4-FFF2-40B4-BE49-F238E27FC236}">
                <a16:creationId xmlns:a16="http://schemas.microsoft.com/office/drawing/2014/main" id="{02EE8DAA-E605-4FD8-8119-0BECDFC3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29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8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average the trees → stable prediction</a:t>
            </a:r>
          </a:p>
        </p:txBody>
      </p:sp>
      <p:sp>
        <p:nvSpPr>
          <p:cNvPr id="3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BEF9FCC-EA3D-478B-98F3-F80F13C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EE55A5-4827-4012-8475-A9E97FC3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3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53760B-364C-4A67-B216-1A2F8882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31/50</a:t>
            </a:r>
          </a:p>
        </p:txBody>
      </p:sp>
    </p:spTree>
    <p:extLst>
      <p:ext uri="{BB962C8B-B14F-4D97-AF65-F5344CB8AC3E}">
        <p14:creationId xmlns:p14="http://schemas.microsoft.com/office/powerpoint/2010/main" val="35617692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095953B-8173-4963-AE91-03179CB9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FFDFF7-9811-4DB7-B3C7-3AD013C3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Gradient descent in function space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67A9F80-4342-48F5-AE83-18D1F88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DE14792B-A6B2-40E8-BDC8-AE47F3DC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r_im = - [(partial L(y_i, F(x_i)))/(partial F(x_i)) ]_F = F_m-1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F23CD7B-3F57-4E20-88EA-7E8277C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 stage m, the negative gradient at the current fit is the pseudo-residual: Fit a small tree hm to those pseudo-residuals, then step: Fm = Fm-1 + nu gammam hm.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FEEA7066-4994-468F-B191-323994D5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A176FD0-882F-4738-971B-8F00D59B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 stage m, the negative gradient at the current fit is the pseudo-residual: Fit a small tree hm…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2493bf475646b3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ED17069-0473-47C3-85E3-996C8166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927BAD0-7557-409E-87F2-395AFEA0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9DF1F5-799F-4A93-A031-63427694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32/50</a:t>
            </a:r>
          </a:p>
        </p:txBody>
      </p:sp>
    </p:spTree>
    <p:extLst>
      <p:ext uri="{BB962C8B-B14F-4D97-AF65-F5344CB8AC3E}">
        <p14:creationId xmlns:p14="http://schemas.microsoft.com/office/powerpoint/2010/main" val="21309201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D4A0D35-BBCE-4252-98FD-A5D40553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CE48F2-89F2-4B87-ABD1-CDFF5B43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Gradient descent in function space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27748D2-EB70-4DC6-BE43-85F15468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9660F609-F5F5-4D6B-8916-D1D7CCCA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64E64704-340A-473C-BAFB-0CE1D106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Gradient descent in…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14FB8994-1A8B-4839-9350-FC93BB3C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745BCE14-87C3-4CCD-921F-F44249E1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 stage m, the negative gradient at the current fit is the pseudo-residual: Fit a small tree hm…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8F3CA365-DCD5-4079-8480-9F20DB08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A603507A-9047-4418-BA59-6376C163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Bagging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E49C91D0-64D6-42C8-8229-D53E859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A59DEA38-BC4A-44DF-80F6-716C810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 stage m, the negative gradient at the current fit is the pseudo-residual: Fit a small tree hm to…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6313B73C-3E84-4FDC-9486-F2748A13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A4523491-BE78-4AF0-BC8B-DE16B879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Learning rate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0721A20C-8F0F-487D-88D2-40D95116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61D1F94A-B74C-4B3E-8383-067FFE65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8F52E60C-949E-47EC-B907-E6A265A9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7EEA1C8-EDB4-472D-BB27-3C69C112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EAB7716-3E02-4FBB-8B1F-11117744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B59BB0-13DD-4A63-9611-895B681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33/50</a:t>
            </a:r>
          </a:p>
        </p:txBody>
      </p:sp>
    </p:spTree>
    <p:extLst>
      <p:ext uri="{BB962C8B-B14F-4D97-AF65-F5344CB8AC3E}">
        <p14:creationId xmlns:p14="http://schemas.microsoft.com/office/powerpoint/2010/main" val="174686745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51848485-799A-4DD3-9C3E-EA92A25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0942C7-84F6-4F96-AE8F-554F66A8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Shrinkage is not optional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B532ED1-2B22-46E4-AB34-324700BF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9B6ADDB-229B-441F-9AED-74CCF39B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67BCCED3-0F3A-431E-BF3A-700E40F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Small nu (0.01–0.1) with many trees generalises far better than large nu with few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B739B53-D37A-4CC0-8FD3-C50E6F26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25817D78-9702-45A6-887E-5E872C79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Halving nu roughly doubles the M you need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8D318BB-9542-40FA-9DE0-A499515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BAC04FD-2179-4EE2-A97B-3862B31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Three dials interact: nu, M, and depth d — where d caps the interaction order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1C58022C-6C30-449A-8BDA-928CCFA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(d=1 is additive, d=2 allows two-way interactions)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CF3627D-4529-4D92-A859-2EF83AA3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25D3E6-F3B3-4A9B-B6A6-CEF74B3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6C9B78A-0DBB-480B-B883-749C9D9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34/50</a:t>
            </a:r>
          </a:p>
        </p:txBody>
      </p:sp>
    </p:spTree>
    <p:extLst>
      <p:ext uri="{BB962C8B-B14F-4D97-AF65-F5344CB8AC3E}">
        <p14:creationId xmlns:p14="http://schemas.microsoft.com/office/powerpoint/2010/main" val="19563639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D54D0A75-05D9-4A7C-8DDA-5A75931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BC58F-54D6-43D5-BA6B-AACB526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learning-rate picture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96B8721-9A64-41DC-B0B3-2E0FABA1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7" name="tree-edge-a-0"/>
          <p:cNvCxnSpPr/>
          <p:nvPr/>
        </p:nvCxnSpPr>
        <p:spPr>
          <a:xfrm xmlns:a="http://schemas.openxmlformats.org/drawingml/2006/main">
            <a:off x="110109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98" name="tree-edge-b-0"/>
          <p:cNvCxnSpPr/>
          <p:nvPr/>
        </p:nvCxnSpPr>
        <p:spPr>
          <a:xfrm xmlns:a="http://schemas.openxmlformats.org/drawingml/2006/main">
            <a:off x="169164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99" name="tree-edge-c-0"/>
          <p:cNvCxnSpPr/>
          <p:nvPr/>
        </p:nvCxnSpPr>
        <p:spPr>
          <a:xfrm xmlns:a="http://schemas.openxmlformats.org/drawingml/2006/main">
            <a:off x="77724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0" name="tree-edge-d-0"/>
          <p:cNvCxnSpPr/>
          <p:nvPr/>
        </p:nvCxnSpPr>
        <p:spPr>
          <a:xfrm xmlns:a="http://schemas.openxmlformats.org/drawingml/2006/main">
            <a:off x="110109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tree-root-0">
            <a:extLst xmlns:a="http://schemas.openxmlformats.org/drawingml/2006/main">
              <a:ext uri="{FF2B5EF4-FFF2-40B4-BE49-F238E27FC236}">
                <a16:creationId xmlns:a16="http://schemas.microsoft.com/office/drawing/2014/main" id="{3CC95B05-567B-4C62-8B4D-C58E5649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A05E9484-77B7-427F-80B2-B7764F32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883B32AC-49EE-48D0-92F2-213A6C8E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4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C98AEE21-4256-491C-8816-B35B701F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FC171450-F374-467F-AF84-03E2519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6" name="tree-edge-a-1"/>
          <p:cNvCxnSpPr/>
          <p:nvPr/>
        </p:nvCxnSpPr>
        <p:spPr>
          <a:xfrm xmlns:a="http://schemas.openxmlformats.org/drawingml/2006/main">
            <a:off x="329565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7" name="tree-edge-b-1"/>
          <p:cNvCxnSpPr/>
          <p:nvPr/>
        </p:nvCxnSpPr>
        <p:spPr>
          <a:xfrm xmlns:a="http://schemas.openxmlformats.org/drawingml/2006/main">
            <a:off x="388620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8" name="tree-edge-c-1"/>
          <p:cNvCxnSpPr/>
          <p:nvPr/>
        </p:nvCxnSpPr>
        <p:spPr>
          <a:xfrm xmlns:a="http://schemas.openxmlformats.org/drawingml/2006/main">
            <a:off x="297180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9" name="tree-edge-d-1"/>
          <p:cNvCxnSpPr/>
          <p:nvPr/>
        </p:nvCxnSpPr>
        <p:spPr>
          <a:xfrm xmlns:a="http://schemas.openxmlformats.org/drawingml/2006/main">
            <a:off x="329565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7" name="tree-root-1">
            <a:extLst xmlns:a="http://schemas.openxmlformats.org/drawingml/2006/main">
              <a:ext uri="{FF2B5EF4-FFF2-40B4-BE49-F238E27FC236}">
                <a16:creationId xmlns:a16="http://schemas.microsoft.com/office/drawing/2014/main" id="{8C9F6D8E-0374-40FC-8238-23A3842E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ee-mid-l-1">
            <a:extLst xmlns:a="http://schemas.openxmlformats.org/drawingml/2006/main">
              <a:ext uri="{FF2B5EF4-FFF2-40B4-BE49-F238E27FC236}">
                <a16:creationId xmlns:a16="http://schemas.microsoft.com/office/drawing/2014/main" id="{56EE7B22-A375-4A88-A55E-C4BC619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9" name="tree-mid-r-1">
            <a:extLst xmlns:a="http://schemas.openxmlformats.org/drawingml/2006/main">
              <a:ext uri="{FF2B5EF4-FFF2-40B4-BE49-F238E27FC236}">
                <a16:creationId xmlns:a16="http://schemas.microsoft.com/office/drawing/2014/main" id="{59870F00-6C40-44F3-B1B8-2B078864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0" name="tree-low-l-1">
            <a:extLst xmlns:a="http://schemas.openxmlformats.org/drawingml/2006/main">
              <a:ext uri="{FF2B5EF4-FFF2-40B4-BE49-F238E27FC236}">
                <a16:creationId xmlns:a16="http://schemas.microsoft.com/office/drawing/2014/main" id="{54DC97C0-8DE7-4CF2-9C1C-BDC3DBE5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ee-low-r-1">
            <a:extLst xmlns:a="http://schemas.openxmlformats.org/drawingml/2006/main">
              <a:ext uri="{FF2B5EF4-FFF2-40B4-BE49-F238E27FC236}">
                <a16:creationId xmlns:a16="http://schemas.microsoft.com/office/drawing/2014/main" id="{CC901711-A52A-466E-BDF0-F016C231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5" name="tree-edge-a-2"/>
          <p:cNvCxnSpPr/>
          <p:nvPr/>
        </p:nvCxnSpPr>
        <p:spPr>
          <a:xfrm xmlns:a="http://schemas.openxmlformats.org/drawingml/2006/main">
            <a:off x="549021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6" name="tree-edge-b-2"/>
          <p:cNvCxnSpPr/>
          <p:nvPr/>
        </p:nvCxnSpPr>
        <p:spPr>
          <a:xfrm xmlns:a="http://schemas.openxmlformats.org/drawingml/2006/main">
            <a:off x="608076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7" name="tree-edge-c-2"/>
          <p:cNvCxnSpPr/>
          <p:nvPr/>
        </p:nvCxnSpPr>
        <p:spPr>
          <a:xfrm xmlns:a="http://schemas.openxmlformats.org/drawingml/2006/main">
            <a:off x="516636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8" name="tree-edge-d-2"/>
          <p:cNvCxnSpPr/>
          <p:nvPr/>
        </p:nvCxnSpPr>
        <p:spPr>
          <a:xfrm xmlns:a="http://schemas.openxmlformats.org/drawingml/2006/main">
            <a:off x="549021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26" name="tree-root-2">
            <a:extLst xmlns:a="http://schemas.openxmlformats.org/drawingml/2006/main">
              <a:ext uri="{FF2B5EF4-FFF2-40B4-BE49-F238E27FC236}">
                <a16:creationId xmlns:a16="http://schemas.microsoft.com/office/drawing/2014/main" id="{934CA3AE-264E-4628-848D-B4DABDFF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1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ree-mid-l-2">
            <a:extLst xmlns:a="http://schemas.openxmlformats.org/drawingml/2006/main">
              <a:ext uri="{FF2B5EF4-FFF2-40B4-BE49-F238E27FC236}">
                <a16:creationId xmlns:a16="http://schemas.microsoft.com/office/drawing/2014/main" id="{DCAEDDFB-8E36-44D9-8897-F680A74F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8" name="tree-mid-r-2">
            <a:extLst xmlns:a="http://schemas.openxmlformats.org/drawingml/2006/main">
              <a:ext uri="{FF2B5EF4-FFF2-40B4-BE49-F238E27FC236}">
                <a16:creationId xmlns:a16="http://schemas.microsoft.com/office/drawing/2014/main" id="{D1741DC1-8013-4157-BC0D-9B0B828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6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9" name="tree-low-l-2">
            <a:extLst xmlns:a="http://schemas.openxmlformats.org/drawingml/2006/main">
              <a:ext uri="{FF2B5EF4-FFF2-40B4-BE49-F238E27FC236}">
                <a16:creationId xmlns:a16="http://schemas.microsoft.com/office/drawing/2014/main" id="{6F857FBA-7B40-43E1-9150-4C829E0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ree-low-r-2">
            <a:extLst xmlns:a="http://schemas.openxmlformats.org/drawingml/2006/main">
              <a:ext uri="{FF2B5EF4-FFF2-40B4-BE49-F238E27FC236}">
                <a16:creationId xmlns:a16="http://schemas.microsoft.com/office/drawing/2014/main" id="{5DC3985F-903D-4E6C-8444-70E5453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41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rest-average">
            <a:extLst xmlns:a="http://schemas.openxmlformats.org/drawingml/2006/main">
              <a:ext uri="{FF2B5EF4-FFF2-40B4-BE49-F238E27FC236}">
                <a16:creationId xmlns:a16="http://schemas.microsoft.com/office/drawing/2014/main" id="{05F17AFE-827E-4DCE-A13F-EA6F612B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average the trees → stable prediction</a:t>
            </a:r>
          </a:p>
        </p:txBody>
      </p:sp>
      <p:sp>
        <p:nvSpPr>
          <p:cNvPr id="32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C6601753-47B8-4C4C-8E60-BB0EBA8E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33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94F8D392-1408-41A6-BC8B-8AF1919F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plt.subplots(figsize=(6.6, 2.95)) for lr, c in [(0.5, CL.warn), (0.1, CL.accent), (0.02,…</a:t>
            </a:r>
          </a:p>
        </p:txBody>
      </p:sp>
      <p:sp>
        <p:nvSpPr>
          <p:cNvPr id="34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E591491B-6B12-4E1D-85D7-19D7DD2D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A7050424-85A0-4EB2-A44A-8F21D39D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36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FB850D06-D289-4DA1-B34D-0EC0105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3AF89398-75E1-4354-A896-F28F5B4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Average or boost many trees</a:t>
            </a:r>
          </a:p>
        </p:txBody>
      </p:sp>
      <p:sp>
        <p:nvSpPr>
          <p:cNvPr id="38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4BA97CAA-91B4-4279-90F9-9C10222D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675E25D-D0D4-49BB-AE09-4397A42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145E0B-A6A2-41A8-ACC3-5C7A781A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F47BBB2-2B6D-4E48-A96A-ED52A19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35/50</a:t>
            </a:r>
          </a:p>
        </p:txBody>
      </p:sp>
      <p:sp>
        <p:nvSpPr>
          <p:cNvPr id="92" name="media-matte-ensemble_comparison.png">
            <a:extLst xmlns:a="http://schemas.openxmlformats.org/drawingml/2006/main">
              <a:ext uri="{FF2B5EF4-FFF2-40B4-BE49-F238E27FC236}">
                <a16:creationId xmlns:a16="http://schemas.microsoft.com/office/drawing/2014/main" id="{34634A04-9637-477B-BEA0-EF95AB16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4b45b2b02483c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8773555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1F55719-5110-48A6-B75A-4E71BEFF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25C3C8-D120-41BF-B7E6-A62232D3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learning-rate picture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B7D81EA-79AB-4485-9E6D-2B291028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F18182BE-AA4B-4F21-89F3-742316F0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530044D6-D425-4D32-90E9-0015599B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B9E0ECBB-68EA-4623-8E8F-992E67FD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DD7CA5C5-83EC-445F-95C0-F41F5152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07-trees-forests-boosting/demo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session07_ensembles_demo.py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A51B9E90-9DE0-4425-96CE-439759E5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98F66669-1338-4212-8998-52CABBA8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92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plt.subplots(figsize=(6.6, 2.95))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= 400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lr, c in [(0.5, CL.warn), (0.1, CL.accent), (0.02, CL.good)]: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g = GradientBoostingClassifier(n_estimators=M, learning_rate=lr, max_depth=2,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                   min_samples_leaf=60, subsample=.8,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                   random_state=0).fit(Xtr, ytr)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stage = np.array([roc_auc_score(yte, s.ravel())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      for s in g.staged_decision_function(Xte)])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ax.plot(np.arange(1, M + 1), stage, color=c, lw=1.9, label=rf"$\nu={lr}$")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ax.scatter(np.argmax(stage) + 1, stage.max(), s=34, color=c, zorder=5)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ax.axhline(AUC_LOGIT, color=CL.ink, ls="--", lw=1.3)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ax.text(M * .62, AUC_LOGIT + .0015, "logistic regression", color=CL.ink, fontsize=8)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B80E2C95-2717-4527-BA32-E8547EA3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9A795B1-DB4C-4FCB-9744-63BF371C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1F127CE-A247-4631-886C-7DFD3A65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7EDBC8-7149-4BD7-963B-31D7ACC7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36/50</a:t>
            </a:r>
          </a:p>
        </p:txBody>
      </p:sp>
    </p:spTree>
    <p:extLst>
      <p:ext uri="{BB962C8B-B14F-4D97-AF65-F5344CB8AC3E}">
        <p14:creationId xmlns:p14="http://schemas.microsoft.com/office/powerpoint/2010/main" val="134066166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86E1D5E-96BD-457C-8F19-BE1C17EA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BE1591-70A2-4768-AA1E-A458872C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the modern libraries add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B94FDBB-EBF4-40D9-887B-08C9B468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81C4B2F-B5D9-43EB-A791-44E9A21C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2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mathcalL^(m) approx Σ_iBig[g_i h_m(x_i) + tfrac12 h_i h_m(x_i)²Big] + Omega(h_m), Omega(h) = gamma|T| + tfrac12λ|w|²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7244CFD-0345-4DC6-B895-0A8236F6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XGBoost and LightGBM expand the loss to second order and penalise the tree explicitly: Omega(h) = gamma|T| + tfrac12λ|w|^2 Solving for the optimal leaf weight: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40B2C165-CA17-4E8B-8261-C2FDF2C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3ADB8F46-0BDD-4318-B06B-F73B427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XGBoost and LightGBM expand the loss to second order and penalise the tree explicitly: Omega(h) =…</a:t>
            </a:r>
          </a:p>
        </p:txBody>
      </p:sp>
      <p:cxnSp>
        <p:nvCxnSpPr>
          <p:cNvPr id="49" name="tree-edge-a-0"/>
          <p:cNvCxnSpPr/>
          <p:nvPr/>
        </p:nvCxnSpPr>
        <p:spPr>
          <a:xfrm xmlns:a="http://schemas.openxmlformats.org/drawingml/2006/main">
            <a:off x="823912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0" name="tree-edge-b-0"/>
          <p:cNvCxnSpPr/>
          <p:nvPr/>
        </p:nvCxnSpPr>
        <p:spPr>
          <a:xfrm xmlns:a="http://schemas.openxmlformats.org/drawingml/2006/main">
            <a:off x="882967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1" name="tree-edge-c-0"/>
          <p:cNvCxnSpPr/>
          <p:nvPr/>
        </p:nvCxnSpPr>
        <p:spPr>
          <a:xfrm xmlns:a="http://schemas.openxmlformats.org/drawingml/2006/main">
            <a:off x="791527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52" name="tree-edge-d-0"/>
          <p:cNvCxnSpPr/>
          <p:nvPr/>
        </p:nvCxnSpPr>
        <p:spPr>
          <a:xfrm xmlns:a="http://schemas.openxmlformats.org/drawingml/2006/main">
            <a:off x="823912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2" name="tree-root-0">
            <a:extLst xmlns:a="http://schemas.openxmlformats.org/drawingml/2006/main">
              <a:ext uri="{FF2B5EF4-FFF2-40B4-BE49-F238E27FC236}">
                <a16:creationId xmlns:a16="http://schemas.microsoft.com/office/drawing/2014/main" id="{77E4D4F5-967E-442E-9342-689A0C1A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3691B482-ECEF-4720-A056-8CD3341B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DB5E46CD-6290-45FA-92F5-54D3BB8C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BF06821A-3835-4BA6-A694-E335C28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EC7F4743-3C8E-487B-826A-71B33A8D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0AA7DC4-9B6D-485B-B3D7-D9F70C86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D26E13-6690-46AF-A0A5-6F2E6D0D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9368636-FC17-4C4C-AC7D-1CF3282F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37/50</a:t>
            </a:r>
          </a:p>
        </p:txBody>
      </p:sp>
    </p:spTree>
    <p:extLst>
      <p:ext uri="{BB962C8B-B14F-4D97-AF65-F5344CB8AC3E}">
        <p14:creationId xmlns:p14="http://schemas.microsoft.com/office/powerpoint/2010/main" val="1611256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037442C8-390B-4495-915D-7BADC38A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78B216-9DCE-4C33-8963-46520995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Recovering interpretation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96F0C6B-D43B-428F-BD7A-E4127112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E285EDA-1D93-48DA-B83F-10A0CD90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f_m = f_{m−1} + η·h_m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9C98C071-2420-4150-AEB5-A78EE69F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Recovering interpretation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E24307B5-671F-468E-8877-08382C84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B3AEACCD-F25A-41E6-95A6-B95ADF73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Recovering interpretation</a:t>
            </a:r>
          </a:p>
        </p:txBody>
      </p:sp>
      <p:cxnSp>
        <p:nvCxnSpPr>
          <p:cNvPr id="104" name="tree-edge-a-0"/>
          <p:cNvCxnSpPr/>
          <p:nvPr/>
        </p:nvCxnSpPr>
        <p:spPr>
          <a:xfrm xmlns:a="http://schemas.openxmlformats.org/drawingml/2006/main">
            <a:off x="637984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5" name="tree-edge-b-0"/>
          <p:cNvCxnSpPr/>
          <p:nvPr/>
        </p:nvCxnSpPr>
        <p:spPr>
          <a:xfrm xmlns:a="http://schemas.openxmlformats.org/drawingml/2006/main">
            <a:off x="697039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6" name="tree-edge-c-0"/>
          <p:cNvCxnSpPr/>
          <p:nvPr/>
        </p:nvCxnSpPr>
        <p:spPr>
          <a:xfrm xmlns:a="http://schemas.openxmlformats.org/drawingml/2006/main">
            <a:off x="605599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7" name="tree-edge-d-0"/>
          <p:cNvCxnSpPr/>
          <p:nvPr/>
        </p:nvCxnSpPr>
        <p:spPr>
          <a:xfrm xmlns:a="http://schemas.openxmlformats.org/drawingml/2006/main">
            <a:off x="637984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2" name="tree-root-0">
            <a:extLst xmlns:a="http://schemas.openxmlformats.org/drawingml/2006/main">
              <a:ext uri="{FF2B5EF4-FFF2-40B4-BE49-F238E27FC236}">
                <a16:creationId xmlns:a16="http://schemas.microsoft.com/office/drawing/2014/main" id="{E62611F8-EAA2-4C9F-BBD7-5119E8B6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34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11283D4E-9FAF-4EF8-83BC-CA5801E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79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9679406C-D8BB-488E-A5BC-207E7EB4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89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D160CA27-39FF-4037-9F61-28D6B285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14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B1FD36CF-B7C8-410E-B0E8-D259AEA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04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3" name="tree-edge-a-1"/>
          <p:cNvCxnSpPr/>
          <p:nvPr/>
        </p:nvCxnSpPr>
        <p:spPr>
          <a:xfrm xmlns:a="http://schemas.openxmlformats.org/drawingml/2006/main">
            <a:off x="823912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4" name="tree-edge-b-1"/>
          <p:cNvCxnSpPr/>
          <p:nvPr/>
        </p:nvCxnSpPr>
        <p:spPr>
          <a:xfrm xmlns:a="http://schemas.openxmlformats.org/drawingml/2006/main">
            <a:off x="882967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5" name="tree-edge-c-1"/>
          <p:cNvCxnSpPr/>
          <p:nvPr/>
        </p:nvCxnSpPr>
        <p:spPr>
          <a:xfrm xmlns:a="http://schemas.openxmlformats.org/drawingml/2006/main">
            <a:off x="791527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6" name="tree-edge-d-1"/>
          <p:cNvCxnSpPr/>
          <p:nvPr/>
        </p:nvCxnSpPr>
        <p:spPr>
          <a:xfrm xmlns:a="http://schemas.openxmlformats.org/drawingml/2006/main">
            <a:off x="823912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21" name="tree-root-1">
            <a:extLst xmlns:a="http://schemas.openxmlformats.org/drawingml/2006/main">
              <a:ext uri="{FF2B5EF4-FFF2-40B4-BE49-F238E27FC236}">
                <a16:creationId xmlns:a16="http://schemas.microsoft.com/office/drawing/2014/main" id="{BD72F8FF-55A5-4CE9-8803-D5C7C11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ee-mid-l-1">
            <a:extLst xmlns:a="http://schemas.openxmlformats.org/drawingml/2006/main">
              <a:ext uri="{FF2B5EF4-FFF2-40B4-BE49-F238E27FC236}">
                <a16:creationId xmlns:a16="http://schemas.microsoft.com/office/drawing/2014/main" id="{DD24F33C-2588-456D-88A5-AE5AA5A5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3" name="tree-mid-r-1">
            <a:extLst xmlns:a="http://schemas.openxmlformats.org/drawingml/2006/main">
              <a:ext uri="{FF2B5EF4-FFF2-40B4-BE49-F238E27FC236}">
                <a16:creationId xmlns:a16="http://schemas.microsoft.com/office/drawing/2014/main" id="{7FB40C56-0552-4090-9A2E-1655841F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4" name="tree-low-l-1">
            <a:extLst xmlns:a="http://schemas.openxmlformats.org/drawingml/2006/main">
              <a:ext uri="{FF2B5EF4-FFF2-40B4-BE49-F238E27FC236}">
                <a16:creationId xmlns:a16="http://schemas.microsoft.com/office/drawing/2014/main" id="{E8CF39B9-425B-4A0B-9A0C-9185885A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ree-low-r-1">
            <a:extLst xmlns:a="http://schemas.openxmlformats.org/drawingml/2006/main">
              <a:ext uri="{FF2B5EF4-FFF2-40B4-BE49-F238E27FC236}">
                <a16:creationId xmlns:a16="http://schemas.microsoft.com/office/drawing/2014/main" id="{F026EE07-C785-48AA-851F-3BC9A88D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2" name="tree-edge-a-2"/>
          <p:cNvCxnSpPr/>
          <p:nvPr/>
        </p:nvCxnSpPr>
        <p:spPr>
          <a:xfrm xmlns:a="http://schemas.openxmlformats.org/drawingml/2006/main">
            <a:off x="1009840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3" name="tree-edge-b-2"/>
          <p:cNvCxnSpPr/>
          <p:nvPr/>
        </p:nvCxnSpPr>
        <p:spPr>
          <a:xfrm xmlns:a="http://schemas.openxmlformats.org/drawingml/2006/main">
            <a:off x="10688955" y="262890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4" name="tree-edge-c-2"/>
          <p:cNvCxnSpPr/>
          <p:nvPr/>
        </p:nvCxnSpPr>
        <p:spPr>
          <a:xfrm xmlns:a="http://schemas.openxmlformats.org/drawingml/2006/main">
            <a:off x="977455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25" name="tree-edge-d-2"/>
          <p:cNvCxnSpPr/>
          <p:nvPr/>
        </p:nvCxnSpPr>
        <p:spPr>
          <a:xfrm xmlns:a="http://schemas.openxmlformats.org/drawingml/2006/main">
            <a:off x="10098405" y="346710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30" name="tree-root-2">
            <a:extLst xmlns:a="http://schemas.openxmlformats.org/drawingml/2006/main">
              <a:ext uri="{FF2B5EF4-FFF2-40B4-BE49-F238E27FC236}">
                <a16:creationId xmlns:a16="http://schemas.microsoft.com/office/drawing/2014/main" id="{3B6872FF-972E-46A6-BF54-47B29E1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905" y="217170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ree-mid-l-2">
            <a:extLst xmlns:a="http://schemas.openxmlformats.org/drawingml/2006/main">
              <a:ext uri="{FF2B5EF4-FFF2-40B4-BE49-F238E27FC236}">
                <a16:creationId xmlns:a16="http://schemas.microsoft.com/office/drawing/2014/main" id="{6A6EFEDA-DDAF-4903-BC66-041ADB0A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2" name="tree-mid-r-2">
            <a:extLst xmlns:a="http://schemas.openxmlformats.org/drawingml/2006/main">
              <a:ext uri="{FF2B5EF4-FFF2-40B4-BE49-F238E27FC236}">
                <a16:creationId xmlns:a16="http://schemas.microsoft.com/office/drawing/2014/main" id="{503ABD49-CD95-46B2-948D-613206E9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455" y="308610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33" name="tree-low-l-2">
            <a:extLst xmlns:a="http://schemas.openxmlformats.org/drawingml/2006/main">
              <a:ext uri="{FF2B5EF4-FFF2-40B4-BE49-F238E27FC236}">
                <a16:creationId xmlns:a16="http://schemas.microsoft.com/office/drawing/2014/main" id="{124CD21C-A8A7-4169-876B-C2237C2B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70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ree-low-r-2">
            <a:extLst xmlns:a="http://schemas.openxmlformats.org/drawingml/2006/main">
              <a:ext uri="{FF2B5EF4-FFF2-40B4-BE49-F238E27FC236}">
                <a16:creationId xmlns:a16="http://schemas.microsoft.com/office/drawing/2014/main" id="{F53CE39C-F4F6-4B05-9C63-3AE7C044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605" y="403860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rest-average">
            <a:extLst xmlns:a="http://schemas.openxmlformats.org/drawingml/2006/main">
              <a:ext uri="{FF2B5EF4-FFF2-40B4-BE49-F238E27FC236}">
                <a16:creationId xmlns:a16="http://schemas.microsoft.com/office/drawing/2014/main" id="{02EE8DAA-E605-4FD8-8119-0BECDFC3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29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8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average the trees → stable prediction</a:t>
            </a:r>
          </a:p>
        </p:txBody>
      </p:sp>
      <p:sp>
        <p:nvSpPr>
          <p:cNvPr id="3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BEF9FCC-EA3D-478B-98F3-F80F13C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EE55A5-4827-4012-8475-A9E97FC3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3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53760B-364C-4A67-B216-1A2F8882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38/50</a:t>
            </a:r>
          </a:p>
        </p:txBody>
      </p:sp>
    </p:spTree>
    <p:extLst>
      <p:ext uri="{BB962C8B-B14F-4D97-AF65-F5344CB8AC3E}">
        <p14:creationId xmlns:p14="http://schemas.microsoft.com/office/powerpoint/2010/main" val="35617692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095953B-8173-4963-AE91-03179CB9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FFDFF7-9811-4DB7-B3C7-3AD013C3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Five tools, and what each is for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67A9F80-4342-48F5-AE83-18D1F88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DE14792B-A6B2-40E8-BDC8-AE47F3DC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Split = arg minₛ [SSE(left) + SSE(right)]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FF23CD7B-3F57-4E20-88EA-7E8277C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Five tools, and what each is for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FEEA7066-4994-468F-B191-323994D5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0A176FD0-882F-4738-971B-8F00D59B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Five tools, and what each is for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fef78c6a474003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ED17069-0473-47C3-85E3-996C8166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927BAD0-7557-409E-87F2-395AFEA0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9DF1F5-799F-4A93-A031-63427694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39/50</a:t>
            </a:r>
          </a:p>
        </p:txBody>
      </p:sp>
    </p:spTree>
    <p:extLst>
      <p:ext uri="{BB962C8B-B14F-4D97-AF65-F5344CB8AC3E}">
        <p14:creationId xmlns:p14="http://schemas.microsoft.com/office/powerpoint/2010/main" val="21309201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91ED846F-3DB0-4B47-B14F-9C19D997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D14955-018A-42B2-886B-3E814B7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impurity bias is not theoretical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02FB1F5-36E9-496A-A20A-DDD2B916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CCB39837-6724-4316-9216-B5BEC066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imp = pd.Series(rfm.featureimportances, index=FEAT) pi = permutationimportance(rfm, Xte, yte, nrepeats=5, randomstate=0, scoring="rocauc", njobs=-1)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D2A59AC1-7B49-4827-AB6C-58DD5543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FC0709CF-912F-4744-B296-91B5130C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2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imp = pd.Series(rfm.featureimportances, index=FEAT) pi = permutationimportance(rfm, Xte, yte,…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C1475B3B-9AE9-4565-B62A-0D8945F4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F7462D43-2478-49B1-999E-50E37D63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1066B385-A5D5-4C45-9C96-43A4CE9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2D668A89-1FB8-439E-92CF-40360245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5C6233F2-66A5-47C2-B6E4-788F6917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030E93C1-821D-4230-9C1E-1CF7A5EE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Average or boost many trees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4D8E8C36-7B00-468E-A939-79A7A0EB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835CE3A5-85E0-4A58-BF53-8B75B8F3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ECFD9F4A-E48E-42EF-B3C0-B053D332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Evaluate and explain on held-out data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AE35BF9A-E2C9-46D1-A2C5-CDE00CE1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D06F15E-F6AA-448B-AEF4-4475D85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E770990-96A2-4D59-B39A-5558A2B0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EEF5488-23E0-46BF-9ABF-520BA45A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40/50</a:t>
            </a:r>
          </a:p>
        </p:txBody>
      </p:sp>
    </p:spTree>
    <p:extLst>
      <p:ext uri="{BB962C8B-B14F-4D97-AF65-F5344CB8AC3E}">
        <p14:creationId xmlns:p14="http://schemas.microsoft.com/office/powerpoint/2010/main" val="8265033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D4A0D35-BBCE-4252-98FD-A5D40553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CE48F2-89F2-4B87-ABD1-CDFF5B43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that happens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27748D2-EB70-4DC6-BE43-85F15468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9660F609-F5F5-4D6B-8916-D1D7CCCA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64E64704-340A-473C-BAFB-0CE1D106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that happens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14FB8994-1A8B-4839-9350-FC93BB3C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745BCE14-87C3-4CCD-921F-F44249E1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Never report impurity importance as "which variables matter"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8F3CA365-DCD5-4079-8480-9F20DB08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A603507A-9047-4418-BA59-6376C163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Depth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E49C91D0-64D6-42C8-8229-D53E859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A59DEA38-BC4A-44DF-80F6-716C810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Report permutation importance, computed on held-out rows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6313B73C-3E84-4FDC-9486-F2748A13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A4523491-BE78-4AF0-BC8B-DE16B879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Bagging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0721A20C-8F0F-487D-88D2-40D95116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61D1F94A-B74C-4B3E-8383-067FFE65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And state which features are correlated, because permutation breaks there too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8F52E60C-949E-47EC-B907-E6A265A9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7EEA1C8-EDB4-472D-BB27-3C69C112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EAB7716-3E02-4FBB-8B1F-11117744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B59BB0-13DD-4A63-9611-895B681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41/50</a:t>
            </a:r>
          </a:p>
        </p:txBody>
      </p:sp>
    </p:spTree>
    <p:extLst>
      <p:ext uri="{BB962C8B-B14F-4D97-AF65-F5344CB8AC3E}">
        <p14:creationId xmlns:p14="http://schemas.microsoft.com/office/powerpoint/2010/main" val="174686745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51848485-799A-4DD3-9C3E-EA92A25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0942C7-84F6-4F96-AE8F-554F66A8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relationship itself: PDP and ICE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B532ED1-2B22-46E4-AB34-324700BF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9B6ADDB-229B-441F-9AED-74CCF39B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67BCCED3-0F3A-431E-BF3A-700E40F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plt.subplots(figsize=(6.4, 2.95)) PartialDependenceDisplay.fromestimator( rfm, Xte,…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BB739B53-D37A-4CC0-8FD3-C50E6F26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25817D78-9702-45A6-887E-5E872C79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plt.subplots(figsize=(6.4, 2.95)) PartialDependenceDisplay.fromestimator( rfm, Xte, ["fico"],…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8D318BB-9542-40FA-9DE0-A499515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BAC04FD-2179-4EE2-A97B-3862B31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Grow a controlled tree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1C58022C-6C30-449A-8BDA-928CCFA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Average or boost many trees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CF3627D-4529-4D92-A859-2EF83AA3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25D3E6-F3B3-4A9B-B6A6-CEF74B3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6C9B78A-0DBB-480B-B883-749C9D9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42/50</a:t>
            </a:r>
          </a:p>
        </p:txBody>
      </p:sp>
    </p:spTree>
    <p:extLst>
      <p:ext uri="{BB962C8B-B14F-4D97-AF65-F5344CB8AC3E}">
        <p14:creationId xmlns:p14="http://schemas.microsoft.com/office/powerpoint/2010/main" val="195636397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D54D0A75-05D9-4A7C-8DDA-5A75931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BC58F-54D6-43D5-BA6B-AACB526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sentence to remember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96B8721-9A64-41DC-B0B3-2E0FABA1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7" name="tree-edge-a-0"/>
          <p:cNvCxnSpPr/>
          <p:nvPr/>
        </p:nvCxnSpPr>
        <p:spPr>
          <a:xfrm xmlns:a="http://schemas.openxmlformats.org/drawingml/2006/main">
            <a:off x="110109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98" name="tree-edge-b-0"/>
          <p:cNvCxnSpPr/>
          <p:nvPr/>
        </p:nvCxnSpPr>
        <p:spPr>
          <a:xfrm xmlns:a="http://schemas.openxmlformats.org/drawingml/2006/main">
            <a:off x="169164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99" name="tree-edge-c-0"/>
          <p:cNvCxnSpPr/>
          <p:nvPr/>
        </p:nvCxnSpPr>
        <p:spPr>
          <a:xfrm xmlns:a="http://schemas.openxmlformats.org/drawingml/2006/main">
            <a:off x="77724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0" name="tree-edge-d-0"/>
          <p:cNvCxnSpPr/>
          <p:nvPr/>
        </p:nvCxnSpPr>
        <p:spPr>
          <a:xfrm xmlns:a="http://schemas.openxmlformats.org/drawingml/2006/main">
            <a:off x="110109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tree-root-0">
            <a:extLst xmlns:a="http://schemas.openxmlformats.org/drawingml/2006/main">
              <a:ext uri="{FF2B5EF4-FFF2-40B4-BE49-F238E27FC236}">
                <a16:creationId xmlns:a16="http://schemas.microsoft.com/office/drawing/2014/main" id="{3CC95B05-567B-4C62-8B4D-C58E5649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A05E9484-77B7-427F-80B2-B7764F32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883B32AC-49EE-48D0-92F2-213A6C8E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4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C98AEE21-4256-491C-8816-B35B701F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FC171450-F374-467F-AF84-03E2519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6" name="tree-edge-a-1"/>
          <p:cNvCxnSpPr/>
          <p:nvPr/>
        </p:nvCxnSpPr>
        <p:spPr>
          <a:xfrm xmlns:a="http://schemas.openxmlformats.org/drawingml/2006/main">
            <a:off x="329565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7" name="tree-edge-b-1"/>
          <p:cNvCxnSpPr/>
          <p:nvPr/>
        </p:nvCxnSpPr>
        <p:spPr>
          <a:xfrm xmlns:a="http://schemas.openxmlformats.org/drawingml/2006/main">
            <a:off x="388620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8" name="tree-edge-c-1"/>
          <p:cNvCxnSpPr/>
          <p:nvPr/>
        </p:nvCxnSpPr>
        <p:spPr>
          <a:xfrm xmlns:a="http://schemas.openxmlformats.org/drawingml/2006/main">
            <a:off x="297180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09" name="tree-edge-d-1"/>
          <p:cNvCxnSpPr/>
          <p:nvPr/>
        </p:nvCxnSpPr>
        <p:spPr>
          <a:xfrm xmlns:a="http://schemas.openxmlformats.org/drawingml/2006/main">
            <a:off x="329565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7" name="tree-root-1">
            <a:extLst xmlns:a="http://schemas.openxmlformats.org/drawingml/2006/main">
              <a:ext uri="{FF2B5EF4-FFF2-40B4-BE49-F238E27FC236}">
                <a16:creationId xmlns:a16="http://schemas.microsoft.com/office/drawing/2014/main" id="{8C9F6D8E-0374-40FC-8238-23A3842E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ee-mid-l-1">
            <a:extLst xmlns:a="http://schemas.openxmlformats.org/drawingml/2006/main">
              <a:ext uri="{FF2B5EF4-FFF2-40B4-BE49-F238E27FC236}">
                <a16:creationId xmlns:a16="http://schemas.microsoft.com/office/drawing/2014/main" id="{56EE7B22-A375-4A88-A55E-C4BC619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9" name="tree-mid-r-1">
            <a:extLst xmlns:a="http://schemas.openxmlformats.org/drawingml/2006/main">
              <a:ext uri="{FF2B5EF4-FFF2-40B4-BE49-F238E27FC236}">
                <a16:creationId xmlns:a16="http://schemas.microsoft.com/office/drawing/2014/main" id="{59870F00-6C40-44F3-B1B8-2B078864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0" name="tree-low-l-1">
            <a:extLst xmlns:a="http://schemas.openxmlformats.org/drawingml/2006/main">
              <a:ext uri="{FF2B5EF4-FFF2-40B4-BE49-F238E27FC236}">
                <a16:creationId xmlns:a16="http://schemas.microsoft.com/office/drawing/2014/main" id="{54DC97C0-8DE7-4CF2-9C1C-BDC3DBE5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ee-low-r-1">
            <a:extLst xmlns:a="http://schemas.openxmlformats.org/drawingml/2006/main">
              <a:ext uri="{FF2B5EF4-FFF2-40B4-BE49-F238E27FC236}">
                <a16:creationId xmlns:a16="http://schemas.microsoft.com/office/drawing/2014/main" id="{CC901711-A52A-466E-BDF0-F016C231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5" name="tree-edge-a-2"/>
          <p:cNvCxnSpPr/>
          <p:nvPr/>
        </p:nvCxnSpPr>
        <p:spPr>
          <a:xfrm xmlns:a="http://schemas.openxmlformats.org/drawingml/2006/main">
            <a:off x="549021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6" name="tree-edge-b-2"/>
          <p:cNvCxnSpPr/>
          <p:nvPr/>
        </p:nvCxnSpPr>
        <p:spPr>
          <a:xfrm xmlns:a="http://schemas.openxmlformats.org/drawingml/2006/main">
            <a:off x="6080760" y="25717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7" name="tree-edge-c-2"/>
          <p:cNvCxnSpPr/>
          <p:nvPr/>
        </p:nvCxnSpPr>
        <p:spPr>
          <a:xfrm xmlns:a="http://schemas.openxmlformats.org/drawingml/2006/main">
            <a:off x="516636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118" name="tree-edge-d-2"/>
          <p:cNvCxnSpPr/>
          <p:nvPr/>
        </p:nvCxnSpPr>
        <p:spPr>
          <a:xfrm xmlns:a="http://schemas.openxmlformats.org/drawingml/2006/main">
            <a:off x="5490210" y="34099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26" name="tree-root-2">
            <a:extLst xmlns:a="http://schemas.openxmlformats.org/drawingml/2006/main">
              <a:ext uri="{FF2B5EF4-FFF2-40B4-BE49-F238E27FC236}">
                <a16:creationId xmlns:a16="http://schemas.microsoft.com/office/drawing/2014/main" id="{934CA3AE-264E-4628-848D-B4DABDFF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710" y="21145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ree-mid-l-2">
            <a:extLst xmlns:a="http://schemas.openxmlformats.org/drawingml/2006/main">
              <a:ext uri="{FF2B5EF4-FFF2-40B4-BE49-F238E27FC236}">
                <a16:creationId xmlns:a16="http://schemas.microsoft.com/office/drawing/2014/main" id="{DCAEDDFB-8E36-44D9-8897-F680A74F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8" name="tree-mid-r-2">
            <a:extLst xmlns:a="http://schemas.openxmlformats.org/drawingml/2006/main">
              <a:ext uri="{FF2B5EF4-FFF2-40B4-BE49-F238E27FC236}">
                <a16:creationId xmlns:a16="http://schemas.microsoft.com/office/drawing/2014/main" id="{D1741DC1-8013-4157-BC0D-9B0B828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60" y="30289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29" name="tree-low-l-2">
            <a:extLst xmlns:a="http://schemas.openxmlformats.org/drawingml/2006/main">
              <a:ext uri="{FF2B5EF4-FFF2-40B4-BE49-F238E27FC236}">
                <a16:creationId xmlns:a16="http://schemas.microsoft.com/office/drawing/2014/main" id="{6F857FBA-7B40-43E1-9150-4C829E0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ree-low-r-2">
            <a:extLst xmlns:a="http://schemas.openxmlformats.org/drawingml/2006/main">
              <a:ext uri="{FF2B5EF4-FFF2-40B4-BE49-F238E27FC236}">
                <a16:creationId xmlns:a16="http://schemas.microsoft.com/office/drawing/2014/main" id="{5DC3985F-903D-4E6C-8444-70E54537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410" y="39814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rest-average">
            <a:extLst xmlns:a="http://schemas.openxmlformats.org/drawingml/2006/main">
              <a:ext uri="{FF2B5EF4-FFF2-40B4-BE49-F238E27FC236}">
                <a16:creationId xmlns:a16="http://schemas.microsoft.com/office/drawing/2014/main" id="{05F17AFE-827E-4DCE-A13F-EA6F612B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average the trees → stable prediction</a:t>
            </a:r>
          </a:p>
        </p:txBody>
      </p:sp>
      <p:sp>
        <p:nvSpPr>
          <p:cNvPr id="32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C6601753-47B8-4C4C-8E60-BB0EBA8E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33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94F8D392-1408-41A6-BC8B-8AF1919F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5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These tools describe the model, not the world.</a:t>
            </a:r>
          </a:p>
        </p:txBody>
      </p:sp>
      <p:sp>
        <p:nvSpPr>
          <p:cNvPr id="34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E591491B-6B12-4E1D-85D7-19D7DD2D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A7050424-85A0-4EB2-A44A-8F21D39D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large SHAP value means the model relies on that feature.</a:t>
            </a:r>
          </a:p>
        </p:txBody>
      </p:sp>
      <p:sp>
        <p:nvSpPr>
          <p:cNvPr id="36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FB850D06-D289-4DA1-B34D-0EC0105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3AF89398-75E1-4354-A896-F28F5B4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It does not mean the feature causes the outcome.</a:t>
            </a:r>
          </a:p>
        </p:txBody>
      </p:sp>
      <p:sp>
        <p:nvSpPr>
          <p:cNvPr id="38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4BA97CAA-91B4-4279-90F9-9C10222D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675E25D-D0D4-49BB-AE09-4397A42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145E0B-A6A2-41A8-ACC3-5C7A781A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F47BBB2-2B6D-4E48-A96A-ED52A19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43/50</a:t>
            </a:r>
          </a:p>
        </p:txBody>
      </p:sp>
      <p:sp>
        <p:nvSpPr>
          <p:cNvPr id="92" name="media-matte-ensemble_comparison.png">
            <a:extLst xmlns:a="http://schemas.openxmlformats.org/drawingml/2006/main">
              <a:ext uri="{FF2B5EF4-FFF2-40B4-BE49-F238E27FC236}">
                <a16:creationId xmlns:a16="http://schemas.microsoft.com/office/drawing/2014/main" id="{3AB32D51-9E2B-4E23-9F0D-088525EB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6e3aac7ec4fd9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48773555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1F55719-5110-48A6-B75A-4E71BEFF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25C3C8-D120-41BF-B7E6-A62232D3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Takeaways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B7D81EA-79AB-4485-9E6D-2B291028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F18182BE-AA4B-4F21-89F3-742316F0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530044D6-D425-4D32-90E9-0015599B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B9E0ECBB-68EA-4623-8E8F-992E67FD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DD7CA5C5-83EC-445F-95C0-F41F5152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07-trees-forests-boosting/demo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session07_ensembles_demo.py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A51B9E90-9DE0-4425-96CE-439759E5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98F66669-1338-4212-8998-52CABBA8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sklearn.ensemble import RandomForestRegressor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np.arange(40.).reshape(20,2); y = X[:,0]**.5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= RandomForestRegressor(n_estimators=100, random_state=60033).fit(X,y)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print(m.predict(X[:3]))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B80E2C95-2717-4527-BA32-E8547EA3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9A795B1-DB4C-4FCB-9744-63BF371C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1F127CE-A247-4631-886C-7DFD3A65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7EDBC8-7149-4BD7-963B-31D7ACC7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44/50</a:t>
            </a:r>
          </a:p>
        </p:txBody>
      </p:sp>
    </p:spTree>
    <p:extLst>
      <p:ext uri="{BB962C8B-B14F-4D97-AF65-F5344CB8AC3E}">
        <p14:creationId xmlns:p14="http://schemas.microsoft.com/office/powerpoint/2010/main" val="134066166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0345BE3D-EF15-4023-B0C5-78ADBEBC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DDFD1553-FC1A-4680-A778-94C2569C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loses marks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4C7A7783-361F-4F88-AD27-BE083178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FCCAE24E-34E2-4C8B-B1FD-ACBAD292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CD9EB25F-661B-439E-AD2A-8CA7AEB6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feature can look important because it offers many possible splits, not because it matters substantively.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0ECE59F9-E7CC-4C02-A217-017D1CA5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9A928E48-7606-4202-8044-77030F38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Correlated features are treated carefully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D7CFB4A-34ED-4B47-A6DF-E9934599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A5587DF-3807-4682-A7F5-0106F7C0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A1702C4-2BD1-489C-BCFE-209A533D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45/50</a:t>
            </a:r>
          </a:p>
        </p:txBody>
      </p:sp>
    </p:spTree>
    <p:extLst>
      <p:ext uri="{BB962C8B-B14F-4D97-AF65-F5344CB8AC3E}">
        <p14:creationId xmlns:p14="http://schemas.microsoft.com/office/powerpoint/2010/main" val="19656272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D472FD08-DD7D-49E7-A948-6756CC8E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612516-4CCD-493A-839F-3F0D9CDB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Now, the practice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97490D7-C042-413B-94F2-A46A3D0F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A87B790F-3FAB-4195-AE22-29B8742F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217606DA-070C-479B-B653-296EA86F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Ninety minutes, in your groups. You will fit a tree, a forest and a boosted ensemble on the same target, tune each honestly, and — the part that carries the marks — say what the importances do and do not license you to claim.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7A54994B-8B3B-4E9C-AAF9-F9E0813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D54EFDB8-7BA6-482C-A560-EC85B41F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A8FA4F1C-6B81-4B1B-92F4-A3DDD02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feature can look important because it offers many possible splits, not because it matters substantively.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FE48B8F4-636E-4BDE-AF63-783A66DB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Estimate + comparison + uncertainty + assumption +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AF988F6-8E86-4197-B522-5C8EB967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1A2C300-1165-49B8-B844-225FECDF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EE95065-9118-44E3-9B01-7406C5C9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46/50</a:t>
            </a:r>
          </a:p>
        </p:txBody>
      </p:sp>
    </p:spTree>
    <p:extLst>
      <p:ext uri="{BB962C8B-B14F-4D97-AF65-F5344CB8AC3E}">
        <p14:creationId xmlns:p14="http://schemas.microsoft.com/office/powerpoint/2010/main" val="138890603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17AD45F2-DBCA-405A-84C0-F6B79FEF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REQUIRED READING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AD8F09-F3B0-4A77-BF7B-A2DF59D3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article becomes the practice challenge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E3E56DB-87D7-4364-8650-31CBFA14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ing-status-0">
            <a:extLst xmlns:a="http://schemas.openxmlformats.org/drawingml/2006/main">
              <a:ext uri="{FF2B5EF4-FFF2-40B4-BE49-F238E27FC236}">
                <a16:creationId xmlns:a16="http://schemas.microsoft.com/office/drawing/2014/main" id="{586BFD80-1A80-4CE2-82EE-D13955CF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BEFORE CLASS</a:t>
            </a:r>
          </a:p>
        </p:txBody>
      </p:sp>
      <p:sp>
        <p:nvSpPr>
          <p:cNvPr id="5" name="reading-title-0">
            <a:extLst xmlns:a="http://schemas.openxmlformats.org/drawingml/2006/main">
              <a:ext uri="{FF2B5EF4-FFF2-40B4-BE49-F238E27FC236}">
                <a16:creationId xmlns:a16="http://schemas.microsoft.com/office/drawing/2014/main" id="{D7AEBDE8-B98D-4C4B-9A89-EC2B6686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Amsili, van Es &amp; Schindelbeck (2025) — Soil Protein with Random Forests</a:t>
            </a:r>
          </a:p>
        </p:txBody>
      </p:sp>
      <p:sp>
        <p:nvSpPr>
          <p:cNvPr id="6" name="reading-why-0">
            <a:extLst xmlns:a="http://schemas.openxmlformats.org/drawingml/2006/main">
              <a:ext uri="{FF2B5EF4-FFF2-40B4-BE49-F238E27FC236}">
                <a16:creationId xmlns:a16="http://schemas.microsoft.com/office/drawing/2014/main" id="{E16846C3-CFAB-4A6F-BD7C-E667F514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article: random forests compared with reduced and linear models</a:t>
            </a:r>
          </a:p>
        </p:txBody>
      </p:sp>
      <p:sp>
        <p:nvSpPr>
          <p:cNvPr id="7" name="reading-url-0">
            <a:extLst xmlns:a="http://schemas.openxmlformats.org/drawingml/2006/main">
              <a:ext uri="{FF2B5EF4-FFF2-40B4-BE49-F238E27FC236}">
                <a16:creationId xmlns:a16="http://schemas.microsoft.com/office/drawing/2014/main" id="{EF498007-D2BE-4164-B705-921A7469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https://doi.org/10.1080/00103624.2025.2454015</a:t>
            </a:r>
          </a:p>
        </p:txBody>
      </p:sp>
      <p:sp>
        <p:nvSpPr>
          <p:cNvPr id="8" name="rule-48-348">
            <a:extLst xmlns:a="http://schemas.openxmlformats.org/drawingml/2006/main">
              <a:ext uri="{FF2B5EF4-FFF2-40B4-BE49-F238E27FC236}">
                <a16:creationId xmlns:a16="http://schemas.microsoft.com/office/drawing/2014/main" id="{B9777DB6-F886-449E-8AFA-B7FE1B4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ding-status-1">
            <a:extLst xmlns:a="http://schemas.openxmlformats.org/drawingml/2006/main">
              <a:ext uri="{FF2B5EF4-FFF2-40B4-BE49-F238E27FC236}">
                <a16:creationId xmlns:a16="http://schemas.microsoft.com/office/drawing/2014/main" id="{E3CCCD4F-E674-4153-86A6-24024B9B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10" name="reading-title-1">
            <a:extLst xmlns:a="http://schemas.openxmlformats.org/drawingml/2006/main">
              <a:ext uri="{FF2B5EF4-FFF2-40B4-BE49-F238E27FC236}">
                <a16:creationId xmlns:a16="http://schemas.microsoft.com/office/drawing/2014/main" id="{3E2DD158-2778-446A-8DA3-31A975D7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Harvard Dataverse 10.7910/DVN/HGBPCW</a:t>
            </a:r>
          </a:p>
        </p:txBody>
      </p:sp>
      <p:sp>
        <p:nvSpPr>
          <p:cNvPr id="11" name="reading-why-1">
            <a:extLst xmlns:a="http://schemas.openxmlformats.org/drawingml/2006/main">
              <a:ext uri="{FF2B5EF4-FFF2-40B4-BE49-F238E27FC236}">
                <a16:creationId xmlns:a16="http://schemas.microsoft.com/office/drawing/2014/main" id="{B392A907-3142-44B7-86F9-F8A5F90A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replication package: open training workbook, article PDF, and model files</a:t>
            </a:r>
          </a:p>
        </p:txBody>
      </p:sp>
      <p:sp>
        <p:nvSpPr>
          <p:cNvPr id="12" name="reading-url-1">
            <a:extLst xmlns:a="http://schemas.openxmlformats.org/drawingml/2006/main">
              <a:ext uri="{FF2B5EF4-FFF2-40B4-BE49-F238E27FC236}">
                <a16:creationId xmlns:a16="http://schemas.microsoft.com/office/drawing/2014/main" id="{0B93F69C-40DE-4981-9186-389BE225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https://doi.org/10.7910/DVN/HGBPCW</a:t>
            </a:r>
          </a:p>
        </p:txBody>
      </p:sp>
      <p:sp>
        <p:nvSpPr>
          <p:cNvPr id="13" name="rule-48-526">
            <a:extLst xmlns:a="http://schemas.openxmlformats.org/drawingml/2006/main">
              <a:ext uri="{FF2B5EF4-FFF2-40B4-BE49-F238E27FC236}">
                <a16:creationId xmlns:a16="http://schemas.microsoft.com/office/drawing/2014/main" id="{FBA6F2C4-130F-49EF-A31E-53341DCC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ding-status-2">
            <a:extLst xmlns:a="http://schemas.openxmlformats.org/drawingml/2006/main">
              <a:ext uri="{FF2B5EF4-FFF2-40B4-BE49-F238E27FC236}">
                <a16:creationId xmlns:a16="http://schemas.microsoft.com/office/drawing/2014/main" id="{12A20036-5E60-4D7C-9EED-C9DD8C72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5" name="reading-title-2">
            <a:extLst xmlns:a="http://schemas.openxmlformats.org/drawingml/2006/main">
              <a:ext uri="{FF2B5EF4-FFF2-40B4-BE49-F238E27FC236}">
                <a16:creationId xmlns:a16="http://schemas.microsoft.com/office/drawing/2014/main" id="{E708CA38-4E9A-4F14-9B87-B84033E7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ISLR, tree-based methods chapter</a:t>
            </a:r>
          </a:p>
        </p:txBody>
      </p:sp>
      <p:sp>
        <p:nvSpPr>
          <p:cNvPr id="16" name="reading-why-2">
            <a:extLst xmlns:a="http://schemas.openxmlformats.org/drawingml/2006/main">
              <a:ext uri="{FF2B5EF4-FFF2-40B4-BE49-F238E27FC236}">
                <a16:creationId xmlns:a16="http://schemas.microsoft.com/office/drawing/2014/main" id="{14E09ED9-3308-4D61-8DF2-124D619B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explanation of trees, forests, and boosting</a:t>
            </a:r>
          </a:p>
        </p:txBody>
      </p:sp>
      <p:sp>
        <p:nvSpPr>
          <p:cNvPr id="17" name="reading-url-2">
            <a:extLst xmlns:a="http://schemas.openxmlformats.org/drawingml/2006/main">
              <a:ext uri="{FF2B5EF4-FFF2-40B4-BE49-F238E27FC236}">
                <a16:creationId xmlns:a16="http://schemas.microsoft.com/office/drawing/2014/main" id="{68DE75D5-85CE-4F67-97EF-B050C26A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EE34166-2B50-4B46-B590-132E3437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233ED17-43E7-49BC-B6C2-6FBF8A7E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CD9917D-7570-4F74-9059-7E4085B5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47/50</a:t>
            </a:r>
          </a:p>
        </p:txBody>
      </p:sp>
    </p:spTree>
    <p:extLst>
      <p:ext uri="{BB962C8B-B14F-4D97-AF65-F5344CB8AC3E}">
        <p14:creationId xmlns:p14="http://schemas.microsoft.com/office/powerpoint/2010/main" val="18087732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D472FD08-DD7D-49E7-A948-6756CC8E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612516-4CCD-493A-839F-3F0D9CDB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output into a defensible sentence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97490D7-C042-413B-94F2-A46A3D0F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A87B790F-3FAB-4195-AE22-29B8742F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217606DA-070C-479B-B653-296EA86F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Describe the held-out gain first; show an explanation only with its stability or sensitivity check.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7A54994B-8B3B-4E9C-AAF9-F9E0813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D54EFDB8-7BA6-482C-A560-EC85B41F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A8FA4F1C-6B81-4B1B-92F4-A3DDD02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feature can look important because it offers many possible splits, not because it matters substantively.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FE48B8F4-636E-4BDE-AF63-783A66DB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Name the unit, estimate, benchmark, uncertainty, assumption, and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AF988F6-8E86-4197-B522-5C8EB967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1A2C300-1165-49B8-B844-225FECDF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EE95065-9118-44E3-9B01-7406C5C9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48/50</a:t>
            </a:r>
          </a:p>
        </p:txBody>
      </p:sp>
    </p:spTree>
    <p:extLst>
      <p:ext uri="{BB962C8B-B14F-4D97-AF65-F5344CB8AC3E}">
        <p14:creationId xmlns:p14="http://schemas.microsoft.com/office/powerpoint/2010/main" val="138890603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91ED846F-3DB0-4B47-B14F-9C19D997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LIMITATIONS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D14955-018A-42B2-886B-3E814B7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method does not give you for free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02FB1F5-36E9-496A-A20A-DDD2B916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CCB39837-6724-4316-9216-B5BEC066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feature can look important because it offers many possible splits, not because it matters substantively.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D2A59AC1-7B49-4827-AB6C-58DD5543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FC0709CF-912F-4744-B296-91B5130C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Hyperparameters are tuned out of sample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C1475B3B-9AE9-4565-B62A-0D8945F4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F7462D43-2478-49B1-999E-50E37D63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1066B385-A5D5-4C45-9C96-43A4CE9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Importance is not read as causality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2D668A89-1FB8-439E-92CF-40360245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5C6233F2-66A5-47C2-B6E4-788F6917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030E93C1-821D-4230-9C1E-1CF7A5EE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Correlated features are treated carefully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4D8E8C36-7B00-468E-A939-79A7A0EB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835CE3A5-85E0-4A58-BF53-8B75B8F3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ECFD9F4A-E48E-42EF-B3C0-B053D332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Explanations are checked for stability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AE35BF9A-E2C9-46D1-A2C5-CDE00CE1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limitation is not a disclaimer at the end. It determines the design, diagnostic, and wording of the result.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D06F15E-F6AA-448B-AEF4-4475D85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E770990-96A2-4D59-B39A-5558A2B0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EEF5488-23E0-46BF-9ABF-520BA45A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49/50</a:t>
            </a:r>
          </a:p>
        </p:txBody>
      </p:sp>
    </p:spTree>
    <p:extLst>
      <p:ext uri="{BB962C8B-B14F-4D97-AF65-F5344CB8AC3E}">
        <p14:creationId xmlns:p14="http://schemas.microsoft.com/office/powerpoint/2010/main" val="8265033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323BD265-4CAE-48E0-9CDB-D5B08AFA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NEXT 90 MINUTES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8F49AC-B53F-4461-80D9-6AB0842A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the soil-protein random forest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1A7B3C2-230C-4D79-9A1A-059CBE12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7B6B2309-C632-4862-90C8-786DC5D7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the article comparison, add boosting, and audit whether the explanation is stable.</a:t>
            </a:r>
          </a:p>
        </p:txBody>
      </p:sp>
      <p:sp>
        <p:nvSpPr>
          <p:cNvPr id="5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A0D3E8DD-0EE7-46BE-8C66-6CC9B6AE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practice-task-0">
            <a:extLst xmlns:a="http://schemas.openxmlformats.org/drawingml/2006/main">
              <a:ext uri="{FF2B5EF4-FFF2-40B4-BE49-F238E27FC236}">
                <a16:creationId xmlns:a16="http://schemas.microsoft.com/office/drawing/2014/main" id="{4DD2A577-3D6E-4DCF-8D34-00C5D73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article target and validation sample</a:t>
            </a:r>
          </a:p>
        </p:txBody>
      </p:sp>
      <p:sp>
        <p:nvSpPr>
          <p:cNvPr id="7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CA34AF0B-F9B8-4BCA-8D96-00750146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practice-task-1">
            <a:extLst xmlns:a="http://schemas.openxmlformats.org/drawingml/2006/main">
              <a:ext uri="{FF2B5EF4-FFF2-40B4-BE49-F238E27FC236}">
                <a16:creationId xmlns:a16="http://schemas.microsoft.com/office/drawing/2014/main" id="{94E85D0B-AB5F-4919-87CB-0CD2F28F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the linear and forest comparison</a:t>
            </a:r>
          </a:p>
        </p:txBody>
      </p:sp>
      <p:sp>
        <p:nvSpPr>
          <p:cNvPr id="9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8CC7B8BE-B0F7-4F2F-B6B9-0FDABA61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practice-task-2">
            <a:extLst xmlns:a="http://schemas.openxmlformats.org/drawingml/2006/main">
              <a:ext uri="{FF2B5EF4-FFF2-40B4-BE49-F238E27FC236}">
                <a16:creationId xmlns:a16="http://schemas.microsoft.com/office/drawing/2014/main" id="{EC4EC968-0C85-4D7B-BCE2-FEDA2BF5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Tune a boosting model under the same split</a:t>
            </a:r>
          </a:p>
        </p:txBody>
      </p:sp>
      <p:sp>
        <p:nvSpPr>
          <p:cNvPr id="11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2B3EFC50-4A3F-4BA4-8EF9-16B8300A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practice-task-3">
            <a:extLst xmlns:a="http://schemas.openxmlformats.org/drawingml/2006/main">
              <a:ext uri="{FF2B5EF4-FFF2-40B4-BE49-F238E27FC236}">
                <a16:creationId xmlns:a16="http://schemas.microsoft.com/office/drawing/2014/main" id="{F9642030-AEBF-4808-8F7F-BD1A36AA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all models on one metric</a:t>
            </a:r>
          </a:p>
        </p:txBody>
      </p:sp>
      <p:sp>
        <p:nvSpPr>
          <p:cNvPr id="13" name="practice-step-4">
            <a:extLst xmlns:a="http://schemas.openxmlformats.org/drawingml/2006/main">
              <a:ext uri="{FF2B5EF4-FFF2-40B4-BE49-F238E27FC236}">
                <a16:creationId xmlns:a16="http://schemas.microsoft.com/office/drawing/2014/main" id="{A2E953AC-0460-43E0-B2DA-84EC9AFB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practice-task-4">
            <a:extLst xmlns:a="http://schemas.openxmlformats.org/drawingml/2006/main">
              <a:ext uri="{FF2B5EF4-FFF2-40B4-BE49-F238E27FC236}">
                <a16:creationId xmlns:a16="http://schemas.microsoft.com/office/drawing/2014/main" id="{FE5B7D38-950B-4726-9FED-08477482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Audit one importance explanation</a:t>
            </a:r>
          </a:p>
        </p:txBody>
      </p:sp>
      <p:sp>
        <p:nvSpPr>
          <p:cNvPr id="15" name="practice-callout-bg">
            <a:extLst xmlns:a="http://schemas.openxmlformats.org/drawingml/2006/main">
              <a:ext uri="{FF2B5EF4-FFF2-40B4-BE49-F238E27FC236}">
                <a16:creationId xmlns:a16="http://schemas.microsoft.com/office/drawing/2014/main" id="{3DF5013B-88AA-450E-9460-5C8A2494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505200" cy="3714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practice-callout-label">
            <a:extLst xmlns:a="http://schemas.openxmlformats.org/drawingml/2006/main">
              <a:ext uri="{FF2B5EF4-FFF2-40B4-BE49-F238E27FC236}">
                <a16:creationId xmlns:a16="http://schemas.microsoft.com/office/drawing/2014/main" id="{E4C4B4C9-A188-4ED8-996D-A0DABDB2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AIM FOR</a:t>
            </a:r>
          </a:p>
        </p:txBody>
      </p:sp>
      <p:sp>
        <p:nvSpPr>
          <p:cNvPr id="17" name="practice-callout">
            <a:extLst xmlns:a="http://schemas.openxmlformats.org/drawingml/2006/main">
              <a:ext uri="{FF2B5EF4-FFF2-40B4-BE49-F238E27FC236}">
                <a16:creationId xmlns:a16="http://schemas.microsoft.com/office/drawing/2014/main" id="{4D34DEE3-C143-4374-A312-25819625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reproducible result.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comparison.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stressed assumption.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short group presentation.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5CDFAFE-01C4-4A8D-AD4C-8CA83E5C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6D4F0EA-F23B-4B02-840B-E3CFFA9F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DDA935A-E0FE-4F61-BBC7-068BF0CB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50/50</a:t>
            </a:r>
          </a:p>
        </p:txBody>
      </p:sp>
    </p:spTree>
    <p:extLst>
      <p:ext uri="{BB962C8B-B14F-4D97-AF65-F5344CB8AC3E}">
        <p14:creationId xmlns:p14="http://schemas.microsoft.com/office/powerpoint/2010/main" val="717844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MATH60033A Session 07 Lecture</dc:title>
  <dcterms:created xsi:type="dcterms:W3CDTF">2026-08-23T23:38:24.6020000Z</dcterms:created>
  <dcterms:modified xsi:type="dcterms:W3CDTF">2026-08-23T23:38:24.6020000Z</dcterms:modified>
</coreProperties>
</file>