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9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3" Type="http://schemas.openxmlformats.org/officeDocument/2006/relationships/viewProps" Target="viewProps.xml" /><Relationship Id="rId3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5" Type="http://schemas.openxmlformats.org/officeDocument/2006/relationships/tableStyles" Target="tableStyles.xml" /><Relationship Id="rId3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185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95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8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7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1300"/>
            </a:lvl1pPr>
            <a:lvl2pPr>
              <a:defRPr sz="1100"/>
            </a:lvl2pPr>
            <a:lvl3pPr>
              <a:defRPr sz="950"/>
            </a:lvl3pPr>
            <a:lvl4pPr>
              <a:defRPr sz="850"/>
            </a:lvl4pPr>
            <a:lvl5pPr>
              <a:defRPr sz="850"/>
            </a:lvl5pPr>
            <a:lvl6pPr>
              <a:defRPr sz="850"/>
            </a:lvl6pPr>
            <a:lvl7pPr>
              <a:defRPr sz="850"/>
            </a:lvl7pPr>
            <a:lvl8pPr>
              <a:defRPr sz="850"/>
            </a:lvl8pPr>
            <a:lvl9pPr>
              <a:defRPr sz="8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1300"/>
            </a:lvl1pPr>
            <a:lvl2pPr>
              <a:defRPr sz="1100"/>
            </a:lvl2pPr>
            <a:lvl3pPr>
              <a:defRPr sz="950"/>
            </a:lvl3pPr>
            <a:lvl4pPr>
              <a:defRPr sz="850"/>
            </a:lvl4pPr>
            <a:lvl5pPr>
              <a:defRPr sz="850"/>
            </a:lvl5pPr>
            <a:lvl6pPr>
              <a:defRPr sz="850"/>
            </a:lvl6pPr>
            <a:lvl7pPr>
              <a:defRPr sz="850"/>
            </a:lvl7pPr>
            <a:lvl8pPr>
              <a:defRPr sz="850"/>
            </a:lvl8pPr>
            <a:lvl9pPr>
              <a:defRPr sz="8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100" b="1"/>
            </a:lvl1pPr>
            <a:lvl2pPr marL="342900" indent="0">
              <a:buNone/>
              <a:defRPr sz="950" b="1"/>
            </a:lvl2pPr>
            <a:lvl3pPr marL="685800" indent="0">
              <a:buNone/>
              <a:defRPr sz="850" b="1"/>
            </a:lvl3pPr>
            <a:lvl4pPr marL="1028700" indent="0">
              <a:buNone/>
              <a:defRPr sz="750" b="1"/>
            </a:lvl4pPr>
            <a:lvl5pPr marL="1371600" indent="0">
              <a:buNone/>
              <a:defRPr sz="750" b="1"/>
            </a:lvl5pPr>
            <a:lvl6pPr marL="1714500" indent="0">
              <a:buNone/>
              <a:defRPr sz="750" b="1"/>
            </a:lvl6pPr>
            <a:lvl7pPr marL="2057400" indent="0">
              <a:buNone/>
              <a:defRPr sz="750" b="1"/>
            </a:lvl7pPr>
            <a:lvl8pPr marL="2400300" indent="0">
              <a:buNone/>
              <a:defRPr sz="750" b="1"/>
            </a:lvl8pPr>
            <a:lvl9pPr marL="2743200" indent="0">
              <a:buNone/>
              <a:defRPr sz="75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100"/>
            </a:lvl1pPr>
            <a:lvl2pPr>
              <a:defRPr sz="950"/>
            </a:lvl2pPr>
            <a:lvl3pPr>
              <a:defRPr sz="850"/>
            </a:lvl3pPr>
            <a:lvl4pPr>
              <a:defRPr sz="750"/>
            </a:lvl4pPr>
            <a:lvl5pPr>
              <a:defRPr sz="750"/>
            </a:lvl5pPr>
            <a:lvl6pPr>
              <a:defRPr sz="750"/>
            </a:lvl6pPr>
            <a:lvl7pPr>
              <a:defRPr sz="750"/>
            </a:lvl7pPr>
            <a:lvl8pPr>
              <a:defRPr sz="750"/>
            </a:lvl8pPr>
            <a:lvl9pPr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100" b="1"/>
            </a:lvl1pPr>
            <a:lvl2pPr marL="342900" indent="0">
              <a:buNone/>
              <a:defRPr sz="950" b="1"/>
            </a:lvl2pPr>
            <a:lvl3pPr marL="685800" indent="0">
              <a:buNone/>
              <a:defRPr sz="850" b="1"/>
            </a:lvl3pPr>
            <a:lvl4pPr marL="1028700" indent="0">
              <a:buNone/>
              <a:defRPr sz="750" b="1"/>
            </a:lvl4pPr>
            <a:lvl5pPr marL="1371600" indent="0">
              <a:buNone/>
              <a:defRPr sz="750" b="1"/>
            </a:lvl5pPr>
            <a:lvl6pPr marL="1714500" indent="0">
              <a:buNone/>
              <a:defRPr sz="750" b="1"/>
            </a:lvl6pPr>
            <a:lvl7pPr marL="2057400" indent="0">
              <a:buNone/>
              <a:defRPr sz="750" b="1"/>
            </a:lvl7pPr>
            <a:lvl8pPr marL="2400300" indent="0">
              <a:buNone/>
              <a:defRPr sz="750" b="1"/>
            </a:lvl8pPr>
            <a:lvl9pPr marL="2743200" indent="0">
              <a:buNone/>
              <a:defRPr sz="75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100"/>
            </a:lvl1pPr>
            <a:lvl2pPr>
              <a:defRPr sz="950"/>
            </a:lvl2pPr>
            <a:lvl3pPr>
              <a:defRPr sz="850"/>
            </a:lvl3pPr>
            <a:lvl4pPr>
              <a:defRPr sz="750"/>
            </a:lvl4pPr>
            <a:lvl5pPr>
              <a:defRPr sz="750"/>
            </a:lvl5pPr>
            <a:lvl6pPr>
              <a:defRPr sz="750"/>
            </a:lvl6pPr>
            <a:lvl7pPr>
              <a:defRPr sz="750"/>
            </a:lvl7pPr>
            <a:lvl8pPr>
              <a:defRPr sz="750"/>
            </a:lvl8pPr>
            <a:lvl9pPr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95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1500"/>
            </a:lvl1pPr>
            <a:lvl2pPr>
              <a:defRPr sz="1300"/>
            </a:lvl2pPr>
            <a:lvl3pPr>
              <a:defRPr sz="1100"/>
            </a:lvl3pPr>
            <a:lvl4pPr>
              <a:defRPr sz="950"/>
            </a:lvl4pPr>
            <a:lvl5pPr>
              <a:defRPr sz="950"/>
            </a:lvl5pPr>
            <a:lvl6pPr>
              <a:defRPr sz="950"/>
            </a:lvl6pPr>
            <a:lvl7pPr>
              <a:defRPr sz="950"/>
            </a:lvl7pPr>
            <a:lvl8pPr>
              <a:defRPr sz="950"/>
            </a:lvl8pPr>
            <a:lvl9pPr>
              <a:defRPr sz="9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650"/>
            </a:lvl1pPr>
            <a:lvl2pPr marL="342900" indent="0">
              <a:buNone/>
              <a:defRPr sz="550"/>
            </a:lvl2pPr>
            <a:lvl3pPr marL="685800" indent="0">
              <a:buNone/>
              <a:defRPr sz="550"/>
            </a:lvl3pPr>
            <a:lvl4pPr marL="1028700" indent="0">
              <a:buNone/>
              <a:defRPr sz="550"/>
            </a:lvl4pPr>
            <a:lvl5pPr marL="1371600" indent="0">
              <a:buNone/>
              <a:defRPr sz="550"/>
            </a:lvl5pPr>
            <a:lvl6pPr marL="1714500" indent="0">
              <a:buNone/>
              <a:defRPr sz="550"/>
            </a:lvl6pPr>
            <a:lvl7pPr marL="2057400" indent="0">
              <a:buNone/>
              <a:defRPr sz="550"/>
            </a:lvl7pPr>
            <a:lvl8pPr marL="2400300" indent="0">
              <a:buNone/>
              <a:defRPr sz="550"/>
            </a:lvl8pPr>
            <a:lvl9pPr marL="2743200" indent="0">
              <a:buNone/>
              <a:defRPr sz="5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95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1500"/>
            </a:lvl1pPr>
            <a:lvl2pPr marL="342900" indent="0">
              <a:buNone/>
              <a:defRPr sz="1300"/>
            </a:lvl2pPr>
            <a:lvl3pPr marL="685800" indent="0">
              <a:buNone/>
              <a:defRPr sz="1100"/>
            </a:lvl3pPr>
            <a:lvl4pPr marL="1028700" indent="0">
              <a:buNone/>
              <a:defRPr sz="950"/>
            </a:lvl4pPr>
            <a:lvl5pPr marL="1371600" indent="0">
              <a:buNone/>
              <a:defRPr sz="950"/>
            </a:lvl5pPr>
            <a:lvl6pPr marL="1714500" indent="0">
              <a:buNone/>
              <a:defRPr sz="950"/>
            </a:lvl6pPr>
            <a:lvl7pPr marL="2057400" indent="0">
              <a:buNone/>
              <a:defRPr sz="950"/>
            </a:lvl7pPr>
            <a:lvl8pPr marL="2400300" indent="0">
              <a:buNone/>
              <a:defRPr sz="950"/>
            </a:lvl8pPr>
            <a:lvl9pPr marL="2743200" indent="0">
              <a:buNone/>
              <a:defRPr sz="95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650"/>
            </a:lvl1pPr>
            <a:lvl2pPr marL="342900" indent="0">
              <a:buNone/>
              <a:defRPr sz="550"/>
            </a:lvl2pPr>
            <a:lvl3pPr marL="685800" indent="0">
              <a:buNone/>
              <a:defRPr sz="550"/>
            </a:lvl3pPr>
            <a:lvl4pPr marL="1028700" indent="0">
              <a:buNone/>
              <a:defRPr sz="550"/>
            </a:lvl4pPr>
            <a:lvl5pPr marL="1371600" indent="0">
              <a:buNone/>
              <a:defRPr sz="550"/>
            </a:lvl5pPr>
            <a:lvl6pPr marL="1714500" indent="0">
              <a:buNone/>
              <a:defRPr sz="550"/>
            </a:lvl6pPr>
            <a:lvl7pPr marL="2057400" indent="0">
              <a:buNone/>
              <a:defRPr sz="550"/>
            </a:lvl7pPr>
            <a:lvl8pPr marL="2400300" indent="0">
              <a:buNone/>
              <a:defRPr sz="550"/>
            </a:lvl8pPr>
            <a:lvl9pPr marL="2743200" indent="0">
              <a:buNone/>
              <a:defRPr sz="5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5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5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5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5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3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1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9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9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Trees, Forests, and Boosting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07 · Flexible prediction, and the importance measures that mislead you</a:t>
            </a:r>
            <a:br/>
            <a:br/>
            <a:r>
              <a:rPr/>
              <a:t>Thierry Warin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18 August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are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90 minutes ahead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0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0–10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a tree actually does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10–25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Why a single tree is unusable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25–45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Bagging and random forests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45–65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Boosting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65–85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Interpretation: importance, PDP, SHAP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85–90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Handoff to the lab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Before class you read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Athey &amp; Imbens</a:t>
            </a:r>
            <a:r>
              <a:rPr/>
              <a:t>, </a:t>
            </a:r>
            <a:r>
              <a:rPr i="1"/>
              <a:t>Machine Learning Methods That Economists Should Know About</a:t>
            </a:r>
            <a:r>
              <a:rPr/>
              <a:t>, </a:t>
            </a:r>
            <a:r>
              <a:rPr b="1"/>
              <a:t>Annual Review of Economics</a:t>
            </a:r>
            <a:r>
              <a:rPr/>
              <a:t>, 2019.</a:t>
            </a:r>
          </a:p>
          <a:p>
            <a:pPr lvl="0" indent="0" marL="0">
              <a:buNone/>
            </a:pPr>
            <a:r>
              <a:rPr/>
              <a:t>DOI: 10.1146/annurev-economics-080217-053433</a:t>
            </a:r>
          </a:p>
          <a:p>
            <a:pPr lvl="0" indent="0" marL="0">
              <a:buNone/>
            </a:pPr>
            <a:r>
              <a:rPr/>
              <a:t>The sentence to carry into today:</a:t>
            </a:r>
          </a:p>
          <a:p>
            <a:pPr lvl="0" indent="0" marL="1270000">
              <a:buNone/>
            </a:pPr>
            <a:r>
              <a:rPr sz="2000"/>
              <a:t>These methods are built to </a:t>
            </a:r>
            <a:r>
              <a:rPr sz="2000" b="1"/>
              <a:t>predict</a:t>
            </a:r>
            <a:r>
              <a:rPr sz="2000"/>
              <a:t>, and they are very good at it. They are not built to give you a coefficient with a standard error, and using them as if they were is the most common misuse in applied work.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Today’s question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i="1"/>
              <a:t>What predicts a European country’s productivity growth, and does the answer depend on where the country already is?</a:t>
            </a:r>
          </a:p>
          <a:p>
            <a:pPr lvl="0" indent="0" marL="0">
              <a:buNone/>
            </a:pPr>
            <a:r>
              <a:rPr/>
              <a:t>The second clause is the one linear models handle badly and trees handle naturally.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One tree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Recursive binary splitting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At each node, choose the predictor </a:t>
                </a:r>
                <a14:m>
                  <m:oMath xmlns:m="http://schemas.openxmlformats.org/officeDocument/2006/math">
                    <m:r>
                      <m:t>j</m:t>
                    </m:r>
                  </m:oMath>
                </a14:m>
                <a:r>
                  <a:rPr/>
                  <a:t> and cut point </a:t>
                </a:r>
                <a14:m>
                  <m:oMath xmlns:m="http://schemas.openxmlformats.org/officeDocument/2006/math">
                    <m:r>
                      <m:t>s</m:t>
                    </m:r>
                  </m:oMath>
                </a14:m>
                <a:r>
                  <a:rPr/>
                  <a:t> minimising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nary>
                        <m:naryPr>
                          <m:chr m:val="∑"/>
                          <m:limLoc m:val="undOvr"/>
                          <m:subHide m:val="off"/>
                          <m:supHide m:val="on"/>
                        </m:naryPr>
                        <m:sub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:</m:t>
                          </m:r>
                          <m:r>
                            <m:t> </m:t>
                          </m:r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i</m:t>
                              </m:r>
                              <m:r>
                                <m:t>j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≤</m:t>
                          </m:r>
                          <m:r>
                            <m:t>s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sSup>
                            <m:e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sSub>
                                    <m:e>
                                      <m:r>
                                        <m:t>y</m:t>
                                      </m:r>
                                    </m:e>
                                    <m:sub>
                                      <m:r>
                                        <m:t>i</m:t>
                                      </m:r>
                                    </m:sub>
                                  </m:sSub>
                                  <m:r>
                                    <m:rPr>
                                      <m:sty m:val="p"/>
                                    </m:rPr>
                                    <m:t>−</m:t>
                                  </m:r>
                                  <m:sSub>
                                    <m:e>
                                      <m:acc>
                                        <m:accPr>
                                          <m:chr m:val="‾"/>
                                        </m:accPr>
                                        <m:e>
                                          <m:r>
                                            <m:t>y</m:t>
                                          </m:r>
                                        </m:e>
                                      </m:acc>
                                    </m:e>
                                    <m:sub>
                                      <m:r>
                                        <m:t>L</m:t>
                                      </m:r>
                                    </m:sub>
                                  </m:sSub>
                                </m:e>
                              </m:d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e>
                      </m:nary>
                      <m:r>
                        <m:t> </m:t>
                      </m:r>
                      <m:r>
                        <m:rPr>
                          <m:sty m:val="p"/>
                        </m:rPr>
                        <m:t>+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n"/>
                        </m:naryPr>
                        <m:sub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:</m:t>
                          </m:r>
                          <m:r>
                            <m:t> </m:t>
                          </m:r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i</m:t>
                              </m:r>
                              <m:r>
                                <m:t>j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&gt;</m:t>
                          </m:r>
                          <m:r>
                            <m:t>s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sSup>
                            <m:e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sSub>
                                    <m:e>
                                      <m:r>
                                        <m:t>y</m:t>
                                      </m:r>
                                    </m:e>
                                    <m:sub>
                                      <m:r>
                                        <m:t>i</m:t>
                                      </m:r>
                                    </m:sub>
                                  </m:sSub>
                                  <m:r>
                                    <m:rPr>
                                      <m:sty m:val="p"/>
                                    </m:rPr>
                                    <m:t>−</m:t>
                                  </m:r>
                                  <m:sSub>
                                    <m:e>
                                      <m:acc>
                                        <m:accPr>
                                          <m:chr m:val="‾"/>
                                        </m:accPr>
                                        <m:e>
                                          <m:r>
                                            <m:t>y</m:t>
                                          </m:r>
                                        </m:e>
                                      </m:acc>
                                    </m:e>
                                    <m:sub>
                                      <m:r>
                                        <m:t>R</m:t>
                                      </m:r>
                                    </m:sub>
                                  </m:sSub>
                                </m:e>
                              </m:d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e>
                      </m:nary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then repeat inside each half.</a:t>
                </a:r>
              </a:p>
              <a:p>
                <a:pPr lvl="0" indent="0" marL="0">
                  <a:buNone/>
                </a:pPr>
                <a:r>
                  <a:rPr/>
                  <a:t>The prediction for a region is simply the </a:t>
                </a:r>
                <a:r>
                  <a:rPr b="1"/>
                  <a:t>mean of the training outcomes in it</a:t>
                </a:r>
                <a:r>
                  <a:rPr/>
                  <a:t>. A tree is a step function.</a:t>
                </a:r>
              </a:p>
            </p:txBody>
          </p:sp>
        </mc:Choice>
      </mc:AlternateContent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trees give you free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Nonlinearity</a:t>
            </a:r>
            <a:r>
              <a:rPr/>
              <a:t> — no functional form to specify</a:t>
            </a:r>
          </a:p>
          <a:p>
            <a:pPr lvl="0"/>
            <a:r>
              <a:rPr b="1"/>
              <a:t>Interactions</a:t>
            </a:r>
            <a:r>
              <a:rPr/>
              <a:t> — a split below a split </a:t>
            </a:r>
            <a:r>
              <a:rPr i="1"/>
              <a:t>is</a:t>
            </a:r>
            <a:r>
              <a:rPr/>
              <a:t> an interaction</a:t>
            </a:r>
          </a:p>
          <a:p>
            <a:pPr lvl="0"/>
            <a:r>
              <a:rPr b="1"/>
              <a:t>Scale invariance</a:t>
            </a:r>
            <a:r>
              <a:rPr/>
              <a:t> — no standardising; only the order matters</a:t>
            </a:r>
          </a:p>
          <a:p>
            <a:pPr lvl="0"/>
            <a:r>
              <a:rPr b="1"/>
              <a:t>Mixed types</a:t>
            </a:r>
            <a:r>
              <a:rPr/>
              <a:t> — categorical and numeric together</a:t>
            </a:r>
          </a:p>
          <a:p>
            <a:pPr lvl="0"/>
            <a:r>
              <a:rPr b="1"/>
              <a:t>Missingness</a:t>
            </a:r>
            <a:r>
              <a:rPr/>
              <a:t> — handled by surrogate splits or a branch of their own</a:t>
            </a:r>
          </a:p>
          <a:p>
            <a:pPr lvl="0" indent="0" marL="0">
              <a:buNone/>
            </a:pPr>
            <a:r>
              <a:rPr/>
              <a:t>This is why trees are the default on tabular data, and why they are worth the interpretive difficulty that follows.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one tree costs you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Variance.</a:t>
            </a:r>
            <a:r>
              <a:rPr/>
              <a:t> Change a handful of rows and the first split can change, which changes every split beneath it. The tree you show in your appendix is one draw from a wide distribution of trees.</a:t>
            </a:r>
          </a:p>
          <a:p>
            <a:pPr lvl="0"/>
            <a:r>
              <a:rPr/>
              <a:t>Step functions cannot extrapolate — ever</a:t>
            </a:r>
          </a:p>
          <a:p>
            <a:pPr lvl="0"/>
            <a:r>
              <a:rPr/>
              <a:t>Deep trees memorise; shallow trees underfit</a:t>
            </a:r>
          </a:p>
          <a:p>
            <a:pPr lvl="0"/>
            <a:r>
              <a:rPr/>
              <a:t>The structure is readable but </a:t>
            </a:r>
            <a:r>
              <a:rPr b="1"/>
              <a:t>not stable</a:t>
            </a:r>
            <a:r>
              <a:rPr/>
              <a:t>, so reading it is a trap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Forests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Bagging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Fit </a:t>
                </a:r>
                <a14:m>
                  <m:oMath xmlns:m="http://schemas.openxmlformats.org/officeDocument/2006/math">
                    <m:r>
                      <m:t>B</m:t>
                    </m:r>
                  </m:oMath>
                </a14:m>
                <a:r>
                  <a:rPr/>
                  <a:t> trees on bootstrap resamples, average the predictions.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f</m:t>
                              </m:r>
                            </m:e>
                          </m:acc>
                        </m:e>
                        <m:sub>
                          <m:r>
                            <m:rPr>
                              <m:nor/>
                              <m:sty m:val="p"/>
                            </m:rPr>
                            <m:t>bag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t>B</m:t>
                          </m:r>
                        </m:den>
                      </m:f>
                      <m:nary>
                        <m:naryPr>
                          <m:chr m:val="∑"/>
                          <m:limLoc m:val="undOvr"/>
                          <m:subHide m:val="off"/>
                          <m:supHide m:val="off"/>
                        </m:naryPr>
                        <m:sub>
                          <m:r>
                            <m:t>b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sub>
                        <m:sup>
                          <m:r>
                            <m:t>B</m:t>
                          </m:r>
                        </m:sup>
                        <m:e>
                          <m:sSup>
                            <m:e>
                              <m:acc>
                                <m:accPr>
                                  <m:chr m:val="̂"/>
                                </m:accPr>
                                <m:e>
                                  <m:r>
                                    <m:t>f</m:t>
                                  </m:r>
                                </m:e>
                              </m:acc>
                            </m:e>
                            <m:sup>
                              <m:r>
                                <m:rPr>
                                  <m:sty m:val="p"/>
                                </m:rPr>
                                <m:t>*</m:t>
                              </m:r>
                              <m:r>
                                <m:t>b</m:t>
                              </m:r>
                            </m:sup>
                          </m:sSup>
                        </m:e>
                      </m:nary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Averaging </a:t>
                </a:r>
                <a14:m>
                  <m:oMath xmlns:m="http://schemas.openxmlformats.org/officeDocument/2006/math">
                    <m:r>
                      <m:t>B</m:t>
                    </m:r>
                  </m:oMath>
                </a14:m>
                <a:r>
                  <a:rPr/>
                  <a:t> iid quantities with variance </a:t>
                </a:r>
                <a14:m>
                  <m:oMath xmlns:m="http://schemas.openxmlformats.org/officeDocument/2006/math">
                    <m:sSup>
                      <m:e>
                        <m:r>
                          <m:t>σ</m:t>
                        </m:r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  <a:r>
                  <a:rPr/>
                  <a:t> gives variance </a:t>
                </a:r>
                <a14:m>
                  <m:oMath xmlns:m="http://schemas.openxmlformats.org/officeDocument/2006/math">
                    <m:sSup>
                      <m:e>
                        <m:r>
                          <m:t>σ</m:t>
                        </m:r>
                      </m:e>
                      <m:sup>
                        <m:r>
                          <m:t>2</m:t>
                        </m:r>
                      </m:sup>
                    </m:sSup>
                    <m:r>
                      <m:rPr>
                        <m:sty m:val="p"/>
                      </m:rPr>
                      <m:t>/</m:t>
                    </m:r>
                    <m:r>
                      <m:t>B</m:t>
                    </m:r>
                  </m:oMath>
                </a14:m>
                <a:r>
                  <a:rPr/>
                  <a:t> — but the trees are </a:t>
                </a:r>
                <a:r>
                  <a:rPr b="1"/>
                  <a:t>not</a:t>
                </a:r>
                <a:r>
                  <a:rPr/>
                  <a:t> independent, and that is the catch.</a:t>
                </a:r>
              </a:p>
            </p:txBody>
          </p:sp>
        </mc:Choice>
      </mc:AlternateContent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random forest trick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At each split, consider only a random subset of </a:t>
                </a:r>
                <a14:m>
                  <m:oMath xmlns:m="http://schemas.openxmlformats.org/officeDocument/2006/math">
                    <m:r>
                      <m:t>m</m:t>
                    </m:r>
                  </m:oMath>
                </a14:m>
                <a:r>
                  <a:rPr/>
                  <a:t> predictors.</a:t>
                </a:r>
              </a:p>
              <a:p>
                <a:pPr lvl="0" indent="0" marL="0">
                  <a:buNone/>
                </a:pPr>
                <a:r>
                  <a:rPr/>
                  <a:t>This </a:t>
                </a:r>
                <a:r>
                  <a:rPr b="1"/>
                  <a:t>decorrelates</a:t>
                </a:r>
                <a:r>
                  <a:rPr/>
                  <a:t> the trees. If one predictor dominates, every bagged tree splits on it first and they all look alike; forcing the algorithm to sometimes ignore it produces genuinely different trees, so averaging helps more.</a:t>
                </a:r>
              </a:p>
              <a:p>
                <a:pPr lvl="0" indent="0" marL="0">
                  <a:buNone/>
                </a:pPr>
                <a:r>
                  <a:rPr/>
                  <a:t>For correlated averages, variance falls to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ρ</m:t>
                      </m:r>
                      <m:sSup>
                        <m:e>
                          <m:r>
                            <m:t>σ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+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ρ</m:t>
                          </m:r>
                        </m:num>
                        <m:den>
                          <m:r>
                            <m:t>B</m:t>
                          </m:r>
                        </m:den>
                      </m:f>
                      <m:sSup>
                        <m:e>
                          <m:r>
                            <m:t>σ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More trees drive the second term to zero. Only decorrelation touches the first.</a:t>
                </a:r>
              </a:p>
            </p:txBody>
          </p:sp>
        </mc:Choice>
      </mc:AlternateContent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Out-of-bag error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Each tree omits about 37% of the data. Predict each observation using only the trees that never saw it.</a:t>
            </a:r>
          </a:p>
          <a:p>
            <a:pPr lvl="0"/>
            <a:r>
              <a:rPr/>
              <a:t>A validation estimate for free</a:t>
            </a:r>
          </a:p>
          <a:p>
            <a:pPr lvl="0"/>
            <a:r>
              <a:rPr/>
              <a:t>Roughly comparable to leave-one-out CV</a:t>
            </a:r>
          </a:p>
          <a:p>
            <a:pPr lvl="0" indent="0" marL="0">
              <a:buNone/>
            </a:pPr>
            <a:r>
              <a:rPr/>
              <a:t>On </a:t>
            </a:r>
            <a:r>
              <a:rPr b="1"/>
              <a:t>this</a:t>
            </a:r>
            <a:r>
              <a:rPr/>
              <a:t> panel, OOB is still optimistic: the omitted rows include other years of the same country. Group-aware CV remains the honest number.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Boosting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Fit the residual, slowly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f</m:t>
                              </m:r>
                            </m:e>
                          </m:acc>
                        </m:e>
                        <m:sub>
                          <m:r>
                            <m:t>m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f</m:t>
                              </m:r>
                            </m:e>
                          </m:acc>
                        </m:e>
                        <m:sub>
                          <m:r>
                            <m:t>m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+</m:t>
                      </m:r>
                      <m:r>
                        <m:t>η</m:t>
                      </m:r>
                      <m:r>
                        <m:rPr>
                          <m:sty m:val="p"/>
                        </m:rPr>
                        <m:t>⋅</m:t>
                      </m:r>
                      <m:sSub>
                        <m:e>
                          <m:r>
                            <m:t>h</m:t>
                          </m:r>
                        </m:e>
                        <m:sub>
                          <m:r>
                            <m:t>m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 </a:t>
                </a:r>
                <a14:m>
                  <m:oMath xmlns:m="http://schemas.openxmlformats.org/officeDocument/2006/math">
                    <m:sSub>
                      <m:e>
                        <m:r>
                          <m:t>h</m:t>
                        </m:r>
                      </m:e>
                      <m:sub>
                        <m:r>
                          <m:t>m</m:t>
                        </m:r>
                      </m:sub>
                    </m:sSub>
                  </m:oMath>
                </a14:m>
                <a:r>
                  <a:rPr/>
                  <a:t> is a small tree fit to what remains unexplained, and </a:t>
                </a:r>
                <a14:m>
                  <m:oMath xmlns:m="http://schemas.openxmlformats.org/officeDocument/2006/math">
                    <m:r>
                      <m:t>η</m:t>
                    </m:r>
                  </m:oMath>
                </a14:m>
                <a:r>
                  <a:rPr/>
                  <a:t> is the learning rate.</a:t>
                </a:r>
              </a:p>
              <a:p>
                <a:pPr lvl="0"/>
                <a:r>
                  <a:rPr/>
                  <a:t>Forests average </a:t>
                </a:r>
                <a:r>
                  <a:rPr b="1"/>
                  <a:t>independent</a:t>
                </a:r>
                <a:r>
                  <a:rPr/>
                  <a:t> trees, reducing variance</a:t>
                </a:r>
              </a:p>
              <a:p>
                <a:pPr lvl="0"/>
                <a:r>
                  <a:rPr/>
                  <a:t>Boosting adds </a:t>
                </a:r>
                <a:r>
                  <a:rPr b="1"/>
                  <a:t>dependent</a:t>
                </a:r>
                <a:r>
                  <a:rPr/>
                  <a:t> trees, reducing bias</a:t>
                </a:r>
              </a:p>
            </p:txBody>
          </p:sp>
        </mc:Choice>
      </mc:AlternateContent>
    </p:spTree>
  </p:cSld>
</p:sld>
</file>

<file path=ppt/slides/slide16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 /><p:txBody><a:bodyPr /><a:lstStyle /><a:p><a:pPr lvl="0" indent="0" marL="0"><a:buNone /></a:pPr><a:r><a:rPr /><a:t>The three knobs</a:t></a:r></a:p></p:txBody></p:sp><p:graphicFrame><p:nvGraphicFramePr><p:cNvPr id="6" name="Content Placeholder 5" /><p:cNvGraphicFramePr><a:graphicFrameLocks noGrp="1" /></p:cNvGraphicFramePr><p:nvPr><p:ph idx="1" /></p:nvPr></p:nvGraphicFramePr><p:xfrm><a:off x="457200" y="1193800" /><a:ext cx="8229600" cy="3390900" /></p:xfrm><a:graphic><a:graphicData uri="http://schemas.openxmlformats.org/drawingml/2006/table"><a:tbl><a:tblPr firstRow="1" bandRow="1"><a:tableStyleId>{5C22544A-7EE6-4342-B048-85BDC9FD1C3A}</a:tableStyleId></a:tblPr><a:tblGrid><a:gridCol w="4114800" /><a:gridCol w="4114800" /></a:tblGrid><a:tr h="0"><a:tc><a:txBody><a:bodyPr /><a:lstStyle /><a:p><a:pPr lvl="0" indent="0" marL="0"><a:buNone /></a:pPr><a:r><a:rPr /><a:t>Knob</a:t></a:r></a:p></a:txBody><a:tcPr /></a:tc><a:tc><a:txBody><a:bodyPr /><a:lstStyle /><a:p><a:pPr lvl="0" indent="0" marL="0"><a:buNone /></a:pPr><a:r><a:rPr /><a:t>Effect</a:t></a:r></a:p></a:txBody><a:tcPr /></a:tc></a:tr><a:tr h="0"><a:tc><a:txBody><a:bodyPr /><a:lstStyle /><a:p><a:pPr lvl="0" indent="0" marL="0"><a:buNone /></a:pPr><a:r><a:rPr b="1" /><a:t>Learning rate</a:t></a:r><a:r><a:rPr /><a:t> </a:t></a:r><a14:m><m:oMath xmlns:m="http://schemas.openxmlformats.org/officeDocument/2006/math"><m:r><m:t>η</m:t></m:r></m:oMath></a14:m></a:p></a:txBody></a:tc><a:tc><a:txBody><a:bodyPr /><a:lstStyle /><a:p><a:pPr lvl="0" indent="0" marL="0"><a:buNone /></a:pPr><a:r><a:rPr /><a:t>Smaller learns more slowly and generalises better</a:t></a:r></a:p></a:txBody></a:tc></a:tr><a:tr h="0"><a:tc><a:txBody><a:bodyPr /><a:lstStyle /><a:p><a:pPr lvl="0" indent="0" marL="0"><a:buNone /></a:pPr><a:r><a:rPr b="1" /><a:t>Number of trees</a:t></a:r></a:p></a:txBody></a:tc><a:tc><a:txBody><a:bodyPr /><a:lstStyle /><a:p><a:pPr lvl="0" indent="0" marL="0"><a:buNone /></a:pPr><a:r><a:rPr /><a:t>Too many </a:t></a:r><a:r><a:rPr i="1" /><a:t>will</a:t></a:r><a:r><a:rPr /><a:t> overfit — unlike a forest</a:t></a:r></a:p></a:txBody></a:tc></a:tr><a:tr h="0"><a:tc><a:txBody><a:bodyPr /><a:lstStyle /><a:p><a:pPr lvl="0" indent="0" marL="0"><a:buNone /></a:pPr><a:r><a:rPr b="1" /><a:t>Depth</a:t></a:r></a:p></a:txBody></a:tc><a:tc><a:txBody><a:bodyPr /><a:lstStyle /><a:p><a:pPr lvl="0" indent="0" marL="0"><a:buNone /></a:pPr><a:r><a:rPr /><a:t>Depth </a:t></a:r><a14:m><m:oMath xmlns:m="http://schemas.openxmlformats.org/officeDocument/2006/math"><m:r><m:t>d</m:t></m:r></m:oMath></a14:m><a:r><a:rPr /><a:t> allows </a:t></a:r><a14:m><m:oMath xmlns:m="http://schemas.openxmlformats.org/officeDocument/2006/math"><m:r><m:t>d</m:t></m:r></m:oMath></a14:m><a:r><a:rPr /><a:t>-way interactions</a:t></a:r></a:p></a:txBody></a:tc></a:tr></a:tbl></a:graphicData></a:graphic></p:graphicFrame></p:spTree></p:cSld>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random forest does not overfit as you add trees. </a:t>
            </a:r>
            <a:r>
              <a:rPr b="1"/>
              <a:t>A boosted model does.</a:t>
            </a:r>
            <a:r>
              <a:rPr/>
              <a:t> The stopping point must be chosen on validation data.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Which to reach for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Random forest</a:t>
            </a:r>
            <a:r>
              <a:rPr/>
              <a:t> — few knobs, hard to break, a strong baseline in one line</a:t>
            </a:r>
          </a:p>
          <a:p>
            <a:pPr lvl="0"/>
            <a:r>
              <a:rPr b="1"/>
              <a:t>Boosting</a:t>
            </a:r>
            <a:r>
              <a:rPr/>
              <a:t> — usually wins on tabular data, and demands tuning to do so</a:t>
            </a:r>
          </a:p>
          <a:p>
            <a:pPr lvl="0" indent="0" marL="0">
              <a:buNone/>
            </a:pPr>
            <a:r>
              <a:rPr/>
              <a:t>Start with a forest. If a tuned boosted model cannot beat it by a margin you would defend, report the forest and spend your time elsewhere.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Doing it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Build the panel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>
                  <a:buNone/>
                </a:pPr>
                <a:r>
                  <a:rPr b="1">
                    <a:solidFill>
                      <a:srgbClr val="008000"/>
                    </a:solidFill>
                    <a:latin typeface="Courier"/>
                  </a:rPr>
                  <a:t>import</a:t>
                </a:r>
                <a:r>
                  <a:rPr>
                    <a:latin typeface="Courier"/>
                  </a:rPr>
                  <a:t> pandas </a:t>
                </a:r>
                <a:r>
                  <a:rPr b="1">
                    <a:solidFill>
                      <a:srgbClr val="008000"/>
                    </a:solidFill>
                    <a:latin typeface="Courier"/>
                  </a:rPr>
                  <a:t>as</a:t>
                </a:r>
                <a:r>
                  <a:rPr>
                    <a:latin typeface="Courier"/>
                  </a:rPr>
                  <a:t> pd</a:t>
                </a:r>
                <a:br/>
                <a:br/>
                <a:r>
                  <a:rPr>
                    <a:latin typeface="Courier"/>
                  </a:rPr>
                  <a:t>core </a:t>
                </a:r>
                <a:r>
                  <a:rPr>
                    <a:solidFill>
                      <a:srgbClr val="666666"/>
                    </a:solidFill>
                    <a:latin typeface="Courier"/>
                  </a:rPr>
                  <a:t>=</a:t>
                </a:r>
                <a:r>
                  <a:rPr>
                    <a:latin typeface="Courier"/>
                  </a:rPr>
                  <a:t> pd.read_parquet(</a:t>
                </a:r>
                <a:r>
                  <a:rPr>
                    <a:solidFill>
                      <a:srgbClr val="4070A0"/>
                    </a:solidFill>
                    <a:latin typeface="Courier"/>
                  </a:rPr>
                  <a:t>"data/spine/core.parquet"</a:t>
                </a:r>
                <a:r>
                  <a:rPr>
                    <a:latin typeface="Courier"/>
                  </a:rPr>
                  <a:t>)</a:t>
                </a:r>
                <a:br/>
                <a:r>
                  <a:rPr>
                    <a:latin typeface="Courier"/>
                  </a:rPr>
                  <a:t>c    </a:t>
                </a:r>
                <a:r>
                  <a:rPr>
                    <a:solidFill>
                      <a:srgbClr val="666666"/>
                    </a:solidFill>
                    <a:latin typeface="Courier"/>
                  </a:rPr>
                  <a:t>=</a:t>
                </a:r>
                <a:r>
                  <a:rPr>
                    <a:latin typeface="Courier"/>
                  </a:rPr>
                  <a:t> pd.read_parquet(</a:t>
                </a:r>
                <a:r>
                  <a:rPr>
                    <a:solidFill>
                      <a:srgbClr val="4070A0"/>
                    </a:solidFill>
                    <a:latin typeface="Courier"/>
                  </a:rPr>
                  <a:t>"data/spine/angle_c_country.parquet"</a:t>
                </a:r>
                <a:r>
                  <a:rPr>
                    <a:latin typeface="Courier"/>
                  </a:rPr>
                  <a:t>)</a:t>
                </a:r>
                <a:br/>
                <a:br/>
                <a:r>
                  <a:rPr>
                    <a:latin typeface="Courier"/>
                  </a:rPr>
                  <a:t>df </a:t>
                </a:r>
                <a:r>
                  <a:rPr>
                    <a:solidFill>
                      <a:srgbClr val="666666"/>
                    </a:solidFill>
                    <a:latin typeface="Courier"/>
                  </a:rPr>
                  <a:t>=</a:t>
                </a:r>
                <a:r>
                  <a:rPr>
                    <a:latin typeface="Courier"/>
                  </a:rPr>
                  <a:t> core.merge(c.drop(columns</a:t>
                </a:r>
                <a:r>
                  <a:rPr>
                    <a:solidFill>
                      <a:srgbClr val="666666"/>
                    </a:solidFill>
                    <a:latin typeface="Courier"/>
                  </a:rPr>
                  <a:t>=</a:t>
                </a:r>
                <a:r>
                  <a:rPr>
                    <a:latin typeface="Courier"/>
                  </a:rPr>
                  <a:t>[</a:t>
                </a:r>
                <a:r>
                  <a:rPr>
                    <a:solidFill>
                      <a:srgbClr val="4070A0"/>
                    </a:solidFill>
                    <a:latin typeface="Courier"/>
                  </a:rPr>
                  <a:t>"flag"</a:t>
                </a:r>
                <a:r>
                  <a:rPr>
                    <a:latin typeface="Courier"/>
                  </a:rPr>
                  <a:t>]), on</a:t>
                </a:r>
                <a:r>
                  <a:rPr>
                    <a:solidFill>
                      <a:srgbClr val="666666"/>
                    </a:solidFill>
                    <a:latin typeface="Courier"/>
                  </a:rPr>
                  <a:t>=</a:t>
                </a:r>
                <a:r>
                  <a:rPr>
                    <a:latin typeface="Courier"/>
                  </a:rPr>
                  <a:t>[</a:t>
                </a:r>
                <a:r>
                  <a:rPr>
                    <a:solidFill>
                      <a:srgbClr val="4070A0"/>
                    </a:solidFill>
                    <a:latin typeface="Courier"/>
                  </a:rPr>
                  <a:t>"geo"</a:t>
                </a:r>
                <a:r>
                  <a:rPr>
                    <a:latin typeface="Courier"/>
                  </a:rPr>
                  <a:t>, </a:t>
                </a:r>
                <a:r>
                  <a:rPr>
                    <a:solidFill>
                      <a:srgbClr val="4070A0"/>
                    </a:solidFill>
                    <a:latin typeface="Courier"/>
                  </a:rPr>
                  <a:t>"time"</a:t>
                </a:r>
                <a:r>
                  <a:rPr>
                    <a:latin typeface="Courier"/>
                  </a:rPr>
                  <a:t>], how</a:t>
                </a:r>
                <a:r>
                  <a:rPr>
                    <a:solidFill>
                      <a:srgbClr val="666666"/>
                    </a:solidFill>
                    <a:latin typeface="Courier"/>
                  </a:rPr>
                  <a:t>=</a:t>
                </a:r>
                <a:r>
                  <a:rPr>
                    <a:solidFill>
                      <a:srgbClr val="4070A0"/>
                    </a:solidFill>
                    <a:latin typeface="Courier"/>
                  </a:rPr>
                  <a:t>"inner"</a:t>
                </a:r>
                <a:r>
                  <a:rPr>
                    <a:latin typeface="Courier"/>
                  </a:rPr>
                  <a:t>)</a:t>
                </a:r>
                <a:br/>
                <a:r>
                  <a:rPr>
                    <a:latin typeface="Courier"/>
                  </a:rPr>
                  <a:t>d  </a:t>
                </a:r>
                <a:r>
                  <a:rPr>
                    <a:solidFill>
                      <a:srgbClr val="666666"/>
                    </a:solidFill>
                    <a:latin typeface="Courier"/>
                  </a:rPr>
                  <a:t>=</a:t>
                </a:r>
                <a:r>
                  <a:rPr>
                    <a:latin typeface="Courier"/>
                  </a:rPr>
                  <a:t> df.dropna(subset</a:t>
                </a:r>
                <a:r>
                  <a:rPr>
                    <a:solidFill>
                      <a:srgbClr val="666666"/>
                    </a:solidFill>
                    <a:latin typeface="Courier"/>
                  </a:rPr>
                  <a:t>=</a:t>
                </a:r>
                <a:r>
                  <a:rPr>
                    <a:latin typeface="Courier"/>
                  </a:rPr>
                  <a:t>[</a:t>
                </a:r>
                <a:r>
                  <a:rPr>
                    <a:solidFill>
                      <a:srgbClr val="4070A0"/>
                    </a:solidFill>
                    <a:latin typeface="Courier"/>
                  </a:rPr>
                  <a:t>"prod_growth"</a:t>
                </a:r>
                <a:r>
                  <a:rPr>
                    <a:latin typeface="Courier"/>
                  </a:rPr>
                  <a:t>]).copy()</a:t>
                </a:r>
                <a:br/>
                <a:r>
                  <a:rPr>
                    <a:solidFill>
                      <a:srgbClr val="008000"/>
                    </a:solidFill>
                    <a:latin typeface="Courier"/>
                  </a:rPr>
                  <a:t>print</a:t>
                </a:r>
                <a:r>
                  <a:rPr>
                    <a:latin typeface="Courier"/>
                  </a:rPr>
                  <a:t>(d.shape)</a:t>
                </a:r>
              </a:p>
              <a:p>
                <a:pPr lvl="0" indent="0" marL="0">
                  <a:buNone/>
                </a:pPr>
                <a:r>
                  <a:rPr/>
                  <a:t>The merge restricts you to 2014–2024, because that is where the adoption module exists. Say so when you report </a:t>
                </a:r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.</a:t>
                </a:r>
              </a:p>
            </p:txBody>
          </p:sp>
        </mc:Choice>
      </mc:AlternateContent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Forest, honestly validated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 b="1">
                <a:solidFill>
                  <a:srgbClr val="008000"/>
                </a:solidFill>
                <a:latin typeface="Courier"/>
              </a:rPr>
              <a:t>import</a:t>
            </a:r>
            <a:r>
              <a:rPr>
                <a:latin typeface="Courier"/>
              </a:rPr>
              <a:t> numpy </a:t>
            </a:r>
            <a:r>
              <a:rPr b="1">
                <a:solidFill>
                  <a:srgbClr val="008000"/>
                </a:solidFill>
                <a:latin typeface="Courier"/>
              </a:rPr>
              <a:t>as</a:t>
            </a:r>
            <a:r>
              <a:rPr>
                <a:latin typeface="Courier"/>
              </a:rPr>
              <a:t> np</a:t>
            </a:r>
            <a:br/>
            <a:r>
              <a:rPr b="1">
                <a:solidFill>
                  <a:srgbClr val="008000"/>
                </a:solidFill>
                <a:latin typeface="Courier"/>
              </a:rPr>
              <a:t>from</a:t>
            </a:r>
            <a:r>
              <a:rPr>
                <a:latin typeface="Courier"/>
              </a:rPr>
              <a:t> sklearn.ensemble </a:t>
            </a:r>
            <a:r>
              <a:rPr b="1">
                <a:solidFill>
                  <a:srgbClr val="008000"/>
                </a:solidFill>
                <a:latin typeface="Courier"/>
              </a:rPr>
              <a:t>import</a:t>
            </a:r>
            <a:r>
              <a:rPr>
                <a:latin typeface="Courier"/>
              </a:rPr>
              <a:t> RandomForestRegressor</a:t>
            </a:r>
            <a:br/>
            <a:r>
              <a:rPr b="1">
                <a:solidFill>
                  <a:srgbClr val="008000"/>
                </a:solidFill>
                <a:latin typeface="Courier"/>
              </a:rPr>
              <a:t>from</a:t>
            </a:r>
            <a:r>
              <a:rPr>
                <a:latin typeface="Courier"/>
              </a:rPr>
              <a:t> sklearn.model_selection </a:t>
            </a:r>
            <a:r>
              <a:rPr b="1">
                <a:solidFill>
                  <a:srgbClr val="008000"/>
                </a:solidFill>
                <a:latin typeface="Courier"/>
              </a:rPr>
              <a:t>import</a:t>
            </a:r>
            <a:r>
              <a:rPr>
                <a:latin typeface="Courier"/>
              </a:rPr>
              <a:t> cross_val_score, GroupKFold</a:t>
            </a:r>
            <a:br/>
            <a:br/>
            <a:r>
              <a:rPr>
                <a:latin typeface="Courier"/>
              </a:rPr>
              <a:t>feat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[c_ </a:t>
            </a:r>
            <a:r>
              <a:rPr b="1">
                <a:solidFill>
                  <a:srgbClr val="007020"/>
                </a:solidFill>
                <a:latin typeface="Courier"/>
              </a:rPr>
              <a:t>for</a:t>
            </a:r>
            <a:r>
              <a:rPr>
                <a:latin typeface="Courier"/>
              </a:rPr>
              <a:t> c_ </a:t>
            </a:r>
            <a:r>
              <a:rPr b="1">
                <a:solidFill>
                  <a:srgbClr val="007020"/>
                </a:solidFill>
                <a:latin typeface="Courier"/>
              </a:rPr>
              <a:t>in</a:t>
            </a:r>
            <a:r>
              <a:rPr>
                <a:latin typeface="Courier"/>
              </a:rPr>
              <a:t> d.columns</a:t>
            </a:r>
            <a:br/>
            <a:r>
              <a:rPr>
                <a:latin typeface="Courier"/>
              </a:rPr>
              <a:t>        </a:t>
            </a:r>
            <a:r>
              <a:rPr b="1">
                <a:solidFill>
                  <a:srgbClr val="007020"/>
                </a:solidFill>
                <a:latin typeface="Courier"/>
              </a:rPr>
              <a:t>if</a:t>
            </a:r>
            <a:r>
              <a:rPr>
                <a:latin typeface="Courier"/>
              </a:rPr>
              <a:t> c_ </a:t>
            </a:r>
            <a:r>
              <a:rPr b="1">
                <a:solidFill>
                  <a:srgbClr val="007020"/>
                </a:solidFill>
                <a:latin typeface="Courier"/>
              </a:rPr>
              <a:t>not</a:t>
            </a:r>
            <a:r>
              <a:rPr>
                <a:latin typeface="Courier"/>
              </a:rPr>
              <a:t> </a:t>
            </a:r>
            <a:r>
              <a:rPr b="1">
                <a:solidFill>
                  <a:srgbClr val="007020"/>
                </a:solidFill>
                <a:latin typeface="Courier"/>
              </a:rPr>
              <a:t>in</a:t>
            </a:r>
            <a:r>
              <a:rPr>
                <a:latin typeface="Courier"/>
              </a:rPr>
              <a:t> (</a:t>
            </a:r>
            <a:r>
              <a:rPr>
                <a:solidFill>
                  <a:srgbClr val="4070A0"/>
                </a:solidFill>
                <a:latin typeface="Courier"/>
              </a:rPr>
              <a:t>"geo"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"time"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"flag"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"prod_growth"</a:t>
            </a:r>
            <a:r>
              <a:rPr>
                <a:latin typeface="Courier"/>
              </a:rPr>
              <a:t>,</a:t>
            </a:r>
            <a:br/>
            <a:r>
              <a:rPr>
                <a:latin typeface="Courier"/>
              </a:rPr>
              <a:t>                      </a:t>
            </a:r>
            <a:r>
              <a:rPr>
                <a:solidFill>
                  <a:srgbClr val="4070A0"/>
                </a:solidFill>
                <a:latin typeface="Courier"/>
              </a:rPr>
              <a:t>"falling_behind"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"falling_behind_next"</a:t>
            </a:r>
            <a:r>
              <a:rPr>
                <a:latin typeface="Courier"/>
              </a:rPr>
              <a:t>)]</a:t>
            </a:r>
            <a:br/>
            <a:r>
              <a:rPr>
                <a:latin typeface="Courier"/>
              </a:rPr>
              <a:t>X, y, g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d[feat].fillna(d[feat].median(numeric_only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19177C"/>
                </a:solidFill>
                <a:latin typeface="Courier"/>
              </a:rPr>
              <a:t>True</a:t>
            </a:r>
            <a:r>
              <a:rPr>
                <a:latin typeface="Courier"/>
              </a:rPr>
              <a:t>)), d[</a:t>
            </a:r>
            <a:r>
              <a:rPr>
                <a:solidFill>
                  <a:srgbClr val="4070A0"/>
                </a:solidFill>
                <a:latin typeface="Courier"/>
              </a:rPr>
              <a:t>"prod_growth"</a:t>
            </a:r>
            <a:r>
              <a:rPr>
                <a:latin typeface="Courier"/>
              </a:rPr>
              <a:t>], d[</a:t>
            </a:r>
            <a:r>
              <a:rPr>
                <a:solidFill>
                  <a:srgbClr val="4070A0"/>
                </a:solidFill>
                <a:latin typeface="Courier"/>
              </a:rPr>
              <a:t>"geo"</a:t>
            </a:r>
            <a:r>
              <a:rPr>
                <a:latin typeface="Courier"/>
              </a:rPr>
              <a:t>]</a:t>
            </a:r>
            <a:br/>
            <a:br/>
            <a:r>
              <a:rPr>
                <a:latin typeface="Courier"/>
              </a:rPr>
              <a:t>rf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RandomForestRegressor(n_estimators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A070"/>
                </a:solidFill>
                <a:latin typeface="Courier"/>
              </a:rPr>
              <a:t>500</a:t>
            </a:r>
            <a:r>
              <a:rPr>
                <a:latin typeface="Courier"/>
              </a:rPr>
              <a:t>, min_samples_leaf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A070"/>
                </a:solidFill>
                <a:latin typeface="Courier"/>
              </a:rPr>
              <a:t>3</a:t>
            </a:r>
            <a:r>
              <a:rPr>
                <a:latin typeface="Courier"/>
              </a:rPr>
              <a:t>, random_state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A070"/>
                </a:solidFill>
                <a:latin typeface="Courier"/>
              </a:rPr>
              <a:t>60033</a:t>
            </a:r>
            <a:r>
              <a:rPr>
                <a:latin typeface="Courier"/>
              </a:rPr>
              <a:t>)</a:t>
            </a:r>
            <a:br/>
            <a:r>
              <a:rPr>
                <a:latin typeface="Courier"/>
              </a:rPr>
              <a:t>sc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cross_val_score(rf, X, y, cv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GroupKFold(</a:t>
            </a:r>
            <a:r>
              <a:rPr>
                <a:solidFill>
                  <a:srgbClr val="40A070"/>
                </a:solidFill>
                <a:latin typeface="Courier"/>
              </a:rPr>
              <a:t>5</a:t>
            </a:r>
            <a:r>
              <a:rPr>
                <a:latin typeface="Courier"/>
              </a:rPr>
              <a:t>).split(X, y, g),</a:t>
            </a:r>
            <a:br/>
            <a:r>
              <a:rPr>
                <a:latin typeface="Courier"/>
              </a:rPr>
              <a:t>                     scoring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70A0"/>
                </a:solidFill>
                <a:latin typeface="Courier"/>
              </a:rPr>
              <a:t>"neg_root_mean_squared_error"</a:t>
            </a:r>
            <a:r>
              <a:rPr>
                <a:latin typeface="Courier"/>
              </a:rPr>
              <a:t>)</a:t>
            </a:r>
            <a:br/>
            <a:r>
              <a:rPr>
                <a:solidFill>
                  <a:srgbClr val="008000"/>
                </a:solidFill>
                <a:latin typeface="Courier"/>
              </a:rPr>
              <a:t>print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70A0"/>
                </a:solidFill>
                <a:latin typeface="Courier"/>
              </a:rPr>
              <a:t>"grouped CV RMSE:"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008000"/>
                </a:solidFill>
                <a:latin typeface="Courier"/>
              </a:rPr>
              <a:t>round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666666"/>
                </a:solidFill>
                <a:latin typeface="Courier"/>
              </a:rPr>
              <a:t>-</a:t>
            </a:r>
            <a:r>
              <a:rPr>
                <a:latin typeface="Courier"/>
              </a:rPr>
              <a:t>sc.mean(), </a:t>
            </a:r>
            <a:r>
              <a:rPr>
                <a:solidFill>
                  <a:srgbClr val="40A070"/>
                </a:solidFill>
                <a:latin typeface="Courier"/>
              </a:rPr>
              <a:t>3</a:t>
            </a:r>
            <a:r>
              <a:rPr>
                <a:latin typeface="Courier"/>
              </a:rPr>
              <a:t>))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Gradient boosting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 b="1">
                <a:solidFill>
                  <a:srgbClr val="008000"/>
                </a:solidFill>
                <a:latin typeface="Courier"/>
              </a:rPr>
              <a:t>from</a:t>
            </a:r>
            <a:r>
              <a:rPr>
                <a:latin typeface="Courier"/>
              </a:rPr>
              <a:t> sklearn.ensemble </a:t>
            </a:r>
            <a:r>
              <a:rPr b="1">
                <a:solidFill>
                  <a:srgbClr val="008000"/>
                </a:solidFill>
                <a:latin typeface="Courier"/>
              </a:rPr>
              <a:t>import</a:t>
            </a:r>
            <a:r>
              <a:rPr>
                <a:latin typeface="Courier"/>
              </a:rPr>
              <a:t> HistGradientBoostingRegressor</a:t>
            </a:r>
            <a:br/>
            <a:br/>
            <a:r>
              <a:rPr>
                <a:latin typeface="Courier"/>
              </a:rPr>
              <a:t>hgb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HistGradientBoostingRegressor(</a:t>
            </a:r>
            <a:br/>
            <a:r>
              <a:rPr>
                <a:latin typeface="Courier"/>
              </a:rPr>
              <a:t>    learning_rate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A070"/>
                </a:solidFill>
                <a:latin typeface="Courier"/>
              </a:rPr>
              <a:t>0.05</a:t>
            </a:r>
            <a:r>
              <a:rPr>
                <a:latin typeface="Courier"/>
              </a:rPr>
              <a:t>, max_depth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A070"/>
                </a:solidFill>
                <a:latin typeface="Courier"/>
              </a:rPr>
              <a:t>3</a:t>
            </a:r>
            <a:r>
              <a:rPr>
                <a:latin typeface="Courier"/>
              </a:rPr>
              <a:t>, max_iter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A070"/>
                </a:solidFill>
                <a:latin typeface="Courier"/>
              </a:rPr>
              <a:t>600</a:t>
            </a:r>
            <a:r>
              <a:rPr>
                <a:latin typeface="Courier"/>
              </a:rPr>
              <a:t>,</a:t>
            </a:r>
            <a:br/>
            <a:r>
              <a:rPr>
                <a:latin typeface="Courier"/>
              </a:rPr>
              <a:t>    early_stopping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19177C"/>
                </a:solidFill>
                <a:latin typeface="Courier"/>
              </a:rPr>
              <a:t>True</a:t>
            </a:r>
            <a:r>
              <a:rPr>
                <a:latin typeface="Courier"/>
              </a:rPr>
              <a:t>, validation_fraction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A070"/>
                </a:solidFill>
                <a:latin typeface="Courier"/>
              </a:rPr>
              <a:t>0.2</a:t>
            </a:r>
            <a:r>
              <a:rPr>
                <a:latin typeface="Courier"/>
              </a:rPr>
              <a:t>, random_state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A070"/>
                </a:solidFill>
                <a:latin typeface="Courier"/>
              </a:rPr>
              <a:t>60033</a:t>
            </a:r>
            <a:r>
              <a:rPr>
                <a:latin typeface="Courier"/>
              </a:rPr>
              <a:t>,</a:t>
            </a:r>
            <a:br/>
            <a:r>
              <a:rPr>
                <a:latin typeface="Courier"/>
              </a:rPr>
              <a:t>)</a:t>
            </a:r>
            <a:br/>
            <a:r>
              <a:rPr>
                <a:latin typeface="Courier"/>
              </a:rPr>
              <a:t>sc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cross_val_score(hgb, X, y, cv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GroupKFold(</a:t>
            </a:r>
            <a:r>
              <a:rPr>
                <a:solidFill>
                  <a:srgbClr val="40A070"/>
                </a:solidFill>
                <a:latin typeface="Courier"/>
              </a:rPr>
              <a:t>5</a:t>
            </a:r>
            <a:r>
              <a:rPr>
                <a:latin typeface="Courier"/>
              </a:rPr>
              <a:t>).split(X, y, g),</a:t>
            </a:r>
            <a:br/>
            <a:r>
              <a:rPr>
                <a:latin typeface="Courier"/>
              </a:rPr>
              <a:t>                     scoring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70A0"/>
                </a:solidFill>
                <a:latin typeface="Courier"/>
              </a:rPr>
              <a:t>"neg_root_mean_squared_error"</a:t>
            </a:r>
            <a:r>
              <a:rPr>
                <a:latin typeface="Courier"/>
              </a:rPr>
              <a:t>)</a:t>
            </a:r>
            <a:br/>
            <a:r>
              <a:rPr>
                <a:solidFill>
                  <a:srgbClr val="008000"/>
                </a:solidFill>
                <a:latin typeface="Courier"/>
              </a:rPr>
              <a:t>print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70A0"/>
                </a:solidFill>
                <a:latin typeface="Courier"/>
              </a:rPr>
              <a:t>"boosted grouped CV RMSE:"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008000"/>
                </a:solidFill>
                <a:latin typeface="Courier"/>
              </a:rPr>
              <a:t>round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666666"/>
                </a:solidFill>
                <a:latin typeface="Courier"/>
              </a:rPr>
              <a:t>-</a:t>
            </a:r>
            <a:r>
              <a:rPr>
                <a:latin typeface="Courier"/>
              </a:rPr>
              <a:t>sc.mean(), </a:t>
            </a:r>
            <a:r>
              <a:rPr>
                <a:solidFill>
                  <a:srgbClr val="40A070"/>
                </a:solidFill>
                <a:latin typeface="Courier"/>
              </a:rPr>
              <a:t>3</a:t>
            </a:r>
            <a:r>
              <a:rPr>
                <a:latin typeface="Courier"/>
              </a:rPr>
              <a:t>))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HistGradientBoosting</a:t>
            </a:r>
            <a:r>
              <a:rPr/>
              <a:t> handles NaN natively, so you can drop the imputation and compare. Whether that </a:t>
            </a:r>
            <a:r>
              <a:rPr i="1"/>
              <a:t>helps</a:t>
            </a:r>
            <a:r>
              <a:rPr/>
              <a:t> is an empirical question — run it.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Interpretation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Impurity importance is biased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feature_importances_</a:t>
            </a:r>
            <a:r>
              <a:rPr/>
              <a:t> counts how much each split reduced impurity. It systematically favours:</a:t>
            </a:r>
          </a:p>
          <a:p>
            <a:pPr lvl="0"/>
            <a:r>
              <a:rPr b="1"/>
              <a:t>high-cardinality</a:t>
            </a:r>
            <a:r>
              <a:rPr/>
              <a:t> predictors — more cut points to try</a:t>
            </a:r>
          </a:p>
          <a:p>
            <a:pPr lvl="0"/>
            <a:r>
              <a:rPr b="1"/>
              <a:t>continuous</a:t>
            </a:r>
            <a:r>
              <a:rPr/>
              <a:t> over binary</a:t>
            </a:r>
          </a:p>
          <a:p>
            <a:pPr lvl="0"/>
            <a:r>
              <a:rPr/>
              <a:t>one member of a </a:t>
            </a:r>
            <a:r>
              <a:rPr b="1"/>
              <a:t>correlated group</a:t>
            </a:r>
            <a:r>
              <a:rPr/>
              <a:t>, arbitrarily</a:t>
            </a:r>
          </a:p>
          <a:p>
            <a:pPr lvl="0" indent="0" marL="0">
              <a:buNone/>
            </a:pPr>
            <a:r>
              <a:rPr/>
              <a:t>The </a:t>
            </a:r>
            <a:r>
              <a:rPr>
                <a:latin typeface="Courier"/>
              </a:rPr>
              <a:t>aux_*</a:t>
            </a:r>
            <a:r>
              <a:rPr/>
              <a:t> columns in this panel are continuous and correlated. Impurity importance will flatter them. Do not report it.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Permutation importance instead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 b="1">
                <a:solidFill>
                  <a:srgbClr val="008000"/>
                </a:solidFill>
                <a:latin typeface="Courier"/>
              </a:rPr>
              <a:t>from</a:t>
            </a:r>
            <a:r>
              <a:rPr>
                <a:latin typeface="Courier"/>
              </a:rPr>
              <a:t> sklearn.inspection </a:t>
            </a:r>
            <a:r>
              <a:rPr b="1">
                <a:solidFill>
                  <a:srgbClr val="008000"/>
                </a:solidFill>
                <a:latin typeface="Courier"/>
              </a:rPr>
              <a:t>import</a:t>
            </a:r>
            <a:r>
              <a:rPr>
                <a:latin typeface="Courier"/>
              </a:rPr>
              <a:t> permutation_importance</a:t>
            </a:r>
            <a:br/>
            <a:br/>
            <a:r>
              <a:rPr>
                <a:latin typeface="Courier"/>
              </a:rPr>
              <a:t>rf.fit(X, y)</a:t>
            </a:r>
            <a:br/>
            <a:r>
              <a:rPr>
                <a:latin typeface="Courier"/>
              </a:rPr>
              <a:t>r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permutation_importance(rf, X, y, n_repeats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A070"/>
                </a:solidFill>
                <a:latin typeface="Courier"/>
              </a:rPr>
              <a:t>20</a:t>
            </a:r>
            <a:r>
              <a:rPr>
                <a:latin typeface="Courier"/>
              </a:rPr>
              <a:t>, random_state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A070"/>
                </a:solidFill>
                <a:latin typeface="Courier"/>
              </a:rPr>
              <a:t>60033</a:t>
            </a:r>
            <a:r>
              <a:rPr>
                <a:latin typeface="Courier"/>
              </a:rPr>
              <a:t>)</a:t>
            </a:r>
            <a:br/>
            <a:r>
              <a:rPr>
                <a:latin typeface="Courier"/>
              </a:rPr>
              <a:t>imp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pd.Series(r.importances_mean, index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X.columns).sort_values(ascending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19177C"/>
                </a:solidFill>
                <a:latin typeface="Courier"/>
              </a:rPr>
              <a:t>False</a:t>
            </a:r>
            <a:r>
              <a:rPr>
                <a:latin typeface="Courier"/>
              </a:rPr>
              <a:t>)</a:t>
            </a:r>
            <a:br/>
            <a:r>
              <a:rPr>
                <a:solidFill>
                  <a:srgbClr val="008000"/>
                </a:solidFill>
                <a:latin typeface="Courier"/>
              </a:rPr>
              <a:t>print</a:t>
            </a:r>
            <a:r>
              <a:rPr>
                <a:latin typeface="Courier"/>
              </a:rPr>
              <a:t>(imp.head(</a:t>
            </a:r>
            <a:r>
              <a:rPr>
                <a:solidFill>
                  <a:srgbClr val="40A070"/>
                </a:solidFill>
                <a:latin typeface="Courier"/>
              </a:rPr>
              <a:t>10</a:t>
            </a:r>
            <a:r>
              <a:rPr>
                <a:latin typeface="Courier"/>
              </a:rPr>
              <a:t>).</a:t>
            </a:r>
            <a:r>
              <a:rPr>
                <a:solidFill>
                  <a:srgbClr val="008000"/>
                </a:solidFill>
                <a:latin typeface="Courier"/>
              </a:rPr>
              <a:t>round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A070"/>
                </a:solidFill>
                <a:latin typeface="Courier"/>
              </a:rPr>
              <a:t>4</a:t>
            </a:r>
            <a:r>
              <a:rPr>
                <a:latin typeface="Courier"/>
              </a:rPr>
              <a:t>))</a:t>
            </a:r>
          </a:p>
          <a:p>
            <a:pPr lvl="0" indent="0" marL="0">
              <a:buNone/>
            </a:pPr>
            <a:r>
              <a:rPr/>
              <a:t>This measures how much prediction </a:t>
            </a:r>
            <a:r>
              <a:rPr b="1"/>
              <a:t>degrades</a:t>
            </a:r>
            <a:r>
              <a:rPr/>
              <a:t> when a column is shuffled — a question about the fitted model, in the units of the loss.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Permutation importance is also not causal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Shuffling a column breaks its relationship with </a:t>
            </a:r>
            <a:r>
              <a:rPr b="1"/>
              <a:t>everything</a:t>
            </a:r>
            <a:r>
              <a:rPr/>
              <a:t>, including its correlations with other predictors. With correlated inputs, the importance is shared unpredictably and the shuffled rows may be economically impossible combinations.</a:t>
            </a:r>
          </a:p>
          <a:p>
            <a:pPr lvl="0" indent="0" marL="0">
              <a:buNone/>
            </a:pPr>
            <a:r>
              <a:rPr/>
              <a:t>It answers “what does this model lean on?” It does not answer “what would happen if this changed?” Session 10 answers the second, and it needs a different design.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Partial dependence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 b="1">
                <a:solidFill>
                  <a:srgbClr val="008000"/>
                </a:solidFill>
                <a:latin typeface="Courier"/>
              </a:rPr>
              <a:t>from</a:t>
            </a:r>
            <a:r>
              <a:rPr>
                <a:latin typeface="Courier"/>
              </a:rPr>
              <a:t> sklearn.inspection </a:t>
            </a:r>
            <a:r>
              <a:rPr b="1">
                <a:solidFill>
                  <a:srgbClr val="008000"/>
                </a:solidFill>
                <a:latin typeface="Courier"/>
              </a:rPr>
              <a:t>import</a:t>
            </a:r>
            <a:r>
              <a:rPr>
                <a:latin typeface="Courier"/>
              </a:rPr>
              <a:t> PartialDependenceDisplay</a:t>
            </a:r>
            <a:br/>
            <a:r>
              <a:rPr b="1">
                <a:solidFill>
                  <a:srgbClr val="008000"/>
                </a:solidFill>
                <a:latin typeface="Courier"/>
              </a:rPr>
              <a:t>import</a:t>
            </a:r>
            <a:r>
              <a:rPr>
                <a:latin typeface="Courier"/>
              </a:rPr>
              <a:t> matplotlib.pyplot </a:t>
            </a:r>
            <a:r>
              <a:rPr b="1">
                <a:solidFill>
                  <a:srgbClr val="008000"/>
                </a:solidFill>
                <a:latin typeface="Courier"/>
              </a:rPr>
              <a:t>as</a:t>
            </a:r>
            <a:r>
              <a:rPr>
                <a:latin typeface="Courier"/>
              </a:rPr>
              <a:t> plt</a:t>
            </a:r>
            <a:br/>
            <a:br/>
            <a:r>
              <a:rPr>
                <a:latin typeface="Courier"/>
              </a:rPr>
              <a:t>PartialDependenceDisplay.from_estimator(</a:t>
            </a:r>
            <a:br/>
            <a:r>
              <a:rPr>
                <a:latin typeface="Courier"/>
              </a:rPr>
              <a:t>    rf, X, features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[</a:t>
            </a:r>
            <a:r>
              <a:rPr>
                <a:solidFill>
                  <a:srgbClr val="4070A0"/>
                </a:solidFill>
                <a:latin typeface="Courier"/>
              </a:rPr>
              <a:t>"gdp_pc_eur"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"cloud_use"</a:t>
            </a:r>
            <a:r>
              <a:rPr>
                <a:latin typeface="Courier"/>
              </a:rPr>
              <a:t>], kind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70A0"/>
                </a:solidFill>
                <a:latin typeface="Courier"/>
              </a:rPr>
              <a:t>"average"</a:t>
            </a:r>
            <a:r>
              <a:rPr>
                <a:latin typeface="Courier"/>
              </a:rPr>
              <a:t>)</a:t>
            </a:r>
            <a:br/>
            <a:r>
              <a:rPr>
                <a:latin typeface="Courier"/>
              </a:rPr>
              <a:t>plt.tight_layout()</a:t>
            </a:r>
          </a:p>
          <a:p>
            <a:pPr lvl="0" indent="0" marL="0">
              <a:buNone/>
            </a:pPr>
            <a:r>
              <a:rPr/>
              <a:t>A PDP shows the average fitted relationship, holding the rest at their observed values. It is the honest way to show a nonlinearity you found.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to report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Grouped CV error for </a:t>
            </a:r>
            <a:r>
              <a:rPr b="1"/>
              <a:t>both</a:t>
            </a:r>
            <a:r>
              <a:rPr/>
              <a:t> models, and the baseline they beat</a:t>
            </a:r>
          </a:p>
          <a:p>
            <a:pPr lvl="0"/>
            <a:r>
              <a:rPr b="1"/>
              <a:t>Permutation</a:t>
            </a:r>
            <a:r>
              <a:rPr/>
              <a:t> importance, never impurity importance</a:t>
            </a:r>
          </a:p>
          <a:p>
            <a:pPr lvl="0"/>
            <a:r>
              <a:rPr/>
              <a:t>One or two partial-dependence plots for the relationships you claim</a:t>
            </a:r>
          </a:p>
          <a:p>
            <a:pPr lvl="0"/>
            <a:r>
              <a:rPr/>
              <a:t>The tuning you did, and on which folds</a:t>
            </a:r>
          </a:p>
          <a:p>
            <a:pPr lvl="0"/>
            <a:r>
              <a:rPr/>
              <a:t>That every statement is about </a:t>
            </a:r>
            <a:r>
              <a:rPr b="1"/>
              <a:t>prediction</a:t>
            </a:r>
            <a:r>
              <a:rPr/>
              <a:t>, not effect</a:t>
            </a:r>
          </a:p>
          <a:p>
            <a:pPr lvl="0" indent="0" marL="0">
              <a:buNone/>
            </a:pPr>
            <a:r>
              <a:rPr/>
              <a:t>Never write “cloud adoption drives productivity growth” from a forest. Write “cloud adoption is among the predictors the model relies on most.”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Common mistakes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Mistake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Consequence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Impurity importance in a table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Biased toward continuous and correlated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Importance read causally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central error of applied ML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OOB reported on a panel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Optimistic; countries repeat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Boosting without early stopping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Overfits as trees accumulate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Tuning and evaluating on one split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estimate is training error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the lab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/>
              <a:t>Fit the forest and the boosted model under grouped CV</a:t>
            </a:r>
          </a:p>
          <a:p>
            <a:pPr lvl="0" indent="-342900" marL="342900">
              <a:buAutoNum type="arabicPeriod"/>
            </a:pPr>
            <a:r>
              <a:rPr/>
              <a:t>Compare both to the Session 03 linear specification — does flexibility pay?</a:t>
            </a:r>
          </a:p>
          <a:p>
            <a:pPr lvl="0" indent="-342900" marL="342900">
              <a:buAutoNum type="arabicPeriod"/>
            </a:pPr>
            <a:r>
              <a:rPr/>
              <a:t>Produce permutation importance, and check whether </a:t>
            </a:r>
            <a:r>
              <a:rPr>
                <a:latin typeface="Courier"/>
              </a:rPr>
              <a:t>aux_*</a:t>
            </a:r>
            <a:r>
              <a:rPr/>
              <a:t> columns rank highly</a:t>
            </a:r>
          </a:p>
          <a:p>
            <a:pPr lvl="0" indent="-342900" marL="342900">
              <a:buAutoNum type="arabicPeriod"/>
            </a:pPr>
            <a:r>
              <a:rPr/>
              <a:t>Draw two PDPs and describe the shapes in words</a:t>
            </a:r>
          </a:p>
          <a:p>
            <a:pPr lvl="0" indent="-342900" marL="342900">
              <a:buAutoNum type="arabicPeriod"/>
            </a:pPr>
            <a:r>
              <a:rPr/>
              <a:t>Three sentences, using prediction language throughout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Trees, Forests, and Boosting</dc:title>
  <dc:creator>Thierry Warin</dc:creator>
  <cp:keywords/>
  <dcterms:created xsi:type="dcterms:W3CDTF">2026-08-19T12:45:11Z</dcterms:created>
  <dcterms:modified xsi:type="dcterms:W3CDTF">2026-08-19T12:45:11Z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date">
    <vt:lpwstr>18 August 2026</vt:lpwstr>
  </property>
  <property fmtid="{D5CDD505-2E9C-101B-9397-08002B2CF9AE}" pid="8" name="date-format">
    <vt:lpwstr>D MMMM YYYY</vt:lpwstr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institute">
    <vt:lpwstr>HEC Montréal</vt:lpwstr>
  </property>
  <property fmtid="{D5CDD505-2E9C-101B-9397-08002B2CF9AE}" pid="13" name="institutes">
    <vt:lpwstr/>
  </property>
  <property fmtid="{D5CDD505-2E9C-101B-9397-08002B2CF9AE}" pid="14" name="labels">
    <vt:lpwstr/>
  </property>
  <property fmtid="{D5CDD505-2E9C-101B-9397-08002B2CF9AE}" pid="15" name="subtitle">
    <vt:lpwstr>Session 07 · Flexible prediction, and the importance measures that mislead you</vt:lpwstr>
  </property>
  <property fmtid="{D5CDD505-2E9C-101B-9397-08002B2CF9AE}" pid="16" name="toc-title">
    <vt:lpwstr>Table of contents</vt:lpwstr>
  </property>
</Properties>
</file>