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4" Type="http://schemas.openxmlformats.org/officeDocument/2006/relationships/viewProps" Target="viewProps.xml" /><Relationship Id="rId3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6" Type="http://schemas.openxmlformats.org/officeDocument/2006/relationships/tableStyles" Target="tableStyles.xml" /><Relationship Id="rId3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Trees, Forests, and Gradient Boosting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07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we abandon linearity, is interpretability recoverable?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slides follow the notes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 trees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Cost-complexity pruning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Bagging and the variance argument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Gradient boosting as functional gradient descent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Recovering interpretation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numbering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7.1 Regression trees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Partition the feature space into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regions and predict a constant in each: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f</m:t>
                          </m:r>
                        </m:e>
                      </m:acc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m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m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  <m:scr m:val="double-struck"/>
                        </m:rPr>
                        <m:t>1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∈</m:t>
                      </m:r>
                      <m:sSub>
                        <m:e>
                          <m:r>
                            <m:t>R</m:t>
                          </m:r>
                        </m:e>
                        <m:sub>
                          <m:r>
                            <m:t>m</m:t>
                          </m:r>
                        </m:sub>
                      </m:sSub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Under squared loss the optimal constant is the region mean: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c</m:t>
                              </m:r>
                            </m:e>
                          </m:acc>
                        </m:e>
                        <m:sub>
                          <m:r>
                            <m:t>m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ave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∣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∈</m:t>
                          </m:r>
                          <m:sSub>
                            <m:e>
                              <m:r>
                                <m:t>R</m:t>
                              </m:r>
                            </m:e>
                            <m:sub>
                              <m:r>
                                <m:t>m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 tree is a step function. That is the whole model.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Greedy splitting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Finding the optimal partition is computationally infeasible, so we proceed </a:t>
                </a:r>
                <a:r>
                  <a:rPr b="1"/>
                  <a:t>greedily</a:t>
                </a:r>
                <a:r>
                  <a:rPr/>
                  <a:t>. At each node, search over splitting variable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and split point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s</m:t>
                          </m:r>
                        </m:lim>
                      </m:limLow>
                      <m:r>
                        <m:t> 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min</m:t>
                              </m:r>
                            </m:e>
                            <m:lim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</m:lim>
                          </m:limLow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∈</m:t>
                              </m:r>
                              <m:sSub>
                                <m:e>
                                  <m:r>
                                    <m:t>R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j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s</m:t>
                                  </m:r>
                                </m:e>
                              </m:d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sSub>
                                        <m:e>
                                          <m:r>
                                            <m:t>c</m:t>
                                          </m:r>
                                        </m:e>
                                        <m:sub>
                                          <m: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  <m:r>
                            <m:rPr>
                              <m:sty m:val="p"/>
                            </m:rPr>
                            <m:t>+</m:t>
                          </m:r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min</m:t>
                              </m:r>
                            </m:e>
                            <m:lim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</m:sSub>
                            </m:lim>
                          </m:limLow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∈</m:t>
                              </m:r>
                              <m:sSub>
                                <m:e>
                                  <m:r>
                                    <m:t>R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j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s</m:t>
                                  </m:r>
                                </m:e>
                              </m:d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sSub>
                                        <m:e>
                                          <m:r>
                                            <m:t>c</m:t>
                                          </m:r>
                                        </m:e>
                                        <m:sub>
                                          <m: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sSub>
                      <m:e>
                        <m:r>
                          <m:t>R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j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s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{</m:t>
                    </m:r>
                    <m:r>
                      <m:t>x</m:t>
                    </m:r>
                    <m:r>
                      <m:rPr>
                        <m:sty m:val="p"/>
                      </m:rPr>
                      <m:t>: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≤</m:t>
                    </m:r>
                    <m:r>
                      <m:t>s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R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j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s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{</m:t>
                    </m:r>
                    <m:r>
                      <m:t>x</m:t>
                    </m:r>
                    <m:r>
                      <m:rPr>
                        <m:sty m:val="p"/>
                      </m:rPr>
                      <m:t>: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&gt;</m:t>
                    </m:r>
                    <m:r>
                      <m:t>s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inner minimisations are just means, so one scan over sorted values of each feature suffices: </a:t>
                </a:r>
                <a14:m>
                  <m:oMath xmlns:m="http://schemas.openxmlformats.org/officeDocument/2006/math">
                    <m:r>
                      <m:t>O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p</m:t>
                        </m:r>
                        <m:r>
                          <m:t> </m:t>
                        </m:r>
                        <m:r>
                          <m:t>n</m:t>
                        </m:r>
                        <m:r>
                          <m:rPr>
                            <m:sty m:val="p"/>
                          </m:rPr>
                          <m:t>log</m:t>
                        </m:r>
                        <m:r>
                          <m:t>n</m:t>
                        </m:r>
                      </m:e>
                    </m:d>
                  </m:oMath>
                </a14:m>
                <a:r>
                  <a:rPr/>
                  <a:t> per node.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Impurity, for classification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Replace variance with a measure on the node class proportions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p</m:t>
                            </m:r>
                          </m:e>
                        </m:acc>
                      </m:e>
                      <m:sub>
                        <m:r>
                          <m:t>m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Gini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k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p</m:t>
                                  </m:r>
                                </m:e>
                              </m:acc>
                            </m:e>
                            <m:sub>
                              <m:r>
                                <m:t>m</m:t>
                              </m:r>
                              <m:r>
                                <m:t>k</m:t>
                              </m:r>
                            </m:sub>
                          </m:sSub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p</m:t>
                                  </m:r>
                                </m:e>
                              </m:acc>
                            </m:e>
                            <m:sub>
                              <m:r>
                                <m:t>m</m:t>
                              </m:r>
                              <m:r>
                                <m:t>k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rPr>
                          <m:nor/>
                          <m:sty m:val="p"/>
                        </m:rPr>
                        <m:t>Entropy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k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p</m:t>
                                  </m:r>
                                </m:e>
                              </m:acc>
                            </m:e>
                            <m:sub>
                              <m:r>
                                <m:t>m</m:t>
                              </m:r>
                              <m:r>
                                <m:t>k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log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p</m:t>
                              </m:r>
                            </m:e>
                          </m:acc>
                        </m:e>
                        <m:sub>
                          <m:r>
                            <m:t>m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Misclassification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t>k</m:t>
                          </m:r>
                        </m:lim>
                      </m:limLow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p</m:t>
                              </m:r>
                            </m:e>
                          </m:acc>
                        </m:e>
                        <m:sub>
                          <m:r>
                            <m:t>m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Which to grow with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Gini and entropy are differentiable and strictly concave, so they reward splits producing </a:t>
            </a:r>
            <a:r>
              <a:rPr i="1"/>
              <a:t>purer</a:t>
            </a:r>
            <a:r>
              <a:rPr/>
              <a:t> nodes </a:t>
            </a:r>
            <a:r>
              <a:rPr b="1"/>
              <a:t>even when the majority class does not change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Misclassification error is insensitive to that and makes a poor </a:t>
            </a:r>
            <a:r>
              <a:rPr b="1"/>
              <a:t>growing</a:t>
            </a:r>
            <a:r>
              <a:rPr/>
              <a:t> criterion — though it is the right criterion for </a:t>
            </a:r>
            <a:r>
              <a:rPr b="1"/>
              <a:t>pruning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7.2 Cost-complexity pruning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Grow, then cut back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Grow a large tree 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, then choose a subtree minimising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γ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m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d>
                            <m:dPr>
                              <m:begChr m:val="|"/>
                              <m:sepChr m:val=""/>
                              <m:endChr m:val="|"/>
                              <m:grow/>
                            </m:dPr>
                            <m:e>
                              <m:r>
                                <m:t>T</m:t>
                              </m:r>
                            </m:e>
                          </m:d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∈</m:t>
                              </m:r>
                              <m:sSub>
                                <m:e>
                                  <m:r>
                                    <m:t>R</m:t>
                                  </m:r>
                                </m:e>
                                <m:sub>
                                  <m:r>
                                    <m:t>m</m:t>
                                  </m:r>
                                </m:sub>
                              </m:sSub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sSub>
                                        <m:e>
                                          <m:acc>
                                            <m:accPr>
                                              <m:chr m:val="̂"/>
                                            </m:accPr>
                                            <m:e>
                                              <m:r>
                                                <m:t>c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m:t>m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r>
                        <m:t>γ</m:t>
                      </m:r>
                      <m:d>
                        <m:dPr>
                          <m:begChr m:val="|"/>
                          <m:sepChr m:val=""/>
                          <m:endChr m:val="|"/>
                          <m:grow/>
                        </m:dPr>
                        <m:e>
                          <m:r>
                            <m:t>T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Weakest-link pruning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As </a:t>
                </a:r>
                <a14:m>
                  <m:oMath xmlns:m="http://schemas.openxmlformats.org/officeDocument/2006/math">
                    <m:r>
                      <m:t>γ</m:t>
                    </m:r>
                  </m:oMath>
                </a14:m>
                <a:r>
                  <a:rPr/>
                  <a:t> increases from 0, the sequence of optimal subtrees is </a:t>
                </a:r>
                <a:r>
                  <a:rPr b="1"/>
                  <a:t>nested</a:t>
                </a:r>
                <a:r>
                  <a:rPr/>
                  <a:t>, obtained by successively collapsing the internal node with the smallest per-leaf increase in error.</a:t>
                </a:r>
              </a:p>
              <a:p>
                <a:pPr lvl="0" indent="0" marL="0">
                  <a:buNone/>
                </a:pPr>
                <a:r>
                  <a:rPr/>
                  <a:t>That gives a </a:t>
                </a:r>
                <a:r>
                  <a:rPr b="1"/>
                  <a:t>one-dimensional family</a:t>
                </a:r>
                <a:r>
                  <a:rPr/>
                  <a:t> indexed by </a:t>
                </a:r>
                <a14:m>
                  <m:oMath xmlns:m="http://schemas.openxmlformats.org/officeDocument/2006/math">
                    <m:r>
                      <m:t>γ</m:t>
                    </m:r>
                  </m:oMath>
                </a14:m>
                <a:r>
                  <a:rPr/>
                  <a:t> — selected by cross-validation, exactly as we selected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in Session 05.</a:t>
                </a:r>
              </a:p>
              <a:p>
                <a:pPr lvl="0" indent="0" marL="0">
                  <a:buNone/>
                </a:pPr>
                <a:r>
                  <a:rPr/>
                  <a:t>The structural parallel is worth noticing: </a:t>
                </a:r>
                <a:r>
                  <a:rPr i="1"/>
                  <a:t>every</a:t>
                </a:r>
                <a:r>
                  <a:rPr/>
                  <a:t> method in this course has a complexity dial and a CV procedure for setting it.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7.3 Bagging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variance argument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Average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trees fitted on bootstrap samples. If each has variance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and any two have correlation </a:t>
                </a:r>
                <a14:m>
                  <m:oMath xmlns:m="http://schemas.openxmlformats.org/officeDocument/2006/math">
                    <m:r>
                      <m:t>ρ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B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f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b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ρ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ρ</m:t>
                          </m:r>
                        </m:num>
                        <m:den>
                          <m:r>
                            <m:t>B</m:t>
                          </m:r>
                        </m:den>
                      </m:f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 </m:t>
                      </m:r>
                      <m:limLow>
                        <m:e>
                          <m:limUpp>
                            <m:e>
                              <m:r>
                                <m:rPr>
                                  <m:sty m:val="p"/>
                                </m:rPr>
                                <m:t>→</m:t>
                              </m:r>
                            </m:e>
                            <m:lim>
                              <m:r>
                                <m:t>​</m:t>
                              </m:r>
                            </m:lim>
                          </m:limUpp>
                        </m:e>
                        <m:lim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→</m:t>
                          </m:r>
                          <m:r>
                            <m:rPr>
                              <m:sty m:val="p"/>
                            </m:rPr>
                            <m:t>∞</m:t>
                          </m:r>
                        </m:lim>
                      </m:limLow>
                      <m:r>
                        <m:t> </m:t>
                      </m:r>
                      <m:r>
                        <m:t>ρ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that limit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Increasing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kills the second term but leaves </a:t>
                </a:r>
                <a14:m>
                  <m:oMath xmlns:m="http://schemas.openxmlformats.org/officeDocument/2006/math">
                    <m:r>
                      <m:t>ρ</m:t>
                    </m:r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</a:t>
                </a:r>
                <a:r>
                  <a:rPr b="1"/>
                  <a:t>untouched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This is the entire motivation for random forests.</a:t>
                </a:r>
              </a:p>
              <a:p>
                <a:pPr lvl="0" indent="0" marL="0">
                  <a:buNone/>
                </a:pPr>
                <a:r>
                  <a:rPr/>
                  <a:t>If one predictor is strongly dominant, every bagged tree splits on it first and the trees are nearly identical: </a:t>
                </a:r>
                <a14:m>
                  <m:oMath xmlns:m="http://schemas.openxmlformats.org/officeDocument/2006/math">
                    <m:r>
                      <m:t>ρ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1</m:t>
                    </m:r>
                  </m:oMath>
                </a14:m>
                <a:r>
                  <a:rPr/>
                  <a:t>, and bagging buys almost nothing.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 forests decorrelate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Restrict each split to a random subset of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features.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⌊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t>p</m:t>
                        </m:r>
                      </m:e>
                    </m:rad>
                    <m:r>
                      <m:rPr>
                        <m:sty m:val="p"/>
                      </m:rPr>
                      <m:t>⌋</m:t>
                    </m:r>
                  </m:oMath>
                </a14:m>
                <a:r>
                  <a:rPr/>
                  <a:t> for classification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⌊</m:t>
                    </m:r>
                    <m:r>
                      <m:t>p</m:t>
                    </m:r>
                    <m:r>
                      <m:rPr>
                        <m:sty m:val="p"/>
                      </m:rPr>
                      <m:t>/</m:t>
                    </m:r>
                    <m:r>
                      <m:t>3</m:t>
                    </m:r>
                    <m:r>
                      <m:rPr>
                        <m:sty m:val="p"/>
                      </m:rPr>
                      <m:t>⌋</m:t>
                    </m:r>
                  </m:oMath>
                </a14:m>
                <a:r>
                  <a:rPr/>
                  <a:t> for regression</a:t>
                </a:r>
              </a:p>
              <a:p>
                <a:pPr lvl="0" indent="0" marL="0">
                  <a:buNone/>
                </a:pPr>
                <a:r>
                  <a:rPr/>
                  <a:t>Lower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lowers </a:t>
                </a:r>
                <a14:m>
                  <m:oMath xmlns:m="http://schemas.openxmlformats.org/officeDocument/2006/math">
                    <m:r>
                      <m:t>ρ</m:t>
                    </m:r>
                  </m:oMath>
                </a14:m>
                <a:r>
                  <a:rPr/>
                  <a:t> but </a:t>
                </a:r>
                <a:r>
                  <a:rPr b="1"/>
                  <a:t>raises individual-tree bias</a:t>
                </a:r>
                <a:r>
                  <a:rPr/>
                  <a:t> — a bias–variance tradeoff </a:t>
                </a:r>
                <a:r>
                  <a:rPr i="1"/>
                  <a:t>within</a:t>
                </a:r>
                <a:r>
                  <a:rPr/>
                  <a:t> the ensemble, tuned by CV.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Out-of-bag error, free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Each observation is out-of-bag for roughly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/</m:t>
                              </m:r>
                              <m:r>
                                <m:t>n</m:t>
                              </m:r>
                            </m:e>
                          </m:d>
                        </m:e>
                        <m:sup>
                          <m:r>
                            <m:t>n</m:t>
                          </m:r>
                        </m:sup>
                      </m:sSup>
                      <m:r>
                        <m:rPr>
                          <m:sty m:val="p"/>
                        </m:rPr>
                        <m:t>→</m:t>
                      </m:r>
                      <m:sSup>
                        <m:e>
                          <m:r>
                            <m:t>e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r>
                        <m:rPr>
                          <m:sty m:val="p"/>
                        </m:rPr>
                        <m:t>≈</m:t>
                      </m:r>
                      <m:r>
                        <m:t>36.8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of trees, so the </a:t>
                </a:r>
                <a:r>
                  <a:rPr b="1"/>
                  <a:t>OOB error</a:t>
                </a:r>
                <a:r>
                  <a:rPr/>
                  <a:t> approximates CV error at no extra cost.</a:t>
                </a:r>
              </a:p>
              <a:p>
                <a:pPr lvl="0" indent="0" marL="0">
                  <a:buNone/>
                </a:pPr>
                <a:r>
                  <a:rPr/>
                  <a:t>On a panel it is still optimistic — the omitted rows include other years of the same country. Group-aware CV remains the honest number.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7.4 Gradient boosting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Functional gradient descent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Instead of averaging independent trees, build them </a:t>
                </a:r>
                <a:r>
                  <a:rPr b="1"/>
                  <a:t>sequentially</a:t>
                </a:r>
                <a:r>
                  <a:rPr/>
                  <a:t>, each correcting its predecessor.</a:t>
                </a:r>
              </a:p>
              <a:p>
                <a:pPr lvl="0" indent="0" marL="0">
                  <a:buNone/>
                </a:pPr>
                <a:r>
                  <a:rPr/>
                  <a:t>Think of minimising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t>L</m:t>
                        </m:r>
                      </m:e>
                    </m:nary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r>
                          <m:t>F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/>
                  <a:t> over the </a:t>
                </a:r>
                <a:r>
                  <a:rPr i="1"/>
                  <a:t>function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, by gradient descent </a:t>
                </a:r>
                <a:r>
                  <a:rPr b="1"/>
                  <a:t>in function space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pseudo-residual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At stage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, the negative gradient at the current fit: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r</m:t>
                          </m:r>
                        </m:e>
                        <m:sub>
                          <m:r>
                            <m:t>i</m:t>
                          </m:r>
                          <m:r>
                            <m:t>m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L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,</m:t>
                                      </m:r>
                                      <m:r>
                                        <m:t>F</m:t>
                                      </m:r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d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F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  <m:sub>
                          <m:r>
                            <m:t>F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sSub>
                            <m:e>
                              <m:r>
                                <m:t>F</m:t>
                              </m:r>
                            </m:e>
                            <m:sub>
                              <m:r>
                                <m:t>m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</a:p>
              <a:p>
                <a:pPr lvl="0"/>
                <a:r>
                  <a:rPr b="1"/>
                  <a:t>Squared loss: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r</m:t>
                        </m:r>
                      </m:e>
                      <m:sub>
                        <m:r>
                          <m:t>i</m:t>
                        </m:r>
                        <m:r>
                          <m:t>m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m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— literally the residual</a:t>
                </a:r>
              </a:p>
              <a:p>
                <a:pPr lvl="0"/>
                <a:r>
                  <a:rPr b="1"/>
                  <a:t>Logistic loss: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r</m:t>
                        </m:r>
                      </m:e>
                      <m:sub>
                        <m:r>
                          <m:t>i</m:t>
                        </m:r>
                        <m:r>
                          <m:t>m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p</m:t>
                        </m:r>
                      </m:e>
                      <m:sub>
                        <m:r>
                          <m:t>m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— the same probability residual as Session 06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update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Fit a small tree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m</m:t>
                        </m:r>
                      </m:sub>
                    </m:sSub>
                  </m:oMath>
                </a14:m>
                <a:r>
                  <a:rPr/>
                  <a:t> to the pseudo-residuals: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m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m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ν</m:t>
                      </m:r>
                      <m:r>
                        <m:t> </m:t>
                      </m:r>
                      <m:sSub>
                        <m:e>
                          <m:r>
                            <m:t>γ</m:t>
                          </m:r>
                        </m:e>
                        <m:sub>
                          <m:r>
                            <m:t>m</m:t>
                          </m:r>
                        </m:sub>
                      </m:sSub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m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&lt;</m:t>
                      </m:r>
                      <m:r>
                        <m:t>ν</m:t>
                      </m:r>
                      <m:r>
                        <m:rPr>
                          <m:sty m:val="p"/>
                        </m:rPr>
                        <m:t>≤</m:t>
                      </m:r>
                      <m:r>
                        <m:t>1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shrinkage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ν</m:t>
                    </m:r>
                  </m:oMath>
                </a14:m>
                <a:r>
                  <a:rPr/>
                  <a:t> is essential: small </a:t>
                </a:r>
                <a14:m>
                  <m:oMath xmlns:m="http://schemas.openxmlformats.org/officeDocument/2006/math">
                    <m:r>
                      <m:t>ν</m:t>
                    </m:r>
                  </m:oMath>
                </a14:m>
                <a:r>
                  <a:rPr/>
                  <a:t> (0.01–0.1) with many trees generalises far better than large </a:t>
                </a:r>
                <a14:m>
                  <m:oMath xmlns:m="http://schemas.openxmlformats.org/officeDocument/2006/math">
                    <m:r>
                      <m:t>ν</m:t>
                    </m:r>
                  </m:oMath>
                </a14:m>
                <a:r>
                  <a:rPr/>
                  <a:t> with few. Halving </a:t>
                </a:r>
                <a14:m>
                  <m:oMath xmlns:m="http://schemas.openxmlformats.org/officeDocument/2006/math">
                    <m:r>
                      <m:t>ν</m:t>
                    </m:r>
                  </m:oMath>
                </a14:m>
                <a:r>
                  <a:rPr/>
                  <a:t> roughly doubles the required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Three interacting knobs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Knob</a:t></a:r></a:p></a:txBody><a:tcPr /></a:tc><a:tc><a:txBody><a:bodyPr /><a:lstStyle /><a:p><a:pPr lvl="0" indent="0" marL="0"><a:buNone /></a:pPr><a:r><a:rPr /><a:t>Controls</a:t></a:r></a:p></a:txBody><a:tcPr /></a:tc></a:tr><a:tr h="0"><a:tc><a:txBody><a:bodyPr /><a:lstStyle /><a:p><a:pPr lvl="0" indent="0" marL="0"><a:buNone /></a:pPr><a14:m><m:oMath xmlns:m="http://schemas.openxmlformats.org/officeDocument/2006/math"><m:r><m:t>ν</m:t></m:r></m:oMath></a14:m></a:p></a:txBody></a:tc><a:tc><a:txBody><a:bodyPr /><a:lstStyle /><a:p><a:pPr lvl="0" indent="0" marL="0"><a:buNone /></a:pPr><a:r><a:rPr /><a:t>learning rate — smaller generalises better</a:t></a:r></a:p></a:txBody></a:tc></a:tr><a:tr h="0"><a:tc><a:txBody><a:bodyPr /><a:lstStyle /><a:p><a:pPr lvl="0" indent="0" marL="0"><a:buNone /></a:pPr><a14:m><m:oMath xmlns:m="http://schemas.openxmlformats.org/officeDocument/2006/math"><m:r><m:t>M</m:t></m:r></m:oMath></a14:m></a:p></a:txBody></a:tc><a:tc><a:txBody><a:bodyPr /><a:lstStyle /><a:p><a:pPr lvl="0" indent="0" marL="0"><a:buNone /></a:pPr><a:r><a:rPr /><a:t>number of trees — </a:t></a:r><a:r><a:rPr b="1" /><a:t>too many overfits</a:t></a:r><a:r><a:rPr /><a:t>, unlike a forest</a:t></a:r></a:p></a:txBody></a:tc></a:tr><a:tr h="0"><a:tc><a:txBody><a:bodyPr /><a:lstStyle /><a:p><a:pPr lvl="0" indent="0" marL="0"><a:buNone /></a:pPr><a14:m><m:oMath xmlns:m="http://schemas.openxmlformats.org/officeDocument/2006/math"><m:r><m:t>d</m:t></m:r></m:oMath></a14:m></a:p></a:txBody></a:tc><a:tc><a:txBody><a:bodyPr /><a:lstStyle /><a:p><a:pPr lvl="0" indent="0" marL="0"><a:buNone /></a:pPr><a:r><a:rPr /><a:t>tree depth — maximum interaction order: </a:t></a:r><a14:m><m:oMath xmlns:m="http://schemas.openxmlformats.org/officeDocument/2006/math"><m:r><m:t>d</m:t></m:r><m:r><m:rPr><m:sty m:val="p" /></m:rPr><m:t>=</m:t></m:r><m:r><m:t>1</m:t></m:r></m:oMath></a14:m><a:r><a:rPr /><a:t> additive, </a:t></a:r><a14:m><m:oMath xmlns:m="http://schemas.openxmlformats.org/officeDocument/2006/math"><m:r><m:t>d</m:t></m:r><m:r><m:rPr><m:sty m:val="p" /></m:rPr><m:t>=</m:t></m:r><m:r><m:t>2</m:t></m:r></m:oMath></a14:m><a:r><a:rPr /><a:t> two-way</a:t></a:r></a:p></a:txBody></a:tc></a:tr></a:tbl></a:graphicData></a:graphic></p:graphicFrame></p:spTree></p:cSld>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forest does not overfit as you add trees. </a:t>
            </a:r>
            <a:r>
              <a:rPr b="1"/>
              <a:t>A boosted model does.</a:t>
            </a:r>
            <a:r>
              <a:rPr/>
              <a:t> The stopping point must be chosen on validation data.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XGBoost and LightGBM add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second-order expansion and an explicit penalty: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rPr>
                              <m:sty m:val="p"/>
                              <m:scr m:val="script"/>
                            </m:rPr>
                            <m:t>L</m:t>
                          </m:r>
                        </m:e>
                        <m: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m</m:t>
                              </m:r>
                            </m:e>
                          </m:d>
                        </m:sup>
                      </m:sSup>
                      <m:r>
                        <m:rPr>
                          <m:sty m:val="p"/>
                        </m:rPr>
                        <m:t>≈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sSub>
                                <m:e>
                                  <m:r>
                                    <m:t>g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sSub>
                                <m:e>
                                  <m:r>
                                    <m:t>h</m:t>
                                  </m:r>
                                </m:e>
                                <m:sub>
                                  <m:r>
                                    <m:t>m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lin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r>
                                    <m:t>2</m:t>
                                  </m:r>
                                </m:den>
                              </m:f>
                              <m:sSub>
                                <m:e>
                                  <m:r>
                                    <m:t>h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sSub>
                                <m:e>
                                  <m:r>
                                    <m:t>h</m:t>
                                  </m:r>
                                </m:e>
                                <m:sub>
                                  <m:r>
                                    <m:t>m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r>
                        <m:t>Ω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r>
                                <m:t>m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Ω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γ</m:t>
                      </m:r>
                      <m:d>
                        <m:dPr>
                          <m:begChr m:val="|"/>
                          <m:sepChr m:val=""/>
                          <m:endChr m:val="|"/>
                          <m:grow/>
                        </m:dPr>
                        <m:e>
                          <m: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lin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2</m:t>
                          </m:r>
                        </m:den>
                      </m:f>
                      <m:r>
                        <m:t>λ</m:t>
                      </m:r>
                      <m:r>
                        <m:rPr>
                          <m:sty m:val="p"/>
                        </m:rPr>
                        <m:t>∥</m:t>
                      </m:r>
                      <m:r>
                        <m:t>w</m:t>
                      </m:r>
                      <m:s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Solving for the optimal leaf weights gives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w</m:t>
                          </m:r>
                        </m:e>
                        <m:sub>
                          <m:r>
                            <m:t>j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⋆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G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Regularisation reappearing, in a third guise.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7.5 Recovering interpretation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five tools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answers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Impurity importance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often and how usefully a feature was split 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Permutation importance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much test error rises when the feature is scrambled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Partial dependence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average marginal relationship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ICE curves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per-observation version of a PDP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SHAP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additive attribution per prediction, from cooperative game theory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And their caveats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Method</a:t></a:r></a:p></a:txBody><a:tcPr /></a:tc><a:tc><a:txBody><a:bodyPr /><a:lstStyle /><a:p><a:pPr lvl="0" indent="0" marL="0"><a:buNone /></a:pPr><a:r><a:rPr /><a:t>Caveat</a:t></a:r></a:p></a:txBody><a:tcPr /></a:tc></a:tr><a:tr h="0"><a:tc><a:txBody><a:bodyPr /><a:lstStyle /><a:p><a:pPr lvl="0" indent="0" marL="0"><a:buNone /></a:pPr><a:r><a:rPr /><a:t>Impurity importance</a:t></a:r></a:p></a:txBody></a:tc><a:tc><a:txBody><a:bodyPr /><a:lstStyle /><a:p><a:pPr lvl="0" indent="0" marL="0"><a:buNone /></a:pPr><a:r><a:rPr /><a:t>Biased toward high-cardinality features; computed </a:t></a:r><a:r><a:rPr b="1" /><a:t>in-sample</a:t></a:r></a:p></a:txBody></a:tc></a:tr><a:tr h="0"><a:tc><a:txBody><a:bodyPr /><a:lstStyle /><a:p><a:pPr lvl="0" indent="0" marL="0"><a:buNone /></a:pPr><a:r><a:rPr b="1" /><a:t>Permutation importance</a:t></a:r></a:p></a:txBody></a:tc><a:tc><a:txBody><a:bodyPr /><a:lstStyle /><a:p><a:pPr lvl="0" indent="0" marL="0"><a:buNone /></a:pPr><a:r><a:rPr b="1" /><a:t>Breaks down under correlated features</a:t></a:r><a:r><a:rPr /><a:t> — creates impossible data points</a:t></a:r></a:p></a:txBody></a:tc></a:tr><a:tr h="0"><a:tc><a:txBody><a:bodyPr /><a:lstStyle /><a:p><a:pPr lvl="0" indent="0" marL="0"><a:buNone /></a:pPr><a:r><a:rPr /><a:t>Partial dependence</a:t></a:r></a:p></a:txBody></a:tc><a:tc><a:txBody><a:bodyPr /><a:lstStyle /><a:p><a:pPr lvl="0" indent="0" marL="0"><a:buNone /></a:pPr><a:r><a:rPr /><a:t>Assumes </a:t></a:r><a14:m><m:oMath xmlns:m="http://schemas.openxmlformats.org/officeDocument/2006/math"><m:sSub><m:e><m:r><m:t>x</m:t></m:r></m:e><m:sub><m:r><m:t>S</m:t></m:r></m:sub></m:sSub><m:r><m:rPr><m:sty m:val="p" /></m:rPr><m:t>⟂</m:t></m:r><m:sSub><m:e><m:r><m:t>x</m:t></m:r></m:e><m:sub><m:r><m:t>C</m:t></m:r></m:sub></m:sSub></m:oMath></a14:m><a:r><a:rPr /><a:t>; hides heterogeneity</a:t></a:r></a:p></a:txBody></a:tc></a:tr><a:tr h="0"><a:tc><a:txBody><a:bodyPr /><a:lstStyle /><a:p><a:pPr lvl="0" indent="0" marL="0"><a:buNone /></a:pPr><a:r><a:rPr /><a:t>ICE curves</a:t></a:r></a:p></a:txBody></a:tc><a:tc><a:txBody><a:bodyPr /><a:lstStyle /><a:p><a:pPr lvl="0" indent="0" marL="0"><a:buNone /></a:pPr><a:r><a:rPr /><a:t>Reveals the heterogeneity a PDP averages away</a:t></a:r></a:p></a:txBody></a:tc></a:tr><a:tr h="0"><a:tc><a:txBody><a:bodyPr /><a:lstStyle /><a:p><a:pPr lvl="0" indent="0" marL="0"><a:buNone /></a:pPr><a:r><a:rPr b="1" /><a:t>SHAP</a:t></a:r></a:p></a:txBody></a:tc><a:tc><a:txBody><a:bodyPr /><a:lstStyle /><a:p><a:pPr lvl="0" indent="0" marL="0"><a:buNone /></a:pPr><a:r><a:rPr /><a:t>Unique under efficiency/symmetry/dummy/additivity; costly; assumes a value function</a:t></a:r></a:p></a:txBody></a:tc></a:tr></a:tbl></a:graphicData></a:graphic></p:graphicFrame></p:spTree></p:cSld>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honest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These tools describe the </a:t>
            </a:r>
            <a:r>
              <a:rPr sz="2000" b="1"/>
              <a:t>model</a:t>
            </a:r>
            <a:r>
              <a:rPr sz="2000"/>
              <a:t>, not the world.</a:t>
            </a:r>
          </a:p>
          <a:p>
            <a:pPr lvl="0" indent="0" marL="0">
              <a:buNone/>
            </a:pPr>
            <a:r>
              <a:rPr/>
              <a:t>A large SHAP value means the model </a:t>
            </a:r>
            <a:r>
              <a:rPr b="1"/>
              <a:t>relies on</a:t>
            </a:r>
            <a:r>
              <a:rPr/>
              <a:t> that feature — not that the feature </a:t>
            </a:r>
            <a:r>
              <a:rPr b="1"/>
              <a:t>causes</a:t>
            </a:r>
            <a:r>
              <a:rPr/>
              <a:t> the outcome.</a:t>
            </a:r>
          </a:p>
          <a:p>
            <a:pPr lvl="0" indent="0" marL="0">
              <a:buNone/>
            </a:pPr>
            <a:r>
              <a:rPr/>
              <a:t>Session 10 is where we finally take causality seriously. Until then, every sentence you write is about prediction.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lab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Fit a pruned tree, a forest and a boosted model on your project, under grouped CV</a:t>
            </a:r>
          </a:p>
          <a:p>
            <a:pPr lvl="0" indent="-342900" marL="342900">
              <a:buAutoNum type="arabicPeriod"/>
            </a:pPr>
            <a:r>
              <a:rPr/>
              <a:t>Compare against the Session 03 linear specification — does flexibility pay?</a:t>
            </a:r>
          </a:p>
          <a:p>
            <a:pPr lvl="0" indent="-342900" marL="342900">
              <a:buAutoNum type="arabicPeriod"/>
            </a:pPr>
            <a:r>
              <a:rPr/>
              <a:t>Produce </a:t>
            </a:r>
            <a:r>
              <a:rPr b="1"/>
              <a:t>permutation</a:t>
            </a:r>
            <a:r>
              <a:rPr/>
              <a:t> importance, never impurity importance</a:t>
            </a:r>
          </a:p>
          <a:p>
            <a:pPr lvl="0" indent="-342900" marL="342900">
              <a:buAutoNum type="arabicPeriod"/>
            </a:pPr>
            <a:r>
              <a:rPr/>
              <a:t>Draw one PDP and one set of ICE curves; describe the shapes in words</a:t>
            </a:r>
          </a:p>
          <a:p>
            <a:pPr lvl="0" indent="0" marL="0">
              <a:buNone/>
            </a:pPr>
            <a:r>
              <a:rPr/>
              <a:t>Report the tuning you did and on which folds. A boosted model tuned and evaluated on one split is reporting training error.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What I did</a:t>
            </a:r>
            <a:r>
              <a:rPr/>
              <a:t> — the models, the CV scheme, the baseline they beat</a:t>
            </a:r>
          </a:p>
          <a:p>
            <a:pPr lvl="0" indent="-342900" marL="342900">
              <a:buAutoNum type="arabicPeriod"/>
            </a:pPr>
            <a:r>
              <a:rPr b="1"/>
              <a:t>The number</a:t>
            </a:r>
            <a:r>
              <a:rPr/>
              <a:t> — error in the units of the outcome</a:t>
            </a:r>
          </a:p>
          <a:p>
            <a:pPr lvl="0" indent="-342900" marL="342900">
              <a:buAutoNum type="arabicPeriod"/>
            </a:pPr>
            <a:r>
              <a:rPr b="1"/>
              <a:t>The catch</a:t>
            </a:r>
            <a:r>
              <a:rPr/>
              <a:t> — that every statement is about prediction, not effect</a:t>
            </a:r>
          </a:p>
          <a:p>
            <a:pPr lvl="0" indent="0" marL="0">
              <a:buNone/>
            </a:pPr>
            <a:r>
              <a:rPr/>
              <a:t>Full brief: </a:t>
            </a:r>
            <a:r>
              <a:rPr>
                <a:hlinkClick r:id="rId2"/>
                <a:latin typeface="Courier"/>
              </a:rPr>
              <a:t>02-lab/README.md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Trees, Forests, and Gradient Boosting</dc:title>
  <dc:creator>Thierry Warin</dc:creator>
  <cp:keywords/>
  <dcterms:created xsi:type="dcterms:W3CDTF">2026-08-20T19:40:13Z</dcterms:created>
  <dcterms:modified xsi:type="dcterms:W3CDTF">2026-08-20T19:40:13Z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07 · Lecture, first half</vt:lpwstr>
  </property>
  <property fmtid="{D5CDD505-2E9C-101B-9397-08002B2CF9AE}" pid="16" name="toc-title">
    <vt:lpwstr>Table of contents</vt:lpwstr>
  </property>
</Properties>
</file>