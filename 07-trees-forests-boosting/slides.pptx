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is interpretability recoverable?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Cost-complexity pruning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the variance argument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boosting as functional gradient descent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Recovering interpretation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7.1 Regression trees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feature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constant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m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the region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c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tree is a step function. That is the whole model.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Greedy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Finding the optimal partition is computationally infeasible, so we proceed </a:t>
                </a:r>
                <a:r>
                  <a:rPr b="1"/>
                  <a:t>greedily</a:t>
                </a:r>
                <a:r>
                  <a:rPr/>
                  <a:t>. 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r>
                        <m:t> 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just means, so one scan over sorted values of each feature suffices: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per node.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Impurity, for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Replace variance with a measure on the node class proportions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Misclassification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grow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and entropy are differentiable and strictly concave, so they reward splits producing </a:t>
            </a:r>
            <a:r>
              <a:rPr i="1"/>
              <a:t>purer</a:t>
            </a:r>
            <a:r>
              <a:rPr/>
              <a:t> nodes </a:t>
            </a:r>
            <a:r>
              <a:rPr b="1"/>
              <a:t>even when the majority class does not change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Misclassification error is insensitive to that and makes a poor </a:t>
            </a:r>
            <a:r>
              <a:rPr b="1"/>
              <a:t>growing</a:t>
            </a:r>
            <a:r>
              <a:rPr/>
              <a:t> criterion — though it is the right criterion for </a:t>
            </a:r>
            <a:r>
              <a:rPr b="1"/>
              <a:t>pruning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7.2 Cost-complexity pruning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Grow, then cut 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a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Weakest-link pruning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increases from 0, the sequence of optimal subtrees is </a:t>
                </a:r>
                <a:r>
                  <a:rPr b="1"/>
                  <a:t>nested</a:t>
                </a:r>
                <a:r>
                  <a:rPr/>
                  <a:t>, obtained by successively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gives a </a:t>
                </a:r>
                <a:r>
                  <a:rPr b="1"/>
                  <a:t>one-dimensional family</a:t>
                </a:r>
                <a:r>
                  <a:rPr/>
                  <a:t>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— selected by cross-validation, exactly as we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Session 05.</a:t>
                </a:r>
              </a:p>
              <a:p>
                <a:pPr lvl="0" indent="0" marL="0">
                  <a:buNone/>
                </a:pPr>
                <a:r>
                  <a:rPr/>
                  <a:t>The structural parallel is worth noticing: </a:t>
                </a:r>
                <a:r>
                  <a:rPr i="1"/>
                  <a:t>every</a:t>
                </a:r>
                <a:r>
                  <a:rPr/>
                  <a:t> method in this course has a complexity dial and a CV procedure for setting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7.3 Bagging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argument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Average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fitted on bootstrap samples. If each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second term but leaves </a:t>
                </a: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untouched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This is the entire motivation for random forests.</a:t>
                </a:r>
              </a:p>
              <a:p>
                <a:pPr lvl="0" indent="0" marL="0">
                  <a:buNone/>
                </a:pPr>
                <a:r>
                  <a:rPr/>
                  <a:t>If one predictor is strongly dominant, every bagged tree splits on it first and the trees are nearly identical: </a:t>
                </a: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and bagging buys almost nothing.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 decorrelate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</a:t>
                </a:r>
              </a:p>
              <a:p>
                <a:pPr lvl="0" indent="0" marL="0">
                  <a:buNone/>
                </a:pPr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lowers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but </a:t>
                </a:r>
                <a:r>
                  <a:rPr b="1"/>
                  <a:t>raises individual-tree bias</a:t>
                </a:r>
                <a:r>
                  <a:rPr/>
                  <a:t> — a bias–variance tradeoff </a:t>
                </a:r>
                <a:r>
                  <a:rPr i="1"/>
                  <a:t>within</a:t>
                </a:r>
                <a:r>
                  <a:rPr/>
                  <a:t> the ensemble, tuned by CV.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error, free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Each observation is out-of-bag for roughly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  <m:sup>
                          <m: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m:t>→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r>
                        <m:t>36.8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  <a:p>
                <a:pPr lvl="0" indent="0" marL="0">
                  <a:buNone/>
                </a:pPr>
                <a:r>
                  <a:rPr/>
                  <a:t>On a panel it is still optimistic — the omitted rows include other years of the same country. Group-aware CV remains the honest number.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7.4 Gradient boosting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averaging independent trees, build them </a:t>
                </a:r>
                <a:r>
                  <a:rPr b="1"/>
                  <a:t>sequentially</a:t>
                </a:r>
                <a:r>
                  <a:rPr/>
                  <a:t>, each correcting its predecessor.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over the </a:t>
                </a:r>
                <a:r>
                  <a:rPr i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by gradient descent </a:t>
                </a:r>
                <a:r>
                  <a:rPr b="1"/>
                  <a:t>in function space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pseudo-residual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stage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the negative gradient at the current fit: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i</m:t>
                          </m:r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L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r>
                            <m:t>F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Squared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literally the residual</a:t>
                </a:r>
              </a:p>
              <a:p>
                <a:pPr lvl="0"/>
                <a:r>
                  <a:rPr b="1"/>
                  <a:t>Logistic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the same probability residual as Session 06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the pseudo-residuals: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shrinkage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is essential: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many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few. 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doubles the required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interacting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Controls</a:t></a:r></a:p></a:txBody><a:tcPr /></a:tc></a:tr><a:tr h="0"><a:tc><a:txBody><a:bodyPr /><a:lstStyle /><a:p><a:pPr lvl="0" indent="0" marL="0"><a:buNone /></a:pPr><a14:m><m:oMath xmlns:m="http://schemas.openxmlformats.org/officeDocument/2006/math"><m:r><m:t>ν</m:t></m:r></m:oMath></a14:m></a:p></a:txBody></a:tc><a:tc><a:txBody><a:bodyPr /><a:lstStyle /><a:p><a:pPr lvl="0" indent="0" marL="0"><a:buNone /></a:pPr><a:r><a:rPr /><a:t>learning rate — smaller generalises better</a:t></a:r></a:p></a:txBody></a:tc></a:tr><a:tr h="0"><a:tc><a:txBody><a:bodyPr /><a:lstStyle /><a:p><a:pPr lvl="0" indent="0" marL="0"><a:buNone /></a:pPr><a14:m><m:oMath xmlns:m="http://schemas.openxmlformats.org/officeDocument/2006/math"><m:r><m:t>M</m:t></m:r></m:oMath></a14:m></a:p></a:txBody></a:tc><a:tc><a:txBody><a:bodyPr /><a:lstStyle /><a:p><a:pPr lvl="0" indent="0" marL="0"><a:buNone /></a:pPr><a:r><a:rPr /><a:t>number of trees — </a:t></a:r><a:r><a:rPr b="1" /><a:t>too many overfits</a:t></a:r><a:r><a:rPr /><a:t>, unlike a forest</a:t></a:r></a:p></a:txBody></a:tc></a:tr><a:tr h="0"><a:tc><a:txBody><a:bodyPr /><a:lstStyle /><a:p><a:pPr lvl="0" indent="0" marL="0"><a:buNone /></a:pPr><a14:m><m:oMath xmlns:m="http://schemas.openxmlformats.org/officeDocument/2006/math"><m:r><m:t>d</m:t></m:r></m:oMath></a14:m></a:p></a:txBody></a:tc><a:tc><a:txBody><a:bodyPr /><a:lstStyle /><a:p><a:pPr lvl="0" indent="0" marL="0"><a:buNone /></a:pPr><a:r><a:rPr /><a:t>tree depth — maximum interaction order: </a:t></a:r><a14:m><m:oMath xmlns:m="http://schemas.openxmlformats.org/officeDocument/2006/math"><m:r><m:t>d</m:t></m:r><m:r><m:rPr><m:sty m:val="p" /></m:rPr><m:t>=</m:t></m:r><m:r><m:t>1</m:t></m:r></m:oMath></a14:m><a:r><a:rPr /><a:t> additive, </a:t></a:r><a14:m><m:oMath xmlns:m="http://schemas.openxmlformats.org/officeDocument/2006/math"><m:r><m:t>d</m:t></m:r><m:r><m:rPr><m:sty m:val="p" /></m:rPr><m:t>=</m:t></m:r><m:r><m:t>2</m:t></m:r></m:oMath></a14:m><a:r><a:rPr /><a:t> two-way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XGBoost and LightGBM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second-order expansion and an explicit penalty: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weights gives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Regularisation reappearing, in a third guise.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7.5 Recovering interpretation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and how usefully a feature was split 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Permutation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test error rises when the feature is scrambled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marginal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 curves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per-observation version of a PDP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additive attribution per prediction, from cooperative game theory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And their caveats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Biased toward high-cardinality features; computed </a:t></a:r><a:r><a:rPr b="1" /><a:t>in-sample</a:t></a:r></a:p></a:txBody></a:tc></a:tr><a:tr h="0"><a:tc><a:txBody><a:bodyPr /><a:lstStyle /><a:p><a:pPr lvl="0" indent="0" marL="0"><a:buNone /></a:pPr><a:r><a:rPr b="1" /><a:t>Permutation importance</a:t></a:r></a:p></a:txBody></a:tc><a:tc><a:txBody><a:bodyPr /><a:lstStyle /><a:p><a:pPr lvl="0" indent="0" marL="0"><a:buNone /></a:pPr><a:r><a:rPr b="1" /><a:t>Breaks down under correlated features</a:t></a:r><a:r><a:rPr /><a:t> — creates impossible data points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Reveals the heterogeneity a PDP averages away</a:t></a:r></a:p></a:txBody></a:tc></a:tr><a:tr h="0"><a:tc><a:txBody><a:bodyPr /><a:lstStyle /><a:p><a:pPr lvl="0" indent="0" marL="0"><a:buNone /></a:pPr><a:r><a:rPr b="1" /><a:t>SHAP</a:t></a:r></a:p></a:txBody></a:tc><a:tc><a:txBody><a:bodyPr /><a:lstStyle /><a:p><a:pPr lvl="0" indent="0" marL="0"><a:buNone /></a:pPr><a:r><a:rPr /><a:t>Unique under efficiency/symmetry/dummy/additivity; costly; assumes a value function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These tools describe the </a:t>
            </a:r>
            <a:r>
              <a:rPr sz="2000" b="1"/>
              <a:t>model</a:t>
            </a:r>
            <a:r>
              <a:rPr sz="2000"/>
              <a:t>, not the world.</a:t>
            </a:r>
          </a:p>
          <a:p>
            <a:pPr lvl="0" indent="0" marL="0">
              <a:buNone/>
            </a:pPr>
            <a:r>
              <a:rPr/>
              <a:t>A large SHAP value means the model </a:t>
            </a:r>
            <a:r>
              <a:rPr b="1"/>
              <a:t>relies on</a:t>
            </a:r>
            <a:r>
              <a:rPr/>
              <a:t> that feature — not that the feature </a:t>
            </a:r>
            <a:r>
              <a:rPr b="1"/>
              <a:t>causes</a:t>
            </a:r>
            <a:r>
              <a:rPr/>
              <a:t> the outcome.</a:t>
            </a:r>
          </a:p>
          <a:p>
            <a:pPr lvl="0" indent="0" marL="0">
              <a:buNone/>
            </a:pPr>
            <a:r>
              <a:rPr/>
              <a:t>Session 10 is where we finally take causality seriously. Until then, every sentence you write is about prediction.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a pruned tree, a forest and a boosted model on your project, under grouped CV</a:t>
            </a:r>
          </a:p>
          <a:p>
            <a:pPr lvl="0" indent="-342900" marL="342900">
              <a:buAutoNum type="arabicPeriod"/>
            </a:pPr>
            <a:r>
              <a:rPr/>
              <a:t>Compare against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</a:t>
            </a:r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 indent="-342900" marL="342900">
              <a:buAutoNum type="arabicPeriod"/>
            </a:pPr>
            <a:r>
              <a:rPr/>
              <a:t>Draw one PDP and one set of ICE curves; describe the shapes in words</a:t>
            </a:r>
          </a:p>
          <a:p>
            <a:pPr lvl="0" indent="0" marL="0">
              <a:buNone/>
            </a:pPr>
            <a:r>
              <a:rPr/>
              <a:t>Report the tuning you did and on which folds. A boosted model tuned and evaluated on one split is reporting training error.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models, the CV scheme, the baseline they beat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in the units of the outcome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every statement is about prediction, not effect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2026-08-20T20:45:03Z</dcterms:created>
  <dcterms:modified xsi:type="dcterms:W3CDTF">2026-08-20T20:45:03Z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Lecture, first half</vt:lpwstr>
  </property>
  <property fmtid="{D5CDD505-2E9C-101B-9397-08002B2CF9AE}" pid="16" name="toc-title">
    <vt:lpwstr>Table of contents</vt:lpwstr>
  </property>
</Properties>
</file>