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hundred macro series move together. How many things are actually happening?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we are, and what this adds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PCA as variance maximisation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SVD, and the best low-rank approximation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more series </a:t>
                      </a:r>
                      <a:r>
                        <a:rPr i="1"/>
                        <a:t>helps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Diffusion-index forecasting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takeaways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Derive PCA from a constrained maximisation and see </a:t>
            </a:r>
            <a:r>
              <a:rPr b="1"/>
              <a:t>why the answer is an eigenvector</a:t>
            </a:r>
          </a:p>
          <a:p>
            <a:pPr lvl="0"/>
            <a:r>
              <a:rPr/>
              <a:t>State Eckart–Young and say exactly </a:t>
            </a:r>
            <a:r>
              <a:rPr b="1"/>
              <a:t>what you lose</a:t>
            </a:r>
            <a:r>
              <a:rPr/>
              <a:t> by truncating</a:t>
            </a:r>
          </a:p>
          <a:p>
            <a:pPr lvl="0"/>
            <a:r>
              <a:rPr/>
              <a:t>Explain why extra series </a:t>
            </a:r>
            <a:r>
              <a:rPr b="1"/>
              <a:t>help</a:t>
            </a:r>
            <a:r>
              <a:rPr/>
              <a:t> factor estimation and </a:t>
            </a:r>
            <a:r>
              <a:rPr b="1"/>
              <a:t>hurt</a:t>
            </a:r>
            <a:r>
              <a:rPr/>
              <a:t> regression</a:t>
            </a:r>
          </a:p>
          <a:p>
            <a:pPr lvl="0"/>
            <a:r>
              <a:rPr/>
              <a:t>Report a factor count from several criteria, and say what to do when they disagree</a:t>
            </a:r>
          </a:p>
          <a:p>
            <a:pPr lvl="0"/>
            <a:r>
              <a:rPr/>
              <a:t>Apply Session 04’s rolling-origin discipline to the </a:t>
            </a:r>
            <a:r>
              <a:rPr b="1"/>
              <a:t>unsupervised</a:t>
            </a:r>
            <a:r>
              <a:rPr/>
              <a:t> step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Every session so far had a </a:t></a:r><a14:m><m:oMath xmlns:m="http://schemas.openxmlformats.org/officeDocument/2006/math"><m:r><m:t>y</m:t></m:r></m:oMath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question</a:t></a:r></a:p></a:txBody><a:tcPr /></a:tc></a:tr><a:tr h="0"><a:tc><a:txBody><a:bodyPr /><a:lstStyle /><a:p><a:pPr lvl="0" indent="0" marL="0"><a:buNone /></a:pPr><a:r><a:rPr b="1" /><a:t>02–03</a:t></a:r></a:p></a:txBody></a:tc><a:tc><a:txBody><a:bodyPr /><a:lstStyle /><a:p><a:pPr lvl="0" indent="0" marL="0"><a:buNone /></a:pPr><a:r><a:rPr /><a:t>given </a:t></a:r><a14:m><m:oMath xmlns:m="http://schemas.openxmlformats.org/officeDocument/2006/math"><m:r><m:t>y</m:t></m:r></m:oMath></a14:m><a:r><a:rPr /><a:t> and </a:t></a:r><a14:m><m:oMath xmlns:m="http://schemas.openxmlformats.org/officeDocument/2006/math"><m:r><m:t>X</m:t></m:r></m:oMath></a14:m><a:r><a:rPr /><a:t>, what is </a:t></a:r><a14:m><m:oMath xmlns:m="http://schemas.openxmlformats.org/officeDocument/2006/math"><m:acc><m:accPr><m:chr m:val="̂" /></m:accPr><m:e><m:r><m:t>β</m:t></m:r></m:e></m:acc></m:oMath></a14:m><a:r><a:rPr /><a:t>, and how sure are we?</a:t></a:r></a:p></a:txBody></a:tc></a:tr><a:tr h="0"><a:tc><a:txBody><a:bodyPr /><a:lstStyle /><a:p><a:pPr lvl="0" indent="0" marL="0"><a:buNone /></a:pPr><a:r><a:rPr b="1" /><a:t>04–05</a:t></a:r></a:p></a:txBody></a:tc><a:tc><a:txBody><a:bodyPr /><a:lstStyle /><a:p><a:pPr lvl="0" indent="0" marL="0"><a:buNone /></a:pPr><a:r><a:rPr /><a:t>given </a:t></a:r><a14:m><m:oMath xmlns:m="http://schemas.openxmlformats.org/officeDocument/2006/math"><m:r><m:t>y</m:t></m:r></m:oMath></a14:m><a:r><a:rPr /><a:t>, how well can we predict it, and how do we tune?</a:t></a:r></a:p></a:txBody></a:tc></a:tr><a:tr h="0"><a:tc><a:txBody><a:bodyPr /><a:lstStyle /><a:p><a:pPr lvl="0" indent="0" marL="0"><a:buNone /></a:pPr><a:r><a:rPr b="1" /><a:t>06–07</a:t></a:r></a:p></a:txBody></a:tc><a:tc><a:txBody><a:bodyPr /><a:lstStyle /><a:p><a:pPr lvl="0" indent="0" marL="0"><a:buNone /></a:pPr><a:r><a:rPr /><a:t>given a binary </a:t></a:r><a14:m><m:oMath xmlns:m="http://schemas.openxmlformats.org/officeDocument/2006/math"><m:r><m:t>y</m:t></m:r></m:oMath></a14:m><a:r><a:rPr /><a:t>, where do we set the threshold?</a:t></a:r></a:p></a:txBody></a:tc></a:tr></a:tbl></a:graphicData></a:graphic></p:graphicFrame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of it was </a:t>
            </a:r>
            <a:r>
              <a:rPr b="1"/>
              <a:t>supervised</a:t>
            </a:r>
            <a:r>
              <a:rPr/>
              <a:t>. There was always an outcome telling you what to look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Today there is no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The question is about the </a:t>
                </a:r>
                <a:r>
                  <a:rPr sz="2000" b="1"/>
                  <a:t>structure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 sz="2000" b="1"/>
                  <a:t> itself</a:t>
                </a:r>
                <a:r>
                  <a:rPr sz="2000"/>
                  <a:t>.</a:t>
                </a:r>
              </a:p>
              <a:p>
                <a:pPr lvl="0"/>
                <a:r>
                  <a:rPr/>
                  <a:t>You have 200 macro series. They visibly move together</a:t>
                </a:r>
              </a:p>
              <a:p>
                <a:pPr lvl="0"/>
                <a:r>
                  <a:rPr/>
                  <a:t>Nobody labelled which of them matter, because there is nothing yet to matter </a:t>
                </a:r>
                <a:r>
                  <a:rPr i="1"/>
                  <a:t>for</a:t>
                </a:r>
              </a:p>
              <a:p>
                <a:pPr lvl="0"/>
                <a:r>
                  <a:rPr/>
                  <a:t>The question is: </a:t>
                </a:r>
                <a:r>
                  <a:rPr b="1"/>
                  <a:t>how many distinct things are being measured?</a:t>
                </a:r>
              </a:p>
              <a:p>
                <a:pPr lvl="0" indent="0" marL="0">
                  <a:buNone/>
                </a:pPr>
                <a:r>
                  <a:rPr/>
                  <a:t>This is not a detour. Once you can compress 200 series into 3 factors, you can put those 3 factors into any of the supervised methods from Sessions 03–07 — and that is what a </a:t>
                </a:r>
                <a:r>
                  <a:rPr i="1"/>
                  <a:t>diffusion index</a:t>
                </a:r>
                <a:r>
                  <a:rPr/>
                  <a:t> is.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connection you should be looking for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 05 shrank coefficients along the SVD basis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damping small-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directions smoothly.</a:t>
                </a:r>
              </a:p>
              <a:p>
                <a:pPr lvl="0" indent="0" marL="0">
                  <a:buNone/>
                </a:pPr>
                <a:r>
                  <a:rPr/>
                  <a:t>Today we </a:t>
                </a:r>
                <a:r>
                  <a:rPr b="1"/>
                  <a:t>truncate</a:t>
                </a:r>
                <a:r>
                  <a:rPr/>
                  <a:t> exactly those directions — keep the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discard the rest.</a:t>
                </a:r>
              </a:p>
              <a:p>
                <a:pPr lvl="0" indent="0" marL="0">
                  <a:buNone/>
                </a:pPr>
                <a:r>
                  <a:rPr/>
                  <a:t>Principal components regression is, in this light, a </a:t>
                </a:r>
                <a:r>
                  <a:rPr b="1"/>
                  <a:t>hard-thresholded ridge</a:t>
                </a:r>
                <a:r>
                  <a:rPr/>
                  <a:t>. Same basis, different rule. Keep that sentence for the end of Section 3.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PCA as maximisation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be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, columns </a:t>
                </a:r>
                <a:r>
                  <a:rPr b="1"/>
                  <a:t>centred and standardised</a:t>
                </a:r>
                <a:r>
                  <a:rPr/>
                  <a:t>. Find the unit vector maximising the variance of the projection: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lim>
                      </m:limLow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Standardisation is </a:t>
                </a:r>
                <a:r>
                  <a:rPr b="1"/>
                  <a:t>not optional</a:t>
                </a:r>
                <a:r>
                  <a:rPr/>
                  <a:t>. Without it, whichever series is measured in the largest units becomes “the first factor”. PCA has no idea what a euro is.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Solve it: two lines of Lagrangian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ϕ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  <m:r>
                        <m:t>  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ϕ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</a:t>
                </a:r>
                <a:r>
                  <a:rPr b="1"/>
                  <a:t>must be an eigenvector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Σ</m:t>
                        </m:r>
                      </m:e>
                    </m:acc>
                  </m:oMath>
                </a14:m>
                <a:r>
                  <a:rPr/>
                  <a:t>. And the objective evaluated at an eigenvector is its own eigenvalue — so take the </a:t>
                </a:r>
                <a:r>
                  <a:rPr b="1"/>
                  <a:t>largest</a:t>
                </a:r>
                <a:r>
                  <a:rPr/>
                  <a:t> one.</a:t>
                </a:r>
              </a:p>
              <a:p>
                <a:pPr lvl="0" indent="0" marL="0">
                  <a:buNone/>
                </a:pPr>
                <a:r>
                  <a:rPr/>
                  <a:t>Subsequent components solve the same problem subject to orthogonality to those already found. You get the eigenvectors in decreasing eigenvalue order.</a:t>
                </a:r>
              </a:p>
              <a:p>
                <a:pPr lvl="0" indent="0" marL="0">
                  <a:buNone/>
                </a:pPr>
                <a:r>
                  <a:rPr/>
                  <a:t>PCA is not an algorithm someone invented. It is the </a:t>
                </a:r>
                <a:r>
                  <a:rPr b="1"/>
                  <a:t>solution</a:t>
                </a:r>
                <a:r>
                  <a:rPr/>
                  <a:t> to a one-line optimisation problem.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it by hand, once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2</m:t>
                                </m:r>
                              </m:e>
                              <m:e>
                                <m: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t>2</m:t>
                                </m:r>
                              </m:e>
                            </m:mr>
                          </m:m>
                        </m:e>
                      </m:d>
                      <m:r>
                        <m:t> 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 </m:t>
                      </m:r>
                      <m:sSub>
                        <m:e>
                          <m:r>
                            <m:t>ϕ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;</m:t>
                      </m:r>
                      <m:r>
                        <m:t> </m:t>
                      </m:r>
                      <m:sSub>
                        <m:e>
                          <m:r>
                            <m:t>ϕ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First component explains </a:t>
                </a:r>
                <a14:m>
                  <m:oMath xmlns:m="http://schemas.openxmlformats.org/officeDocument/2006/math">
                    <m:r>
                      <m:t>3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75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variance. Its loading is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: </a:t>
                </a:r>
                <a:r>
                  <a:rPr b="1"/>
                  <a:t>the average of the two series</a:t>
                </a:r>
                <a:r>
                  <a:rPr/>
                  <a:t>. The second is their difference.</a:t>
                </a:r>
              </a:p>
              <a:p>
                <a:pPr lvl="0" indent="0" marL="0">
                  <a:buNone/>
                </a:pPr>
                <a:r>
                  <a:rPr/>
                  <a:t>Thirty seconds of arithmetic, and PCA stops being magic. This is a midterm question.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that looks like on real series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1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 grey lines are what PC1 throws away. Two series, one thing happening: the </a:t>
            </a:r>
            <a:r>
              <a:rPr i="1"/>
              <a:t>level</a:t>
            </a:r>
            <a:r>
              <a:rPr/>
              <a:t> of energy prices in that country-year.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The SVD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software actually computes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sSup>
                        <m:e>
                          <m:r>
                            <m:t>D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limLow>
                        <m:e>
                          <m:limLow>
                            <m:e>
                              <m:r>
                                <m:t>V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loadings</m:t>
                          </m:r>
                        </m:lim>
                      </m:limLow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limLow>
                        <m:e>
                          <m:limLow>
                            <m:e>
                              <m:r>
                                <m:t>Z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X</m:t>
                              </m:r>
                              <m:r>
                                <m:t>V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U</m:t>
                              </m:r>
                              <m:r>
                                <m:t>D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scores</m:t>
                          </m:r>
                        </m:lim>
                      </m:limLow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limLow>
                        <m:e>
                          <m:limLow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d</m:t>
                                      </m:r>
                                    </m:e>
                                    <m:sub>
                                      <m:r>
                                        <m:t>j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nary>
                                    <m:naryPr>
                                      <m:chr m:val="∑"/>
                                      <m:limLoc m:val="undOvr"/>
                                      <m:subHide m:val="off"/>
                                      <m:supHide m:val="on"/>
                                    </m:naryPr>
                                    <m:sub>
                                      <m:r>
                                        <m:t>k</m:t>
                                      </m:r>
                                    </m:sub>
                                    <m:sup>
                                      <m:r>
                                        <m:t>​</m:t>
                                      </m:r>
                                    </m:sup>
                                    <m:e>
                                      <m:sSubSup>
                                        <m:e>
                                          <m:r>
                                            <m:t>d</m:t>
                                          </m:r>
                                        </m:e>
                                        <m:sub>
                                          <m:r>
                                            <m:t>k</m:t>
                                          </m:r>
                                        </m:sub>
                                        <m:sup>
                                          <m: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den>
                              </m:f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 share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 covariance matrix is ever formed. Forming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/>
                  <a:t> squares the condition number — Session 02’s warning, and the reason </a:t>
                </a:r>
                <a:r>
                  <a:rPr>
                    <a:latin typeface="Courier"/>
                  </a:rPr>
                  <a:t>numpy.linalg.svd</a:t>
                </a:r>
                <a:r>
                  <a:rPr/>
                  <a:t> is the right entry point.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Eckart–Young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Theorem.</a:t>
                </a:r>
                <a:r>
                  <a:rPr/>
                  <a:t> Among all matrices of rank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≤</m:t>
                    </m:r>
                    <m:r>
                      <m:t>k</m:t>
                    </m:r>
                  </m:oMath>
                </a14:m>
                <a:r>
                  <a:rPr/>
                  <a:t>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̃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 the truncated SVD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X</m:t>
                            </m:r>
                          </m:e>
                        </m:acc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Sup>
                      <m:e>
                        <m:r>
                          <m:t>V</m:t>
                        </m:r>
                      </m:e>
                      <m:sub>
                        <m:r>
                          <m:t>k</m:t>
                        </m:r>
                      </m:sub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bSup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r</m:t>
                          </m:r>
                          <m:r>
                            <m:rPr>
                              <m:sty m:val="p"/>
                            </m:rPr>
                            <m:t>a</m:t>
                          </m:r>
                          <m:r>
                            <m:rPr>
                              <m:sty m:val="p"/>
                            </m:rPr>
                            <m:t>n</m:t>
                          </m:r>
                          <m:r>
                            <m:rPr>
                              <m:sty m:val="p"/>
                            </m:rPr>
                            <m:t>k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≤</m:t>
                          </m:r>
                          <m:r>
                            <m:t>k</m:t>
                          </m:r>
                        </m:lim>
                      </m:limLow>
                      <m:r>
                        <m:rPr>
                          <m:sty m:val="p"/>
                        </m:rPr>
                        <m:t>∥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̃"/>
                        </m:accPr>
                        <m:e>
                          <m:r>
                            <m:t>X</m:t>
                          </m:r>
                        </m:e>
                      </m:acc>
                      <m:sSub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(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nary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the </a:t>
                </a:r>
                <a:r>
                  <a:rPr b="1"/>
                  <a:t>precise</a:t>
                </a:r>
                <a:r>
                  <a:rPr/>
                  <a:t> sense in which “the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components capture the most information”. And it tells you exactly what you lost: the discarded singular values.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it on our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reconstruct(k):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"""The rank-k truncated SVD of the standardised panel."""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(U[:, :k]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D[:k])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Vt[:k]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actual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np.linalg.norm(Z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reconstruct(k))</a:t>
            </a:r>
            <a:br/>
            <a:r>
              <a:rPr>
                <a:latin typeface="Courier"/>
              </a:rPr>
              <a:t>    theory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np.sqrt((D[k:]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f"k=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k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:  ||X - Xk||_F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actual</a:t>
            </a:r>
            <a:r>
              <a:rPr>
                <a:solidFill>
                  <a:srgbClr val="4070A0"/>
                </a:solidFill>
                <a:latin typeface="Courier"/>
              </a:rPr>
              <a:t>:7.3f}</a:t>
            </a:r>
            <a:r>
              <a:rPr>
                <a:solidFill>
                  <a:srgbClr val="BB6688"/>
                </a:solidFill>
                <a:latin typeface="Courier"/>
              </a:rPr>
              <a:t>   sqrt(sum d_j^2, j&gt;k)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theory</a:t>
            </a:r>
            <a:r>
              <a:rPr>
                <a:solidFill>
                  <a:srgbClr val="4070A0"/>
                </a:solidFill>
                <a:latin typeface="Courier"/>
              </a:rPr>
              <a:t>:7.3f}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k=1:  ||X - Xk||_F =  40.246   sqrt(sum d_j^2, j&gt;k) =  40.246
k=2:  ||X - Xk||_F =  28.492   sqrt(sum d_j^2, j&gt;k) =  28.492
k=3:  ||X - Xk||_F =  22.630   sqrt(sum d_j^2, j&gt;k) =  22.630
k=5:  ||X - Xk||_F =  10.588   sqrt(sum d_j^2, j&gt;k) =  10.588</a:t>
            </a:r>
          </a:p>
          <a:p>
            <a:pPr lvl="0" indent="0" marL="0">
              <a:buNone/>
            </a:pPr>
            <a:r>
              <a:rPr/>
              <a:t>Identical to three decimals, as the theorem requires. When a formula and a computation agree to machine precision, you have understood both.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scree plot, and its elbow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Thirteen standardised indicators. Three components carry </a:t>
            </a:r>
            <a:r>
              <a:rPr b="1"/>
              <a:t>83%</a:t>
            </a:r>
            <a:r>
              <a:rPr/>
              <a:t> of the total variance; the fourth adds eight more, and everything after it is under five.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damps; PCA truncates</a:t>
            </a:r>
          </a:p>
        </p:txBody>
      </p:sp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193800"/>
            <a:ext cx="7594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basis, different rule.</a:t>
            </a:r>
            <a:r>
              <a:rPr/>
              <a:t> Ridge applies a smooth weight; principal components regression applies a step function. Principal components regression is a hard-thresholded ridge.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loadings tell you what a factor </a:t>
            </a:r>
            <a:r>
              <a:rPr i="1"/>
              <a:t>is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193800"/>
            <a:ext cx="6654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down a column: which series move together. That is all a factor is — a weighted average of series that happen to co-move.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Why more series helps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approximate factor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Stock and Watson: a large macro panel is a few common shocks plus idiosyncratic noise.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λ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;</m:t>
                      </m:r>
                      <m:r>
                        <m:t> 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T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r</m:t>
                        </m:r>
                      </m:sup>
                    </m:sSup>
                  </m:oMath>
                </a14:m>
                <a:r>
                  <a:rPr/>
                  <a:t> are the common factors;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loadings. The </a:t>
                </a:r>
                <a:r>
                  <a:rPr b="1"/>
                  <a:t>approximate</a:t>
                </a:r>
                <a:r>
                  <a:rPr/>
                  <a:t> version (Chamberlain–Rothschild) allows weak cross-sectional and serial correlation in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— which is what makes it usable on real data.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that should surprise you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principal-component estimator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consistent for the </a:t>
                </a:r>
                <a:r>
                  <a:rPr b="1"/>
                  <a:t>space spanned by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as </a:t>
                </a:r>
                <a:r>
                  <a:rPr b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at rate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  <m:r>
                          <m:rPr>
                            <m:sty m:val="p"/>
                          </m:rPr>
                          <m:t>,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T</m:t>
                            </m:r>
                          </m:e>
                        </m:rad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And if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T</m:t>
                        </m:r>
                      </m:e>
                    </m:rad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, the estimated factors can be treated as </a:t>
                </a:r>
                <a:r>
                  <a:rPr b="1"/>
                  <a:t>known</a:t>
                </a:r>
                <a:r>
                  <a:rPr/>
                  <a:t> in a second-stage regression. The generated-regressor problem simply vanishes.</a:t>
                </a:r>
              </a:p>
              <a:p>
                <a:pPr lvl="0" indent="0" marL="0">
                  <a:buNone/>
                </a:pPr>
                <a:r>
                  <a:rPr b="1"/>
                  <a:t>More series genuinely helps.</a:t>
                </a:r>
                <a:r>
                  <a:rPr/>
                  <a:t> That is the opposite of everything Sessions 05 and 06 taught you. Why?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effects, side by side</a:t>
            </a:r>
          </a:p>
        </p:txBody>
      </p:sp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Left: each extra series is another </a:t>
            </a:r>
            <a:r>
              <a:rPr b="1"/>
              <a:t>measurement of the same thing</a:t>
            </a:r>
            <a:r>
              <a:rPr/>
              <a:t>, so its noise averages away. Right: each extra predictor is another </a:t>
            </a:r>
            <a:r>
              <a:rPr b="1"/>
              <a:t>free parameter</a:t>
            </a:r>
            <a:r>
              <a:rPr/>
              <a:t>, so its noise is fitted.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Say the distinction out loud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Sessions 05–06: an extra column is an extra </a:t>
                </a:r>
                <a:r>
                  <a:rPr b="1"/>
                  <a:t>coefficient to estimate</a:t>
                </a:r>
                <a:r>
                  <a:rPr/>
                  <a:t>. Variance goes up.</a:t>
                </a:r>
              </a:p>
              <a:p>
                <a:pPr lvl="0" indent="0" marL="0">
                  <a:buNone/>
                </a:pPr>
                <a:r>
                  <a:rPr/>
                  <a:t>Session 08: an extra column is an extra </a:t>
                </a:r>
                <a:r>
                  <a:rPr b="1"/>
                  <a:t>noisy reading of a latent quantity</a:t>
                </a:r>
                <a:r>
                  <a:rPr/>
                  <a:t>. Averaging drives its noise down like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Same table, opposite conclusion — because the </a:t>
                </a:r>
                <a:r>
                  <a:rPr i="1"/>
                  <a:t>object being estimated</a:t>
                </a:r>
                <a:r>
                  <a:rPr/>
                  <a:t> is different. This is the best question of the semester, and the answer is “what are you estimating?”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Normalisation is a choice, not a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pin down the rotation we impose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F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r>
                          <m:t>Λ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Λ</m:t>
                    </m:r>
                  </m:oMath>
                </a14:m>
                <a:r>
                  <a:rPr/>
                  <a:t> diagonal.</a:t>
                </a:r>
              </a:p>
              <a:p>
                <a:pPr lvl="0" indent="0" marL="0">
                  <a:buNone/>
                </a:pPr>
                <a:r>
                  <a:rPr/>
                  <a:t>Factors are identified </a:t>
                </a:r>
                <a:r>
                  <a:rPr b="1"/>
                  <a:t>only up to rotation</a:t>
                </a:r>
                <a:r>
                  <a:rPr/>
                  <a:t>. So </a:t>
                </a:r>
                <a:r>
                  <a:rPr i="1"/>
                  <a:t>“Factor 1 is the business cycle”</a:t>
                </a:r>
                <a:r>
                  <a:rPr/>
                  <a:t> is an interpretation you are offering, never an estimate you have produced.</a:t>
                </a:r>
              </a:p>
              <a:p>
                <a:pPr lvl="0" indent="0" marL="0">
                  <a:buNone/>
                </a:pPr>
                <a:r>
                  <a:rPr/>
                  <a:t>Write that caveat into your paper before you write the interpretation. A referee who finds the interpretation without the caveat will not read further.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How many factors?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answers, and they will disagree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Scree plot</a:t>
                </a:r>
                <a:r>
                  <a:rPr/>
                  <a:t> — look for the elbow. Informal, often ambiguous</a:t>
                </a:r>
              </a:p>
              <a:p>
                <a:pPr lvl="0"/>
                <a:r>
                  <a:rPr b="1"/>
                  <a:t>Cumulative variance</a:t>
                </a:r>
                <a:r>
                  <a:rPr/>
                  <a:t> — retain 80–90%. Arbitrary but transparent</a:t>
                </a:r>
              </a:p>
              <a:p>
                <a:pPr lvl="0"/>
                <a:r>
                  <a:rPr b="1"/>
                  <a:t>Bai–Ng information criteria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, with penalties that must vanish slower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T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a:p>
              <a:p>
                <a:pPr lvl="0"/>
                <a:r>
                  <a:rPr b="1"/>
                  <a:t>Ahn–Horenstein eigenvalue ratio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r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t>k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k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all of them and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N_, T_p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NIND, NOBS          </a:t>
            </a:r>
            <a:r>
              <a:rPr i="1">
                <a:solidFill>
                  <a:srgbClr val="60A0B0"/>
                </a:solidFill>
                <a:latin typeface="Courier"/>
              </a:rPr>
              <a:t># N series, T observations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V(k):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"""Average residual sum of squares from a k-factor fit."""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((Z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reconstruct(k))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(N_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T_p)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(N_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T_p)</a:t>
            </a:r>
            <a:br/>
            <a:r>
              <a:rPr>
                <a:latin typeface="Courier"/>
              </a:rPr>
              <a:t>ks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np.arange(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ic1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[np.log(V(k))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k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np.log(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c)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ks]</a:t>
            </a:r>
            <a:br/>
            <a:r>
              <a:rPr>
                <a:latin typeface="Courier"/>
              </a:rPr>
              <a:t>ic2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[np.log(V(k))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k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np.log(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(N_, T_p))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ks]</a:t>
            </a:r>
            <a:br/>
            <a:r>
              <a:rPr>
                <a:latin typeface="Courier"/>
              </a:rPr>
              <a:t>ic3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[np.log(V(k))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k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np.log(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(N_, T_p))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(N_, T_p)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ks]</a:t>
            </a:r>
            <a:br/>
            <a:r>
              <a:rPr>
                <a:latin typeface="Courier"/>
              </a:rPr>
              <a:t>ahr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[D[k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D[k]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ks]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f"N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N_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series, T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T_p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observations"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f"Bai-Ng IC_p1 minimised at k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ks[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(np.argmin(ic1))]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BB6688"/>
                </a:solidFill>
                <a:latin typeface="Courier"/>
              </a:rPr>
              <a:t>f"   Ahn-Horenstein argmax at k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ks[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(np.argmax(ahr))]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f"cumulative variance: 3 components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np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cumsum(VAR)[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:.1%}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= 13 series, T = 239 observations
Bai-Ng IC_p1 minimised at k = 8   Ahn-Horenstein argmax at k = 5
cumulative variance: 3 components = 83.4%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what happened</a:t>
            </a:r>
          </a:p>
        </p:txBody>
      </p:sp>
      <p:pic>
        <p:nvPicPr>
          <p:cNvPr descr="slides_files/figure-pptx/cell-10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 says 3. Cumulative variance says 3. Ahn–Horenstein says 5. Bai–Ng is still falling at 8.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Bai–Ng failed here, and what to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Bai–Ng is consistent as </a:t>
                </a:r>
                <a:r>
                  <a:rPr b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grow. We have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239</m:t>
                    </m:r>
                  </m:oMath>
                </a14:m>
                <a:r>
                  <a:rPr/>
                  <a:t> observations but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</m:t>
                    </m:r>
                  </m:oMath>
                </a14:m>
                <a:r>
                  <a:rPr/>
                  <a:t> series. The penalty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T</m:t>
                        </m:r>
                      </m:num>
                      <m:den>
                        <m:r>
                          <m:t>N</m:t>
                        </m:r>
                        <m:r>
                          <m:t>T</m:t>
                        </m:r>
                      </m:den>
                    </m:f>
                    <m:r>
                      <m:rPr>
                        <m:sty m:val="p"/>
                      </m:rPr>
                      <m:t>log</m:t>
                    </m:r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t>T</m:t>
                        </m:r>
                      </m:num>
                      <m:den>
                        <m:r>
                          <m:t>N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T</m:t>
                        </m:r>
                      </m:den>
                    </m:f>
                  </m:oMath>
                </a14:m>
                <a:r>
                  <a:rPr/>
                  <a:t> is tiny when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small, so it never bites.</a:t>
                </a:r>
              </a:p>
              <a:p>
                <a:pPr lvl="0" indent="0" marL="0">
                  <a:buNone/>
                </a:pPr>
                <a:r>
                  <a:rPr/>
                  <a:t>Which is not a failure of the criterion. It is the criterion </a:t>
                </a:r>
                <a:r>
                  <a:rPr b="1"/>
                  <a:t>telling you</a:t>
                </a:r>
                <a:r>
                  <a:rPr/>
                  <a:t> your panel is not wide enough for it. Report all four numbers, say they disagree, and say which one your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support.</a:t>
                </a:r>
              </a:p>
              <a:p>
                <a:pPr lvl="0" indent="0" marL="0">
                  <a:buNone/>
                </a:pPr>
                <a:r>
                  <a:rPr/>
                  <a:t>What loses marks: reporting one criterion, the one that gave the number you wanted.</a:t>
                </a:r>
              </a:p>
            </p:txBody>
          </p:sp>
        </mc:Choice>
      </mc:AlternateContent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Diffusion-index forecasting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stages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1.</a:t>
                </a:r>
                <a:r>
                  <a:rPr/>
                  <a:t> Extract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by PCA from the standardised, stationary panel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series.</a:t>
                </a:r>
              </a:p>
              <a:p>
                <a:pPr lvl="0" indent="0" marL="0">
                  <a:buNone/>
                </a:pPr>
                <a:r>
                  <a:rPr b="1"/>
                  <a:t>2.</a:t>
                </a:r>
                <a:r>
                  <a:rPr/>
                  <a:t> Forecast the target with a small regression on the factors and a few own lags: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r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rPr>
                              <m:sty m:val="p"/>
                            </m:rPr>
                            <m:t>ℓ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L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γ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ℓ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Two hundred series enter stage 1. Three numbers leave it. Stage 2 is an ordinary regression you already know how to diagnose.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 you must not break</a:t>
            </a:r>
          </a:p>
        </p:txBody>
      </p:sp>
      <p:pic>
        <p:nvPicPr>
          <p:cNvPr descr="slides_files/figure-pptx/cell-11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must be </a:t>
            </a:r>
            <a:r>
              <a:rPr b="1"/>
              <a:t>re-estimated at every forecast origin</a:t>
            </a:r>
            <a:r>
              <a:rPr/>
              <a:t>, from data available at that time. Extracting from the full sample and then backtesting is look-ahead bias, and it is the single most common flaw in student factor-model projects.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Measure the leak on our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diffusion_rmse(target, 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leaky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, first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dd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panel.copy()</a:t>
            </a:r>
            <a:br/>
            <a:r>
              <a:rPr>
                <a:latin typeface="Courier"/>
              </a:rPr>
              <a:t>    dd[</a:t>
            </a:r>
            <a:r>
              <a:rPr>
                <a:solidFill>
                  <a:srgbClr val="4070A0"/>
                </a:solidFill>
                <a:latin typeface="Courier"/>
              </a:rPr>
              <a:t>"yn"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dd.groupby(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)[target].shift(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dd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dd.dropna(subset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"yn"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leaky:               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WRONG: PCA sees the whole sample</a:t>
            </a:r>
            <a:br/>
            <a:r>
              <a:rPr>
                <a:latin typeface="Courier"/>
              </a:rPr>
              <a:t>        Zf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(dd[IND]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dd[IND].mean())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dd[IND].std()</a:t>
            </a:r>
            <a:br/>
            <a:r>
              <a:rPr>
                <a:latin typeface="Courier"/>
              </a:rPr>
              <a:t>        Fall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PCA(n_components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R).fit_transform(Zf)</a:t>
            </a:r>
            <a:br/>
            <a:r>
              <a:rPr>
                <a:latin typeface="Courier"/>
              </a:rPr>
              <a:t>    num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den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sorted</a:t>
            </a:r>
            <a:r>
              <a:rPr>
                <a:latin typeface="Courier"/>
              </a:rPr>
              <a:t>(dd.time.unique())[first:]:</a:t>
            </a:r>
            <a:br/>
            <a:r>
              <a:rPr>
                <a:latin typeface="Courier"/>
              </a:rPr>
              <a:t>        tr,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(dd.time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t).to_numpy(), (dd.time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t).to_numpy()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leaky:</a:t>
            </a:r>
            <a:br/>
            <a:r>
              <a:rPr>
                <a:latin typeface="Courier"/>
              </a:rPr>
              <a:t>            Ftr, Fte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Fall[tr], Fall[te]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:               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RIGHT: refit PCA on the past only</a:t>
            </a:r>
            <a:br/>
            <a:r>
              <a:rPr>
                <a:latin typeface="Courier"/>
              </a:rPr>
              <a:t>            mu, sd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dd.loc[tr, IND].mean(), dd.loc[tr, IND].std()</a:t>
            </a:r>
            <a:br/>
            <a:r>
              <a:rPr>
                <a:latin typeface="Courier"/>
              </a:rPr>
              <a:t>            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PCA(n_components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R).fit((dd.loc[tr, IND]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mu)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sd)</a:t>
            </a:r>
            <a:br/>
            <a:r>
              <a:rPr>
                <a:latin typeface="Courier"/>
              </a:rPr>
              <a:t>            Ftr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p.transform((dd.loc[tr, IND]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mu)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sd)</a:t>
            </a:r>
            <a:br/>
            <a:r>
              <a:rPr>
                <a:latin typeface="Courier"/>
              </a:rPr>
              <a:t>            Fte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p.transform((dd.loc[te, IND]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mu)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sd)</a:t>
            </a:r>
            <a:br/>
            <a:r>
              <a:rPr>
                <a:latin typeface="Courier"/>
              </a:rPr>
              <a:t>       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LinearRegression().fit(Ftr, dd.loc[tr, </a:t>
            </a:r>
            <a:r>
              <a:rPr>
                <a:solidFill>
                  <a:srgbClr val="4070A0"/>
                </a:solidFill>
                <a:latin typeface="Courier"/>
              </a:rPr>
              <a:t>"yn"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        num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((dd.loc[te, </a:t>
            </a:r>
            <a:r>
              <a:rPr>
                <a:solidFill>
                  <a:srgbClr val="4070A0"/>
                </a:solidFill>
                <a:latin typeface="Courier"/>
              </a:rPr>
              <a:t>"yn"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b.predict(Fte))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den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te.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np.sqrt(num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den)</a:t>
            </a:r>
            <a:br/>
            <a:br/>
            <a:r>
              <a:rPr>
                <a:latin typeface="Courier"/>
              </a:rPr>
              <a:t>lk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diffusion_rmse(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leaky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hn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diffusion_rmse(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leaky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f"factors from the full sample :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lk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f"factors refitted each origin :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hn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      ratio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lk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hn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factors from the full sample : RMSE 0.0290
factors refitted each origin : RMSE 0.0285      ratio 1.019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 honest about that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</a:t>
            </a:r>
            <a:r>
              <a:rPr b="1"/>
              <a:t>this</a:t>
            </a:r>
            <a:r>
              <a:rPr/>
              <a:t> panel the leak buys about 2%. The factor space is stable across thirteen years, so knowing the future rotation tells you almost nothing.</a:t>
            </a:r>
          </a:p>
          <a:p>
            <a:pPr lvl="0" indent="0" marL="0">
              <a:buNone/>
            </a:pPr>
            <a:r>
              <a:rPr/>
              <a:t>That is not a licence. You cannot know in advance whether the leak is worth 2% or 40% — and it is 40% exactly when the factor structure shifts, which is the case you most want to forecast.</a:t>
            </a:r>
          </a:p>
          <a:p>
            <a:pPr lvl="0" indent="0" marL="0">
              <a:buNone/>
            </a:pPr>
            <a:r>
              <a:rPr/>
              <a:t>The discipline is justified by the fact that </a:t>
            </a:r>
            <a:r>
              <a:rPr b="1"/>
              <a:t>you cannot audit it after the fact</a:t>
            </a:r>
            <a:r>
              <a:rPr/>
              <a:t>, not by the size of the measured gap on one dataset.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Takeaways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PCA is the </a:t>
                </a:r>
                <a:r>
                  <a:rPr b="1"/>
                  <a:t>solution</a:t>
                </a:r>
                <a:r>
                  <a:rPr/>
                  <a:t> to a constrained maximisation — hence eigenvectors, hence the SVD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Eckart–Young says truncation is optimal, and names what you discarded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Ridge damps the small-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directions; PCR truncates them. Same basis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More series </a:t>
                </a:r>
                <a:r>
                  <a:rPr b="1"/>
                  <a:t>help</a:t>
                </a:r>
                <a:r>
                  <a:rPr/>
                  <a:t> factor estimation because each is another reading of one object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Factors are identified only up to rotation — interpretation is a claim, not an estimate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Re-estimate factors at every forecast origin. Every time</a:t>
                </a: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Running PCA on </a:t>
            </a:r>
            <a:r>
              <a:rPr b="1"/>
              <a:t>unstandardised</a:t>
            </a:r>
            <a:r>
              <a:rPr/>
              <a:t> columns</a:t>
            </a:r>
          </a:p>
          <a:p>
            <a:pPr lvl="0"/>
            <a:r>
              <a:rPr/>
              <a:t>Naming a factor (“this is the business cycle”) without the rotation caveat</a:t>
            </a:r>
          </a:p>
          <a:p>
            <a:pPr lvl="0"/>
            <a:r>
              <a:rPr/>
              <a:t>Reporting one factor-count criterion out of four</a:t>
            </a:r>
          </a:p>
          <a:p>
            <a:pPr lvl="0"/>
            <a:r>
              <a:rPr/>
              <a:t>Extracting factors once on the full sample, then backtesting</a:t>
            </a:r>
          </a:p>
          <a:p>
            <a:pPr lvl="0"/>
            <a:r>
              <a:rPr/>
              <a:t>Reporting “80% of variance explained” as if 80% were a rule rather than a choice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the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Ninety minutes, in your groups. You will extract factors from a wide panel, defend the number you retained against at least three criteria, and build a diffusion-index forecast whose factors are re-estimated at every origin.</a:t>
            </a:r>
          </a:p>
          <a:p>
            <a:pPr lvl="0" indent="0" marL="0">
              <a:buNone/>
            </a:pPr>
            <a:r>
              <a:rPr/>
              <a:t>Notes: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 · practice brief: </a:t>
            </a:r>
            <a:r>
              <a:rPr>
                <a:hlinkClick r:id="rId3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PCA, the SVD, and Factor Models</dc:title>
  <dc:creator>Thierry Warin</dc:creator>
  <cp:keywords/>
  <dcterms:created xsi:type="dcterms:W3CDTF">2026-08-22T18:56:33Z</dcterms:created>
  <dcterms:modified xsi:type="dcterms:W3CDTF">2026-08-22T18:56:33Z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22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08 · Lecture, first half</vt:lpwstr>
  </property>
  <property fmtid="{D5CDD505-2E9C-101B-9397-08002B2CF9AE}" pid="18" name="toc-title">
    <vt:lpwstr>Table of contents</vt:lpwstr>
  </property>
</Properties>
</file>