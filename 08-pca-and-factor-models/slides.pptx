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I: 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hundred macro series move together. How many things are happening?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PCA as variance maximisation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Eckart–Young: best low-rank approximation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approximate factor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Diffusion-index forecasting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8.1 PCA as variance maximisation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, columns centred and standardised. Seek a unit vector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maximising the variance of the projection: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lim>
                      </m:limLow>
                      <m:r>
                        <m:t> 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 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Lagrangian gives an eigenproblem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ϕ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ϕ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must be an </a:t>
                </a:r>
                <a:r>
                  <a:rPr b="1"/>
                  <a:t>eigenvector</a:t>
                </a:r>
                <a:r>
                  <a:rPr/>
                  <a:t> — and since the objective at an eigenvector equals its eigenvalue, we take the largest.</a:t>
                </a:r>
              </a:p>
              <a:p>
                <a:pPr lvl="0" indent="0" marL="0">
                  <a:buNone/>
                </a:pPr>
                <a:r>
                  <a:rPr/>
                  <a:t>Subsequent components solve the same problem subject to orthogonality to those already found, giving the eigenvectors in decreasing eigenvalue order.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Via the SVD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Cleaner, and what software actually computes. 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sSup>
                        <m:e>
                          <m:r>
                            <m:t>D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 b="1"/>
                  <a:t>loadings</a:t>
                </a:r>
                <a:r>
                  <a:rPr/>
                  <a:t> —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scores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 b="1"/>
                  <a:t>variance explained</a:t>
                </a:r>
                <a:r>
                  <a:rPr/>
                  <a:t>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connection to Session 05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shrank along the </a:t>
                </a:r>
                <a:r>
                  <a:rPr b="1"/>
                  <a:t>same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 b="1"/>
                  <a:t> basis</a:t>
                </a:r>
                <a:r>
                  <a:rPr/>
                  <a:t>, damping small-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directions.</a:t>
                </a:r>
              </a:p>
              <a:p>
                <a:pPr lvl="0" indent="0" marL="1270000">
                  <a:buNone/>
                </a:pPr>
                <a:r>
                  <a:rPr sz="2000" b="1"/>
                  <a:t>PCA truncates exactly the directions ridge shrinks.</a:t>
                </a:r>
              </a:p>
              <a:p>
                <a:pPr lvl="0" indent="0" marL="0">
                  <a:buNone/>
                </a:pPr>
                <a:r>
                  <a:rPr/>
                  <a:t>Principal components regression is, in this light, a hard-thresholded ridge.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8.2 Eckart–Young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Among all matrices of rank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≤</m:t>
                    </m:r>
                    <m:r>
                      <m:t>k</m:t>
                    </m:r>
                  </m:oMath>
                </a14:m>
                <a:r>
                  <a:rPr/>
                  <a:t>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̃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Sup>
                        <m:e>
                          <m: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truncated SVD, and the minimum equals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&gt;</m:t>
                        </m:r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licenses you to say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is the </a:t>
                </a:r>
                <a:r>
                  <a:rPr b="1"/>
                  <a:t>formal</a:t>
                </a:r>
                <a:r>
                  <a:rPr/>
                  <a:t> sense in which “the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components capture the most information”: they give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reconstruction in Frobenius norm.</a:t>
                </a:r>
              </a:p>
              <a:p>
                <a:pPr lvl="0" indent="0" marL="0">
                  <a:buNone/>
                </a:pPr>
                <a:r>
                  <a:rPr/>
                  <a:t>It also tells you exactly what you lose — the discarded singular values. Not a heuristic; a theorem.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8.3 The approximate factor model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Stock and Watson’s insight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large macro panel is well described by a few common shocks plus idiosyncratic noise: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λ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T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r</m:t>
                        </m:r>
                      </m:sup>
                    </m:sSup>
                  </m:oMath>
                </a14:m>
                <a:r>
                  <a:rPr/>
                  <a:t> the common factors and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loadings.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approximate</a:t>
                </a:r>
                <a:r>
                  <a:rPr/>
                  <a:t> factor model (Chamberlain–Rothschild) allows weak cross-sectional and serial correlation in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— essential for real data.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principal-component estimator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consistent for the space spanned by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as </a:t>
                </a:r>
                <a:r>
                  <a:rPr b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at rate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  <m:r>
                          <m:rPr>
                            <m:sty m:val="p"/>
                          </m:rPr>
                          <m:t>,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T</m:t>
                            </m:r>
                          </m:e>
                        </m:rad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Crucially, if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T</m:t>
                        </m:r>
                      </m:e>
                    </m:rad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, the estimated factors can be treated as </a:t>
                </a:r>
                <a:r>
                  <a:rPr b="1"/>
                  <a:t>known</a:t>
                </a:r>
                <a:r>
                  <a:rPr/>
                  <a:t> in a second-stage regression — the generated-regressor problem vanishes.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series genuinely helps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opposite</a:t>
            </a:r>
            <a:r>
              <a:rPr/>
              <a:t> of the intuition you built in Sessions 05 and 06, and understanding why is the heart of this session.</a:t>
            </a:r>
          </a:p>
          <a:p>
            <a:pPr lvl="0"/>
            <a:r>
              <a:rPr/>
              <a:t>There, extra </a:t>
            </a:r>
            <a:r>
              <a:rPr b="1"/>
              <a:t>predictors</a:t>
            </a:r>
            <a:r>
              <a:rPr/>
              <a:t> added variance</a:t>
            </a:r>
          </a:p>
          <a:p>
            <a:pPr lvl="0"/>
            <a:r>
              <a:rPr/>
              <a:t>Here, extra </a:t>
            </a:r>
            <a:r>
              <a:rPr b="1"/>
              <a:t>measurements of the same latent object</a:t>
            </a:r>
            <a:r>
              <a:rPr/>
              <a:t> average noise away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Normalisation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pin down the rotation, impose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F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F</m:t>
                      </m:r>
                      <m:r>
                        <m:rPr>
                          <m:sty m:val="p"/>
                        </m:rPr>
                        <m:t>/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p>
                        <m:e>
                          <m:r>
                            <m:t>Λ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Λ</m:t>
                      </m:r>
                      <m:r>
                        <m:rPr>
                          <m:nor/>
                          <m:sty m:val="p"/>
                        </m:rPr>
                        <m:t> diagonal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is a choice, not a discovery.</a:t>
                </a:r>
                <a:r>
                  <a:rPr/>
                  <a:t> Any rotation fits identically well, so “Factor 1” is a coordinate system — never an object you have found.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8.4 How many factors?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informal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Scree plot</a:t>
            </a:r>
            <a:r>
              <a:rPr/>
              <a:t> — look for the elbow. Informal, and often ambiguous.</a:t>
            </a:r>
          </a:p>
          <a:p>
            <a:pPr lvl="0"/>
            <a:r>
              <a:rPr b="1"/>
              <a:t>Cumulative variance</a:t>
            </a:r>
            <a:r>
              <a:rPr/>
              <a:t> — retain enough for 80–90%. Arbitrary but transparent.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Bai–Ng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Minimise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t>k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k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</m:e>
                          <m:sup>
                            <m:r>
                              <m:t>k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the average residual sum of squares from a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-factor fit.</a:t>
                </a:r>
              </a:p>
              <a:p>
                <a:pPr lvl="0" indent="0" marL="0">
                  <a:buNone/>
                </a:pPr>
                <a:r>
                  <a:rPr/>
                  <a:t>The penalty must vanish slower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T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use alternative penalty forms.</a:t>
                </a:r>
              </a:p>
              <a:p>
                <a:pPr lvl="0" indent="0" marL="0">
                  <a:buNone/>
                </a:pPr>
                <a:r>
                  <a:rPr b="1"/>
                  <a:t>Report all three.</a:t>
                </a:r>
                <a:r>
                  <a:rPr/>
                  <a:t> If they disagree, say so.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Onatski’s test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eigenvalue-ratio</a:t>
                </a:r>
                <a:r>
                  <a:rPr/>
                  <a:t> criterion of Ahn &amp; Horenstein: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r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course spine was generated from </a:t>
                </a:r>
                <a:r>
                  <a:rPr b="1"/>
                  <a:t>three</a:t>
                </a:r>
                <a:r>
                  <a:rPr/>
                  <a:t> factors. Check what each criterion tells you — and notice that a criterion can be confidently wrong.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8.5 Diffusion-index forecasting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stages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Extract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by PCA from the standardised, stationary panel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series.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Forecast the target with a small regression on the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r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rPr>
                              <m:sty m:val="p"/>
                            </m:rPr>
                            <m:t>ℓ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L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γ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ℓ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 you must not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Factors must be re-estimated at each forecast origin, using only data available at that time.</a:t>
            </a:r>
          </a:p>
          <a:p>
            <a:pPr lvl="0" indent="0" marL="0">
              <a:buNone/>
            </a:pPr>
            <a:r>
              <a:rPr/>
              <a:t>Extracting factors from the full sample and then backtesting is </a:t>
            </a:r>
            <a:r>
              <a:rPr b="1"/>
              <a:t>look-ahead bias</a:t>
            </a:r>
            <a:r>
              <a:rPr/>
              <a:t> — and it is the single most common flaw in student factor-model projects.</a:t>
            </a:r>
          </a:p>
          <a:p>
            <a:pPr lvl="0" indent="0" marL="0">
              <a:buNone/>
            </a:pPr>
            <a:r>
              <a:rPr/>
              <a:t>Session 04’s rolling-origin discipline applies to </a:t>
            </a:r>
            <a:r>
              <a:rPr b="1"/>
              <a:t>every</a:t>
            </a:r>
            <a:r>
              <a:rPr/>
              <a:t> step, including the unsupervised one.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wide panel for your project; standardise it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PCA; report variance explained and </a:t>
                </a:r>
                <a:r>
                  <a:rPr b="1"/>
                  <a:t>all three</a:t>
                </a:r>
                <a:r>
                  <a:rPr/>
                  <a:t> Bai–Ng criteria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Decide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in writing </a:t>
                </a:r>
                <a:r>
                  <a:rPr b="1"/>
                  <a:t>before</a:t>
                </a:r>
                <a:r>
                  <a:rPr/>
                  <a:t> looking at the forecast results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 diffusion-index forecast, re-estimating factors at each origin</a:t>
                </a:r>
              </a:p>
              <a:p>
                <a:pPr lvl="0" indent="0" marL="0">
                  <a:buNone/>
                </a:pPr>
                <a:r>
                  <a:rPr/>
                  <a:t>State your </a:t>
                </a:r>
                <a:r>
                  <a:rPr b="1"/>
                  <a:t>normalisation</a:t>
                </a:r>
                <a:r>
                  <a:rPr/>
                  <a:t> and your </a:t>
                </a:r>
                <a:r>
                  <a:rPr b="1"/>
                  <a:t>sign convention</a:t>
                </a:r>
                <a:r>
                  <a:rPr/>
                  <a:t>. Without them the loadings are not reproducible.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panel, the normalisation, how you chose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variance explained, and forecast error against a benchmark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that factors are coordinates, and naming them is an interpretation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02-lab/README.md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I: PCA, the SVD, and Factor Models</dc:title>
  <dc:creator>Thierry Warin</dc:creator>
  <cp:keywords/>
  <dcterms:created xsi:type="dcterms:W3CDTF">2026-08-20T19:24:16Z</dcterms:created>
  <dcterms:modified xsi:type="dcterms:W3CDTF">2026-08-20T19:24:16Z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Lecture, first half</vt:lpwstr>
  </property>
  <property fmtid="{D5CDD505-2E9C-101B-9397-08002B2CF9AE}" pid="16" name="toc-title">
    <vt:lpwstr>Table of contents</vt:lpwstr>
  </property>
</Properties>
</file>