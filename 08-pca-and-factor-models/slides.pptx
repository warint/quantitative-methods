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PCA, the SVD, and Factor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08 · Finding the few things that move everything else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90 minutes ahead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macroeconomist’s problem: many series, few forces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SVD, and PCA as its consequence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30–50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many factors?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50–70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a factor </a:t>
                      </a:r>
                      <a:r>
                        <a:rPr i="1"/>
                        <a:t>is</a:t>
                      </a:r>
                      <a:r>
                        <a:rPr/>
                        <a:t> — and is not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70–85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Factor-augmented regression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85–90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Handoff to the lab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Koopman &amp; Mesters</a:t>
            </a:r>
            <a:r>
              <a:rPr/>
              <a:t>, </a:t>
            </a:r>
            <a:r>
              <a:rPr i="1"/>
              <a:t>Empirical Bayes Methods for Dynamic Factor Models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Harvard Dataverse, DOI 10.7910/DVN/NKWMQM · CC0</a:t>
            </a:r>
          </a:p>
          <a:p>
            <a:pPr lvl="0" indent="0" marL="0">
              <a:buNone/>
            </a:pPr>
            <a:r>
              <a:rPr/>
              <a:t>You are not expected to follow the empirical-Bayes machinery. Read it for the </a:t>
            </a:r>
            <a:r>
              <a:rPr b="1"/>
              <a:t>setup</a:t>
            </a:r>
            <a:r>
              <a:rPr/>
              <a:t>: why a macroeconomist wants a small number of unobserved factors behind a large number of observed series.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Do European economies move on a few common forces, and can you recover them without being told what they are?</a:t>
            </a:r>
          </a:p>
          <a:p>
            <a:pPr lvl="0" indent="0" marL="0">
              <a:buNone/>
            </a:pPr>
            <a:r>
              <a:rPr/>
              <a:t>For once, we know the answer. The spine was generated from </a:t>
            </a:r>
            <a:r>
              <a:rPr b="1"/>
              <a:t>three</a:t>
            </a:r>
            <a:r>
              <a:rPr/>
              <a:t> latent factors. Today you try to find them — and you can check whether you did.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SVD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matrix factorises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any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p</m:t>
                    </m:r>
                  </m:oMath>
                </a14:m>
                <a:r>
                  <a:rPr/>
                  <a:t> matrix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U</m:t>
                      </m:r>
                      <m:r>
                        <m:t>D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′</m:t>
                      </m:r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 —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r</m:t>
                    </m:r>
                  </m:oMath>
                </a14:m>
                <a:r>
                  <a:rPr/>
                  <a:t>, orthonormal: the observations’ coordinates</a:t>
                </a:r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</m:oMath>
                </a14:m>
                <a:r>
                  <a:rPr/>
                  <a:t> — diagonal,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≥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≥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≥</m:t>
                    </m:r>
                    <m:r>
                      <m:t>0</m:t>
                    </m:r>
                  </m:oMath>
                </a14:m>
                <a:r>
                  <a:rPr/>
                  <a:t>: the strength of each direction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—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r</m:t>
                    </m:r>
                  </m:oMath>
                </a14:m>
                <a:r>
                  <a:rPr/>
                  <a:t>, orthonormal: the </a:t>
                </a:r>
                <a:r>
                  <a:rPr b="1"/>
                  <a:t>loadings</a:t>
                </a:r>
              </a:p>
              <a:p>
                <a:pPr lvl="0" indent="0" marL="0">
                  <a:buNone/>
                </a:pPr>
                <a:r>
                  <a:rPr/>
                  <a:t>This is not a statistical model. It is an identity, true of every matrix.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PCA is the SVD of centred data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Centre each column, then take the SVD.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principal components</a:t>
                </a:r>
                <a:r>
                  <a:rPr/>
                  <a:t> are the columns of </a:t>
                </a:r>
                <a14:m>
                  <m:oMath xmlns:m="http://schemas.openxmlformats.org/officeDocument/2006/math">
                    <m:r>
                      <m:t>U</m:t>
                    </m:r>
                    <m:r>
                      <m:t>D</m:t>
                    </m:r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loadings</a:t>
                </a:r>
                <a:r>
                  <a:rPr/>
                  <a:t> are the columns of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</a:p>
              <a:p>
                <a:pPr lvl="0"/>
                <a:r>
                  <a:rPr/>
                  <a:t>The variance explained by component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sSubSup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/</m:t>
                    </m:r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k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bSup>
                          <m:e>
                            <m:r>
                              <m:t>d</m:t>
                            </m:r>
                          </m:e>
                          <m:sub>
                            <m:r>
                              <m:t>k</m:t>
                            </m:r>
                          </m:sub>
                          <m:sup>
                            <m:r>
                              <m:t>2</m:t>
                            </m:r>
                          </m:sup>
                        </m:sSubSup>
                      </m:e>
                    </m:nary>
                  </m:oMath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′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n</m:t>
                          </m:r>
                        </m:e>
                      </m:d>
                      <m:r>
                        <m:t> 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 </m:t>
                      </m:r>
                      <m:r>
                        <m:t>V</m:t>
                      </m:r>
                      <m:f>
                        <m:fPr>
                          <m:type m:val="bar"/>
                        </m:fPr>
                        <m:num>
                          <m:sSup>
                            <m:e>
                              <m:r>
                                <m:t>D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t>V</m:t>
                      </m:r>
                      <m:r>
                        <m:rPr>
                          <m:sty m:val="p"/>
                        </m:rPr>
                        <m:t>′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PCA is an eigendecomposition of the covariance matrix. The SVD gets you there without ever forming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′</m:t>
                    </m:r>
                    <m:r>
                      <m:t>X</m:t>
                    </m:r>
                  </m:oMath>
                </a14:m>
                <a:r>
                  <a:rPr/>
                  <a:t>, which is numerically better.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truncation is optimal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Eckart–Young theorem: among all rank-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matrices, the one minimising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t>X</m:t>
                    </m:r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̂"/>
                      </m:accPr>
                      <m:e>
                        <m:r>
                          <m:t>X</m:t>
                        </m:r>
                      </m:e>
                    </m:acc>
                    <m:sSub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b>
                        <m:r>
                          <m:t>F</m:t>
                        </m:r>
                      </m:sub>
                    </m:sSub>
                  </m:oMath>
                </a14:m>
                <a:r>
                  <a:rPr/>
                  <a:t> is the SVD truncated to its first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terms.</a:t>
                </a:r>
              </a:p>
              <a:p>
                <a:pPr lvl="0" indent="0" marL="0">
                  <a:buNone/>
                </a:pPr>
                <a:r>
                  <a:rPr/>
                  <a:t>Keeping the largest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singular values is not a heuristic. It is provably the best rank-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approximation there is.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Standardise, or measure in euros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PCA maximises </a:t>
            </a:r>
            <a:r>
              <a:rPr b="1"/>
              <a:t>variance</a:t>
            </a:r>
            <a:r>
              <a:rPr/>
              <a:t>. A series measured in millions will dominate one measured in shares, purely through units.</a:t>
            </a:r>
          </a:p>
          <a:p>
            <a:pPr lvl="0" indent="0" marL="0">
              <a:buNone/>
            </a:pPr>
            <a:r>
              <a:rPr/>
              <a:t>On this panel, </a:t>
            </a:r>
            <a:r>
              <a:rPr>
                <a:latin typeface="Courier"/>
              </a:rPr>
              <a:t>population</a:t>
            </a:r>
            <a:r>
              <a:rPr/>
              <a:t> and </a:t>
            </a:r>
            <a:r>
              <a:rPr>
                <a:latin typeface="Courier"/>
              </a:rPr>
              <a:t>gfcf_meur</a:t>
            </a:r>
            <a:r>
              <a:rPr/>
              <a:t> are enormous next to </a:t>
            </a:r>
            <a:r>
              <a:rPr>
                <a:latin typeface="Courier"/>
              </a:rPr>
              <a:t>share_renew</a:t>
            </a:r>
            <a:r>
              <a:rPr/>
              <a:t>. Without standardising, your first component is “country size” and nothing else.</a:t>
            </a:r>
          </a:p>
          <a:p>
            <a:pPr lvl="0" indent="0" marL="0">
              <a:buNone/>
            </a:pPr>
            <a:r>
              <a:rPr/>
              <a:t>Standardising means you are doing PCA on the </a:t>
            </a:r>
            <a:r>
              <a:rPr b="1"/>
              <a:t>correlation</a:t>
            </a:r>
            <a:r>
              <a:rPr/>
              <a:t> matrix rather than the covariance matrix. State which.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many factors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answers, none decisive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Scree plot</a:t>
            </a:r>
            <a:r>
              <a:rPr/>
              <a:t> — look for the elbow. Subjective, and often there isn’t one.</a:t>
            </a:r>
          </a:p>
          <a:p>
            <a:pPr lvl="0" indent="-342900" marL="342900">
              <a:buAutoNum type="arabicPeriod"/>
            </a:pPr>
            <a:r>
              <a:rPr b="1"/>
              <a:t>Cumulative variance</a:t>
            </a:r>
            <a:r>
              <a:rPr/>
              <a:t> — keep enough for 80%, 90%. Arbitrary threshold.</a:t>
            </a:r>
          </a:p>
          <a:p>
            <a:pPr lvl="0" indent="-342900" marL="342900">
              <a:buAutoNum type="arabicPeriod"/>
            </a:pPr>
            <a:r>
              <a:rPr b="1"/>
              <a:t>Kaiser rule</a:t>
            </a:r>
            <a:r>
              <a:rPr/>
              <a:t> — eigenvalue &gt; 1 on standardised data. Known to over-select.</a:t>
            </a:r>
          </a:p>
          <a:p>
            <a:pPr lvl="0" indent="-342900" marL="342900">
              <a:buAutoNum type="arabicPeriod"/>
            </a:pPr>
            <a:r>
              <a:rPr b="1"/>
              <a:t>Parallel analysis</a:t>
            </a:r>
            <a:r>
              <a:rPr/>
              <a:t> — compare against eigenvalues from </a:t>
            </a:r>
            <a:r>
              <a:rPr i="1"/>
              <a:t>shuffled</a:t>
            </a:r>
            <a:r>
              <a:rPr/>
              <a:t> data. Keep components that beat noise.</a:t>
            </a:r>
          </a:p>
          <a:p>
            <a:pPr lvl="0" indent="0" marL="0">
              <a:buNone/>
            </a:pPr>
            <a:r>
              <a:rPr/>
              <a:t>Parallel analysis is the one with a defensible logic: it asks whether a component explains more than the same data with its structure destroyed.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Parallel analysis, in eight 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parallel_analysis(Z, n_iter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200</a:t>
            </a:r>
            <a:r>
              <a:rPr>
                <a:latin typeface="Courier"/>
              </a:rPr>
              <a:t>, seed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rng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np.random.default_rng(seed)</a:t>
            </a:r>
            <a:br/>
            <a:r>
              <a:rPr>
                <a:latin typeface="Courier"/>
              </a:rPr>
              <a:t>    real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np.linalg.svd(Z, compute_uv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False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br/>
            <a:r>
              <a:rPr>
                <a:latin typeface="Courier"/>
              </a:rPr>
              <a:t>    null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np.zeros((n_iter, 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(real)))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b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(n_iter):</a:t>
            </a:r>
            <a:br/>
            <a:r>
              <a:rPr>
                <a:latin typeface="Courier"/>
              </a:rPr>
              <a:t>        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np.column_stack([rng.permutation(col)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col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Z.T])</a:t>
            </a:r>
            <a:br/>
            <a:r>
              <a:rPr>
                <a:latin typeface="Courier"/>
              </a:rPr>
              <a:t>        null[b]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np.linalg.svd(S, compute_uv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False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real, np.percentile(null, </a:t>
            </a:r>
            <a:r>
              <a:rPr>
                <a:solidFill>
                  <a:srgbClr val="40A070"/>
                </a:solidFill>
                <a:latin typeface="Courier"/>
              </a:rPr>
              <a:t>95</a:t>
            </a:r>
            <a:r>
              <a:rPr>
                <a:latin typeface="Courier"/>
              </a:rPr>
              <a:t>, axis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Shuffling each column independently keeps every marginal distribution and destroys every correlation. What survives is real structure.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 factor is not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Rotation indeterminacy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any orthogonal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r>
                        <m:t>Λ</m:t>
                      </m:r>
                      <m:r>
                        <m:rPr>
                          <m:sty m:val="p"/>
                        </m:rPr>
                        <m:t>′</m:t>
                      </m:r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F</m:t>
                          </m:r>
                          <m:r>
                            <m:t>R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Λ</m:t>
                          </m:r>
                          <m:r>
                            <m:t>R</m:t>
                          </m:r>
                        </m:e>
                      </m:d>
                      <m:r>
                        <m:rPr>
                          <m:sty m:val="p"/>
                        </m:rPr>
                        <m:t>′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factors and loadings are </a:t>
                </a:r>
                <a:r>
                  <a:rPr b="1"/>
                  <a:t>not separately identified</a:t>
                </a:r>
                <a:r>
                  <a:rPr/>
                  <a:t>. Any rotation fits exactly as well. “Factor 1” is a coordinate system, not a discovered object.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what may you say?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✅ “Three components explain 71% of the common variation.”</a:t>
            </a:r>
          </a:p>
          <a:p>
            <a:pPr lvl="0"/>
            <a:r>
              <a:rPr/>
              <a:t>✅ “The first component loads positively on all adoption series.”</a:t>
            </a:r>
          </a:p>
          <a:p>
            <a:pPr lvl="0"/>
            <a:r>
              <a:rPr/>
              <a:t>❌ “Factor 1 </a:t>
            </a:r>
            <a:r>
              <a:rPr b="1"/>
              <a:t>is</a:t>
            </a:r>
            <a:r>
              <a:rPr/>
              <a:t> institutional capacity.”</a:t>
            </a:r>
          </a:p>
          <a:p>
            <a:pPr lvl="0" indent="0" marL="0">
              <a:buNone/>
            </a:pPr>
            <a:r>
              <a:rPr/>
              <a:t>Naming a factor is an </a:t>
            </a:r>
            <a:r>
              <a:rPr b="1"/>
              <a:t>interpretation you are advancing</a:t>
            </a:r>
            <a:r>
              <a:rPr/>
              <a:t>, on the evidence of the loadings. Present it as such, with the loadings visible so a reader can disagree.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Sign is arbitrary too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SVD is unique only up to sign: flip a column of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 and the matching column of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and nothing changes.</a:t>
                </a:r>
              </a:p>
              <a:p>
                <a:pPr lvl="0" indent="0" marL="0">
                  <a:buNone/>
                </a:pPr>
                <a:r>
                  <a:rPr/>
                  <a:t>Rerun on a different machine or library version and your factor may come out upside down. Fix the sign by convention — for example, force the largest loading positive — and say you did.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Doing it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wide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br/>
            <a:r>
              <a:rPr>
                <a:latin typeface="Courier"/>
              </a:rPr>
              <a:t>core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"data/spine/core.parquet"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a  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"data/spine/angle_a_country.parquet"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latin typeface="Courier"/>
              </a:rPr>
              <a:t>df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core.merge(a.drop(columns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"flag"</a:t>
            </a:r>
            <a:r>
              <a:rPr>
                <a:latin typeface="Courier"/>
              </a:rPr>
              <a:t>]), on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])</a:t>
            </a:r>
            <a:br/>
            <a:r>
              <a:rPr>
                <a:latin typeface="Courier"/>
              </a:rPr>
              <a:t>cols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"productivity_idx"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"employment_ths"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"gfcf_meur"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4070A0"/>
                </a:solidFill>
                <a:latin typeface="Courier"/>
              </a:rPr>
              <a:t>"share_renew"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"share_fossil"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"energy_intensity"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4070A0"/>
                </a:solidFill>
                <a:latin typeface="Courier"/>
              </a:rPr>
              <a:t>"elec_price_eur_kwh"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"elec_industry_gwh"</a:t>
            </a:r>
            <a:r>
              <a:rPr>
                <a:latin typeface="Courier"/>
              </a:rPr>
              <a:t>]</a:t>
            </a:r>
            <a:br/>
            <a:br/>
            <a:r>
              <a:rPr>
                <a:latin typeface="Courier"/>
              </a:rPr>
              <a:t>W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df.pivot_table(index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, columns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values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"productivity_idx"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(W.shape)      </a:t>
            </a:r>
            <a:r>
              <a:rPr i="1">
                <a:solidFill>
                  <a:srgbClr val="60A0B0"/>
                </a:solidFill>
                <a:latin typeface="Courier"/>
              </a:rPr>
              <a:t># 15 years x 30 countries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Standardise and decompose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sklearn.decomposition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PCA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sklearn.preprocessing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StandardScaler</a:t>
            </a:r>
            <a:br/>
            <a:br/>
            <a:r>
              <a:rPr>
                <a:latin typeface="Courier"/>
              </a:rPr>
              <a:t>Z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StandardScaler().fit_transform(W.dropna(axis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p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PCA().fit(Z)</a:t>
            </a:r>
            <a:br/>
            <a:br/>
            <a:r>
              <a:rPr>
                <a:latin typeface="Courier"/>
              </a:rPr>
              <a:t>ev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p.explained_variance_ratio_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((ev[:</a:t>
            </a:r>
            <a:r>
              <a:rPr>
                <a:solidFill>
                  <a:srgbClr val="40A070"/>
                </a:solidFill>
                <a:latin typeface="Courier"/>
              </a:rPr>
              <a:t>6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100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((ev[:</a:t>
            </a:r>
            <a:r>
              <a:rPr>
                <a:solidFill>
                  <a:srgbClr val="40A070"/>
                </a:solidFill>
                <a:latin typeface="Courier"/>
              </a:rPr>
              <a:t>6</a:t>
            </a:r>
            <a:r>
              <a:rPr>
                <a:latin typeface="Courier"/>
              </a:rPr>
              <a:t>].cumsum()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100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The spine was built from three factors. See how much of the variation the first three components recover before you look at any rule.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scree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matplotlib.pyplot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plt</a:t>
            </a:r>
            <a:br/>
            <a:br/>
            <a:r>
              <a:rPr>
                <a:latin typeface="Courier"/>
              </a:rPr>
              <a:t>real, null95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parallel_analysis(Z)</a:t>
            </a:r>
            <a:br/>
            <a:r>
              <a:rPr>
                <a:latin typeface="Courier"/>
              </a:rPr>
              <a:t>plt.plot(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(real)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), real, </a:t>
            </a:r>
            <a:r>
              <a:rPr>
                <a:solidFill>
                  <a:srgbClr val="4070A0"/>
                </a:solidFill>
                <a:latin typeface="Courier"/>
              </a:rPr>
              <a:t>"o-"</a:t>
            </a:r>
            <a:r>
              <a:rPr>
                <a:latin typeface="Courier"/>
              </a:rPr>
              <a:t>, label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"observed"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plt.plot(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(null95)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), null95, </a:t>
            </a:r>
            <a:r>
              <a:rPr>
                <a:solidFill>
                  <a:srgbClr val="4070A0"/>
                </a:solidFill>
                <a:latin typeface="Courier"/>
              </a:rPr>
              <a:t>"s--"</a:t>
            </a:r>
            <a:r>
              <a:rPr>
                <a:latin typeface="Courier"/>
              </a:rPr>
              <a:t>, label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"95th pct of shuffled"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plt.xlabel(</a:t>
            </a:r>
            <a:r>
              <a:rPr>
                <a:solidFill>
                  <a:srgbClr val="4070A0"/>
                </a:solidFill>
                <a:latin typeface="Courier"/>
              </a:rPr>
              <a:t>"component"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plt.ylabel(</a:t>
            </a:r>
            <a:r>
              <a:rPr>
                <a:solidFill>
                  <a:srgbClr val="4070A0"/>
                </a:solidFill>
                <a:latin typeface="Courier"/>
              </a:rPr>
              <a:t>"eigenvalue"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plt.legend()</a:t>
            </a:r>
          </a:p>
          <a:p>
            <a:pPr lvl="0" indent="0" marL="0">
              <a:buNone/>
            </a:pPr>
            <a:r>
              <a:rPr/>
              <a:t>Keep the components whose eigenvalue sits above the dashed line. Count them before you read the next slide.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loadings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pd.DataFrame(p.components_[: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].T, index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W.dropna(axis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).columns,</a:t>
            </a:r>
            <a:br/>
            <a:r>
              <a:rPr>
                <a:latin typeface="Courier"/>
              </a:rPr>
              <a:t>                 columns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"PC1"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"PC2"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"PC3"</a:t>
            </a:r>
            <a:r>
              <a:rPr>
                <a:latin typeface="Courier"/>
              </a:rPr>
              <a:t>])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(L.sort_values(</a:t>
            </a:r>
            <a:r>
              <a:rPr>
                <a:solidFill>
                  <a:srgbClr val="4070A0"/>
                </a:solidFill>
                <a:latin typeface="Courier"/>
              </a:rPr>
              <a:t>"PC1"</a:t>
            </a:r>
            <a:r>
              <a:rPr>
                <a:latin typeface="Courier"/>
              </a:rPr>
              <a:t>).head(</a:t>
            </a:r>
            <a:r>
              <a:rPr>
                <a:solidFill>
                  <a:srgbClr val="40A070"/>
                </a:solidFill>
                <a:latin typeface="Courier"/>
              </a:rPr>
              <a:t>6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(L.sort_values(</a:t>
            </a:r>
            <a:r>
              <a:rPr>
                <a:solidFill>
                  <a:srgbClr val="4070A0"/>
                </a:solidFill>
                <a:latin typeface="Courier"/>
              </a:rPr>
              <a:t>"PC1"</a:t>
            </a:r>
            <a:r>
              <a:rPr>
                <a:latin typeface="Courier"/>
              </a:rPr>
              <a:t>).tail(</a:t>
            </a:r>
            <a:r>
              <a:rPr>
                <a:solidFill>
                  <a:srgbClr val="40A070"/>
                </a:solidFill>
                <a:latin typeface="Courier"/>
              </a:rPr>
              <a:t>6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Look at which countries sit at each end of PC1. If the ordering is recognisable as an economic gradient, you have grounds for an interpretation — and you should still write it as an interpretation.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factors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Factor-augmented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Rather than choosing among 30 correlated series, regress on a few factors: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′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F</m:t>
                              </m:r>
                            </m:e>
                          </m:acc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Sidesteps the collinearity of Session 05 entirely</a:t>
                </a:r>
              </a:p>
              <a:p>
                <a:pPr lvl="0"/>
                <a:r>
                  <a:rPr/>
                  <a:t>Costs you interpretability —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is the effect of a </a:t>
                </a:r>
                <a:r>
                  <a:rPr i="1"/>
                  <a:t>coordinate</a:t>
                </a:r>
              </a:p>
              <a:p>
                <a:pPr lvl="0"/>
                <a:r>
                  <a:rPr/>
                  <a:t>The factors are </a:t>
                </a:r>
                <a:r>
                  <a:rPr b="1"/>
                  <a:t>estimated</a:t>
                </a:r>
                <a:r>
                  <a:rPr/>
                  <a:t>, so their error propagates into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is the “factor augmentation” approach the Session 05 paper compared variable selection against. Now you have seen both.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Factors versus the lasso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Factors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Lasso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Handles correlation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 combining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 choosing one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Output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Dense coordinates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short list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Only after argument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Named variables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Reasonably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Often not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predictors move together for a real common reason, factors are the honest representation. When you believe a few specific things matter, the lasso is.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Whether you used the </a:t>
            </a:r>
            <a:r>
              <a:rPr b="1"/>
              <a:t>correlation or covariance</a:t>
            </a:r>
            <a:r>
              <a:rPr/>
              <a:t> matrix</a:t>
            </a:r>
          </a:p>
          <a:p>
            <a:pPr lvl="0"/>
            <a:r>
              <a:rPr/>
              <a:t>The variance explained, and how many components you kept </a:t>
            </a:r>
            <a:r>
              <a:rPr b="1"/>
              <a:t>and why</a:t>
            </a:r>
          </a:p>
          <a:p>
            <a:pPr lvl="0"/>
            <a:r>
              <a:rPr/>
              <a:t>The loadings, so a reader can judge your naming</a:t>
            </a:r>
          </a:p>
          <a:p>
            <a:pPr lvl="0"/>
            <a:r>
              <a:rPr/>
              <a:t>Your sign convention</a:t>
            </a:r>
          </a:p>
          <a:p>
            <a:pPr lvl="0"/>
            <a:r>
              <a:rPr/>
              <a:t>That factors are coordinates, not objects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mistakes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Mistake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Consequence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standardising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PC1 is whichever series is largest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Naming factors as facts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Rotation makes the name arbitrary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Kaiser rule alone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Over-selects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Ignoring sign flips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Results do not reproduce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Fitting PCA before the CV split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Leakage — it learned from the test fold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Build the wide matrix and standardise it</a:t>
            </a:r>
          </a:p>
          <a:p>
            <a:pPr lvl="0" indent="-342900" marL="342900">
              <a:buAutoNum type="arabicPeriod"/>
            </a:pPr>
            <a:r>
              <a:rPr/>
              <a:t>Run PCA and parallel analysis; decide how many factors, in writing, first</a:t>
            </a:r>
          </a:p>
          <a:p>
            <a:pPr lvl="0" indent="-342900" marL="342900">
              <a:buAutoNum type="arabicPeriod"/>
            </a:pPr>
            <a:r>
              <a:rPr/>
              <a:t>Compare your answer to the </a:t>
            </a:r>
            <a:r>
              <a:rPr b="1"/>
              <a:t>three</a:t>
            </a:r>
            <a:r>
              <a:rPr/>
              <a:t> the spine was built from</a:t>
            </a:r>
          </a:p>
          <a:p>
            <a:pPr lvl="0" indent="-342900" marL="342900">
              <a:buAutoNum type="arabicPeriod"/>
            </a:pPr>
            <a:r>
              <a:rPr/>
              <a:t>Interpret PC1 from its loadings — and flag it as interpretation</a:t>
            </a:r>
          </a:p>
          <a:p>
            <a:pPr lvl="0" indent="-342900" marL="342900">
              <a:buAutoNum type="arabicPeriod"/>
            </a:pPr>
            <a:r>
              <a:rPr/>
              <a:t>Run one factor-augmented regression and compare with Session 05’s lasso</a:t>
            </a:r>
          </a:p>
          <a:p>
            <a:pPr lvl="0" indent="0" marL="0">
              <a:buNone/>
            </a:pPr>
            <a:r>
              <a:rPr/>
              <a:t>This is the only session where you can check your answer against the truth. Use it to calibrate how much to trust the same procedure when you cannot.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PCA, the SVD, and Factor Models</dc:title>
  <dc:creator>Thierry Warin</dc:creator>
  <cp:keywords/>
  <dcterms:created xsi:type="dcterms:W3CDTF">2026-08-19T12:45:13Z</dcterms:created>
  <dcterms:modified xsi:type="dcterms:W3CDTF">2026-08-19T12:45:13Z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18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08 · Finding the few things that move everything else</vt:lpwstr>
  </property>
  <property fmtid="{D5CDD505-2E9C-101B-9397-08002B2CF9AE}" pid="16" name="toc-title">
    <vt:lpwstr>Table of contents</vt:lpwstr>
  </property>
</Properties>
</file>