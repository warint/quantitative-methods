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Override PartName="/docProps/app.xml" ContentType="application/vnd.openxmlformats-officedocument.extended-properties+xml"/>
  <Override PartName="/ppt/slideLayouts/slideLayout9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package/2006/relationships/metadata/extended-properties" Target="docProps/app.xml" /><Relationship Id="rId4" Type="http://schemas.openxmlformats.org/officeDocument/2006/relationships/custom-properties" Target="docProps/custom.xml" 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autoCompressPictures="0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</p:sldIdLst>
  <p:sldSz cx="9144000" cy="5143500" type="screen16x9"/>
  <p:notesSz cx="6858000" cy="9144000"/>
  <p:defaultTextStyle>
    <a:defPPr>
      <a:defRPr lang="en-US"/>
    </a:defPPr>
    <a:lvl1pPr algn="l" defTabSz="4572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4572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4572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4572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4572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4572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4572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4572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4572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 xmlns:r="http://schemas.openxmlformats.org/officeDocument/2006/relationships">
  <p:normalViewPr>
    <p:restoredLeft autoAdjust="0" sz="15643"/>
    <p:restoredTop autoAdjust="0" sz="94694"/>
  </p:normalViewPr>
  <p:slideViewPr>
    <p:cSldViewPr snapToGrid="0" snapToObjects="1">
      <p:cViewPr varScale="1">
        <p:scale>
          <a:sx d="100" n="161"/>
          <a:sy d="100" n="161"/>
        </p:scale>
        <p:origin x="560" y="200"/>
      </p:cViewPr>
      <p:guideLst>
        <p:guide orient="horz" pos="1620"/>
        <p:guide pos="2880"/>
      </p:guideLst>
    </p:cSldViewPr>
  </p:slideViewPr>
  <p:outlineViewPr>
    <p:cViewPr>
      <p:scale>
        <a:sx d="100" n="33"/>
        <a:sy d="100" n="33"/>
      </p:scale>
      <p:origin x="0" y="0"/>
    </p:cViewPr>
  </p:outlineViewPr>
  <p:notesTextViewPr>
    <p:cViewPr>
      <p:scale>
        <a:sx d="100" n="100"/>
        <a:sy d="100" n="100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2" Type="http://schemas.openxmlformats.org/officeDocument/2006/relationships/slide" Target="slides/slide1.xml" /><Relationship Id="rId3" Type="http://schemas.openxmlformats.org/officeDocument/2006/relationships/slide" Target="slides/slide2.xml" /><Relationship Id="rId4" Type="http://schemas.openxmlformats.org/officeDocument/2006/relationships/slide" Target="slides/slide3.xml" /><Relationship Id="rId5" Type="http://schemas.openxmlformats.org/officeDocument/2006/relationships/slide" Target="slides/slide4.xml" /><Relationship Id="rId6" Type="http://schemas.openxmlformats.org/officeDocument/2006/relationships/slide" Target="slides/slide5.xml" /><Relationship Id="rId7" Type="http://schemas.openxmlformats.org/officeDocument/2006/relationships/slide" Target="slides/slide6.xml" /><Relationship Id="rId8" Type="http://schemas.openxmlformats.org/officeDocument/2006/relationships/slide" Target="slides/slide7.xml" /><Relationship Id="rId9" Type="http://schemas.openxmlformats.org/officeDocument/2006/relationships/slide" Target="slides/slide8.xml" /><Relationship Id="rId10" Type="http://schemas.openxmlformats.org/officeDocument/2006/relationships/slide" Target="slides/slide9.xml" /><Relationship Id="rId11" Type="http://schemas.openxmlformats.org/officeDocument/2006/relationships/slide" Target="slides/slide10.xml" /><Relationship Id="rId12" Type="http://schemas.openxmlformats.org/officeDocument/2006/relationships/slide" Target="slides/slide11.xml" /><Relationship Id="rId13" Type="http://schemas.openxmlformats.org/officeDocument/2006/relationships/slide" Target="slides/slide12.xml" /><Relationship Id="rId14" Type="http://schemas.openxmlformats.org/officeDocument/2006/relationships/slide" Target="slides/slide13.xml" /><Relationship Id="rId15" Type="http://schemas.openxmlformats.org/officeDocument/2006/relationships/slide" Target="slides/slide14.xml" /><Relationship Id="rId16" Type="http://schemas.openxmlformats.org/officeDocument/2006/relationships/slide" Target="slides/slide15.xml" /><Relationship Id="rId17" Type="http://schemas.openxmlformats.org/officeDocument/2006/relationships/slide" Target="slides/slide16.xml" /><Relationship Id="rId18" Type="http://schemas.openxmlformats.org/officeDocument/2006/relationships/slide" Target="slides/slide17.xml" /><Relationship Id="rId19" Type="http://schemas.openxmlformats.org/officeDocument/2006/relationships/slide" Target="slides/slide18.xml" /><Relationship Id="rId20" Type="http://schemas.openxmlformats.org/officeDocument/2006/relationships/slide" Target="slides/slide19.xml" /><Relationship Id="rId21" Type="http://schemas.openxmlformats.org/officeDocument/2006/relationships/slide" Target="slides/slide20.xml" /><Relationship Id="rId22" Type="http://schemas.openxmlformats.org/officeDocument/2006/relationships/slide" Target="slides/slide21.xml" /><Relationship Id="rId23" Type="http://schemas.openxmlformats.org/officeDocument/2006/relationships/slide" Target="slides/slide22.xml" /><Relationship Id="rId24" Type="http://schemas.openxmlformats.org/officeDocument/2006/relationships/slide" Target="slides/slide23.xml" /><Relationship Id="rId25" Type="http://schemas.openxmlformats.org/officeDocument/2006/relationships/slide" Target="slides/slide24.xml" /><Relationship Id="rId26" Type="http://schemas.openxmlformats.org/officeDocument/2006/relationships/slide" Target="slides/slide25.xml" /><Relationship Id="rId27" Type="http://schemas.openxmlformats.org/officeDocument/2006/relationships/slide" Target="slides/slide26.xml" /><Relationship Id="rId28" Type="http://schemas.openxmlformats.org/officeDocument/2006/relationships/slide" Target="slides/slide27.xml" /><Relationship Id="rId30" Type="http://schemas.openxmlformats.org/officeDocument/2006/relationships/viewProps" Target="viewProps.xml" /><Relationship Id="rId29" Type="http://schemas.openxmlformats.org/officeDocument/2006/relationships/presProps" Target="presProps.xml" /><Relationship Id="rId1" Type="http://schemas.openxmlformats.org/officeDocument/2006/relationships/slideMaster" Target="slideMasters/slideMaster1.xml" /><Relationship Id="rId32" Type="http://schemas.openxmlformats.org/officeDocument/2006/relationships/tableStyles" Target="tableStyles.xml" /><Relationship Id="rId31" Type="http://schemas.openxmlformats.org/officeDocument/2006/relationships/theme" Target="theme/theme1.xml" 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357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460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185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95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8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7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6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6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6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6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6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6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0690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1300"/>
            </a:lvl1pPr>
            <a:lvl2pPr>
              <a:defRPr sz="1100"/>
            </a:lvl2pPr>
            <a:lvl3pPr>
              <a:defRPr sz="950"/>
            </a:lvl3pPr>
            <a:lvl4pPr>
              <a:defRPr sz="850"/>
            </a:lvl4pPr>
            <a:lvl5pPr>
              <a:defRPr sz="850"/>
            </a:lvl5pPr>
            <a:lvl6pPr>
              <a:defRPr sz="850"/>
            </a:lvl6pPr>
            <a:lvl7pPr>
              <a:defRPr sz="850"/>
            </a:lvl7pPr>
            <a:lvl8pPr>
              <a:defRPr sz="850"/>
            </a:lvl8pPr>
            <a:lvl9pPr>
              <a:defRPr sz="8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1300"/>
            </a:lvl1pPr>
            <a:lvl2pPr>
              <a:defRPr sz="1100"/>
            </a:lvl2pPr>
            <a:lvl3pPr>
              <a:defRPr sz="950"/>
            </a:lvl3pPr>
            <a:lvl4pPr>
              <a:defRPr sz="850"/>
            </a:lvl4pPr>
            <a:lvl5pPr>
              <a:defRPr sz="850"/>
            </a:lvl5pPr>
            <a:lvl6pPr>
              <a:defRPr sz="850"/>
            </a:lvl6pPr>
            <a:lvl7pPr>
              <a:defRPr sz="850"/>
            </a:lvl7pPr>
            <a:lvl8pPr>
              <a:defRPr sz="850"/>
            </a:lvl8pPr>
            <a:lvl9pPr>
              <a:defRPr sz="8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886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1100" b="1"/>
            </a:lvl1pPr>
            <a:lvl2pPr marL="342900" indent="0">
              <a:buNone/>
              <a:defRPr sz="950" b="1"/>
            </a:lvl2pPr>
            <a:lvl3pPr marL="685800" indent="0">
              <a:buNone/>
              <a:defRPr sz="850" b="1"/>
            </a:lvl3pPr>
            <a:lvl4pPr marL="1028700" indent="0">
              <a:buNone/>
              <a:defRPr sz="750" b="1"/>
            </a:lvl4pPr>
            <a:lvl5pPr marL="1371600" indent="0">
              <a:buNone/>
              <a:defRPr sz="750" b="1"/>
            </a:lvl5pPr>
            <a:lvl6pPr marL="1714500" indent="0">
              <a:buNone/>
              <a:defRPr sz="750" b="1"/>
            </a:lvl6pPr>
            <a:lvl7pPr marL="2057400" indent="0">
              <a:buNone/>
              <a:defRPr sz="750" b="1"/>
            </a:lvl7pPr>
            <a:lvl8pPr marL="2400300" indent="0">
              <a:buNone/>
              <a:defRPr sz="750" b="1"/>
            </a:lvl8pPr>
            <a:lvl9pPr marL="2743200" indent="0">
              <a:buNone/>
              <a:defRPr sz="75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1100"/>
            </a:lvl1pPr>
            <a:lvl2pPr>
              <a:defRPr sz="950"/>
            </a:lvl2pPr>
            <a:lvl3pPr>
              <a:defRPr sz="850"/>
            </a:lvl3pPr>
            <a:lvl4pPr>
              <a:defRPr sz="750"/>
            </a:lvl4pPr>
            <a:lvl5pPr>
              <a:defRPr sz="750"/>
            </a:lvl5pPr>
            <a:lvl6pPr>
              <a:defRPr sz="750"/>
            </a:lvl6pPr>
            <a:lvl7pPr>
              <a:defRPr sz="750"/>
            </a:lvl7pPr>
            <a:lvl8pPr>
              <a:defRPr sz="750"/>
            </a:lvl8pPr>
            <a:lvl9pPr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1100" b="1"/>
            </a:lvl1pPr>
            <a:lvl2pPr marL="342900" indent="0">
              <a:buNone/>
              <a:defRPr sz="950" b="1"/>
            </a:lvl2pPr>
            <a:lvl3pPr marL="685800" indent="0">
              <a:buNone/>
              <a:defRPr sz="850" b="1"/>
            </a:lvl3pPr>
            <a:lvl4pPr marL="1028700" indent="0">
              <a:buNone/>
              <a:defRPr sz="750" b="1"/>
            </a:lvl4pPr>
            <a:lvl5pPr marL="1371600" indent="0">
              <a:buNone/>
              <a:defRPr sz="750" b="1"/>
            </a:lvl5pPr>
            <a:lvl6pPr marL="1714500" indent="0">
              <a:buNone/>
              <a:defRPr sz="750" b="1"/>
            </a:lvl6pPr>
            <a:lvl7pPr marL="2057400" indent="0">
              <a:buNone/>
              <a:defRPr sz="750" b="1"/>
            </a:lvl7pPr>
            <a:lvl8pPr marL="2400300" indent="0">
              <a:buNone/>
              <a:defRPr sz="750" b="1"/>
            </a:lvl8pPr>
            <a:lvl9pPr marL="2743200" indent="0">
              <a:buNone/>
              <a:defRPr sz="75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1100"/>
            </a:lvl1pPr>
            <a:lvl2pPr>
              <a:defRPr sz="950"/>
            </a:lvl2pPr>
            <a:lvl3pPr>
              <a:defRPr sz="850"/>
            </a:lvl3pPr>
            <a:lvl4pPr>
              <a:defRPr sz="750"/>
            </a:lvl4pPr>
            <a:lvl5pPr>
              <a:defRPr sz="750"/>
            </a:lvl5pPr>
            <a:lvl6pPr>
              <a:defRPr sz="750"/>
            </a:lvl6pPr>
            <a:lvl7pPr>
              <a:defRPr sz="750"/>
            </a:lvl7pPr>
            <a:lvl8pPr>
              <a:defRPr sz="750"/>
            </a:lvl8pPr>
            <a:lvl9pPr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793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7212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901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95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1500"/>
            </a:lvl1pPr>
            <a:lvl2pPr>
              <a:defRPr sz="1300"/>
            </a:lvl2pPr>
            <a:lvl3pPr>
              <a:defRPr sz="1100"/>
            </a:lvl3pPr>
            <a:lvl4pPr>
              <a:defRPr sz="950"/>
            </a:lvl4pPr>
            <a:lvl5pPr>
              <a:defRPr sz="950"/>
            </a:lvl5pPr>
            <a:lvl6pPr>
              <a:defRPr sz="950"/>
            </a:lvl6pPr>
            <a:lvl7pPr>
              <a:defRPr sz="950"/>
            </a:lvl7pPr>
            <a:lvl8pPr>
              <a:defRPr sz="950"/>
            </a:lvl8pPr>
            <a:lvl9pPr>
              <a:defRPr sz="9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650"/>
            </a:lvl1pPr>
            <a:lvl2pPr marL="342900" indent="0">
              <a:buNone/>
              <a:defRPr sz="550"/>
            </a:lvl2pPr>
            <a:lvl3pPr marL="685800" indent="0">
              <a:buNone/>
              <a:defRPr sz="550"/>
            </a:lvl3pPr>
            <a:lvl4pPr marL="1028700" indent="0">
              <a:buNone/>
              <a:defRPr sz="550"/>
            </a:lvl4pPr>
            <a:lvl5pPr marL="1371600" indent="0">
              <a:buNone/>
              <a:defRPr sz="550"/>
            </a:lvl5pPr>
            <a:lvl6pPr marL="1714500" indent="0">
              <a:buNone/>
              <a:defRPr sz="550"/>
            </a:lvl6pPr>
            <a:lvl7pPr marL="2057400" indent="0">
              <a:buNone/>
              <a:defRPr sz="550"/>
            </a:lvl7pPr>
            <a:lvl8pPr marL="2400300" indent="0">
              <a:buNone/>
              <a:defRPr sz="550"/>
            </a:lvl8pPr>
            <a:lvl9pPr marL="2743200" indent="0">
              <a:buNone/>
              <a:defRPr sz="5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895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95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1500"/>
            </a:lvl1pPr>
            <a:lvl2pPr marL="342900" indent="0">
              <a:buNone/>
              <a:defRPr sz="1300"/>
            </a:lvl2pPr>
            <a:lvl3pPr marL="685800" indent="0">
              <a:buNone/>
              <a:defRPr sz="1100"/>
            </a:lvl3pPr>
            <a:lvl4pPr marL="1028700" indent="0">
              <a:buNone/>
              <a:defRPr sz="950"/>
            </a:lvl4pPr>
            <a:lvl5pPr marL="1371600" indent="0">
              <a:buNone/>
              <a:defRPr sz="950"/>
            </a:lvl5pPr>
            <a:lvl6pPr marL="1714500" indent="0">
              <a:buNone/>
              <a:defRPr sz="950"/>
            </a:lvl6pPr>
            <a:lvl7pPr marL="2057400" indent="0">
              <a:buNone/>
              <a:defRPr sz="950"/>
            </a:lvl7pPr>
            <a:lvl8pPr marL="2400300" indent="0">
              <a:buNone/>
              <a:defRPr sz="950"/>
            </a:lvl8pPr>
            <a:lvl9pPr marL="2743200" indent="0">
              <a:buNone/>
              <a:defRPr sz="95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650"/>
            </a:lvl1pPr>
            <a:lvl2pPr marL="342900" indent="0">
              <a:buNone/>
              <a:defRPr sz="550"/>
            </a:lvl2pPr>
            <a:lvl3pPr marL="685800" indent="0">
              <a:buNone/>
              <a:defRPr sz="550"/>
            </a:lvl3pPr>
            <a:lvl4pPr marL="1028700" indent="0">
              <a:buNone/>
              <a:defRPr sz="550"/>
            </a:lvl4pPr>
            <a:lvl5pPr marL="1371600" indent="0">
              <a:buNone/>
              <a:defRPr sz="550"/>
            </a:lvl5pPr>
            <a:lvl6pPr marL="1714500" indent="0">
              <a:buNone/>
              <a:defRPr sz="550"/>
            </a:lvl6pPr>
            <a:lvl7pPr marL="2057400" indent="0">
              <a:buNone/>
              <a:defRPr sz="550"/>
            </a:lvl7pPr>
            <a:lvl8pPr marL="2400300" indent="0">
              <a:buNone/>
              <a:defRPr sz="550"/>
            </a:lvl8pPr>
            <a:lvl9pPr marL="2743200" indent="0">
              <a:buNone/>
              <a:defRPr sz="5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8998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147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529045"/>
      </p:ext>
    </p:extLst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8" Target="../slideLayouts/slideLayout8.xml" Type="http://schemas.openxmlformats.org/officeDocument/2006/relationships/slideLayout" /><Relationship Id="rId3" Target="../slideLayouts/slideLayout3.xml" Type="http://schemas.openxmlformats.org/officeDocument/2006/relationships/slideLayout" /><Relationship Id="rId7" Target="../slideLayouts/slideLayout7.xml" Type="http://schemas.openxmlformats.org/officeDocument/2006/relationships/slideLayout" /><Relationship Id="rId12" Target="../theme/theme1.xml" Type="http://schemas.openxmlformats.org/officeDocument/2006/relationships/theme" /><Relationship Id="rId2" Target="../slideLayouts/slideLayout2.xml" Type="http://schemas.openxmlformats.org/officeDocument/2006/relationships/slideLayout" /><Relationship Id="rId1" Target="../slideLayouts/slideLayout1.xml" Type="http://schemas.openxmlformats.org/officeDocument/2006/relationships/slideLayout" /><Relationship Id="rId6" Target="../slideLayouts/slideLayout6.xml" Type="http://schemas.openxmlformats.org/officeDocument/2006/relationships/slideLayout" /><Relationship Id="rId11" Target="../slideLayouts/slideLayout11.xml" Type="http://schemas.openxmlformats.org/officeDocument/2006/relationships/slideLayout" /><Relationship Id="rId5" Target="../slideLayouts/slideLayout5.xml" Type="http://schemas.openxmlformats.org/officeDocument/2006/relationships/slideLayout" /><Relationship Id="rId10" Target="../slideLayouts/slideLayout10.xml" Type="http://schemas.openxmlformats.org/officeDocument/2006/relationships/slideLayout" /><Relationship Id="rId4" Target="../slideLayouts/slideLayout4.xml" Type="http://schemas.openxmlformats.org/officeDocument/2006/relationships/slideLayout" /><Relationship Id="rId9" Target="../slideLayouts/slideLayout9.xml" Type="http://schemas.openxmlformats.org/officeDocument/2006/relationships/slideLayout" 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anchor="ctr" bIns="45720" lIns="91440" rIns="91440" rtlCol="0" tIns="45720" vert="horz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idx="1" type="body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bIns="45720" lIns="91440" rIns="91440" rtlCol="0" tIns="45720" vert="horz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2" sz="half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l">
              <a:defRPr sz="5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idx="3" sz="quarter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ctr">
              <a:defRPr sz="5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idx="4" sz="quarter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r">
              <a:defRPr sz="5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  <p:sp>
        <p:nvSpPr>
          <p:cNvPr id="7" name="Author Footer"/>
          <p:cNvSpPr txBox="1"/>
          <p:nvPr/>
        </p:nvSpPr>
        <p:spPr>
          <a:xfrm>
            <a:off x="457200" y="4735000"/>
            <a:ext cx="5000000" cy="260000"/>
          </a:xfrm>
          <a:prstGeom prst="rect">
            <a:avLst/>
          </a:prstGeom>
          <a:noFill/>
        </p:spPr>
        <p:txBody>
          <a:bodyPr anchor="ctr" bIns="0" lIns="0" rIns="0" tIns="0" wrap="square"/>
          <a:lstStyle/>
          <a:p>
            <a:pPr algn="l"/>
            <a:r>
              <a:rPr dirty="0" lang="en-US" sz="900">
                <a:solidFill>
                  <a:srgbClr val="6E7275"/>
                </a:solidFill>
                <a:latin typeface="+mn-lt"/>
              </a:rPr>
              <a:t>Thierry Warin, PhD</a:t>
            </a:r>
          </a:p>
        </p:txBody>
      </p:sp>
      <p:sp>
        <p:nvSpPr>
          <p:cNvPr id="8" name="Slide Number Footer"/>
          <p:cNvSpPr txBox="1"/>
          <p:nvPr/>
        </p:nvSpPr>
        <p:spPr>
          <a:xfrm>
            <a:off x="7200000" y="4735000"/>
            <a:ext cx="1486800" cy="260000"/>
          </a:xfrm>
          <a:prstGeom prst="rect">
            <a:avLst/>
          </a:prstGeom>
          <a:noFill/>
        </p:spPr>
        <p:txBody>
          <a:bodyPr anchor="ctr" bIns="0" lIns="0" rIns="0" tIns="0" wrap="square"/>
          <a:lstStyle/>
          <a:p>
            <a:pPr algn="r"/>
            <a:fld id="{9B1A2C3D-4E5F-6A7B-8C9D-0E1F2A3B4C5D}" type="slidenum">
              <a:rPr dirty="0" lang="en-US" sz="900">
                <a:solidFill>
                  <a:srgbClr val="6E7275"/>
                </a:solidFill>
                <a:latin typeface="+mn-lt"/>
              </a:rPr>
              <a:t>2</a:t>
            </a:fld>
          </a:p>
        </p:txBody>
      </p:sp>
    </p:spTree>
    <p:extLst>
      <p:ext uri="{BB962C8B-B14F-4D97-AF65-F5344CB8AC3E}">
        <p14:creationId xmlns:p14="http://schemas.microsoft.com/office/powerpoint/2010/main" val="3676200875"/>
      </p:ext>
    </p:extLst>
  </p:cSld>
  <p:clrMap accent1="accent1" accent2="accent2" accent3="accent3" accent4="accent4" accent5="accent5" accent6="accent6" bg1="lt1" bg2="lt2" folHlink="folHlink" hlink="hlink" tx1="dk1" tx2="dk2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342900" eaLnBrk="1" hangingPunct="1" latinLnBrk="0" rtl="0">
        <a:spcBef>
          <a:spcPct val="0"/>
        </a:spcBef>
        <a:buNone/>
        <a:defRPr kern="1200" sz="205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algn="l" defTabSz="342900" eaLnBrk="1" hangingPunct="1" indent="-342900" latinLnBrk="0" marL="3429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indent="-342900" latinLnBrk="0" marL="685800" rtl="0">
        <a:spcBef>
          <a:spcPct val="20000"/>
        </a:spcBef>
        <a:buFont typeface="Arial"/>
        <a:buChar char="–"/>
        <a:defRPr kern="1200" sz="130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indent="-342900" latinLnBrk="0" marL="1028700" rtl="0">
        <a:spcBef>
          <a:spcPct val="20000"/>
        </a:spcBef>
        <a:buFont typeface="Arial"/>
        <a:buChar char="•"/>
        <a:defRPr kern="1200" sz="110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indent="-342900" latinLnBrk="0" marL="1371600" rtl="0">
        <a:spcBef>
          <a:spcPct val="20000"/>
        </a:spcBef>
        <a:buFont typeface="Arial"/>
        <a:buChar char="–"/>
        <a:defRPr kern="1200" sz="95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indent="-342900" latinLnBrk="0" marL="1714500" rtl="0">
        <a:spcBef>
          <a:spcPct val="20000"/>
        </a:spcBef>
        <a:buFont typeface="Arial"/>
        <a:buChar char="»"/>
        <a:defRPr kern="1200" sz="95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indent="-342900" latinLnBrk="0" marL="2057400" rtl="0">
        <a:spcBef>
          <a:spcPct val="20000"/>
        </a:spcBef>
        <a:buFont typeface="Arial"/>
        <a:buChar char="•"/>
        <a:defRPr kern="1200" sz="95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indent="-342900" latinLnBrk="0" marL="2400300" rtl="0">
        <a:spcBef>
          <a:spcPct val="20000"/>
        </a:spcBef>
        <a:buFont typeface="Arial"/>
        <a:buChar char="•"/>
        <a:defRPr kern="1200" sz="95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indent="-342900" latinLnBrk="0" marL="2743200" rtl="0">
        <a:spcBef>
          <a:spcPct val="20000"/>
        </a:spcBef>
        <a:buFont typeface="Arial"/>
        <a:buChar char="•"/>
        <a:defRPr kern="1200" sz="95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indent="-342900" latinLnBrk="0" marL="3086100" rtl="0">
        <a:spcBef>
          <a:spcPct val="20000"/>
        </a:spcBef>
        <a:buFont typeface="Arial"/>
        <a:buChar char="•"/>
        <a:defRPr kern="1200" sz="95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algn="l" defTabSz="342900" eaLnBrk="1" hangingPunct="1" latinLnBrk="0" marL="0" rtl="0">
        <a:defRPr kern="1200" sz="85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latinLnBrk="0" marL="342900" rtl="0">
        <a:defRPr kern="1200" sz="85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latinLnBrk="0" marL="685800" rtl="0">
        <a:defRPr kern="1200" sz="85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latinLnBrk="0" marL="1028700" rtl="0">
        <a:defRPr kern="1200" sz="85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latinLnBrk="0" marL="1371600" rtl="0">
        <a:defRPr kern="1200" sz="85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latinLnBrk="0" marL="1714500" rtl="0">
        <a:defRPr kern="1200" sz="85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latinLnBrk="0" marL="2057400" rtl="0">
        <a:defRPr kern="1200" sz="85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latinLnBrk="0" marL="2400300" rtl="0">
        <a:defRPr kern="1200" sz="85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latinLnBrk="0" marL="2743200" rtl="0">
        <a:defRPr kern="1200" sz="85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 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hyperlink" Target="01-lecture/README.md" TargetMode="External" 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0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1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3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1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8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1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2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2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5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2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hyperlink" Target="02-lab/README.md" TargetMode="Externa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pPr lvl="0" indent="0" marL="0">
              <a:buNone/>
            </a:pPr>
            <a:r>
              <a:rPr/>
              <a:t>Unsupervised I: PCA, the SVD, and Factor Models</a:t>
            </a:r>
          </a:p>
        </p:txBody>
      </p:sp>
      <p:sp>
        <p:nvSpPr>
          <p:cNvPr id="3" name="Subtitle 2"/>
          <p:cNvSpPr>
            <a:spLocks noGrp="1"/>
          </p:cNvSpPr>
          <p:nvPr>
            <p:ph idx="1" type="subTitle"/>
          </p:nvPr>
        </p:nvSpPr>
        <p:spPr>
          <a:xfrm>
            <a:off x="1371600" y="2914650"/>
            <a:ext cx="6400800" cy="1314450"/>
          </a:xfrm>
        </p:spPr>
        <p:txBody>
          <a:bodyPr/>
          <a:lstStyle/>
          <a:p>
            <a:pPr lvl="0" indent="0" marL="0">
              <a:buNone/>
            </a:pPr>
            <a:r>
              <a:rPr/>
              <a:t>Session 08 · Lecture, first half</a:t>
            </a:r>
            <a:br/>
            <a:br/>
            <a:r>
              <a:rPr/>
              <a:t>Thierry Warin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10" sz="half" type="dt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20 August 2026</a:t>
            </a:r>
          </a:p>
        </p:txBody>
      </p:sp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Two hundred macro series move together. How many things are happening?</a:t>
            </a:r>
          </a:p>
        </p:txBody>
      </p:sp>
    </p:spTree>
  </p:cSld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These slides follow the notes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457200" y="1193800"/>
          <a:ext cx="8229600" cy="3390900"/>
        </p:xfrm>
        <a:graphic>
          <a:graphicData uri="http://schemas.openxmlformats.org/drawingml/2006/table">
            <a:tbl>
              <a:tblPr firstRow="0" bandRow="1">
                <a:tableStyleId>{5C22544A-7EE6-4342-B048-85BDC9FD1C3A}</a:tableStyleId>
              </a:tblPr>
              <a:tblGrid>
                <a:gridCol w="4114800"/>
                <a:gridCol w="4114800"/>
              </a:tblGrid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8.1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PCA as variance maximisation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8.2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Eckart–Young: best low-rank approximation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8.3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The approximate factor model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8.4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How many factors?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8.5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Diffusion-index forecasting</a:t>
                      </a:r>
                    </a:p>
                  </a:txBody>
                </a:tc>
              </a:tr>
            </a:tbl>
          </a:graphicData>
        </a:graphic>
      </p:graphicFrame>
    </p:spTree>
  </p:cSld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Same numbering as </a:t>
            </a:r>
            <a:r>
              <a:rPr>
                <a:hlinkClick r:id="rId2"/>
                <a:latin typeface="Courier"/>
              </a:rPr>
              <a:t>01-lecture/README.md</a:t>
            </a:r>
            <a:r>
              <a:rPr/>
              <a:t>.</a:t>
            </a:r>
          </a:p>
        </p:txBody>
      </p:sp>
    </p:spTree>
  </p:cSld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/>
          <a:lstStyle/>
          <a:p>
            <a:pPr lvl="0" indent="0" marL="0">
              <a:buNone/>
            </a:pPr>
            <a:r>
              <a:rPr/>
              <a:t>8.1 PCA as variance maximisation</a:t>
            </a:r>
          </a:p>
        </p:txBody>
      </p:sp>
    </p:spTree>
  </p:cSld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The problem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lvl="0" indent="0" marL="0">
                  <a:buNone/>
                </a:pPr>
                <a14:m>
                  <m:oMath xmlns:m="http://schemas.openxmlformats.org/officeDocument/2006/math">
                    <m:r>
                      <m:t>X</m:t>
                    </m:r>
                  </m:oMath>
                </a14:m>
                <a:r>
                  <a:rPr/>
                  <a:t> is </a:t>
                </a:r>
                <a14:m>
                  <m:oMath xmlns:m="http://schemas.openxmlformats.org/officeDocument/2006/math">
                    <m:r>
                      <m:t>n</m:t>
                    </m:r>
                    <m:r>
                      <m:rPr>
                        <m:sty m:val="p"/>
                      </m:rPr>
                      <m:t>×</m:t>
                    </m:r>
                    <m:r>
                      <m:t>p</m:t>
                    </m:r>
                  </m:oMath>
                </a14:m>
                <a:r>
                  <a:rPr/>
                  <a:t>, columns centred and standardised. Seek a unit vector </a:t>
                </a:r>
                <a14:m>
                  <m:oMath xmlns:m="http://schemas.openxmlformats.org/officeDocument/2006/math">
                    <m:sSub>
                      <m:e>
                        <m:r>
                          <m:t>v</m:t>
                        </m:r>
                      </m:e>
                      <m:sub>
                        <m:r>
                          <m:t>1</m:t>
                        </m:r>
                      </m:sub>
                    </m:sSub>
                  </m:oMath>
                </a14:m>
                <a:r>
                  <a:rPr/>
                  <a:t> maximising the variance of the projection:</a:t>
                </a:r>
              </a:p>
              <a:p>
                <a:pPr lvl="0" indent="0" marL="0"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>
                      <m:sSub>
                        <m:e>
                          <m:r>
                            <m:t>v</m:t>
                          </m:r>
                        </m:e>
                        <m:sub>
                          <m:r>
                            <m:t>1</m:t>
                          </m:r>
                        </m:sub>
                      </m:sSub>
                      <m:r>
                        <m:rPr>
                          <m:sty m:val="p"/>
                        </m:rPr>
                        <m:t>=</m:t>
                      </m:r>
                      <m:r>
                        <m:rPr>
                          <m:sty m:val="p"/>
                        </m:rPr>
                        <m:t>arg</m:t>
                      </m:r>
                      <m:limLow>
                        <m:e>
                          <m:r>
                            <m:rPr>
                              <m:sty m:val="p"/>
                            </m:rPr>
                            <m:t>max</m:t>
                          </m:r>
                        </m:e>
                        <m:lim>
                          <m:r>
                            <m:rPr>
                              <m:sty m:val="p"/>
                            </m:rPr>
                            <m:t>∥</m:t>
                          </m:r>
                          <m:r>
                            <m:t>v</m:t>
                          </m:r>
                          <m:r>
                            <m:rPr>
                              <m:sty m:val="p"/>
                            </m:rPr>
                            <m:t>∥</m:t>
                          </m:r>
                          <m:r>
                            <m:rPr>
                              <m:sty m:val="p"/>
                            </m:rPr>
                            <m:t>=</m:t>
                          </m:r>
                          <m:r>
                            <m:t>1</m:t>
                          </m:r>
                        </m:lim>
                      </m:limLow>
                      <m:r>
                        <m:t> </m:t>
                      </m:r>
                      <m:sSup>
                        <m:e>
                          <m:r>
                            <m:t>v</m:t>
                          </m:r>
                        </m:e>
                        <m:sup>
                          <m:r>
                            <m:rPr>
                              <m:sty m:val="p"/>
                            </m:rPr>
                            <m:t>⊤</m:t>
                          </m:r>
                        </m:sup>
                      </m:sSup>
                      <m:acc>
                        <m:accPr>
                          <m:chr m:val="̂"/>
                        </m:accPr>
                        <m:e>
                          <m:r>
                            <m:t>Σ</m:t>
                          </m:r>
                        </m:e>
                      </m:acc>
                      <m:r>
                        <m:t> </m:t>
                      </m:r>
                      <m:r>
                        <m:t>v</m:t>
                      </m:r>
                      <m:r>
                        <m:rPr>
                          <m:sty m:val="p"/>
                        </m:rPr>
                        <m:t>,</m:t>
                      </m:r>
                      <m:r>
                        <m:t>  </m:t>
                      </m:r>
                      <m:acc>
                        <m:accPr>
                          <m:chr m:val="̂"/>
                        </m:accPr>
                        <m:e>
                          <m:r>
                            <m:t>Σ</m:t>
                          </m:r>
                        </m:e>
                      </m:acc>
                      <m:r>
                        <m:rPr>
                          <m:sty m:val="p"/>
                        </m:rPr>
                        <m:t>=</m:t>
                      </m:r>
                      <m:f>
                        <m:fPr>
                          <m:type m:val="lin"/>
                        </m:fPr>
                        <m:num>
                          <m:r>
                            <m:t>1</m:t>
                          </m:r>
                        </m:num>
                        <m:den>
                          <m:r>
                            <m:t>n</m:t>
                          </m:r>
                        </m:den>
                      </m:f>
                      <m:sSup>
                        <m:e>
                          <m:r>
                            <m:t>X</m:t>
                          </m:r>
                        </m:e>
                        <m:sup>
                          <m:r>
                            <m:rPr>
                              <m:sty m:val="p"/>
                            </m:rPr>
                            <m:t>⊤</m:t>
                          </m:r>
                        </m:sup>
                      </m:sSup>
                      <m:r>
                        <m:t>X</m:t>
                      </m:r>
                    </m:oMath>
                  </m:oMathPara>
                </a14:m>
              </a:p>
            </p:txBody>
          </p:sp>
        </mc:Choice>
      </mc:AlternateContent>
    </p:spTree>
  </p:cSld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The Lagrangian gives an eigenproblem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lvl="0" indent="0" marL="0"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>
                      <m:r>
                        <m:rPr>
                          <m:sty m:val="p"/>
                          <m:scr m:val="script"/>
                        </m:rPr>
                        <m:t>L</m:t>
                      </m:r>
                      <m:r>
                        <m:rPr>
                          <m:sty m:val="p"/>
                        </m:rPr>
                        <m:t>=</m:t>
                      </m:r>
                      <m:sSup>
                        <m:e>
                          <m:r>
                            <m:t>v</m:t>
                          </m:r>
                        </m:e>
                        <m:sup>
                          <m:r>
                            <m:rPr>
                              <m:sty m:val="p"/>
                            </m:rPr>
                            <m:t>⊤</m:t>
                          </m:r>
                        </m:sup>
                      </m:sSup>
                      <m:acc>
                        <m:accPr>
                          <m:chr m:val="̂"/>
                        </m:accPr>
                        <m:e>
                          <m:r>
                            <m:t>Σ</m:t>
                          </m:r>
                        </m:e>
                      </m:acc>
                      <m:r>
                        <m:t>v</m:t>
                      </m:r>
                      <m:r>
                        <m:rPr>
                          <m:sty m:val="p"/>
                        </m:rPr>
                        <m:t>−</m:t>
                      </m:r>
                      <m:r>
                        <m:t>ϕ</m:t>
                      </m:r>
                      <m:d>
                        <m:dPr>
                          <m:begChr m:val="("/>
                          <m:sepChr m:val=""/>
                          <m:endChr m:val=")"/>
                          <m:grow/>
                        </m:dPr>
                        <m:e>
                          <m:sSup>
                            <m:e>
                              <m:r>
                                <m:t>v</m:t>
                              </m:r>
                            </m:e>
                            <m:sup>
                              <m:r>
                                <m:rPr>
                                  <m:sty m:val="p"/>
                                </m:rPr>
                                <m:t>⊤</m:t>
                              </m:r>
                            </m:sup>
                          </m:sSup>
                          <m:r>
                            <m:t>v</m:t>
                          </m:r>
                          <m:r>
                            <m:rPr>
                              <m:sty m:val="p"/>
                            </m:rPr>
                            <m:t>−</m:t>
                          </m:r>
                          <m:r>
                            <m:t>1</m:t>
                          </m:r>
                        </m:e>
                      </m:d>
                      <m:r>
                        <m:t> </m:t>
                      </m:r>
                      <m:r>
                        <m:rPr>
                          <m:sty m:val="p"/>
                        </m:rPr>
                        <m:t>⇒</m:t>
                      </m:r>
                      <m:r>
                        <m:t> </m:t>
                      </m:r>
                      <m:acc>
                        <m:accPr>
                          <m:chr m:val="̂"/>
                        </m:accPr>
                        <m:e>
                          <m:r>
                            <m:t>Σ</m:t>
                          </m:r>
                        </m:e>
                      </m:acc>
                      <m:r>
                        <m:t>v</m:t>
                      </m:r>
                      <m:r>
                        <m:rPr>
                          <m:sty m:val="p"/>
                        </m:rPr>
                        <m:t>=</m:t>
                      </m:r>
                      <m:r>
                        <m:t>ϕ</m:t>
                      </m:r>
                      <m:r>
                        <m:t>v</m:t>
                      </m:r>
                    </m:oMath>
                  </m:oMathPara>
                </a14:m>
              </a:p>
              <a:p>
                <a:pPr lvl="0" indent="0" marL="0">
                  <a:buNone/>
                </a:pPr>
                <a:r>
                  <a:rPr/>
                  <a:t>So </a:t>
                </a:r>
                <a14:m>
                  <m:oMath xmlns:m="http://schemas.openxmlformats.org/officeDocument/2006/math">
                    <m:r>
                      <m:t>v</m:t>
                    </m:r>
                  </m:oMath>
                </a14:m>
                <a:r>
                  <a:rPr/>
                  <a:t> must be an </a:t>
                </a:r>
                <a:r>
                  <a:rPr b="1"/>
                  <a:t>eigenvector</a:t>
                </a:r>
                <a:r>
                  <a:rPr/>
                  <a:t> — and since the objective at an eigenvector equals its eigenvalue, we take the largest.</a:t>
                </a:r>
              </a:p>
              <a:p>
                <a:pPr lvl="0" indent="0" marL="0">
                  <a:buNone/>
                </a:pPr>
                <a:r>
                  <a:rPr/>
                  <a:t>Subsequent components solve the same problem subject to orthogonality to those already found, giving the eigenvectors in decreasing eigenvalue order.</a:t>
                </a:r>
              </a:p>
            </p:txBody>
          </p:sp>
        </mc:Choice>
      </mc:AlternateContent>
    </p:spTree>
  </p:cSld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Via the SVD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lvl="0" indent="0" marL="0">
                  <a:buNone/>
                </a:pPr>
                <a:r>
                  <a:rPr/>
                  <a:t>Cleaner, and what software actually computes. With </a:t>
                </a:r>
                <a14:m>
                  <m:oMath xmlns:m="http://schemas.openxmlformats.org/officeDocument/2006/math">
                    <m:r>
                      <m:t>X</m:t>
                    </m:r>
                    <m:r>
                      <m:rPr>
                        <m:sty m:val="p"/>
                      </m:rPr>
                      <m:t>=</m:t>
                    </m:r>
                    <m:r>
                      <m:t>U</m:t>
                    </m:r>
                    <m:r>
                      <m:t>D</m:t>
                    </m:r>
                    <m:sSup>
                      <m:e>
                        <m:r>
                          <m:t>V</m:t>
                        </m:r>
                      </m:e>
                      <m:sup>
                        <m:r>
                          <m:rPr>
                            <m:sty m:val="p"/>
                          </m:rPr>
                          <m:t>⊤</m:t>
                        </m:r>
                      </m:sup>
                    </m:sSup>
                  </m:oMath>
                </a14:m>
                <a:r>
                  <a:rPr/>
                  <a:t>:</a:t>
                </a:r>
              </a:p>
              <a:p>
                <a:pPr lvl="0" indent="0" marL="0"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>
                      <m:acc>
                        <m:accPr>
                          <m:chr m:val="̂"/>
                        </m:accPr>
                        <m:e>
                          <m:r>
                            <m:t>Σ</m:t>
                          </m:r>
                        </m:e>
                      </m:acc>
                      <m:r>
                        <m:rPr>
                          <m:sty m:val="p"/>
                        </m:rPr>
                        <m:t>=</m:t>
                      </m:r>
                      <m:f>
                        <m:fPr>
                          <m:type m:val="lin"/>
                        </m:fPr>
                        <m:num>
                          <m:r>
                            <m:t>1</m:t>
                          </m:r>
                        </m:num>
                        <m:den>
                          <m:r>
                            <m:t>n</m:t>
                          </m:r>
                        </m:den>
                      </m:f>
                      <m:r>
                        <m:t>V</m:t>
                      </m:r>
                      <m:sSup>
                        <m:e>
                          <m:r>
                            <m:t>D</m:t>
                          </m:r>
                        </m:e>
                        <m:sup>
                          <m:r>
                            <m:t>2</m:t>
                          </m:r>
                        </m:sup>
                      </m:sSup>
                      <m:sSup>
                        <m:e>
                          <m:r>
                            <m:t>V</m:t>
                          </m:r>
                        </m:e>
                        <m:sup>
                          <m:r>
                            <m:rPr>
                              <m:sty m:val="p"/>
                            </m:rPr>
                            <m:t>⊤</m:t>
                          </m:r>
                        </m:sup>
                      </m:sSup>
                    </m:oMath>
                  </m:oMathPara>
                </a14:m>
              </a:p>
              <a:p>
                <a:pPr lvl="0"/>
                <a:r>
                  <a:rPr b="1"/>
                  <a:t>loadings</a:t>
                </a:r>
                <a:r>
                  <a:rPr/>
                  <a:t> — the columns of </a:t>
                </a:r>
                <a14:m>
                  <m:oMath xmlns:m="http://schemas.openxmlformats.org/officeDocument/2006/math">
                    <m:r>
                      <m:t>V</m:t>
                    </m:r>
                  </m:oMath>
                </a14:m>
              </a:p>
              <a:p>
                <a:pPr lvl="0"/>
                <a:r>
                  <a:rPr b="1"/>
                  <a:t>scores</a:t>
                </a:r>
                <a:r>
                  <a:rPr/>
                  <a:t> — </a:t>
                </a:r>
                <a14:m>
                  <m:oMath xmlns:m="http://schemas.openxmlformats.org/officeDocument/2006/math">
                    <m:r>
                      <m:t>Z</m:t>
                    </m:r>
                    <m:r>
                      <m:rPr>
                        <m:sty m:val="p"/>
                      </m:rPr>
                      <m:t>=</m:t>
                    </m:r>
                    <m:r>
                      <m:t>X</m:t>
                    </m:r>
                    <m:r>
                      <m:t>V</m:t>
                    </m:r>
                    <m:r>
                      <m:rPr>
                        <m:sty m:val="p"/>
                      </m:rPr>
                      <m:t>=</m:t>
                    </m:r>
                    <m:r>
                      <m:t>U</m:t>
                    </m:r>
                    <m:r>
                      <m:t>D</m:t>
                    </m:r>
                  </m:oMath>
                </a14:m>
              </a:p>
              <a:p>
                <a:pPr lvl="0"/>
                <a:r>
                  <a:rPr b="1"/>
                  <a:t>variance explained</a:t>
                </a:r>
                <a:r>
                  <a:rPr/>
                  <a:t> by component </a:t>
                </a:r>
                <a14:m>
                  <m:oMath xmlns:m="http://schemas.openxmlformats.org/officeDocument/2006/math">
                    <m:r>
                      <m:t>j</m:t>
                    </m:r>
                  </m:oMath>
                </a14:m>
                <a:r>
                  <a:rPr/>
                  <a:t> — </a:t>
                </a:r>
                <a14:m>
                  <m:oMath xmlns:m="http://schemas.openxmlformats.org/officeDocument/2006/math">
                    <m:sSubSup>
                      <m:e>
                        <m:r>
                          <m:t>d</m:t>
                        </m:r>
                      </m:e>
                      <m:sub>
                        <m:r>
                          <m:t>j</m:t>
                        </m:r>
                      </m:sub>
                      <m:sup>
                        <m:r>
                          <m:t>2</m:t>
                        </m:r>
                      </m:sup>
                    </m:sSubSup>
                    <m:r>
                      <m:rPr>
                        <m:sty m:val="p"/>
                      </m:rPr>
                      <m:t>/</m:t>
                    </m:r>
                    <m:nary>
                      <m:naryPr>
                        <m:chr m:val="∑"/>
                        <m:limLoc m:val="undOvr"/>
                        <m:subHide m:val="off"/>
                        <m:supHide m:val="on"/>
                      </m:naryPr>
                      <m:sub>
                        <m:r>
                          <m:t>k</m:t>
                        </m:r>
                      </m:sub>
                      <m:sup>
                        <m:r>
                          <m:t>​</m:t>
                        </m:r>
                      </m:sup>
                      <m:e>
                        <m:sSubSup>
                          <m:e>
                            <m:r>
                              <m:t>d</m:t>
                            </m:r>
                          </m:e>
                          <m:sub>
                            <m:r>
                              <m:t>k</m:t>
                            </m:r>
                          </m:sub>
                          <m:sup>
                            <m:r>
                              <m:t>2</m:t>
                            </m:r>
                          </m:sup>
                        </m:sSubSup>
                      </m:e>
                    </m:nary>
                  </m:oMath>
                </a14:m>
              </a:p>
            </p:txBody>
          </p:sp>
        </mc:Choice>
      </mc:AlternateContent>
    </p:spTree>
  </p:cSld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The connection to Session 05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lvl="0" indent="0" marL="0">
                  <a:buNone/>
                </a:pPr>
                <a:r>
                  <a:rPr/>
                  <a:t>Ridge shrank along the </a:t>
                </a:r>
                <a:r>
                  <a:rPr b="1"/>
                  <a:t>same </a:t>
                </a:r>
                <a14:m>
                  <m:oMath xmlns:m="http://schemas.openxmlformats.org/officeDocument/2006/math">
                    <m:r>
                      <m:t>V</m:t>
                    </m:r>
                  </m:oMath>
                </a14:m>
                <a:r>
                  <a:rPr b="1"/>
                  <a:t> basis</a:t>
                </a:r>
                <a:r>
                  <a:rPr/>
                  <a:t>, damping small-</a:t>
                </a:r>
                <a14:m>
                  <m:oMath xmlns:m="http://schemas.openxmlformats.org/officeDocument/2006/math">
                    <m:sSub>
                      <m:e>
                        <m:r>
                          <m:t>d</m:t>
                        </m:r>
                      </m:e>
                      <m:sub>
                        <m:r>
                          <m:t>j</m:t>
                        </m:r>
                      </m:sub>
                    </m:sSub>
                  </m:oMath>
                </a14:m>
                <a:r>
                  <a:rPr/>
                  <a:t> directions.</a:t>
                </a:r>
              </a:p>
              <a:p>
                <a:pPr lvl="0" indent="0" marL="1270000">
                  <a:buNone/>
                </a:pPr>
                <a:r>
                  <a:rPr sz="2000" b="1"/>
                  <a:t>PCA truncates exactly the directions ridge shrinks.</a:t>
                </a:r>
              </a:p>
              <a:p>
                <a:pPr lvl="0" indent="0" marL="0">
                  <a:buNone/>
                </a:pPr>
                <a:r>
                  <a:rPr/>
                  <a:t>Principal components regression is, in this light, a hard-thresholded ridge.</a:t>
                </a:r>
              </a:p>
            </p:txBody>
          </p:sp>
        </mc:Choice>
      </mc:AlternateContent>
    </p:spTree>
  </p:cSld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/>
          <a:lstStyle/>
          <a:p>
            <a:pPr lvl="0" indent="0" marL="0">
              <a:buNone/>
            </a:pPr>
            <a:r>
              <a:rPr/>
              <a:t>8.2 Eckart–Young</a:t>
            </a:r>
          </a:p>
        </p:txBody>
      </p:sp>
    </p:spTree>
  </p:cSld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The theorem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lvl="0" indent="0" marL="0">
                  <a:buNone/>
                </a:pPr>
                <a:r>
                  <a:rPr/>
                  <a:t>Among all matrices of rank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≤</m:t>
                    </m:r>
                    <m:r>
                      <m:t>k</m:t>
                    </m:r>
                  </m:oMath>
                </a14:m>
                <a:r>
                  <a:rPr/>
                  <a:t>, the one minimising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∥</m:t>
                    </m:r>
                    <m:r>
                      <m:t>X</m:t>
                    </m:r>
                    <m:r>
                      <m:rPr>
                        <m:sty m:val="p"/>
                      </m:rPr>
                      <m:t>−</m:t>
                    </m:r>
                    <m:acc>
                      <m:accPr>
                        <m:chr m:val="̃"/>
                      </m:accPr>
                      <m:e>
                        <m:r>
                          <m:t>X</m:t>
                        </m:r>
                      </m:e>
                    </m:acc>
                    <m:sSub>
                      <m:e>
                        <m:r>
                          <m:rPr>
                            <m:sty m:val="p"/>
                          </m:rPr>
                          <m:t>∥</m:t>
                        </m:r>
                      </m:e>
                      <m:sub>
                        <m:r>
                          <m:t>F</m:t>
                        </m:r>
                      </m:sub>
                    </m:sSub>
                  </m:oMath>
                </a14:m>
                <a:r>
                  <a:rPr/>
                  <a:t> is</a:t>
                </a:r>
              </a:p>
              <a:p>
                <a:pPr lvl="0" indent="0" marL="0"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>
                      <m:sSub>
                        <m:e>
                          <m:acc>
                            <m:accPr>
                              <m:chr m:val="̃"/>
                            </m:accPr>
                            <m:e>
                              <m:r>
                                <m:t>X</m:t>
                              </m:r>
                            </m:e>
                          </m:acc>
                        </m:e>
                        <m:sub>
                          <m:r>
                            <m:t>k</m:t>
                          </m:r>
                        </m:sub>
                      </m:sSub>
                      <m:r>
                        <m:rPr>
                          <m:sty m:val="p"/>
                        </m:rPr>
                        <m:t>=</m:t>
                      </m:r>
                      <m:sSub>
                        <m:e>
                          <m:r>
                            <m:t>U</m:t>
                          </m:r>
                        </m:e>
                        <m:sub>
                          <m:r>
                            <m:t>k</m:t>
                          </m:r>
                        </m:sub>
                      </m:sSub>
                      <m:sSub>
                        <m:e>
                          <m:r>
                            <m:t>D</m:t>
                          </m:r>
                        </m:e>
                        <m:sub>
                          <m:r>
                            <m:t>k</m:t>
                          </m:r>
                        </m:sub>
                      </m:sSub>
                      <m:sSubSup>
                        <m:e>
                          <m:r>
                            <m:t>V</m:t>
                          </m:r>
                        </m:e>
                        <m:sub>
                          <m:r>
                            <m:t>k</m:t>
                          </m:r>
                        </m:sub>
                        <m:sup>
                          <m:r>
                            <m:rPr>
                              <m:sty m:val="p"/>
                            </m:rPr>
                            <m:t>⊤</m:t>
                          </m:r>
                        </m:sup>
                      </m:sSubSup>
                    </m:oMath>
                  </m:oMathPara>
                </a14:m>
              </a:p>
              <a:p>
                <a:pPr lvl="0" indent="0" marL="0">
                  <a:buNone/>
                </a:pPr>
                <a:r>
                  <a:rPr/>
                  <a:t>the truncated SVD, and the minimum equals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(</m:t>
                    </m:r>
                    <m:nary>
                      <m:naryPr>
                        <m:chr m:val="∑"/>
                        <m:limLoc m:val="undOvr"/>
                        <m:subHide m:val="off"/>
                        <m:supHide m:val="on"/>
                      </m:naryPr>
                      <m:sub>
                        <m:r>
                          <m:t>j</m:t>
                        </m:r>
                        <m:r>
                          <m:rPr>
                            <m:sty m:val="p"/>
                          </m:rPr>
                          <m:t>&gt;</m:t>
                        </m:r>
                        <m:r>
                          <m:t>k</m:t>
                        </m:r>
                      </m:sub>
                      <m:sup>
                        <m:r>
                          <m:t>​</m:t>
                        </m:r>
                      </m:sup>
                      <m:e>
                        <m:sSubSup>
                          <m:e>
                            <m:r>
                              <m:t>d</m:t>
                            </m:r>
                          </m:e>
                          <m:sub>
                            <m:r>
                              <m:t>j</m:t>
                            </m:r>
                          </m:sub>
                          <m:sup>
                            <m:r>
                              <m:t>2</m:t>
                            </m:r>
                          </m:sup>
                        </m:sSubSup>
                      </m:e>
                    </m:nary>
                    <m:sSup>
                      <m:e>
                        <m:r>
                          <m:rPr>
                            <m:sty m:val="p"/>
                          </m:rPr>
                          <m:t>)</m:t>
                        </m:r>
                      </m:e>
                      <m:sup>
                        <m:r>
                          <m:t>1</m:t>
                        </m:r>
                        <m:r>
                          <m:rPr>
                            <m:sty m:val="p"/>
                          </m:rPr>
                          <m:t>/</m:t>
                        </m:r>
                        <m:r>
                          <m:t>2</m:t>
                        </m:r>
                      </m:sup>
                    </m:sSup>
                  </m:oMath>
                </a14:m>
                <a:r>
                  <a:rPr/>
                  <a:t>.</a:t>
                </a:r>
              </a:p>
            </p:txBody>
          </p:sp>
        </mc:Choice>
      </mc:AlternateContent>
    </p:spTree>
  </p:cSld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What it licenses you to say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lvl="0" indent="0" marL="0">
                  <a:buNone/>
                </a:pPr>
                <a:r>
                  <a:rPr/>
                  <a:t>This is the </a:t>
                </a:r>
                <a:r>
                  <a:rPr b="1"/>
                  <a:t>formal</a:t>
                </a:r>
                <a:r>
                  <a:rPr/>
                  <a:t> sense in which “the first </a:t>
                </a:r>
                <a14:m>
                  <m:oMath xmlns:m="http://schemas.openxmlformats.org/officeDocument/2006/math">
                    <m:r>
                      <m:t>k</m:t>
                    </m:r>
                  </m:oMath>
                </a14:m>
                <a:r>
                  <a:rPr/>
                  <a:t> components capture the most information”: they give the best rank-</a:t>
                </a:r>
                <a14:m>
                  <m:oMath xmlns:m="http://schemas.openxmlformats.org/officeDocument/2006/math">
                    <m:r>
                      <m:t>k</m:t>
                    </m:r>
                  </m:oMath>
                </a14:m>
                <a:r>
                  <a:rPr/>
                  <a:t> reconstruction in Frobenius norm.</a:t>
                </a:r>
              </a:p>
              <a:p>
                <a:pPr lvl="0" indent="0" marL="0">
                  <a:buNone/>
                </a:pPr>
                <a:r>
                  <a:rPr/>
                  <a:t>It also tells you exactly what you lose — the discarded singular values. Not a heuristic; a theorem.</a:t>
                </a:r>
              </a:p>
            </p:txBody>
          </p:sp>
        </mc:Choice>
      </mc:AlternateContent>
    </p:spTree>
  </p:cSld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/>
          <a:lstStyle/>
          <a:p>
            <a:pPr lvl="0" indent="0" marL="0">
              <a:buNone/>
            </a:pPr>
            <a:r>
              <a:rPr/>
              <a:t>8.3 The approximate factor model</a:t>
            </a:r>
          </a:p>
        </p:txBody>
      </p:sp>
    </p:spTree>
  </p:cSld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Stock and Watson’s insight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lvl="0" indent="0" marL="0">
                  <a:buNone/>
                </a:pPr>
                <a:r>
                  <a:rPr/>
                  <a:t>A large macro panel is well described by a few common shocks plus idiosyncratic noise:</a:t>
                </a:r>
              </a:p>
              <a:p>
                <a:pPr lvl="0" indent="0" marL="0"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>
                      <m:sSub>
                        <m:e>
                          <m:r>
                            <m:t>X</m:t>
                          </m:r>
                        </m:e>
                        <m:sub>
                          <m:r>
                            <m:t>i</m:t>
                          </m:r>
                          <m:r>
                            <m:t>t</m:t>
                          </m:r>
                        </m:sub>
                      </m:sSub>
                      <m:r>
                        <m:rPr>
                          <m:sty m:val="p"/>
                        </m:rPr>
                        <m:t>=</m:t>
                      </m:r>
                      <m:sSubSup>
                        <m:e>
                          <m:r>
                            <m:t>λ</m:t>
                          </m:r>
                        </m:e>
                        <m:sub>
                          <m:r>
                            <m:t>i</m:t>
                          </m:r>
                        </m:sub>
                        <m:sup>
                          <m:r>
                            <m:rPr>
                              <m:sty m:val="p"/>
                            </m:rPr>
                            <m:t>⊤</m:t>
                          </m:r>
                        </m:sup>
                      </m:sSubSup>
                      <m:sSub>
                        <m:e>
                          <m:r>
                            <m:t>F</m:t>
                          </m:r>
                        </m:e>
                        <m:sub>
                          <m:r>
                            <m:t>t</m:t>
                          </m:r>
                        </m:sub>
                      </m:sSub>
                      <m:r>
                        <m:rPr>
                          <m:sty m:val="p"/>
                        </m:rPr>
                        <m:t>+</m:t>
                      </m:r>
                      <m:sSub>
                        <m:e>
                          <m:r>
                            <m:t>e</m:t>
                          </m:r>
                        </m:e>
                        <m:sub>
                          <m:r>
                            <m:t>i</m:t>
                          </m:r>
                          <m:r>
                            <m:t>t</m:t>
                          </m:r>
                        </m:sub>
                      </m:sSub>
                      <m:r>
                        <m:rPr>
                          <m:sty m:val="p"/>
                        </m:rPr>
                        <m:t>,</m:t>
                      </m:r>
                      <m:r>
                        <m:t>  </m:t>
                      </m:r>
                      <m:r>
                        <m:t>i</m:t>
                      </m:r>
                      <m:r>
                        <m:rPr>
                          <m:sty m:val="p"/>
                        </m:rPr>
                        <m:t>=</m:t>
                      </m:r>
                      <m:r>
                        <m:t>1</m:t>
                      </m:r>
                      <m:r>
                        <m:rPr>
                          <m:sty m:val="p"/>
                        </m:rPr>
                        <m:t>,</m:t>
                      </m:r>
                      <m:r>
                        <m:rPr>
                          <m:sty m:val="p"/>
                        </m:rPr>
                        <m:t>…</m:t>
                      </m:r>
                      <m:r>
                        <m:rPr>
                          <m:sty m:val="p"/>
                        </m:rPr>
                        <m:t>,</m:t>
                      </m:r>
                      <m:r>
                        <m:t>N</m:t>
                      </m:r>
                      <m:r>
                        <m:rPr>
                          <m:sty m:val="p"/>
                        </m:rPr>
                        <m:t>,</m:t>
                      </m:r>
                      <m:r>
                        <m:t> </m:t>
                      </m:r>
                      <m:r>
                        <m:t>t</m:t>
                      </m:r>
                      <m:r>
                        <m:rPr>
                          <m:sty m:val="p"/>
                        </m:rPr>
                        <m:t>=</m:t>
                      </m:r>
                      <m:r>
                        <m:t>1</m:t>
                      </m:r>
                      <m:r>
                        <m:rPr>
                          <m:sty m:val="p"/>
                        </m:rPr>
                        <m:t>,</m:t>
                      </m:r>
                      <m:r>
                        <m:rPr>
                          <m:sty m:val="p"/>
                        </m:rPr>
                        <m:t>…</m:t>
                      </m:r>
                      <m:r>
                        <m:rPr>
                          <m:sty m:val="p"/>
                        </m:rPr>
                        <m:t>,</m:t>
                      </m:r>
                      <m:r>
                        <m:t>T</m:t>
                      </m:r>
                    </m:oMath>
                  </m:oMathPara>
                </a14:m>
              </a:p>
              <a:p>
                <a:pPr lvl="0" indent="0" marL="0">
                  <a:buNone/>
                </a:pPr>
                <a:r>
                  <a:rPr/>
                  <a:t>with </a:t>
                </a:r>
                <a14:m>
                  <m:oMath xmlns:m="http://schemas.openxmlformats.org/officeDocument/2006/math">
                    <m:sSub>
                      <m:e>
                        <m:r>
                          <m:t>F</m:t>
                        </m:r>
                      </m:e>
                      <m:sub>
                        <m:r>
                          <m:t>t</m:t>
                        </m:r>
                      </m:sub>
                    </m:sSub>
                    <m:r>
                      <m:rPr>
                        <m:sty m:val="p"/>
                      </m:rPr>
                      <m:t>∈</m:t>
                    </m:r>
                    <m:sSup>
                      <m:e>
                        <m:r>
                          <m:rPr>
                            <m:sty m:val="p"/>
                            <m:scr m:val="double-struck"/>
                          </m:rPr>
                          <m:t>R</m:t>
                        </m:r>
                      </m:e>
                      <m:sup>
                        <m:r>
                          <m:t>r</m:t>
                        </m:r>
                      </m:sup>
                    </m:sSup>
                  </m:oMath>
                </a14:m>
                <a:r>
                  <a:rPr/>
                  <a:t> the common factors and </a:t>
                </a:r>
                <a14:m>
                  <m:oMath xmlns:m="http://schemas.openxmlformats.org/officeDocument/2006/math">
                    <m:sSub>
                      <m:e>
                        <m:r>
                          <m:t>λ</m:t>
                        </m:r>
                      </m:e>
                      <m:sub>
                        <m:r>
                          <m:t>i</m:t>
                        </m:r>
                      </m:sub>
                    </m:sSub>
                  </m:oMath>
                </a14:m>
                <a:r>
                  <a:rPr/>
                  <a:t> the loadings.</a:t>
                </a:r>
              </a:p>
              <a:p>
                <a:pPr lvl="0" indent="0" marL="0">
                  <a:buNone/>
                </a:pPr>
                <a:r>
                  <a:rPr/>
                  <a:t>The </a:t>
                </a:r>
                <a:r>
                  <a:rPr b="1"/>
                  <a:t>approximate</a:t>
                </a:r>
                <a:r>
                  <a:rPr/>
                  <a:t> factor model (Chamberlain–Rothschild) allows weak cross-sectional and serial correlation in </a:t>
                </a:r>
                <a14:m>
                  <m:oMath xmlns:m="http://schemas.openxmlformats.org/officeDocument/2006/math">
                    <m:sSub>
                      <m:e>
                        <m:r>
                          <m:t>e</m:t>
                        </m:r>
                      </m:e>
                      <m:sub>
                        <m:r>
                          <m:t>i</m:t>
                        </m:r>
                        <m:r>
                          <m:t>t</m:t>
                        </m:r>
                      </m:sub>
                    </m:sSub>
                  </m:oMath>
                </a14:m>
                <a:r>
                  <a:rPr/>
                  <a:t> — essential for real data.</a:t>
                </a:r>
              </a:p>
            </p:txBody>
          </p:sp>
        </mc:Choice>
      </mc:AlternateContent>
    </p:spTree>
  </p:cSld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The key result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lvl="0" indent="0" marL="0">
                  <a:buNone/>
                </a:pPr>
                <a:r>
                  <a:rPr/>
                  <a:t>The principal-component estimator </a:t>
                </a:r>
                <a14:m>
                  <m:oMath xmlns:m="http://schemas.openxmlformats.org/officeDocument/2006/math">
                    <m:sSub>
                      <m:e>
                        <m:acc>
                          <m:accPr>
                            <m:chr m:val="̂"/>
                          </m:accPr>
                          <m:e>
                            <m:r>
                              <m:t>F</m:t>
                            </m:r>
                          </m:e>
                        </m:acc>
                      </m:e>
                      <m:sub>
                        <m:r>
                          <m:t>t</m:t>
                        </m:r>
                      </m:sub>
                    </m:sSub>
                  </m:oMath>
                </a14:m>
                <a:r>
                  <a:rPr/>
                  <a:t> is consistent for the space spanned by </a:t>
                </a:r>
                <a14:m>
                  <m:oMath xmlns:m="http://schemas.openxmlformats.org/officeDocument/2006/math">
                    <m:sSub>
                      <m:e>
                        <m:r>
                          <m:t>F</m:t>
                        </m:r>
                      </m:e>
                      <m:sub>
                        <m:r>
                          <m:t>t</m:t>
                        </m:r>
                      </m:sub>
                    </m:sSub>
                  </m:oMath>
                </a14:m>
                <a:r>
                  <a:rPr/>
                  <a:t> as </a:t>
                </a:r>
                <a:r>
                  <a:rPr b="1"/>
                  <a:t>both</a:t>
                </a:r>
                <a:r>
                  <a:rPr/>
                  <a:t> </a:t>
                </a:r>
                <a14:m>
                  <m:oMath xmlns:m="http://schemas.openxmlformats.org/officeDocument/2006/math">
                    <m:r>
                      <m:t>N</m:t>
                    </m:r>
                    <m:r>
                      <m:rPr>
                        <m:sty m:val="p"/>
                      </m:rPr>
                      <m:t>→</m:t>
                    </m:r>
                    <m:r>
                      <m:rPr>
                        <m:sty m:val="p"/>
                      </m:rPr>
                      <m:t>∞</m:t>
                    </m:r>
                  </m:oMath>
                </a14:m>
                <a:r>
                  <a:rPr/>
                  <a:t> and </a:t>
                </a:r>
                <a14:m>
                  <m:oMath xmlns:m="http://schemas.openxmlformats.org/officeDocument/2006/math">
                    <m:r>
                      <m:t>T</m:t>
                    </m:r>
                    <m:r>
                      <m:rPr>
                        <m:sty m:val="p"/>
                      </m:rPr>
                      <m:t>→</m:t>
                    </m:r>
                    <m:r>
                      <m:rPr>
                        <m:sty m:val="p"/>
                      </m:rPr>
                      <m:t>∞</m:t>
                    </m:r>
                  </m:oMath>
                </a14:m>
                <a:r>
                  <a:rPr/>
                  <a:t>, at rate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min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</m:dPr>
                      <m:e>
                        <m:rad>
                          <m:radPr>
                            <m:degHide m:val="on"/>
                          </m:radPr>
                          <m:deg/>
                          <m:e>
                            <m:r>
                              <m:t>N</m:t>
                            </m:r>
                          </m:e>
                        </m:rad>
                        <m:r>
                          <m:rPr>
                            <m:sty m:val="p"/>
                          </m:rPr>
                          <m:t>,</m:t>
                        </m:r>
                        <m:rad>
                          <m:radPr>
                            <m:degHide m:val="on"/>
                          </m:radPr>
                          <m:deg/>
                          <m:e>
                            <m:r>
                              <m:t>T</m:t>
                            </m:r>
                          </m:e>
                        </m:rad>
                      </m:e>
                    </m:d>
                  </m:oMath>
                </a14:m>
                <a:r>
                  <a:rPr/>
                  <a:t>.</a:t>
                </a:r>
              </a:p>
              <a:p>
                <a:pPr lvl="0" indent="0" marL="0">
                  <a:buNone/>
                </a:pPr>
                <a:r>
                  <a:rPr/>
                  <a:t>Crucially, if </a:t>
                </a:r>
                <a14:m>
                  <m:oMath xmlns:m="http://schemas.openxmlformats.org/officeDocument/2006/math">
                    <m:rad>
                      <m:radPr>
                        <m:degHide m:val="on"/>
                      </m:radPr>
                      <m:deg/>
                      <m:e>
                        <m:r>
                          <m:t>T</m:t>
                        </m:r>
                      </m:e>
                    </m:rad>
                    <m:r>
                      <m:rPr>
                        <m:sty m:val="p"/>
                      </m:rPr>
                      <m:t>/</m:t>
                    </m:r>
                    <m:r>
                      <m:t>N</m:t>
                    </m:r>
                    <m:r>
                      <m:rPr>
                        <m:sty m:val="p"/>
                      </m:rPr>
                      <m:t>→</m:t>
                    </m:r>
                    <m:r>
                      <m:t>0</m:t>
                    </m:r>
                  </m:oMath>
                </a14:m>
                <a:r>
                  <a:rPr/>
                  <a:t>, the estimated factors can be treated as </a:t>
                </a:r>
                <a:r>
                  <a:rPr b="1"/>
                  <a:t>known</a:t>
                </a:r>
                <a:r>
                  <a:rPr/>
                  <a:t> in a second-stage regression — the generated-regressor problem vanishes.</a:t>
                </a:r>
              </a:p>
            </p:txBody>
          </p:sp>
        </mc:Choice>
      </mc:AlternateContent>
    </p:spTree>
  </p:cSld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More series genuinely helps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This is the </a:t>
            </a:r>
            <a:r>
              <a:rPr b="1"/>
              <a:t>opposite</a:t>
            </a:r>
            <a:r>
              <a:rPr/>
              <a:t> of the intuition you built in Sessions 05 and 06, and understanding why is the heart of this session.</a:t>
            </a:r>
          </a:p>
          <a:p>
            <a:pPr lvl="0"/>
            <a:r>
              <a:rPr/>
              <a:t>There, extra </a:t>
            </a:r>
            <a:r>
              <a:rPr b="1"/>
              <a:t>predictors</a:t>
            </a:r>
            <a:r>
              <a:rPr/>
              <a:t> added variance</a:t>
            </a:r>
          </a:p>
          <a:p>
            <a:pPr lvl="0"/>
            <a:r>
              <a:rPr/>
              <a:t>Here, extra </a:t>
            </a:r>
            <a:r>
              <a:rPr b="1"/>
              <a:t>measurements of the same latent object</a:t>
            </a:r>
            <a:r>
              <a:rPr/>
              <a:t> average noise away</a:t>
            </a:r>
          </a:p>
        </p:txBody>
      </p:sp>
    </p:spTree>
  </p:cSld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Normalisation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lvl="0" indent="0" marL="0">
                  <a:buNone/>
                </a:pPr>
                <a:r>
                  <a:rPr/>
                  <a:t>To pin down the rotation, impose</a:t>
                </a:r>
              </a:p>
              <a:p>
                <a:pPr lvl="0" indent="0" marL="0"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>
                      <m:sSup>
                        <m:e>
                          <m:r>
                            <m:t>F</m:t>
                          </m:r>
                        </m:e>
                        <m:sup>
                          <m:r>
                            <m:rPr>
                              <m:sty m:val="p"/>
                            </m:rPr>
                            <m:t>⊤</m:t>
                          </m:r>
                        </m:sup>
                      </m:sSup>
                      <m:r>
                        <m:t>F</m:t>
                      </m:r>
                      <m:r>
                        <m:rPr>
                          <m:sty m:val="p"/>
                        </m:rPr>
                        <m:t>/</m:t>
                      </m:r>
                      <m:r>
                        <m:t>T</m:t>
                      </m:r>
                      <m:r>
                        <m:rPr>
                          <m:sty m:val="p"/>
                        </m:rPr>
                        <m:t>=</m:t>
                      </m:r>
                      <m:sSub>
                        <m:e>
                          <m:r>
                            <m:t>I</m:t>
                          </m:r>
                        </m:e>
                        <m:sub>
                          <m:r>
                            <m:t>r</m:t>
                          </m:r>
                        </m:sub>
                      </m:sSub>
                      <m:r>
                        <m:rPr>
                          <m:sty m:val="p"/>
                        </m:rPr>
                        <m:t>,</m:t>
                      </m:r>
                      <m:r>
                        <m:t>  </m:t>
                      </m:r>
                      <m:sSup>
                        <m:e>
                          <m:r>
                            <m:t>Λ</m:t>
                          </m:r>
                        </m:e>
                        <m:sup>
                          <m:r>
                            <m:rPr>
                              <m:sty m:val="p"/>
                            </m:rPr>
                            <m:t>⊤</m:t>
                          </m:r>
                        </m:sup>
                      </m:sSup>
                      <m:r>
                        <m:t>Λ</m:t>
                      </m:r>
                      <m:r>
                        <m:rPr>
                          <m:nor/>
                          <m:sty m:val="p"/>
                        </m:rPr>
                        <m:t> diagonal</m:t>
                      </m:r>
                    </m:oMath>
                  </m:oMathPara>
                </a14:m>
              </a:p>
              <a:p>
                <a:pPr lvl="0" indent="0" marL="0">
                  <a:buNone/>
                </a:pPr>
                <a:r>
                  <a:rPr b="1"/>
                  <a:t>This is a choice, not a discovery.</a:t>
                </a:r>
                <a:r>
                  <a:rPr/>
                  <a:t> Any rotation fits identically well, so “Factor 1” is a coordinate system — never an object you have found.</a:t>
                </a:r>
              </a:p>
            </p:txBody>
          </p:sp>
        </mc:Choice>
      </mc:AlternateContent>
    </p:spTree>
  </p:cSld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/>
          <a:lstStyle/>
          <a:p>
            <a:pPr lvl="0" indent="0" marL="0">
              <a:buNone/>
            </a:pPr>
            <a:r>
              <a:rPr/>
              <a:t>8.4 How many factors?</a:t>
            </a:r>
          </a:p>
        </p:txBody>
      </p:sp>
    </p:spTree>
  </p:cSld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The informal answers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b="1"/>
              <a:t>Scree plot</a:t>
            </a:r>
            <a:r>
              <a:rPr/>
              <a:t> — look for the elbow. Informal, and often ambiguous.</a:t>
            </a:r>
          </a:p>
          <a:p>
            <a:pPr lvl="0"/>
            <a:r>
              <a:rPr b="1"/>
              <a:t>Cumulative variance</a:t>
            </a:r>
            <a:r>
              <a:rPr/>
              <a:t> — retain enough for 80–90%. Arbitrary but transparent.</a:t>
            </a:r>
          </a:p>
        </p:txBody>
      </p:sp>
    </p:spTree>
  </p:cSld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Bai–Ng criteria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lvl="0" indent="0" marL="0">
                  <a:buNone/>
                </a:pPr>
                <a:r>
                  <a:rPr/>
                  <a:t>Minimise</a:t>
                </a:r>
              </a:p>
              <a:p>
                <a:pPr lvl="0" indent="0" marL="0"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>
                      <m:r>
                        <m:t>I</m:t>
                      </m:r>
                      <m:sSub>
                        <m:e>
                          <m:r>
                            <m:t>C</m:t>
                          </m:r>
                        </m:e>
                        <m:sub>
                          <m:r>
                            <m:t>p</m:t>
                          </m:r>
                          <m:r>
                            <m:t>1</m:t>
                          </m:r>
                        </m:sub>
                      </m:sSub>
                      <m:d>
                        <m:dPr>
                          <m:begChr m:val="("/>
                          <m:sepChr m:val=""/>
                          <m:endChr m:val=")"/>
                          <m:grow/>
                        </m:dPr>
                        <m:e>
                          <m:r>
                            <m:t>k</m:t>
                          </m:r>
                        </m:e>
                      </m:d>
                      <m:r>
                        <m:rPr>
                          <m:sty m:val="p"/>
                        </m:rPr>
                        <m:t>=</m:t>
                      </m:r>
                      <m:r>
                        <m:rPr>
                          <m:sty m:val="p"/>
                        </m:rPr>
                        <m:t>log</m:t>
                      </m:r>
                      <m:r>
                        <m:t>V</m:t>
                      </m:r>
                      <m:d>
                        <m:dPr>
                          <m:begChr m:val="("/>
                          <m:sepChr m:val=""/>
                          <m:endChr m:val=")"/>
                          <m:grow/>
                        </m:dPr>
                        <m:e>
                          <m:r>
                            <m:t>k</m:t>
                          </m:r>
                          <m:r>
                            <m:rPr>
                              <m:sty m:val="p"/>
                            </m:rPr>
                            <m:t>,</m:t>
                          </m:r>
                          <m:sSup>
                            <m:e>
                              <m:acc>
                                <m:accPr>
                                  <m:chr m:val="̂"/>
                                </m:accPr>
                                <m:e>
                                  <m:r>
                                    <m:t>F</m:t>
                                  </m:r>
                                </m:e>
                              </m:acc>
                            </m:e>
                            <m:sup>
                              <m:r>
                                <m:t>k</m:t>
                              </m:r>
                            </m:sup>
                          </m:sSup>
                        </m:e>
                      </m:d>
                      <m:r>
                        <m:rPr>
                          <m:sty m:val="p"/>
                        </m:rPr>
                        <m:t>+</m:t>
                      </m:r>
                      <m:r>
                        <m:t>k</m:t>
                      </m:r>
                      <m:d>
                        <m:dPr>
                          <m:begChr m:val="("/>
                          <m:sepChr m:val=""/>
                          <m:endChr m:val=")"/>
                          <m:grow/>
                        </m:dPr>
                        <m:e>
                          <m:f>
                            <m:fPr>
                              <m:type m:val="bar"/>
                            </m:fPr>
                            <m:num>
                              <m:r>
                                <m:t>N</m:t>
                              </m:r>
                              <m:r>
                                <m:rPr>
                                  <m:sty m:val="p"/>
                                </m:rPr>
                                <m:t>+</m:t>
                              </m:r>
                              <m:r>
                                <m:t>T</m:t>
                              </m:r>
                            </m:num>
                            <m:den>
                              <m:r>
                                <m:t>N</m:t>
                              </m:r>
                              <m:r>
                                <m:t>T</m:t>
                              </m:r>
                            </m:den>
                          </m:f>
                        </m:e>
                      </m:d>
                      <m:r>
                        <m:rPr>
                          <m:sty m:val="p"/>
                        </m:rPr>
                        <m:t>log</m:t>
                      </m:r>
                      <m:d>
                        <m:dPr>
                          <m:begChr m:val="("/>
                          <m:sepChr m:val=""/>
                          <m:endChr m:val=")"/>
                          <m:grow/>
                        </m:dPr>
                        <m:e>
                          <m:f>
                            <m:fPr>
                              <m:type m:val="bar"/>
                            </m:fPr>
                            <m:num>
                              <m:r>
                                <m:t>N</m:t>
                              </m:r>
                              <m:r>
                                <m:t>T</m:t>
                              </m:r>
                            </m:num>
                            <m:den>
                              <m:r>
                                <m:t>N</m:t>
                              </m:r>
                              <m:r>
                                <m:rPr>
                                  <m:sty m:val="p"/>
                                </m:rPr>
                                <m:t>+</m:t>
                              </m:r>
                              <m:r>
                                <m:t>T</m:t>
                              </m:r>
                            </m:den>
                          </m:f>
                        </m:e>
                      </m:d>
                    </m:oMath>
                  </m:oMathPara>
                </a14:m>
              </a:p>
              <a:p>
                <a:pPr lvl="0" indent="0" marL="0">
                  <a:buNone/>
                </a:pPr>
                <a:r>
                  <a:rPr/>
                  <a:t>where </a:t>
                </a:r>
                <a14:m>
                  <m:oMath xmlns:m="http://schemas.openxmlformats.org/officeDocument/2006/math">
                    <m:r>
                      <m:t>V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</m:dPr>
                      <m:e>
                        <m:r>
                          <m:t>k</m:t>
                        </m:r>
                        <m:r>
                          <m:rPr>
                            <m:sty m:val="p"/>
                          </m:rPr>
                          <m:t>,</m:t>
                        </m:r>
                        <m:sSup>
                          <m:e>
                            <m:acc>
                              <m:accPr>
                                <m:chr m:val="̂"/>
                              </m:accPr>
                              <m:e>
                                <m:r>
                                  <m:t>F</m:t>
                                </m:r>
                              </m:e>
                            </m:acc>
                          </m:e>
                          <m:sup>
                            <m:r>
                              <m:t>k</m:t>
                            </m:r>
                          </m:sup>
                        </m:sSup>
                      </m:e>
                    </m:d>
                  </m:oMath>
                </a14:m>
                <a:r>
                  <a:rPr/>
                  <a:t> is the average residual sum of squares from a </a:t>
                </a:r>
                <a14:m>
                  <m:oMath xmlns:m="http://schemas.openxmlformats.org/officeDocument/2006/math">
                    <m:r>
                      <m:t>k</m:t>
                    </m:r>
                  </m:oMath>
                </a14:m>
                <a:r>
                  <a:rPr/>
                  <a:t>-factor fit.</a:t>
                </a:r>
              </a:p>
              <a:p>
                <a:pPr lvl="0" indent="0" marL="0">
                  <a:buNone/>
                </a:pPr>
                <a:r>
                  <a:rPr/>
                  <a:t>The penalty must vanish slower than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min</m:t>
                    </m:r>
                    <m:sSup>
                      <m:e>
                        <m:d>
                          <m:dPr>
                            <m:begChr m:val="("/>
                            <m:sepChr m:val=""/>
                            <m:endChr m:val=")"/>
                            <m:grow/>
                          </m:dPr>
                          <m:e>
                            <m:r>
                              <m:t>N</m:t>
                            </m:r>
                            <m:r>
                              <m:rPr>
                                <m:sty m:val="p"/>
                              </m:rPr>
                              <m:t>,</m:t>
                            </m:r>
                            <m:r>
                              <m:t>T</m:t>
                            </m:r>
                          </m:e>
                        </m:d>
                      </m:e>
                      <m:sup>
                        <m:r>
                          <m:rPr>
                            <m:sty m:val="p"/>
                          </m:rPr>
                          <m:t>−</m:t>
                        </m:r>
                        <m:r>
                          <m:t>1</m:t>
                        </m:r>
                      </m:sup>
                    </m:sSup>
                  </m:oMath>
                </a14:m>
                <a:r>
                  <a:rPr/>
                  <a:t>. </a:t>
                </a:r>
                <a14:m>
                  <m:oMath xmlns:m="http://schemas.openxmlformats.org/officeDocument/2006/math">
                    <m:r>
                      <m:t>I</m:t>
                    </m:r>
                    <m:sSub>
                      <m:e>
                        <m:r>
                          <m:t>C</m:t>
                        </m:r>
                      </m:e>
                      <m:sub>
                        <m:r>
                          <m:t>p</m:t>
                        </m:r>
                        <m:r>
                          <m:t>2</m:t>
                        </m:r>
                      </m:sub>
                    </m:sSub>
                  </m:oMath>
                </a14:m>
                <a:r>
                  <a:rPr/>
                  <a:t> and </a:t>
                </a:r>
                <a14:m>
                  <m:oMath xmlns:m="http://schemas.openxmlformats.org/officeDocument/2006/math">
                    <m:r>
                      <m:t>I</m:t>
                    </m:r>
                    <m:sSub>
                      <m:e>
                        <m:r>
                          <m:t>C</m:t>
                        </m:r>
                      </m:e>
                      <m:sub>
                        <m:r>
                          <m:t>p</m:t>
                        </m:r>
                        <m:r>
                          <m:t>3</m:t>
                        </m:r>
                      </m:sub>
                    </m:sSub>
                  </m:oMath>
                </a14:m>
                <a:r>
                  <a:rPr/>
                  <a:t> use alternative penalty forms.</a:t>
                </a:r>
              </a:p>
              <a:p>
                <a:pPr lvl="0" indent="0" marL="0">
                  <a:buNone/>
                </a:pPr>
                <a:r>
                  <a:rPr b="1"/>
                  <a:t>Report all three.</a:t>
                </a:r>
                <a:r>
                  <a:rPr/>
                  <a:t> If they disagree, say so.</a:t>
                </a:r>
              </a:p>
            </p:txBody>
          </p:sp>
        </mc:Choice>
      </mc:AlternateContent>
    </p:spTree>
  </p:cSld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Cross-checks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lvl="0"/>
                <a:r>
                  <a:rPr b="1"/>
                  <a:t>Onatski’s test</a:t>
                </a:r>
              </a:p>
              <a:p>
                <a:pPr lvl="0"/>
                <a:r>
                  <a:rPr/>
                  <a:t>the </a:t>
                </a:r>
                <a:r>
                  <a:rPr b="1"/>
                  <a:t>eigenvalue-ratio</a:t>
                </a:r>
                <a:r>
                  <a:rPr/>
                  <a:t> criterion of Ahn &amp; Horenstein: </a:t>
                </a:r>
                <a14:m>
                  <m:oMath xmlns:m="http://schemas.openxmlformats.org/officeDocument/2006/math">
                    <m:acc>
                      <m:accPr>
                        <m:chr m:val="̂"/>
                      </m:accPr>
                      <m:e>
                        <m:r>
                          <m:t>r</m:t>
                        </m:r>
                      </m:e>
                    </m:acc>
                    <m:r>
                      <m:rPr>
                        <m:sty m:val="p"/>
                      </m:rPr>
                      <m:t>=</m:t>
                    </m:r>
                    <m:r>
                      <m:rPr>
                        <m:sty m:val="p"/>
                      </m:rPr>
                      <m:t>arg</m:t>
                    </m:r>
                    <m:sSub>
                      <m:e>
                        <m:r>
                          <m:rPr>
                            <m:sty m:val="p"/>
                          </m:rPr>
                          <m:t>max</m:t>
                        </m:r>
                      </m:e>
                      <m:sub>
                        <m:r>
                          <m:t>k</m:t>
                        </m:r>
                      </m:sub>
                    </m:sSub>
                    <m:sSub>
                      <m:e>
                        <m:r>
                          <m:t>d</m:t>
                        </m:r>
                      </m:e>
                      <m:sub>
                        <m:r>
                          <m:t>k</m:t>
                        </m:r>
                      </m:sub>
                    </m:sSub>
                    <m:r>
                      <m:rPr>
                        <m:sty m:val="p"/>
                      </m:rPr>
                      <m:t>/</m:t>
                    </m:r>
                    <m:sSub>
                      <m:e>
                        <m:r>
                          <m:t>d</m:t>
                        </m:r>
                      </m:e>
                      <m:sub>
                        <m:r>
                          <m:t>k</m:t>
                        </m:r>
                        <m:r>
                          <m:rPr>
                            <m:sty m:val="p"/>
                          </m:rPr>
                          <m:t>+</m:t>
                        </m:r>
                        <m:r>
                          <m:t>1</m:t>
                        </m:r>
                      </m:sub>
                    </m:sSub>
                  </m:oMath>
                </a14:m>
              </a:p>
              <a:p>
                <a:pPr lvl="0" indent="0" marL="0">
                  <a:buNone/>
                </a:pPr>
                <a:r>
                  <a:rPr/>
                  <a:t>The course spine was generated from </a:t>
                </a:r>
                <a:r>
                  <a:rPr b="1"/>
                  <a:t>three</a:t>
                </a:r>
                <a:r>
                  <a:rPr/>
                  <a:t> factors. Check what each criterion tells you — and notice that a criterion can be confidently wrong.</a:t>
                </a:r>
              </a:p>
            </p:txBody>
          </p:sp>
        </mc:Choice>
      </mc:AlternateContent>
    </p:spTree>
  </p:cSld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/>
          <a:lstStyle/>
          <a:p>
            <a:pPr lvl="0" indent="0" marL="0">
              <a:buNone/>
            </a:pPr>
            <a:r>
              <a:rPr/>
              <a:t>8.5 Diffusion-index forecasting</a:t>
            </a:r>
          </a:p>
        </p:txBody>
      </p:sp>
    </p:spTree>
  </p:cSld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Two stages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lvl="0" indent="-342900" marL="342900">
                  <a:buAutoNum type="arabicPeriod"/>
                </a:pPr>
                <a:r>
                  <a:rPr/>
                  <a:t>Extract </a:t>
                </a:r>
                <a14:m>
                  <m:oMath xmlns:m="http://schemas.openxmlformats.org/officeDocument/2006/math">
                    <m:sSub>
                      <m:e>
                        <m:acc>
                          <m:accPr>
                            <m:chr m:val="̂"/>
                          </m:accPr>
                          <m:e>
                            <m:r>
                              <m:t>F</m:t>
                            </m:r>
                          </m:e>
                        </m:acc>
                      </m:e>
                      <m:sub>
                        <m:r>
                          <m:t>t</m:t>
                        </m:r>
                      </m:sub>
                    </m:sSub>
                  </m:oMath>
                </a14:m>
                <a:r>
                  <a:rPr/>
                  <a:t> by PCA from the standardised, stationary panel of </a:t>
                </a:r>
                <a14:m>
                  <m:oMath xmlns:m="http://schemas.openxmlformats.org/officeDocument/2006/math">
                    <m:r>
                      <m:t>N</m:t>
                    </m:r>
                  </m:oMath>
                </a14:m>
                <a:r>
                  <a:rPr/>
                  <a:t> series.</a:t>
                </a:r>
              </a:p>
              <a:p>
                <a:pPr lvl="0" indent="-342900" marL="342900">
                  <a:buAutoNum type="arabicPeriod"/>
                </a:pPr>
                <a:r>
                  <a:rPr/>
                  <a:t>Forecast the target with a small regression on the factors:</a:t>
                </a:r>
              </a:p>
              <a:p>
                <a:pPr lvl="0" indent="0" marL="0"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>
                      <m:sSub>
                        <m:e>
                          <m:acc>
                            <m:accPr>
                              <m:chr m:val="̂"/>
                            </m:accPr>
                            <m:e>
                              <m:r>
                                <m:t>y</m:t>
                              </m:r>
                            </m:e>
                          </m:acc>
                        </m:e>
                        <m:sub>
                          <m:r>
                            <m:t>t</m:t>
                          </m:r>
                          <m:r>
                            <m:rPr>
                              <m:sty m:val="p"/>
                            </m:rPr>
                            <m:t>+</m:t>
                          </m:r>
                          <m:r>
                            <m:t>h</m:t>
                          </m:r>
                        </m:sub>
                      </m:sSub>
                      <m:r>
                        <m:rPr>
                          <m:sty m:val="p"/>
                        </m:rPr>
                        <m:t>=</m:t>
                      </m:r>
                      <m:acc>
                        <m:accPr>
                          <m:chr m:val="̂"/>
                        </m:accPr>
                        <m:e>
                          <m:r>
                            <m:t>α</m:t>
                          </m:r>
                        </m:e>
                      </m:acc>
                      <m:r>
                        <m:rPr>
                          <m:sty m:val="p"/>
                        </m:rPr>
                        <m:t>+</m:t>
                      </m:r>
                      <m:nary>
                        <m:naryPr>
                          <m:chr m:val="∑"/>
                          <m:limLoc m:val="undOvr"/>
                          <m:subHide m:val="off"/>
                          <m:supHide m:val="off"/>
                        </m:naryPr>
                        <m:sub>
                          <m:r>
                            <m:t>j</m:t>
                          </m:r>
                          <m:r>
                            <m:rPr>
                              <m:sty m:val="p"/>
                            </m:rPr>
                            <m:t>=</m:t>
                          </m:r>
                          <m:r>
                            <m:t>1</m:t>
                          </m:r>
                        </m:sub>
                        <m:sup>
                          <m:r>
                            <m:t>r</m:t>
                          </m:r>
                        </m:sup>
                        <m:e>
                          <m:sSub>
                            <m:e>
                              <m:acc>
                                <m:accPr>
                                  <m:chr m:val="̂"/>
                                </m:accPr>
                                <m:e>
                                  <m:r>
                                    <m:t>β</m:t>
                                  </m:r>
                                </m:e>
                              </m:acc>
                            </m:e>
                            <m:sub>
                              <m:r>
                                <m:t>j</m:t>
                              </m:r>
                            </m:sub>
                          </m:sSub>
                        </m:e>
                      </m:nary>
                      <m:sSub>
                        <m:e>
                          <m:acc>
                            <m:accPr>
                              <m:chr m:val="̂"/>
                            </m:accPr>
                            <m:e>
                              <m:r>
                                <m:t>F</m:t>
                              </m:r>
                            </m:e>
                          </m:acc>
                        </m:e>
                        <m:sub>
                          <m:r>
                            <m:t>j</m:t>
                          </m:r>
                          <m:r>
                            <m:t>t</m:t>
                          </m:r>
                        </m:sub>
                      </m:sSub>
                      <m:r>
                        <m:rPr>
                          <m:sty m:val="p"/>
                        </m:rPr>
                        <m:t>+</m:t>
                      </m:r>
                      <m:nary>
                        <m:naryPr>
                          <m:chr m:val="∑"/>
                          <m:limLoc m:val="undOvr"/>
                          <m:subHide m:val="off"/>
                          <m:supHide m:val="off"/>
                        </m:naryPr>
                        <m:sub>
                          <m:r>
                            <m:rPr>
                              <m:sty m:val="p"/>
                            </m:rPr>
                            <m:t>ℓ</m:t>
                          </m:r>
                          <m:r>
                            <m:rPr>
                              <m:sty m:val="p"/>
                            </m:rPr>
                            <m:t>=</m:t>
                          </m:r>
                          <m:r>
                            <m:t>0</m:t>
                          </m:r>
                        </m:sub>
                        <m:sup>
                          <m:r>
                            <m:t>L</m:t>
                          </m:r>
                        </m:sup>
                        <m:e>
                          <m:sSub>
                            <m:e>
                              <m:acc>
                                <m:accPr>
                                  <m:chr m:val="̂"/>
                                </m:accPr>
                                <m:e>
                                  <m:r>
                                    <m:t>γ</m:t>
                                  </m:r>
                                </m:e>
                              </m:acc>
                            </m:e>
                            <m:sub>
                              <m:r>
                                <m:rPr>
                                  <m:sty m:val="p"/>
                                </m:rPr>
                                <m:t>ℓ</m:t>
                              </m:r>
                            </m:sub>
                          </m:sSub>
                        </m:e>
                      </m:nary>
                      <m:sSub>
                        <m:e>
                          <m:r>
                            <m:t>y</m:t>
                          </m:r>
                        </m:e>
                        <m:sub>
                          <m:r>
                            <m:t>t</m:t>
                          </m:r>
                          <m:r>
                            <m:rPr>
                              <m:sty m:val="p"/>
                            </m:rPr>
                            <m:t>−</m:t>
                          </m:r>
                          <m:r>
                            <m:rPr>
                              <m:sty m:val="p"/>
                            </m:rPr>
                            <m:t>ℓ</m:t>
                          </m:r>
                        </m:sub>
                      </m:sSub>
                    </m:oMath>
                  </m:oMathPara>
                </a14:m>
              </a:p>
            </p:txBody>
          </p:sp>
        </mc:Choice>
      </mc:AlternateContent>
    </p:spTree>
  </p:cSld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The rule you must not break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1270000">
              <a:buNone/>
            </a:pPr>
            <a:r>
              <a:rPr sz="2000" b="1"/>
              <a:t>Factors must be re-estimated at each forecast origin, using only data available at that time.</a:t>
            </a:r>
          </a:p>
          <a:p>
            <a:pPr lvl="0" indent="0" marL="0">
              <a:buNone/>
            </a:pPr>
            <a:r>
              <a:rPr/>
              <a:t>Extracting factors from the full sample and then backtesting is </a:t>
            </a:r>
            <a:r>
              <a:rPr b="1"/>
              <a:t>look-ahead bias</a:t>
            </a:r>
            <a:r>
              <a:rPr/>
              <a:t> — and it is the single most common flaw in student factor-model projects.</a:t>
            </a:r>
          </a:p>
          <a:p>
            <a:pPr lvl="0" indent="0" marL="0">
              <a:buNone/>
            </a:pPr>
            <a:r>
              <a:rPr/>
              <a:t>Session 04’s rolling-origin discipline applies to </a:t>
            </a:r>
            <a:r>
              <a:rPr b="1"/>
              <a:t>every</a:t>
            </a:r>
            <a:r>
              <a:rPr/>
              <a:t> step, including the unsupervised one.</a:t>
            </a:r>
          </a:p>
        </p:txBody>
      </p:sp>
    </p:spTree>
  </p:cSld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/>
          <a:lstStyle/>
          <a:p>
            <a:pPr lvl="0" indent="0" marL="0">
              <a:buNone/>
            </a:pPr>
            <a:r>
              <a:rPr/>
              <a:t>The lab</a:t>
            </a:r>
          </a:p>
        </p:txBody>
      </p:sp>
    </p:spTree>
  </p:cSld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What you do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lvl="0" indent="-342900" marL="342900">
                  <a:buAutoNum type="arabicPeriod"/>
                </a:pPr>
                <a:r>
                  <a:rPr/>
                  <a:t>Build the wide panel for your angle; standardise it</a:t>
                </a:r>
              </a:p>
              <a:p>
                <a:pPr lvl="0" indent="-342900" marL="342900">
                  <a:buAutoNum type="arabicPeriod"/>
                </a:pPr>
                <a:r>
                  <a:rPr/>
                  <a:t>Run PCA; report variance explained and </a:t>
                </a:r>
                <a:r>
                  <a:rPr b="1"/>
                  <a:t>all three</a:t>
                </a:r>
                <a:r>
                  <a:rPr/>
                  <a:t> Bai–Ng criteria</a:t>
                </a:r>
              </a:p>
              <a:p>
                <a:pPr lvl="0" indent="-342900" marL="342900">
                  <a:buAutoNum type="arabicPeriod"/>
                </a:pPr>
                <a:r>
                  <a:rPr/>
                  <a:t>Decide </a:t>
                </a:r>
                <a14:m>
                  <m:oMath xmlns:m="http://schemas.openxmlformats.org/officeDocument/2006/math">
                    <m:r>
                      <m:t>r</m:t>
                    </m:r>
                  </m:oMath>
                </a14:m>
                <a:r>
                  <a:rPr/>
                  <a:t> in writing </a:t>
                </a:r>
                <a:r>
                  <a:rPr b="1"/>
                  <a:t>before</a:t>
                </a:r>
                <a:r>
                  <a:rPr/>
                  <a:t> looking at the forecast results</a:t>
                </a:r>
              </a:p>
              <a:p>
                <a:pPr lvl="0" indent="-342900" marL="342900">
                  <a:buAutoNum type="arabicPeriod"/>
                </a:pPr>
                <a:r>
                  <a:rPr/>
                  <a:t>Run a diffusion-index forecast, re-estimating factors at each origin</a:t>
                </a:r>
              </a:p>
              <a:p>
                <a:pPr lvl="0" indent="0" marL="0">
                  <a:buNone/>
                </a:pPr>
                <a:r>
                  <a:rPr/>
                  <a:t>State your </a:t>
                </a:r>
                <a:r>
                  <a:rPr b="1"/>
                  <a:t>normalisation</a:t>
                </a:r>
                <a:r>
                  <a:rPr/>
                  <a:t> and your </a:t>
                </a:r>
                <a:r>
                  <a:rPr b="1"/>
                  <a:t>sign convention</a:t>
                </a:r>
                <a:r>
                  <a:rPr/>
                  <a:t>. Without them the loadings are not reproducible.</a:t>
                </a:r>
              </a:p>
            </p:txBody>
          </p:sp>
        </mc:Choice>
      </mc:AlternateContent>
    </p:spTree>
  </p:cSld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The two-minute report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lvl="0" indent="-342900" marL="342900">
                  <a:buAutoNum type="arabicPeriod"/>
                </a:pPr>
                <a:r>
                  <a:rPr b="1"/>
                  <a:t>What I did</a:t>
                </a:r>
                <a:r>
                  <a:rPr/>
                  <a:t> — the panel, the normalisation, how you chose </a:t>
                </a:r>
                <a14:m>
                  <m:oMath xmlns:m="http://schemas.openxmlformats.org/officeDocument/2006/math">
                    <m:r>
                      <m:t>r</m:t>
                    </m:r>
                  </m:oMath>
                </a14:m>
              </a:p>
              <a:p>
                <a:pPr lvl="0" indent="-342900" marL="342900">
                  <a:buAutoNum type="arabicPeriod"/>
                </a:pPr>
                <a:r>
                  <a:rPr b="1"/>
                  <a:t>The number</a:t>
                </a:r>
                <a:r>
                  <a:rPr/>
                  <a:t> — variance explained, and forecast error against a benchmark</a:t>
                </a:r>
              </a:p>
              <a:p>
                <a:pPr lvl="0" indent="-342900" marL="342900">
                  <a:buAutoNum type="arabicPeriod"/>
                </a:pPr>
                <a:r>
                  <a:rPr b="1"/>
                  <a:t>The catch</a:t>
                </a:r>
                <a:r>
                  <a:rPr/>
                  <a:t> — that factors are coordinates, and naming them is an interpretation</a:t>
                </a:r>
              </a:p>
              <a:p>
                <a:pPr lvl="0" indent="0" marL="0">
                  <a:buNone/>
                </a:pPr>
                <a:r>
                  <a:rPr/>
                  <a:t>Full brief: </a:t>
                </a:r>
                <a:r>
                  <a:rPr>
                    <a:hlinkClick r:id="rId2"/>
                    <a:latin typeface="Courier"/>
                  </a:rPr>
                  <a:t>02-lab/README.md</a:t>
                </a:r>
              </a:p>
            </p:txBody>
          </p:sp>
        </mc:Choice>
      </mc:AlternateContent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49</Words>
  <Application>Microsoft Macintosh PowerPoint</Application>
  <PresentationFormat>On-screen Show (16:9)</PresentationFormat>
  <Paragraphs>15</Paragraphs>
  <Slides>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Presentation Title</vt:lpstr>
      <vt:lpstr>Slide Title</vt:lpstr>
      <vt:lpstr>Section header</vt:lpstr>
      <vt:lpstr>Slide Title for Two-Content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Unsupervised I: PCA, the SVD, and Factor Models</dc:title>
  <dc:creator>Thierry Warin</dc:creator>
  <cp:keywords/>
  <dcterms:created xsi:type="dcterms:W3CDTF">2026-08-20T19:09:33Z</dcterms:created>
  <dcterms:modified xsi:type="dcterms:W3CDTF">2026-08-20T19:09:33Z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ffiliations">
    <vt:lpwstr/>
  </property>
  <property fmtid="{D5CDD505-2E9C-101B-9397-08002B2CF9AE}" pid="3" name="authors">
    <vt:lpwstr/>
  </property>
  <property fmtid="{D5CDD505-2E9C-101B-9397-08002B2CF9AE}" pid="4" name="biblio-config">
    <vt:lpwstr>True</vt:lpwstr>
  </property>
  <property fmtid="{D5CDD505-2E9C-101B-9397-08002B2CF9AE}" pid="5" name="by-affiliation">
    <vt:lpwstr/>
  </property>
  <property fmtid="{D5CDD505-2E9C-101B-9397-08002B2CF9AE}" pid="6" name="by-author">
    <vt:lpwstr/>
  </property>
  <property fmtid="{D5CDD505-2E9C-101B-9397-08002B2CF9AE}" pid="7" name="date">
    <vt:lpwstr>20 August 2026</vt:lpwstr>
  </property>
  <property fmtid="{D5CDD505-2E9C-101B-9397-08002B2CF9AE}" pid="8" name="date-format">
    <vt:lpwstr>D MMMM YYYY</vt:lpwstr>
  </property>
  <property fmtid="{D5CDD505-2E9C-101B-9397-08002B2CF9AE}" pid="9" name="header-includes">
    <vt:lpwstr/>
  </property>
  <property fmtid="{D5CDD505-2E9C-101B-9397-08002B2CF9AE}" pid="10" name="include-after">
    <vt:lpwstr/>
  </property>
  <property fmtid="{D5CDD505-2E9C-101B-9397-08002B2CF9AE}" pid="11" name="include-before">
    <vt:lpwstr/>
  </property>
  <property fmtid="{D5CDD505-2E9C-101B-9397-08002B2CF9AE}" pid="12" name="institute">
    <vt:lpwstr>HEC Montréal</vt:lpwstr>
  </property>
  <property fmtid="{D5CDD505-2E9C-101B-9397-08002B2CF9AE}" pid="13" name="institutes">
    <vt:lpwstr/>
  </property>
  <property fmtid="{D5CDD505-2E9C-101B-9397-08002B2CF9AE}" pid="14" name="labels">
    <vt:lpwstr/>
  </property>
  <property fmtid="{D5CDD505-2E9C-101B-9397-08002B2CF9AE}" pid="15" name="subtitle">
    <vt:lpwstr>Session 08 · Lecture, first half</vt:lpwstr>
  </property>
  <property fmtid="{D5CDD505-2E9C-101B-9397-08002B2CF9AE}" pid="16" name="toc-title">
    <vt:lpwstr>Table of contents</vt:lpwstr>
  </property>
</Properties>
</file>