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185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95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8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7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6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1300"/>
            </a:lvl1pPr>
            <a:lvl2pPr>
              <a:defRPr sz="1100"/>
            </a:lvl2pPr>
            <a:lvl3pPr>
              <a:defRPr sz="950"/>
            </a:lvl3pPr>
            <a:lvl4pPr>
              <a:defRPr sz="850"/>
            </a:lvl4pPr>
            <a:lvl5pPr>
              <a:defRPr sz="850"/>
            </a:lvl5pPr>
            <a:lvl6pPr>
              <a:defRPr sz="850"/>
            </a:lvl6pPr>
            <a:lvl7pPr>
              <a:defRPr sz="850"/>
            </a:lvl7pPr>
            <a:lvl8pPr>
              <a:defRPr sz="850"/>
            </a:lvl8pPr>
            <a:lvl9pPr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100" b="1"/>
            </a:lvl1pPr>
            <a:lvl2pPr marL="342900" indent="0">
              <a:buNone/>
              <a:defRPr sz="950" b="1"/>
            </a:lvl2pPr>
            <a:lvl3pPr marL="685800" indent="0">
              <a:buNone/>
              <a:defRPr sz="850" b="1"/>
            </a:lvl3pPr>
            <a:lvl4pPr marL="1028700" indent="0">
              <a:buNone/>
              <a:defRPr sz="750" b="1"/>
            </a:lvl4pPr>
            <a:lvl5pPr marL="1371600" indent="0">
              <a:buNone/>
              <a:defRPr sz="750" b="1"/>
            </a:lvl5pPr>
            <a:lvl6pPr marL="1714500" indent="0">
              <a:buNone/>
              <a:defRPr sz="750" b="1"/>
            </a:lvl6pPr>
            <a:lvl7pPr marL="2057400" indent="0">
              <a:buNone/>
              <a:defRPr sz="750" b="1"/>
            </a:lvl7pPr>
            <a:lvl8pPr marL="2400300" indent="0">
              <a:buNone/>
              <a:defRPr sz="750" b="1"/>
            </a:lvl8pPr>
            <a:lvl9pPr marL="2743200" indent="0">
              <a:buNone/>
              <a:defRPr sz="7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100"/>
            </a:lvl1pPr>
            <a:lvl2pPr>
              <a:defRPr sz="950"/>
            </a:lvl2pPr>
            <a:lvl3pPr>
              <a:defRPr sz="850"/>
            </a:lvl3pPr>
            <a:lvl4pPr>
              <a:defRPr sz="750"/>
            </a:lvl4pPr>
            <a:lvl5pPr>
              <a:defRPr sz="750"/>
            </a:lvl5pPr>
            <a:lvl6pPr>
              <a:defRPr sz="750"/>
            </a:lvl6pPr>
            <a:lvl7pPr>
              <a:defRPr sz="750"/>
            </a:lvl7pPr>
            <a:lvl8pPr>
              <a:defRPr sz="750"/>
            </a:lvl8pPr>
            <a:lvl9pPr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1500"/>
            </a:lvl1pPr>
            <a:lvl2pPr>
              <a:defRPr sz="1300"/>
            </a:lvl2pPr>
            <a:lvl3pPr>
              <a:defRPr sz="1100"/>
            </a:lvl3pPr>
            <a:lvl4pPr>
              <a:defRPr sz="950"/>
            </a:lvl4pPr>
            <a:lvl5pPr>
              <a:defRPr sz="950"/>
            </a:lvl5pPr>
            <a:lvl6pPr>
              <a:defRPr sz="950"/>
            </a:lvl6pPr>
            <a:lvl7pPr>
              <a:defRPr sz="950"/>
            </a:lvl7pPr>
            <a:lvl8pPr>
              <a:defRPr sz="950"/>
            </a:lvl8pPr>
            <a:lvl9pPr>
              <a:defRPr sz="9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95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1500"/>
            </a:lvl1pPr>
            <a:lvl2pPr marL="342900" indent="0">
              <a:buNone/>
              <a:defRPr sz="1300"/>
            </a:lvl2pPr>
            <a:lvl3pPr marL="685800" indent="0">
              <a:buNone/>
              <a:defRPr sz="1100"/>
            </a:lvl3pPr>
            <a:lvl4pPr marL="1028700" indent="0">
              <a:buNone/>
              <a:defRPr sz="950"/>
            </a:lvl4pPr>
            <a:lvl5pPr marL="1371600" indent="0">
              <a:buNone/>
              <a:defRPr sz="950"/>
            </a:lvl5pPr>
            <a:lvl6pPr marL="1714500" indent="0">
              <a:buNone/>
              <a:defRPr sz="950"/>
            </a:lvl6pPr>
            <a:lvl7pPr marL="2057400" indent="0">
              <a:buNone/>
              <a:defRPr sz="950"/>
            </a:lvl7pPr>
            <a:lvl8pPr marL="2400300" indent="0">
              <a:buNone/>
              <a:defRPr sz="950"/>
            </a:lvl8pPr>
            <a:lvl9pPr marL="2743200" indent="0">
              <a:buNone/>
              <a:defRPr sz="95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650"/>
            </a:lvl1pPr>
            <a:lvl2pPr marL="342900" indent="0">
              <a:buNone/>
              <a:defRPr sz="550"/>
            </a:lvl2pPr>
            <a:lvl3pPr marL="685800" indent="0">
              <a:buNone/>
              <a:defRPr sz="550"/>
            </a:lvl3pPr>
            <a:lvl4pPr marL="1028700" indent="0">
              <a:buNone/>
              <a:defRPr sz="550"/>
            </a:lvl4pPr>
            <a:lvl5pPr marL="1371600" indent="0">
              <a:buNone/>
              <a:defRPr sz="550"/>
            </a:lvl5pPr>
            <a:lvl6pPr marL="1714500" indent="0">
              <a:buNone/>
              <a:defRPr sz="550"/>
            </a:lvl6pPr>
            <a:lvl7pPr marL="2057400" indent="0">
              <a:buNone/>
              <a:defRPr sz="550"/>
            </a:lvl7pPr>
            <a:lvl8pPr marL="2400300" indent="0">
              <a:buNone/>
              <a:defRPr sz="550"/>
            </a:lvl8pPr>
            <a:lvl9pPr marL="2743200" indent="0">
              <a:buNone/>
              <a:defRPr sz="5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5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uthor Footer"/>
          <p:cNvSpPr txBox="1"/>
          <p:nvPr/>
        </p:nvSpPr>
        <p:spPr>
          <a:xfrm>
            <a:off x="457200" y="4735000"/>
            <a:ext cx="50000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l"/>
            <a:r>
              <a:rPr dirty="0" lang="en-US" sz="900">
                <a:solidFill>
                  <a:srgbClr val="6E7275"/>
                </a:solidFill>
                <a:latin typeface="+mn-lt"/>
              </a:rPr>
              <a:t>Thierry Warin, PhD</a:t>
            </a:r>
          </a:p>
        </p:txBody>
      </p:sp>
      <p:sp>
        <p:nvSpPr>
          <p:cNvPr id="8" name="Slide Number Footer"/>
          <p:cNvSpPr txBox="1"/>
          <p:nvPr/>
        </p:nvSpPr>
        <p:spPr>
          <a:xfrm>
            <a:off x="7200000" y="4735000"/>
            <a:ext cx="1486800" cy="260000"/>
          </a:xfrm>
          <a:prstGeom prst="rect">
            <a:avLst/>
          </a:prstGeom>
          <a:noFill/>
        </p:spPr>
        <p:txBody>
          <a:bodyPr anchor="ctr" bIns="0" lIns="0" rIns="0" tIns="0" wrap="square"/>
          <a:lstStyle/>
          <a:p>
            <a:pPr algn="r"/>
            <a:fld id="{9B1A2C3D-4E5F-6A7B-8C9D-0E1F2A3B4C5D}" type="slidenum">
              <a:rPr dirty="0" lang="en-US" sz="900">
                <a:solidFill>
                  <a:srgbClr val="6E7275"/>
                </a:solidFill>
                <a:latin typeface="+mn-lt"/>
              </a:rPr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5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3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1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9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9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9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8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1-lecture/README.md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practice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Unsupervised I: PCA, the SVD, and Factor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08 · Lecture, first half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hundred macro series move together. How many things are happening?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These slides follow the notes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PCA as variance maximisation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Eckart–Young: best low-rank approximation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approximate factor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many factors?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8.5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Diffusion-index forecasting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numbering as </a:t>
            </a:r>
            <a:r>
              <a:rPr>
                <a:hlinkClick r:id="rId2"/>
                <a:latin typeface="Courier"/>
              </a:rPr>
              <a:t>01-lecture/README.md</a:t>
            </a:r>
            <a:r>
              <a:rPr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8.1 PCA as variance maximisation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X</m:t>
                    </m:r>
                  </m:oMath>
                </a14:m>
                <a:r>
                  <a:rPr/>
                  <a:t> is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p</m:t>
                    </m:r>
                  </m:oMath>
                </a14:m>
                <a:r>
                  <a:rPr/>
                  <a:t>, columns centred and standardised. Seek a unit vector </a:t>
                </a:r>
                <a14:m>
                  <m:oMath xmlns:m="http://schemas.openxmlformats.org/officeDocument/2006/math">
                    <m:sSub>
                      <m:e>
                        <m:r>
                          <m:t>v</m:t>
                        </m:r>
                      </m:e>
                      <m:sub>
                        <m:r>
                          <m:t>1</m:t>
                        </m:r>
                      </m:sub>
                    </m:sSub>
                  </m:oMath>
                </a14:m>
                <a:r>
                  <a:rPr/>
                  <a:t> maximising the variance of the projection: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v</m:t>
                          </m:r>
                        </m:e>
                        <m:sub>
                          <m:r>
                            <m:t>1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arg</m:t>
                      </m:r>
                      <m:limLow>
                        <m:e>
                          <m:r>
                            <m:rPr>
                              <m:sty m:val="p"/>
                            </m:rPr>
                            <m:t>max</m:t>
                          </m:r>
                        </m:e>
                        <m:lim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∥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lim>
                      </m:limLow>
                      <m:r>
                        <m:t> 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 </m:t>
                      </m:r>
                      <m:r>
                        <m:t>v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sSup>
                        <m:e>
                          <m:r>
                            <m:t>X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X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Lagrangian gives an eigenproblem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script"/>
                        </m:rPr>
                        <m:t>L</m:t>
                      </m:r>
                      <m:r>
                        <m:rPr>
                          <m:sty m:val="p"/>
                        </m:rPr>
                        <m:t>=</m:t>
                      </m:r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t>ϕ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p>
                            <m:e>
                              <m:r>
                                <m:t>v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⊤</m:t>
                              </m:r>
                            </m:sup>
                          </m:sSup>
                          <m:r>
                            <m:t>v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e>
                      </m:d>
                      <m:r>
                        <m:t> </m:t>
                      </m:r>
                      <m:r>
                        <m:rPr>
                          <m:sty m:val="p"/>
                        </m:rPr>
                        <m:t>⇒</m:t>
                      </m:r>
                      <m:r>
                        <m:t> </m:t>
                      </m:r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t>v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ϕ</m:t>
                      </m:r>
                      <m:r>
                        <m:t>v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So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/>
                  <a:t> must be an </a:t>
                </a:r>
                <a:r>
                  <a:rPr b="1"/>
                  <a:t>eigenvector</a:t>
                </a:r>
                <a:r>
                  <a:rPr/>
                  <a:t> — and since the objective at an eigenvector equals its eigenvalue, we take the largest.</a:t>
                </a:r>
              </a:p>
              <a:p>
                <a:pPr lvl="0" indent="0" marL="0">
                  <a:buNone/>
                </a:pPr>
                <a:r>
                  <a:rPr/>
                  <a:t>Subsequent components solve the same problem subject to orthogonality to those already found, giving the eigenvectors in decreasing eigenvalue order.</a:t>
                </a:r>
              </a:p>
            </p:txBody>
          </p:sp>
        </mc:Choice>
      </mc:AlternateContent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Via the SVD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Cleaner, and what software actually computes. With </a:t>
                </a:r>
                <a14:m>
                  <m:oMath xmlns:m="http://schemas.openxmlformats.org/officeDocument/2006/math">
                    <m:r>
                      <m:t>X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  <m:sSup>
                      <m:e>
                        <m:r>
                          <m:t>V</m:t>
                        </m:r>
                      </m:e>
                      <m:sup>
                        <m:r>
                          <m:rPr>
                            <m:sty m:val="p"/>
                          </m:rPr>
                          <m:t>⊤</m:t>
                        </m:r>
                      </m:sup>
                    </m:sSup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t>Σ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lin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r>
                        <m:t>V</m:t>
                      </m:r>
                      <m:sSup>
                        <m:e>
                          <m:r>
                            <m:t>D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sSup>
                        <m:e>
                          <m:r>
                            <m:t>V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</m:oMath>
                  </m:oMathPara>
                </a14:m>
              </a:p>
              <a:p>
                <a:pPr lvl="0"/>
                <a:r>
                  <a:rPr b="1"/>
                  <a:t>loadings</a:t>
                </a:r>
                <a:r>
                  <a:rPr/>
                  <a:t> — the columns of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</a:p>
              <a:p>
                <a:pPr lvl="0"/>
                <a:r>
                  <a:rPr b="1"/>
                  <a:t>scores</a:t>
                </a:r>
                <a:r>
                  <a:rPr/>
                  <a:t> — </a:t>
                </a:r>
                <a14:m>
                  <m:oMath xmlns:m="http://schemas.openxmlformats.org/officeDocument/2006/math">
                    <m:r>
                      <m:t>Z</m:t>
                    </m:r>
                    <m:r>
                      <m:rPr>
                        <m:sty m:val="p"/>
                      </m:rPr>
                      <m:t>=</m:t>
                    </m:r>
                    <m:r>
                      <m:t>X</m:t>
                    </m:r>
                    <m:r>
                      <m:t>V</m:t>
                    </m:r>
                    <m:r>
                      <m:rPr>
                        <m:sty m:val="p"/>
                      </m:rPr>
                      <m:t>=</m:t>
                    </m:r>
                    <m:r>
                      <m:t>U</m:t>
                    </m:r>
                    <m:r>
                      <m:t>D</m:t>
                    </m:r>
                  </m:oMath>
                </a14:m>
              </a:p>
              <a:p>
                <a:pPr lvl="0"/>
                <a:r>
                  <a:rPr b="1"/>
                  <a:t>variance explained</a:t>
                </a:r>
                <a:r>
                  <a:rPr/>
                  <a:t> by component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— </a:t>
                </a:r>
                <a14:m>
                  <m:oMath xmlns:m="http://schemas.openxmlformats.org/officeDocument/2006/math">
                    <m:sSubSup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/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k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</m:oMath>
                </a14:m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connection to Session 05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Ridge shrank along the </a:t>
                </a:r>
                <a:r>
                  <a:rPr b="1"/>
                  <a:t>same </a:t>
                </a:r>
                <a14:m>
                  <m:oMath xmlns:m="http://schemas.openxmlformats.org/officeDocument/2006/math">
                    <m:r>
                      <m:t>V</m:t>
                    </m:r>
                  </m:oMath>
                </a14:m>
                <a:r>
                  <a:rPr b="1"/>
                  <a:t> basis</a:t>
                </a:r>
                <a:r>
                  <a:rPr/>
                  <a:t>, damping small-</a:t>
                </a:r>
                <a14:m>
                  <m:oMath xmlns:m="http://schemas.openxmlformats.org/officeDocument/2006/math">
                    <m:sSub>
                      <m:e>
                        <m:r>
                          <m:t>d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directions.</a:t>
                </a:r>
              </a:p>
              <a:p>
                <a:pPr lvl="0" indent="0" marL="1270000">
                  <a:buNone/>
                </a:pPr>
                <a:r>
                  <a:rPr sz="2000" b="1"/>
                  <a:t>PCA truncates exactly the directions ridge shrinks.</a:t>
                </a:r>
              </a:p>
              <a:p>
                <a:pPr lvl="0" indent="0" marL="0">
                  <a:buNone/>
                </a:pPr>
                <a:r>
                  <a:rPr/>
                  <a:t>Principal components regression is, in this light, a hard-thresholded ridge.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8.2 Eckart–Young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theorem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Among all matrices of rank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≤</m:t>
                    </m:r>
                    <m:r>
                      <m:t>k</m:t>
                    </m:r>
                  </m:oMath>
                </a14:m>
                <a:r>
                  <a:rPr/>
                  <a:t>, the one minimising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∥</m:t>
                    </m:r>
                    <m:r>
                      <m:t>X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̃"/>
                      </m:accPr>
                      <m:e>
                        <m:r>
                          <m:t>X</m:t>
                        </m:r>
                      </m:e>
                    </m:acc>
                    <m:sSub>
                      <m:e>
                        <m:r>
                          <m:rPr>
                            <m:sty m:val="p"/>
                          </m:rPr>
                          <m:t>∥</m:t>
                        </m:r>
                      </m:e>
                      <m:sub>
                        <m:r>
                          <m:t>F</m:t>
                        </m:r>
                      </m:sub>
                    </m:sSub>
                  </m:oMath>
                </a14:m>
                <a:r>
                  <a:rPr/>
                  <a:t> is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̃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</m:e>
                        <m:sub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U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>
                        <m:e>
                          <m:r>
                            <m:t>D</m:t>
                          </m:r>
                        </m:e>
                        <m:sub>
                          <m:r>
                            <m:t>k</m:t>
                          </m:r>
                        </m:sub>
                      </m:sSub>
                      <m:sSubSup>
                        <m:e>
                          <m:r>
                            <m:t>V</m:t>
                          </m:r>
                        </m:e>
                        <m:sub>
                          <m:r>
                            <m:t>k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truncated SVD, and the minimum equals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nary>
                      <m:naryPr>
                        <m:chr m:val="∑"/>
                        <m:limLoc m:val="undOvr"/>
                        <m:subHide m:val="off"/>
                        <m:supHide m:val="on"/>
                      </m:naryPr>
                      <m:sub>
                        <m:r>
                          <m:t>j</m:t>
                        </m:r>
                        <m:r>
                          <m:rPr>
                            <m:sty m:val="p"/>
                          </m:rPr>
                          <m:t>&gt;</m:t>
                        </m:r>
                        <m:r>
                          <m:t>k</m:t>
                        </m:r>
                      </m:sub>
                      <m:sup>
                        <m:r>
                          <m:t>​</m:t>
                        </m:r>
                      </m:sup>
                      <m:e>
                        <m:sSubSup>
                          <m:e>
                            <m:r>
                              <m:t>d</m:t>
                            </m:r>
                          </m:e>
                          <m:sub>
                            <m:r>
                              <m:t>j</m:t>
                            </m:r>
                          </m:sub>
                          <m:sup>
                            <m:r>
                              <m:t>2</m:t>
                            </m:r>
                          </m:sup>
                        </m:sSubSup>
                      </m:e>
                    </m:nary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1</m:t>
                        </m:r>
                        <m:r>
                          <m:rPr>
                            <m:sty m:val="p"/>
                          </m:rPr>
                          <m:t>/</m:t>
                        </m:r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it licenses you to say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This is the </a:t>
                </a:r>
                <a:r>
                  <a:rPr b="1"/>
                  <a:t>formal</a:t>
                </a:r>
                <a:r>
                  <a:rPr/>
                  <a:t> sense in which “the first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components capture the most information”: they give the best rank-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 reconstruction in Frobenius norm.</a:t>
                </a:r>
              </a:p>
              <a:p>
                <a:pPr lvl="0" indent="0" marL="0">
                  <a:buNone/>
                </a:pPr>
                <a:r>
                  <a:rPr/>
                  <a:t>It also tells you exactly what you lose — the discarded singular values. Not a heuristic; a theorem.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8.3 The approximate factor model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Stock and Watson’s insight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A large macro panel is well described by a few common shocks plus idiosyncratic noise: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X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Sup>
                        <m:e>
                          <m:r>
                            <m:t>λ</m:t>
                          </m:r>
                        </m:e>
                        <m:sub>
                          <m:r>
                            <m:t>i</m:t>
                          </m:r>
                        </m:sub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bSup>
                      <m:sSub>
                        <m:e>
                          <m:r>
                            <m:t>F</m:t>
                          </m:r>
                        </m:e>
                        <m:sub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i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N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 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rPr>
                          <m:sty m:val="p"/>
                        </m:rPr>
                        <m:t>…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T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with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sSup>
                      <m:e>
                        <m:r>
                          <m:rPr>
                            <m:sty m:val="p"/>
                            <m:scr m:val="double-struck"/>
                          </m:rPr>
                          <m:t>R</m:t>
                        </m:r>
                      </m:e>
                      <m:sup>
                        <m:r>
                          <m:t>r</m:t>
                        </m:r>
                      </m:sup>
                    </m:sSup>
                  </m:oMath>
                </a14:m>
                <a:r>
                  <a:rPr/>
                  <a:t> the common factors and </a:t>
                </a:r>
                <a14:m>
                  <m:oMath xmlns:m="http://schemas.openxmlformats.org/officeDocument/2006/math">
                    <m:sSub>
                      <m:e>
                        <m:r>
                          <m:t>λ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the loadings.</a:t>
                </a:r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approximate</a:t>
                </a:r>
                <a:r>
                  <a:rPr/>
                  <a:t> factor model (Chamberlain–Rothschild) allows weak cross-sectional and serial correlation in </a:t>
                </a:r>
                <a14:m>
                  <m:oMath xmlns:m="http://schemas.openxmlformats.org/officeDocument/2006/math">
                    <m:sSub>
                      <m:e>
                        <m:r>
                          <m:t>e</m:t>
                        </m:r>
                      </m:e>
                      <m:sub>
                        <m:r>
                          <m:t>i</m:t>
                        </m:r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— essential for real data.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result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principal-component estimator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is consistent for the space spanned by </a:t>
                </a:r>
                <a14:m>
                  <m:oMath xmlns:m="http://schemas.openxmlformats.org/officeDocument/2006/math">
                    <m:sSub>
                      <m:e>
                        <m:r>
                          <m:t>F</m:t>
                        </m:r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as </a:t>
                </a:r>
                <a:r>
                  <a:rPr b="1"/>
                  <a:t>both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T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</m:rPr>
                      <m:t>∞</m:t>
                    </m:r>
                  </m:oMath>
                </a14:m>
                <a:r>
                  <a:rPr/>
                  <a:t>, at rate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  <m:r>
                          <m:rPr>
                            <m:sty m:val="p"/>
                          </m:rPr>
                          <m:t>,</m:t>
                        </m:r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T</m:t>
                            </m:r>
                          </m:e>
                        </m:rad>
                      </m:e>
                    </m:d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Crucially, if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T</m:t>
                        </m:r>
                      </m:e>
                    </m:rad>
                    <m:r>
                      <m:rPr>
                        <m:sty m:val="p"/>
                      </m:rPr>
                      <m:t>/</m:t>
                    </m:r>
                    <m:r>
                      <m:t>N</m:t>
                    </m:r>
                    <m:r>
                      <m:rPr>
                        <m:sty m:val="p"/>
                      </m:rPr>
                      <m:t>→</m:t>
                    </m:r>
                    <m:r>
                      <m:t>0</m:t>
                    </m:r>
                  </m:oMath>
                </a14:m>
                <a:r>
                  <a:rPr/>
                  <a:t>, the estimated factors can be treated as </a:t>
                </a:r>
                <a:r>
                  <a:rPr b="1"/>
                  <a:t>known</a:t>
                </a:r>
                <a:r>
                  <a:rPr/>
                  <a:t> in a second-stage regression — the generated-regressor problem vanishes.</a:t>
                </a:r>
              </a:p>
            </p:txBody>
          </p:sp>
        </mc:Choice>
      </mc:AlternateContent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series genuinely helps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</a:t>
            </a:r>
            <a:r>
              <a:rPr b="1"/>
              <a:t>opposite</a:t>
            </a:r>
            <a:r>
              <a:rPr/>
              <a:t> of the intuition you built in Sessions 05 and 06, and understanding why is the heart of this session.</a:t>
            </a:r>
          </a:p>
          <a:p>
            <a:pPr lvl="0"/>
            <a:r>
              <a:rPr/>
              <a:t>There, extra </a:t>
            </a:r>
            <a:r>
              <a:rPr b="1"/>
              <a:t>predictors</a:t>
            </a:r>
            <a:r>
              <a:rPr/>
              <a:t> added variance</a:t>
            </a:r>
          </a:p>
          <a:p>
            <a:pPr lvl="0"/>
            <a:r>
              <a:rPr/>
              <a:t>Here, extra </a:t>
            </a:r>
            <a:r>
              <a:rPr b="1"/>
              <a:t>measurements of the same latent object</a:t>
            </a:r>
            <a:r>
              <a:rPr/>
              <a:t> average noise away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Normalisation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To pin down the rotation, impose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F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F</m:t>
                      </m:r>
                      <m:r>
                        <m:rPr>
                          <m:sty m:val="p"/>
                        </m:rPr>
                        <m:t>/</m:t>
                      </m:r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I</m:t>
                          </m:r>
                        </m:e>
                        <m:sub>
                          <m:r>
                            <m:t>r</m:t>
                          </m:r>
                        </m:sub>
                      </m:sSub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sSup>
                        <m:e>
                          <m:r>
                            <m:t>Λ</m:t>
                          </m:r>
                        </m:e>
                        <m:sup>
                          <m:r>
                            <m:rPr>
                              <m:sty m:val="p"/>
                            </m:rPr>
                            <m:t>⊤</m:t>
                          </m:r>
                        </m:sup>
                      </m:sSup>
                      <m:r>
                        <m:t>Λ</m:t>
                      </m:r>
                      <m:r>
                        <m:rPr>
                          <m:nor/>
                          <m:sty m:val="p"/>
                        </m:rPr>
                        <m:t> diagonal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is a choice, not a discovery.</a:t>
                </a:r>
                <a:r>
                  <a:rPr/>
                  <a:t> Any rotation fits identically well, so “Factor 1” is a coordinate system — never an object you have found.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8.4 How many factors?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informal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Scree plot</a:t>
            </a:r>
            <a:r>
              <a:rPr/>
              <a:t> — look for the elbow. Informal, and often ambiguous.</a:t>
            </a:r>
          </a:p>
          <a:p>
            <a:pPr lvl="0"/>
            <a:r>
              <a:rPr b="1"/>
              <a:t>Cumulative variance</a:t>
            </a:r>
            <a:r>
              <a:rPr/>
              <a:t> — retain enough for 80–90%. Arbitrary but transparent.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Bai–Ng criteria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Minimise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I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p</m:t>
                          </m:r>
                          <m:r>
                            <m:t>1</m:t>
                          </m:r>
                        </m:sub>
                      </m:sSub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log</m:t>
                      </m:r>
                      <m:r>
                        <m:t>V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k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sSup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F</m:t>
                                  </m:r>
                                </m:e>
                              </m:acc>
                            </m:e>
                            <m:sup>
                              <m:r>
                                <m:t>k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+</m:t>
                      </m:r>
                      <m:r>
                        <m:t>k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  <m:r>
                        <m:rPr>
                          <m:sty m:val="p"/>
                        </m:rPr>
                        <m:t>log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t>N</m:t>
                              </m:r>
                              <m:r>
                                <m:t>T</m:t>
                              </m:r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r>
                                <m:t>T</m:t>
                              </m:r>
                            </m:den>
                          </m:f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V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k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sSup>
                          <m:e>
                            <m:acc>
                              <m:accPr>
                                <m:chr m:val="̂"/>
                              </m:accPr>
                              <m:e>
                                <m:r>
                                  <m:t>F</m:t>
                                </m:r>
                              </m:e>
                            </m:acc>
                          </m:e>
                          <m:sup>
                            <m:r>
                              <m:t>k</m:t>
                            </m:r>
                          </m:sup>
                        </m:sSup>
                      </m:e>
                    </m:d>
                  </m:oMath>
                </a14:m>
                <a:r>
                  <a:rPr/>
                  <a:t> is the average residual sum of squares from a </a:t>
                </a:r>
                <a14:m>
                  <m:oMath xmlns:m="http://schemas.openxmlformats.org/officeDocument/2006/math">
                    <m:r>
                      <m:t>k</m:t>
                    </m:r>
                  </m:oMath>
                </a14:m>
                <a:r>
                  <a:rPr/>
                  <a:t>-factor fit.</a:t>
                </a:r>
              </a:p>
              <a:p>
                <a:pPr lvl="0" indent="0" marL="0">
                  <a:buNone/>
                </a:pPr>
                <a:r>
                  <a:rPr/>
                  <a:t>The penalty must vanish slower than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min</m:t>
                    </m:r>
                    <m:sSup>
                      <m:e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N</m:t>
                            </m:r>
                            <m:r>
                              <m:rPr>
                                <m:sty m:val="p"/>
                              </m:rPr>
                              <m:t>,</m:t>
                            </m:r>
                            <m:r>
                              <m:t>T</m:t>
                            </m:r>
                          </m:e>
                        </m:d>
                      </m:e>
                      <m:sup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1</m:t>
                        </m:r>
                      </m:sup>
                    </m:sSup>
                  </m:oMath>
                </a14:m>
                <a:r>
                  <a:rPr/>
                  <a:t>.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2</m:t>
                        </m:r>
                      </m:sub>
                    </m:sSub>
                  </m:oMath>
                </a14:m>
                <a:r>
                  <a:rPr/>
                  <a:t> and </a:t>
                </a:r>
                <a14:m>
                  <m:oMath xmlns:m="http://schemas.openxmlformats.org/officeDocument/2006/math">
                    <m:r>
                      <m:t>I</m:t>
                    </m:r>
                    <m:sSub>
                      <m:e>
                        <m:r>
                          <m:t>C</m:t>
                        </m:r>
                      </m:e>
                      <m:sub>
                        <m:r>
                          <m:t>p</m:t>
                        </m:r>
                        <m:r>
                          <m:t>3</m:t>
                        </m:r>
                      </m:sub>
                    </m:sSub>
                  </m:oMath>
                </a14:m>
                <a:r>
                  <a:rPr/>
                  <a:t> use alternative penalty forms.</a:t>
                </a:r>
              </a:p>
              <a:p>
                <a:pPr lvl="0" indent="0" marL="0">
                  <a:buNone/>
                </a:pPr>
                <a:r>
                  <a:rPr b="1"/>
                  <a:t>Report all three.</a:t>
                </a:r>
                <a:r>
                  <a:rPr/>
                  <a:t> If they disagree, say so.</a:t>
                </a:r>
              </a:p>
            </p:txBody>
          </p:sp>
        </mc:Choice>
      </mc:AlternateContent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Onatski’s test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eigenvalue-ratio</a:t>
                </a:r>
                <a:r>
                  <a:rPr/>
                  <a:t> criterion of Ahn &amp; Horenstein: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r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arg</m:t>
                    </m:r>
                    <m:sSub>
                      <m:e>
                        <m:r>
                          <m:rPr>
                            <m:sty m:val="p"/>
                          </m:rPr>
                          <m:t>max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/</m:t>
                    </m:r>
                    <m:sSub>
                      <m:e>
                        <m:r>
                          <m:t>d</m:t>
                        </m:r>
                      </m:e>
                      <m:sub>
                        <m:r>
                          <m:t>k</m:t>
                        </m:r>
                        <m:r>
                          <m:rPr>
                            <m:sty m:val="p"/>
                          </m:rPr>
                          <m:t>+</m:t>
                        </m:r>
                        <m:r>
                          <m:t>1</m:t>
                        </m:r>
                      </m:sub>
                    </m:sSub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course spine was generated from </a:t>
                </a:r>
                <a:r>
                  <a:rPr b="1"/>
                  <a:t>three</a:t>
                </a:r>
                <a:r>
                  <a:rPr/>
                  <a:t> factors. Check what each criterion tells you — and notice that a criterion can be confidently wrong.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8.5 Diffusion-index forecasting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stages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Extract </a:t>
                </a:r>
                <a14:m>
                  <m:oMath xmlns:m="http://schemas.openxmlformats.org/officeDocument/2006/math">
                    <m:sSub>
                      <m:e>
                        <m:acc>
                          <m:accPr>
                            <m:chr m:val="̂"/>
                          </m:accPr>
                          <m:e>
                            <m:r>
                              <m:t>F</m:t>
                            </m:r>
                          </m:e>
                        </m:acc>
                      </m:e>
                      <m:sub>
                        <m:r>
                          <m:t>t</m:t>
                        </m:r>
                      </m:sub>
                    </m:sSub>
                  </m:oMath>
                </a14:m>
                <a:r>
                  <a:rPr/>
                  <a:t> by PCA from the standardised, stationary panel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series.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Forecast the target with a small regression on the factors: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h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̂"/>
                        </m:accPr>
                        <m:e>
                          <m:r>
                            <m:t>α</m:t>
                          </m:r>
                        </m:e>
                      </m:acc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j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r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β</m:t>
                                  </m:r>
                                </m:e>
                              </m:acc>
                            </m:e>
                            <m:sub>
                              <m:r>
                                <m:t>j</m:t>
                              </m:r>
                            </m:sub>
                          </m:sSub>
                        </m:e>
                      </m:nary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F</m:t>
                              </m:r>
                            </m:e>
                          </m:acc>
                        </m:e>
                        <m:sub>
                          <m:r>
                            <m:t>j</m:t>
                          </m:r>
                          <m:r>
                            <m:t>t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rPr>
                              <m:sty m:val="p"/>
                            </m:rPr>
                            <m:t>ℓ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0</m:t>
                          </m:r>
                        </m:sub>
                        <m:sup>
                          <m:r>
                            <m:t>L</m:t>
                          </m:r>
                        </m:sup>
                        <m:e>
                          <m:sSub>
                            <m:e>
                              <m:acc>
                                <m:accPr>
                                  <m:chr m:val="̂"/>
                                </m:accPr>
                                <m:e>
                                  <m:r>
                                    <m:t>γ</m:t>
                                  </m:r>
                                </m:e>
                              </m:acc>
                            </m:e>
                            <m:sub>
                              <m:r>
                                <m:rPr>
                                  <m:sty m:val="p"/>
                                </m:rPr>
                                <m:t>ℓ</m:t>
                              </m:r>
                            </m:sub>
                          </m:sSub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t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rPr>
                              <m:sty m:val="p"/>
                            </m:rPr>
                            <m:t>ℓ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rule you must not break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Factors must be re-estimated at each forecast origin, using only data available at that time.</a:t>
            </a:r>
          </a:p>
          <a:p>
            <a:pPr lvl="0" indent="0" marL="0">
              <a:buNone/>
            </a:pPr>
            <a:r>
              <a:rPr/>
              <a:t>Extracting factors from the full sample and then backtesting is </a:t>
            </a:r>
            <a:r>
              <a:rPr b="1"/>
              <a:t>look-ahead bias</a:t>
            </a:r>
            <a:r>
              <a:rPr/>
              <a:t> — and it is the single most common flaw in student factor-model projects.</a:t>
            </a:r>
          </a:p>
          <a:p>
            <a:pPr lvl="0" indent="0" marL="0">
              <a:buNone/>
            </a:pPr>
            <a:r>
              <a:rPr/>
              <a:t>Session 04’s rolling-origin discipline applies to </a:t>
            </a:r>
            <a:r>
              <a:rPr b="1"/>
              <a:t>every</a:t>
            </a:r>
            <a:r>
              <a:rPr/>
              <a:t> step, including the unsupervised one.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practice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do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Build the wide panel for your project; standardise it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PCA; report variance explained and </a:t>
                </a:r>
                <a:r>
                  <a:rPr b="1"/>
                  <a:t>all three</a:t>
                </a:r>
                <a:r>
                  <a:rPr/>
                  <a:t> Bai–Ng criteria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Decide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  <a:r>
                  <a:rPr/>
                  <a:t> in writing </a:t>
                </a:r>
                <a:r>
                  <a:rPr b="1"/>
                  <a:t>before</a:t>
                </a:r>
                <a:r>
                  <a:rPr/>
                  <a:t> looking at the forecast results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Run a diffusion-index forecast, re-estimating factors at each origin</a:t>
                </a:r>
              </a:p>
              <a:p>
                <a:pPr lvl="0" indent="0" marL="0">
                  <a:buNone/>
                </a:pPr>
                <a:r>
                  <a:rPr/>
                  <a:t>State your </a:t>
                </a:r>
                <a:r>
                  <a:rPr b="1"/>
                  <a:t>normalisation</a:t>
                </a:r>
                <a:r>
                  <a:rPr/>
                  <a:t> and your </a:t>
                </a:r>
                <a:r>
                  <a:rPr b="1"/>
                  <a:t>sign convention</a:t>
                </a:r>
                <a:r>
                  <a:rPr/>
                  <a:t>. Without them the loadings are not reproducible.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two-minute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What I did</a:t>
                </a:r>
                <a:r>
                  <a:rPr/>
                  <a:t> — the panel, the normalisation, how you chose </a:t>
                </a:r>
                <a14:m>
                  <m:oMath xmlns:m="http://schemas.openxmlformats.org/officeDocument/2006/math">
                    <m:r>
                      <m:t>r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The number</a:t>
                </a:r>
                <a:r>
                  <a:rPr/>
                  <a:t> — variance explained, and forecast error against a benchmark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The catch</a:t>
                </a:r>
                <a:r>
                  <a:rPr/>
                  <a:t> — that factors are coordinates, and naming them is an interpretation</a:t>
                </a:r>
              </a:p>
              <a:p>
                <a:pPr lvl="0" indent="0" marL="0">
                  <a:buNone/>
                </a:pPr>
                <a:r>
                  <a:rPr/>
                  <a:t>Full brief: </a:t>
                </a:r>
                <a:r>
                  <a:rPr>
                    <a:hlinkClick r:id="rId2"/>
                    <a:latin typeface="Courier"/>
                  </a:rPr>
                  <a:t>02-practice/README.md</a:t>
                </a:r>
              </a:p>
            </p:txBody>
          </p:sp>
        </mc:Choice>
      </mc:AlternateContent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Unsupervised I: PCA, the SVD, and Factor Models</dc:title>
  <dc:creator>Thierry Warin</dc:creator>
  <cp:keywords/>
  <dcterms:created xsi:type="dcterms:W3CDTF">2026-08-20T20:45:04Z</dcterms:created>
  <dcterms:modified xsi:type="dcterms:W3CDTF">2026-08-20T20:45:04Z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20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08 · Lecture, first half</vt:lpwstr>
  </property>
  <property fmtid="{D5CDD505-2E9C-101B-9397-08002B2CF9AE}" pid="16" name="toc-title">
    <vt:lpwstr>Table of contents</vt:lpwstr>
  </property>
</Properties>
</file>