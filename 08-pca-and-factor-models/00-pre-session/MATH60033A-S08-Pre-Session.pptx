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fd8769fa224d13" /><Relationship Type="http://schemas.openxmlformats.org/officeDocument/2006/relationships/extended-properties" Target="/docProps/app.xml" Id="Ree57cae18e4b43a1" /><Relationship Type="http://schemas.openxmlformats.org/officeDocument/2006/relationships/officeDocument" Target="/ppt/presentation.xml" Id="Rb183b7ce076746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430ff5904f443f"/>
  </p:sldMasterIdLst>
  <p:notesMasterIdLst>
    <p:notesMasterId xmlns:r="http://schemas.openxmlformats.org/officeDocument/2006/relationships" r:id="R1b394ea78ab44a6a"/>
  </p:notesMasterIdLst>
  <p:sldIdLst>
    <p:sldId xmlns:r="http://schemas.openxmlformats.org/officeDocument/2006/relationships" id="256" r:id="Rcab0f891a3eb49dc"/>
    <p:sldId xmlns:r="http://schemas.openxmlformats.org/officeDocument/2006/relationships" id="257" r:id="R0149472106d144e9"/>
    <p:sldId xmlns:r="http://schemas.openxmlformats.org/officeDocument/2006/relationships" id="258" r:id="R32cbab69e3fe47b0"/>
    <p:sldId xmlns:r="http://schemas.openxmlformats.org/officeDocument/2006/relationships" id="259" r:id="Rc69fe6e1a9274f9d"/>
    <p:sldId xmlns:r="http://schemas.openxmlformats.org/officeDocument/2006/relationships" id="260" r:id="Rfa6cb47d02614ed4"/>
    <p:sldId xmlns:r="http://schemas.openxmlformats.org/officeDocument/2006/relationships" id="261" r:id="Rdcb23880a5464532"/>
    <p:sldId xmlns:r="http://schemas.openxmlformats.org/officeDocument/2006/relationships" id="262" r:id="R8005cbe61ccc4f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935ee22c9b4291" /><Relationship Type="http://schemas.openxmlformats.org/officeDocument/2006/relationships/slideMaster" Target="/ppt/slideMasters/slideMaster1.xml" Id="Rc4430ff5904f443f" /><Relationship Type="http://schemas.openxmlformats.org/officeDocument/2006/relationships/notesMaster" Target="/ppt/notesMasters/notesMaster1.xml" Id="R1b394ea78ab44a6a" /><Relationship Type="http://schemas.openxmlformats.org/officeDocument/2006/relationships/presProps" Target="/ppt/presProps.xml" Id="R1578a7e612034f9e" /><Relationship Type="http://schemas.openxmlformats.org/officeDocument/2006/relationships/tableStyles" Target="/ppt/tableStyles.xml" Id="Rf5434c813aa9456e" /><Relationship Type="http://schemas.openxmlformats.org/officeDocument/2006/relationships/slide" Target="/ppt/slides/slide1.xml" Id="Rcab0f891a3eb49dc" /><Relationship Type="http://schemas.openxmlformats.org/officeDocument/2006/relationships/slide" Target="/ppt/slides/slide2.xml" Id="R0149472106d144e9" /><Relationship Type="http://schemas.openxmlformats.org/officeDocument/2006/relationships/slide" Target="/ppt/slides/slide3.xml" Id="R32cbab69e3fe47b0" /><Relationship Type="http://schemas.openxmlformats.org/officeDocument/2006/relationships/slide" Target="/ppt/slides/slide4.xml" Id="Rc69fe6e1a9274f9d" /><Relationship Type="http://schemas.openxmlformats.org/officeDocument/2006/relationships/slide" Target="/ppt/slides/slide5.xml" Id="Rfa6cb47d02614ed4" /><Relationship Type="http://schemas.openxmlformats.org/officeDocument/2006/relationships/slide" Target="/ppt/slides/slide6.xml" Id="Rdcb23880a5464532" /><Relationship Type="http://schemas.openxmlformats.org/officeDocument/2006/relationships/slide" Target="/ppt/slides/slide7.xml" Id="R8005cbe61ccc4f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85ce0fb58246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fa49f25c3346d1" /><Relationship Type="http://schemas.openxmlformats.org/officeDocument/2006/relationships/notesMaster" Target="/ppt/notesMasters/notesMaster1.xml" Id="R9510221202894c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b6736d3f094ffa" /><Relationship Type="http://schemas.openxmlformats.org/officeDocument/2006/relationships/notesMaster" Target="/ppt/notesMasters/notesMaster1.xml" Id="Rcbee80bfdff941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77928b1f854244" /><Relationship Type="http://schemas.openxmlformats.org/officeDocument/2006/relationships/notesMaster" Target="/ppt/notesMasters/notesMaster1.xml" Id="R05c610fd8b634d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eb15652bcd4acf" /><Relationship Type="http://schemas.openxmlformats.org/officeDocument/2006/relationships/notesMaster" Target="/ppt/notesMasters/notesMaster1.xml" Id="Rf0cca5775dac48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e3cfff510f4c1e" /><Relationship Type="http://schemas.openxmlformats.org/officeDocument/2006/relationships/notesMaster" Target="/ppt/notesMasters/notesMaster1.xml" Id="Rf65e5dbc443949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0f8388882949a9" /><Relationship Type="http://schemas.openxmlformats.org/officeDocument/2006/relationships/notesMaster" Target="/ppt/notesMasters/notesMaster1.xml" Id="Rc4f0a6297c7f4f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6c1c76b59547a9" /><Relationship Type="http://schemas.openxmlformats.org/officeDocument/2006/relationships/notesMaster" Target="/ppt/notesMasters/notesMaster1.xml" Id="Re02b2cfd3f9d45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Two hundred macro series move together. How many things are happening?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08-pca-and-factor-models/00-pre-session/README.md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class, students read the article, download the Dataverse package, and identify this practice target: Reproduce one factor or forecast figure, then rebuild the first components and compare predictive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08-pca-and-factor-models/00-pre-session/README.md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academic article and Dataverse package are required before class. ISLR is optional background.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08-pca-and-factor-models/00-pre-session/README.md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be able to supply a concrete example of each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08-pca-and-factor-models/00-pre-session/README.md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practice target is: Reproduce one factor or forecast figure, then rebuild the first components and compare predictive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08-pca-and-factor-models/00-pre-session/README.md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reveal answers. Ask students to bring the question they could not settle.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08-pca-and-factor-models/00-pre-session/README.md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goal is readiness, not completion theatre. Invite students to bring one unresolved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08-pca-and-factor-models/00-pre-session/README.md</a:t>
            </a:r>
          </a:p>
          <a:p xmlns:a="http://schemas.openxmlformats.org/drawingml/2006/main">
            <a:r>
              <a:t>- Koopman &amp; Mesters (2017) — Empirical Bayes Methods for Dynamic Factor Models — https://doi.org/10.1162/REST_a_00614</a:t>
            </a:r>
          </a:p>
          <a:p xmlns:a="http://schemas.openxmlformats.org/drawingml/2006/main">
            <a:r>
              <a:t>- Harvard Dataverse 10.7910/DVN/NKWMQM — https://doi.org/10.7910/DVN/NKWMQM</a:t>
            </a:r>
          </a:p>
          <a:p xmlns:a="http://schemas.openxmlformats.org/drawingml/2006/main">
            <a:r>
              <a:t>- ISLR, unsupervised learning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3bf4e08e9940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5c72f45ddf44bb" /><Relationship Type="http://schemas.openxmlformats.org/officeDocument/2006/relationships/slideLayout" Target="/ppt/slideLayouts/slideLayout1.xml" Id="R4e5c4a7220c547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5c4a7220c547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9635684ac4761" /><Relationship Type="http://schemas.openxmlformats.org/officeDocument/2006/relationships/notesSlide" Target="/ppt/notesSlides/notesSlide1.xml" Id="Rfd22154006a64f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0a1f0c7924114" /><Relationship Type="http://schemas.openxmlformats.org/officeDocument/2006/relationships/notesSlide" Target="/ppt/notesSlides/notesSlide2.xml" Id="Rbc95f8e87c3744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f2daa9bad416f" /><Relationship Type="http://schemas.openxmlformats.org/officeDocument/2006/relationships/notesSlide" Target="/ppt/notesSlides/notesSlide3.xml" Id="Rd436e88c6f804c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719bccace46c9" /><Relationship Type="http://schemas.openxmlformats.org/officeDocument/2006/relationships/notesSlide" Target="/ppt/notesSlides/notesSlide4.xml" Id="Re2e600d93f7848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76c8ff95d4cad" /><Relationship Type="http://schemas.openxmlformats.org/officeDocument/2006/relationships/notesSlide" Target="/ppt/notesSlides/notesSlide5.xml" Id="R34088eabcd9d41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03620f8e64c27" /><Relationship Type="http://schemas.openxmlformats.org/officeDocument/2006/relationships/notesSlide" Target="/ppt/notesSlides/notesSlide6.xml" Id="Rec7414a1969c4d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861ce56754863" /><Relationship Type="http://schemas.openxmlformats.org/officeDocument/2006/relationships/notesSlide" Target="/ppt/notesSlides/notesSlide7.xml" Id="R6799e45ebc1b42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830A9601-F6F6-40B3-8E86-B8A4C3C5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08 · PRE-SESSION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AC4AE8A-CB9E-4F1E-B05C-B380BE4B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PCA, the SVD, and factor models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D7F19183-946C-4E1D-B7A4-33B661C1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Two hundred macro series move together. How many things are happening?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478DC88B-C51D-4D9B-8694-CF217646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BD962391-0CD2-4ABD-B718-8EF55272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cxnSp>
        <p:nvCxnSpPr>
          <p:cNvPr id="22" name="workflow-edge-0"/>
          <p:cNvCxnSpPr/>
          <p:nvPr/>
        </p:nvCxnSpPr>
        <p:spPr>
          <a:xfrm xmlns:a="http://schemas.openxmlformats.org/drawingml/2006/main">
            <a:off x="8128000" y="32289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3" name="workflow-edge-1"/>
          <p:cNvCxnSpPr/>
          <p:nvPr/>
        </p:nvCxnSpPr>
        <p:spPr>
          <a:xfrm xmlns:a="http://schemas.openxmlformats.org/drawingml/2006/main">
            <a:off x="9769475" y="32289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8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7B406F9A-4B91-4A41-AC70-32E469C2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857250"/>
            <a:ext cx="1470025" cy="4743450"/>
          </a:xfrm>
          <a:prstGeom xmlns:a="http://schemas.openxmlformats.org/drawingml/2006/main" prst="roundRect">
            <a:avLst>
              <a:gd name="adj" fmla="val 5184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9677F23F-0602-4231-9CA5-58B34499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971550"/>
            <a:ext cx="1279525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Data X</a:t>
            </a:r>
          </a:p>
        </p:txBody>
      </p:sp>
      <p:sp>
        <p:nvSpPr>
          <p:cNvPr id="10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FE70A1D0-B0CE-4B95-AA2E-A9B38905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857250"/>
            <a:ext cx="1470025" cy="4743450"/>
          </a:xfrm>
          <a:prstGeom xmlns:a="http://schemas.openxmlformats.org/drawingml/2006/main" prst="roundRect">
            <a:avLst>
              <a:gd name="adj" fmla="val 5184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4498C722-1154-4986-A6A6-74222624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0" y="971550"/>
            <a:ext cx="1279525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Directions V</a:t>
            </a:r>
          </a:p>
        </p:txBody>
      </p:sp>
      <p:sp>
        <p:nvSpPr>
          <p:cNvPr id="12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DEE7BEDA-5E59-48F6-BD16-6B1C9663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925" y="857250"/>
            <a:ext cx="1470025" cy="4743450"/>
          </a:xfrm>
          <a:prstGeom xmlns:a="http://schemas.openxmlformats.org/drawingml/2006/main" prst="roundRect">
            <a:avLst>
              <a:gd name="adj" fmla="val 5184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C5DA0DDF-DC46-4938-9789-1CAB56C0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6175" y="971550"/>
            <a:ext cx="1279525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Scores UΣ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272C390-1AC6-44DB-BEAE-BE751131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C548812-F370-4F72-8591-21412E8E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5D8613D-730D-481A-A924-B39C7A53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1</a:t>
            </a:r>
          </a:p>
        </p:txBody>
      </p:sp>
    </p:spTree>
    <p:extLst>
      <p:ext uri="{BB962C8B-B14F-4D97-AF65-F5344CB8AC3E}">
        <p14:creationId xmlns:p14="http://schemas.microsoft.com/office/powerpoint/2010/main" val="21129580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B12F4769-270A-4326-BF60-01FD6BE7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REQUIRED BEFORE CLASS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E8DD73-9D59-4C07-98D9-72B5CDCF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the article; download the package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36EAD7E-B407-4B30-8CCC-A0C0D24B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quired-label">
            <a:extLst xmlns:a="http://schemas.openxmlformats.org/drawingml/2006/main">
              <a:ext uri="{FF2B5EF4-FFF2-40B4-BE49-F238E27FC236}">
                <a16:creationId xmlns:a16="http://schemas.microsoft.com/office/drawing/2014/main" id="{921520F9-9AC0-4A4E-8626-B69A3BA5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quired-title">
            <a:extLst xmlns:a="http://schemas.openxmlformats.org/drawingml/2006/main">
              <a:ext uri="{FF2B5EF4-FFF2-40B4-BE49-F238E27FC236}">
                <a16:creationId xmlns:a16="http://schemas.microsoft.com/office/drawing/2014/main" id="{7B260D5A-9C5D-49FC-94B9-665DC319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Koopman &amp; Mesters (2017) — Empirical Bayes Methods for Dynamic Factor Models</a:t>
            </a:r>
          </a:p>
        </p:txBody>
      </p:sp>
      <p:sp>
        <p:nvSpPr>
          <p:cNvPr id="6" name="pre-required-purpose">
            <a:extLst xmlns:a="http://schemas.openxmlformats.org/drawingml/2006/main">
              <a:ext uri="{FF2B5EF4-FFF2-40B4-BE49-F238E27FC236}">
                <a16:creationId xmlns:a16="http://schemas.microsoft.com/office/drawing/2014/main" id="{305A6910-1AB6-4D07-9D9D-0C1E4D45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article: extracting and forecasting with common factors</a:t>
            </a:r>
          </a:p>
        </p:txBody>
      </p:sp>
      <p:sp>
        <p:nvSpPr>
          <p:cNvPr id="7" name="pre-required-url">
            <a:extLst xmlns:a="http://schemas.openxmlformats.org/drawingml/2006/main">
              <a:ext uri="{FF2B5EF4-FFF2-40B4-BE49-F238E27FC236}">
                <a16:creationId xmlns:a16="http://schemas.microsoft.com/office/drawing/2014/main" id="{8D490D73-9EFF-4C54-9E5F-33C85AE3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https://doi.org/10.1162/REST_a_00614</a:t>
            </a:r>
          </a:p>
        </p:txBody>
      </p:sp>
      <p:sp>
        <p:nvSpPr>
          <p:cNvPr id="8" name="pre-data-label">
            <a:extLst xmlns:a="http://schemas.openxmlformats.org/drawingml/2006/main">
              <a:ext uri="{FF2B5EF4-FFF2-40B4-BE49-F238E27FC236}">
                <a16:creationId xmlns:a16="http://schemas.microsoft.com/office/drawing/2014/main" id="{89D3288F-890B-453D-8870-09155553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9" name="pre-data-url">
            <a:extLst xmlns:a="http://schemas.openxmlformats.org/drawingml/2006/main">
              <a:ext uri="{FF2B5EF4-FFF2-40B4-BE49-F238E27FC236}">
                <a16:creationId xmlns:a16="http://schemas.microsoft.com/office/drawing/2014/main" id="{25560CAF-CDF5-4015-BD3C-23F526E1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https://doi.org/10.7910/DVN/NKWMQM</a:t>
            </a:r>
          </a:p>
        </p:txBody>
      </p:sp>
      <p:sp>
        <p:nvSpPr>
          <p:cNvPr id="10" name="pre-bring-label">
            <a:extLst xmlns:a="http://schemas.openxmlformats.org/drawingml/2006/main">
              <a:ext uri="{FF2B5EF4-FFF2-40B4-BE49-F238E27FC236}">
                <a16:creationId xmlns:a16="http://schemas.microsoft.com/office/drawing/2014/main" id="{E1DFB905-3530-4D15-9FCE-700FC901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BRING TO CLASS</a:t>
            </a:r>
          </a:p>
        </p:txBody>
      </p:sp>
      <p:sp>
        <p:nvSpPr>
          <p:cNvPr id="11" name="pre-bring-copy">
            <a:extLst xmlns:a="http://schemas.openxmlformats.org/drawingml/2006/main">
              <a:ext uri="{FF2B5EF4-FFF2-40B4-BE49-F238E27FC236}">
                <a16:creationId xmlns:a16="http://schemas.microsoft.com/office/drawing/2014/main" id="{925D8066-3C06-429B-80E3-2E3844AA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Article annotated · package extracted · target result identified</a:t>
            </a:r>
          </a:p>
        </p:txBody>
      </p:sp>
      <p:sp>
        <p:nvSpPr>
          <p:cNvPr id="12" name="pre-annotation-bg">
            <a:extLst xmlns:a="http://schemas.openxmlformats.org/drawingml/2006/main">
              <a:ext uri="{FF2B5EF4-FFF2-40B4-BE49-F238E27FC236}">
                <a16:creationId xmlns:a16="http://schemas.microsoft.com/office/drawing/2014/main" id="{3F6AB155-F548-480E-9894-67BD3E53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33550"/>
            <a:ext cx="40386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pre-annotation-title">
            <a:extLst xmlns:a="http://schemas.openxmlformats.org/drawingml/2006/main">
              <a:ext uri="{FF2B5EF4-FFF2-40B4-BE49-F238E27FC236}">
                <a16:creationId xmlns:a16="http://schemas.microsoft.com/office/drawing/2014/main" id="{0DA5AB92-D312-4713-8508-E40B4817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Annotate four things</a:t>
            </a:r>
          </a:p>
        </p:txBody>
      </p:sp>
      <p:sp>
        <p:nvSpPr>
          <p:cNvPr id="14" name="pre-annotation-num-0">
            <a:extLst xmlns:a="http://schemas.openxmlformats.org/drawingml/2006/main">
              <a:ext uri="{FF2B5EF4-FFF2-40B4-BE49-F238E27FC236}">
                <a16:creationId xmlns:a16="http://schemas.microsoft.com/office/drawing/2014/main" id="{59BDC326-2E2D-46A9-8195-5A6A5A89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0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5" name="pre-annotation-item-0">
            <a:extLst xmlns:a="http://schemas.openxmlformats.org/drawingml/2006/main">
              <a:ext uri="{FF2B5EF4-FFF2-40B4-BE49-F238E27FC236}">
                <a16:creationId xmlns:a16="http://schemas.microsoft.com/office/drawing/2014/main" id="{6CD411C2-D627-40A2-82F8-5044196B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622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research question</a:t>
            </a:r>
          </a:p>
        </p:txBody>
      </p:sp>
      <p:sp>
        <p:nvSpPr>
          <p:cNvPr id="16" name="pre-annotation-num-1">
            <a:extLst xmlns:a="http://schemas.openxmlformats.org/drawingml/2006/main">
              <a:ext uri="{FF2B5EF4-FFF2-40B4-BE49-F238E27FC236}">
                <a16:creationId xmlns:a16="http://schemas.microsoft.com/office/drawing/2014/main" id="{937E2C64-1DFD-400E-B5A8-A57A6ADA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pre-annotation-item-1">
            <a:extLst xmlns:a="http://schemas.openxmlformats.org/drawingml/2006/main">
              <a:ext uri="{FF2B5EF4-FFF2-40B4-BE49-F238E27FC236}">
                <a16:creationId xmlns:a16="http://schemas.microsoft.com/office/drawing/2014/main" id="{5AE83EDA-C752-4096-99E1-5240B0A2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method or design</a:t>
            </a:r>
          </a:p>
        </p:txBody>
      </p:sp>
      <p:sp>
        <p:nvSpPr>
          <p:cNvPr id="18" name="pre-annotation-num-2">
            <a:extLst xmlns:a="http://schemas.openxmlformats.org/drawingml/2006/main">
              <a:ext uri="{FF2B5EF4-FFF2-40B4-BE49-F238E27FC236}">
                <a16:creationId xmlns:a16="http://schemas.microsoft.com/office/drawing/2014/main" id="{92C6E008-CE5C-407B-9878-52A08250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pre-annotation-item-2">
            <a:extLst xmlns:a="http://schemas.openxmlformats.org/drawingml/2006/main">
              <a:ext uri="{FF2B5EF4-FFF2-40B4-BE49-F238E27FC236}">
                <a16:creationId xmlns:a16="http://schemas.microsoft.com/office/drawing/2014/main" id="{CFB097BF-76AB-4045-80C8-3F7AE79E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95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strongest evidence</a:t>
            </a:r>
          </a:p>
        </p:txBody>
      </p:sp>
      <p:sp>
        <p:nvSpPr>
          <p:cNvPr id="20" name="pre-annotation-num-3">
            <a:extLst xmlns:a="http://schemas.openxmlformats.org/drawingml/2006/main">
              <a:ext uri="{FF2B5EF4-FFF2-40B4-BE49-F238E27FC236}">
                <a16:creationId xmlns:a16="http://schemas.microsoft.com/office/drawing/2014/main" id="{2EB2E906-40E7-4E0A-97D2-649491F8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86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pre-annotation-item-3">
            <a:extLst xmlns:a="http://schemas.openxmlformats.org/drawingml/2006/main">
              <a:ext uri="{FF2B5EF4-FFF2-40B4-BE49-F238E27FC236}">
                <a16:creationId xmlns:a16="http://schemas.microsoft.com/office/drawing/2014/main" id="{6652968F-FA0B-4D81-BEB5-A99646BB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limitation or doubt</a:t>
            </a:r>
          </a:p>
        </p:txBody>
      </p:sp>
      <p:sp>
        <p:nvSpPr>
          <p:cNvPr id="2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2CF825D-1822-40F7-B3D4-416DEEAD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C50C205-148C-4174-BA54-584753E0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83A3E0F-8392-49F1-A333-BA98A3A4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2</a:t>
            </a:r>
          </a:p>
        </p:txBody>
      </p:sp>
    </p:spTree>
    <p:extLst>
      <p:ext uri="{BB962C8B-B14F-4D97-AF65-F5344CB8AC3E}">
        <p14:creationId xmlns:p14="http://schemas.microsoft.com/office/powerpoint/2010/main" val="9957483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3FA94DA-3F5F-42EF-8FA5-95488637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READING GUIDE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955964-E7BC-45BE-9A9D-45F41FC8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for the argument, not for coverage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1A24EC0-5ECC-4BA7-B843-EA90C636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ading-status-0">
            <a:extLst xmlns:a="http://schemas.openxmlformats.org/drawingml/2006/main">
              <a:ext uri="{FF2B5EF4-FFF2-40B4-BE49-F238E27FC236}">
                <a16:creationId xmlns:a16="http://schemas.microsoft.com/office/drawing/2014/main" id="{5922A897-8D66-470F-A76F-FA4AC242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ading-0">
            <a:extLst xmlns:a="http://schemas.openxmlformats.org/drawingml/2006/main">
              <a:ext uri="{FF2B5EF4-FFF2-40B4-BE49-F238E27FC236}">
                <a16:creationId xmlns:a16="http://schemas.microsoft.com/office/drawing/2014/main" id="{3147F5A6-794B-4107-B5D9-DCE6FB76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Koopman &amp; Mesters (2017) — Empirical Bayes Methods for Dynamic Factor Models</a:t>
            </a:r>
          </a:p>
        </p:txBody>
      </p:sp>
      <p:sp>
        <p:nvSpPr>
          <p:cNvPr id="6" name="pre-reading-why-0">
            <a:extLst xmlns:a="http://schemas.openxmlformats.org/drawingml/2006/main">
              <a:ext uri="{FF2B5EF4-FFF2-40B4-BE49-F238E27FC236}">
                <a16:creationId xmlns:a16="http://schemas.microsoft.com/office/drawing/2014/main" id="{945F9928-4E69-46F4-8551-9D490CDC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article: extracting and forecasting with common factors</a:t>
            </a:r>
          </a:p>
        </p:txBody>
      </p:sp>
      <p:sp>
        <p:nvSpPr>
          <p:cNvPr id="7" name="pre-reading-url-0">
            <a:extLst xmlns:a="http://schemas.openxmlformats.org/drawingml/2006/main">
              <a:ext uri="{FF2B5EF4-FFF2-40B4-BE49-F238E27FC236}">
                <a16:creationId xmlns:a16="http://schemas.microsoft.com/office/drawing/2014/main" id="{DF16B9AE-E219-4205-B3B5-F75888B3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https://doi.org/10.1162/REST_a_00614</a:t>
            </a:r>
          </a:p>
        </p:txBody>
      </p:sp>
      <p:sp>
        <p:nvSpPr>
          <p:cNvPr id="8" name="pre-reading-status-1">
            <a:extLst xmlns:a="http://schemas.openxmlformats.org/drawingml/2006/main">
              <a:ext uri="{FF2B5EF4-FFF2-40B4-BE49-F238E27FC236}">
                <a16:creationId xmlns:a16="http://schemas.microsoft.com/office/drawing/2014/main" id="{F0765B81-59BD-4440-985B-C6379F8A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9" name="pre-reading-1">
            <a:extLst xmlns:a="http://schemas.openxmlformats.org/drawingml/2006/main">
              <a:ext uri="{FF2B5EF4-FFF2-40B4-BE49-F238E27FC236}">
                <a16:creationId xmlns:a16="http://schemas.microsoft.com/office/drawing/2014/main" id="{317D1EA9-2FC5-4832-9408-5234CC09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Harvard Dataverse 10.7910/DVN/NKWMQM</a:t>
            </a:r>
          </a:p>
        </p:txBody>
      </p:sp>
      <p:sp>
        <p:nvSpPr>
          <p:cNvPr id="10" name="pre-reading-why-1">
            <a:extLst xmlns:a="http://schemas.openxmlformats.org/drawingml/2006/main">
              <a:ext uri="{FF2B5EF4-FFF2-40B4-BE49-F238E27FC236}">
                <a16:creationId xmlns:a16="http://schemas.microsoft.com/office/drawing/2014/main" id="{470BB84D-75F5-4F6B-A15A-52C58FF0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replication package: article data and authors' files</a:t>
            </a:r>
          </a:p>
        </p:txBody>
      </p:sp>
      <p:sp>
        <p:nvSpPr>
          <p:cNvPr id="11" name="pre-reading-url-1">
            <a:extLst xmlns:a="http://schemas.openxmlformats.org/drawingml/2006/main">
              <a:ext uri="{FF2B5EF4-FFF2-40B4-BE49-F238E27FC236}">
                <a16:creationId xmlns:a16="http://schemas.microsoft.com/office/drawing/2014/main" id="{714E0971-9F9C-4010-B949-1003D921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https://doi.org/10.7910/DVN/NKWMQM</a:t>
            </a:r>
          </a:p>
        </p:txBody>
      </p:sp>
      <p:sp>
        <p:nvSpPr>
          <p:cNvPr id="12" name="pre-reading-status-2">
            <a:extLst xmlns:a="http://schemas.openxmlformats.org/drawingml/2006/main">
              <a:ext uri="{FF2B5EF4-FFF2-40B4-BE49-F238E27FC236}">
                <a16:creationId xmlns:a16="http://schemas.microsoft.com/office/drawing/2014/main" id="{CCB68BEC-2195-4AD8-814C-541C8372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OPTIONAL · ISLR</a:t>
            </a:r>
          </a:p>
        </p:txBody>
      </p:sp>
      <p:sp>
        <p:nvSpPr>
          <p:cNvPr id="13" name="pre-reading-2">
            <a:extLst xmlns:a="http://schemas.openxmlformats.org/drawingml/2006/main">
              <a:ext uri="{FF2B5EF4-FFF2-40B4-BE49-F238E27FC236}">
                <a16:creationId xmlns:a16="http://schemas.microsoft.com/office/drawing/2014/main" id="{7F5D5F09-0EF1-4D7C-BF58-28004A62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ISLR, unsupervised learning chapter</a:t>
            </a:r>
          </a:p>
        </p:txBody>
      </p:sp>
      <p:sp>
        <p:nvSpPr>
          <p:cNvPr id="14" name="pre-reading-why-2">
            <a:extLst xmlns:a="http://schemas.openxmlformats.org/drawingml/2006/main">
              <a:ext uri="{FF2B5EF4-FFF2-40B4-BE49-F238E27FC236}">
                <a16:creationId xmlns:a16="http://schemas.microsoft.com/office/drawing/2014/main" id="{1BAF3101-5E63-476E-91C1-1ACC3003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explanation of PCA and principal components</a:t>
            </a:r>
          </a:p>
        </p:txBody>
      </p:sp>
      <p:sp>
        <p:nvSpPr>
          <p:cNvPr id="15" name="pre-reading-url-2">
            <a:extLst xmlns:a="http://schemas.openxmlformats.org/drawingml/2006/main">
              <a:ext uri="{FF2B5EF4-FFF2-40B4-BE49-F238E27FC236}">
                <a16:creationId xmlns:a16="http://schemas.microsoft.com/office/drawing/2014/main" id="{96FEFB23-D684-4F4A-AB75-86216F03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https://www.statlearning.com/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A0FE65A7-DD4F-43E1-A65F-AEC39B09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972AFF7-5E60-472D-AC02-2DFD7223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2CDB29C-B549-48F1-BE42-41EDEB6E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3</a:t>
            </a:r>
          </a:p>
        </p:txBody>
      </p:sp>
    </p:spTree>
    <p:extLst>
      <p:ext uri="{BB962C8B-B14F-4D97-AF65-F5344CB8AC3E}">
        <p14:creationId xmlns:p14="http://schemas.microsoft.com/office/powerpoint/2010/main" val="1057145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359584E9-8643-42CD-B34A-255E5833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EF42EB-2C4A-48F1-8D10-1CF2E9B2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Arrive able to use these words precisely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676E840-E754-483F-BBC8-D6DA6202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term-0">
            <a:extLst xmlns:a="http://schemas.openxmlformats.org/drawingml/2006/main">
              <a:ext uri="{FF2B5EF4-FFF2-40B4-BE49-F238E27FC236}">
                <a16:creationId xmlns:a16="http://schemas.microsoft.com/office/drawing/2014/main" id="{8758F137-BA01-4897-80FA-4E919F92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Loading</a:t>
            </a:r>
          </a:p>
        </p:txBody>
      </p:sp>
      <p:sp>
        <p:nvSpPr>
          <p:cNvPr id="5" name="pre-term-def-0">
            <a:extLst xmlns:a="http://schemas.openxmlformats.org/drawingml/2006/main">
              <a:ext uri="{FF2B5EF4-FFF2-40B4-BE49-F238E27FC236}">
                <a16:creationId xmlns:a16="http://schemas.microsoft.com/office/drawing/2014/main" id="{6FF2F851-CE90-4B65-8B17-6E032C16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1450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How strongly an original variable aligns with a component.</a:t>
            </a:r>
          </a:p>
        </p:txBody>
      </p:sp>
      <p:sp>
        <p:nvSpPr>
          <p:cNvPr id="6" name="rule-48-272">
            <a:extLst xmlns:a="http://schemas.openxmlformats.org/drawingml/2006/main">
              <a:ext uri="{FF2B5EF4-FFF2-40B4-BE49-F238E27FC236}">
                <a16:creationId xmlns:a16="http://schemas.microsoft.com/office/drawing/2014/main" id="{2445BFA9-4DC3-41C3-B49D-E738256F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e-term-1">
            <a:extLst xmlns:a="http://schemas.openxmlformats.org/drawingml/2006/main">
              <a:ext uri="{FF2B5EF4-FFF2-40B4-BE49-F238E27FC236}">
                <a16:creationId xmlns:a16="http://schemas.microsoft.com/office/drawing/2014/main" id="{3F794ED5-0419-4F29-9D47-90B2B1E6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Score</a:t>
            </a:r>
          </a:p>
        </p:txBody>
      </p:sp>
      <p:sp>
        <p:nvSpPr>
          <p:cNvPr id="8" name="pre-term-def-1">
            <a:extLst xmlns:a="http://schemas.openxmlformats.org/drawingml/2006/main">
              <a:ext uri="{FF2B5EF4-FFF2-40B4-BE49-F238E27FC236}">
                <a16:creationId xmlns:a16="http://schemas.microsoft.com/office/drawing/2014/main" id="{2B64EBB3-E0B0-43BD-B4EC-8C1A7E42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 observation's coordinate along a component.</a:t>
            </a:r>
          </a:p>
        </p:txBody>
      </p:sp>
      <p:sp>
        <p:nvSpPr>
          <p:cNvPr id="9" name="rule-48-402">
            <a:extLst xmlns:a="http://schemas.openxmlformats.org/drawingml/2006/main">
              <a:ext uri="{FF2B5EF4-FFF2-40B4-BE49-F238E27FC236}">
                <a16:creationId xmlns:a16="http://schemas.microsoft.com/office/drawing/2014/main" id="{E7F257C1-2991-4A32-90B0-802E25F3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e-term-2">
            <a:extLst xmlns:a="http://schemas.openxmlformats.org/drawingml/2006/main">
              <a:ext uri="{FF2B5EF4-FFF2-40B4-BE49-F238E27FC236}">
                <a16:creationId xmlns:a16="http://schemas.microsoft.com/office/drawing/2014/main" id="{B990596B-DC96-435F-A755-27A6F432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Explained variance</a:t>
            </a:r>
          </a:p>
        </p:txBody>
      </p:sp>
      <p:sp>
        <p:nvSpPr>
          <p:cNvPr id="11" name="pre-term-def-2">
            <a:extLst xmlns:a="http://schemas.openxmlformats.org/drawingml/2006/main">
              <a:ext uri="{FF2B5EF4-FFF2-40B4-BE49-F238E27FC236}">
                <a16:creationId xmlns:a16="http://schemas.microsoft.com/office/drawing/2014/main" id="{D8D267FF-A802-4896-8AC5-A9A0847B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9100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share of total standardised variation captured.</a:t>
            </a:r>
          </a:p>
        </p:txBody>
      </p:sp>
      <p:sp>
        <p:nvSpPr>
          <p:cNvPr id="12" name="rule-48-532">
            <a:extLst xmlns:a="http://schemas.openxmlformats.org/drawingml/2006/main">
              <a:ext uri="{FF2B5EF4-FFF2-40B4-BE49-F238E27FC236}">
                <a16:creationId xmlns:a16="http://schemas.microsoft.com/office/drawing/2014/main" id="{A8717943-923D-439F-BEC2-52878EA9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86807A7-BD0B-440A-B8A1-9E3EF2C9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82F7784-37A0-4B32-AC8F-EA169AD2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C663DBC-6E10-4659-8E5F-FCEAD903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4</a:t>
            </a:r>
          </a:p>
        </p:txBody>
      </p:sp>
    </p:spTree>
    <p:extLst>
      <p:ext uri="{BB962C8B-B14F-4D97-AF65-F5344CB8AC3E}">
        <p14:creationId xmlns:p14="http://schemas.microsoft.com/office/powerpoint/2010/main" val="13155471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E8CAE5D4-C828-44F4-A822-AB67B787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REPLICATION PACKAGE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6DC35B-261D-4048-AC3C-9EF4D1BD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 the data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75C53D98-8C59-402F-A691-C664A59F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ata-doi-label">
            <a:extLst xmlns:a="http://schemas.openxmlformats.org/drawingml/2006/main">
              <a:ext uri="{FF2B5EF4-FFF2-40B4-BE49-F238E27FC236}">
                <a16:creationId xmlns:a16="http://schemas.microsoft.com/office/drawing/2014/main" id="{44496188-C8F1-470F-8E10-F3BBA6D8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HARVARD DATAVERSE</a:t>
            </a:r>
          </a:p>
        </p:txBody>
      </p:sp>
      <p:sp>
        <p:nvSpPr>
          <p:cNvPr id="5" name="data-doi">
            <a:extLst xmlns:a="http://schemas.openxmlformats.org/drawingml/2006/main">
              <a:ext uri="{FF2B5EF4-FFF2-40B4-BE49-F238E27FC236}">
                <a16:creationId xmlns:a16="http://schemas.microsoft.com/office/drawing/2014/main" id="{24133036-A0CD-4A3C-802E-949FDFB7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10.7910/DVN/NKWMQM</a:t>
            </a:r>
          </a:p>
        </p:txBody>
      </p:sp>
      <p:sp>
        <p:nvSpPr>
          <p:cNvPr id="6" name="data-copy">
            <a:extLst xmlns:a="http://schemas.openxmlformats.org/drawingml/2006/main">
              <a:ext uri="{FF2B5EF4-FFF2-40B4-BE49-F238E27FC236}">
                <a16:creationId xmlns:a16="http://schemas.microsoft.com/office/drawing/2014/main" id="{C72213E6-0C83-452A-8A7D-3B0FC234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 and extract the public package before class; keep the original folder structure.</a:t>
            </a:r>
          </a:p>
        </p:txBody>
      </p:sp>
      <p:sp>
        <p:nvSpPr>
          <p:cNvPr id="7" name="data-path-label">
            <a:extLst xmlns:a="http://schemas.openxmlformats.org/drawingml/2006/main">
              <a:ext uri="{FF2B5EF4-FFF2-40B4-BE49-F238E27FC236}">
                <a16:creationId xmlns:a16="http://schemas.microsoft.com/office/drawing/2014/main" id="{E0F956B9-E3F2-4EB2-8AAB-754A9B1E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EXTRACT TO</a:t>
            </a:r>
          </a:p>
        </p:txBody>
      </p:sp>
      <p:sp>
        <p:nvSpPr>
          <p:cNvPr id="8" name="data-path">
            <a:extLst xmlns:a="http://schemas.openxmlformats.org/drawingml/2006/main">
              <a:ext uri="{FF2B5EF4-FFF2-40B4-BE49-F238E27FC236}">
                <a16:creationId xmlns:a16="http://schemas.microsoft.com/office/drawing/2014/main" id="{6DA9E023-B6C6-423B-AA3A-41AFAB3D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Desktop/quantitative-methods/08-pca-and-factor-models/data/replication/</a:t>
            </a:r>
          </a:p>
        </p:txBody>
      </p:sp>
      <p:cxnSp>
        <p:nvCxnSpPr>
          <p:cNvPr id="28" name="workflow-edge-0"/>
          <p:cNvCxnSpPr/>
          <p:nvPr/>
        </p:nvCxnSpPr>
        <p:spPr>
          <a:xfrm xmlns:a="http://schemas.openxmlformats.org/drawingml/2006/main">
            <a:off x="84899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9" name="workflow-edge-1"/>
          <p:cNvCxnSpPr/>
          <p:nvPr/>
        </p:nvCxnSpPr>
        <p:spPr>
          <a:xfrm xmlns:a="http://schemas.openxmlformats.org/drawingml/2006/main">
            <a:off x="99123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1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7D158033-C9C7-4C9C-814E-429F58FE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2D504B53-F935-4339-B20C-44D3FB63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</a:t>
            </a:r>
          </a:p>
        </p:txBody>
      </p:sp>
      <p:sp>
        <p:nvSpPr>
          <p:cNvPr id="13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D0BF8ED9-D3AC-4395-A054-4B0F835A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F6E856B2-EDDA-4439-9BB7-259B7E13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Extract</a:t>
            </a:r>
          </a:p>
        </p:txBody>
      </p:sp>
      <p:sp>
        <p:nvSpPr>
          <p:cNvPr id="15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69725BB2-41F7-4004-AB11-65DE0FEB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A6951BB0-0509-4719-9407-A41C1751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locally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F0F1D6D-31CF-4899-A667-7C4763B8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4E8C084-0249-485F-AF2E-A219E04D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ACDBF31-CB53-4739-8535-9239B603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5</a:t>
            </a:r>
          </a:p>
        </p:txBody>
      </p:sp>
    </p:spTree>
    <p:extLst>
      <p:ext uri="{BB962C8B-B14F-4D97-AF65-F5344CB8AC3E}">
        <p14:creationId xmlns:p14="http://schemas.microsoft.com/office/powerpoint/2010/main" val="1725647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74280BC2-FE04-4B84-B4CE-4DADF88E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SELF-CHECK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BD53C6-5017-4682-ACC5-26F0CBAC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Answer on paper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FF69011-7EFC-4742-8BAB-65C95D37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num-0">
            <a:extLst xmlns:a="http://schemas.openxmlformats.org/drawingml/2006/main">
              <a:ext uri="{FF2B5EF4-FFF2-40B4-BE49-F238E27FC236}">
                <a16:creationId xmlns:a16="http://schemas.microsoft.com/office/drawing/2014/main" id="{157B3D69-FDD0-457E-9D30-123BDE57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question-0">
            <a:extLst xmlns:a="http://schemas.openxmlformats.org/drawingml/2006/main">
              <a:ext uri="{FF2B5EF4-FFF2-40B4-BE49-F238E27FC236}">
                <a16:creationId xmlns:a16="http://schemas.microsoft.com/office/drawing/2014/main" id="{D5C1DA4E-8CC5-40D9-B622-8ED38635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standardise?</a:t>
            </a:r>
          </a:p>
        </p:txBody>
      </p:sp>
      <p:sp>
        <p:nvSpPr>
          <p:cNvPr id="6" name="rule-138-274">
            <a:extLst xmlns:a="http://schemas.openxmlformats.org/drawingml/2006/main">
              <a:ext uri="{FF2B5EF4-FFF2-40B4-BE49-F238E27FC236}">
                <a16:creationId xmlns:a16="http://schemas.microsoft.com/office/drawing/2014/main" id="{226825F7-2104-450D-8CB5-2071E02C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num-1">
            <a:extLst xmlns:a="http://schemas.openxmlformats.org/drawingml/2006/main">
              <a:ext uri="{FF2B5EF4-FFF2-40B4-BE49-F238E27FC236}">
                <a16:creationId xmlns:a16="http://schemas.microsoft.com/office/drawing/2014/main" id="{282A263F-2D0F-43A5-8F0D-BE4B75EA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408E75FF-2F11-4167-9011-EBDABCD9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can loadings flip sign?</a:t>
            </a:r>
          </a:p>
        </p:txBody>
      </p:sp>
      <p:sp>
        <p:nvSpPr>
          <p:cNvPr id="9" name="rule-138-406">
            <a:extLst xmlns:a="http://schemas.openxmlformats.org/drawingml/2006/main">
              <a:ext uri="{FF2B5EF4-FFF2-40B4-BE49-F238E27FC236}">
                <a16:creationId xmlns:a16="http://schemas.microsoft.com/office/drawing/2014/main" id="{43C28D68-8359-4934-9F5F-8155784F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671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uestion-num-2">
            <a:extLst xmlns:a="http://schemas.openxmlformats.org/drawingml/2006/main">
              <a:ext uri="{FF2B5EF4-FFF2-40B4-BE49-F238E27FC236}">
                <a16:creationId xmlns:a16="http://schemas.microsoft.com/office/drawing/2014/main" id="{76835E4E-454A-4C15-848A-C7902A9F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question-2">
            <a:extLst xmlns:a="http://schemas.openxmlformats.org/drawingml/2006/main">
              <a:ext uri="{FF2B5EF4-FFF2-40B4-BE49-F238E27FC236}">
                <a16:creationId xmlns:a16="http://schemas.microsoft.com/office/drawing/2014/main" id="{61A168B7-1F02-44FF-AB37-76396436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How is PCA different from a causal factor?</a:t>
            </a:r>
          </a:p>
        </p:txBody>
      </p:sp>
      <p:sp>
        <p:nvSpPr>
          <p:cNvPr id="12" name="rule-138-538">
            <a:extLst xmlns:a="http://schemas.openxmlformats.org/drawingml/2006/main">
              <a:ext uri="{FF2B5EF4-FFF2-40B4-BE49-F238E27FC236}">
                <a16:creationId xmlns:a16="http://schemas.microsoft.com/office/drawing/2014/main" id="{327A98E6-4BFE-4809-BF52-BBFC69CA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1890A7E-B536-4338-BBD2-8815569A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8720BC1-9027-4F4B-A2A5-EB5EC4E7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FA829E1-B2F8-4DC3-92DB-6FE2AEB8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6</a:t>
            </a:r>
          </a:p>
        </p:txBody>
      </p:sp>
    </p:spTree>
    <p:extLst>
      <p:ext uri="{BB962C8B-B14F-4D97-AF65-F5344CB8AC3E}">
        <p14:creationId xmlns:p14="http://schemas.microsoft.com/office/powerpoint/2010/main" val="9932367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ady-kicker">
            <a:extLst xmlns:a="http://schemas.openxmlformats.org/drawingml/2006/main">
              <a:ext uri="{FF2B5EF4-FFF2-40B4-BE49-F238E27FC236}">
                <a16:creationId xmlns:a16="http://schemas.microsoft.com/office/drawing/2014/main" id="{9DAA80DC-FF95-439E-BCD8-C19D8A11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PRE-SESSION · READY CHECK</a:t>
            </a:r>
          </a:p>
        </p:txBody>
      </p:sp>
      <p:sp>
        <p:nvSpPr>
          <p:cNvPr id="2" name="ready-title">
            <a:extLst xmlns:a="http://schemas.openxmlformats.org/drawingml/2006/main">
              <a:ext uri="{FF2B5EF4-FFF2-40B4-BE49-F238E27FC236}">
                <a16:creationId xmlns:a16="http://schemas.microsoft.com/office/drawing/2014/main" id="{2BEB4F42-8404-408A-BDB2-5AB44D7A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Ready for Session 08?</a:t>
            </a:r>
          </a:p>
        </p:txBody>
      </p:sp>
      <p:sp>
        <p:nvSpPr>
          <p:cNvPr id="3" name="ready-box-0">
            <a:extLst xmlns:a="http://schemas.openxmlformats.org/drawingml/2006/main">
              <a:ext uri="{FF2B5EF4-FFF2-40B4-BE49-F238E27FC236}">
                <a16:creationId xmlns:a16="http://schemas.microsoft.com/office/drawing/2014/main" id="{D215C279-3069-4D88-A428-5B5884A4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4" name="ready-item-0">
            <a:extLst xmlns:a="http://schemas.openxmlformats.org/drawingml/2006/main">
              <a:ext uri="{FF2B5EF4-FFF2-40B4-BE49-F238E27FC236}">
                <a16:creationId xmlns:a16="http://schemas.microsoft.com/office/drawing/2014/main" id="{93AD664C-CBE0-41E3-B971-CDC449C8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Article annotated</a:t>
            </a:r>
          </a:p>
        </p:txBody>
      </p:sp>
      <p:sp>
        <p:nvSpPr>
          <p:cNvPr id="5" name="ready-box-1">
            <a:extLst xmlns:a="http://schemas.openxmlformats.org/drawingml/2006/main">
              <a:ext uri="{FF2B5EF4-FFF2-40B4-BE49-F238E27FC236}">
                <a16:creationId xmlns:a16="http://schemas.microsoft.com/office/drawing/2014/main" id="{4647436F-25B8-40CF-8C6A-F61F7F0D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6" name="ready-item-1">
            <a:extLst xmlns:a="http://schemas.openxmlformats.org/drawingml/2006/main">
              <a:ext uri="{FF2B5EF4-FFF2-40B4-BE49-F238E27FC236}">
                <a16:creationId xmlns:a16="http://schemas.microsoft.com/office/drawing/2014/main" id="{0E60C74C-9564-4249-9D16-20768B1A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Dataverse package extracted</a:t>
            </a:r>
          </a:p>
        </p:txBody>
      </p:sp>
      <p:sp>
        <p:nvSpPr>
          <p:cNvPr id="7" name="ready-box-2">
            <a:extLst xmlns:a="http://schemas.openxmlformats.org/drawingml/2006/main">
              <a:ext uri="{FF2B5EF4-FFF2-40B4-BE49-F238E27FC236}">
                <a16:creationId xmlns:a16="http://schemas.microsoft.com/office/drawing/2014/main" id="{5CC058A0-F1FE-4C00-A51B-B0B6FCA5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8" name="ready-item-2">
            <a:extLst xmlns:a="http://schemas.openxmlformats.org/drawingml/2006/main">
              <a:ext uri="{FF2B5EF4-FFF2-40B4-BE49-F238E27FC236}">
                <a16:creationId xmlns:a16="http://schemas.microsoft.com/office/drawing/2014/main" id="{19395C6F-283F-4CA5-9735-F1D65E78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Target result located</a:t>
            </a:r>
          </a:p>
        </p:txBody>
      </p:sp>
      <p:sp>
        <p:nvSpPr>
          <p:cNvPr id="9" name="ready-box-3">
            <a:extLst xmlns:a="http://schemas.openxmlformats.org/drawingml/2006/main">
              <a:ext uri="{FF2B5EF4-FFF2-40B4-BE49-F238E27FC236}">
                <a16:creationId xmlns:a16="http://schemas.microsoft.com/office/drawing/2014/main" id="{571B4631-E240-4B3D-8E9D-B9B31BF9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0" name="ready-item-3">
            <a:extLst xmlns:a="http://schemas.openxmlformats.org/drawingml/2006/main">
              <a:ext uri="{FF2B5EF4-FFF2-40B4-BE49-F238E27FC236}">
                <a16:creationId xmlns:a16="http://schemas.microsoft.com/office/drawing/2014/main" id="{ED6B6C7D-B116-4029-B2F1-FB55C580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Self-check attempted</a:t>
            </a:r>
          </a:p>
        </p:txBody>
      </p:sp>
      <p:sp>
        <p:nvSpPr>
          <p:cNvPr id="11" name="ready-box-4">
            <a:extLst xmlns:a="http://schemas.openxmlformats.org/drawingml/2006/main">
              <a:ext uri="{FF2B5EF4-FFF2-40B4-BE49-F238E27FC236}">
                <a16:creationId xmlns:a16="http://schemas.microsoft.com/office/drawing/2014/main" id="{731E3C67-437C-472E-9EE9-3A5B5F05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2" name="ready-item-4">
            <a:extLst xmlns:a="http://schemas.openxmlformats.org/drawingml/2006/main">
              <a:ext uri="{FF2B5EF4-FFF2-40B4-BE49-F238E27FC236}">
                <a16:creationId xmlns:a16="http://schemas.microsoft.com/office/drawing/2014/main" id="{8F94BA2D-1C89-4E47-B650-CEB794CD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question ready</a:t>
            </a:r>
          </a:p>
        </p:txBody>
      </p:sp>
      <p:sp>
        <p:nvSpPr>
          <p:cNvPr id="13" name="ready-question">
            <a:extLst xmlns:a="http://schemas.openxmlformats.org/drawingml/2006/main">
              <a:ext uri="{FF2B5EF4-FFF2-40B4-BE49-F238E27FC236}">
                <a16:creationId xmlns:a16="http://schemas.microsoft.com/office/drawing/2014/main" id="{BB5023B1-F5AA-449E-8DA8-CEF0307B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3105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Two hundred macro series move together. How many things are happening?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D28D5FA-13A4-4451-A8D7-5E8FBEAD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A04860F-9462-4316-9267-C9EC018C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08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98DE5D8-916D-454D-919D-3178D8D8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Pre-session · 7</a:t>
            </a:r>
          </a:p>
        </p:txBody>
      </p:sp>
    </p:spTree>
    <p:extLst>
      <p:ext uri="{BB962C8B-B14F-4D97-AF65-F5344CB8AC3E}">
        <p14:creationId xmlns:p14="http://schemas.microsoft.com/office/powerpoint/2010/main" val="3595198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2026-08-23T21:43:01.0030000Z</dcterms:created>
  <dcterms:modified xsi:type="dcterms:W3CDTF">2026-08-23T21:43:01.0030000Z</dcterms:modified>
</coreProperties>
</file>