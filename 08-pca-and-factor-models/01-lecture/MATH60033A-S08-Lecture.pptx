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5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6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7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8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9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10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11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b8a90ca4a04e98" /><Relationship Type="http://schemas.openxmlformats.org/officeDocument/2006/relationships/extended-properties" Target="/docProps/app.xml" Id="Rbc157547bc024d6e" /><Relationship Type="http://schemas.openxmlformats.org/officeDocument/2006/relationships/officeDocument" Target="/ppt/presentation.xml" Id="R6bb264f873e34a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272f1fa544dda"/>
  </p:sldMasterIdLst>
  <p:notesMasterIdLst>
    <p:notesMasterId xmlns:r="http://schemas.openxmlformats.org/officeDocument/2006/relationships" r:id="R216d292312064f94"/>
  </p:notesMasterIdLst>
  <p:sldIdLst>
    <p:sldId xmlns:r="http://schemas.openxmlformats.org/officeDocument/2006/relationships" id="256" r:id="R4e6f991d9219469d"/>
    <p:sldId xmlns:r="http://schemas.openxmlformats.org/officeDocument/2006/relationships" id="257" r:id="Rf06a71a15c8f42b5"/>
    <p:sldId xmlns:r="http://schemas.openxmlformats.org/officeDocument/2006/relationships" id="258" r:id="Rd645fca41e434785"/>
    <p:sldId xmlns:r="http://schemas.openxmlformats.org/officeDocument/2006/relationships" id="259" r:id="R28a4325ff0fa4468"/>
    <p:sldId xmlns:r="http://schemas.openxmlformats.org/officeDocument/2006/relationships" id="260" r:id="Rca3df617540242bb"/>
    <p:sldId xmlns:r="http://schemas.openxmlformats.org/officeDocument/2006/relationships" id="261" r:id="R873fb9aae95543b8"/>
    <p:sldId xmlns:r="http://schemas.openxmlformats.org/officeDocument/2006/relationships" id="262" r:id="Rb0571425385d4077"/>
    <p:sldId xmlns:r="http://schemas.openxmlformats.org/officeDocument/2006/relationships" id="263" r:id="Rf54c17fe9d3d48c1"/>
    <p:sldId xmlns:r="http://schemas.openxmlformats.org/officeDocument/2006/relationships" id="264" r:id="Rd5220d1b9bf343cf"/>
    <p:sldId xmlns:r="http://schemas.openxmlformats.org/officeDocument/2006/relationships" id="265" r:id="Rd4e705bf415d4ffa"/>
    <p:sldId xmlns:r="http://schemas.openxmlformats.org/officeDocument/2006/relationships" id="266" r:id="Rf94ee674ef4a467b"/>
    <p:sldId xmlns:r="http://schemas.openxmlformats.org/officeDocument/2006/relationships" id="267" r:id="R743ae17ac7184a81"/>
    <p:sldId xmlns:r="http://schemas.openxmlformats.org/officeDocument/2006/relationships" id="268" r:id="R5779a987e42c421c"/>
    <p:sldId xmlns:r="http://schemas.openxmlformats.org/officeDocument/2006/relationships" id="269" r:id="R6061aea0fff24d45"/>
    <p:sldId xmlns:r="http://schemas.openxmlformats.org/officeDocument/2006/relationships" id="270" r:id="R221064b3870b4f31"/>
    <p:sldId xmlns:r="http://schemas.openxmlformats.org/officeDocument/2006/relationships" id="271" r:id="Rbcb7939410b443ab"/>
    <p:sldId xmlns:r="http://schemas.openxmlformats.org/officeDocument/2006/relationships" id="272" r:id="R634fad7eec90406d"/>
    <p:sldId xmlns:r="http://schemas.openxmlformats.org/officeDocument/2006/relationships" id="273" r:id="Rf2353ceab28b4928"/>
    <p:sldId xmlns:r="http://schemas.openxmlformats.org/officeDocument/2006/relationships" id="274" r:id="R72d3cd667c2e47ed"/>
    <p:sldId xmlns:r="http://schemas.openxmlformats.org/officeDocument/2006/relationships" id="275" r:id="Rb9a8eb33e4384706"/>
    <p:sldId xmlns:r="http://schemas.openxmlformats.org/officeDocument/2006/relationships" id="276" r:id="R5e171da41faf464c"/>
    <p:sldId xmlns:r="http://schemas.openxmlformats.org/officeDocument/2006/relationships" id="277" r:id="Raf18fa8c73ec49ec"/>
    <p:sldId xmlns:r="http://schemas.openxmlformats.org/officeDocument/2006/relationships" id="278" r:id="Rbf5dcf702f7e476d"/>
    <p:sldId xmlns:r="http://schemas.openxmlformats.org/officeDocument/2006/relationships" id="279" r:id="R1271dd5e89d544b1"/>
    <p:sldId xmlns:r="http://schemas.openxmlformats.org/officeDocument/2006/relationships" id="280" r:id="R7643cf0c7e844b58"/>
    <p:sldId xmlns:r="http://schemas.openxmlformats.org/officeDocument/2006/relationships" id="281" r:id="R1bf0a771e9da4fd9"/>
    <p:sldId xmlns:r="http://schemas.openxmlformats.org/officeDocument/2006/relationships" id="282" r:id="R6b764d45a6434217"/>
    <p:sldId xmlns:r="http://schemas.openxmlformats.org/officeDocument/2006/relationships" id="283" r:id="R772f9c04940d4af3"/>
    <p:sldId xmlns:r="http://schemas.openxmlformats.org/officeDocument/2006/relationships" id="284" r:id="R8291f7370c364614"/>
    <p:sldId xmlns:r="http://schemas.openxmlformats.org/officeDocument/2006/relationships" id="285" r:id="Re499d0afcba14110"/>
    <p:sldId xmlns:r="http://schemas.openxmlformats.org/officeDocument/2006/relationships" id="286" r:id="R5e258820623b4a12"/>
    <p:sldId xmlns:r="http://schemas.openxmlformats.org/officeDocument/2006/relationships" id="287" r:id="Rabd578f3b32d4196"/>
    <p:sldId xmlns:r="http://schemas.openxmlformats.org/officeDocument/2006/relationships" id="288" r:id="R5426e0d2f53842ec"/>
    <p:sldId xmlns:r="http://schemas.openxmlformats.org/officeDocument/2006/relationships" id="289" r:id="Rd32f7e705592498d"/>
    <p:sldId xmlns:r="http://schemas.openxmlformats.org/officeDocument/2006/relationships" id="290" r:id="Rbba770ad1773451f"/>
    <p:sldId xmlns:r="http://schemas.openxmlformats.org/officeDocument/2006/relationships" id="291" r:id="Rff729cbbb71746f2"/>
    <p:sldId xmlns:r="http://schemas.openxmlformats.org/officeDocument/2006/relationships" id="292" r:id="Rcd841cedbd1c451e"/>
    <p:sldId xmlns:r="http://schemas.openxmlformats.org/officeDocument/2006/relationships" id="293" r:id="Rd2718aca62544a73"/>
    <p:sldId xmlns:r="http://schemas.openxmlformats.org/officeDocument/2006/relationships" id="294" r:id="Rbadb57e544994be9"/>
    <p:sldId xmlns:r="http://schemas.openxmlformats.org/officeDocument/2006/relationships" id="295" r:id="R9252f82d58bb431b"/>
    <p:sldId xmlns:r="http://schemas.openxmlformats.org/officeDocument/2006/relationships" id="296" r:id="R2114d8aba4ca422d"/>
    <p:sldId xmlns:r="http://schemas.openxmlformats.org/officeDocument/2006/relationships" id="297" r:id="Ra9560ff4255c41f3"/>
    <p:sldId xmlns:r="http://schemas.openxmlformats.org/officeDocument/2006/relationships" id="298" r:id="R6dcaac53327b4df3"/>
    <p:sldId xmlns:r="http://schemas.openxmlformats.org/officeDocument/2006/relationships" id="299" r:id="R4be90e3c99c0416f"/>
    <p:sldId xmlns:r="http://schemas.openxmlformats.org/officeDocument/2006/relationships" id="300" r:id="Rc84ca20e82f14677"/>
    <p:sldId xmlns:r="http://schemas.openxmlformats.org/officeDocument/2006/relationships" id="301" r:id="R1e256eb63e2f4bf2"/>
    <p:sldId xmlns:r="http://schemas.openxmlformats.org/officeDocument/2006/relationships" id="302" r:id="R35a8e2e671874264"/>
    <p:sldId xmlns:r="http://schemas.openxmlformats.org/officeDocument/2006/relationships" id="303" r:id="R0f252a13db8e40e0"/>
    <p:sldId xmlns:r="http://schemas.openxmlformats.org/officeDocument/2006/relationships" id="304" r:id="R98f374679a75490f"/>
    <p:sldId xmlns:r="http://schemas.openxmlformats.org/officeDocument/2006/relationships" id="305" r:id="Re44f11004c4049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8b42fb1b294a2f" /><Relationship Type="http://schemas.openxmlformats.org/officeDocument/2006/relationships/slideMaster" Target="/ppt/slideMasters/slideMaster1.xml" Id="R1be272f1fa544dda" /><Relationship Type="http://schemas.openxmlformats.org/officeDocument/2006/relationships/notesMaster" Target="/ppt/notesMasters/notesMaster1.xml" Id="R216d292312064f94" /><Relationship Type="http://schemas.openxmlformats.org/officeDocument/2006/relationships/presProps" Target="/ppt/presProps.xml" Id="Rb7ef7a8793064fea" /><Relationship Type="http://schemas.openxmlformats.org/officeDocument/2006/relationships/tableStyles" Target="/ppt/tableStyles.xml" Id="R3ddfffd10e51415f" /><Relationship Type="http://schemas.openxmlformats.org/officeDocument/2006/relationships/slide" Target="/ppt/slides/slide1.xml" Id="R4e6f991d9219469d" /><Relationship Type="http://schemas.openxmlformats.org/officeDocument/2006/relationships/slide" Target="/ppt/slides/slide2.xml" Id="Rf06a71a15c8f42b5" /><Relationship Type="http://schemas.openxmlformats.org/officeDocument/2006/relationships/slide" Target="/ppt/slides/slide3.xml" Id="Rd645fca41e434785" /><Relationship Type="http://schemas.openxmlformats.org/officeDocument/2006/relationships/slide" Target="/ppt/slides/slide4.xml" Id="R28a4325ff0fa4468" /><Relationship Type="http://schemas.openxmlformats.org/officeDocument/2006/relationships/slide" Target="/ppt/slides/slide5.xml" Id="Rca3df617540242bb" /><Relationship Type="http://schemas.openxmlformats.org/officeDocument/2006/relationships/slide" Target="/ppt/slides/slide6.xml" Id="R873fb9aae95543b8" /><Relationship Type="http://schemas.openxmlformats.org/officeDocument/2006/relationships/slide" Target="/ppt/slides/slide7.xml" Id="Rb0571425385d4077" /><Relationship Type="http://schemas.openxmlformats.org/officeDocument/2006/relationships/slide" Target="/ppt/slides/slide8.xml" Id="Rf54c17fe9d3d48c1" /><Relationship Type="http://schemas.openxmlformats.org/officeDocument/2006/relationships/slide" Target="/ppt/slides/slide9.xml" Id="Rd5220d1b9bf343cf" /><Relationship Type="http://schemas.openxmlformats.org/officeDocument/2006/relationships/slide" Target="/ppt/slides/slide10.xml" Id="Rd4e705bf415d4ffa" /><Relationship Type="http://schemas.openxmlformats.org/officeDocument/2006/relationships/slide" Target="/ppt/slides/slide11.xml" Id="Rf94ee674ef4a467b" /><Relationship Type="http://schemas.openxmlformats.org/officeDocument/2006/relationships/slide" Target="/ppt/slides/slide12.xml" Id="R743ae17ac7184a81" /><Relationship Type="http://schemas.openxmlformats.org/officeDocument/2006/relationships/slide" Target="/ppt/slides/slide13.xml" Id="R5779a987e42c421c" /><Relationship Type="http://schemas.openxmlformats.org/officeDocument/2006/relationships/slide" Target="/ppt/slides/slide14.xml" Id="R6061aea0fff24d45" /><Relationship Type="http://schemas.openxmlformats.org/officeDocument/2006/relationships/slide" Target="/ppt/slides/slide15.xml" Id="R221064b3870b4f31" /><Relationship Type="http://schemas.openxmlformats.org/officeDocument/2006/relationships/slide" Target="/ppt/slides/slide16.xml" Id="Rbcb7939410b443ab" /><Relationship Type="http://schemas.openxmlformats.org/officeDocument/2006/relationships/slide" Target="/ppt/slides/slide17.xml" Id="R634fad7eec90406d" /><Relationship Type="http://schemas.openxmlformats.org/officeDocument/2006/relationships/slide" Target="/ppt/slides/slide18.xml" Id="Rf2353ceab28b4928" /><Relationship Type="http://schemas.openxmlformats.org/officeDocument/2006/relationships/slide" Target="/ppt/slides/slide19.xml" Id="R72d3cd667c2e47ed" /><Relationship Type="http://schemas.openxmlformats.org/officeDocument/2006/relationships/slide" Target="/ppt/slides/slide20.xml" Id="Rb9a8eb33e4384706" /><Relationship Type="http://schemas.openxmlformats.org/officeDocument/2006/relationships/slide" Target="/ppt/slides/slide21.xml" Id="R5e171da41faf464c" /><Relationship Type="http://schemas.openxmlformats.org/officeDocument/2006/relationships/slide" Target="/ppt/slides/slide22.xml" Id="Raf18fa8c73ec49ec" /><Relationship Type="http://schemas.openxmlformats.org/officeDocument/2006/relationships/slide" Target="/ppt/slides/slide23.xml" Id="Rbf5dcf702f7e476d" /><Relationship Type="http://schemas.openxmlformats.org/officeDocument/2006/relationships/slide" Target="/ppt/slides/slide24.xml" Id="R1271dd5e89d544b1" /><Relationship Type="http://schemas.openxmlformats.org/officeDocument/2006/relationships/slide" Target="/ppt/slides/slide25.xml" Id="R7643cf0c7e844b58" /><Relationship Type="http://schemas.openxmlformats.org/officeDocument/2006/relationships/slide" Target="/ppt/slides/slide26.xml" Id="R1bf0a771e9da4fd9" /><Relationship Type="http://schemas.openxmlformats.org/officeDocument/2006/relationships/slide" Target="/ppt/slides/slide27.xml" Id="R6b764d45a6434217" /><Relationship Type="http://schemas.openxmlformats.org/officeDocument/2006/relationships/slide" Target="/ppt/slides/slide28.xml" Id="R772f9c04940d4af3" /><Relationship Type="http://schemas.openxmlformats.org/officeDocument/2006/relationships/slide" Target="/ppt/slides/slide29.xml" Id="R8291f7370c364614" /><Relationship Type="http://schemas.openxmlformats.org/officeDocument/2006/relationships/slide" Target="/ppt/slides/slide30.xml" Id="Re499d0afcba14110" /><Relationship Type="http://schemas.openxmlformats.org/officeDocument/2006/relationships/slide" Target="/ppt/slides/slide31.xml" Id="R5e258820623b4a12" /><Relationship Type="http://schemas.openxmlformats.org/officeDocument/2006/relationships/slide" Target="/ppt/slides/slide32.xml" Id="Rabd578f3b32d4196" /><Relationship Type="http://schemas.openxmlformats.org/officeDocument/2006/relationships/slide" Target="/ppt/slides/slide33.xml" Id="R5426e0d2f53842ec" /><Relationship Type="http://schemas.openxmlformats.org/officeDocument/2006/relationships/slide" Target="/ppt/slides/slide34.xml" Id="Rd32f7e705592498d" /><Relationship Type="http://schemas.openxmlformats.org/officeDocument/2006/relationships/slide" Target="/ppt/slides/slide35.xml" Id="Rbba770ad1773451f" /><Relationship Type="http://schemas.openxmlformats.org/officeDocument/2006/relationships/slide" Target="/ppt/slides/slide36.xml" Id="Rff729cbbb71746f2" /><Relationship Type="http://schemas.openxmlformats.org/officeDocument/2006/relationships/slide" Target="/ppt/slides/slide37.xml" Id="Rcd841cedbd1c451e" /><Relationship Type="http://schemas.openxmlformats.org/officeDocument/2006/relationships/slide" Target="/ppt/slides/slide38.xml" Id="Rd2718aca62544a73" /><Relationship Type="http://schemas.openxmlformats.org/officeDocument/2006/relationships/slide" Target="/ppt/slides/slide39.xml" Id="Rbadb57e544994be9" /><Relationship Type="http://schemas.openxmlformats.org/officeDocument/2006/relationships/slide" Target="/ppt/slides/slide40.xml" Id="R9252f82d58bb431b" /><Relationship Type="http://schemas.openxmlformats.org/officeDocument/2006/relationships/slide" Target="/ppt/slides/slide41.xml" Id="R2114d8aba4ca422d" /><Relationship Type="http://schemas.openxmlformats.org/officeDocument/2006/relationships/slide" Target="/ppt/slides/slide42.xml" Id="Ra9560ff4255c41f3" /><Relationship Type="http://schemas.openxmlformats.org/officeDocument/2006/relationships/slide" Target="/ppt/slides/slide43.xml" Id="R6dcaac53327b4df3" /><Relationship Type="http://schemas.openxmlformats.org/officeDocument/2006/relationships/slide" Target="/ppt/slides/slide44.xml" Id="R4be90e3c99c0416f" /><Relationship Type="http://schemas.openxmlformats.org/officeDocument/2006/relationships/slide" Target="/ppt/slides/slide45.xml" Id="Rc84ca20e82f14677" /><Relationship Type="http://schemas.openxmlformats.org/officeDocument/2006/relationships/slide" Target="/ppt/slides/slide46.xml" Id="R1e256eb63e2f4bf2" /><Relationship Type="http://schemas.openxmlformats.org/officeDocument/2006/relationships/slide" Target="/ppt/slides/slide47.xml" Id="R35a8e2e671874264" /><Relationship Type="http://schemas.openxmlformats.org/officeDocument/2006/relationships/slide" Target="/ppt/slides/slide48.xml" Id="R0f252a13db8e40e0" /><Relationship Type="http://schemas.openxmlformats.org/officeDocument/2006/relationships/slide" Target="/ppt/slides/slide49.xml" Id="R98f374679a75490f" /><Relationship Type="http://schemas.openxmlformats.org/officeDocument/2006/relationships/slide" Target="/ppt/slides/slide50.xml" Id="Re44f11004c4049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da6f99a514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8d0d2ee8ec4186" /><Relationship Type="http://schemas.openxmlformats.org/officeDocument/2006/relationships/notesMaster" Target="/ppt/notesMasters/notesMaster1.xml" Id="Rf5c6c68667cb46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4f741d6554bef" /><Relationship Type="http://schemas.openxmlformats.org/officeDocument/2006/relationships/notesMaster" Target="/ppt/notesMasters/notesMaster1.xml" Id="R02a7c10d8c1641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40e7ca3e5c433d" /><Relationship Type="http://schemas.openxmlformats.org/officeDocument/2006/relationships/notesMaster" Target="/ppt/notesMasters/notesMaster1.xml" Id="Rf698ac8fc8ff46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a40679263e4c3e" /><Relationship Type="http://schemas.openxmlformats.org/officeDocument/2006/relationships/notesMaster" Target="/ppt/notesMasters/notesMaster1.xml" Id="Rd3995dfb361f44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72487832b24f60" /><Relationship Type="http://schemas.openxmlformats.org/officeDocument/2006/relationships/notesMaster" Target="/ppt/notesMasters/notesMaster1.xml" Id="R5ac02b2fcade4a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3a182887844c5f" /><Relationship Type="http://schemas.openxmlformats.org/officeDocument/2006/relationships/notesMaster" Target="/ppt/notesMasters/notesMaster1.xml" Id="R78eefa07e7734c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fee6d7f7cc4610" /><Relationship Type="http://schemas.openxmlformats.org/officeDocument/2006/relationships/notesMaster" Target="/ppt/notesMasters/notesMaster1.xml" Id="R1a4a9673bdb24f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545fe9a79f416b" /><Relationship Type="http://schemas.openxmlformats.org/officeDocument/2006/relationships/notesMaster" Target="/ppt/notesMasters/notesMaster1.xml" Id="R8d281f493f7f49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db410efe5468e" /><Relationship Type="http://schemas.openxmlformats.org/officeDocument/2006/relationships/notesMaster" Target="/ppt/notesMasters/notesMaster1.xml" Id="R97050c0737d744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0f91cf295748e2" /><Relationship Type="http://schemas.openxmlformats.org/officeDocument/2006/relationships/notesMaster" Target="/ppt/notesMasters/notesMaster1.xml" Id="Rdbd3cef5488b4f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abf9da31b2408b" /><Relationship Type="http://schemas.openxmlformats.org/officeDocument/2006/relationships/notesMaster" Target="/ppt/notesMasters/notesMaster1.xml" Id="R680a2f52326e40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8517dfa6c74594" /><Relationship Type="http://schemas.openxmlformats.org/officeDocument/2006/relationships/notesMaster" Target="/ppt/notesMasters/notesMaster1.xml" Id="R1ec55ae1864347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dd835f9a774fd3" /><Relationship Type="http://schemas.openxmlformats.org/officeDocument/2006/relationships/notesMaster" Target="/ppt/notesMasters/notesMaster1.xml" Id="R1f38f3fd0c014e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6ea3d5d1a845dd" /><Relationship Type="http://schemas.openxmlformats.org/officeDocument/2006/relationships/notesMaster" Target="/ppt/notesMasters/notesMaster1.xml" Id="R9498b0d7199040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ef71580db54147" /><Relationship Type="http://schemas.openxmlformats.org/officeDocument/2006/relationships/notesMaster" Target="/ppt/notesMasters/notesMaster1.xml" Id="R3bdefb9c757a41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39646da92b48b0" /><Relationship Type="http://schemas.openxmlformats.org/officeDocument/2006/relationships/notesMaster" Target="/ppt/notesMasters/notesMaster1.xml" Id="R0fcb6f9738b147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962a5816814886" /><Relationship Type="http://schemas.openxmlformats.org/officeDocument/2006/relationships/notesMaster" Target="/ppt/notesMasters/notesMaster1.xml" Id="R50a16fdd905b48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93c64125c14e1b" /><Relationship Type="http://schemas.openxmlformats.org/officeDocument/2006/relationships/notesMaster" Target="/ppt/notesMasters/notesMaster1.xml" Id="R4e964ed85aa241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8384ca2a464232" /><Relationship Type="http://schemas.openxmlformats.org/officeDocument/2006/relationships/notesMaster" Target="/ppt/notesMasters/notesMaster1.xml" Id="R40f33d68955d46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f6809a51da4f63" /><Relationship Type="http://schemas.openxmlformats.org/officeDocument/2006/relationships/notesMaster" Target="/ppt/notesMasters/notesMaster1.xml" Id="R35c546032ca241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bfedc9de3d49f9" /><Relationship Type="http://schemas.openxmlformats.org/officeDocument/2006/relationships/notesMaster" Target="/ppt/notesMasters/notesMaster1.xml" Id="R3c65d558c0ff4c3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87029679a8c4ef5" /><Relationship Type="http://schemas.openxmlformats.org/officeDocument/2006/relationships/notesMaster" Target="/ppt/notesMasters/notesMaster1.xml" Id="R0fa5e87ded3349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05bdb0dcf1471d" /><Relationship Type="http://schemas.openxmlformats.org/officeDocument/2006/relationships/notesMaster" Target="/ppt/notesMasters/notesMaster1.xml" Id="R97e562392ff647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9d8c0997c54686" /><Relationship Type="http://schemas.openxmlformats.org/officeDocument/2006/relationships/notesMaster" Target="/ppt/notesMasters/notesMaster1.xml" Id="Re67a33a8157b4c7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51480c4508c441c" /><Relationship Type="http://schemas.openxmlformats.org/officeDocument/2006/relationships/notesMaster" Target="/ppt/notesMasters/notesMaster1.xml" Id="Rae53277a6d4c47d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6f930ee039480a" /><Relationship Type="http://schemas.openxmlformats.org/officeDocument/2006/relationships/notesMaster" Target="/ppt/notesMasters/notesMaster1.xml" Id="Rd8269dcb834e4a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7270cfb8bfc4d42" /><Relationship Type="http://schemas.openxmlformats.org/officeDocument/2006/relationships/notesMaster" Target="/ppt/notesMasters/notesMaster1.xml" Id="R91f1bf8ec91348f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10b9f186234146" /><Relationship Type="http://schemas.openxmlformats.org/officeDocument/2006/relationships/notesMaster" Target="/ppt/notesMasters/notesMaster1.xml" Id="Rba58e1679cf147a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cf48f1548f34f5c" /><Relationship Type="http://schemas.openxmlformats.org/officeDocument/2006/relationships/notesMaster" Target="/ppt/notesMasters/notesMaster1.xml" Id="R88eacd50e85743b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682a50d1db64499" /><Relationship Type="http://schemas.openxmlformats.org/officeDocument/2006/relationships/notesMaster" Target="/ppt/notesMasters/notesMaster1.xml" Id="R7c3869f9ed34436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2e2076d238b4e0c" /><Relationship Type="http://schemas.openxmlformats.org/officeDocument/2006/relationships/notesMaster" Target="/ppt/notesMasters/notesMaster1.xml" Id="Rf1d3ae8bac1a4fc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fa60690896446bf" /><Relationship Type="http://schemas.openxmlformats.org/officeDocument/2006/relationships/notesMaster" Target="/ppt/notesMasters/notesMaster1.xml" Id="Re070d4988b7b494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6ef569d1d8b40b1" /><Relationship Type="http://schemas.openxmlformats.org/officeDocument/2006/relationships/notesMaster" Target="/ppt/notesMasters/notesMaster1.xml" Id="R825b9dd5517b465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25676a47e764a3c" /><Relationship Type="http://schemas.openxmlformats.org/officeDocument/2006/relationships/notesMaster" Target="/ppt/notesMasters/notesMaster1.xml" Id="Rf9fb5209f1f746c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30f096a9f8646b0" /><Relationship Type="http://schemas.openxmlformats.org/officeDocument/2006/relationships/notesMaster" Target="/ppt/notesMasters/notesMaster1.xml" Id="Rdd641b858b514c9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edec020c69e416c" /><Relationship Type="http://schemas.openxmlformats.org/officeDocument/2006/relationships/notesMaster" Target="/ppt/notesMasters/notesMaster1.xml" Id="R770d80bf222c4bc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735e21fa74748f6" /><Relationship Type="http://schemas.openxmlformats.org/officeDocument/2006/relationships/notesMaster" Target="/ppt/notesMasters/notesMaster1.xml" Id="Re306af135d7a42a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dfd5108268545b8" /><Relationship Type="http://schemas.openxmlformats.org/officeDocument/2006/relationships/notesMaster" Target="/ppt/notesMasters/notesMaster1.xml" Id="R954dd240a2a34ce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f5fdc46a9be4ea5" /><Relationship Type="http://schemas.openxmlformats.org/officeDocument/2006/relationships/notesMaster" Target="/ppt/notesMasters/notesMaster1.xml" Id="R27448aa4b56c45d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718615a1f1848f9" /><Relationship Type="http://schemas.openxmlformats.org/officeDocument/2006/relationships/notesMaster" Target="/ppt/notesMasters/notesMaster1.xml" Id="R5fafd5e1ad35453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e6d7157cbb34fe5" /><Relationship Type="http://schemas.openxmlformats.org/officeDocument/2006/relationships/notesMaster" Target="/ppt/notesMasters/notesMaster1.xml" Id="R0adddc2a55074bd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3faed68b44b45be" /><Relationship Type="http://schemas.openxmlformats.org/officeDocument/2006/relationships/notesMaster" Target="/ppt/notesMasters/notesMaster1.xml" Id="R2ef7cdcdac0148f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75b0fea50994a7a" /><Relationship Type="http://schemas.openxmlformats.org/officeDocument/2006/relationships/notesMaster" Target="/ppt/notesMasters/notesMaster1.xml" Id="R61d0521a8f47408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39a37abc5d645ee" /><Relationship Type="http://schemas.openxmlformats.org/officeDocument/2006/relationships/notesMaster" Target="/ppt/notesMasters/notesMaster1.xml" Id="R2bce7f0374e7495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dd845cafb37427f" /><Relationship Type="http://schemas.openxmlformats.org/officeDocument/2006/relationships/notesMaster" Target="/ppt/notesMasters/notesMaster1.xml" Id="R5ecb3fdbe5d64b9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3177258cc5b4efa" /><Relationship Type="http://schemas.openxmlformats.org/officeDocument/2006/relationships/notesMaster" Target="/ppt/notesMasters/notesMaster1.xml" Id="R2a1dbcd63a1a4d5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27a18ca06814a4b" /><Relationship Type="http://schemas.openxmlformats.org/officeDocument/2006/relationships/notesMaster" Target="/ppt/notesMasters/notesMaster1.xml" Id="Re4135015823342f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30d835e1afd4610" /><Relationship Type="http://schemas.openxmlformats.org/officeDocument/2006/relationships/notesMaster" Target="/ppt/notesMasters/notesMaster1.xml" Id="R67227675b180472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f6fe53b1be04125" /><Relationship Type="http://schemas.openxmlformats.org/officeDocument/2006/relationships/notesMaster" Target="/ppt/notesMasters/notesMaster1.xml" Id="R829a7319dd1f486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8af3e2e0dd141c7" /><Relationship Type="http://schemas.openxmlformats.org/officeDocument/2006/relationships/notesMaster" Target="/ppt/notesMasters/notesMaster1.xml" Id="Rb466e36ffe584b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session question. Ask students what kind of claim the method is designed to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route as a promise: students should always know whether a slide is defining, motivating, deriving, implementing, or challenging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cumulative course structure explicit before introducing new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use case and one misuse before showing the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Karl Pearson and connect the biography to the method—not to hero worship.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Asset: slides/course-assets/historical-portraits/pearson.png — AI-generated interpretive illustration; not an archival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What this adds.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Every session so far had a 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connection you should be looking for.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2 · PCA as maximisation.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problem.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Asset: 08-pca-and-factor-models/demo/outputs/pca_scree.png — generated by 08-pca-and-factor-models/demo/session08_pca_demo.py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Solve it: two lines of Lagrangian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Do it by hand, once.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that looks like on real series.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that looks like on real series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3 · The SVD.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software actually computes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Eckart–Young.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Asset: 08-pca-and-factor-models/demo/outputs/pca_scree.png — generated by 08-pca-and-factor-models/demo/session08_pca_demo.py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Check it on our panel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scree plot, and its elbow.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scree plot, and its elbow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Ridge damps; PCA truncates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loadings tell you what a factor is.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loadings tell you what a factor is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approximate factor model.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Asset: 08-pca-and-factor-models/demo/outputs/pca_scree.png — generated by 08-pca-and-factor-models/demo/session08_pca_demo.py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result that should surprise you.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Both effects, side by side.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Say the distinction out loud.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Normalisation is a choice, not a discovery.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5 · How many factors?.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Four answers, and they will disagree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Compute all of them and look.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Asset: 08-pca-and-factor-models/demo/outputs/pca_scree.png — generated by 08-pca-and-factor-models/demo/session08_pca_demo.py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Look at what happened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Why Bai–Ng failed here, and what to do.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6 · Diffusion-index forecasting.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Two stages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rule you must not break.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rule you must not break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Measure the leak on our panel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Asset: 08-pca-and-factor-models/demo/outputs/pca_scree.png — generated by 08-pca-and-factor-models/demo/session08_pca_demo.py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7 · Takeaways.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loses marks.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Now, the practice.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article and Dataverse package must already be available. ISLR is optional background, never the practice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sentence aloud before they see the result they will 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most fragile assumption in the article and make it the first diagnostic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 ends here. Open the separate in-class practice presentation and start the 90-minute clock.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https://warin.ca/quant/en/session8_cours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26affee2041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5fe51bfce47f2" /><Relationship Type="http://schemas.openxmlformats.org/officeDocument/2006/relationships/slideLayout" Target="/ppt/slideLayouts/slideLayout1.xml" Id="Rf3ae212598b549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e212598b549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8966415634199" /><Relationship Type="http://schemas.openxmlformats.org/officeDocument/2006/relationships/notesSlide" Target="/ppt/notesSlides/notesSlide1.xml" Id="R85fbb688ca6840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e1e6e6e2d41dc" /><Relationship Type="http://schemas.openxmlformats.org/officeDocument/2006/relationships/notesSlide" Target="/ppt/notesSlides/notesSlide2.xml" Id="R99bd1254c5434e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a1e1e94e64871" /><Relationship Type="http://schemas.openxmlformats.org/officeDocument/2006/relationships/notesSlide" Target="/ppt/notesSlides/notesSlide3.xml" Id="Rb86df299647542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96441f0eb4c32" /><Relationship Type="http://schemas.openxmlformats.org/officeDocument/2006/relationships/notesSlide" Target="/ppt/notesSlides/notesSlide4.xml" Id="Rc8f3779a11e74a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8894041ec4528" /><Relationship Type="http://schemas.openxmlformats.org/officeDocument/2006/relationships/chart" Target="/ppt/slides/charts/chart1.xml" Id="Rb19d4513b3124d6a" /><Relationship Type="http://schemas.openxmlformats.org/officeDocument/2006/relationships/image" Target="/ppt/media/image.png" Id="Reb209345ac594090" /><Relationship Type="http://schemas.openxmlformats.org/officeDocument/2006/relationships/notesSlide" Target="/ppt/notesSlides/notesSlide5.xml" Id="R0a8ef25129c640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e2576a9924418" /><Relationship Type="http://schemas.openxmlformats.org/officeDocument/2006/relationships/notesSlide" Target="/ppt/notesSlides/notesSlide6.xml" Id="R7b4e075e83024c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709619c364cba" /><Relationship Type="http://schemas.openxmlformats.org/officeDocument/2006/relationships/notesSlide" Target="/ppt/notesSlides/notesSlide7.xml" Id="Rae7c7066c54845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335570c074c85" /><Relationship Type="http://schemas.openxmlformats.org/officeDocument/2006/relationships/notesSlide" Target="/ppt/notesSlides/notesSlide8.xml" Id="R2498862b5a4b4a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7e5c774564b9f" /><Relationship Type="http://schemas.openxmlformats.org/officeDocument/2006/relationships/chart" Target="/ppt/slides/charts/chart2.xml" Id="R4f7bc3f5a61346eb" /><Relationship Type="http://schemas.openxmlformats.org/officeDocument/2006/relationships/notesSlide" Target="/ppt/notesSlides/notesSlide9.xml" Id="R9f235c5fa52c41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da950f556467c" /><Relationship Type="http://schemas.openxmlformats.org/officeDocument/2006/relationships/notesSlide" Target="/ppt/notesSlides/notesSlide10.xml" Id="R5927771fbf3143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162b042cd43cd" /><Relationship Type="http://schemas.openxmlformats.org/officeDocument/2006/relationships/chart" Target="/ppt/slides/charts/chart3.xml" Id="Ra9b7d26114604203" /><Relationship Type="http://schemas.openxmlformats.org/officeDocument/2006/relationships/image" Target="/ppt/media/image2.png" Id="R2a75cfa2edf54de3" /><Relationship Type="http://schemas.openxmlformats.org/officeDocument/2006/relationships/notesSlide" Target="/ppt/notesSlides/notesSlide11.xml" Id="Rb1e7a21ce74540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4d5cbd0bd4473" /><Relationship Type="http://schemas.openxmlformats.org/officeDocument/2006/relationships/notesSlide" Target="/ppt/notesSlides/notesSlide12.xml" Id="R3d105d191ebf4e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2c0b332e94c3b" /><Relationship Type="http://schemas.openxmlformats.org/officeDocument/2006/relationships/notesSlide" Target="/ppt/notesSlides/notesSlide13.xml" Id="R698c66ed49ac4b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93f21a7cb46ce" /><Relationship Type="http://schemas.openxmlformats.org/officeDocument/2006/relationships/notesSlide" Target="/ppt/notesSlides/notesSlide14.xml" Id="Rcc59312706e549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124cadff84857" /><Relationship Type="http://schemas.openxmlformats.org/officeDocument/2006/relationships/chart" Target="/ppt/slides/charts/chart4.xml" Id="R0bd75b6a11894c04" /><Relationship Type="http://schemas.openxmlformats.org/officeDocument/2006/relationships/notesSlide" Target="/ppt/notesSlides/notesSlide15.xml" Id="R2c3475eecb9045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fe65abb1b4c43" /><Relationship Type="http://schemas.openxmlformats.org/officeDocument/2006/relationships/notesSlide" Target="/ppt/notesSlides/notesSlide16.xml" Id="R2ce35f9d58a540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24a1e698c4d5c" /><Relationship Type="http://schemas.openxmlformats.org/officeDocument/2006/relationships/notesSlide" Target="/ppt/notesSlides/notesSlide17.xml" Id="R09a4458518c645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1d9df2d0347ad" /><Relationship Type="http://schemas.openxmlformats.org/officeDocument/2006/relationships/notesSlide" Target="/ppt/notesSlides/notesSlide18.xml" Id="R53e7bf68dd8e44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e053fa1e7453b" /><Relationship Type="http://schemas.openxmlformats.org/officeDocument/2006/relationships/chart" Target="/ppt/slides/charts/chart5.xml" Id="R61d10e3bcfe34e7d" /><Relationship Type="http://schemas.openxmlformats.org/officeDocument/2006/relationships/image" Target="/ppt/media/image3.png" Id="Re0b95205377d4a16" /><Relationship Type="http://schemas.openxmlformats.org/officeDocument/2006/relationships/notesSlide" Target="/ppt/notesSlides/notesSlide19.xml" Id="Rc734e7e3621b4e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ecf029dbb4dc3" /><Relationship Type="http://schemas.openxmlformats.org/officeDocument/2006/relationships/notesSlide" Target="/ppt/notesSlides/notesSlide20.xml" Id="R014bbdc9d7ff495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efd127a0b48e7" /><Relationship Type="http://schemas.openxmlformats.org/officeDocument/2006/relationships/notesSlide" Target="/ppt/notesSlides/notesSlide21.xml" Id="Re592d44535fc49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d1fe590354152" /><Relationship Type="http://schemas.openxmlformats.org/officeDocument/2006/relationships/chart" Target="/ppt/slides/charts/chart6.xml" Id="Rbd2654d7b4984ec8" /><Relationship Type="http://schemas.openxmlformats.org/officeDocument/2006/relationships/notesSlide" Target="/ppt/notesSlides/notesSlide22.xml" Id="R37a984d64a8a4a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8eb6185ff4d14" /><Relationship Type="http://schemas.openxmlformats.org/officeDocument/2006/relationships/notesSlide" Target="/ppt/notesSlides/notesSlide23.xml" Id="R8b084a2384a04b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6aaf6b2d743c9" /><Relationship Type="http://schemas.openxmlformats.org/officeDocument/2006/relationships/notesSlide" Target="/ppt/notesSlides/notesSlide24.xml" Id="R19a238f287954d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5a79ab6d24a4d" /><Relationship Type="http://schemas.openxmlformats.org/officeDocument/2006/relationships/notesSlide" Target="/ppt/notesSlides/notesSlide25.xml" Id="Rb0397d27fd0b4ff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9849b65e14745" /><Relationship Type="http://schemas.openxmlformats.org/officeDocument/2006/relationships/notesSlide" Target="/ppt/notesSlides/notesSlide26.xml" Id="R63384f40f23a47e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0fd19fe2d4a8a" /><Relationship Type="http://schemas.openxmlformats.org/officeDocument/2006/relationships/chart" Target="/ppt/slides/charts/chart7.xml" Id="Rbf493fbe612f4b3f" /><Relationship Type="http://schemas.openxmlformats.org/officeDocument/2006/relationships/image" Target="/ppt/media/image4.png" Id="R538b744e81584c77" /><Relationship Type="http://schemas.openxmlformats.org/officeDocument/2006/relationships/notesSlide" Target="/ppt/notesSlides/notesSlide27.xml" Id="R362976cbcfff498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4b4fee3444277" /><Relationship Type="http://schemas.openxmlformats.org/officeDocument/2006/relationships/notesSlide" Target="/ppt/notesSlides/notesSlide28.xml" Id="Rde187b8e63cc48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19dd5b5f5422f" /><Relationship Type="http://schemas.openxmlformats.org/officeDocument/2006/relationships/notesSlide" Target="/ppt/notesSlides/notesSlide29.xml" Id="Ra5396decad2043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586526eb148f5" /><Relationship Type="http://schemas.openxmlformats.org/officeDocument/2006/relationships/notesSlide" Target="/ppt/notesSlides/notesSlide30.xml" Id="Rfe4e2c8a696e4cf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fc2f99b4f4ff1" /><Relationship Type="http://schemas.openxmlformats.org/officeDocument/2006/relationships/chart" Target="/ppt/slides/charts/chart8.xml" Id="R90c8a12babb14678" /><Relationship Type="http://schemas.openxmlformats.org/officeDocument/2006/relationships/notesSlide" Target="/ppt/notesSlides/notesSlide31.xml" Id="Ree00751476de467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955b1113b4e3f" /><Relationship Type="http://schemas.openxmlformats.org/officeDocument/2006/relationships/notesSlide" Target="/ppt/notesSlides/notesSlide32.xml" Id="R06348443e912461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30bcd86b84d02" /><Relationship Type="http://schemas.openxmlformats.org/officeDocument/2006/relationships/notesSlide" Target="/ppt/notesSlides/notesSlide33.xml" Id="R7fefdd62a9c2437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a7cd196f54d86" /><Relationship Type="http://schemas.openxmlformats.org/officeDocument/2006/relationships/notesSlide" Target="/ppt/notesSlides/notesSlide34.xml" Id="R3ca92c4d2ce4468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1461e2a574933" /><Relationship Type="http://schemas.openxmlformats.org/officeDocument/2006/relationships/chart" Target="/ppt/slides/charts/chart9.xml" Id="R5440964672f4455f" /><Relationship Type="http://schemas.openxmlformats.org/officeDocument/2006/relationships/image" Target="/ppt/media/image5.png" Id="R82403a92870943a1" /><Relationship Type="http://schemas.openxmlformats.org/officeDocument/2006/relationships/notesSlide" Target="/ppt/notesSlides/notesSlide35.xml" Id="R18dc3002b51548e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1d98690c04720" /><Relationship Type="http://schemas.openxmlformats.org/officeDocument/2006/relationships/notesSlide" Target="/ppt/notesSlides/notesSlide36.xml" Id="R60ac4303591d4b8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42d1b9fa142d8" /><Relationship Type="http://schemas.openxmlformats.org/officeDocument/2006/relationships/notesSlide" Target="/ppt/notesSlides/notesSlide37.xml" Id="R5794c3dea0de435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02550a29c4993" /><Relationship Type="http://schemas.openxmlformats.org/officeDocument/2006/relationships/chart" Target="/ppt/slides/charts/chart10.xml" Id="R110b19f0ad7f4dce" /><Relationship Type="http://schemas.openxmlformats.org/officeDocument/2006/relationships/notesSlide" Target="/ppt/notesSlides/notesSlide38.xml" Id="Re747e3ed58bc486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11249b4a9452a" /><Relationship Type="http://schemas.openxmlformats.org/officeDocument/2006/relationships/notesSlide" Target="/ppt/notesSlides/notesSlide39.xml" Id="R2be426eeab7f48a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410e8703a4398" /><Relationship Type="http://schemas.openxmlformats.org/officeDocument/2006/relationships/notesSlide" Target="/ppt/notesSlides/notesSlide40.xml" Id="R7f250786f3124a8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fe0a735b94186" /><Relationship Type="http://schemas.openxmlformats.org/officeDocument/2006/relationships/notesSlide" Target="/ppt/notesSlides/notesSlide41.xml" Id="R6cb9ba05b59447a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fdbf4d0ee4237" /><Relationship Type="http://schemas.openxmlformats.org/officeDocument/2006/relationships/notesSlide" Target="/ppt/notesSlides/notesSlide42.xml" Id="R44a539ffa046499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59afb44964839" /><Relationship Type="http://schemas.openxmlformats.org/officeDocument/2006/relationships/chart" Target="/ppt/slides/charts/chart11.xml" Id="R9bd7e2efef064667" /><Relationship Type="http://schemas.openxmlformats.org/officeDocument/2006/relationships/image" Target="/ppt/media/image6.png" Id="Rc88dabe8f3f146dc" /><Relationship Type="http://schemas.openxmlformats.org/officeDocument/2006/relationships/notesSlide" Target="/ppt/notesSlides/notesSlide43.xml" Id="R3b5934ad6c484b0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d129629054718" /><Relationship Type="http://schemas.openxmlformats.org/officeDocument/2006/relationships/notesSlide" Target="/ppt/notesSlides/notesSlide44.xml" Id="Rccafaf87c5e24c1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47e2f5b494af2" /><Relationship Type="http://schemas.openxmlformats.org/officeDocument/2006/relationships/notesSlide" Target="/ppt/notesSlides/notesSlide45.xml" Id="R4ea8939c081e4b1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edfd9f0c14270" /><Relationship Type="http://schemas.openxmlformats.org/officeDocument/2006/relationships/notesSlide" Target="/ppt/notesSlides/notesSlide46.xml" Id="Rc5d6a29a10084cd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36e9f71c041ca" /><Relationship Type="http://schemas.openxmlformats.org/officeDocument/2006/relationships/notesSlide" Target="/ppt/notesSlides/notesSlide47.xml" Id="Rad776d17e2a8444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f88c217ef4bd4" /><Relationship Type="http://schemas.openxmlformats.org/officeDocument/2006/relationships/notesSlide" Target="/ppt/notesSlides/notesSlide48.xml" Id="R74369f3678b04dd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4b84ead6d4373" /><Relationship Type="http://schemas.openxmlformats.org/officeDocument/2006/relationships/notesSlide" Target="/ppt/notesSlides/notesSlide49.xml" Id="R2d4bcbe542af439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305958f0f4158" /><Relationship Type="http://schemas.openxmlformats.org/officeDocument/2006/relationships/notesSlide" Target="/ppt/notesSlides/notesSlide50.xml" Id="R8e8beed5e5eb422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28</c:v>
              </c:pt>
              <c:pt idx="2">
                <c:v>17</c:v>
              </c:pt>
              <c:pt idx="3">
                <c:v>8</c:v>
              </c:pt>
              <c:pt idx="4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87BF40F-3B0E-4F55-BEBE-EC2D7F81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08 · LECTURE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1562A83-A684-47F8-AFF2-AC1B2DB8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PCA, the SVD, and factor models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E0459FBF-2DD6-40C9-B58F-EBEB8674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Two hundred macro series move together. How many things are happening?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B268DE57-C80E-45A4-AF7C-CBB7FEB2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4F540EBF-84BA-4DFA-AC5E-276EAC8F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cxnSp>
        <p:nvCxnSpPr>
          <p:cNvPr id="36" name="workflow-edge-0"/>
          <p:cNvCxnSpPr/>
          <p:nvPr/>
        </p:nvCxnSpPr>
        <p:spPr>
          <a:xfrm xmlns:a="http://schemas.openxmlformats.org/drawingml/2006/main">
            <a:off x="8128000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7" name="workflow-edge-1"/>
          <p:cNvCxnSpPr/>
          <p:nvPr/>
        </p:nvCxnSpPr>
        <p:spPr>
          <a:xfrm xmlns:a="http://schemas.openxmlformats.org/drawingml/2006/main">
            <a:off x="9769475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C091DDE2-DA93-471B-BFA3-C6DE0B4D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619F6C1-4EC0-4981-874E-2E2C7166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 X</a:t>
            </a:r>
          </a:p>
        </p:txBody>
      </p:sp>
      <p:sp>
        <p:nvSpPr>
          <p:cNvPr id="10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8C1C873-C522-451A-89FE-F909F69B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21500AEC-D618-4D6E-9AD8-447F4E0C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Directions V</a:t>
            </a:r>
          </a:p>
        </p:txBody>
      </p:sp>
      <p:sp>
        <p:nvSpPr>
          <p:cNvPr id="12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9C7AB1EF-18E2-44D5-AB1E-8EB2B0E2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5B3C5DDA-1132-40FC-B5B6-7DFCF1AD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Scores UΣ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4922FDD-27A8-4412-A064-98202EFE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89AEB56-0FE5-4CD9-B356-ED9C5B40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21F46EB-84B5-4431-AD1E-EDE2C8C1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1/50</a:t>
            </a:r>
          </a:p>
        </p:txBody>
      </p:sp>
    </p:spTree>
    <p:extLst>
      <p:ext uri="{BB962C8B-B14F-4D97-AF65-F5344CB8AC3E}">
        <p14:creationId xmlns:p14="http://schemas.microsoft.com/office/powerpoint/2010/main" val="680260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CF42938E-586B-49F9-B39D-404DF02B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ROUTE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A32581-6CA3-4D37-AE25-03B821E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What, why, how—and what changes today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352A9FD-A5CB-493B-B9BB-EB0F819F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4ADD40D9-B891-4A37-BA31-6616047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Turn many correlated series into a small set of directions without confusing compression with causation.</a:t>
            </a:r>
          </a:p>
        </p:txBody>
      </p:sp>
      <p:cxnSp>
        <p:nvCxnSpPr>
          <p:cNvPr id="33" name="workflow-edge-0"/>
          <p:cNvCxnSpPr/>
          <p:nvPr/>
        </p:nvCxnSpPr>
        <p:spPr>
          <a:xfrm xmlns:a="http://schemas.openxmlformats.org/drawingml/2006/main">
            <a:off x="401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4" name="workflow-edge-1"/>
          <p:cNvCxnSpPr/>
          <p:nvPr/>
        </p:nvCxnSpPr>
        <p:spPr>
          <a:xfrm xmlns:a="http://schemas.openxmlformats.org/drawingml/2006/main">
            <a:off x="782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6F53168-A578-49CE-9965-E685828A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2AA4F443-B948-4FDC-82F6-8F7A84A1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object and notation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2BAF03A-373A-4BE6-A809-C0956A57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2B9F6C6-9F90-4191-ABD3-4E1A3408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problem it solves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BB2B9912-2AE2-49A8-A955-9A0F89F0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3E59554-2D10-4FF4-9975-AED7CEDD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Derive, run, interpret, challenge</a:t>
            </a:r>
          </a:p>
        </p:txBody>
      </p:sp>
      <p:sp>
        <p:nvSpPr>
          <p:cNvPr id="13" name="arc-caption">
            <a:extLst xmlns:a="http://schemas.openxmlformats.org/drawingml/2006/main">
              <a:ext uri="{FF2B5EF4-FFF2-40B4-BE49-F238E27FC236}">
                <a16:creationId xmlns:a16="http://schemas.microsoft.com/office/drawing/2014/main" id="{CD58CFFF-B2D6-4162-9B25-908C07AA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lecture ends by connecting the method to the required article and the 90-minute replication.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17EC8B2-D38F-467D-B151-2EE3E06F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DA82B6-0DC8-45BF-96F8-853F2A4B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E748E2B-2765-4985-8C87-95B9C62D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2/50</a:t>
            </a:r>
          </a:p>
        </p:txBody>
      </p:sp>
    </p:spTree>
    <p:extLst>
      <p:ext uri="{BB962C8B-B14F-4D97-AF65-F5344CB8AC3E}">
        <p14:creationId xmlns:p14="http://schemas.microsoft.com/office/powerpoint/2010/main" val="927193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A85E0F0-3B7D-4832-AC75-04F81D2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B192BE-DA79-4A20-A342-F8EA736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adds to the previous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AEBFB5-FF96-432D-948F-B137A6B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EE742DF-8BA7-48C7-AFE6-F84042DB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08EEEF00-D75D-482C-A0B8-36F9083C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Many correlated X variables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60DBEE4-409D-4A12-8299-B5580EF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306B8DA-6EF8-4FAE-96D4-4BE24B27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Rotate to common directions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ED221D66-79BA-4285-964C-537EFC2B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21A37C7-250A-4C3C-BFD3-6CD16368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Retain a small factor space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F69BB32F-4230-4DCA-A322-CDAD9CA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New capacity: Turn many correlated series into a small set of directions without confusing compression with causation.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B917F4B-6789-4AFD-920C-50A8C1E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20466D-F020-4EC9-8DF6-767AF887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20F81E-E716-4332-9192-6BFF3A9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3/50</a:t>
            </a:r>
          </a:p>
        </p:txBody>
      </p:sp>
    </p:spTree>
    <p:extLst>
      <p:ext uri="{BB962C8B-B14F-4D97-AF65-F5344CB8AC3E}">
        <p14:creationId xmlns:p14="http://schemas.microsoft.com/office/powerpoint/2010/main" val="882020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8E32E87-F45B-4839-92E8-619F3A08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2A28D1-E57A-441C-82E3-F0AF097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this method enters the course now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124080F-1386-49F8-8A8A-BC0EF4E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1885A89-412F-4338-8450-DA70CE6A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PCA compresses shared variation so high-dimensional data become visible, computable, and forecastable.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CBCC2CD-1632-428C-908D-18E9194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Used in: macro panels · survey scales · factor forecasts.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F1D01-7767-4C1E-A639-E915A7EB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 TEST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C2A61A73-A307-4B30-A0ED-F610113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decision becomes better—or more honest—after learning this method?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A64EFA7-BC29-4748-824B-6D4EFCA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9078EDB-6897-4AAF-B62A-F1C0E6D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Many series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CE11BDA-6B5C-4503-8855-6DA019DD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1A5CC14-6D32-481B-9907-90403139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Common factors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BD2F342-2AEB-49A4-B010-8EAA71E3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F0F00FA-F369-48D2-9B6A-F040885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E318AD9-49CF-40B2-8B15-B312A543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2EE406-F5B5-4CA3-929D-1277E747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0446415-2E45-42A7-9AEB-78F30C05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4/50</a:t>
            </a:r>
          </a:p>
        </p:txBody>
      </p:sp>
    </p:spTree>
    <p:extLst>
      <p:ext uri="{BB962C8B-B14F-4D97-AF65-F5344CB8AC3E}">
        <p14:creationId xmlns:p14="http://schemas.microsoft.com/office/powerpoint/2010/main" val="517426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D41D15C-10DC-4AD5-ADA7-82E275F4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HISTORICAL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AC0D5-C078-4FA9-AFCE-F440CB8A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face behind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6402A2E-26F6-43DD-AAD8-95DFAB4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9d4513b3124d6a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3A290040-7E2F-4DDE-87DC-2608EE0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Karl Pearson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7997EF2B-A7FD-4F98-8CF9-62C64DF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1857–1936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F8A3B8E7-FD43-4CBD-9484-DCA15A53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DD03706A-B5D9-478E-8C75-410DB82D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WHY THIS PERSON MATTERS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EBD683DC-106C-4DC8-A25E-958DC8A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BFAA5872-BFA2-4BD4-AB9A-D249701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Pearson’s geometric formulation of principal axes anticipated PCA as the best…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232F341D-B07D-4A07-838C-2D3F74A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4545FA0-6F2E-47B3-AB20-2F946A4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928A96-0BC0-4781-A335-E34E1A7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8909354-9C86-489F-AA36-B84EF6D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5/50</a:t>
            </a:r>
          </a:p>
        </p:txBody>
      </p:sp>
      <p:sp>
        <p:nvSpPr>
          <p:cNvPr id="17" name="media-matte-pearson.png">
            <a:extLst xmlns:a="http://schemas.openxmlformats.org/drawingml/2006/main">
              <a:ext uri="{FF2B5EF4-FFF2-40B4-BE49-F238E27FC236}">
                <a16:creationId xmlns:a16="http://schemas.microsoft.com/office/drawing/2014/main" id="{E9EEDE6E-0C45-4CBA-A000-11ED01BA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09345ac594090"/>
          <a:stretch xmlns:a="http://schemas.openxmlformats.org/drawingml/2006/main"/>
        </p:blipFill>
        <p:spPr>
          <a:xfrm xmlns:a="http://schemas.openxmlformats.org/drawingml/2006/main">
            <a:off x="3017520" y="1600200"/>
            <a:ext cx="17373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96211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8F83A2D-5FDF-434D-A512-28ABEC2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17F0D3-1BDC-4D54-9AB5-F3DACB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4649858-0BE3-4AE7-8A67-D2376B8E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F9F07199-73A5-46A7-AB6E-9C401CC6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DEF1BDBC-77EB-4487-BC20-20A6E1B0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205E189A-AE43-4906-95AA-7BC06F5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315CA1A5-A5AB-47DE-946D-F13B3D9E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6D0CB5D-6017-4A03-9CAA-99D9B927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BB359B2-7EC5-4979-BEF5-CE756416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9971C606-EA4E-446E-BD04-352D8429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11CEF17B-71B2-48B7-9174-4D97035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746F29FE-0830-430C-9CC6-6D2C77A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83B12436-138A-4E42-9F31-772A493D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Explained variance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E577E2E4-6F9E-4ED7-A7CD-2ED4A4E0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A43E8A8D-717D-4359-A0FF-B34C12D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SVD/PCA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E96EAA39-ABE8-4C23-94D9-846E9389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C262D51-14C6-4D9F-90F0-83DF2E9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3C53436-04AF-4D2E-9D4F-AC56F76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5F1B3A5-D9BB-4125-8E04-CDC59FC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6/50</a:t>
            </a:r>
          </a:p>
        </p:txBody>
      </p:sp>
    </p:spTree>
    <p:extLst>
      <p:ext uri="{BB962C8B-B14F-4D97-AF65-F5344CB8AC3E}">
        <p14:creationId xmlns:p14="http://schemas.microsoft.com/office/powerpoint/2010/main" val="11366757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BA178DF-7AC6-489D-81F8-AB74452B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BD1E3E-1B0C-4ECD-BFFF-EC95D03A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session so far had a 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BD29275-165B-4680-9926-5AD5B80C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32A3C7D2-B1D9-4D31-AFEA-84B30FCA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PC₁ = arg max_{||v||=1} Var(Xv)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D0C16E9-94ED-449C-86D5-807DD5E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All of it was supervised. There was always an outcome telling you what to look for.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89F14C5D-8D56-402F-98B3-81C374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6BEBBEC3-8488-4DAD-999A-DDA1697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All of it was supervised.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29A7FFC-413B-4B5F-B328-BB4406B7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78AE4F3-9731-433C-A85D-A0EFD2C1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EEBF584-607B-4D38-874D-7D34472D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8B797E8-1129-4C49-883F-1A5DEFE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Directions V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92BA50D0-952C-4CFC-967C-471118F0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583EF85D-881B-4445-9C97-4ABC5CE4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Scores UΣ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9D73067-5AF8-4252-9BC0-D5236381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D21098-1154-405B-B07E-C964F2F3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9DAE43B-0BE9-4433-8373-A95E2CE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7/50</a:t>
            </a:r>
          </a:p>
        </p:txBody>
      </p:sp>
    </p:spTree>
    <p:extLst>
      <p:ext uri="{BB962C8B-B14F-4D97-AF65-F5344CB8AC3E}">
        <p14:creationId xmlns:p14="http://schemas.microsoft.com/office/powerpoint/2010/main" val="1087018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A85E0F0-3B7D-4832-AC75-04F81D2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B192BE-DA79-4A20-A342-F8EA736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connection you should be looking for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AEBFB5-FF96-432D-948F-B137A6B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EE742DF-8BA7-48C7-AFE6-F84042DB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08EEEF00-D75D-482C-A0B8-36F9083C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05 shrank coefficients along the SVD basis of X, damping small-dj directions smoothly.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60DBEE4-409D-4A12-8299-B5580EF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306B8DA-6EF8-4FAE-96D4-4BE24B27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Today we truncate exactly those directions — keep the first k, discard the rest.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ED221D66-79BA-4285-964C-537EFC2B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21A37C7-250A-4C3C-BFD3-6CD16368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Principal components regression is, in this light, a hard-thresholded ridge.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F69BB32F-4230-4DCA-A322-CDAD9CA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Same…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B917F4B-6789-4AFD-920C-50A8C1E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20466D-F020-4EC9-8DF6-767AF887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20F81E-E716-4332-9192-6BFF3A9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8/50</a:t>
            </a:r>
          </a:p>
        </p:txBody>
      </p:sp>
    </p:spTree>
    <p:extLst>
      <p:ext uri="{BB962C8B-B14F-4D97-AF65-F5344CB8AC3E}">
        <p14:creationId xmlns:p14="http://schemas.microsoft.com/office/powerpoint/2010/main" val="882020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0B8477C3-8CC2-4551-94B9-8A071157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48A31C-5B53-412B-BB04-8BC7253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PCA as maximisation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02BE66-1D3C-443E-9132-D8A1D43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DFE93C2-89D1-4C2C-A8E7-726826C3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X = UΣVᵀ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8B37A4E-59BA-45BD-BAD2-15F8C62D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PCA as maximisation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A670FC54-B507-490A-8BF2-D65E6AB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6108BAA9-5C48-4411-B9BC-CF0705B7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PCA as maximisation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7bc3f5a61346eb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F63BFC-047A-43D3-A2E1-EC633717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562B235-D528-42FE-9DB7-6925C350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2CED746-5CCB-4C4C-A867-5065D0B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9/50</a:t>
            </a:r>
          </a:p>
        </p:txBody>
      </p:sp>
    </p:spTree>
    <p:extLst>
      <p:ext uri="{BB962C8B-B14F-4D97-AF65-F5344CB8AC3E}">
        <p14:creationId xmlns:p14="http://schemas.microsoft.com/office/powerpoint/2010/main" val="8804629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8E32E87-F45B-4839-92E8-619F3A08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2A28D1-E57A-441C-82E3-F0AF097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124080F-1386-49F8-8A8A-BC0EF4E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1885A89-412F-4338-8450-DA70CE6A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v_1 = argmax_|v| = 1 v^ᵀ hatSigma v, hatSigma = tfrac1n X^ᵀ X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CBCC2CD-1632-428C-908D-18E9194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Let X be n p, columns centred and standardised. Find the unit vector maximising the variance of the projection: Standardisation is not optional. Without it, whichever series is measured in the largest units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F1D01-7767-4C1E-A639-E915A7EB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C2A61A73-A307-4B30-A0ED-F610113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Let X be n p, columns centred and standardised.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A64EFA7-BC29-4748-824B-6D4EFCA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9078EDB-6897-4AAF-B62A-F1C0E6D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Many series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CE11BDA-6B5C-4503-8855-6DA019DD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1A5CC14-6D32-481B-9907-90403139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Common factors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BD2F342-2AEB-49A4-B010-8EAA71E3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F0F00FA-F369-48D2-9B6A-F040885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E318AD9-49CF-40B2-8B15-B312A543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2EE406-F5B5-4CA3-929D-1277E747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0446415-2E45-42A7-9AEB-78F30C05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10/50</a:t>
            </a:r>
          </a:p>
        </p:txBody>
      </p:sp>
    </p:spTree>
    <p:extLst>
      <p:ext uri="{BB962C8B-B14F-4D97-AF65-F5344CB8AC3E}">
        <p14:creationId xmlns:p14="http://schemas.microsoft.com/office/powerpoint/2010/main" val="517426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D41D15C-10DC-4AD5-ADA7-82E275F4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AC0D5-C078-4FA9-AFCE-F440CB8A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Solve it: two lines of Lagrangian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6402A2E-26F6-43DD-AAD8-95DFAB4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b7d26114604203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3A290040-7E2F-4DDE-87DC-2608EE0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7997EF2B-A7FD-4F98-8CF9-62C64DF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2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Longrightarrow Sigma-hat v = phi v So v must be an eigenvector of Sigma.-hat And the objective…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F8A3B8E7-FD43-4CBD-9484-DCA15A53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DD03706A-B5D9-478E-8C75-410DB82D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EBD683DC-106C-4DC8-A25E-958DC8A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BFAA5872-BFA2-4BD4-AB9A-D249701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SVD/PCA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232F341D-B07D-4A07-838C-2D3F74A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4545FA0-6F2E-47B3-AB20-2F946A4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928A96-0BC0-4781-A335-E34E1A7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8909354-9C86-489F-AA36-B84EF6D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11/50</a:t>
            </a:r>
          </a:p>
        </p:txBody>
      </p:sp>
      <p:sp>
        <p:nvSpPr>
          <p:cNvPr id="17" name="media-matte-pca_scree.png">
            <a:extLst xmlns:a="http://schemas.openxmlformats.org/drawingml/2006/main">
              <a:ext uri="{FF2B5EF4-FFF2-40B4-BE49-F238E27FC236}">
                <a16:creationId xmlns:a16="http://schemas.microsoft.com/office/drawing/2014/main" id="{135284A9-CB51-4728-9230-151C20B8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5cfa2edf54de3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962112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D1F1BFFD-09E3-4E16-8F56-57C2289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9FD4B6-9914-4E35-A77B-B529F8C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Solve it: two lines of Lagrangian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51EB396-CC94-48C2-87C4-99E58FA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80390E7-4224-4142-AE58-5437B48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C7CAF544-C2AA-4D10-90CB-A2492002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6376B6BA-EA6D-4364-A4C9-33701FC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8301C1F-DA43-43EA-89CA-A3C8F23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08-pca-and-factor-models/demo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session08_pca_demo.py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925F2AB5-987B-4CD3-B790-AD1B31EB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A3E5F7F3-CF2A-427C-827D-8286D64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sklearn.decomposition import PCA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sklearn.preprocessing import StandardScaler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np.array([[1,2,3],[2,3,5],[3,5,8],[4,6,10.]])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pca = PCA().fit(StandardScaler().fit_transform(X))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print(pca.explained_variance_ratio_)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F4F61AAE-8830-48FA-873A-46A9104D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AE246EA-3CF3-4394-AAB8-53090504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157A04-22F3-4682-A05F-6BFD09C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ACBE2-887A-4FFC-85FA-459ACDFF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12/50</a:t>
            </a:r>
          </a:p>
        </p:txBody>
      </p:sp>
    </p:spTree>
    <p:extLst>
      <p:ext uri="{BB962C8B-B14F-4D97-AF65-F5344CB8AC3E}">
        <p14:creationId xmlns:p14="http://schemas.microsoft.com/office/powerpoint/2010/main" val="536998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BA178DF-7AC6-489D-81F8-AB74452B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BD1E3E-1B0C-4ECD-BFFF-EC95D03A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 it by hand, once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BD29275-165B-4680-9926-5AD5B80C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32A3C7D2-B1D9-4D31-AFEA-84B30FCA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hatSigma = 2 1 1 2 Longrightarrow phi_1 = 3, v_1 = tfrac1sqrt2binom11; phi_2 = 1, v_2 = tfrac1sqrt2binom1-1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D0C16E9-94ED-449C-86D5-807DD5E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Longrightarrow phi1 = 3, v1 = tfrac1sqrt2binom11; phi2 = 1, v2 = tfrac1sqrt2binom1-1 First component explains 3/(3+1) = 75% of the variance. Its loading is (1,1): the average of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89F14C5D-8D56-402F-98B3-81C374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6BEBBEC3-8488-4DAD-999A-DDA1697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Longrightarrow phi1 = 3, v1 = tfrac1sqrt2binom11; phi2 = 1, v2 = tfrac1sqrt2binom1-1 First…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29A7FFC-413B-4B5F-B328-BB4406B7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78AE4F3-9731-433C-A85D-A0EFD2C1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EEBF584-607B-4D38-874D-7D34472D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8B797E8-1129-4C49-883F-1A5DEFE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Directions V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92BA50D0-952C-4CFC-967C-471118F0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583EF85D-881B-4445-9C97-4ABC5CE4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Scores UΣ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9D73067-5AF8-4252-9BC0-D5236381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D21098-1154-405B-B07E-C964F2F3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9DAE43B-0BE9-4433-8373-A95E2CE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13/50</a:t>
            </a:r>
          </a:p>
        </p:txBody>
      </p:sp>
    </p:spTree>
    <p:extLst>
      <p:ext uri="{BB962C8B-B14F-4D97-AF65-F5344CB8AC3E}">
        <p14:creationId xmlns:p14="http://schemas.microsoft.com/office/powerpoint/2010/main" val="10870184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648500F-E1BD-4F18-9EC3-BBB2347F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7C0A30-E62B-48D1-893E-A3C2FB0D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that looks like on real series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92335C6-D581-46EC-B257-AAC2FB59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39E99955-E90F-4DD7-B7F4-03A6FCC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pair = ["elecpriceeurkwh", "elecpriceincltax"] A = Zdf[pair].tonumpy() w, v = np.linalg.eigh(np.cov(A.T))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17E5E1A0-C73B-4BDE-A8C8-568D24F7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722E6B49-CEDF-47D3-A57E-5777344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pair = ["elecpriceeurkwh", "elecpriceincltax"] A = Zdf[pair].tonumpy() w, v =…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62FC46B-F158-4BAD-871E-FD6E5DD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7AFB65F6-0620-4933-914E-30432128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6056CB73-2CC0-444B-93E2-A8CE0FA1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pair = ["elecpriceeurkwh", "elecpriceincltax"] A = Zdf[pair].tonumpy() w, v = np.linalg.eigh(np.cov(A.T))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C6212FB6-BAFF-4AC0-BBA3-DB35A35A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3CAE6FD3-3FD6-40A1-98B0-765FFA94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6FF0E6AD-1827-4BB2-B217-2F2A0376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36615529-417D-40A2-B594-D5F3D1D8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82E8061D-4A4B-4824-B202-85C64964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7D1FB8E1-8D6F-4C43-B7C3-8880856C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SVD/PCA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81ACDF13-F359-43DA-A525-3BE7FB5D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8249A20-8FEF-4B9A-BABD-1407052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EF6D8F-45E1-4917-A945-4C84C12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BD7B51-EA10-45E2-AB62-14037976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14/50</a:t>
            </a:r>
          </a:p>
        </p:txBody>
      </p:sp>
    </p:spTree>
    <p:extLst>
      <p:ext uri="{BB962C8B-B14F-4D97-AF65-F5344CB8AC3E}">
        <p14:creationId xmlns:p14="http://schemas.microsoft.com/office/powerpoint/2010/main" val="17964611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0B8477C3-8CC2-4551-94B9-8A071157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48A31C-5B53-412B-BB04-8BC7253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that looks like on real series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02BE66-1D3C-443E-9132-D8A1D43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DFE93C2-89D1-4C2C-A8E7-726826C3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X = UΣVᵀ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8B37A4E-59BA-45BD-BAD2-15F8C62D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pair = ["elecpriceeurkwh", "elecpriceincltax"] A = Zdf[pair].tonumpy() w, v = np.linalg.eigh(np.cov(A.T))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A670FC54-B507-490A-8BF2-D65E6AB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6108BAA9-5C48-4411-B9BC-CF0705B7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pair = ["elecpriceeurkwh", "elecpriceincltax"] A = Zdf[pair].tonumpy() w, v =…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d75b6a11894c04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F63BFC-047A-43D3-A2E1-EC633717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562B235-D528-42FE-9DB7-6925C350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2CED746-5CCB-4C4C-A867-5065D0B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15/50</a:t>
            </a:r>
          </a:p>
        </p:txBody>
      </p:sp>
    </p:spTree>
    <p:extLst>
      <p:ext uri="{BB962C8B-B14F-4D97-AF65-F5344CB8AC3E}">
        <p14:creationId xmlns:p14="http://schemas.microsoft.com/office/powerpoint/2010/main" val="8804629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8F83A2D-5FDF-434D-A512-28ABEC2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17F0D3-1BDC-4D54-9AB5-F3DACB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The SVD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4649858-0BE3-4AE7-8A67-D2376B8E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F9F07199-73A5-46A7-AB6E-9C401CC6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DEF1BDBC-77EB-4487-BC20-20A6E1B0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The SVD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205E189A-AE43-4906-95AA-7BC06F5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315CA1A5-A5AB-47DE-946D-F13B3D9E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The SVD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6D0CB5D-6017-4A03-9CAA-99D9B927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BB359B2-7EC5-4979-BEF5-CE756416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Explained variance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9971C606-EA4E-446E-BD04-352D8429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11CEF17B-71B2-48B7-9174-4D97035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746F29FE-0830-430C-9CC6-6D2C77A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83B12436-138A-4E42-9F31-772A493D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Loading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E577E2E4-6F9E-4ED7-A7CD-2ED4A4E0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A43E8A8D-717D-4359-A0FF-B34C12D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SVD/PCA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E96EAA39-ABE8-4C23-94D9-846E9389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C262D51-14C6-4D9F-90F0-83DF2E9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3C53436-04AF-4D2E-9D4F-AC56F76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5F1B3A5-D9BB-4125-8E04-CDC59FC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16/50</a:t>
            </a:r>
          </a:p>
        </p:txBody>
      </p:sp>
    </p:spTree>
    <p:extLst>
      <p:ext uri="{BB962C8B-B14F-4D97-AF65-F5344CB8AC3E}">
        <p14:creationId xmlns:p14="http://schemas.microsoft.com/office/powerpoint/2010/main" val="11366757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8E32E87-F45B-4839-92E8-619F3A08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2A28D1-E57A-441C-82E3-F0AF097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software actually computes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124080F-1386-49F8-8A8A-BC0EF4E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1885A89-412F-4338-8450-DA70CE6A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5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hatSigma = tfrac1n V D² V^ᵀ, V_loadings, Z = XV = UD_scores, underbrace(d_j²)/(Σ_k d_k²)_variance share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CBCC2CD-1632-428C-908D-18E9194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X = UDV^ᵀ: Z = XV = UDscores, underbracefracdj^2sumk dk^2variance share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F1D01-7767-4C1E-A639-E915A7EB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C2A61A73-A307-4B30-A0ED-F610113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X = UDV^ᵀ: Z = XV = UDscores, underbracefracdj^2sumk dk^2variance share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A64EFA7-BC29-4748-824B-6D4EFCA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9078EDB-6897-4AAF-B62A-F1C0E6D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Many series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CE11BDA-6B5C-4503-8855-6DA019DD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1A5CC14-6D32-481B-9907-90403139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Common factors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BD2F342-2AEB-49A4-B010-8EAA71E3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F0F00FA-F369-48D2-9B6A-F040885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E318AD9-49CF-40B2-8B15-B312A543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2EE406-F5B5-4CA3-929D-1277E747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0446415-2E45-42A7-9AEB-78F30C05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17/50</a:t>
            </a:r>
          </a:p>
        </p:txBody>
      </p:sp>
    </p:spTree>
    <p:extLst>
      <p:ext uri="{BB962C8B-B14F-4D97-AF65-F5344CB8AC3E}">
        <p14:creationId xmlns:p14="http://schemas.microsoft.com/office/powerpoint/2010/main" val="5174261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A85E0F0-3B7D-4832-AC75-04F81D2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B192BE-DA79-4A20-A342-F8EA736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Eckart–Young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AEBFB5-FF96-432D-948F-B137A6B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EE742DF-8BA7-48C7-AFE6-F84042DB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08EEEF00-D75D-482C-A0B8-36F9083C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truncated SVD tilde Xk = Uk Dk Vk^ᵀ, and This is the precise sense in which "the first k…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60DBEE4-409D-4A12-8299-B5580EF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306B8DA-6EF8-4FAE-96D4-4BE24B27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it tells you exactly what you lost: the discarded singular values.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ED221D66-79BA-4285-964C-537EFC2B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21A37C7-250A-4C3C-BFD3-6CD16368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truncated SVD tilde Xk = Uk Dk Vk^ᵀ, and This is the precise sense in which "the first k components…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F69BB32F-4230-4DCA-A322-CDAD9CA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B917F4B-6789-4AFD-920C-50A8C1E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20466D-F020-4EC9-8DF6-767AF887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20F81E-E716-4332-9192-6BFF3A9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18/50</a:t>
            </a:r>
          </a:p>
        </p:txBody>
      </p:sp>
    </p:spTree>
    <p:extLst>
      <p:ext uri="{BB962C8B-B14F-4D97-AF65-F5344CB8AC3E}">
        <p14:creationId xmlns:p14="http://schemas.microsoft.com/office/powerpoint/2010/main" val="8820208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D41D15C-10DC-4AD5-ADA7-82E275F4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AC0D5-C078-4FA9-AFCE-F440CB8A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Eckart–Young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6402A2E-26F6-43DD-AAD8-95DFAB4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d10e3bcfe34e7d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3A290040-7E2F-4DDE-87DC-2608EE0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7997EF2B-A7FD-4F98-8CF9-62C64DF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truncated SVD tilde Xk = Uk Dk Vk^ᵀ, and This is the precise sense in which "the first k…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F8A3B8E7-FD43-4CBD-9484-DCA15A53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DD03706A-B5D9-478E-8C75-410DB82D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it tells you exactly what you lost: the discarded singular values.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EBD683DC-106C-4DC8-A25E-958DC8A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BFAA5872-BFA2-4BD4-AB9A-D249701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truncated SVD tilde Xk = Uk Dk Vk^ᵀ, and This is the precise sense in which "the first k components…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232F341D-B07D-4A07-838C-2D3F74A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4545FA0-6F2E-47B3-AB20-2F946A4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928A96-0BC0-4781-A335-E34E1A7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8909354-9C86-489F-AA36-B84EF6D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19/50</a:t>
            </a:r>
          </a:p>
        </p:txBody>
      </p:sp>
      <p:sp>
        <p:nvSpPr>
          <p:cNvPr id="17" name="media-matte-pca_scree.png">
            <a:extLst xmlns:a="http://schemas.openxmlformats.org/drawingml/2006/main">
              <a:ext uri="{FF2B5EF4-FFF2-40B4-BE49-F238E27FC236}">
                <a16:creationId xmlns:a16="http://schemas.microsoft.com/office/drawing/2014/main" id="{D110ADFF-982B-4476-B4F3-B3FFB207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95205377d4a16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962112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D1F1BFFD-09E3-4E16-8F56-57C2289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9FD4B6-9914-4E35-A77B-B529F8C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Check it on our panel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51EB396-CC94-48C2-87C4-99E58FA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80390E7-4224-4142-AE58-5437B48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C7CAF544-C2AA-4D10-90CB-A2492002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6376B6BA-EA6D-4364-A4C9-33701FC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8301C1F-DA43-43EA-89CA-A3C8F23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08-pca-and-factor-models/demo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session08_pca_demo.py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925F2AB5-987B-4CD3-B790-AD1B31EB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A3E5F7F3-CF2A-427C-827D-8286D64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#| echo: true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reconstruct(k):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"""The rank-k truncated SVD of the standardised panel."""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(U[:, :k] * D[:k]) @ Vt[:k]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k in (1, 2, 3, 5):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actual = np.linalg.norm(Z - reconstruct(k))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theory = np.sqrt((D[k:]**2).sum())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print(f"k={k}:  ||X - Xk||_F = {actual:7.3f}   sqrt(sum d_j^2, j&gt;k) = {theory:7.3f}")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F4F61AAE-8830-48FA-873A-46A9104D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AE246EA-3CF3-4394-AAB8-53090504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157A04-22F3-4682-A05F-6BFD09C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ACBE2-887A-4FFC-85FA-459ACDFF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20/50</a:t>
            </a:r>
          </a:p>
        </p:txBody>
      </p:sp>
    </p:spTree>
    <p:extLst>
      <p:ext uri="{BB962C8B-B14F-4D97-AF65-F5344CB8AC3E}">
        <p14:creationId xmlns:p14="http://schemas.microsoft.com/office/powerpoint/2010/main" val="5369982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BA178DF-7AC6-489D-81F8-AB74452B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BD1E3E-1B0C-4ECD-BFFF-EC95D03A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scree plot, and its elbow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BD29275-165B-4680-9926-5AD5B80C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32A3C7D2-B1D9-4D31-AFEA-84B30FCA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X = UΣVᵀ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D0C16E9-94ED-449C-86D5-807DD5E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kk = np.arange(1, min(11, len(VAR) + 1)) ax.bar(kk, VAR[:len(kk)] 100, color=[CL.accent if i &lt; 3 else CL.muted for i in range(len(kk))],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89F14C5D-8D56-402F-98B3-81C374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6BEBBEC3-8488-4DAD-999A-DDA1697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kk = np.arange(1, min(11, len(VAR) + 1))…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29A7FFC-413B-4B5F-B328-BB4406B7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78AE4F3-9731-433C-A85D-A0EFD2C1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EEBF584-607B-4D38-874D-7D34472D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8B797E8-1129-4C49-883F-1A5DEFE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Directions V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92BA50D0-952C-4CFC-967C-471118F0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583EF85D-881B-4445-9C97-4ABC5CE4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Scores UΣ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9D73067-5AF8-4252-9BC0-D5236381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D21098-1154-405B-B07E-C964F2F3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9DAE43B-0BE9-4433-8373-A95E2CE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21/50</a:t>
            </a:r>
          </a:p>
        </p:txBody>
      </p:sp>
    </p:spTree>
    <p:extLst>
      <p:ext uri="{BB962C8B-B14F-4D97-AF65-F5344CB8AC3E}">
        <p14:creationId xmlns:p14="http://schemas.microsoft.com/office/powerpoint/2010/main" val="10870184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0B8477C3-8CC2-4551-94B9-8A071157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48A31C-5B53-412B-BB04-8BC7253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scree plot, and its elbow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02BE66-1D3C-443E-9132-D8A1D43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DFE93C2-89D1-4C2C-A8E7-726826C3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PC₁ = arg max_{||v||=1} Var(Xv)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8B37A4E-59BA-45BD-BAD2-15F8C62D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kk = np.arange(1, min(11, len(VAR) + 1)) ax.bar(kk, VAR[:len(kk)] 100, color=[CL.accent if i &lt; 3 else CL.muted for i in range(len(kk))],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A670FC54-B507-490A-8BF2-D65E6AB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6108BAA9-5C48-4411-B9BC-CF0705B7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kk = np.arange(1, min(11, len(VAR) + 1))…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2654d7b4984ec8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F63BFC-047A-43D3-A2E1-EC633717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562B235-D528-42FE-9DB7-6925C350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2CED746-5CCB-4C4C-A867-5065D0B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22/50</a:t>
            </a:r>
          </a:p>
        </p:txBody>
      </p:sp>
    </p:spTree>
    <p:extLst>
      <p:ext uri="{BB962C8B-B14F-4D97-AF65-F5344CB8AC3E}">
        <p14:creationId xmlns:p14="http://schemas.microsoft.com/office/powerpoint/2010/main" val="8804629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8E32E87-F45B-4839-92E8-619F3A08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2A28D1-E57A-441C-82E3-F0AF097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Ridge damps; PCA truncates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124080F-1386-49F8-8A8A-BC0EF4E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1885A89-412F-4338-8450-DA70CE6A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X_t = ΛF_t + e_t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CBCC2CD-1632-428C-908D-18E9194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plt.subplots(figsize=(6.4, 2.9)) dj = np.linspace(0.05, 4.0, 400) ax.plot(dj, dj2 / (dj2 + LAM), color=CL.accent, lw=2.6, label=r"ridge: dj^2/(dj^2+λ)")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F1D01-7767-4C1E-A639-E915A7EB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C2A61A73-A307-4B30-A0ED-F610113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plt.subplots(figsize=(6.4, 2.9)) dj = np.linspace(0.05, 4.0, 400) ax.plot(dj, dj2 / (dj2…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A64EFA7-BC29-4748-824B-6D4EFCA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9078EDB-6897-4AAF-B62A-F1C0E6D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Many series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CE11BDA-6B5C-4503-8855-6DA019DD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1A5CC14-6D32-481B-9907-90403139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Common factors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BD2F342-2AEB-49A4-B010-8EAA71E3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F0F00FA-F369-48D2-9B6A-F040885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E318AD9-49CF-40B2-8B15-B312A543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2EE406-F5B5-4CA3-929D-1277E747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0446415-2E45-42A7-9AEB-78F30C05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23/50</a:t>
            </a:r>
          </a:p>
        </p:txBody>
      </p:sp>
    </p:spTree>
    <p:extLst>
      <p:ext uri="{BB962C8B-B14F-4D97-AF65-F5344CB8AC3E}">
        <p14:creationId xmlns:p14="http://schemas.microsoft.com/office/powerpoint/2010/main" val="5174261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8FFD88A7-06E9-4ABE-927B-CA759C6A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29D6CAEE-1A7E-4940-8104-ED7A8966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loadings tell you what a factor is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7EA7E62C-8DA1-4DDC-83F5-AB211D4C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0AD1EDF7-20E6-4C37-878B-772280D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3F6F28B4-1A5B-494A-8DF9-C142C537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5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component can be stable mathematically but impossible to name economically without examining its loadings.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B00B2195-FEC5-4B07-B0CC-AEF4676E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FA5C4357-0B72-4832-B9A0-C9D973FB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Missing data are handled before decomposition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8008BB5-3B38-4F9A-BD73-3E29A168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BE2A70B-F26C-49D7-AA0B-542D4595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F5175D-88AD-45B2-BF77-AD23380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24/50</a:t>
            </a:r>
          </a:p>
        </p:txBody>
      </p:sp>
    </p:spTree>
    <p:extLst>
      <p:ext uri="{BB962C8B-B14F-4D97-AF65-F5344CB8AC3E}">
        <p14:creationId xmlns:p14="http://schemas.microsoft.com/office/powerpoint/2010/main" val="20500727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8F83A2D-5FDF-434D-A512-28ABEC2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17F0D3-1BDC-4D54-9AB5-F3DACB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loadings tell you what a factor is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4649858-0BE3-4AE7-8A67-D2376B8E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F9F07199-73A5-46A7-AB6E-9C401CC6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DEF1BDBC-77EB-4487-BC20-20A6E1B0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loadings tell you…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205E189A-AE43-4906-95AA-7BC06F5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315CA1A5-A5AB-47DE-946D-F13B3D9E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 = pd.DataFrame(Vt[:K].T, index=IND, columns=[f"PCi+1" for i in range(K)]) fig, ax =…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6D0CB5D-6017-4A03-9CAA-99D9B927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BB359B2-7EC5-4979-BEF5-CE756416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Explained variance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9971C606-EA4E-446E-BD04-352D8429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11CEF17B-71B2-48B7-9174-4D97035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746F29FE-0830-430C-9CC6-6D2C77A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83B12436-138A-4E42-9F31-772A493D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Loading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E577E2E4-6F9E-4ED7-A7CD-2ED4A4E0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A43E8A8D-717D-4359-A0FF-B34C12D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SVD/PCA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E96EAA39-ABE8-4C23-94D9-846E9389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C262D51-14C6-4D9F-90F0-83DF2E9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3C53436-04AF-4D2E-9D4F-AC56F76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5F1B3A5-D9BB-4125-8E04-CDC59FC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25/50</a:t>
            </a:r>
          </a:p>
        </p:txBody>
      </p:sp>
    </p:spTree>
    <p:extLst>
      <p:ext uri="{BB962C8B-B14F-4D97-AF65-F5344CB8AC3E}">
        <p14:creationId xmlns:p14="http://schemas.microsoft.com/office/powerpoint/2010/main" val="11366757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A85E0F0-3B7D-4832-AC75-04F81D2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B192BE-DA79-4A20-A342-F8EA736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approximate factor model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AEBFB5-FF96-432D-948F-B137A6B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EE742DF-8BA7-48C7-AFE6-F84042DB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08EEEF00-D75D-482C-A0B8-36F9083C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Stock and Watson: a large macro panel is a few common shocks plus idiosyncratic noise.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60DBEE4-409D-4A12-8299-B5580EF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306B8DA-6EF8-4FAE-96D4-4BE24B27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Ft in mathbbR^r are the common factors; λi the loadings.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ED221D66-79BA-4285-964C-537EFC2B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21A37C7-250A-4C3C-BFD3-6CD16368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approximate version (Chamberlain–Rothschild) allows weak cross-sectional and serial…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F69BB32F-4230-4DCA-A322-CDAD9CA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approximate version (Chamberlain–Rothschild) allows weak cross-sectional and serial correlation in…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B917F4B-6789-4AFD-920C-50A8C1E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20466D-F020-4EC9-8DF6-767AF887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20F81E-E716-4332-9192-6BFF3A9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26/50</a:t>
            </a:r>
          </a:p>
        </p:txBody>
      </p:sp>
    </p:spTree>
    <p:extLst>
      <p:ext uri="{BB962C8B-B14F-4D97-AF65-F5344CB8AC3E}">
        <p14:creationId xmlns:p14="http://schemas.microsoft.com/office/powerpoint/2010/main" val="8820208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D41D15C-10DC-4AD5-ADA7-82E275F4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AC0D5-C078-4FA9-AFCE-F440CB8A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approximate factor model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6402A2E-26F6-43DD-AAD8-95DFAB4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493fbe612f4b3f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3A290040-7E2F-4DDE-87DC-2608EE0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7997EF2B-A7FD-4F98-8CF9-62C64DF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Stock and Watson: a large macro panel is a few common shocks plus idiosyncratic noise.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F8A3B8E7-FD43-4CBD-9484-DCA15A53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DD03706A-B5D9-478E-8C75-410DB82D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Ft in mathbbR^r are the common factors; λi the loadings.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EBD683DC-106C-4DC8-A25E-958DC8A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BFAA5872-BFA2-4BD4-AB9A-D249701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2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approximate version (Chamberlain–Rothschild) allows weak cross-sectional and serial…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232F341D-B07D-4A07-838C-2D3F74A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4545FA0-6F2E-47B3-AB20-2F946A4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928A96-0BC0-4781-A335-E34E1A7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8909354-9C86-489F-AA36-B84EF6D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27/50</a:t>
            </a:r>
          </a:p>
        </p:txBody>
      </p:sp>
      <p:sp>
        <p:nvSpPr>
          <p:cNvPr id="17" name="media-matte-pca_scree.png">
            <a:extLst xmlns:a="http://schemas.openxmlformats.org/drawingml/2006/main">
              <a:ext uri="{FF2B5EF4-FFF2-40B4-BE49-F238E27FC236}">
                <a16:creationId xmlns:a16="http://schemas.microsoft.com/office/drawing/2014/main" id="{C9E25B17-8908-4A0A-8F9A-2426BA23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b744e81584c77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962112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D1F1BFFD-09E3-4E16-8F56-57C2289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9FD4B6-9914-4E35-A77B-B529F8C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result that should surprise you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51EB396-CC94-48C2-87C4-99E58FA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80390E7-4224-4142-AE58-5437B48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C7CAF544-C2AA-4D10-90CB-A2492002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6376B6BA-EA6D-4364-A4C9-33701FC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8301C1F-DA43-43EA-89CA-A3C8F23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08-pca-and-factor-models/demo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session08_pca_demo.py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925F2AB5-987B-4CD3-B790-AD1B31EB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A3E5F7F3-CF2A-427C-827D-8286D64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sklearn.decomposition import PCA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sklearn.preprocessing import StandardScaler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np.array([[1,2,3],[2,3,5],[3,5,8],[4,6,10.]])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pca = PCA().fit(StandardScaler().fit_transform(X))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print(pca.explained_variance_ratio_)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F4F61AAE-8830-48FA-873A-46A9104D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AE246EA-3CF3-4394-AAB8-53090504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157A04-22F3-4682-A05F-6BFD09C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ACBE2-887A-4FFC-85FA-459ACDFF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28/50</a:t>
            </a:r>
          </a:p>
        </p:txBody>
      </p:sp>
    </p:spTree>
    <p:extLst>
      <p:ext uri="{BB962C8B-B14F-4D97-AF65-F5344CB8AC3E}">
        <p14:creationId xmlns:p14="http://schemas.microsoft.com/office/powerpoint/2010/main" val="5369982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648500F-E1BD-4F18-9EC3-BBB2347F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7C0A30-E62B-48D1-893E-A3C2FB0D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Both effects, side by side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92335C6-D581-46EC-B257-AAC2FB59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39E99955-E90F-4DD7-B7F4-03A6FCC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rng = np.random.defaultrng(4) Nsf = [2, 4, 8, 16, 32, 64, 128] Nsr = [2, 4, 8, 16, 32]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17E5E1A0-C73B-4BDE-A8C8-568D24F7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722E6B49-CEDF-47D3-A57E-5777344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 = np.random.defaultrng(4) Nsf = [2, 4, 8, 16, 32, 64, 128] Nsr = [2, 4, 8, 16, 32]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62FC46B-F158-4BAD-871E-FD6E5DD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7AFB65F6-0620-4933-914E-30432128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6056CB73-2CC0-444B-93E2-A8CE0FA1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C6212FB6-BAFF-4AC0-BBA3-DB35A35A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3CAE6FD3-3FD6-40A1-98B0-765FFA94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6FF0E6AD-1827-4BB2-B217-2F2A0376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SVD/PCA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36615529-417D-40A2-B594-D5F3D1D8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82E8061D-4A4B-4824-B202-85C64964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7D1FB8E1-8D6F-4C43-B7C3-8880856C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and validate the retained dimension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81ACDF13-F359-43DA-A525-3BE7FB5D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8249A20-8FEF-4B9A-BABD-1407052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EF6D8F-45E1-4917-A945-4C84C12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BD7B51-EA10-45E2-AB62-14037976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29/50</a:t>
            </a:r>
          </a:p>
        </p:txBody>
      </p:sp>
    </p:spTree>
    <p:extLst>
      <p:ext uri="{BB962C8B-B14F-4D97-AF65-F5344CB8AC3E}">
        <p14:creationId xmlns:p14="http://schemas.microsoft.com/office/powerpoint/2010/main" val="179646110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BA178DF-7AC6-489D-81F8-AB74452B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BD1E3E-1B0C-4ECD-BFFF-EC95D03A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Say the distinction out loud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BD29275-165B-4680-9926-5AD5B80C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32A3C7D2-B1D9-4D31-AFEA-84B30FCA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X = UΣVᵀ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D0C16E9-94ED-449C-86D5-807DD5E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Sessions 05–06: an extra column is an extra coefficient to estimate. Variance goes up. Session 08: an extra column is an extra noisy reading of a latent quantity. Averaging drives its noise down like 1/sqrt N.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89F14C5D-8D56-402F-98B3-81C374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6BEBBEC3-8488-4DAD-999A-DDA1697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Sessions 05–06: an extra column is an extra coefficient to estimate.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29A7FFC-413B-4B5F-B328-BB4406B7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78AE4F3-9731-433C-A85D-A0EFD2C1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EEBF584-607B-4D38-874D-7D34472D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8B797E8-1129-4C49-883F-1A5DEFE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Directions V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92BA50D0-952C-4CFC-967C-471118F0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583EF85D-881B-4445-9C97-4ABC5CE4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Scores UΣ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9D73067-5AF8-4252-9BC0-D5236381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D21098-1154-405B-B07E-C964F2F3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9DAE43B-0BE9-4433-8373-A95E2CE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30/50</a:t>
            </a:r>
          </a:p>
        </p:txBody>
      </p:sp>
    </p:spTree>
    <p:extLst>
      <p:ext uri="{BB962C8B-B14F-4D97-AF65-F5344CB8AC3E}">
        <p14:creationId xmlns:p14="http://schemas.microsoft.com/office/powerpoint/2010/main" val="10870184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0B8477C3-8CC2-4551-94B9-8A071157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48A31C-5B53-412B-BB04-8BC7253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Normalisation is a choice, not a discovery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02BE66-1D3C-443E-9132-D8A1D43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DFE93C2-89D1-4C2C-A8E7-726826C3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PC₁ = arg max_{||v||=1} Var(Xv)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8B37A4E-59BA-45BD-BAD2-15F8C62D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 pin down the rotation we impose F^ᵀ F / T = Ir and Lambda^ᵀLambda diagonal. Factors are identified only up to rotation. So "Factor 1 is the business cycle" is an interpretation you are offering, never an estimate you have produced.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A670FC54-B507-490A-8BF2-D65E6AB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6108BAA9-5C48-4411-B9BC-CF0705B7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 pin down the rotation we impose F^ᵀ F / T = Ir and Lambda^ᵀLambda diagonal.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c8a12babb14678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F63BFC-047A-43D3-A2E1-EC633717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562B235-D528-42FE-9DB7-6925C350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2CED746-5CCB-4C4C-A867-5065D0B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31/50</a:t>
            </a:r>
          </a:p>
        </p:txBody>
      </p:sp>
    </p:spTree>
    <p:extLst>
      <p:ext uri="{BB962C8B-B14F-4D97-AF65-F5344CB8AC3E}">
        <p14:creationId xmlns:p14="http://schemas.microsoft.com/office/powerpoint/2010/main" val="8804629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8E32E87-F45B-4839-92E8-619F3A08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2A28D1-E57A-441C-82E3-F0AF097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How many factors?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124080F-1386-49F8-8A8A-BC0EF4E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1885A89-412F-4338-8450-DA70CE6A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X_t = ΛF_t + e_t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CBCC2CD-1632-428C-908D-18E9194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How many factors?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F1D01-7767-4C1E-A639-E915A7EB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C2A61A73-A307-4B30-A0ED-F610113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How many factors?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A64EFA7-BC29-4748-824B-6D4EFCA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9078EDB-6897-4AAF-B62A-F1C0E6D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Many series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CE11BDA-6B5C-4503-8855-6DA019DD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1A5CC14-6D32-481B-9907-90403139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Common factors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BD2F342-2AEB-49A4-B010-8EAA71E3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F0F00FA-F369-48D2-9B6A-F040885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E318AD9-49CF-40B2-8B15-B312A543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2EE406-F5B5-4CA3-929D-1277E747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0446415-2E45-42A7-9AEB-78F30C05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32/50</a:t>
            </a:r>
          </a:p>
        </p:txBody>
      </p:sp>
    </p:spTree>
    <p:extLst>
      <p:ext uri="{BB962C8B-B14F-4D97-AF65-F5344CB8AC3E}">
        <p14:creationId xmlns:p14="http://schemas.microsoft.com/office/powerpoint/2010/main" val="5174261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8F83A2D-5FDF-434D-A512-28ABEC2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17F0D3-1BDC-4D54-9AB5-F3DACB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Four answers, and they will disagree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4649858-0BE3-4AE7-8A67-D2376B8E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F9F07199-73A5-46A7-AB6E-9C401CC6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DEF1BDBC-77EB-4487-BC20-20A6E1B0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Four answers, and they…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205E189A-AE43-4906-95AA-7BC06F5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315CA1A5-A5AB-47DE-946D-F13B3D9E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Scree plot — look for the elbow. Informal, often ambiguous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6D0CB5D-6017-4A03-9CAA-99D9B927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BB359B2-7EC5-4979-BEF5-CE756416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9971C606-EA4E-446E-BD04-352D8429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11CEF17B-71B2-48B7-9174-4D97035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Cumulative variance — retain 80–90%. Arbitrary but transparent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746F29FE-0830-430C-9CC6-6D2C77A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83B12436-138A-4E42-9F31-772A493D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Explained variance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E577E2E4-6F9E-4ED7-A7CD-2ED4A4E0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A43E8A8D-717D-4359-A0FF-B34C12D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Bai–Ng information criteria — ICp1, ICp2, ICp3, with penalties that must vanish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E96EAA39-ABE8-4C23-94D9-846E9389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C262D51-14C6-4D9F-90F0-83DF2E9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3C53436-04AF-4D2E-9D4F-AC56F76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5F1B3A5-D9BB-4125-8E04-CDC59FC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33/50</a:t>
            </a:r>
          </a:p>
        </p:txBody>
      </p:sp>
    </p:spTree>
    <p:extLst>
      <p:ext uri="{BB962C8B-B14F-4D97-AF65-F5344CB8AC3E}">
        <p14:creationId xmlns:p14="http://schemas.microsoft.com/office/powerpoint/2010/main" val="11366757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A85E0F0-3B7D-4832-AC75-04F81D2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B192BE-DA79-4A20-A342-F8EA736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all of them and look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AEBFB5-FF96-432D-948F-B137A6B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EE742DF-8BA7-48C7-AFE6-F84042DB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08EEEF00-D75D-482C-A0B8-36F9083C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N, Tp = NIND, NOBS # N series, T observations """Average residual sum of squares from a k-factor…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60DBEE4-409D-4A12-8299-B5580EF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306B8DA-6EF8-4FAE-96D4-4BE24B27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ED221D66-79BA-4285-964C-537EFC2B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21A37C7-250A-4C3C-BFD3-6CD16368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SVD/PCA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F69BB32F-4230-4DCA-A322-CDAD9CA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Choose and validate the retained dimension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B917F4B-6789-4AFD-920C-50A8C1E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20466D-F020-4EC9-8DF6-767AF887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20F81E-E716-4332-9192-6BFF3A9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34/50</a:t>
            </a:r>
          </a:p>
        </p:txBody>
      </p:sp>
    </p:spTree>
    <p:extLst>
      <p:ext uri="{BB962C8B-B14F-4D97-AF65-F5344CB8AC3E}">
        <p14:creationId xmlns:p14="http://schemas.microsoft.com/office/powerpoint/2010/main" val="8820208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D41D15C-10DC-4AD5-ADA7-82E275F4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AC0D5-C078-4FA9-AFCE-F440CB8A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all of them and look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6402A2E-26F6-43DD-AAD8-95DFAB4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40964672f4455f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3A290040-7E2F-4DDE-87DC-2608EE0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7997EF2B-A7FD-4F98-8CF9-62C64DF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2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N, Tp = NIND, NOBS # N series, T observations """Average residual sum of squares from a k-factor…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F8A3B8E7-FD43-4CBD-9484-DCA15A53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DD03706A-B5D9-478E-8C75-410DB82D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EBD683DC-106C-4DC8-A25E-958DC8A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BFAA5872-BFA2-4BD4-AB9A-D249701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SVD/PCA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232F341D-B07D-4A07-838C-2D3F74A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4545FA0-6F2E-47B3-AB20-2F946A4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928A96-0BC0-4781-A335-E34E1A7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8909354-9C86-489F-AA36-B84EF6D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35/50</a:t>
            </a:r>
          </a:p>
        </p:txBody>
      </p:sp>
      <p:sp>
        <p:nvSpPr>
          <p:cNvPr id="17" name="media-matte-pca_scree.png">
            <a:extLst xmlns:a="http://schemas.openxmlformats.org/drawingml/2006/main">
              <a:ext uri="{FF2B5EF4-FFF2-40B4-BE49-F238E27FC236}">
                <a16:creationId xmlns:a16="http://schemas.microsoft.com/office/drawing/2014/main" id="{7A5F8ADE-3FB3-4F27-9C2B-CF6D887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03a92870943a1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9621129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D1F1BFFD-09E3-4E16-8F56-57C2289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9FD4B6-9914-4E35-A77B-B529F8C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Look at what happened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51EB396-CC94-48C2-87C4-99E58FA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80390E7-4224-4142-AE58-5437B48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C7CAF544-C2AA-4D10-90CB-A2492002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6376B6BA-EA6D-4364-A4C9-33701FC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8301C1F-DA43-43EA-89CA-A3C8F23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08-pca-and-factor-models/demo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session08_pca_demo.py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925F2AB5-987B-4CD3-B790-AD1B31EB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A3E5F7F3-CF2A-427C-827D-8286D64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axes = plt.subplots(1, 2, figsize=(7.7, 2.9))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 = axes[0]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v, c_, lab in [(ic1, CL.accent, r"$IC_{p1}$"), (ic2, CL.good, r"$IC_{p2}$"),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  (ic3, CL.warn, r"$IC_{p3}$")]: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ax.plot(ks, v, "o-", color=c_, lw=2.0, ms=4, label=lab)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ax.set_xlabel("number of factors k"); ax.set_ylabel("information criterion")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ax.set_title("Bai–Ng: still falling at k = 8", fontsize=9.5)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ax.legend(fontsize=8)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 = axes[1]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ax.bar(ks, ahr, color=[CL.warn if k == ks[int(np.argmax(ahr))] else CL.muted for k in ks],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width=.62)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F4F61AAE-8830-48FA-873A-46A9104D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AE246EA-3CF3-4394-AAB8-53090504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157A04-22F3-4682-A05F-6BFD09C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ACBE2-887A-4FFC-85FA-459ACDFF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36/50</a:t>
            </a:r>
          </a:p>
        </p:txBody>
      </p:sp>
    </p:spTree>
    <p:extLst>
      <p:ext uri="{BB962C8B-B14F-4D97-AF65-F5344CB8AC3E}">
        <p14:creationId xmlns:p14="http://schemas.microsoft.com/office/powerpoint/2010/main" val="53699829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BA178DF-7AC6-489D-81F8-AB74452B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BD1E3E-1B0C-4ECD-BFFF-EC95D03A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Bai–Ng failed here, and what to do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BD29275-165B-4680-9926-5AD5B80C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32A3C7D2-B1D9-4D31-AFEA-84B30FCA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PC₁ = arg max_{||v||=1} Var(Xv)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D0C16E9-94ED-449C-86D5-807DD5E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Bai–Ng is consistent as both N and T grow. We have T = 239 observations but only N = 13 series. The penalty fracN+TNTlogfracNTN+T is tiny when N is small, so it Which is not a failure of the criterion. It is the criterion telling you your panel is not wide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89F14C5D-8D56-402F-98B3-81C374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6BEBBEC3-8488-4DAD-999A-DDA1697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Bai–Ng is consistent as both N and T grow.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29A7FFC-413B-4B5F-B328-BB4406B7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78AE4F3-9731-433C-A85D-A0EFD2C1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 X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EEBF584-607B-4D38-874D-7D34472D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8B797E8-1129-4C49-883F-1A5DEFE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Directions V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92BA50D0-952C-4CFC-967C-471118F0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583EF85D-881B-4445-9C97-4ABC5CE4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Scores UΣ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9D73067-5AF8-4252-9BC0-D5236381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D21098-1154-405B-B07E-C964F2F3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9DAE43B-0BE9-4433-8373-A95E2CE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37/50</a:t>
            </a:r>
          </a:p>
        </p:txBody>
      </p:sp>
    </p:spTree>
    <p:extLst>
      <p:ext uri="{BB962C8B-B14F-4D97-AF65-F5344CB8AC3E}">
        <p14:creationId xmlns:p14="http://schemas.microsoft.com/office/powerpoint/2010/main" val="108701842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0B8477C3-8CC2-4551-94B9-8A071157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48A31C-5B53-412B-BB04-8BC7253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Diffusion-index forecasting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02BE66-1D3C-443E-9132-D8A1D43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DFE93C2-89D1-4C2C-A8E7-726826C3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X_t = ΛF_t + e_t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28B37A4E-59BA-45BD-BAD2-15F8C62D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Diffusion-index forecasting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A670FC54-B507-490A-8BF2-D65E6AB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6108BAA9-5C48-4411-B9BC-CF0705B7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Diffusion-index forecasting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0b19f0ad7f4dce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F63BFC-047A-43D3-A2E1-EC633717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562B235-D528-42FE-9DB7-6925C350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2CED746-5CCB-4C4C-A867-5065D0B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38/50</a:t>
            </a:r>
          </a:p>
        </p:txBody>
      </p:sp>
    </p:spTree>
    <p:extLst>
      <p:ext uri="{BB962C8B-B14F-4D97-AF65-F5344CB8AC3E}">
        <p14:creationId xmlns:p14="http://schemas.microsoft.com/office/powerpoint/2010/main" val="8804629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8E32E87-F45B-4839-92E8-619F3A08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2A28D1-E57A-441C-82E3-F0AF097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stages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124080F-1386-49F8-8A8A-BC0EF4E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81885A89-412F-4338-8450-DA70CE6A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hat y_t+h = hatα + Σ_j=1^rβ̂_j hat F_jt + Σ_ell=0^Lhatgamma_ell y_t-ell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CBCC2CD-1632-428C-908D-18E9194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+ sumell=0^Lgammaell -hat yt-ell Two hundred series enter stage 1. Three numbers leave it. Stage 2 is an ordinary regression you already know how to diagnose.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F1D01-7767-4C1E-A639-E915A7EB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C2A61A73-A307-4B30-A0ED-F610113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+ sumell=0^Lgammaell -hat yt-ell Two hundred series enter stage 1.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A64EFA7-BC29-4748-824B-6D4EFCA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9078EDB-6897-4AAF-B62A-F1C0E6D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Many series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CE11BDA-6B5C-4503-8855-6DA019DD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1A5CC14-6D32-481B-9907-90403139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Common factors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BD2F342-2AEB-49A4-B010-8EAA71E3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F0F00FA-F369-48D2-9B6A-F040885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Forecast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E318AD9-49CF-40B2-8B15-B312A543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2EE406-F5B5-4CA3-929D-1277E747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0446415-2E45-42A7-9AEB-78F30C05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39/50</a:t>
            </a:r>
          </a:p>
        </p:txBody>
      </p:sp>
    </p:spTree>
    <p:extLst>
      <p:ext uri="{BB962C8B-B14F-4D97-AF65-F5344CB8AC3E}">
        <p14:creationId xmlns:p14="http://schemas.microsoft.com/office/powerpoint/2010/main" val="5174261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648500F-E1BD-4F18-9EC3-BBB2347F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7C0A30-E62B-48D1-893E-A3C2FB0D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rule you must not break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92335C6-D581-46EC-B257-AAC2FB59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39E99955-E90F-4DD7-B7F4-03A6FCC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0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fig, ax = plt.subplots(figsize=(7.2, 2.9)) YR = list(range(2011, 2024)) for i, cut in enumerate([2017, 2018, 2019, 2020]):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17E5E1A0-C73B-4BDE-A8C8-568D24F7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722E6B49-CEDF-47D3-A57E-5777344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plt.subplots(figsize=(7.2, 2.9)) YR = list(range(2011, 2024)) for i, cut in…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62FC46B-F158-4BAD-871E-FD6E5DD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7AFB65F6-0620-4933-914E-30432128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6056CB73-2CC0-444B-93E2-A8CE0FA1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plt.subplots(figsize=(7.2, 2.9)) YR = list(range(2011, 2024)) for i, cut in enumerate([2017,…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C6212FB6-BAFF-4AC0-BBA3-DB35A35A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3CAE6FD3-3FD6-40A1-98B0-765FFA94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6FF0E6AD-1827-4BB2-B217-2F2A0376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36615529-417D-40A2-B594-D5F3D1D8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82E8061D-4A4B-4824-B202-85C64964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7D1FB8E1-8D6F-4C43-B7C3-8880856C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SVD/PCA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81ACDF13-F359-43DA-A525-3BE7FB5D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8249A20-8FEF-4B9A-BABD-1407052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EF6D8F-45E1-4917-A945-4C84C12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BD7B51-EA10-45E2-AB62-14037976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40/50</a:t>
            </a:r>
          </a:p>
        </p:txBody>
      </p:sp>
    </p:spTree>
    <p:extLst>
      <p:ext uri="{BB962C8B-B14F-4D97-AF65-F5344CB8AC3E}">
        <p14:creationId xmlns:p14="http://schemas.microsoft.com/office/powerpoint/2010/main" val="17964611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8F83A2D-5FDF-434D-A512-28ABEC2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17F0D3-1BDC-4D54-9AB5-F3DACB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rule you must not break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4649858-0BE3-4AE7-8A67-D2376B8E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F9F07199-73A5-46A7-AB6E-9C401CC6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DEF1BDBC-77EB-4487-BC20-20A6E1B0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rule you must not…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205E189A-AE43-4906-95AA-7BC06F5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315CA1A5-A5AB-47DE-946D-F13B3D9E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plt.subplots(figsize=(7.2, 2.9)) YR = list(range(2011, 2024)) for i, cut in…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6D0CB5D-6017-4A03-9CAA-99D9B927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BB359B2-7EC5-4979-BEF5-CE756416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Loading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9971C606-EA4E-446E-BD04-352D8429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11CEF17B-71B2-48B7-9174-4D97035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plt.subplots(figsize=(7.2, 2.9)) YR = list(range(2011, 2024)) for i, cut in enumerate([2017,…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746F29FE-0830-430C-9CC6-6D2C77A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83B12436-138A-4E42-9F31-772A493D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E577E2E4-6F9E-4ED7-A7CD-2ED4A4E0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A43E8A8D-717D-4359-A0FF-B34C12D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E96EAA39-ABE8-4C23-94D9-846E9389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C262D51-14C6-4D9F-90F0-83DF2E9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3C53436-04AF-4D2E-9D4F-AC56F76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5F1B3A5-D9BB-4125-8E04-CDC59FC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41/50</a:t>
            </a:r>
          </a:p>
        </p:txBody>
      </p:sp>
    </p:spTree>
    <p:extLst>
      <p:ext uri="{BB962C8B-B14F-4D97-AF65-F5344CB8AC3E}">
        <p14:creationId xmlns:p14="http://schemas.microsoft.com/office/powerpoint/2010/main" val="113667579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A85E0F0-3B7D-4832-AC75-04F81D2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B192BE-DA79-4A20-A342-F8EA736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Measure the leak on our panel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3AEBFB5-FF96-432D-948F-B137A6B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EE742DF-8BA7-48C7-AFE6-F84042DB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08EEEF00-D75D-482C-A0B8-36F9083C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diffusionrmse(target, R=3, leaky=False, first=6): dd = panel.copy() dd["yn"] =…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60DBEE4-409D-4A12-8299-B5580EF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306B8DA-6EF8-4FAE-96D4-4BE24B27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Standardise using training data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ED221D66-79BA-4285-964C-537EFC2B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21A37C7-250A-4C3C-BFD3-6CD16368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Compute SVD/PCA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F69BB32F-4230-4DCA-A322-CDAD9CA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Choose and validate the retained dimension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B917F4B-6789-4AFD-920C-50A8C1E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20466D-F020-4EC9-8DF6-767AF887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20F81E-E716-4332-9192-6BFF3A9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42/50</a:t>
            </a:r>
          </a:p>
        </p:txBody>
      </p:sp>
    </p:spTree>
    <p:extLst>
      <p:ext uri="{BB962C8B-B14F-4D97-AF65-F5344CB8AC3E}">
        <p14:creationId xmlns:p14="http://schemas.microsoft.com/office/powerpoint/2010/main" val="88202081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D41D15C-10DC-4AD5-ADA7-82E275F4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AC0D5-C078-4FA9-AFCE-F440CB8A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 honest about that number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6402A2E-26F6-43DD-AAD8-95DFAB4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d7e2efef064667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3A290040-7E2F-4DDE-87DC-2608EE0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7997EF2B-A7FD-4F98-8CF9-62C64DF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 this panel the leak buys about 2%.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F8A3B8E7-FD43-4CBD-9484-DCA15A53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DD03706A-B5D9-478E-8C75-410DB82D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factor space is stable across thirteen years, so knowing the future rotation tells you almost…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EBD683DC-106C-4DC8-A25E-958DC8A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BFAA5872-BFA2-4BD4-AB9A-D249701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That is not a licence.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232F341D-B07D-4A07-838C-2D3F74A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4545FA0-6F2E-47B3-AB20-2F946A4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928A96-0BC0-4781-A335-E34E1A7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8909354-9C86-489F-AA36-B84EF6D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43/50</a:t>
            </a:r>
          </a:p>
        </p:txBody>
      </p:sp>
      <p:sp>
        <p:nvSpPr>
          <p:cNvPr id="17" name="media-matte-pca_scree.png">
            <a:extLst xmlns:a="http://schemas.openxmlformats.org/drawingml/2006/main">
              <a:ext uri="{FF2B5EF4-FFF2-40B4-BE49-F238E27FC236}">
                <a16:creationId xmlns:a16="http://schemas.microsoft.com/office/drawing/2014/main" id="{64E5B681-DB5C-45B0-88BA-4D357B46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dabe8f3f146dc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19621129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D1F1BFFD-09E3-4E16-8F56-57C2289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9FD4B6-9914-4E35-A77B-B529F8C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Takeaways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51EB396-CC94-48C2-87C4-99E58FA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80390E7-4224-4142-AE58-5437B48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C7CAF544-C2AA-4D10-90CB-A2492002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6376B6BA-EA6D-4364-A4C9-33701FC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8301C1F-DA43-43EA-89CA-A3C8F23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08-pca-and-factor-models/demo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session08_pca_demo.py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925F2AB5-987B-4CD3-B790-AD1B31EB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A3E5F7F3-CF2A-427C-827D-8286D64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sklearn.decomposition import PCA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sklearn.preprocessing import StandardScaler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np.array([[1,2,3],[2,3,5],[3,5,8],[4,6,10.]])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pca = PCA().fit(StandardScaler().fit_transform(X))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print(pca.explained_variance_ratio_)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F4F61AAE-8830-48FA-873A-46A9104D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AE246EA-3CF3-4394-AAB8-53090504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157A04-22F3-4682-A05F-6BFD09C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ACBE2-887A-4FFC-85FA-459ACDFF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44/50</a:t>
            </a:r>
          </a:p>
        </p:txBody>
      </p:sp>
    </p:spTree>
    <p:extLst>
      <p:ext uri="{BB962C8B-B14F-4D97-AF65-F5344CB8AC3E}">
        <p14:creationId xmlns:p14="http://schemas.microsoft.com/office/powerpoint/2010/main" val="53699829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8FFD88A7-06E9-4ABE-927B-CA759C6A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29D6CAEE-1A7E-4940-8104-ED7A8966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loses marks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7EA7E62C-8DA1-4DDC-83F5-AB211D4C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0AD1EDF7-20E6-4C37-878B-772280D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3F6F28B4-1A5B-494A-8DF9-C142C537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5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component can be stable mathematically but impossible to name economically without examining its loadings.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B00B2195-FEC5-4B07-B0CC-AEF4676E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FA5C4357-0B72-4832-B9A0-C9D973FB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sign of a component has no intrinsic meaning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8008BB5-3B38-4F9A-BD73-3E29A168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BE2A70B-F26C-49D7-AA0B-542D4595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F5175D-88AD-45B2-BF77-AD23380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45/50</a:t>
            </a:r>
          </a:p>
        </p:txBody>
      </p:sp>
    </p:spTree>
    <p:extLst>
      <p:ext uri="{BB962C8B-B14F-4D97-AF65-F5344CB8AC3E}">
        <p14:creationId xmlns:p14="http://schemas.microsoft.com/office/powerpoint/2010/main" val="205007274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780F9E25-12D9-43F9-8D63-8AB22EF6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41E12B-FB69-440E-AA71-05EEF750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Now, the practice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EBF604E-2372-4149-9507-F41DC8CB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243573B8-4F6E-40B3-B589-F4E6DB88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723B307E-5B5D-4022-982F-A69995C4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Ninety minutes, in your groups. You will extract factors from a wide panel, defend the number you retained against at least three criteria, and build a diffusion-index forecast whose factors are re-estimated at every origin.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6BD92E50-7B47-4062-99B8-F3BD364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312C1D2E-7240-49EE-9E33-DD59C462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B94E84CF-D71D-4D67-83B4-AD436DEC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component can be stable mathematically but impossible to name economically without examining its loadings.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A8CDA4CD-2815-4E2B-B32D-C99197AC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Estimate + comparison + uncertainty + assumption +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C70BE1-592F-410F-A186-E356C2C5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D9691A4-A0B5-4685-9E7F-201D643B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AA1DD6E-1C20-4831-A6D6-1AEC4522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46/50</a:t>
            </a:r>
          </a:p>
        </p:txBody>
      </p:sp>
    </p:spTree>
    <p:extLst>
      <p:ext uri="{BB962C8B-B14F-4D97-AF65-F5344CB8AC3E}">
        <p14:creationId xmlns:p14="http://schemas.microsoft.com/office/powerpoint/2010/main" val="171211638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5050E209-CB6D-4D37-B4DD-19753B2E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REQUIRED READING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4BB566-83F8-40AF-A416-8A02A944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article becomes the practice challenge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BFC8C2F-AB80-47C4-A521-9CD5095A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ing-status-0">
            <a:extLst xmlns:a="http://schemas.openxmlformats.org/drawingml/2006/main">
              <a:ext uri="{FF2B5EF4-FFF2-40B4-BE49-F238E27FC236}">
                <a16:creationId xmlns:a16="http://schemas.microsoft.com/office/drawing/2014/main" id="{2FF82177-4DAE-4E5B-B07A-4D858CD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5" name="reading-title-0">
            <a:extLst xmlns:a="http://schemas.openxmlformats.org/drawingml/2006/main">
              <a:ext uri="{FF2B5EF4-FFF2-40B4-BE49-F238E27FC236}">
                <a16:creationId xmlns:a16="http://schemas.microsoft.com/office/drawing/2014/main" id="{930AF69F-7BF5-454F-BB35-F717F1ED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Koopman &amp; Mesters (2017) — Empirical Bayes Methods for Dynamic Factor Models</a:t>
            </a:r>
          </a:p>
        </p:txBody>
      </p:sp>
      <p:sp>
        <p:nvSpPr>
          <p:cNvPr id="6" name="reading-why-0">
            <a:extLst xmlns:a="http://schemas.openxmlformats.org/drawingml/2006/main">
              <a:ext uri="{FF2B5EF4-FFF2-40B4-BE49-F238E27FC236}">
                <a16:creationId xmlns:a16="http://schemas.microsoft.com/office/drawing/2014/main" id="{2FC6CE45-C9D4-4FB2-8254-9BFAAAC6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article: extracting and forecasting with common factors</a:t>
            </a:r>
          </a:p>
        </p:txBody>
      </p:sp>
      <p:sp>
        <p:nvSpPr>
          <p:cNvPr id="7" name="reading-url-0">
            <a:extLst xmlns:a="http://schemas.openxmlformats.org/drawingml/2006/main">
              <a:ext uri="{FF2B5EF4-FFF2-40B4-BE49-F238E27FC236}">
                <a16:creationId xmlns:a16="http://schemas.microsoft.com/office/drawing/2014/main" id="{D31004B3-1A86-4ABA-BD7D-DAEEF0D3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https://doi.org/10.1162/REST_a_00614</a:t>
            </a:r>
          </a:p>
        </p:txBody>
      </p:sp>
      <p:sp>
        <p:nvSpPr>
          <p:cNvPr id="8" name="rule-48-348">
            <a:extLst xmlns:a="http://schemas.openxmlformats.org/drawingml/2006/main">
              <a:ext uri="{FF2B5EF4-FFF2-40B4-BE49-F238E27FC236}">
                <a16:creationId xmlns:a16="http://schemas.microsoft.com/office/drawing/2014/main" id="{AB0F3796-3FBB-4EC6-B0CB-53AA99B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ing-status-1">
            <a:extLst xmlns:a="http://schemas.openxmlformats.org/drawingml/2006/main">
              <a:ext uri="{FF2B5EF4-FFF2-40B4-BE49-F238E27FC236}">
                <a16:creationId xmlns:a16="http://schemas.microsoft.com/office/drawing/2014/main" id="{206AC2C1-543F-4A72-993A-AD40AE1F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10" name="reading-title-1">
            <a:extLst xmlns:a="http://schemas.openxmlformats.org/drawingml/2006/main">
              <a:ext uri="{FF2B5EF4-FFF2-40B4-BE49-F238E27FC236}">
                <a16:creationId xmlns:a16="http://schemas.microsoft.com/office/drawing/2014/main" id="{9BCBD931-F7CF-4C8E-B916-AB73D38B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Harvard Dataverse 10.7910/DVN/NKWMQM</a:t>
            </a:r>
          </a:p>
        </p:txBody>
      </p:sp>
      <p:sp>
        <p:nvSpPr>
          <p:cNvPr id="11" name="reading-why-1">
            <a:extLst xmlns:a="http://schemas.openxmlformats.org/drawingml/2006/main">
              <a:ext uri="{FF2B5EF4-FFF2-40B4-BE49-F238E27FC236}">
                <a16:creationId xmlns:a16="http://schemas.microsoft.com/office/drawing/2014/main" id="{B8063804-2BFB-4652-A87A-0C465EB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replication package: article data and authors' files</a:t>
            </a:r>
          </a:p>
        </p:txBody>
      </p:sp>
      <p:sp>
        <p:nvSpPr>
          <p:cNvPr id="12" name="reading-url-1">
            <a:extLst xmlns:a="http://schemas.openxmlformats.org/drawingml/2006/main">
              <a:ext uri="{FF2B5EF4-FFF2-40B4-BE49-F238E27FC236}">
                <a16:creationId xmlns:a16="http://schemas.microsoft.com/office/drawing/2014/main" id="{970EEE8C-5F94-4677-A08D-C2568A9F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https://doi.org/10.7910/DVN/NKWMQM</a:t>
            </a:r>
          </a:p>
        </p:txBody>
      </p:sp>
      <p:sp>
        <p:nvSpPr>
          <p:cNvPr id="13" name="rule-48-526">
            <a:extLst xmlns:a="http://schemas.openxmlformats.org/drawingml/2006/main">
              <a:ext uri="{FF2B5EF4-FFF2-40B4-BE49-F238E27FC236}">
                <a16:creationId xmlns:a16="http://schemas.microsoft.com/office/drawing/2014/main" id="{9E4B46E7-D5A4-4415-A072-CE433997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ing-status-2">
            <a:extLst xmlns:a="http://schemas.openxmlformats.org/drawingml/2006/main">
              <a:ext uri="{FF2B5EF4-FFF2-40B4-BE49-F238E27FC236}">
                <a16:creationId xmlns:a16="http://schemas.microsoft.com/office/drawing/2014/main" id="{6C538E64-4036-4AAD-BF21-0510E7E0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5" name="reading-title-2">
            <a:extLst xmlns:a="http://schemas.openxmlformats.org/drawingml/2006/main">
              <a:ext uri="{FF2B5EF4-FFF2-40B4-BE49-F238E27FC236}">
                <a16:creationId xmlns:a16="http://schemas.microsoft.com/office/drawing/2014/main" id="{ED3D6796-1C7B-44B9-9162-30081E30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ISLR, unsupervised learning chapter</a:t>
            </a:r>
          </a:p>
        </p:txBody>
      </p:sp>
      <p:sp>
        <p:nvSpPr>
          <p:cNvPr id="16" name="reading-why-2">
            <a:extLst xmlns:a="http://schemas.openxmlformats.org/drawingml/2006/main">
              <a:ext uri="{FF2B5EF4-FFF2-40B4-BE49-F238E27FC236}">
                <a16:creationId xmlns:a16="http://schemas.microsoft.com/office/drawing/2014/main" id="{3C04D7DB-DC15-410C-A102-54EDD49C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explanation of PCA and principal components</a:t>
            </a:r>
          </a:p>
        </p:txBody>
      </p:sp>
      <p:sp>
        <p:nvSpPr>
          <p:cNvPr id="17" name="reading-url-2">
            <a:extLst xmlns:a="http://schemas.openxmlformats.org/drawingml/2006/main">
              <a:ext uri="{FF2B5EF4-FFF2-40B4-BE49-F238E27FC236}">
                <a16:creationId xmlns:a16="http://schemas.microsoft.com/office/drawing/2014/main" id="{AD0A8DAE-629F-4BEA-B814-1C4C2B05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8F13C89-6EAD-4605-9E17-2A3E6B61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CE52492-D008-4827-B812-F19D1D2E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018FFA-B22A-4714-A6E8-51073D8B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47/50</a:t>
            </a:r>
          </a:p>
        </p:txBody>
      </p:sp>
    </p:spTree>
    <p:extLst>
      <p:ext uri="{BB962C8B-B14F-4D97-AF65-F5344CB8AC3E}">
        <p14:creationId xmlns:p14="http://schemas.microsoft.com/office/powerpoint/2010/main" val="37356033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780F9E25-12D9-43F9-8D63-8AB22EF6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41E12B-FB69-440E-AA71-05EEF750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output into a defensible sentence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EBF604E-2372-4149-9507-F41DC8CB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243573B8-4F6E-40B3-B589-F4E6DB88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723B307E-5B5D-4022-982F-A69995C4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a factor from the variables that load on it, then show that the name survives time and resampling.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6BD92E50-7B47-4062-99B8-F3BD364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312C1D2E-7240-49EE-9E33-DD59C462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B94E84CF-D71D-4D67-83B4-AD436DEC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component can be stable mathematically but impossible to name economically without examining its loadings.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A8CDA4CD-2815-4E2B-B32D-C99197AC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Name the unit, estimate, benchmark, uncertainty, assumption, and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C70BE1-592F-410F-A186-E356C2C5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D9691A4-A0B5-4685-9E7F-201D643B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AA1DD6E-1C20-4831-A6D6-1AEC4522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48/50</a:t>
            </a:r>
          </a:p>
        </p:txBody>
      </p:sp>
    </p:spTree>
    <p:extLst>
      <p:ext uri="{BB962C8B-B14F-4D97-AF65-F5344CB8AC3E}">
        <p14:creationId xmlns:p14="http://schemas.microsoft.com/office/powerpoint/2010/main" val="171211638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648500F-E1BD-4F18-9EC3-BBB2347F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LIMITATIONS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7C0A30-E62B-48D1-893E-A3C2FB0D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method does not give you for free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92335C6-D581-46EC-B257-AAC2FB59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39E99955-E90F-4DD7-B7F4-03A6FCC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1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component can be stable mathematically but impossible to name economically without examining its loadings.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17E5E1A0-C73B-4BDE-A8C8-568D24F7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722E6B49-CEDF-47D3-A57E-5777344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Scale choices are explicit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762FC46B-F158-4BAD-871E-FD6E5DD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7AFB65F6-0620-4933-914E-30432128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6056CB73-2CC0-444B-93E2-A8CE0FA1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Missing data are handled before decomposition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C6212FB6-BAFF-4AC0-BBA3-DB35A35A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3CAE6FD3-3FD6-40A1-98B0-765FFA94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6FF0E6AD-1827-4BB2-B217-2F2A0376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sign of a component has no intrinsic meaning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36615529-417D-40A2-B594-D5F3D1D8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82E8061D-4A4B-4824-B202-85C64964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7D1FB8E1-8D6F-4C43-B7C3-8880856C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Time-based validation avoids look-ahead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81ACDF13-F359-43DA-A525-3BE7FB5D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limitation is not a disclaimer at the end. It determines the design, diagnostic, and wording of the result.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8249A20-8FEF-4B9A-BABD-1407052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EF6D8F-45E1-4917-A945-4C84C12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BD7B51-EA10-45E2-AB62-14037976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49/50</a:t>
            </a:r>
          </a:p>
        </p:txBody>
      </p:sp>
    </p:spTree>
    <p:extLst>
      <p:ext uri="{BB962C8B-B14F-4D97-AF65-F5344CB8AC3E}">
        <p14:creationId xmlns:p14="http://schemas.microsoft.com/office/powerpoint/2010/main" val="179646110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C7AE2DEE-FB60-446D-A846-B86BA519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NEXT 90 MINUTES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45FD31-77C5-4D34-8B1A-54B3208F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a dynamic-factor forecast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1458855-A2E3-4E52-B1EC-EBADF743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E6FA5951-7BCF-450B-8844-AF7A43E7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article figure, rebuild the components, and test whether the factor forecast beats a benchmark.</a:t>
            </a:r>
          </a:p>
        </p:txBody>
      </p:sp>
      <p:sp>
        <p:nvSpPr>
          <p:cNvPr id="5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5A1A8072-4CBB-4891-BA2F-089BB760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practice-task-0">
            <a:extLst xmlns:a="http://schemas.openxmlformats.org/drawingml/2006/main">
              <a:ext uri="{FF2B5EF4-FFF2-40B4-BE49-F238E27FC236}">
                <a16:creationId xmlns:a16="http://schemas.microsoft.com/office/drawing/2014/main" id="{195DACE2-7987-49FD-9945-ADAB170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Identify the article panel and forecast target</a:t>
            </a:r>
          </a:p>
        </p:txBody>
      </p:sp>
      <p:sp>
        <p:nvSpPr>
          <p:cNvPr id="7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8F3D694F-88CE-45DD-A9FB-E944D901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practice-task-1">
            <a:extLst xmlns:a="http://schemas.openxmlformats.org/drawingml/2006/main">
              <a:ext uri="{FF2B5EF4-FFF2-40B4-BE49-F238E27FC236}">
                <a16:creationId xmlns:a16="http://schemas.microsoft.com/office/drawing/2014/main" id="{257B5532-C32D-4FD1-BF48-F6FB3A3A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factor or forecast figure</a:t>
            </a:r>
          </a:p>
        </p:txBody>
      </p:sp>
      <p:sp>
        <p:nvSpPr>
          <p:cNvPr id="9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7405C927-DD9F-4CEC-B556-5B5CAB11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practice-task-2">
            <a:extLst xmlns:a="http://schemas.openxmlformats.org/drawingml/2006/main">
              <a:ext uri="{FF2B5EF4-FFF2-40B4-BE49-F238E27FC236}">
                <a16:creationId xmlns:a16="http://schemas.microsoft.com/office/drawing/2014/main" id="{AB681CDB-4DE4-400A-89C1-F527FD0B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Plot a scree curve and choose dimension</a:t>
            </a:r>
          </a:p>
        </p:txBody>
      </p:sp>
      <p:sp>
        <p:nvSpPr>
          <p:cNvPr id="11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5ED8E44F-60CA-4935-BF44-CBA93B6B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practice-task-3">
            <a:extLst xmlns:a="http://schemas.openxmlformats.org/drawingml/2006/main">
              <a:ext uri="{FF2B5EF4-FFF2-40B4-BE49-F238E27FC236}">
                <a16:creationId xmlns:a16="http://schemas.microsoft.com/office/drawing/2014/main" id="{C6871FE3-76D7-476F-ABE4-F057B4AB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a factor-based forecast</a:t>
            </a:r>
          </a:p>
        </p:txBody>
      </p:sp>
      <p:sp>
        <p:nvSpPr>
          <p:cNvPr id="13" name="practice-step-4">
            <a:extLst xmlns:a="http://schemas.openxmlformats.org/drawingml/2006/main">
              <a:ext uri="{FF2B5EF4-FFF2-40B4-BE49-F238E27FC236}">
                <a16:creationId xmlns:a16="http://schemas.microsoft.com/office/drawing/2014/main" id="{E7C50C74-CF14-4413-9B54-5B585F6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practice-task-4">
            <a:extLst xmlns:a="http://schemas.openxmlformats.org/drawingml/2006/main">
              <a:ext uri="{FF2B5EF4-FFF2-40B4-BE49-F238E27FC236}">
                <a16:creationId xmlns:a16="http://schemas.microsoft.com/office/drawing/2014/main" id="{AC2CA35E-9E1D-4808-82BA-4729BECB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5" name="practice-callout-bg">
            <a:extLst xmlns:a="http://schemas.openxmlformats.org/drawingml/2006/main">
              <a:ext uri="{FF2B5EF4-FFF2-40B4-BE49-F238E27FC236}">
                <a16:creationId xmlns:a16="http://schemas.microsoft.com/office/drawing/2014/main" id="{ABB6E716-1F84-4D6A-A4EF-01189082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505200" cy="3714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practice-callout-label">
            <a:extLst xmlns:a="http://schemas.openxmlformats.org/drawingml/2006/main">
              <a:ext uri="{FF2B5EF4-FFF2-40B4-BE49-F238E27FC236}">
                <a16:creationId xmlns:a16="http://schemas.microsoft.com/office/drawing/2014/main" id="{18BE09DC-E993-4D3E-9570-DC2EEFA7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AIM FOR</a:t>
            </a:r>
          </a:p>
        </p:txBody>
      </p:sp>
      <p:sp>
        <p:nvSpPr>
          <p:cNvPr id="17" name="practice-callout">
            <a:extLst xmlns:a="http://schemas.openxmlformats.org/drawingml/2006/main">
              <a:ext uri="{FF2B5EF4-FFF2-40B4-BE49-F238E27FC236}">
                <a16:creationId xmlns:a16="http://schemas.microsoft.com/office/drawing/2014/main" id="{02E8F451-D57B-47BA-BA69-30C1BCA0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reproducible result.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comparison.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stressed assumption.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short group presentation.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0D20EE0-E541-4801-AA27-6E7E8E0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4798778-DFA2-4F25-9281-DBB49EAB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3A66F63-FDD5-455D-99AE-AD7816AD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50/50</a:t>
            </a:r>
          </a:p>
        </p:txBody>
      </p:sp>
    </p:spTree>
    <p:extLst>
      <p:ext uri="{BB962C8B-B14F-4D97-AF65-F5344CB8AC3E}">
        <p14:creationId xmlns:p14="http://schemas.microsoft.com/office/powerpoint/2010/main" val="477858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MATH60033A Session 08 Lecture</dc:title>
  <dcterms:created xsi:type="dcterms:W3CDTF">2026-08-23T23:38:54.1130000Z</dcterms:created>
  <dcterms:modified xsi:type="dcterms:W3CDTF">2026-08-23T23:38:54.1130000Z</dcterms:modified>
</coreProperties>
</file>