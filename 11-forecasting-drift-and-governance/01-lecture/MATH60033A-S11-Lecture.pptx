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9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0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2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3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4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5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16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17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18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19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20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21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22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23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d41d7aca58477d" /><Relationship Type="http://schemas.openxmlformats.org/officeDocument/2006/relationships/extended-properties" Target="/docProps/app.xml" Id="Re5226ce16a894f0d" /><Relationship Type="http://schemas.openxmlformats.org/officeDocument/2006/relationships/officeDocument" Target="/ppt/presentation.xml" Id="R7bee92ae8e0147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904636d85345b7"/>
  </p:sldMasterIdLst>
  <p:notesMasterIdLst>
    <p:notesMasterId xmlns:r="http://schemas.openxmlformats.org/officeDocument/2006/relationships" r:id="R558779969e6c4238"/>
  </p:notesMasterIdLst>
  <p:sldIdLst>
    <p:sldId xmlns:r="http://schemas.openxmlformats.org/officeDocument/2006/relationships" id="256" r:id="Raf2bd32ee9f34c0f"/>
    <p:sldId xmlns:r="http://schemas.openxmlformats.org/officeDocument/2006/relationships" id="257" r:id="R6deb0a501d5f4a8c"/>
    <p:sldId xmlns:r="http://schemas.openxmlformats.org/officeDocument/2006/relationships" id="258" r:id="R9ebd6448a5c84e94"/>
    <p:sldId xmlns:r="http://schemas.openxmlformats.org/officeDocument/2006/relationships" id="259" r:id="R793fea254cd34830"/>
    <p:sldId xmlns:r="http://schemas.openxmlformats.org/officeDocument/2006/relationships" id="260" r:id="R408128efd3fd4a99"/>
    <p:sldId xmlns:r="http://schemas.openxmlformats.org/officeDocument/2006/relationships" id="261" r:id="R39ab3b0622ae4941"/>
    <p:sldId xmlns:r="http://schemas.openxmlformats.org/officeDocument/2006/relationships" id="262" r:id="Ra30f73be63f54403"/>
    <p:sldId xmlns:r="http://schemas.openxmlformats.org/officeDocument/2006/relationships" id="263" r:id="R0066f1b0657c46b1"/>
    <p:sldId xmlns:r="http://schemas.openxmlformats.org/officeDocument/2006/relationships" id="264" r:id="Ra0b20136699e400a"/>
    <p:sldId xmlns:r="http://schemas.openxmlformats.org/officeDocument/2006/relationships" id="265" r:id="R93ddbdb2a12a4fc0"/>
    <p:sldId xmlns:r="http://schemas.openxmlformats.org/officeDocument/2006/relationships" id="266" r:id="Rb9572758bc434c59"/>
    <p:sldId xmlns:r="http://schemas.openxmlformats.org/officeDocument/2006/relationships" id="267" r:id="Rdaed51e134cb4704"/>
    <p:sldId xmlns:r="http://schemas.openxmlformats.org/officeDocument/2006/relationships" id="268" r:id="Ra24a3721936d4777"/>
    <p:sldId xmlns:r="http://schemas.openxmlformats.org/officeDocument/2006/relationships" id="269" r:id="Rb180baa621604c63"/>
    <p:sldId xmlns:r="http://schemas.openxmlformats.org/officeDocument/2006/relationships" id="270" r:id="Raef2d8aa1738463e"/>
    <p:sldId xmlns:r="http://schemas.openxmlformats.org/officeDocument/2006/relationships" id="271" r:id="R6809ec312a614cfd"/>
    <p:sldId xmlns:r="http://schemas.openxmlformats.org/officeDocument/2006/relationships" id="272" r:id="R46a862d89f884206"/>
    <p:sldId xmlns:r="http://schemas.openxmlformats.org/officeDocument/2006/relationships" id="273" r:id="R71c07085678745ab"/>
    <p:sldId xmlns:r="http://schemas.openxmlformats.org/officeDocument/2006/relationships" id="274" r:id="Reec9c99a8ecd43b8"/>
    <p:sldId xmlns:r="http://schemas.openxmlformats.org/officeDocument/2006/relationships" id="275" r:id="R6d8a66e3f17c4dfa"/>
    <p:sldId xmlns:r="http://schemas.openxmlformats.org/officeDocument/2006/relationships" id="276" r:id="Rbd6a0bb48c1249ab"/>
    <p:sldId xmlns:r="http://schemas.openxmlformats.org/officeDocument/2006/relationships" id="277" r:id="R2f66a940c76a456b"/>
    <p:sldId xmlns:r="http://schemas.openxmlformats.org/officeDocument/2006/relationships" id="278" r:id="R657e80858f1345d0"/>
    <p:sldId xmlns:r="http://schemas.openxmlformats.org/officeDocument/2006/relationships" id="279" r:id="Rc50bc4a9cf0b4320"/>
    <p:sldId xmlns:r="http://schemas.openxmlformats.org/officeDocument/2006/relationships" id="280" r:id="R8250be07581f4e7e"/>
    <p:sldId xmlns:r="http://schemas.openxmlformats.org/officeDocument/2006/relationships" id="281" r:id="Rdc323dd2ba8c4666"/>
    <p:sldId xmlns:r="http://schemas.openxmlformats.org/officeDocument/2006/relationships" id="282" r:id="R5fd097393e1943c5"/>
    <p:sldId xmlns:r="http://schemas.openxmlformats.org/officeDocument/2006/relationships" id="283" r:id="Rc8f04710be984beb"/>
    <p:sldId xmlns:r="http://schemas.openxmlformats.org/officeDocument/2006/relationships" id="284" r:id="R7cc4d3db80ae473e"/>
    <p:sldId xmlns:r="http://schemas.openxmlformats.org/officeDocument/2006/relationships" id="285" r:id="R685e98d63c5d466d"/>
    <p:sldId xmlns:r="http://schemas.openxmlformats.org/officeDocument/2006/relationships" id="286" r:id="Rdd06472cd99845ce"/>
    <p:sldId xmlns:r="http://schemas.openxmlformats.org/officeDocument/2006/relationships" id="287" r:id="Rc6b049097f604960"/>
    <p:sldId xmlns:r="http://schemas.openxmlformats.org/officeDocument/2006/relationships" id="288" r:id="R41e856fe414e48e3"/>
    <p:sldId xmlns:r="http://schemas.openxmlformats.org/officeDocument/2006/relationships" id="289" r:id="R8f724572a41b4ead"/>
    <p:sldId xmlns:r="http://schemas.openxmlformats.org/officeDocument/2006/relationships" id="290" r:id="R93e46dbb087b4e82"/>
    <p:sldId xmlns:r="http://schemas.openxmlformats.org/officeDocument/2006/relationships" id="291" r:id="R3a356a87e5aa4248"/>
    <p:sldId xmlns:r="http://schemas.openxmlformats.org/officeDocument/2006/relationships" id="292" r:id="Rf5cd6a0d4a794937"/>
    <p:sldId xmlns:r="http://schemas.openxmlformats.org/officeDocument/2006/relationships" id="293" r:id="R5098e4a3842a4088"/>
    <p:sldId xmlns:r="http://schemas.openxmlformats.org/officeDocument/2006/relationships" id="294" r:id="Ra591a3fa95a94c3c"/>
    <p:sldId xmlns:r="http://schemas.openxmlformats.org/officeDocument/2006/relationships" id="295" r:id="R363a5c66eeed4f62"/>
    <p:sldId xmlns:r="http://schemas.openxmlformats.org/officeDocument/2006/relationships" id="296" r:id="R3745cdde709a4e8a"/>
    <p:sldId xmlns:r="http://schemas.openxmlformats.org/officeDocument/2006/relationships" id="297" r:id="R627a876381804215"/>
    <p:sldId xmlns:r="http://schemas.openxmlformats.org/officeDocument/2006/relationships" id="298" r:id="Rd7b94a6350bb417a"/>
    <p:sldId xmlns:r="http://schemas.openxmlformats.org/officeDocument/2006/relationships" id="299" r:id="R3dcac0bead334304"/>
    <p:sldId xmlns:r="http://schemas.openxmlformats.org/officeDocument/2006/relationships" id="300" r:id="R081d313ca38747e9"/>
    <p:sldId xmlns:r="http://schemas.openxmlformats.org/officeDocument/2006/relationships" id="301" r:id="R496f3a1fad8b4919"/>
    <p:sldId xmlns:r="http://schemas.openxmlformats.org/officeDocument/2006/relationships" id="302" r:id="R2c13954718834611"/>
    <p:sldId xmlns:r="http://schemas.openxmlformats.org/officeDocument/2006/relationships" id="303" r:id="R6cecd15b975e49e8"/>
    <p:sldId xmlns:r="http://schemas.openxmlformats.org/officeDocument/2006/relationships" id="304" r:id="R3a1f8c23ab404fe6"/>
    <p:sldId xmlns:r="http://schemas.openxmlformats.org/officeDocument/2006/relationships" id="305" r:id="Rfe664f43069d4a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36938445bc4d65" /><Relationship Type="http://schemas.openxmlformats.org/officeDocument/2006/relationships/slideMaster" Target="/ppt/slideMasters/slideMaster1.xml" Id="R5b904636d85345b7" /><Relationship Type="http://schemas.openxmlformats.org/officeDocument/2006/relationships/notesMaster" Target="/ppt/notesMasters/notesMaster1.xml" Id="R558779969e6c4238" /><Relationship Type="http://schemas.openxmlformats.org/officeDocument/2006/relationships/presProps" Target="/ppt/presProps.xml" Id="R6ee1cacb849f4834" /><Relationship Type="http://schemas.openxmlformats.org/officeDocument/2006/relationships/tableStyles" Target="/ppt/tableStyles.xml" Id="R8de9d80d80bd4265" /><Relationship Type="http://schemas.openxmlformats.org/officeDocument/2006/relationships/slide" Target="/ppt/slides/slide1.xml" Id="Raf2bd32ee9f34c0f" /><Relationship Type="http://schemas.openxmlformats.org/officeDocument/2006/relationships/slide" Target="/ppt/slides/slide2.xml" Id="R6deb0a501d5f4a8c" /><Relationship Type="http://schemas.openxmlformats.org/officeDocument/2006/relationships/slide" Target="/ppt/slides/slide3.xml" Id="R9ebd6448a5c84e94" /><Relationship Type="http://schemas.openxmlformats.org/officeDocument/2006/relationships/slide" Target="/ppt/slides/slide4.xml" Id="R793fea254cd34830" /><Relationship Type="http://schemas.openxmlformats.org/officeDocument/2006/relationships/slide" Target="/ppt/slides/slide5.xml" Id="R408128efd3fd4a99" /><Relationship Type="http://schemas.openxmlformats.org/officeDocument/2006/relationships/slide" Target="/ppt/slides/slide6.xml" Id="R39ab3b0622ae4941" /><Relationship Type="http://schemas.openxmlformats.org/officeDocument/2006/relationships/slide" Target="/ppt/slides/slide7.xml" Id="Ra30f73be63f54403" /><Relationship Type="http://schemas.openxmlformats.org/officeDocument/2006/relationships/slide" Target="/ppt/slides/slide8.xml" Id="R0066f1b0657c46b1" /><Relationship Type="http://schemas.openxmlformats.org/officeDocument/2006/relationships/slide" Target="/ppt/slides/slide9.xml" Id="Ra0b20136699e400a" /><Relationship Type="http://schemas.openxmlformats.org/officeDocument/2006/relationships/slide" Target="/ppt/slides/slide10.xml" Id="R93ddbdb2a12a4fc0" /><Relationship Type="http://schemas.openxmlformats.org/officeDocument/2006/relationships/slide" Target="/ppt/slides/slide11.xml" Id="Rb9572758bc434c59" /><Relationship Type="http://schemas.openxmlformats.org/officeDocument/2006/relationships/slide" Target="/ppt/slides/slide12.xml" Id="Rdaed51e134cb4704" /><Relationship Type="http://schemas.openxmlformats.org/officeDocument/2006/relationships/slide" Target="/ppt/slides/slide13.xml" Id="Ra24a3721936d4777" /><Relationship Type="http://schemas.openxmlformats.org/officeDocument/2006/relationships/slide" Target="/ppt/slides/slide14.xml" Id="Rb180baa621604c63" /><Relationship Type="http://schemas.openxmlformats.org/officeDocument/2006/relationships/slide" Target="/ppt/slides/slide15.xml" Id="Raef2d8aa1738463e" /><Relationship Type="http://schemas.openxmlformats.org/officeDocument/2006/relationships/slide" Target="/ppt/slides/slide16.xml" Id="R6809ec312a614cfd" /><Relationship Type="http://schemas.openxmlformats.org/officeDocument/2006/relationships/slide" Target="/ppt/slides/slide17.xml" Id="R46a862d89f884206" /><Relationship Type="http://schemas.openxmlformats.org/officeDocument/2006/relationships/slide" Target="/ppt/slides/slide18.xml" Id="R71c07085678745ab" /><Relationship Type="http://schemas.openxmlformats.org/officeDocument/2006/relationships/slide" Target="/ppt/slides/slide19.xml" Id="Reec9c99a8ecd43b8" /><Relationship Type="http://schemas.openxmlformats.org/officeDocument/2006/relationships/slide" Target="/ppt/slides/slide20.xml" Id="R6d8a66e3f17c4dfa" /><Relationship Type="http://schemas.openxmlformats.org/officeDocument/2006/relationships/slide" Target="/ppt/slides/slide21.xml" Id="Rbd6a0bb48c1249ab" /><Relationship Type="http://schemas.openxmlformats.org/officeDocument/2006/relationships/slide" Target="/ppt/slides/slide22.xml" Id="R2f66a940c76a456b" /><Relationship Type="http://schemas.openxmlformats.org/officeDocument/2006/relationships/slide" Target="/ppt/slides/slide23.xml" Id="R657e80858f1345d0" /><Relationship Type="http://schemas.openxmlformats.org/officeDocument/2006/relationships/slide" Target="/ppt/slides/slide24.xml" Id="Rc50bc4a9cf0b4320" /><Relationship Type="http://schemas.openxmlformats.org/officeDocument/2006/relationships/slide" Target="/ppt/slides/slide25.xml" Id="R8250be07581f4e7e" /><Relationship Type="http://schemas.openxmlformats.org/officeDocument/2006/relationships/slide" Target="/ppt/slides/slide26.xml" Id="Rdc323dd2ba8c4666" /><Relationship Type="http://schemas.openxmlformats.org/officeDocument/2006/relationships/slide" Target="/ppt/slides/slide27.xml" Id="R5fd097393e1943c5" /><Relationship Type="http://schemas.openxmlformats.org/officeDocument/2006/relationships/slide" Target="/ppt/slides/slide28.xml" Id="Rc8f04710be984beb" /><Relationship Type="http://schemas.openxmlformats.org/officeDocument/2006/relationships/slide" Target="/ppt/slides/slide29.xml" Id="R7cc4d3db80ae473e" /><Relationship Type="http://schemas.openxmlformats.org/officeDocument/2006/relationships/slide" Target="/ppt/slides/slide30.xml" Id="R685e98d63c5d466d" /><Relationship Type="http://schemas.openxmlformats.org/officeDocument/2006/relationships/slide" Target="/ppt/slides/slide31.xml" Id="Rdd06472cd99845ce" /><Relationship Type="http://schemas.openxmlformats.org/officeDocument/2006/relationships/slide" Target="/ppt/slides/slide32.xml" Id="Rc6b049097f604960" /><Relationship Type="http://schemas.openxmlformats.org/officeDocument/2006/relationships/slide" Target="/ppt/slides/slide33.xml" Id="R41e856fe414e48e3" /><Relationship Type="http://schemas.openxmlformats.org/officeDocument/2006/relationships/slide" Target="/ppt/slides/slide34.xml" Id="R8f724572a41b4ead" /><Relationship Type="http://schemas.openxmlformats.org/officeDocument/2006/relationships/slide" Target="/ppt/slides/slide35.xml" Id="R93e46dbb087b4e82" /><Relationship Type="http://schemas.openxmlformats.org/officeDocument/2006/relationships/slide" Target="/ppt/slides/slide36.xml" Id="R3a356a87e5aa4248" /><Relationship Type="http://schemas.openxmlformats.org/officeDocument/2006/relationships/slide" Target="/ppt/slides/slide37.xml" Id="Rf5cd6a0d4a794937" /><Relationship Type="http://schemas.openxmlformats.org/officeDocument/2006/relationships/slide" Target="/ppt/slides/slide38.xml" Id="R5098e4a3842a4088" /><Relationship Type="http://schemas.openxmlformats.org/officeDocument/2006/relationships/slide" Target="/ppt/slides/slide39.xml" Id="Ra591a3fa95a94c3c" /><Relationship Type="http://schemas.openxmlformats.org/officeDocument/2006/relationships/slide" Target="/ppt/slides/slide40.xml" Id="R363a5c66eeed4f62" /><Relationship Type="http://schemas.openxmlformats.org/officeDocument/2006/relationships/slide" Target="/ppt/slides/slide41.xml" Id="R3745cdde709a4e8a" /><Relationship Type="http://schemas.openxmlformats.org/officeDocument/2006/relationships/slide" Target="/ppt/slides/slide42.xml" Id="R627a876381804215" /><Relationship Type="http://schemas.openxmlformats.org/officeDocument/2006/relationships/slide" Target="/ppt/slides/slide43.xml" Id="Rd7b94a6350bb417a" /><Relationship Type="http://schemas.openxmlformats.org/officeDocument/2006/relationships/slide" Target="/ppt/slides/slide44.xml" Id="R3dcac0bead334304" /><Relationship Type="http://schemas.openxmlformats.org/officeDocument/2006/relationships/slide" Target="/ppt/slides/slide45.xml" Id="R081d313ca38747e9" /><Relationship Type="http://schemas.openxmlformats.org/officeDocument/2006/relationships/slide" Target="/ppt/slides/slide46.xml" Id="R496f3a1fad8b4919" /><Relationship Type="http://schemas.openxmlformats.org/officeDocument/2006/relationships/slide" Target="/ppt/slides/slide47.xml" Id="R2c13954718834611" /><Relationship Type="http://schemas.openxmlformats.org/officeDocument/2006/relationships/slide" Target="/ppt/slides/slide48.xml" Id="R6cecd15b975e49e8" /><Relationship Type="http://schemas.openxmlformats.org/officeDocument/2006/relationships/slide" Target="/ppt/slides/slide49.xml" Id="R3a1f8c23ab404fe6" /><Relationship Type="http://schemas.openxmlformats.org/officeDocument/2006/relationships/slide" Target="/ppt/slides/slide50.xml" Id="Rfe664f43069d4a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0a56e4b82847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f9f8d123bc4870" /><Relationship Type="http://schemas.openxmlformats.org/officeDocument/2006/relationships/notesMaster" Target="/ppt/notesMasters/notesMaster1.xml" Id="R0ef9b01ba8a545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ba77200a304913" /><Relationship Type="http://schemas.openxmlformats.org/officeDocument/2006/relationships/notesMaster" Target="/ppt/notesMasters/notesMaster1.xml" Id="Re743da86b1fa49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6ab57deb084e47" /><Relationship Type="http://schemas.openxmlformats.org/officeDocument/2006/relationships/notesMaster" Target="/ppt/notesMasters/notesMaster1.xml" Id="Rf4c0d79159da42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d2ba65a5674d2a" /><Relationship Type="http://schemas.openxmlformats.org/officeDocument/2006/relationships/notesMaster" Target="/ppt/notesMasters/notesMaster1.xml" Id="R3c2296046fb74a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b3ebe42ae1405c" /><Relationship Type="http://schemas.openxmlformats.org/officeDocument/2006/relationships/notesMaster" Target="/ppt/notesMasters/notesMaster1.xml" Id="R879e8f5803f54c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8cf5331fa44fb7" /><Relationship Type="http://schemas.openxmlformats.org/officeDocument/2006/relationships/notesMaster" Target="/ppt/notesMasters/notesMaster1.xml" Id="R3ad780a4272f40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e21bfe483749d4" /><Relationship Type="http://schemas.openxmlformats.org/officeDocument/2006/relationships/notesMaster" Target="/ppt/notesMasters/notesMaster1.xml" Id="R542140dc1c204c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cd4cc4b1d841da" /><Relationship Type="http://schemas.openxmlformats.org/officeDocument/2006/relationships/notesMaster" Target="/ppt/notesMasters/notesMaster1.xml" Id="Rb2bb91843dfe4b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809548d60f4d1e" /><Relationship Type="http://schemas.openxmlformats.org/officeDocument/2006/relationships/notesMaster" Target="/ppt/notesMasters/notesMaster1.xml" Id="Rcba0fc2df58b47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b388703bf24f56" /><Relationship Type="http://schemas.openxmlformats.org/officeDocument/2006/relationships/notesMaster" Target="/ppt/notesMasters/notesMaster1.xml" Id="Rf0e30d2acb3141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668dfd2d70429a" /><Relationship Type="http://schemas.openxmlformats.org/officeDocument/2006/relationships/notesMaster" Target="/ppt/notesMasters/notesMaster1.xml" Id="R9f72aca144834f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15254bc7014475" /><Relationship Type="http://schemas.openxmlformats.org/officeDocument/2006/relationships/notesMaster" Target="/ppt/notesMasters/notesMaster1.xml" Id="R9667a86dc1dc45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7fa19ae2104164" /><Relationship Type="http://schemas.openxmlformats.org/officeDocument/2006/relationships/notesMaster" Target="/ppt/notesMasters/notesMaster1.xml" Id="R979e75c1a80648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a86ba66dc14717" /><Relationship Type="http://schemas.openxmlformats.org/officeDocument/2006/relationships/notesMaster" Target="/ppt/notesMasters/notesMaster1.xml" Id="Ra86054b974a54c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4fb65c2a0941a2" /><Relationship Type="http://schemas.openxmlformats.org/officeDocument/2006/relationships/notesMaster" Target="/ppt/notesMasters/notesMaster1.xml" Id="R9d7f5fb669644b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48bdce8f3c4c23" /><Relationship Type="http://schemas.openxmlformats.org/officeDocument/2006/relationships/notesMaster" Target="/ppt/notesMasters/notesMaster1.xml" Id="R90064677e2f749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5383453afa4a1f" /><Relationship Type="http://schemas.openxmlformats.org/officeDocument/2006/relationships/notesMaster" Target="/ppt/notesMasters/notesMaster1.xml" Id="R9b82108e171141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b516a58cda4e60" /><Relationship Type="http://schemas.openxmlformats.org/officeDocument/2006/relationships/notesMaster" Target="/ppt/notesMasters/notesMaster1.xml" Id="Re5a8347df4234c5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3d187890254579" /><Relationship Type="http://schemas.openxmlformats.org/officeDocument/2006/relationships/notesMaster" Target="/ppt/notesMasters/notesMaster1.xml" Id="R26d4a042b568484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60cc33fb9441ce" /><Relationship Type="http://schemas.openxmlformats.org/officeDocument/2006/relationships/notesMaster" Target="/ppt/notesMasters/notesMaster1.xml" Id="R600db3bd3adf49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b2cecfbd8b4df0" /><Relationship Type="http://schemas.openxmlformats.org/officeDocument/2006/relationships/notesMaster" Target="/ppt/notesMasters/notesMaster1.xml" Id="R59fb9c1a39a046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c58513e35294946" /><Relationship Type="http://schemas.openxmlformats.org/officeDocument/2006/relationships/notesMaster" Target="/ppt/notesMasters/notesMaster1.xml" Id="R405927400b6a45c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5bed37bcdb9457e" /><Relationship Type="http://schemas.openxmlformats.org/officeDocument/2006/relationships/notesMaster" Target="/ppt/notesMasters/notesMaster1.xml" Id="Rd8b2d49986454ac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0ce9e5389b44b23" /><Relationship Type="http://schemas.openxmlformats.org/officeDocument/2006/relationships/notesMaster" Target="/ppt/notesMasters/notesMaster1.xml" Id="R03751c9d9bae4f0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f5e9f4d5a394fa5" /><Relationship Type="http://schemas.openxmlformats.org/officeDocument/2006/relationships/notesMaster" Target="/ppt/notesMasters/notesMaster1.xml" Id="Rddb097475ffb43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4e651faaea34480" /><Relationship Type="http://schemas.openxmlformats.org/officeDocument/2006/relationships/notesMaster" Target="/ppt/notesMasters/notesMaster1.xml" Id="Rfe59e736599b4f6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3cd63a06784fc6" /><Relationship Type="http://schemas.openxmlformats.org/officeDocument/2006/relationships/notesMaster" Target="/ppt/notesMasters/notesMaster1.xml" Id="Rdcb207750306496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411cbfa1dd24766" /><Relationship Type="http://schemas.openxmlformats.org/officeDocument/2006/relationships/notesMaster" Target="/ppt/notesMasters/notesMaster1.xml" Id="R808600e1117243c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e732e9b8bb4e86" /><Relationship Type="http://schemas.openxmlformats.org/officeDocument/2006/relationships/notesMaster" Target="/ppt/notesMasters/notesMaster1.xml" Id="R09331142266e4ac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9629c045124a50" /><Relationship Type="http://schemas.openxmlformats.org/officeDocument/2006/relationships/notesMaster" Target="/ppt/notesMasters/notesMaster1.xml" Id="R2b842b617ae4451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6e3e2294d5d4267" /><Relationship Type="http://schemas.openxmlformats.org/officeDocument/2006/relationships/notesMaster" Target="/ppt/notesMasters/notesMaster1.xml" Id="Rb2b9c8508e89420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1c1d2d19a194630" /><Relationship Type="http://schemas.openxmlformats.org/officeDocument/2006/relationships/notesMaster" Target="/ppt/notesMasters/notesMaster1.xml" Id="Rfa3aa30658734a1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a5bdfd0ef2d4731" /><Relationship Type="http://schemas.openxmlformats.org/officeDocument/2006/relationships/notesMaster" Target="/ppt/notesMasters/notesMaster1.xml" Id="R652952f03301408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6d4288cc6284c7e" /><Relationship Type="http://schemas.openxmlformats.org/officeDocument/2006/relationships/notesMaster" Target="/ppt/notesMasters/notesMaster1.xml" Id="R05c64912bef0432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6d8edfc39d84aea" /><Relationship Type="http://schemas.openxmlformats.org/officeDocument/2006/relationships/notesMaster" Target="/ppt/notesMasters/notesMaster1.xml" Id="R9ed83b5aebc3484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42bc5005ee74777" /><Relationship Type="http://schemas.openxmlformats.org/officeDocument/2006/relationships/notesMaster" Target="/ppt/notesMasters/notesMaster1.xml" Id="R6af75f997453423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3c1c8d7afd345cf" /><Relationship Type="http://schemas.openxmlformats.org/officeDocument/2006/relationships/notesMaster" Target="/ppt/notesMasters/notesMaster1.xml" Id="Rd393227a826d4bf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2169846272d4e34" /><Relationship Type="http://schemas.openxmlformats.org/officeDocument/2006/relationships/notesMaster" Target="/ppt/notesMasters/notesMaster1.xml" Id="R39a0a160794243f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18e049f892e4c66" /><Relationship Type="http://schemas.openxmlformats.org/officeDocument/2006/relationships/notesMaster" Target="/ppt/notesMasters/notesMaster1.xml" Id="R75f90cd5d9c8485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a453f580eeb4edd" /><Relationship Type="http://schemas.openxmlformats.org/officeDocument/2006/relationships/notesMaster" Target="/ppt/notesMasters/notesMaster1.xml" Id="R5a47548441f249c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15b3716ef8044b5" /><Relationship Type="http://schemas.openxmlformats.org/officeDocument/2006/relationships/notesMaster" Target="/ppt/notesMasters/notesMaster1.xml" Id="R250dfb1f9a28415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a942359469c4a4b" /><Relationship Type="http://schemas.openxmlformats.org/officeDocument/2006/relationships/notesMaster" Target="/ppt/notesMasters/notesMaster1.xml" Id="R84049e222c21482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24076f9d02045a7" /><Relationship Type="http://schemas.openxmlformats.org/officeDocument/2006/relationships/notesMaster" Target="/ppt/notesMasters/notesMaster1.xml" Id="R9de9bf3be71245d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eb66e8da9a346c8" /><Relationship Type="http://schemas.openxmlformats.org/officeDocument/2006/relationships/notesMaster" Target="/ppt/notesMasters/notesMaster1.xml" Id="Re8f628e21914499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de0b14b813e4ede" /><Relationship Type="http://schemas.openxmlformats.org/officeDocument/2006/relationships/notesMaster" Target="/ppt/notesMasters/notesMaster1.xml" Id="Rbd80a7fa0e38449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ea3791ab6d54a65" /><Relationship Type="http://schemas.openxmlformats.org/officeDocument/2006/relationships/notesMaster" Target="/ppt/notesMasters/notesMaster1.xml" Id="Rd8c0df7e399a44f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1b24d5c7e064dd9" /><Relationship Type="http://schemas.openxmlformats.org/officeDocument/2006/relationships/notesMaster" Target="/ppt/notesMasters/notesMaster1.xml" Id="Rbbe33ba3e551423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afb6a5e31d545d4" /><Relationship Type="http://schemas.openxmlformats.org/officeDocument/2006/relationships/notesMaster" Target="/ppt/notesMasters/notesMaster1.xml" Id="Re6833322683342f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629e1c8893347d8" /><Relationship Type="http://schemas.openxmlformats.org/officeDocument/2006/relationships/notesMaster" Target="/ppt/notesMasters/notesMaster1.xml" Id="R08b8d1bef8a846c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b6a5f2056c445b9" /><Relationship Type="http://schemas.openxmlformats.org/officeDocument/2006/relationships/notesMaster" Target="/ppt/notesMasters/notesMaster1.xml" Id="Rc50949190cb24f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session question. Ask students what kind of claim the method is designed to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route as a promise: students should always know whether a slide is defining, motivating, deriving, implementing, or challenging the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cumulative course structure explicit before introducing new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use case and one misuse before showing the mathematics.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Norbert Wiener and connect the biography to the method—not to hero worship.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Asset: slides/course-assets/historical-portraits/wiener.png — AI-generated interpretive illustration; not an archival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1 · Backtesting.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Random K-fold is invalid here, and you know why.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three designs, drawn.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three designs, drawn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Run it, three ways.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Asset: 11-forecasting-drift-and-governance/demo/outputs/forecast_shift.png — generated by 11-forecasting-drift-and-governance/demo/session11_governance_demo.py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2 · Comparing honestly.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Pick a benchmark that is hard to beat.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Diebold–Mariano.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Diebold–Mariano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Compute it.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Compute it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test, drawn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Asset: 11-forecasting-drift-and-governance/demo/outputs/forecast_shift.png — generated by 11-forecasting-drift-and-governance/demo/session11_governance_demo.py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Where the errors actually are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3 · Distribution shift.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Four kinds, and they need different answers.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each one looks like.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each one looks like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classifier diagnostic.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Run it — and run a placebo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Asset: 11-forecasting-drift-and-governance/demo/outputs/forecast_shift.png — generated by 11-forecasting-drift-and-governance/demo/session11_governance_demo.py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Read that carefully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lesson about diagnostics.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4 · Goodhart.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Stated precisely for this course.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shape of a feature that stops working.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shape of a feature that stops working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a deployable model comes with.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Asset: 11-forecasting-drift-and-governance/demo/outputs/forecast_shift.png — generated by 11-forecasting-drift-and-governance/demo/session11_governance_demo.py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 monitoring plan is a threshold, not a hope.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 monitoring plan is a threshold, not a hope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6 · The arc.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Every session, one dial and one self-deception.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…continued.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7 · Back to Europe 2031.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has changed since Session 01.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  <a:p xmlns:a="http://schemas.openxmlformats.org/drawingml/2006/main">
            <a:r>
              <a:t>- Asset: 11-forecasting-drift-and-governance/demo/outputs/forecast_shift.png — generated by 11-forecasting-drift-and-governance/demo/session11_governance_demo.py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Key takeaways.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loses marks.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Now, the practice.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article and Dataverse package must already be available. ISLR is optional background, never the practice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sentence aloud before they see the result they will replicate.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most fragile assumption in the article and make it the first diagnostic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 ends here. Open the separate in-class practice presentation and start the 90-minute clock.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11-forecasting-drift-and-governance/slides.qmd</a:t>
            </a:r>
          </a:p>
          <a:p xmlns:a="http://schemas.openxmlformats.org/drawingml/2006/main">
            <a:r>
              <a:t>- https://warin.ca/quant/en/session11_cours</a:t>
            </a:r>
          </a:p>
          <a:p xmlns:a="http://schemas.openxmlformats.org/drawingml/2006/main">
            <a:r>
              <a:t>- Fraiberger et al. (2021) — Media Sentiment and International Asset Prices — https://doi.org/10.1016/j.jinteco.2021.103526</a:t>
            </a:r>
          </a:p>
          <a:p xmlns:a="http://schemas.openxmlformats.org/drawingml/2006/main">
            <a:r>
              <a:t>- Harvard Dataverse 10.7910/DVN/QNKFJF — https://doi.org/10.7910/DVN/QNKFJF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09af7a64645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5814ecb31d4b0b" /><Relationship Type="http://schemas.openxmlformats.org/officeDocument/2006/relationships/slideLayout" Target="/ppt/slideLayouts/slideLayout1.xml" Id="Rb7d3f7bdf7444b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d3f7bdf7444b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f959f7c024c6d" /><Relationship Type="http://schemas.openxmlformats.org/officeDocument/2006/relationships/chart" Target="/ppt/slides/charts/chart1.xml" Id="R8e9e011c2f9a49d5" /><Relationship Type="http://schemas.openxmlformats.org/officeDocument/2006/relationships/notesSlide" Target="/ppt/notesSlides/notesSlide1.xml" Id="R270330e23da741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d0a76712c4c46" /><Relationship Type="http://schemas.openxmlformats.org/officeDocument/2006/relationships/notesSlide" Target="/ppt/notesSlides/notesSlide2.xml" Id="Rdf634c7c0d074a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290a6c92742f0" /><Relationship Type="http://schemas.openxmlformats.org/officeDocument/2006/relationships/notesSlide" Target="/ppt/notesSlides/notesSlide3.xml" Id="R8473a2b14a1942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4ea4f5627453c" /><Relationship Type="http://schemas.openxmlformats.org/officeDocument/2006/relationships/chart" Target="/ppt/slides/charts/chart2.xml" Id="R6ec86952d47c44ea" /><Relationship Type="http://schemas.openxmlformats.org/officeDocument/2006/relationships/notesSlide" Target="/ppt/notesSlides/notesSlide4.xml" Id="R3ba5d49e880d4e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002eaf8904dd8" /><Relationship Type="http://schemas.openxmlformats.org/officeDocument/2006/relationships/chart" Target="/ppt/slides/charts/chart3.xml" Id="R433473a86142498a" /><Relationship Type="http://schemas.openxmlformats.org/officeDocument/2006/relationships/image" Target="/ppt/media/image.png" Id="R06d4bbc974204560" /><Relationship Type="http://schemas.openxmlformats.org/officeDocument/2006/relationships/notesSlide" Target="/ppt/notesSlides/notesSlide5.xml" Id="R20ff200ff0f249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511d2afe34456" /><Relationship Type="http://schemas.openxmlformats.org/officeDocument/2006/relationships/notesSlide" Target="/ppt/notesSlides/notesSlide6.xml" Id="Rae6c1b6e437644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8323124c84698" /><Relationship Type="http://schemas.openxmlformats.org/officeDocument/2006/relationships/chart" Target="/ppt/slides/charts/chart4.xml" Id="R975169d5c3c14d62" /><Relationship Type="http://schemas.openxmlformats.org/officeDocument/2006/relationships/notesSlide" Target="/ppt/notesSlides/notesSlide7.xml" Id="R99608560ef1448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102f3df4340b0" /><Relationship Type="http://schemas.openxmlformats.org/officeDocument/2006/relationships/notesSlide" Target="/ppt/notesSlides/notesSlide8.xml" Id="R0636f3906fb44c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92273534f404a" /><Relationship Type="http://schemas.openxmlformats.org/officeDocument/2006/relationships/chart" Target="/ppt/slides/charts/chart5.xml" Id="R9e718be839ad466b" /><Relationship Type="http://schemas.openxmlformats.org/officeDocument/2006/relationships/notesSlide" Target="/ppt/notesSlides/notesSlide9.xml" Id="Ra593a08aa13a42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b6e931ce44254" /><Relationship Type="http://schemas.openxmlformats.org/officeDocument/2006/relationships/chart" Target="/ppt/slides/charts/chart6.xml" Id="R0fd790a12a0d4767" /><Relationship Type="http://schemas.openxmlformats.org/officeDocument/2006/relationships/notesSlide" Target="/ppt/notesSlides/notesSlide10.xml" Id="R48c83523bde643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0131dc66e4255" /><Relationship Type="http://schemas.openxmlformats.org/officeDocument/2006/relationships/chart" Target="/ppt/slides/charts/chart7.xml" Id="R0857f86e3bfa4e18" /><Relationship Type="http://schemas.openxmlformats.org/officeDocument/2006/relationships/image" Target="/ppt/media/image2.png" Id="R172c73361f174bfd" /><Relationship Type="http://schemas.openxmlformats.org/officeDocument/2006/relationships/notesSlide" Target="/ppt/notesSlides/notesSlide11.xml" Id="R1b2c9ea4074e4c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26823fcfe4fb3" /><Relationship Type="http://schemas.openxmlformats.org/officeDocument/2006/relationships/notesSlide" Target="/ppt/notesSlides/notesSlide12.xml" Id="Rf2812fd5ac2d41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05bfd2f114b7f" /><Relationship Type="http://schemas.openxmlformats.org/officeDocument/2006/relationships/chart" Target="/ppt/slides/charts/chart8.xml" Id="Rbde6e1c00b8041ba" /><Relationship Type="http://schemas.openxmlformats.org/officeDocument/2006/relationships/notesSlide" Target="/ppt/notesSlides/notesSlide13.xml" Id="R9f05b64207944e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734ef59494a0e" /><Relationship Type="http://schemas.openxmlformats.org/officeDocument/2006/relationships/notesSlide" Target="/ppt/notesSlides/notesSlide14.xml" Id="R937e9a16fb724e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ed010e4f7469b" /><Relationship Type="http://schemas.openxmlformats.org/officeDocument/2006/relationships/chart" Target="/ppt/slides/charts/chart9.xml" Id="R6c3ed5306ecf467d" /><Relationship Type="http://schemas.openxmlformats.org/officeDocument/2006/relationships/notesSlide" Target="/ppt/notesSlides/notesSlide15.xml" Id="R220db348259646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bc295d2fb4129" /><Relationship Type="http://schemas.openxmlformats.org/officeDocument/2006/relationships/notesSlide" Target="/ppt/notesSlides/notesSlide16.xml" Id="R599a4ce2f98e48e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4721aa7ab4b8a" /><Relationship Type="http://schemas.openxmlformats.org/officeDocument/2006/relationships/chart" Target="/ppt/slides/charts/chart10.xml" Id="R1e3af04c782547b8" /><Relationship Type="http://schemas.openxmlformats.org/officeDocument/2006/relationships/notesSlide" Target="/ppt/notesSlides/notesSlide17.xml" Id="R96ad04fef3d544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f154620914dd4" /><Relationship Type="http://schemas.openxmlformats.org/officeDocument/2006/relationships/notesSlide" Target="/ppt/notesSlides/notesSlide18.xml" Id="R8e6f2fd7c2a648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d467a42e248dd" /><Relationship Type="http://schemas.openxmlformats.org/officeDocument/2006/relationships/chart" Target="/ppt/slides/charts/chart11.xml" Id="R6fa7c2a064b6446e" /><Relationship Type="http://schemas.openxmlformats.org/officeDocument/2006/relationships/image" Target="/ppt/media/image3.png" Id="R670b41c5e1a24a99" /><Relationship Type="http://schemas.openxmlformats.org/officeDocument/2006/relationships/notesSlide" Target="/ppt/notesSlides/notesSlide19.xml" Id="R8aa6f09c35de40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730b89df14b49" /><Relationship Type="http://schemas.openxmlformats.org/officeDocument/2006/relationships/notesSlide" Target="/ppt/notesSlides/notesSlide20.xml" Id="Rebdf65b33e6642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664bfff494017" /><Relationship Type="http://schemas.openxmlformats.org/officeDocument/2006/relationships/chart" Target="/ppt/slides/charts/chart12.xml" Id="R4f481dafedd24a56" /><Relationship Type="http://schemas.openxmlformats.org/officeDocument/2006/relationships/notesSlide" Target="/ppt/notesSlides/notesSlide21.xml" Id="Rb96c7bc1ca6347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866988e994c2d" /><Relationship Type="http://schemas.openxmlformats.org/officeDocument/2006/relationships/chart" Target="/ppt/slides/charts/chart13.xml" Id="R5844fc07fa6c47db" /><Relationship Type="http://schemas.openxmlformats.org/officeDocument/2006/relationships/notesSlide" Target="/ppt/notesSlides/notesSlide22.xml" Id="R8adcdbbfda7b452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ced44f59e48fa" /><Relationship Type="http://schemas.openxmlformats.org/officeDocument/2006/relationships/chart" Target="/ppt/slides/charts/chart14.xml" Id="R44ef0a7fde3c4838" /><Relationship Type="http://schemas.openxmlformats.org/officeDocument/2006/relationships/notesSlide" Target="/ppt/notesSlides/notesSlide23.xml" Id="R53e7e6c951a248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dd78f7da14abc" /><Relationship Type="http://schemas.openxmlformats.org/officeDocument/2006/relationships/notesSlide" Target="/ppt/notesSlides/notesSlide24.xml" Id="R8112a08b74c14a3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e46687552452e" /><Relationship Type="http://schemas.openxmlformats.org/officeDocument/2006/relationships/notesSlide" Target="/ppt/notesSlides/notesSlide25.xml" Id="Rc5b21a8a36fd49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f415984d8495a" /><Relationship Type="http://schemas.openxmlformats.org/officeDocument/2006/relationships/notesSlide" Target="/ppt/notesSlides/notesSlide26.xml" Id="Rb60fc85f8f19490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6ae6e9cb848a1" /><Relationship Type="http://schemas.openxmlformats.org/officeDocument/2006/relationships/chart" Target="/ppt/slides/charts/chart15.xml" Id="Rbe8feeb85a6247b4" /><Relationship Type="http://schemas.openxmlformats.org/officeDocument/2006/relationships/image" Target="/ppt/media/image4.png" Id="R4087245a22ac45b6" /><Relationship Type="http://schemas.openxmlformats.org/officeDocument/2006/relationships/notesSlide" Target="/ppt/notesSlides/notesSlide27.xml" Id="Rca0c55900caa4c4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ba1e869304690" /><Relationship Type="http://schemas.openxmlformats.org/officeDocument/2006/relationships/notesSlide" Target="/ppt/notesSlides/notesSlide28.xml" Id="Rfd367327759f454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35e49bf044d09" /><Relationship Type="http://schemas.openxmlformats.org/officeDocument/2006/relationships/notesSlide" Target="/ppt/notesSlides/notesSlide29.xml" Id="R156b99c5802d400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fbaa396574c06" /><Relationship Type="http://schemas.openxmlformats.org/officeDocument/2006/relationships/chart" Target="/ppt/slides/charts/chart16.xml" Id="Rdf4190804cc845ba" /><Relationship Type="http://schemas.openxmlformats.org/officeDocument/2006/relationships/notesSlide" Target="/ppt/notesSlides/notesSlide30.xml" Id="R652c9f4c683542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bd14d71204f1b" /><Relationship Type="http://schemas.openxmlformats.org/officeDocument/2006/relationships/chart" Target="/ppt/slides/charts/chart17.xml" Id="Rc4e5748bcbcb4aed" /><Relationship Type="http://schemas.openxmlformats.org/officeDocument/2006/relationships/notesSlide" Target="/ppt/notesSlides/notesSlide31.xml" Id="R8b4f94ea77c64ef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3a284bc9e48a9" /><Relationship Type="http://schemas.openxmlformats.org/officeDocument/2006/relationships/chart" Target="/ppt/slides/charts/chart18.xml" Id="R7c6185f75aec4f6a" /><Relationship Type="http://schemas.openxmlformats.org/officeDocument/2006/relationships/notesSlide" Target="/ppt/notesSlides/notesSlide32.xml" Id="R04ded8b7b7094b2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2cc392538444c" /><Relationship Type="http://schemas.openxmlformats.org/officeDocument/2006/relationships/notesSlide" Target="/ppt/notesSlides/notesSlide33.xml" Id="R5bf062661b77450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c66620f5c4a73" /><Relationship Type="http://schemas.openxmlformats.org/officeDocument/2006/relationships/notesSlide" Target="/ppt/notesSlides/notesSlide34.xml" Id="Re98f6ccdcbda413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04bfc14ad4330" /><Relationship Type="http://schemas.openxmlformats.org/officeDocument/2006/relationships/chart" Target="/ppt/slides/charts/chart19.xml" Id="R7baf21b29b7741bf" /><Relationship Type="http://schemas.openxmlformats.org/officeDocument/2006/relationships/image" Target="/ppt/media/image5.png" Id="R536a3fef8bdb4831" /><Relationship Type="http://schemas.openxmlformats.org/officeDocument/2006/relationships/notesSlide" Target="/ppt/notesSlides/notesSlide35.xml" Id="Rdb34a1874b8b4d1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b53b5cf64420a" /><Relationship Type="http://schemas.openxmlformats.org/officeDocument/2006/relationships/notesSlide" Target="/ppt/notesSlides/notesSlide36.xml" Id="R0443c5c35d1d41c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6137d9f264cf4" /><Relationship Type="http://schemas.openxmlformats.org/officeDocument/2006/relationships/chart" Target="/ppt/slides/charts/chart20.xml" Id="R43dc1121b9274e05" /><Relationship Type="http://schemas.openxmlformats.org/officeDocument/2006/relationships/notesSlide" Target="/ppt/notesSlides/notesSlide37.xml" Id="R445453bf58e6436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c849a78b54136" /><Relationship Type="http://schemas.openxmlformats.org/officeDocument/2006/relationships/chart" Target="/ppt/slides/charts/chart21.xml" Id="Reb8ae1534e8740c1" /><Relationship Type="http://schemas.openxmlformats.org/officeDocument/2006/relationships/notesSlide" Target="/ppt/notesSlides/notesSlide38.xml" Id="R85b225af27fb40d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73216a8e944c1" /><Relationship Type="http://schemas.openxmlformats.org/officeDocument/2006/relationships/chart" Target="/ppt/slides/charts/chart22.xml" Id="R0db32ce38e964288" /><Relationship Type="http://schemas.openxmlformats.org/officeDocument/2006/relationships/notesSlide" Target="/ppt/notesSlides/notesSlide39.xml" Id="R99a7c24c18ea47e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2ed66b77f4c26" /><Relationship Type="http://schemas.openxmlformats.org/officeDocument/2006/relationships/notesSlide" Target="/ppt/notesSlides/notesSlide40.xml" Id="Rf415a08407b34f1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166d7ebe64889" /><Relationship Type="http://schemas.openxmlformats.org/officeDocument/2006/relationships/notesSlide" Target="/ppt/notesSlides/notesSlide41.xml" Id="R67ba51d03f4148c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943cccbdc403e" /><Relationship Type="http://schemas.openxmlformats.org/officeDocument/2006/relationships/notesSlide" Target="/ppt/notesSlides/notesSlide42.xml" Id="R542255c25a9e4a1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349d6b30741bc" /><Relationship Type="http://schemas.openxmlformats.org/officeDocument/2006/relationships/chart" Target="/ppt/slides/charts/chart23.xml" Id="Re5ee4eaecbd14b2c" /><Relationship Type="http://schemas.openxmlformats.org/officeDocument/2006/relationships/image" Target="/ppt/media/image6.png" Id="R481e0c166b754426" /><Relationship Type="http://schemas.openxmlformats.org/officeDocument/2006/relationships/notesSlide" Target="/ppt/notesSlides/notesSlide43.xml" Id="R41d790356c9b431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a1d4bf10148c8" /><Relationship Type="http://schemas.openxmlformats.org/officeDocument/2006/relationships/notesSlide" Target="/ppt/notesSlides/notesSlide44.xml" Id="R38c725710dbf426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f10c044e642a4" /><Relationship Type="http://schemas.openxmlformats.org/officeDocument/2006/relationships/notesSlide" Target="/ppt/notesSlides/notesSlide45.xml" Id="R315591688bb74ee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919557cb14acb" /><Relationship Type="http://schemas.openxmlformats.org/officeDocument/2006/relationships/notesSlide" Target="/ppt/notesSlides/notesSlide46.xml" Id="R1ae8162c35a24d6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74c925f434cfa" /><Relationship Type="http://schemas.openxmlformats.org/officeDocument/2006/relationships/notesSlide" Target="/ppt/notesSlides/notesSlide47.xml" Id="R48a2ddb5d8244aa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128e277974f3b" /><Relationship Type="http://schemas.openxmlformats.org/officeDocument/2006/relationships/notesSlide" Target="/ppt/notesSlides/notesSlide48.xml" Id="R0a86a8deb04d4cb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564220ef540fc" /><Relationship Type="http://schemas.openxmlformats.org/officeDocument/2006/relationships/notesSlide" Target="/ppt/notesSlides/notesSlide49.xml" Id="R3934388d918b430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30d4133004b27" /><Relationship Type="http://schemas.openxmlformats.org/officeDocument/2006/relationships/notesSlide" Target="/ppt/notesSlides/notesSlide50.xml" Id="R91742dbb2a1e43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3</c:v>
              </c:pt>
              <c:pt idx="5">
                <c:v>3.2</c:v>
              </c:pt>
            </c:numLit>
          </c:val>
          <c:smooth val="1"/>
        </c:ser>
        <c:ser>
          <c:idx val="1"/>
          <c:order val="1"/>
          <c:tx>
            <c:v>Forecast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2.8</c:v>
              </c:pt>
              <c:pt idx="5">
                <c:v>3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2.1</c:v>
              </c:pt>
              <c:pt idx="6">
                <c:v>2.3</c:v>
              </c:pt>
              <c:pt idx="7">
                <c:v>2.4</c:v>
              </c:pt>
            </c:numLit>
          </c:val>
          <c:smooth val="1"/>
        </c:ser>
        <c:ser>
          <c:idx val="1"/>
          <c:order val="1"/>
          <c:tx>
            <c:v>Expected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1.3</c:v>
              </c:pt>
              <c:pt idx="6">
                <c:v>1.4</c:v>
              </c:pt>
              <c:pt idx="7">
                <c:v>1.5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Model A</c:v>
              </c:pt>
              <c:pt idx="1">
                <c:v>Model B</c:v>
              </c:pt>
              <c:pt idx="2">
                <c:v>Benchmark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0.74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3</c:v>
              </c:pt>
              <c:pt idx="5">
                <c:v>3.2</c:v>
              </c:pt>
            </c:numLit>
          </c:val>
          <c:smooth val="1"/>
        </c:ser>
        <c:ser>
          <c:idx val="1"/>
          <c:order val="1"/>
          <c:tx>
            <c:v>Forecast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2.8</c:v>
              </c:pt>
              <c:pt idx="5">
                <c:v>3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Model A</c:v>
              </c:pt>
              <c:pt idx="1">
                <c:v>Model B</c:v>
              </c:pt>
              <c:pt idx="2">
                <c:v>Benchmark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0.74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2.1</c:v>
              </c:pt>
              <c:pt idx="6">
                <c:v>2.3</c:v>
              </c:pt>
              <c:pt idx="7">
                <c:v>2.4</c:v>
              </c:pt>
            </c:numLit>
          </c:val>
          <c:smooth val="1"/>
        </c:ser>
        <c:ser>
          <c:idx val="1"/>
          <c:order val="1"/>
          <c:tx>
            <c:v>Expected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1.3</c:v>
              </c:pt>
              <c:pt idx="6">
                <c:v>1.4</c:v>
              </c:pt>
              <c:pt idx="7">
                <c:v>1.5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Model A</c:v>
              </c:pt>
              <c:pt idx="1">
                <c:v>Model B</c:v>
              </c:pt>
              <c:pt idx="2">
                <c:v>Benchmark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0.74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3</c:v>
              </c:pt>
              <c:pt idx="5">
                <c:v>3.2</c:v>
              </c:pt>
            </c:numLit>
          </c:val>
          <c:smooth val="1"/>
        </c:ser>
        <c:ser>
          <c:idx val="1"/>
          <c:order val="1"/>
          <c:tx>
            <c:v>Forecast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2.8</c:v>
              </c:pt>
              <c:pt idx="5">
                <c:v>3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Model A</c:v>
              </c:pt>
              <c:pt idx="1">
                <c:v>Model B</c:v>
              </c:pt>
              <c:pt idx="2">
                <c:v>Benchmark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0.74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2.1</c:v>
              </c:pt>
              <c:pt idx="6">
                <c:v>2.3</c:v>
              </c:pt>
              <c:pt idx="7">
                <c:v>2.4</c:v>
              </c:pt>
            </c:numLit>
          </c:val>
          <c:smooth val="1"/>
        </c:ser>
        <c:ser>
          <c:idx val="1"/>
          <c:order val="1"/>
          <c:tx>
            <c:v>Expected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1.3</c:v>
              </c:pt>
              <c:pt idx="6">
                <c:v>1.4</c:v>
              </c:pt>
              <c:pt idx="7">
                <c:v>1.5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Model A</c:v>
              </c:pt>
              <c:pt idx="1">
                <c:v>Model B</c:v>
              </c:pt>
              <c:pt idx="2">
                <c:v>Benchmark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0.74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3</c:v>
              </c:pt>
              <c:pt idx="5">
                <c:v>3.2</c:v>
              </c:pt>
            </c:numLit>
          </c:val>
          <c:smooth val="1"/>
        </c:ser>
        <c:ser>
          <c:idx val="1"/>
          <c:order val="1"/>
          <c:tx>
            <c:v>Forecast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2.8</c:v>
              </c:pt>
              <c:pt idx="5">
                <c:v>3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Model A</c:v>
              </c:pt>
              <c:pt idx="1">
                <c:v>Model B</c:v>
              </c:pt>
              <c:pt idx="2">
                <c:v>Benchmark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0.74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2.1</c:v>
              </c:pt>
              <c:pt idx="6">
                <c:v>2.3</c:v>
              </c:pt>
              <c:pt idx="7">
                <c:v>2.4</c:v>
              </c:pt>
            </c:numLit>
          </c:val>
          <c:smooth val="1"/>
        </c:ser>
        <c:ser>
          <c:idx val="1"/>
          <c:order val="1"/>
          <c:tx>
            <c:v>Expected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1.3</c:v>
              </c:pt>
              <c:pt idx="6">
                <c:v>1.4</c:v>
              </c:pt>
              <c:pt idx="7">
                <c:v>1.5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Model A</c:v>
              </c:pt>
              <c:pt idx="1">
                <c:v>Model B</c:v>
              </c:pt>
              <c:pt idx="2">
                <c:v>Benchmark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0.74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3</c:v>
              </c:pt>
              <c:pt idx="5">
                <c:v>3.2</c:v>
              </c:pt>
            </c:numLit>
          </c:val>
          <c:smooth val="1"/>
        </c:ser>
        <c:ser>
          <c:idx val="1"/>
          <c:order val="1"/>
          <c:tx>
            <c:v>Forecast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2.8</c:v>
              </c:pt>
              <c:pt idx="5">
                <c:v>3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Model A</c:v>
              </c:pt>
              <c:pt idx="1">
                <c:v>Model B</c:v>
              </c:pt>
              <c:pt idx="2">
                <c:v>Benchmark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0.74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2.1</c:v>
              </c:pt>
              <c:pt idx="6">
                <c:v>2.3</c:v>
              </c:pt>
              <c:pt idx="7">
                <c:v>2.4</c:v>
              </c:pt>
            </c:numLit>
          </c:val>
          <c:smooth val="1"/>
        </c:ser>
        <c:ser>
          <c:idx val="1"/>
          <c:order val="1"/>
          <c:tx>
            <c:v>Expected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1.3</c:v>
              </c:pt>
              <c:pt idx="6">
                <c:v>1.4</c:v>
              </c:pt>
              <c:pt idx="7">
                <c:v>1.5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Model A</c:v>
              </c:pt>
              <c:pt idx="1">
                <c:v>Model B</c:v>
              </c:pt>
              <c:pt idx="2">
                <c:v>Benchmark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0.74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3</c:v>
              </c:pt>
              <c:pt idx="5">
                <c:v>3.2</c:v>
              </c:pt>
            </c:numLit>
          </c:val>
          <c:smooth val="1"/>
        </c:ser>
        <c:ser>
          <c:idx val="1"/>
          <c:order val="1"/>
          <c:tx>
            <c:v>Forecast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6"/>
              <c:pt idx="0">
                <c:v>t−3</c:v>
              </c:pt>
              <c:pt idx="1">
                <c:v>t−2</c:v>
              </c:pt>
              <c:pt idx="2">
                <c:v>t−1</c:v>
              </c:pt>
              <c:pt idx="3">
                <c:v>t</c:v>
              </c:pt>
              <c:pt idx="4">
                <c:v>t+1</c:v>
              </c:pt>
              <c:pt idx="5">
                <c:v>t+2</c:v>
              </c:pt>
            </c:strLit>
          </c:cat>
          <c:val>
            <c:numLit>
              <c:formatCode>General</c:formatCode>
              <c:ptCount val="6"/>
              <c:pt idx="0">
                <c:v>2.1</c:v>
              </c:pt>
              <c:pt idx="1">
                <c:v>2.4</c:v>
              </c:pt>
              <c:pt idx="2">
                <c:v>2</c:v>
              </c:pt>
              <c:pt idx="3">
                <c:v>2.7</c:v>
              </c:pt>
              <c:pt idx="4">
                <c:v>2.8</c:v>
              </c:pt>
              <c:pt idx="5">
                <c:v>3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Model A</c:v>
              </c:pt>
              <c:pt idx="1">
                <c:v>Model B</c:v>
              </c:pt>
              <c:pt idx="2">
                <c:v>Benchmark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0.74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2.1</c:v>
              </c:pt>
              <c:pt idx="6">
                <c:v>2.3</c:v>
              </c:pt>
              <c:pt idx="7">
                <c:v>2.4</c:v>
              </c:pt>
            </c:numLit>
          </c:val>
          <c:smooth val="1"/>
        </c:ser>
        <c:ser>
          <c:idx val="1"/>
          <c:order val="1"/>
          <c:tx>
            <c:v>Expected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1.2</c:v>
              </c:pt>
              <c:pt idx="2">
                <c:v>1.1</c:v>
              </c:pt>
              <c:pt idx="3">
                <c:v>1.3</c:v>
              </c:pt>
              <c:pt idx="4">
                <c:v>1.2</c:v>
              </c:pt>
              <c:pt idx="5">
                <c:v>1.3</c:v>
              </c:pt>
              <c:pt idx="6">
                <c:v>1.4</c:v>
              </c:pt>
              <c:pt idx="7">
                <c:v>1.5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Model A</c:v>
              </c:pt>
              <c:pt idx="1">
                <c:v>Model B</c:v>
              </c:pt>
              <c:pt idx="2">
                <c:v>Benchmark</c:v>
              </c:pt>
            </c:strLit>
          </c:cat>
          <c:val>
            <c:numLit>
              <c:formatCode>General</c:formatCode>
              <c:ptCount val="3"/>
              <c:pt idx="0">
                <c:v>0.82</c:v>
              </c:pt>
              <c:pt idx="1">
                <c:v>0.74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1FCECA-E7B6-4834-9930-481576BC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11 · LECTURE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16AFAF0-646F-4C14-9117-065355D4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Forecasting, drift, and model governance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C853C84B-7741-4516-BC7A-1CABF290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What are you responsible for when someone acts on your model?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D855FAE0-F2D1-4862-83EB-5647C060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C5FDA0E0-5477-49AC-94AD-DD45D04A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9e011c2f9a49d5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2C3E379-EABB-41DE-88E8-EAA9BEB7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0B396FB-5B55-44E8-BC2C-025425ED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7F312F7-5229-4B65-BE22-34AF3D32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1/50</a:t>
            </a:r>
          </a:p>
        </p:txBody>
      </p:sp>
    </p:spTree>
    <p:extLst>
      <p:ext uri="{BB962C8B-B14F-4D97-AF65-F5344CB8AC3E}">
        <p14:creationId xmlns:p14="http://schemas.microsoft.com/office/powerpoint/2010/main" val="1796998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DED9E06-3175-4025-B461-8DDD56A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ROUTE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FDE8DB-C779-4CE2-8DD5-7A84D2EB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What, why, how—and what changes today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6156B0C-E62C-4356-BA88-DDF8F01F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FBE1EBBC-D3D9-471D-8420-596FC9BA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Evaluate forecasts as they would have been made, detect shift, and document a retirement rule.</a:t>
            </a:r>
          </a:p>
        </p:txBody>
      </p:sp>
      <p:cxnSp>
        <p:nvCxnSpPr>
          <p:cNvPr id="33" name="workflow-edge-0"/>
          <p:cNvCxnSpPr/>
          <p:nvPr/>
        </p:nvCxnSpPr>
        <p:spPr>
          <a:xfrm xmlns:a="http://schemas.openxmlformats.org/drawingml/2006/main">
            <a:off x="401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4" name="workflow-edge-1"/>
          <p:cNvCxnSpPr/>
          <p:nvPr/>
        </p:nvCxnSpPr>
        <p:spPr>
          <a:xfrm xmlns:a="http://schemas.openxmlformats.org/drawingml/2006/main">
            <a:off x="782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75EF954-58CD-493F-AA82-FAD7D3BA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6CD2387B-2336-4239-BE73-0CDB761C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object and notation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8EB5139-EFDD-4309-A0FB-61C73F02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A578D77-9BDD-4230-898C-E398FD5E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the problem it solves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07ADE59-D80C-4BA9-8423-7F4A8ED0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6967B8D3-FB98-42AF-BDAE-C545645A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Derive, run, interpret, challenge</a:t>
            </a:r>
          </a:p>
        </p:txBody>
      </p:sp>
      <p:sp>
        <p:nvSpPr>
          <p:cNvPr id="13" name="arc-caption">
            <a:extLst xmlns:a="http://schemas.openxmlformats.org/drawingml/2006/main">
              <a:ext uri="{FF2B5EF4-FFF2-40B4-BE49-F238E27FC236}">
                <a16:creationId xmlns:a16="http://schemas.microsoft.com/office/drawing/2014/main" id="{7B64380B-1167-437E-BA5A-D15EFF19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lecture ends by connecting the method to the required article and the 90-minute replication.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921B459-0416-4277-9778-5C8CC01E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BE0E153-A778-4353-BD12-5CF7BC30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D7574E2-845E-46DC-8EAC-E9A2D0AC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2/50</a:t>
            </a:r>
          </a:p>
        </p:txBody>
      </p:sp>
    </p:spTree>
    <p:extLst>
      <p:ext uri="{BB962C8B-B14F-4D97-AF65-F5344CB8AC3E}">
        <p14:creationId xmlns:p14="http://schemas.microsoft.com/office/powerpoint/2010/main" val="2028335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0722167-03DF-4D3F-AA88-D0E78C6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BRIDGE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29D4D8-F35A-4281-8650-2F9F4CA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adds to the previous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992033F-58D1-4D10-BA76-113D08BB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EC2BCEA-87A3-4C5B-AE87-C5296748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42F9BDC9-6403-41CD-A237-D814AF3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on the past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8448F72-B145-4937-BAD0-CFE850E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9F398-88B4-4608-8CBC-BD8A8783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in time order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813E847-5991-469A-AA48-F137E52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5B06538-3440-4271-B16A-1946C8AE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Monitor drift after deployment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B2689EB5-5199-4008-9D38-64D681C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New capacity: Evaluate forecasts as they would have been made, detect shift, and document a retirement rule.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5BA178C-F893-43FA-89E7-EF4761D9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8238FE7-B640-4729-8FC6-A911D8CE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1B02C07-0C24-48DA-B8DF-0718B11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3/50</a:t>
            </a:r>
          </a:p>
        </p:txBody>
      </p:sp>
    </p:spTree>
    <p:extLst>
      <p:ext uri="{BB962C8B-B14F-4D97-AF65-F5344CB8AC3E}">
        <p14:creationId xmlns:p14="http://schemas.microsoft.com/office/powerpoint/2010/main" val="1682870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879E458-8982-47B5-9785-D5A37C77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B1443C-1A5F-4737-9ADF-00603E7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this method enters the course now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0F1080E-78BA-475C-8A7A-D3184E75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9375FAB-598D-45B1-B53C-E4A6B4A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Forecasting is a repeated decision under change. Honest backtests and governance matter as much as the model.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BBF0CC00-F85A-4A76-B5B3-43996D28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Used in: economic forecasting · risk monitoring · model governance.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14A4EE25-29B7-46B6-B78D-3B660CA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DECISION TEST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D1298D37-B14B-4B62-A281-F46F5924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decision becomes better—or more honest—after learning this method?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c86952d47c44ea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F209D4-9856-4C73-AAE3-B880746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B6FB8A-5C00-41FF-AE5E-B6EE7A1E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746BA2D-F4CD-4EEF-84BC-4A84FC9A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4/50</a:t>
            </a:r>
          </a:p>
        </p:txBody>
      </p:sp>
    </p:spTree>
    <p:extLst>
      <p:ext uri="{BB962C8B-B14F-4D97-AF65-F5344CB8AC3E}">
        <p14:creationId xmlns:p14="http://schemas.microsoft.com/office/powerpoint/2010/main" val="1051477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3D1A375A-27C0-40D8-B3F3-901102D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HISTORICAL CONNECTION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ED376C-760A-4617-98D7-5DCC5C3C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face behind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B9FD74-325F-4002-872D-1B6C1E78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3473a86142498a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F53E7D98-3600-46E6-93CD-EA49458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Norbert Wiener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14817E5-DDA3-492B-B2C8-38B3BE64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1894–1964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D0392A48-F1A2-461A-BC2E-ECB7AD45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51A749B7-EBA6-4333-A71A-3F38989F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WHY THIS PERSON MATTERS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CF66DA74-37EB-43C9-9DF3-0C4346C7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1C18C04-9285-4AF5-AA3C-931DB362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Wiener’s work on stochastic processes, filtering, and feedback connects…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C93D5457-27BA-48BE-9E93-7D20E45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790D7BB-08AF-4AAE-A594-D4C4756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B2C235-44E5-4D09-AF14-93DEB6D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F4A5548-3DC3-4FD9-BC58-4AC2C2D9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5/50</a:t>
            </a:r>
          </a:p>
        </p:txBody>
      </p:sp>
      <p:sp>
        <p:nvSpPr>
          <p:cNvPr id="17" name="media-matte-wiener.png">
            <a:extLst xmlns:a="http://schemas.openxmlformats.org/drawingml/2006/main">
              <a:ext uri="{FF2B5EF4-FFF2-40B4-BE49-F238E27FC236}">
                <a16:creationId xmlns:a16="http://schemas.microsoft.com/office/drawing/2014/main" id="{45FE5C12-9EA2-4C77-A6B4-19CBC396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4bbc974204560"/>
          <a:stretch xmlns:a="http://schemas.openxmlformats.org/drawingml/2006/main"/>
        </p:blipFill>
        <p:spPr>
          <a:xfrm xmlns:a="http://schemas.openxmlformats.org/drawingml/2006/main">
            <a:off x="2824480" y="1600200"/>
            <a:ext cx="212344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833768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C46D8DC-BCB7-44A7-97D5-E4C894E8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245FAA-4936-4158-BB3B-ACC156D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Backtesting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EED24CB-01E6-4DB5-9104-42A7C502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4727DA8A-880A-4C0F-9339-37562FB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8098A579-F379-491E-A055-F08C4128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Backtesting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C2B5D3F2-260E-4CDA-AC60-FEC283EF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A219CB22-7F38-4689-9573-04CAB6E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Backtesting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FC23A60C-40A6-41F6-91BB-31DB1A4D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021612C8-3839-44C4-B546-90EC58CB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Concept drift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4666EA38-046C-4885-ADDD-D80504C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86CE83CB-9596-4225-8DA9-997426AD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F59B863-778A-4E95-9E7B-02C61CDA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665BB339-9AAF-446F-8D5D-4FAB233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Model card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06F4FD22-8D38-4C69-989A-5351FC53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90A1B9A2-921F-4E07-91F1-6D1632FA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hard benchmark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2FE4CF52-5102-4266-AF75-9C7E59B7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372605-14E1-482D-BDBF-831F8BE3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047865A-79E4-4EC2-91F8-EC389D48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05212DA-6D31-4BCB-8949-72B423D2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6/50</a:t>
            </a:r>
          </a:p>
        </p:txBody>
      </p:sp>
    </p:spTree>
    <p:extLst>
      <p:ext uri="{BB962C8B-B14F-4D97-AF65-F5344CB8AC3E}">
        <p14:creationId xmlns:p14="http://schemas.microsoft.com/office/powerpoint/2010/main" val="77537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336522D6-882D-4980-BF24-B159CDE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C8080E-B6DF-45B4-A94A-FDE619D1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Random K-fold is invalid here, and you know why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551955A-86C7-4C42-96EC-62096CC2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C2CC91D-45B6-49C1-83DC-9931C56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DM = mean(d_t) / SE_HAC(mean(d_t))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CDEB99D0-8273-4E93-A36F-5450852D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 04 established it: when observations are ordered in time, a random fold puts the future in the training set. The error you measure is not the error you will get. Three valid designs, each answering a different question: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92887728-73E4-417C-8CEE-4A16D762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8A4C5CF-FC6F-4028-93EE-3494BC3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Expanding window — train on 1..t, predict t+h. Uses all history; training size grows, so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5169d5c3c14d62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F00B727-856B-4731-9CBF-E727CE45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473B72-01C4-45C9-9C97-84FC908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02D54F5-5F6F-44B1-B45B-D60CA81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7/50</a:t>
            </a:r>
          </a:p>
        </p:txBody>
      </p:sp>
    </p:spTree>
    <p:extLst>
      <p:ext uri="{BB962C8B-B14F-4D97-AF65-F5344CB8AC3E}">
        <p14:creationId xmlns:p14="http://schemas.microsoft.com/office/powerpoint/2010/main" val="1663526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0722167-03DF-4D3F-AA88-D0E78C6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29D4D8-F35A-4281-8650-2F9F4CA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three designs, drawn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992033F-58D1-4D10-BA76-113D08BB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EC2BCEA-87A3-4C5B-AE87-C5296748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42F9BDC9-6403-41CD-A237-D814AF3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plt.subplots(3, 1, figsize=(7.4, 3.4), sharex=True) for ax, kind in zip(axes,…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8448F72-B145-4937-BAD0-CFE850E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9F398-88B4-4608-8CBC-BD8A8783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plt.subplots(3, 1, figsize=(7.4, 3.4), sharex=True) for ax, kind in zip(axes, ["expanding",…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813E847-5991-469A-AA48-F137E52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5B06538-3440-4271-B16A-1946C8AE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B2689EB5-5199-4008-9D38-64D681C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Compare with a hard benchmark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5BA178C-F893-43FA-89E7-EF4761D9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8238FE7-B640-4729-8FC6-A911D8CE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1B02C07-0C24-48DA-B8DF-0718B11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8/50</a:t>
            </a:r>
          </a:p>
        </p:txBody>
      </p:sp>
    </p:spTree>
    <p:extLst>
      <p:ext uri="{BB962C8B-B14F-4D97-AF65-F5344CB8AC3E}">
        <p14:creationId xmlns:p14="http://schemas.microsoft.com/office/powerpoint/2010/main" val="16828709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118ADAD-16A9-41FD-BD34-E8676CA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E0FEE4-1273-4A47-8A9C-635E31A3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three designs, drawn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9EE7C7E-D6C9-4275-9E72-35DD0BF0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38169DF-13A9-49A1-9FDB-AA1A261F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e_{t+h|t} = y_{t+h} − ŷ_{t+h|t}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EA6E5E0-3921-42B9-89C3-67BAEF23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plt.subplots(3, 1, figsize=(7.4, 3.4), sharex=True) for ax, kind in zip(axes, ["expanding", "fixed window (w = 6)", "blocked + purge/embargo"]): for r, t in enumerate([9, 11, 13]):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07C777BE-982C-4813-8205-507C72DD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823A2449-6805-4633-B788-752AB844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plt.subplots(3, 1, figsize=(7.4, 3.4), sharex=True) for ax, kind in zip(axes,…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718be839ad466b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98EF6C6-4456-450D-A88F-6BE45434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9E36B07-DAFF-4572-897B-E94361C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8B69772-4CC2-4286-8D2A-F40C4492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9/50</a:t>
            </a:r>
          </a:p>
        </p:txBody>
      </p:sp>
    </p:spTree>
    <p:extLst>
      <p:ext uri="{BB962C8B-B14F-4D97-AF65-F5344CB8AC3E}">
        <p14:creationId xmlns:p14="http://schemas.microsoft.com/office/powerpoint/2010/main" val="1618346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879E458-8982-47B5-9785-D5A37C77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B1443C-1A5F-4737-9ADF-00603E7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it, three ways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0F1080E-78BA-475C-8A7A-D3184E75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9375FAB-598D-45B1-B53C-E4A6B4A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DM = mean(d_t) / SE_HAC(mean(d_t))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BBF0CC00-F85A-4A76-B5B3-43996D28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backtest(window=None, first=6): """One row per predicted country-year, with the model's error and the benchmark's.""" for t in YEARS[first:]: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14A4EE25-29B7-46B6-B78D-3B660CA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D1298D37-B14B-4B62-A281-F46F5924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backtest(window=None, first=6): """One row per predicted country-year, with the model's error…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d790a12a0d4767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F209D4-9856-4C73-AAE3-B880746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B6FB8A-5C00-41FF-AE5E-B6EE7A1E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746BA2D-F4CD-4EEF-84BC-4A84FC9A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10/50</a:t>
            </a:r>
          </a:p>
        </p:txBody>
      </p:sp>
    </p:spTree>
    <p:extLst>
      <p:ext uri="{BB962C8B-B14F-4D97-AF65-F5344CB8AC3E}">
        <p14:creationId xmlns:p14="http://schemas.microsoft.com/office/powerpoint/2010/main" val="10514779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3D1A375A-27C0-40D8-B3F3-901102D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ED376C-760A-4617-98D7-5DCC5C3C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it, three ways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B9FD74-325F-4002-872D-1B6C1E78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57f86e3bfa4e18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F53E7D98-3600-46E6-93CD-EA49458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14817E5-DDA3-492B-B2C8-38B3BE64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4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backtest(window=None, first=6): """One row per predicted country-year, with the model's error…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D0392A48-F1A2-461A-BC2E-ECB7AD45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51A749B7-EBA6-4333-A71A-3F38989F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7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backtest(window=None, first=6): """One row per predicted country-year, with the model's error and…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CF66DA74-37EB-43C9-9DF3-0C4346C7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1C18C04-9285-4AF5-AA3C-931DB362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C93D5457-27BA-48BE-9E93-7D20E45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790D7BB-08AF-4AAE-A594-D4C4756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B2C235-44E5-4D09-AF14-93DEB6D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F4A5548-3DC3-4FD9-BC58-4AC2C2D9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11/50</a:t>
            </a:r>
          </a:p>
        </p:txBody>
      </p:sp>
      <p:sp>
        <p:nvSpPr>
          <p:cNvPr id="17" name="media-matte-forecast_shift.png">
            <a:extLst xmlns:a="http://schemas.openxmlformats.org/drawingml/2006/main">
              <a:ext uri="{FF2B5EF4-FFF2-40B4-BE49-F238E27FC236}">
                <a16:creationId xmlns:a16="http://schemas.microsoft.com/office/drawing/2014/main" id="{E4B5599B-7127-481A-9B1E-AE13FB54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c73361f174bfd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8337686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A4558CD1-BDA7-48D1-A6B2-30BE8D70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2DD735-348C-466E-AC98-024F341E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Comparing honestly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461C97-15F4-468F-AE22-E0999CDC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713C8F30-4593-488A-8801-FFBB7229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571D6FC-5D86-4587-A3F3-74F5198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06B993AF-796D-44B1-92F3-D6737C1A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A44A75F-AE82-4494-ACA0-45C06F9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11-forecasting-drift-and-governance/demo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session11_governance_demo.py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167F55FD-0BF9-43E8-9268-1E54DF2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B41F5DCD-D5FB-4097-AD10-21FFB972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y=np.array([10,11,13,12,14,15,18,17.])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errors=[]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t in range(3,len(y)):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forecast=y[t-1]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errors.append(y[t]-forecast)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print('rolling RMSE', np.sqrt(np.mean(np.square(errors))))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CAAE0FEB-05C9-4002-878A-369DF47D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D41D106-8D00-4A00-BFCD-007BC477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F4784EC-ACF3-48BF-9DCC-4243DC0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1559836-D1BC-48DD-8163-EBCF1C4B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12/50</a:t>
            </a:r>
          </a:p>
        </p:txBody>
      </p:sp>
    </p:spTree>
    <p:extLst>
      <p:ext uri="{BB962C8B-B14F-4D97-AF65-F5344CB8AC3E}">
        <p14:creationId xmlns:p14="http://schemas.microsoft.com/office/powerpoint/2010/main" val="11882866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336522D6-882D-4980-BF24-B159CDE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C8080E-B6DF-45B4-A94A-FDE619D1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Pick a benchmark that is hard to beat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551955A-86C7-4C42-96EC-62096CC2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C2CC91D-45B6-49C1-83DC-9931C56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DM = mean(d_t) / SE_HAC(mean(d_t))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CDEB99D0-8273-4E93-A36F-5450852D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lower RMSE without a significance statement is an anecdote. The difference between 0.0287 and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92887728-73E4-417C-8CEE-4A16D762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8A4C5CF-FC6F-4028-93EE-3494BC3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random walk — for anything close to a unit root, this is brutal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e6e1c00b8041ba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F00B727-856B-4731-9CBF-E727CE45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473B72-01C4-45C9-9C97-84FC908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02D54F5-5F6F-44B1-B45B-D60CA81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13/50</a:t>
            </a:r>
          </a:p>
        </p:txBody>
      </p:sp>
    </p:spTree>
    <p:extLst>
      <p:ext uri="{BB962C8B-B14F-4D97-AF65-F5344CB8AC3E}">
        <p14:creationId xmlns:p14="http://schemas.microsoft.com/office/powerpoint/2010/main" val="1663526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115326B-9C20-402D-8CEF-A8311B05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80AACA-0C2C-4C2A-A85E-D1614AAD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Diebold–Mariano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4C18669-3431-4917-AA6F-C6514DED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29EA1DAD-DE49-406B-AAAD-3FE7CEFE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With e1t, e2t the two models' errors and dt = L(e1t) - L(e2t): The variance must use a HAC (Newey–West) estimator, because dt is serially correlated at multi-step…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0CA88E14-39D6-41DF-A122-CB92FD21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5C29F9FB-CDA1-46A0-8977-B45AF160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e1t, e2t the two models' errors and dt = L(e1t) - L(e2t): The variance must use a HAC…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41F64D4-6F72-4543-B450-63D23934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41CA3172-E245-46ED-ACC8-CE28B512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DDCB67D3-5B3D-4AB9-B506-57580CBC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Lag truncation of at least h - 1.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3D23A7B9-AE98-4539-BD07-C8EAECA5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8FC8167D-C6CA-411F-8B61-DAEC4F12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F73C3727-4C05-432A-9C5F-3DF40D29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1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e1t, e2t the two models' errors and dt = L(e1t) - L(e2t): The variance must use a HAC (Newey–West)…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68041A92-E5ED-428C-8222-FEBCEAF6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486A9587-6D34-42EC-AEB4-62C0C0B0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CB7C5464-4A4F-431D-A190-7A3BC2E3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449BBD35-8A30-4319-BFFF-EAFE07AF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785C5CA-22EC-4FF2-B2B2-D55DC2A0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319103-14CF-4647-A8E6-52E6779B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AA1CB6-EE5A-44C2-BDF2-318C6066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14/50</a:t>
            </a:r>
          </a:p>
        </p:txBody>
      </p:sp>
    </p:spTree>
    <p:extLst>
      <p:ext uri="{BB962C8B-B14F-4D97-AF65-F5344CB8AC3E}">
        <p14:creationId xmlns:p14="http://schemas.microsoft.com/office/powerpoint/2010/main" val="15838167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118ADAD-16A9-41FD-BD34-E8676CA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E0FEE4-1273-4A47-8A9C-635E31A3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Diebold–Mariano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9EE7C7E-D6C9-4275-9E72-35DD0BF0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38169DF-13A9-49A1-9FDB-AA1A261F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DM = fracbar d√(Var-hat(bar d)) xrightarrowd N(0,1)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EA6E5E0-3921-42B9-89C3-67BAEF23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e1t, e2t the two models' errors and dt = L(e1t) - L(e2t): The variance must use a HAC (Newey–West) estimator, because dt is serially correlated at multi-step horizons. Lag truncation of at least h - 1.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07C777BE-982C-4813-8205-507C72DD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823A2449-6805-4633-B788-752AB844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e1t, e2t the two models' errors and dt = L(e1t) - L(e2t): The variance must use a HAC…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3ed5306ecf467d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98EF6C6-4456-450D-A88F-6BE45434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9E36B07-DAFF-4572-897B-E94361C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8B69772-4CC2-4286-8D2A-F40C4492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15/50</a:t>
            </a:r>
          </a:p>
        </p:txBody>
      </p:sp>
    </p:spTree>
    <p:extLst>
      <p:ext uri="{BB962C8B-B14F-4D97-AF65-F5344CB8AC3E}">
        <p14:creationId xmlns:p14="http://schemas.microsoft.com/office/powerpoint/2010/main" val="16183465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C46D8DC-BCB7-44A7-97D5-E4C894E8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245FAA-4936-4158-BB3B-ACC156D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it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EED24CB-01E6-4DB5-9104-42A7C502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4727DA8A-880A-4C0F-9339-37562FB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8098A579-F379-491E-A055-F08C4128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it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C2B5D3F2-260E-4CDA-AC60-FEC283EF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A219CB22-7F38-4689-9573-04CAB6E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 = backtest(None) def dmstat(dt, lag=1): """Diebold-Mariano with a Newey-West variance."""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FC23A60C-40A6-41F6-91BB-31DB1A4D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021612C8-3839-44C4-B546-90EC58CB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Model card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4666EA38-046C-4885-ADDD-D80504C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86CE83CB-9596-4225-8DA9-997426AD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F59B863-778A-4E95-9E7B-02C61CDA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665BB339-9AAF-446F-8D5D-4FAB233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Rolling origin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06F4FD22-8D38-4C69-989A-5351FC53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90A1B9A2-921F-4E07-91F1-6D1632FA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hard benchmark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2FE4CF52-5102-4266-AF75-9C7E59B7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372605-14E1-482D-BDBF-831F8BE3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047865A-79E4-4EC2-91F8-EC389D48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05212DA-6D31-4BCB-8949-72B423D2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16/50</a:t>
            </a:r>
          </a:p>
        </p:txBody>
      </p:sp>
    </p:spTree>
    <p:extLst>
      <p:ext uri="{BB962C8B-B14F-4D97-AF65-F5344CB8AC3E}">
        <p14:creationId xmlns:p14="http://schemas.microsoft.com/office/powerpoint/2010/main" val="775374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879E458-8982-47B5-9785-D5A37C77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B1443C-1A5F-4737-9ADF-00603E7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it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0F1080E-78BA-475C-8A7A-D3184E75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9375FAB-598D-45B1-B53C-E4A6B4A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Shift AUC = AUC(classify train vs deploy)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BBF0CC00-F85A-4A76-B5B3-43996D28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 = backtest(None) def dmstat(dt, lag=1): """Diebold-Mariano with a Newey-West variance."""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14A4EE25-29B7-46B6-B78D-3B660CA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D1298D37-B14B-4B62-A281-F46F5924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 = backtest(None) def dmstat(dt, lag=1): """Diebold-Mariano with a Newey-West variance."""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3af04c782547b8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F209D4-9856-4C73-AAE3-B880746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B6FB8A-5C00-41FF-AE5E-B6EE7A1E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746BA2D-F4CD-4EEF-84BC-4A84FC9A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17/50</a:t>
            </a:r>
          </a:p>
        </p:txBody>
      </p:sp>
    </p:spTree>
    <p:extLst>
      <p:ext uri="{BB962C8B-B14F-4D97-AF65-F5344CB8AC3E}">
        <p14:creationId xmlns:p14="http://schemas.microsoft.com/office/powerpoint/2010/main" val="10514779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0722167-03DF-4D3F-AA88-D0E78C6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29D4D8-F35A-4281-8650-2F9F4CA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test, drawn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992033F-58D1-4D10-BA76-113D08BB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EC2BCEA-87A3-4C5B-AE87-C5296748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42F9BDC9-6403-41CD-A237-D814AF3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dbar = diff.mean() sed = np.std(diff, ddof=1) / np.sqrt(len(diff)) fig, axes = plt.subplots(1, 2,…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8448F72-B145-4937-BAD0-CFE850E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9F398-88B4-4608-8CBC-BD8A8783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813E847-5991-469A-AA48-F137E52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5B06538-3440-4271-B16A-1946C8AE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hard benchmark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B2689EB5-5199-4008-9D38-64D681C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Monitor shift and define review triggers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5BA178C-F893-43FA-89E7-EF4761D9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8238FE7-B640-4729-8FC6-A911D8CE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1B02C07-0C24-48DA-B8DF-0718B11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18/50</a:t>
            </a:r>
          </a:p>
        </p:txBody>
      </p:sp>
    </p:spTree>
    <p:extLst>
      <p:ext uri="{BB962C8B-B14F-4D97-AF65-F5344CB8AC3E}">
        <p14:creationId xmlns:p14="http://schemas.microsoft.com/office/powerpoint/2010/main" val="16828709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3D1A375A-27C0-40D8-B3F3-901102D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ED376C-760A-4617-98D7-5DCC5C3C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Where the errors actually are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B9FD74-325F-4002-872D-1B6C1E78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a7c2a064b6446e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F53E7D98-3600-46E6-93CD-EA49458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14817E5-DDA3-492B-B2C8-38B3BE64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29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byyear = r.groupby("time").apply( lambda g: pd.Series("model": rmse(g.emodel), "rw": rmse(g.erw)),…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D0392A48-F1A2-461A-BC2E-ECB7AD45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51A749B7-EBA6-4333-A71A-3F38989F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CF66DA74-37EB-43C9-9DF3-0C4346C7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1C18C04-9285-4AF5-AA3C-931DB362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hard benchmark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C93D5457-27BA-48BE-9E93-7D20E45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790D7BB-08AF-4AAE-A594-D4C4756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B2C235-44E5-4D09-AF14-93DEB6D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F4A5548-3DC3-4FD9-BC58-4AC2C2D9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19/50</a:t>
            </a:r>
          </a:p>
        </p:txBody>
      </p:sp>
      <p:sp>
        <p:nvSpPr>
          <p:cNvPr id="17" name="media-matte-forecast_shift.png">
            <a:extLst xmlns:a="http://schemas.openxmlformats.org/drawingml/2006/main">
              <a:ext uri="{FF2B5EF4-FFF2-40B4-BE49-F238E27FC236}">
                <a16:creationId xmlns:a16="http://schemas.microsoft.com/office/drawing/2014/main" id="{F56E311B-4CAA-406E-BF24-0630465A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b41c5e1a24a99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8337686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A4558CD1-BDA7-48D1-A6B2-30BE8D70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2DD735-348C-466E-AC98-024F341E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Where the errors actually are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461C97-15F4-468F-AE22-E0999CDC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713C8F30-4593-488A-8801-FFBB7229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571D6FC-5D86-4587-A3F3-74F5198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06B993AF-796D-44B1-92F3-D6737C1A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A44A75F-AE82-4494-ACA0-45C06F9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11-forecasting-drift-and-governance/demo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session11_governance_demo.py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167F55FD-0BF9-43E8-9268-1E54DF2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B41F5DCD-D5FB-4097-AD10-21FFB972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94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by_year = r.groupby("time").apply(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lambda g: pd.Series({"model": rmse(g.e_model), "rw": rmse(g.e_rw)}),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include_groups=False)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plt.subplots(figsize=(6.8, 2.9))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ax.plot(by_year.index, by_year["model"], "o-", color=CL.accent, lw=2.3, ms=4.5, label="random forest")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ax.plot(by_year.index, by_year["rw"], "s--", color=CL.muted, lw=2.0, ms=4, label="random walk")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ax.axvspan(2021, by_year.index.max(), color=CL.warn, alpha=.10)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ax.text(2021.1, by_year.values.max() * .92, "documented\nregime shift", color=CL.warn,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fontsize=8.5, fontweight="600")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ax.set_xlabel("forecast origin"); ax.set_ylabel("RMSE at that origin")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ax.legend(fontsize=8)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CAAE0FEB-05C9-4002-878A-369DF47D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D41D106-8D00-4A00-BFCD-007BC477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F4784EC-ACF3-48BF-9DCC-4243DC0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1559836-D1BC-48DD-8163-EBCF1C4B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20/50</a:t>
            </a:r>
          </a:p>
        </p:txBody>
      </p:sp>
    </p:spTree>
    <p:extLst>
      <p:ext uri="{BB962C8B-B14F-4D97-AF65-F5344CB8AC3E}">
        <p14:creationId xmlns:p14="http://schemas.microsoft.com/office/powerpoint/2010/main" val="11882866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336522D6-882D-4980-BF24-B159CDE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C8080E-B6DF-45B4-A94A-FDE619D1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Distribution shift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551955A-86C7-4C42-96EC-62096CC2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C2CC91D-45B6-49C1-83DC-9931C56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e_{t+h|t} = y_{t+h} − ŷ_{t+h|t}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CDEB99D0-8273-4E93-A36F-5450852D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Distribution shift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92887728-73E4-417C-8CEE-4A16D762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8A4C5CF-FC6F-4028-93EE-3494BC3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Distribution shift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481dafedd24a56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F00B727-856B-4731-9CBF-E727CE45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473B72-01C4-45C9-9C97-84FC908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02D54F5-5F6F-44B1-B45B-D60CA81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21/50</a:t>
            </a:r>
          </a:p>
        </p:txBody>
      </p:sp>
    </p:spTree>
    <p:extLst>
      <p:ext uri="{BB962C8B-B14F-4D97-AF65-F5344CB8AC3E}">
        <p14:creationId xmlns:p14="http://schemas.microsoft.com/office/powerpoint/2010/main" val="1663526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118ADAD-16A9-41FD-BD34-E8676CA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E0FEE4-1273-4A47-8A9C-635E31A3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Four kinds, and they need different answers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9EE7C7E-D6C9-4275-9E72-35DD0BF0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38169DF-13A9-49A1-9FDB-AA1A261F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DM = mean(d_t) / SE_HAC(mean(d_t))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EA6E5E0-3921-42B9-89C3-67BAEF23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Only the first is detectable before the damage. The last is not a monitoring problem at all.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07C777BE-982C-4813-8205-507C72DD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823A2449-6805-4633-B788-752AB844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Only the first is detectable before the damage.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44fc07fa6c47db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98EF6C6-4456-450D-A88F-6BE45434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9E36B07-DAFF-4572-897B-E94361C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8B69772-4CC2-4286-8D2A-F40C4492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22/50</a:t>
            </a:r>
          </a:p>
        </p:txBody>
      </p:sp>
    </p:spTree>
    <p:extLst>
      <p:ext uri="{BB962C8B-B14F-4D97-AF65-F5344CB8AC3E}">
        <p14:creationId xmlns:p14="http://schemas.microsoft.com/office/powerpoint/2010/main" val="16183465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879E458-8982-47B5-9785-D5A37C77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B1443C-1A5F-4737-9ADF-00603E7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each one looks like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0F1080E-78BA-475C-8A7A-D3184E75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9375FAB-598D-45B1-B53C-E4A6B4A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Shift AUC = AUC(classify train vs deploy)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BBF0CC00-F85A-4A76-B5B3-43996D28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rng = np.random.defaultrng(7) fig, axes = plt.subplots(1, 4, figsize=(8.0, 2.35), sharex=True, sharey=True) xs = np.linspace(-3.4, 3.4, 220)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14A4EE25-29B7-46B6-B78D-3B660CA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D1298D37-B14B-4B62-A281-F46F5924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rng = np.random.defaultrng(7) fig, axes = plt.subplots(1, 4, figsize=(8.0, 2.35), sharex=True,…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ef0a7fde3c4838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F209D4-9856-4C73-AAE3-B880746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B6FB8A-5C00-41FF-AE5E-B6EE7A1E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746BA2D-F4CD-4EEF-84BC-4A84FC9A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23/50</a:t>
            </a:r>
          </a:p>
        </p:txBody>
      </p:sp>
    </p:spTree>
    <p:extLst>
      <p:ext uri="{BB962C8B-B14F-4D97-AF65-F5344CB8AC3E}">
        <p14:creationId xmlns:p14="http://schemas.microsoft.com/office/powerpoint/2010/main" val="10514779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10561ABC-C2FE-457B-AECD-B7C95EF1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6CB981FE-6700-42AE-9363-B82EC03C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each one looks like · Python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B16823E0-429B-4EF8-8585-95551E57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E0CB375A-3563-427A-884E-FC39012E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8D431519-B617-4FE1-A8A2-B492EA17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model can pass a random split because revised data and future information silently entered the past.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B50EB90B-9258-4D0E-BC73-E8EDA10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D8E80D1E-1FD7-4094-B5C5-22922DD9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benchmark is genuinely available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CC7E796-ADC5-432C-B452-009298B8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06108C-5179-4FA1-AE49-54C5CC9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3F872C3-8966-453A-8773-D693D0A0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24/50</a:t>
            </a:r>
          </a:p>
        </p:txBody>
      </p:sp>
    </p:spTree>
    <p:extLst>
      <p:ext uri="{BB962C8B-B14F-4D97-AF65-F5344CB8AC3E}">
        <p14:creationId xmlns:p14="http://schemas.microsoft.com/office/powerpoint/2010/main" val="11148798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C46D8DC-BCB7-44A7-97D5-E4C894E8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245FAA-4936-4158-BB3B-ACC156D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classifier diagnostic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EED24CB-01E6-4DB5-9104-42A7C502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4727DA8A-880A-4C0F-9339-37562FB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8098A579-F379-491E-A055-F08C4128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classifier…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C2B5D3F2-260E-4CDA-AC60-FEC283EF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A219CB22-7F38-4689-9573-04CAB6E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Pool the training and deployment features, label each row by period, and try to predict the…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FC23A60C-40A6-41F6-91BB-31DB1A4D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021612C8-3839-44C4-B546-90EC58CB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Model card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4666EA38-046C-4885-ADDD-D80504C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86CE83CB-9596-4225-8DA9-997426AD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Near 1.0 is an alarm.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F59B863-778A-4E95-9E7B-02C61CDA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665BB339-9AAF-446F-8D5D-4FAB233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Rolling origin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06F4FD22-8D38-4C69-989A-5351FC53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90A1B9A2-921F-4E07-91F1-6D1632FA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It costs four lines and it is the single highest-value monitoring check you can run.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2FE4CF52-5102-4266-AF75-9C7E59B7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372605-14E1-482D-BDBF-831F8BE3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047865A-79E4-4EC2-91F8-EC389D48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05212DA-6D31-4BCB-8949-72B423D2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25/50</a:t>
            </a:r>
          </a:p>
        </p:txBody>
      </p:sp>
    </p:spTree>
    <p:extLst>
      <p:ext uri="{BB962C8B-B14F-4D97-AF65-F5344CB8AC3E}">
        <p14:creationId xmlns:p14="http://schemas.microsoft.com/office/powerpoint/2010/main" val="775374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0722167-03DF-4D3F-AA88-D0E78C6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29D4D8-F35A-4281-8650-2F9F4CA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it — and run a placebo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992033F-58D1-4D10-BA76-113D08BB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EC2BCEA-87A3-4C5B-AE87-C5296748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42F9BDC9-6403-41CD-A237-D814AF3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Xlev = m[FEAT].tonumpy(float) chg = m.groupby("geo")[FEAT].pctchange().replace([np.inf, -np.inf],…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8448F72-B145-4937-BAD0-CFE850E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9F398-88B4-4608-8CBC-BD8A8783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813E847-5991-469A-AA48-F137E52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5B06538-3440-4271-B16A-1946C8AE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hard benchmark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B2689EB5-5199-4008-9D38-64D681C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Monitor shift and define review triggers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5BA178C-F893-43FA-89E7-EF4761D9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8238FE7-B640-4729-8FC6-A911D8CE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1B02C07-0C24-48DA-B8DF-0718B11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26/50</a:t>
            </a:r>
          </a:p>
        </p:txBody>
      </p:sp>
    </p:spTree>
    <p:extLst>
      <p:ext uri="{BB962C8B-B14F-4D97-AF65-F5344CB8AC3E}">
        <p14:creationId xmlns:p14="http://schemas.microsoft.com/office/powerpoint/2010/main" val="16828709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3D1A375A-27C0-40D8-B3F3-901102D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ED376C-760A-4617-98D7-5DCC5C3C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that carefully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B9FD74-325F-4002-872D-1B6C1E78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8feeb85a6247b4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F53E7D98-3600-46E6-93CD-EA49458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14817E5-DDA3-492B-B2C8-38B3BE64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plt.subplots(figsize=(6.6, 2.9)) w = .36; pos = np.arange(len(CUTS)) ax.bar(pos - w/2,…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D0392A48-F1A2-461A-BC2E-ECB7AD45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51A749B7-EBA6-4333-A71A-3F38989F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0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plt.subplots(figsize=(6.6, 2.9)) w = .36; pos = np.arange(len(CUTS)) ax.bar(pos - w/2, lev,…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CF66DA74-37EB-43C9-9DF3-0C4346C7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1C18C04-9285-4AF5-AA3C-931DB362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C93D5457-27BA-48BE-9E93-7D20E45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790D7BB-08AF-4AAE-A594-D4C4756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B2C235-44E5-4D09-AF14-93DEB6D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F4A5548-3DC3-4FD9-BC58-4AC2C2D9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27/50</a:t>
            </a:r>
          </a:p>
        </p:txBody>
      </p:sp>
      <p:sp>
        <p:nvSpPr>
          <p:cNvPr id="17" name="media-matte-forecast_shift.png">
            <a:extLst xmlns:a="http://schemas.openxmlformats.org/drawingml/2006/main">
              <a:ext uri="{FF2B5EF4-FFF2-40B4-BE49-F238E27FC236}">
                <a16:creationId xmlns:a16="http://schemas.microsoft.com/office/drawing/2014/main" id="{0A9EF852-6D3B-440E-9A68-99E4F54B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7245a22ac45b6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8337686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A4558CD1-BDA7-48D1-A6B2-30BE8D70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2DD735-348C-466E-AC98-024F341E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that carefully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461C97-15F4-468F-AE22-E0999CDC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713C8F30-4593-488A-8801-FFBB7229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571D6FC-5D86-4587-A3F3-74F5198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06B993AF-796D-44B1-92F3-D6737C1A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A44A75F-AE82-4494-ACA0-45C06F9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11-forecasting-drift-and-governance/demo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session11_governance_demo.py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167F55FD-0BF9-43E8-9268-1E54DF2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B41F5DCD-D5FB-4097-AD10-21FFB972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plt.subplots(figsize=(6.6, 2.9))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 = .36; pos = np.arange(len(CUTS))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ax.bar(pos - w/2, lev, w, color=CL.warn, label="features in levels")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ax.bar(pos + w/2, chgs, w, color=CL.good, label="features in year-on-year changes")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ax.axhline(.5, color=CL.ink, ls="--", lw=1.4)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ax.text(len(CUTS) - .55, .52, "no detectable shift", color=CL.ink, fontsize=8)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ax.set_xticks(pos); ax.set_xticklabels([f"split at {c}" for c in CUTS], fontsize=8)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ax.set_ylabel("classifier AUC"); ax.set_ylim(0, 1.05)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ax.legend(fontsize=7.5, loc="lower right"); ax.grid(axis="x", visible=False)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plt.show()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CAAE0FEB-05C9-4002-878A-369DF47D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D41D106-8D00-4A00-BFCD-007BC477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F4784EC-ACF3-48BF-9DCC-4243DC0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1559836-D1BC-48DD-8163-EBCF1C4B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28/50</a:t>
            </a:r>
          </a:p>
        </p:txBody>
      </p:sp>
    </p:spTree>
    <p:extLst>
      <p:ext uri="{BB962C8B-B14F-4D97-AF65-F5344CB8AC3E}">
        <p14:creationId xmlns:p14="http://schemas.microsoft.com/office/powerpoint/2010/main" val="11882866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115326B-9C20-402D-8CEF-A8311B05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80AACA-0C2C-4C2A-A85E-D1614AAD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lesson about diagnostics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4C18669-3431-4917-AA6F-C6514DED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29EA1DAD-DE49-406B-AAAD-3FE7CEFE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drift AUC of 0.87 means nothing on its own. It means something compared with the AUC at a date where you believe nothing happened. This is the same discipline as…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0CA88E14-39D6-41DF-A122-CB92FD21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5C29F9FB-CDA1-46A0-8977-B45AF160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Always run placebo cuts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41F64D4-6F72-4543-B450-63D23934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41CA3172-E245-46ED-ACC8-CE28B512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DDCB67D3-5B3D-4AB9-B506-57580CBC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Detrend or difference before asking about a regime change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3D23A7B9-AE98-4539-BD07-C8EAECA5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8FC8167D-C6CA-411F-8B61-DAEC4F12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F73C3727-4C05-432A-9C5F-3DF40D29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Report the whole profile, not the one number that supported your story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68041A92-E5ED-428C-8222-FEBCEAF6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486A9587-6D34-42EC-AEB4-62C0C0B0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CB7C5464-4A4F-431D-A190-7A3BC2E3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drift AUC of 0.87 means nothing on its own.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449BBD35-8A30-4319-BFFF-EAFE07AF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785C5CA-22EC-4FF2-B2B2-D55DC2A0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319103-14CF-4647-A8E6-52E6779B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AA1CB6-EE5A-44C2-BDF2-318C6066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29/50</a:t>
            </a:r>
          </a:p>
        </p:txBody>
      </p:sp>
    </p:spTree>
    <p:extLst>
      <p:ext uri="{BB962C8B-B14F-4D97-AF65-F5344CB8AC3E}">
        <p14:creationId xmlns:p14="http://schemas.microsoft.com/office/powerpoint/2010/main" val="15838167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336522D6-882D-4980-BF24-B159CDE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C8080E-B6DF-45B4-A94A-FDE619D1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Goodhart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551955A-86C7-4C42-96EC-62096CC2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C2CC91D-45B6-49C1-83DC-9931C56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e_{t+h|t} = y_{t+h} − ŷ_{t+h|t}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CDEB99D0-8273-4E93-A36F-5450852D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Goodhart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92887728-73E4-417C-8CEE-4A16D762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8A4C5CF-FC6F-4028-93EE-3494BC3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Goodhart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4190804cc845ba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F00B727-856B-4731-9CBF-E727CE45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473B72-01C4-45C9-9C97-84FC908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02D54F5-5F6F-44B1-B45B-D60CA81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30/50</a:t>
            </a:r>
          </a:p>
        </p:txBody>
      </p:sp>
    </p:spTree>
    <p:extLst>
      <p:ext uri="{BB962C8B-B14F-4D97-AF65-F5344CB8AC3E}">
        <p14:creationId xmlns:p14="http://schemas.microsoft.com/office/powerpoint/2010/main" val="1663526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118ADAD-16A9-41FD-BD34-E8676CA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E0FEE4-1273-4A47-8A9C-635E31A3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Stated precisely for this course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9EE7C7E-D6C9-4275-9E72-35DD0BF0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38169DF-13A9-49A1-9FDB-AA1A261F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DM = mean(d_t) / SE_HAC(mean(d_t))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EA6E5E0-3921-42B9-89C3-67BAEF23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&gt; When a measure becomes a target, the relationship the model learned between measure and outcome is &gt; exactly the relationship agents have an incentive to break. A credit-scoring feature that predicts default only until applicants learn it is used is not a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07C777BE-982C-4813-8205-507C72DD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823A2449-6805-4633-B788-752AB844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&gt; When a measure becomes a target, the relationship the model learned between measure and outcome…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e5748bcbcb4aed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98EF6C6-4456-450D-A88F-6BE45434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9E36B07-DAFF-4572-897B-E94361C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8B69772-4CC2-4286-8D2A-F40C4492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31/50</a:t>
            </a:r>
          </a:p>
        </p:txBody>
      </p:sp>
    </p:spTree>
    <p:extLst>
      <p:ext uri="{BB962C8B-B14F-4D97-AF65-F5344CB8AC3E}">
        <p14:creationId xmlns:p14="http://schemas.microsoft.com/office/powerpoint/2010/main" val="16183465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879E458-8982-47B5-9785-D5A37C77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B1443C-1A5F-4737-9ADF-00603E7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shape of a feature that stops working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0F1080E-78BA-475C-8A7A-D3184E75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9375FAB-598D-45B1-B53C-E4A6B4A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Shift AUC = AUC(classify train vs deploy)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BBF0CC00-F85A-4A76-B5B3-43996D28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 = np.arange(0, 25) signal = np.where(t &lt; deploy, 0.62, 0.62 np.exp(-(t - deploy) / 6.0) + 0.02) fig, ax = plt.subplots(figsize=(6.6, 2.8))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14A4EE25-29B7-46B6-B78D-3B660CA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D1298D37-B14B-4B62-A281-F46F5924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 = np.arange(0, 25) signal = np.where(t &lt; deploy, 0.62, 0.62 np.exp(-(t - deploy) / 6.0) + 0.02)…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6185f75aec4f6a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F209D4-9856-4C73-AAE3-B880746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B6FB8A-5C00-41FF-AE5E-B6EE7A1E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746BA2D-F4CD-4EEF-84BC-4A84FC9A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32/50</a:t>
            </a:r>
          </a:p>
        </p:txBody>
      </p:sp>
    </p:spTree>
    <p:extLst>
      <p:ext uri="{BB962C8B-B14F-4D97-AF65-F5344CB8AC3E}">
        <p14:creationId xmlns:p14="http://schemas.microsoft.com/office/powerpoint/2010/main" val="105147793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C46D8DC-BCB7-44A7-97D5-E4C894E8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245FAA-4936-4158-BB3B-ACC156D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shape of a feature that stops working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EED24CB-01E6-4DB5-9104-42A7C502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4727DA8A-880A-4C0F-9339-37562FB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8098A579-F379-491E-A055-F08C4128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shape of a feature…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C2B5D3F2-260E-4CDA-AC60-FEC283EF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A219CB22-7F38-4689-9573-04CAB6E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 = np.arange(0, 25) signal = np.where(t &lt; deploy, 0.62, 0.62 np.exp(-(t - deploy) / 6.0) + 0.02)…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FC23A60C-40A6-41F6-91BB-31DB1A4D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021612C8-3839-44C4-B546-90EC58CB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Concept drift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4666EA38-046C-4885-ADDD-D80504C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86CE83CB-9596-4225-8DA9-997426AD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 = np.arange(0, 25) signal = np.where(t &lt; deploy, 0.62, 0.62 np.exp(-(t - deploy) / 6.0) + 0.02) fig,…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F59B863-778A-4E95-9E7B-02C61CDA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665BB339-9AAF-446F-8D5D-4FAB233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Model card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06F4FD22-8D38-4C69-989A-5351FC53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90A1B9A2-921F-4E07-91F1-6D1632FA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2FE4CF52-5102-4266-AF75-9C7E59B7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372605-14E1-482D-BDBF-831F8BE3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047865A-79E4-4EC2-91F8-EC389D48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05212DA-6D31-4BCB-8949-72B423D2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33/50</a:t>
            </a:r>
          </a:p>
        </p:txBody>
      </p:sp>
    </p:spTree>
    <p:extLst>
      <p:ext uri="{BB962C8B-B14F-4D97-AF65-F5344CB8AC3E}">
        <p14:creationId xmlns:p14="http://schemas.microsoft.com/office/powerpoint/2010/main" val="775374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0722167-03DF-4D3F-AA88-D0E78C6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29D4D8-F35A-4281-8650-2F9F4CA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a deployable model comes with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992033F-58D1-4D10-BA76-113D08BB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EC2BCEA-87A3-4C5B-AE87-C5296748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42F9BDC9-6403-41CD-A237-D814AF3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Intended use, and out-of-scope uses — what decision, and what it must not be used for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8448F72-B145-4937-BAD0-CFE850E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9F398-88B4-4608-8CBC-BD8A8783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 lineage — sources, vintages, collection dates, licences, quality issues, checksums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813E847-5991-469A-AA48-F137E52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5B06538-3440-4271-B16A-1946C8AE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Preprocessing — every transformation, in order, with the code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B2689EB5-5199-4008-9D38-64D681C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Validation — the design, why it matches deployment, metrics, benchmark, subgroup performance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5BA178C-F893-43FA-89E7-EF4761D9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8238FE7-B640-4729-8FC6-A911D8CE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1B02C07-0C24-48DA-B8DF-0718B11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34/50</a:t>
            </a:r>
          </a:p>
        </p:txBody>
      </p:sp>
    </p:spTree>
    <p:extLst>
      <p:ext uri="{BB962C8B-B14F-4D97-AF65-F5344CB8AC3E}">
        <p14:creationId xmlns:p14="http://schemas.microsoft.com/office/powerpoint/2010/main" val="16828709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3D1A375A-27C0-40D8-B3F3-901102D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ED376C-760A-4617-98D7-5DCC5C3C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is not bureaucracy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B9FD74-325F-4002-872D-1B6C1E78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af21b29b7741bf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F53E7D98-3600-46E6-93CD-EA49458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14817E5-DDA3-492B-B2C8-38B3BE64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Section 5 is Sessions 03, 06 and 10: what is load-bearing, and where does it fail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D0392A48-F1A2-461A-BC2E-ECB7AD45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51A749B7-EBA6-4333-A71A-3F38989F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Section 6 is Sessions 04, 08 and 11: what would tell you it has stopped working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CF66DA74-37EB-43C9-9DF3-0C4346C7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1C18C04-9285-4AF5-AA3C-931DB362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2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Sections 5 and 6 are where the intellectual content of this entire course finally has to be written…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C93D5457-27BA-48BE-9E93-7D20E45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790D7BB-08AF-4AAE-A594-D4C4756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B2C235-44E5-4D09-AF14-93DEB6D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F4A5548-3DC3-4FD9-BC58-4AC2C2D9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35/50</a:t>
            </a:r>
          </a:p>
        </p:txBody>
      </p:sp>
      <p:sp>
        <p:nvSpPr>
          <p:cNvPr id="17" name="media-matte-forecast_shift.png">
            <a:extLst xmlns:a="http://schemas.openxmlformats.org/drawingml/2006/main">
              <a:ext uri="{FF2B5EF4-FFF2-40B4-BE49-F238E27FC236}">
                <a16:creationId xmlns:a16="http://schemas.microsoft.com/office/drawing/2014/main" id="{AF8D90DA-26B2-4402-9D55-F6846239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a3fef8bdb4831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83376861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A4558CD1-BDA7-48D1-A6B2-30BE8D70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2DD735-348C-466E-AC98-024F341E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monitoring plan is a threshold, not a hope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461C97-15F4-468F-AE22-E0999CDC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713C8F30-4593-488A-8801-FFBB7229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571D6FC-5D86-4587-A3F3-74F5198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06B993AF-796D-44B1-92F3-D6737C1A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A44A75F-AE82-4494-ACA0-45C06F9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11-forecasting-drift-and-governance/demo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session11_governance_demo.py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167F55FD-0BF9-43E8-9268-1E54DF2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B41F5DCD-D5FB-4097-AD10-21FFB972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plt.subplots(figsize=(6.8, 2.9))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base = by_year["model"].iloc[:4].mean()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ax.plot(by_year.index, by_year["model"], "o-", color=CL.accent, lw=2.3, ms=4.5)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ax.axhline(base, color=CL.good, lw=1.6)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ax.text(by_year.index[0], base * 1.03, "baseline RMSE at deployment", color=CL.good, fontsize=8)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ax.axhline(base * 1.5, color=CL.warn, ls="--", lw=1.8)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ax.text(by_year.index[0], base * 1.53, "review trigger: +50%", color=CL.warn, fontsize=8,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fontweight="600")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over = by_year[by_year["model"] &gt; base * 1.5]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ax.scatter(over.index, over["model"], s=90, facecolor="none", edgecolor=CL.warn, lw=2, zorder=6)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ax.set_xlabel("forecast origin"); ax.set_ylabel("RMSE")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plt.show()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CAAE0FEB-05C9-4002-878A-369DF47D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D41D106-8D00-4A00-BFCD-007BC477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F4784EC-ACF3-48BF-9DCC-4243DC0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1559836-D1BC-48DD-8163-EBCF1C4B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36/50</a:t>
            </a:r>
          </a:p>
        </p:txBody>
      </p:sp>
    </p:spTree>
    <p:extLst>
      <p:ext uri="{BB962C8B-B14F-4D97-AF65-F5344CB8AC3E}">
        <p14:creationId xmlns:p14="http://schemas.microsoft.com/office/powerpoint/2010/main" val="11882866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336522D6-882D-4980-BF24-B159CDE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C8080E-B6DF-45B4-A94A-FDE619D1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monitoring plan is a threshold, not a hope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551955A-86C7-4C42-96EC-62096CC2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C2CC91D-45B6-49C1-83DC-9931C56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DM = mean(d_t) / SE_HAC(mean(d_t))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CDEB99D0-8273-4E93-A36F-5450852D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plt.subplots(figsize=(6.8, 2.9)) base = byyear["model"].iloc[:4].mean() ax.plot(byyear.index, byyear["model"], "o-", color=CL.accent, lw=2.3, ms=4.5)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92887728-73E4-417C-8CEE-4A16D762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8A4C5CF-FC6F-4028-93EE-3494BC3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plt.subplots(figsize=(6.8, 2.9)) base = byyear["model"].iloc[:4].mean()…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dc1121b9274e05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F00B727-856B-4731-9CBF-E727CE45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473B72-01C4-45C9-9C97-84FC908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02D54F5-5F6F-44B1-B45B-D60CA81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37/50</a:t>
            </a:r>
          </a:p>
        </p:txBody>
      </p:sp>
    </p:spTree>
    <p:extLst>
      <p:ext uri="{BB962C8B-B14F-4D97-AF65-F5344CB8AC3E}">
        <p14:creationId xmlns:p14="http://schemas.microsoft.com/office/powerpoint/2010/main" val="1663526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118ADAD-16A9-41FD-BD34-E8676CA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E0FEE4-1273-4A47-8A9C-635E31A3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The arc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9EE7C7E-D6C9-4275-9E72-35DD0BF0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38169DF-13A9-49A1-9FDB-AA1A261F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Shift AUC = AUC(classify train vs deploy)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EA6E5E0-3921-42B9-89C3-67BAEF23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The arc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07C777BE-982C-4813-8205-507C72DD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823A2449-6805-4633-B788-752AB844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The arc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8ae1534e8740c1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98EF6C6-4456-450D-A88F-6BE45434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9E36B07-DAFF-4572-897B-E94361C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8B69772-4CC2-4286-8D2A-F40C4492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38/50</a:t>
            </a:r>
          </a:p>
        </p:txBody>
      </p:sp>
    </p:spTree>
    <p:extLst>
      <p:ext uri="{BB962C8B-B14F-4D97-AF65-F5344CB8AC3E}">
        <p14:creationId xmlns:p14="http://schemas.microsoft.com/office/powerpoint/2010/main" val="161834653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879E458-8982-47B5-9785-D5A37C77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B1443C-1A5F-4737-9ADF-00603E7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 session, one dial and one self-deception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0F1080E-78BA-475C-8A7A-D3184E75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A9375FAB-598D-45B1-B53C-E4A6B4A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e_{t+h|t} = y_{t+h} − ŷ_{t+h|t}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BBF0CC00-F85A-4A76-B5B3-43996D28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 session, one dial and one self-deception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14A4EE25-29B7-46B6-B78D-3B660CA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D1298D37-B14B-4B62-A281-F46F5924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 session, one dial and one self-deception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b32ce38e964288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F209D4-9856-4C73-AAE3-B880746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B6FB8A-5C00-41FF-AE5E-B6EE7A1E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746BA2D-F4CD-4EEF-84BC-4A84FC9A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39/50</a:t>
            </a:r>
          </a:p>
        </p:txBody>
      </p:sp>
    </p:spTree>
    <p:extLst>
      <p:ext uri="{BB962C8B-B14F-4D97-AF65-F5344CB8AC3E}">
        <p14:creationId xmlns:p14="http://schemas.microsoft.com/office/powerpoint/2010/main" val="105147793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115326B-9C20-402D-8CEF-A8311B05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80AACA-0C2C-4C2A-A85E-D1614AAD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…continued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4C18669-3431-4917-AA6F-C6514DED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29EA1DAD-DE49-406B-AAAD-3FE7CEFE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Session 10 is the exception that defines the course: no tuning parameter buys you identification.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0CA88E14-39D6-41DF-A122-CB92FD21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5C29F9FB-CDA1-46A0-8977-B45AF160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0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 10 is the exception that defines the course: no tuning parameter buys you identification.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41F64D4-6F72-4543-B450-63D23934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41CA3172-E245-46ED-ACC8-CE28B512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DDCB67D3-5B3D-4AB9-B506-57580CBC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3D23A7B9-AE98-4539-BD07-C8EAECA5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8FC8167D-C6CA-411F-8B61-DAEC4F12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F73C3727-4C05-432A-9C5F-3DF40D29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hard benchmark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68041A92-E5ED-428C-8222-FEBCEAF6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486A9587-6D34-42EC-AEB4-62C0C0B0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CB7C5464-4A4F-431D-A190-7A3BC2E3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Monitor shift and define review triggers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449BBD35-8A30-4319-BFFF-EAFE07AF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785C5CA-22EC-4FF2-B2B2-D55DC2A0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319103-14CF-4647-A8E6-52E6779B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AA1CB6-EE5A-44C2-BDF2-318C6066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40/50</a:t>
            </a:r>
          </a:p>
        </p:txBody>
      </p:sp>
    </p:spTree>
    <p:extLst>
      <p:ext uri="{BB962C8B-B14F-4D97-AF65-F5344CB8AC3E}">
        <p14:creationId xmlns:p14="http://schemas.microsoft.com/office/powerpoint/2010/main" val="158381672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C46D8DC-BCB7-44A7-97D5-E4C894E8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245FAA-4936-4158-BB3B-ACC156D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Back to Europe 2031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EED24CB-01E6-4DB5-9104-42A7C502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4727DA8A-880A-4C0F-9339-37562FB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8098A579-F379-491E-A055-F08C4128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Back to Europe 2031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C2B5D3F2-260E-4CDA-AC60-FEC283EF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A219CB22-7F38-4689-9573-04CAB6E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Back to Europe 2031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FC23A60C-40A6-41F6-91BB-31DB1A4D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021612C8-3839-44C4-B546-90EC58CB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Rolling origin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4666EA38-046C-4885-ADDD-D80504C5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86CE83CB-9596-4225-8DA9-997426AD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F59B863-778A-4E95-9E7B-02C61CDA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665BB339-9AAF-446F-8D5D-4FAB233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Concept drift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06F4FD22-8D38-4C69-989A-5351FC53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90A1B9A2-921F-4E07-91F1-6D1632FA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hard benchmark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2FE4CF52-5102-4266-AF75-9C7E59B7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7372605-14E1-482D-BDBF-831F8BE3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047865A-79E4-4EC2-91F8-EC389D48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05212DA-6D31-4BCB-8949-72B423D2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41/50</a:t>
            </a:r>
          </a:p>
        </p:txBody>
      </p:sp>
    </p:spTree>
    <p:extLst>
      <p:ext uri="{BB962C8B-B14F-4D97-AF65-F5344CB8AC3E}">
        <p14:creationId xmlns:p14="http://schemas.microsoft.com/office/powerpoint/2010/main" val="7753746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0722167-03DF-4D3F-AA88-D0E78C6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29D4D8-F35A-4281-8650-2F9F4CA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has changed since Session 01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992033F-58D1-4D10-BA76-113D08BB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EC2BCEA-87A3-4C5B-AE87-C5296748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42F9BDC9-6403-41CD-A237-D814AF3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Nothing about the scenario.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8448F72-B145-4937-BAD0-CFE850E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9F398-88B4-4608-8CBC-BD8A8783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Everything about what you are able to ask of it.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813E847-5991-469A-AA48-F137E52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5B06538-3440-4271-B16A-1946C8AE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That is the deliverable of this course: not a list of methods, but the reflex of asking what would…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B2689EB5-5199-4008-9D38-64D681C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That is the deliverable of this course: not a list of methods, but the reflex of asking what would have…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5BA178C-F893-43FA-89E7-EF4761D9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8238FE7-B640-4729-8FC6-A911D8CE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1B02C07-0C24-48DA-B8DF-0718B11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42/50</a:t>
            </a:r>
          </a:p>
        </p:txBody>
      </p:sp>
    </p:spTree>
    <p:extLst>
      <p:ext uri="{BB962C8B-B14F-4D97-AF65-F5344CB8AC3E}">
        <p14:creationId xmlns:p14="http://schemas.microsoft.com/office/powerpoint/2010/main" val="168287097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3D1A375A-27C0-40D8-B3F3-901102D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ED376C-760A-4617-98D7-5DCC5C3C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Takeaways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B9FD74-325F-4002-872D-1B6C1E78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ee4eaecbd14b2c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F53E7D98-3600-46E6-93CD-EA49458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14817E5-DDA3-492B-B2C8-38B3BE64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Takeaways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D0392A48-F1A2-461A-BC2E-ECB7AD45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51A749B7-EBA6-4333-A71A-3F38989F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Backtest with historical information sets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CF66DA74-37EB-43C9-9DF3-0C4346C7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61C18C04-9285-4AF5-AA3C-931DB362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hard benchmark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C93D5457-27BA-48BE-9E93-7D20E45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790D7BB-08AF-4AAE-A594-D4C4756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B2C235-44E5-4D09-AF14-93DEB6D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F4A5548-3DC3-4FD9-BC58-4AC2C2D9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43/50</a:t>
            </a:r>
          </a:p>
        </p:txBody>
      </p:sp>
      <p:sp>
        <p:nvSpPr>
          <p:cNvPr id="17" name="media-matte-forecast_shift.png">
            <a:extLst xmlns:a="http://schemas.openxmlformats.org/drawingml/2006/main">
              <a:ext uri="{FF2B5EF4-FFF2-40B4-BE49-F238E27FC236}">
                <a16:creationId xmlns:a16="http://schemas.microsoft.com/office/drawing/2014/main" id="{E0D07849-397D-49F0-A2C5-44844119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e0c166b754426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83376861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A4558CD1-BDA7-48D1-A6B2-30BE8D70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2DD735-348C-466E-AC98-024F341E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461C97-15F4-468F-AE22-E0999CDC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713C8F30-4593-488A-8801-FFBB7229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571D6FC-5D86-4587-A3F3-74F5198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06B993AF-796D-44B1-92F3-D6737C1A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A44A75F-AE82-4494-ACA0-45C06F9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11-forecasting-drift-and-governance/demo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session11_governance_demo.py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167F55FD-0BF9-43E8-9268-1E54DF2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B41F5DCD-D5FB-4097-AD10-21FFB972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y=np.array([10,11,13,12,14,15,18,17.])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errors=[]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t in range(3,len(y)):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forecast=y[t-1]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errors.append(y[t]-forecast)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print('rolling RMSE', np.sqrt(np.mean(np.square(errors))))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CAAE0FEB-05C9-4002-878A-369DF47D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D41D106-8D00-4A00-BFCD-007BC477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F4784EC-ACF3-48BF-9DCC-4243DC0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1559836-D1BC-48DD-8163-EBCF1C4B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44/50</a:t>
            </a:r>
          </a:p>
        </p:txBody>
      </p:sp>
    </p:spTree>
    <p:extLst>
      <p:ext uri="{BB962C8B-B14F-4D97-AF65-F5344CB8AC3E}">
        <p14:creationId xmlns:p14="http://schemas.microsoft.com/office/powerpoint/2010/main" val="118828667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10561ABC-C2FE-457B-AECD-B7C95EF1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6CB981FE-6700-42AE-9363-B82EC03C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loses marks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B16823E0-429B-4EF8-8585-95551E57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E0CB375A-3563-427A-884E-FC39012E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8D431519-B617-4FE1-A8A2-B492EA17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model can pass a random split because revised data and future information silently entered the past.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B50EB90B-9258-4D0E-BC73-E8EDA10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D8E80D1E-1FD7-4094-B5C5-22922DD9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loss matches use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CC7E796-ADC5-432C-B452-009298B8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06108C-5179-4FA1-AE49-54C5CC9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3F872C3-8966-453A-8773-D693D0A0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45/50</a:t>
            </a:r>
          </a:p>
        </p:txBody>
      </p:sp>
    </p:spTree>
    <p:extLst>
      <p:ext uri="{BB962C8B-B14F-4D97-AF65-F5344CB8AC3E}">
        <p14:creationId xmlns:p14="http://schemas.microsoft.com/office/powerpoint/2010/main" val="111487983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0497E0FA-CFCF-46BF-9875-078459A8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DC03C8-341C-4F77-89FF-486C8DE5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Now, the practice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6BBB3EC-93C5-4944-B2FC-7DE26253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D49693C1-F9A7-4D24-9BA6-D9C6F997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2F9A6D6F-E4C7-4D44-B58F-C87D8F2E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Ninety minutes, in your groups. You will backtest one forecast properly, test it against a hard benchmark, run a drift diagnostic with a placebo — and write the governance file. The governance file is the deliverable.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D240BAAC-ECD6-4000-9104-AC7A61B8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2E4BAA92-CBDC-45C1-8A87-C4810E1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A2EF7909-1326-4AC0-B8B4-A440AD0F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model can pass a random split because revised data and future information silently entered the past.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B5BA7F5B-B6CB-4366-8C02-38083D00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Estimate + comparison + uncertainty + assumption +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3AA0147-1353-4BE4-8248-FB4A247A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D46F14F-2548-46AA-9FC6-1D6B7ABB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3658372-F132-4297-85D8-41843A41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46/50</a:t>
            </a:r>
          </a:p>
        </p:txBody>
      </p:sp>
    </p:spTree>
    <p:extLst>
      <p:ext uri="{BB962C8B-B14F-4D97-AF65-F5344CB8AC3E}">
        <p14:creationId xmlns:p14="http://schemas.microsoft.com/office/powerpoint/2010/main" val="117112672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1E8791DB-7158-4F91-AC51-D047B150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REQUIRED READING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7B3843-6E13-46FA-BF5D-692B89DC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article becomes the practice challenge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F620692-5051-4C35-9BE1-9E5800B0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ing-status-0">
            <a:extLst xmlns:a="http://schemas.openxmlformats.org/drawingml/2006/main">
              <a:ext uri="{FF2B5EF4-FFF2-40B4-BE49-F238E27FC236}">
                <a16:creationId xmlns:a16="http://schemas.microsoft.com/office/drawing/2014/main" id="{67068E1F-D0F5-4420-AD16-D5124E04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BEFORE CLASS</a:t>
            </a:r>
          </a:p>
        </p:txBody>
      </p:sp>
      <p:sp>
        <p:nvSpPr>
          <p:cNvPr id="5" name="reading-title-0">
            <a:extLst xmlns:a="http://schemas.openxmlformats.org/drawingml/2006/main">
              <a:ext uri="{FF2B5EF4-FFF2-40B4-BE49-F238E27FC236}">
                <a16:creationId xmlns:a16="http://schemas.microsoft.com/office/drawing/2014/main" id="{5ABCD21D-AE38-464D-9814-5E15B20A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Fraiberger et al. (2021) — Media Sentiment and International Asset Prices</a:t>
            </a:r>
          </a:p>
        </p:txBody>
      </p:sp>
      <p:sp>
        <p:nvSpPr>
          <p:cNvPr id="6" name="reading-why-0">
            <a:extLst xmlns:a="http://schemas.openxmlformats.org/drawingml/2006/main">
              <a:ext uri="{FF2B5EF4-FFF2-40B4-BE49-F238E27FC236}">
                <a16:creationId xmlns:a16="http://schemas.microsoft.com/office/drawing/2014/main" id="{4A0D94FB-4627-4EE7-88B0-F10B73B4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article: news sentiment and return prediction across 25 countries</a:t>
            </a:r>
          </a:p>
        </p:txBody>
      </p:sp>
      <p:sp>
        <p:nvSpPr>
          <p:cNvPr id="7" name="reading-url-0">
            <a:extLst xmlns:a="http://schemas.openxmlformats.org/drawingml/2006/main">
              <a:ext uri="{FF2B5EF4-FFF2-40B4-BE49-F238E27FC236}">
                <a16:creationId xmlns:a16="http://schemas.microsoft.com/office/drawing/2014/main" id="{B31906A8-13EA-480C-9D4B-30BB446D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https://doi.org/10.1016/j.jinteco.2021.103526</a:t>
            </a:r>
          </a:p>
        </p:txBody>
      </p:sp>
      <p:sp>
        <p:nvSpPr>
          <p:cNvPr id="8" name="rule-48-348">
            <a:extLst xmlns:a="http://schemas.openxmlformats.org/drawingml/2006/main">
              <a:ext uri="{FF2B5EF4-FFF2-40B4-BE49-F238E27FC236}">
                <a16:creationId xmlns:a16="http://schemas.microsoft.com/office/drawing/2014/main" id="{88FE8295-8740-49CF-A264-96C19C1F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ing-status-1">
            <a:extLst xmlns:a="http://schemas.openxmlformats.org/drawingml/2006/main">
              <a:ext uri="{FF2B5EF4-FFF2-40B4-BE49-F238E27FC236}">
                <a16:creationId xmlns:a16="http://schemas.microsoft.com/office/drawing/2014/main" id="{B68018D6-1353-42D9-80EE-CD7333BB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10" name="reading-title-1">
            <a:extLst xmlns:a="http://schemas.openxmlformats.org/drawingml/2006/main">
              <a:ext uri="{FF2B5EF4-FFF2-40B4-BE49-F238E27FC236}">
                <a16:creationId xmlns:a16="http://schemas.microsoft.com/office/drawing/2014/main" id="{32EF29A6-BFB3-4246-90EC-A3877EA3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Harvard Dataverse 10.7910/DVN/QNKFJF</a:t>
            </a:r>
          </a:p>
        </p:txBody>
      </p:sp>
      <p:sp>
        <p:nvSpPr>
          <p:cNvPr id="11" name="reading-why-1">
            <a:extLst xmlns:a="http://schemas.openxmlformats.org/drawingml/2006/main">
              <a:ext uri="{FF2B5EF4-FFF2-40B4-BE49-F238E27FC236}">
                <a16:creationId xmlns:a16="http://schemas.microsoft.com/office/drawing/2014/main" id="{395F56AA-19CC-4B50-B4A3-AD2EF949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replication package: public data, Stata programs, and article figures</a:t>
            </a:r>
          </a:p>
        </p:txBody>
      </p:sp>
      <p:sp>
        <p:nvSpPr>
          <p:cNvPr id="12" name="reading-url-1">
            <a:extLst xmlns:a="http://schemas.openxmlformats.org/drawingml/2006/main">
              <a:ext uri="{FF2B5EF4-FFF2-40B4-BE49-F238E27FC236}">
                <a16:creationId xmlns:a16="http://schemas.microsoft.com/office/drawing/2014/main" id="{8BBA4A5D-2A6E-4ACE-809E-3210ACD5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https://doi.org/10.7910/DVN/QNKFJF</a:t>
            </a:r>
          </a:p>
        </p:txBody>
      </p:sp>
      <p:sp>
        <p:nvSpPr>
          <p:cNvPr id="13" name="rule-48-526">
            <a:extLst xmlns:a="http://schemas.openxmlformats.org/drawingml/2006/main">
              <a:ext uri="{FF2B5EF4-FFF2-40B4-BE49-F238E27FC236}">
                <a16:creationId xmlns:a16="http://schemas.microsoft.com/office/drawing/2014/main" id="{BEE6DFED-7F89-443F-B45C-9F751BBA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ding-status-2">
            <a:extLst xmlns:a="http://schemas.openxmlformats.org/drawingml/2006/main">
              <a:ext uri="{FF2B5EF4-FFF2-40B4-BE49-F238E27FC236}">
                <a16:creationId xmlns:a16="http://schemas.microsoft.com/office/drawing/2014/main" id="{6DDB4A59-86CD-40E1-8DC8-EE3C2CE8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5" name="reading-title-2">
            <a:extLst xmlns:a="http://schemas.openxmlformats.org/drawingml/2006/main">
              <a:ext uri="{FF2B5EF4-FFF2-40B4-BE49-F238E27FC236}">
                <a16:creationId xmlns:a16="http://schemas.microsoft.com/office/drawing/2014/main" id="{1433F4E4-A3C4-4F14-A6E2-8341D754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ISLR sections on validation and flexible prediction</a:t>
            </a:r>
          </a:p>
        </p:txBody>
      </p:sp>
      <p:sp>
        <p:nvSpPr>
          <p:cNvPr id="16" name="reading-why-2">
            <a:extLst xmlns:a="http://schemas.openxmlformats.org/drawingml/2006/main">
              <a:ext uri="{FF2B5EF4-FFF2-40B4-BE49-F238E27FC236}">
                <a16:creationId xmlns:a16="http://schemas.microsoft.com/office/drawing/2014/main" id="{6AEA35D2-00AE-4E65-B3C9-C04B6CF1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review before the rolling-origin analysis</a:t>
            </a:r>
          </a:p>
        </p:txBody>
      </p:sp>
      <p:sp>
        <p:nvSpPr>
          <p:cNvPr id="17" name="reading-url-2">
            <a:extLst xmlns:a="http://schemas.openxmlformats.org/drawingml/2006/main">
              <a:ext uri="{FF2B5EF4-FFF2-40B4-BE49-F238E27FC236}">
                <a16:creationId xmlns:a16="http://schemas.microsoft.com/office/drawing/2014/main" id="{CDAD72D5-0C2E-41BA-9917-523CE65E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DB8D71D-5E91-4EF1-B2C1-C866EFE8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8C9E15-F722-44B9-A929-B17939BE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B56313A-0CA3-4158-80D4-5299AEE9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47/50</a:t>
            </a:r>
          </a:p>
        </p:txBody>
      </p:sp>
    </p:spTree>
    <p:extLst>
      <p:ext uri="{BB962C8B-B14F-4D97-AF65-F5344CB8AC3E}">
        <p14:creationId xmlns:p14="http://schemas.microsoft.com/office/powerpoint/2010/main" val="167732095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0497E0FA-CFCF-46BF-9875-078459A8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DC03C8-341C-4F77-89FF-486C8DE5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output into a defensible sentence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6BBB3EC-93C5-4944-B2FC-7DE26253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D49693C1-F9A7-4D24-9BA6-D9C6F997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2F9A6D6F-E4C7-4D44-B58F-C87D8F2E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forecast is a dated statement: say what was known, the horizon, the benchmark, and the retirement trigger.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D240BAAC-ECD6-4000-9104-AC7A61B8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2E4BAA92-CBDC-45C1-8A87-C4810E1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A2EF7909-1326-4AC0-B8B4-A440AD0F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model can pass a random split because revised data and future information silently entered the past.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B5BA7F5B-B6CB-4366-8C02-38083D00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Name the unit, estimate, benchmark, uncertainty, assumption, and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3AA0147-1353-4BE4-8248-FB4A247A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D46F14F-2548-46AA-9FC6-1D6B7ABB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3658372-F132-4297-85D8-41843A41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48/50</a:t>
            </a:r>
          </a:p>
        </p:txBody>
      </p:sp>
    </p:spTree>
    <p:extLst>
      <p:ext uri="{BB962C8B-B14F-4D97-AF65-F5344CB8AC3E}">
        <p14:creationId xmlns:p14="http://schemas.microsoft.com/office/powerpoint/2010/main" val="117112672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115326B-9C20-402D-8CEF-A8311B05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LIMITATIONS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80AACA-0C2C-4C2A-A85E-D1614AAD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method does not give you for free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4C18669-3431-4917-AA6F-C6514DED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29EA1DAD-DE49-406B-AAAD-3FE7CEFE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3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model can pass a random split because revised data and future information silently entered the past.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0CA88E14-39D6-41DF-A122-CB92FD21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5C29F9FB-CDA1-46A0-8977-B45AF160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look-ahead in vintages or features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41F64D4-6F72-4543-B450-63D23934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41CA3172-E245-46ED-ACC8-CE28B512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DDCB67D3-5B3D-4AB9-B506-57580CBC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benchmark is genuinely available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3D23A7B9-AE98-4539-BD07-C8EAECA5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8FC8167D-C6CA-411F-8B61-DAEC4F12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F73C3727-4C05-432A-9C5F-3DF40D29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loss matches use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68041A92-E5ED-428C-8222-FEBCEAF6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486A9587-6D34-42EC-AEB4-62C0C0B0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CB7C5464-4A4F-431D-A190-7A3BC2E3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Monitoring thresholds have owners and actions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449BBD35-8A30-4319-BFFF-EAFE07AF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limitation is not a disclaimer at the end. It determines the design, diagnostic, and wording of the result.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785C5CA-22EC-4FF2-B2B2-D55DC2A0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319103-14CF-4647-A8E6-52E6779B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AA1CB6-EE5A-44C2-BDF2-318C6066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49/50</a:t>
            </a:r>
          </a:p>
        </p:txBody>
      </p:sp>
    </p:spTree>
    <p:extLst>
      <p:ext uri="{BB962C8B-B14F-4D97-AF65-F5344CB8AC3E}">
        <p14:creationId xmlns:p14="http://schemas.microsoft.com/office/powerpoint/2010/main" val="158381672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160FA579-2758-40B5-AD35-939E33BC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NEXT 90 MINUTES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6C4867-8A9C-48C8-A77E-A6E14E17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sentiment forecasting—and govern it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D544CDA-4B36-48D1-901E-31E4523F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318E3251-232C-4059-BA80-21862F7B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international-asset result, backtest it honestly, and decide whether you would sign the deployment.</a:t>
            </a:r>
          </a:p>
        </p:txBody>
      </p:sp>
      <p:sp>
        <p:nvSpPr>
          <p:cNvPr id="5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9C8FCFAC-B04F-47C2-9D7F-297E477F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practice-task-0">
            <a:extLst xmlns:a="http://schemas.openxmlformats.org/drawingml/2006/main">
              <a:ext uri="{FF2B5EF4-FFF2-40B4-BE49-F238E27FC236}">
                <a16:creationId xmlns:a16="http://schemas.microsoft.com/office/drawing/2014/main" id="{DC3CF54E-3E3D-4FEE-A5D1-1CC991C1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forecast origin and horizon</a:t>
            </a:r>
          </a:p>
        </p:txBody>
      </p:sp>
      <p:sp>
        <p:nvSpPr>
          <p:cNvPr id="7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EAF03F05-CDB4-4A8D-B028-BFFB955E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practice-task-1">
            <a:extLst xmlns:a="http://schemas.openxmlformats.org/drawingml/2006/main">
              <a:ext uri="{FF2B5EF4-FFF2-40B4-BE49-F238E27FC236}">
                <a16:creationId xmlns:a16="http://schemas.microsoft.com/office/drawing/2014/main" id="{F45139CD-3C9E-4741-96D9-D208F258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sentiment-return result</a:t>
            </a:r>
          </a:p>
        </p:txBody>
      </p:sp>
      <p:sp>
        <p:nvSpPr>
          <p:cNvPr id="9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EB797923-7B44-4F1E-A65C-8991CA59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practice-task-2">
            <a:extLst xmlns:a="http://schemas.openxmlformats.org/drawingml/2006/main">
              <a:ext uri="{FF2B5EF4-FFF2-40B4-BE49-F238E27FC236}">
                <a16:creationId xmlns:a16="http://schemas.microsoft.com/office/drawing/2014/main" id="{813D1E8C-14E4-4C3E-9C3F-169965B0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a rolling-origin benchmark comparison</a:t>
            </a:r>
          </a:p>
        </p:txBody>
      </p:sp>
      <p:sp>
        <p:nvSpPr>
          <p:cNvPr id="11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ED6B57E5-BABE-4545-8714-E330CF6E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practice-task-3">
            <a:extLst xmlns:a="http://schemas.openxmlformats.org/drawingml/2006/main">
              <a:ext uri="{FF2B5EF4-FFF2-40B4-BE49-F238E27FC236}">
                <a16:creationId xmlns:a16="http://schemas.microsoft.com/office/drawing/2014/main" id="{094B4EBB-7E87-4B6A-9F59-0FE84DFE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 for distribution shift</a:t>
            </a:r>
          </a:p>
        </p:txBody>
      </p:sp>
      <p:sp>
        <p:nvSpPr>
          <p:cNvPr id="13" name="practice-step-4">
            <a:extLst xmlns:a="http://schemas.openxmlformats.org/drawingml/2006/main">
              <a:ext uri="{FF2B5EF4-FFF2-40B4-BE49-F238E27FC236}">
                <a16:creationId xmlns:a16="http://schemas.microsoft.com/office/drawing/2014/main" id="{E9A0B097-54AD-4D96-A1E9-6F6498DA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practice-task-4">
            <a:extLst xmlns:a="http://schemas.openxmlformats.org/drawingml/2006/main">
              <a:ext uri="{FF2B5EF4-FFF2-40B4-BE49-F238E27FC236}">
                <a16:creationId xmlns:a16="http://schemas.microsoft.com/office/drawing/2014/main" id="{2660E12F-E3F1-4C25-AE90-815F21B6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Write monitoring, trigger, and limitation</a:t>
            </a:r>
          </a:p>
        </p:txBody>
      </p:sp>
      <p:sp>
        <p:nvSpPr>
          <p:cNvPr id="15" name="practice-callout-bg">
            <a:extLst xmlns:a="http://schemas.openxmlformats.org/drawingml/2006/main">
              <a:ext uri="{FF2B5EF4-FFF2-40B4-BE49-F238E27FC236}">
                <a16:creationId xmlns:a16="http://schemas.microsoft.com/office/drawing/2014/main" id="{D0F73F54-A95E-4799-BB83-57ECF52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505200" cy="3714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practice-callout-label">
            <a:extLst xmlns:a="http://schemas.openxmlformats.org/drawingml/2006/main">
              <a:ext uri="{FF2B5EF4-FFF2-40B4-BE49-F238E27FC236}">
                <a16:creationId xmlns:a16="http://schemas.microsoft.com/office/drawing/2014/main" id="{8BA39465-E7F0-45E5-AACC-0B05CEB5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AIM FOR</a:t>
            </a:r>
          </a:p>
        </p:txBody>
      </p:sp>
      <p:sp>
        <p:nvSpPr>
          <p:cNvPr id="17" name="practice-callout">
            <a:extLst xmlns:a="http://schemas.openxmlformats.org/drawingml/2006/main">
              <a:ext uri="{FF2B5EF4-FFF2-40B4-BE49-F238E27FC236}">
                <a16:creationId xmlns:a16="http://schemas.microsoft.com/office/drawing/2014/main" id="{3F712DFB-1C8D-4DE2-B3CF-41AA9803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reproducible result.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comparison.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stressed assumption.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short group presentation.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AB00B5B-F51F-4E54-9AAA-8196B83A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8F84D1-1473-4483-92E0-DC51EE70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11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3D658DC-C59D-48B7-BD68-2E03A21A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50/50</a:t>
            </a:r>
          </a:p>
        </p:txBody>
      </p:sp>
    </p:spTree>
    <p:extLst>
      <p:ext uri="{BB962C8B-B14F-4D97-AF65-F5344CB8AC3E}">
        <p14:creationId xmlns:p14="http://schemas.microsoft.com/office/powerpoint/2010/main" val="352845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MATH60033A Session 11 Lecture</dc:title>
  <dcterms:created xsi:type="dcterms:W3CDTF">2026-08-23T23:39:40.9830000Z</dcterms:created>
  <dcterms:modified xsi:type="dcterms:W3CDTF">2026-08-23T23:39:40.9830000Z</dcterms:modified>
</coreProperties>
</file>