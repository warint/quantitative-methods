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urope2031.ai" TargetMode="Externa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when time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Goodhart’s law, stated precisely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 of the course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among expanding, fixed-window and </a:t>
            </a:r>
            <a:r>
              <a:rPr b="1"/>
              <a:t>purged blocked</a:t>
            </a:r>
            <a:r>
              <a:rPr/>
              <a:t> designs, and say why</a:t>
            </a:r>
          </a:p>
          <a:p>
            <a:pPr lvl="0"/>
            <a:r>
              <a:rPr/>
              <a:t>Compare against a benchmark with a </a:t>
            </a:r>
            <a:r>
              <a:rPr b="1"/>
              <a:t>Diebold–Mariano</a:t>
            </a:r>
            <a:r>
              <a:rPr/>
              <a:t> statistic, not an eyeball</a:t>
            </a:r>
          </a:p>
          <a:p>
            <a:pPr lvl="0"/>
            <a:r>
              <a:rPr/>
              <a:t>Detect covariate shift with a classifier — and interpret the number against a </a:t>
            </a:r>
            <a:r>
              <a:rPr b="1"/>
              <a:t>placebo</a:t>
            </a:r>
          </a:p>
          <a:p>
            <a:pPr lvl="0"/>
            <a:r>
              <a:rPr/>
              <a:t>Distinguish covariate shift, label shift, concept drift and </a:t>
            </a:r>
            <a:r>
              <a:rPr b="1"/>
              <a:t>feedback</a:t>
            </a:r>
          </a:p>
          <a:p>
            <a:pPr lvl="0"/>
            <a:r>
              <a:rPr/>
              <a:t>Write a governance file a competent successor could act 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K-fold is invalid here, and you know why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04 established it: when observations are ordered in time, a random fold puts the future in the training set. The error you measure is not the error you will get.</a:t>
                </a:r>
              </a:p>
              <a:p>
                <a:pPr lvl="0" indent="0" marL="0">
                  <a:buNone/>
                </a:pPr>
                <a:r>
                  <a:rPr/>
                  <a:t>Three valid designs, each answering a different question: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. Uses all history; training size grows, so early and late errors are not comparable</a:t>
                </a:r>
              </a:p>
              <a:p>
                <a:pPr lvl="0"/>
                <a:r>
                  <a:rPr b="1"/>
                  <a:t>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size; </a:t>
                </a:r>
                <a:r>
                  <a:rPr b="1"/>
                  <a:t>adapts to structural change</a:t>
                </a:r>
                <a:r>
                  <a:rPr/>
                  <a:t>; discards old information</a:t>
                </a:r>
              </a:p>
              <a:p>
                <a:pPr lvl="0"/>
                <a:r>
                  <a:rPr b="1"/>
                  <a:t>Blocked, with purge and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between train and test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designs, drawn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05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Blue: training. Red: the origin being predicted. Grey: the purge gap — essential whenever features are built from rolling windows, because those windows straddle the boundary.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that are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·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the Philadelphia Fed real-time dataset — or state clearly that you have not.</a:t>
            </a:r>
          </a:p>
          <a:p>
            <a:pPr lvl="0" indent="0" marL="0">
              <a:buNone/>
            </a:pPr>
            <a:r>
              <a:rPr b="1"/>
              <a:t>2 · Everything inside the loop.</a:t>
            </a:r>
            <a:r>
              <a:rPr/>
              <a:t> Standardisation, factor extraction (</a:t>
            </a:r>
            <a:r>
              <a:rPr b="1"/>
              <a:t>Session 08</a:t>
            </a:r>
            <a:r>
              <a:rPr/>
              <a:t>), feature selection, hyperparameter choice. Every one of them. Every origin.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it,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backtest(window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, first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"""One row per predicted country-year, with the model's error and the benchmark's."""</a:t>
            </a:r>
            <a:br/>
            <a:r>
              <a:rPr>
                <a:latin typeface="Courier"/>
              </a:rPr>
              <a:t>    out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YEARS[first:]:</a:t>
            </a:r>
            <a:br/>
            <a:r>
              <a:rPr>
                <a:latin typeface="Courier"/>
              </a:rPr>
              <a:t>        tr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window </a:t>
            </a:r>
            <a:r>
              <a:rPr b="1">
                <a:solidFill>
                  <a:srgbClr val="007020"/>
                </a:solidFill>
                <a:latin typeface="Courier"/>
              </a:rPr>
              <a:t>is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((d.time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window))</a:t>
            </a:r>
            <a:br/>
            <a:r>
              <a:rPr>
                <a:latin typeface="Courier"/>
              </a:rPr>
              <a:t>       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tr.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or</a:t>
            </a:r>
            <a:r>
              <a:rPr>
                <a:latin typeface="Courier"/>
              </a:rPr>
              <a:t> te.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    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 .fit(d.loc[tr, FEAT], d.loc[tr, </a:t>
            </a:r>
            <a:r>
              <a:rPr>
                <a:solidFill>
                  <a:srgbClr val="4070A0"/>
                </a:solidFill>
                <a:latin typeface="Courier"/>
              </a:rPr>
              <a:t>"y_next"</a:t>
            </a:r>
            <a:r>
              <a:rPr>
                <a:latin typeface="Courier"/>
              </a:rPr>
              <a:t>]).predict(d.loc[te, FEAT]))</a:t>
            </a:r>
            <a:br/>
            <a:r>
              <a:rPr>
                <a:latin typeface="Courier"/>
              </a:rPr>
              <a:t>        truth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d.loc[te, </a:t>
            </a:r>
            <a:r>
              <a:rPr>
                <a:solidFill>
                  <a:srgbClr val="4070A0"/>
                </a:solidFill>
                <a:latin typeface="Courier"/>
              </a:rPr>
              <a:t>"y_next"</a:t>
            </a:r>
            <a:r>
              <a:rPr>
                <a:latin typeface="Courier"/>
              </a:rPr>
              <a:t>].to_numpy()</a:t>
            </a:r>
            <a:br/>
            <a:r>
              <a:rPr>
                <a:latin typeface="Courier"/>
              </a:rPr>
              <a:t>        out.append(pd.DataFrame({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: t,</a:t>
            </a:r>
            <a:br/>
            <a:r>
              <a:rPr>
                <a:latin typeface="Courier"/>
              </a:rPr>
              <a:t> 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"e_model"</a:t>
            </a:r>
            <a:r>
              <a:rPr>
                <a:latin typeface="Courier"/>
              </a:rPr>
              <a:t>: truth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f,</a:t>
            </a:r>
            <a:br/>
            <a:r>
              <a:rPr>
                <a:latin typeface="Courier"/>
              </a:rPr>
              <a:t> 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"e_rw"</a:t>
            </a:r>
            <a:r>
              <a:rPr>
                <a:latin typeface="Courier"/>
              </a:rPr>
              <a:t>: truth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d.loc[te, TGT].to_numpy()}))  </a:t>
            </a:r>
            <a:r>
              <a:rPr i="1">
                <a:solidFill>
                  <a:srgbClr val="60A0B0"/>
                </a:solidFill>
                <a:latin typeface="Courier"/>
              </a:rPr>
              <a:t># random walk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pd.concat(out, ignore_index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e: np.sqrt((e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w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"expanding"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), (</a:t>
            </a:r>
            <a:r>
              <a:rPr>
                <a:solidFill>
                  <a:srgbClr val="4070A0"/>
                </a:solidFill>
                <a:latin typeface="Courier"/>
              </a:rPr>
              <a:t>"fixed 5y"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(</a:t>
            </a:r>
            <a:r>
              <a:rPr>
                <a:solidFill>
                  <a:srgbClr val="4070A0"/>
                </a:solidFill>
                <a:latin typeface="Courier"/>
              </a:rPr>
              <a:t>"fixed 8y"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)]: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backtest(w)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 model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rmse(r.e_model)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   random walk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rmse(r.e_rw)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expanding   model RMSE 0.0287   random walk 0.0283
fixed 5y    model RMSE 0.0285   random walk 0.0283
fixed 8y    model RMSE 0.0290   random walk 0.0283</a:t>
            </a:r>
          </a:p>
          <a:p>
            <a:pPr lvl="0" indent="0" marL="0">
              <a:buNone/>
            </a:pPr>
            <a:r>
              <a:rPr/>
              <a:t>Read the second column. </a:t>
            </a:r>
            <a:r>
              <a:rPr b="1"/>
              <a:t>The random walk wins.</a:t>
            </a:r>
            <a:r>
              <a:rPr/>
              <a:t> Thirteen features, two hundred trees, and a rule that says “next year looks like this year” is better.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Comparing honestly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</a:t>
                </a:r>
                <a:r>
                  <a:rPr b="1"/>
                  <a:t>random walk</a:t>
                </a:r>
                <a:r>
                  <a:rPr/>
                  <a:t> — for anything close to a unit root, this is brutal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 b="1"/>
                  <a:t>)</a:t>
                </a:r>
                <a:r>
                  <a:rPr/>
                  <a:t> — cheap, and it uses the persistence you were going to claim credit for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consensus forecast</a:t>
                </a:r>
                <a:r>
                  <a:rPr/>
                  <a:t> — if you cannot beat the professionals, say so</a:t>
                </a:r>
              </a:p>
              <a:p>
                <a:pPr lvl="0" indent="0" marL="0">
                  <a:buNone/>
                </a:pPr>
                <a:r>
                  <a:rPr/>
                  <a:t>A lower RMSE </a:t>
                </a:r>
                <a:r>
                  <a:rPr b="1"/>
                  <a:t>without a significance statement</a:t>
                </a:r>
                <a:r>
                  <a:rPr/>
                  <a:t> is an anecdote. The difference between 0.0287 and 0.0283 is not a finding until you have tested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the two models’ errors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</m:t>
                                  </m:r>
                                  <m:r>
                                    <m:rPr>
                                      <m:sty m:val="p"/>
                                    </m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variance must use a </a:t>
                </a:r>
                <a:r>
                  <a:rPr b="1"/>
                  <a:t>HAC (Newey–West)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Two cautions: not valid for </a:t>
                </a:r>
                <a:r>
                  <a:rPr b="1"/>
                  <a:t>nested</a:t>
                </a:r>
                <a:r>
                  <a:rPr/>
                  <a:t> models on the same sample (use Clark–West), and with small samples apply the </a:t>
                </a:r>
                <a:r>
                  <a:rPr b="1"/>
                  <a:t>Harvey–Leybourne–Newbold</a:t>
                </a:r>
                <a:r>
                  <a:rPr/>
                  <a:t> correction.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backtest(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dm_stat(dt, lag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"""Diebold-Mariano with a Newey-West variance."""</a:t>
            </a:r>
            <a:br/>
            <a:r>
              <a:rPr>
                <a:latin typeface="Courier"/>
              </a:rPr>
              <a:t>    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(dt)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dbar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dt.mean()</a:t>
            </a:r>
            <a:br/>
            <a:r>
              <a:rPr>
                <a:latin typeface="Courier"/>
              </a:rPr>
              <a:t>    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((dt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lag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gl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((dt[l:]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(dt[: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l]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dbar)).mean()</a:t>
            </a:r>
            <a:br/>
            <a:r>
              <a:rPr>
                <a:latin typeface="Courier"/>
              </a:rPr>
              <a:t>        v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l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(lag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gl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dbar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np.sqrt(v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n)</a:t>
            </a:r>
            <a:br/>
            <a:br/>
            <a:r>
              <a:rPr>
                <a:latin typeface="Courier"/>
              </a:rPr>
              <a:t>diff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(r.e_model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r.e_rw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).to_numpy()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f"mean loss differential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diff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:+.6f}</a:t>
            </a:r>
            <a:r>
              <a:rPr>
                <a:solidFill>
                  <a:srgbClr val="BB6688"/>
                </a:solidFill>
                <a:latin typeface="Courier"/>
              </a:rPr>
              <a:t>   (positive = model is worse)"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 statistic        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dm_stat(diff)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   |DM| &lt; 1.96, so no detectable difference"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loss differential : +0.000021   (positive = model is worse)
DM statistic           : +0.265   |DM| &lt; 1.96, so no detectable difference</a:t>
            </a:r>
          </a:p>
          <a:p>
            <a:pPr lvl="0" indent="0" marL="0">
              <a:buNone/>
            </a:pPr>
            <a:r>
              <a:rPr/>
              <a:t>The honest sentence is: </a:t>
            </a:r>
            <a:r>
              <a:rPr i="1"/>
              <a:t>“the forest neither beats nor is beaten by a random walk on this panel.”</a:t>
            </a:r>
            <a:r>
              <a:rPr/>
              <a:t> That is a result, and it is what most forecasting comparisons actually find.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test, drawn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Left: a cloud centred on nothing. Right: where that cloud’s mean lands on the null distribution.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errors actually are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193800"/>
            <a:ext cx="807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average hides this. Both models get </a:t>
            </a:r>
            <a:r>
              <a:rPr b="1"/>
              <a:t>worse</a:t>
            </a:r>
            <a:r>
              <a:rPr/>
              <a:t> at the same moment — which is the signature of something changing in the world, not in the model.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Distribution shift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kinds, and they need different answers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057400" /><a:gridCol w="2057400" /><a:gridCol w="2057400" /><a:gridCol w="20574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Detection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classifier: train vs deploy</a:t></a:r></a:p></a:txBody></a:tc><a:tc><a:txBody><a:bodyPr /><a:lstStyle /><a:p><a:pPr lvl="0" indent="0" marL="0"><a:buNone /></a:pPr><a:r><a:rPr /><a:t>reweight, or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predicted vs observed marginal</a:t></a:r></a:p></a:txBody></a:tc><a:tc><a:txBody><a:bodyPr /><a:lstStyle /><a:p><a:pPr lvl="0" indent="0" marL="0"><a:buNone /></a:pPr><a:r><a:rPr /><a:t>reweight; correct the intercept (S06)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only once outcomes arrive</a:t></a:r></a:p></a:txBody></a:tc><a:tc><a:txBody><a:bodyPr /><a:lstStyle /><a:p><a:pPr lvl="0" indent="0" marL="0"><a:buNone /></a:pPr><a:r><a:rPr /><a:t>retrain — necessary, not sufficient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</a:t></a:r></a:p></a:txBody></a:tc><a:tc><a:txBody><a:bodyPr /><a:lstStyle /><a:p><a:pPr lvl="0" indent="0" marL="0"><a:buNone /></a:pPr><a:r><a:rPr /><a:t>causal reasoning, not monitoring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Only the first is detectable </a:t>
            </a:r>
            <a:r>
              <a:rPr b="1"/>
              <a:t>before</a:t>
            </a:r>
            <a:r>
              <a:rPr/>
              <a:t> the damage. The last is not a monitoring problem at all.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each one looks like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82296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Grey: training. Red: deployment. The black line is the model you fitted; only the third panel makes it wrong, and only the fourth is your fault.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the training and deployment features, label each row by period, and try to </a:t>
            </a:r>
            <a:r>
              <a:rPr b="1"/>
              <a:t>predict the label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If a classifier can tell your two periods apart, so can your model’s errors.</a:t>
            </a:r>
            <a:r>
              <a:rPr/>
              <a:t> AUC near 0.5 is reassuring. Near 1.0 is an alarm.</a:t>
            </a:r>
          </a:p>
          <a:p>
            <a:pPr lvl="0" indent="0" marL="0">
              <a:buNone/>
            </a:pPr>
            <a:r>
              <a:rPr/>
              <a:t>It costs four lines and it is the single highest-value monitoring check you can run.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it — and run a placebo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X_lev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m[FEAT].to_numpy(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chg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)[FEAT].pct_change().replace([np.inf,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np.inf], np.nan)</a:t>
            </a:r>
            <a:br/>
            <a:r>
              <a:rPr>
                <a:latin typeface="Courier"/>
              </a:rPr>
              <a:t>ok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chg.notna().</a:t>
            </a:r>
            <a:r>
              <a:rPr>
                <a:solidFill>
                  <a:srgbClr val="008000"/>
                </a:solidFill>
                <a:latin typeface="Courier"/>
              </a:rPr>
              <a:t>all</a:t>
            </a:r>
            <a:r>
              <a:rPr>
                <a:latin typeface="Courier"/>
              </a:rPr>
              <a:t>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X_chg, t_chg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chg[ok].to_numpy(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), m.loc[ok,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].to_numpy()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drift_auc(X, times, cut):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(times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cut).astype(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</a:t>
            </a:r>
            <a:br/>
            <a:r>
              <a:rPr>
                <a:latin typeface="Courier"/>
              </a:rPr>
              <a:t>       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X, lab,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StratifiedKFold(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roc_auc_score(lab, p)</a:t>
            </a:r>
            <a:br/>
            <a:br/>
            <a:r>
              <a:rPr>
                <a:latin typeface="Courier"/>
              </a:rPr>
              <a:t>CUTS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2015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2017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2019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lev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[drift_auc(X_lev, m[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].to_numpy(),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CUTS]</a:t>
            </a:r>
            <a:br/>
            <a:r>
              <a:rPr>
                <a:latin typeface="Courier"/>
              </a:rPr>
              <a:t>chgs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[drift_auc(X_chg, t_chg,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"cut year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"levels  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v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v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lev))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"changes 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v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v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chgs))</a:t>
            </a:r>
          </a:p>
          <a:p>
            <a:pPr lvl="0" indent="0">
              <a:buNone/>
            </a:pPr>
            <a:r>
              <a:rPr>
                <a:latin typeface="Courier"/>
              </a:rPr>
              <a:t>cut year : 2015  2017  2019  2021
levels   : 0.82  0.85  0.84  0.87
changes  : 0.65  0.63  0.65  0.68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carefully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levels, the classifier separates </a:t>
            </a:r>
            <a:r>
              <a:rPr b="1"/>
              <a:t>every</a:t>
            </a:r>
            <a:r>
              <a:rPr/>
              <a:t> split at AUC 0.82–0.87 — including years with no documented break. It is detecting the </a:t>
            </a:r>
            <a:r>
              <a:rPr b="1"/>
              <a:t>trend</a:t>
            </a:r>
            <a:r>
              <a:rPr/>
              <a:t>, not the regime change.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lesson about diagnostics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drift AUC of 0.87 means nothing on its own. It means something compared with the AUC at a date where you believe nothing happened.</a:t>
                </a:r>
              </a:p>
              <a:p>
                <a:pPr lvl="0"/>
                <a:r>
                  <a:rPr/>
                  <a:t>Always run </a:t>
                </a:r>
                <a:r>
                  <a:rPr b="1"/>
                  <a:t>placebo cuts</a:t>
                </a:r>
              </a:p>
              <a:p>
                <a:pPr lvl="0"/>
                <a:r>
                  <a:rPr/>
                  <a:t>Detrend or difference before asking about a regime change</a:t>
                </a:r>
              </a:p>
              <a:p>
                <a:pPr lvl="0"/>
                <a:r>
                  <a:rPr/>
                  <a:t>Report the whole profile, not the one number that supported your story</a:t>
                </a:r>
              </a:p>
              <a:p>
                <a:pPr lvl="0" indent="0" marL="0">
                  <a:buNone/>
                </a:pPr>
                <a:r>
                  <a:rPr/>
                  <a:t>This is the same discipline as Session 03’s diagnostics and Session 09’s second criterion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By now it should feel like a habit.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Goodhart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Stated precisely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</a:t>
            </a:r>
            <a:r>
              <a:rPr sz="2000" b="1"/>
              <a:t>exactly the relationship agents have an incentive to break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 It was never a feature of the world; it was a feature of the world </a:t>
            </a:r>
            <a:r>
              <a:rPr i="1"/>
              <a:t>before your model existed in it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No amount of retraining solves it, because every retrain teaches the agents faster.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shape of a feature that stops working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1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retraining fits the decayed relationship and pushes agents to break it further. The monitoring plan will faithfully report the decline it cannot fix.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Governance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deployable model comes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Intended use, and out-of-scope uses</a:t>
            </a:r>
            <a:r>
              <a:rPr/>
              <a:t> — what decision, and what it must </a:t>
            </a:r>
            <a:r>
              <a:rPr i="1"/>
              <a:t>not</a:t>
            </a:r>
            <a:r>
              <a:rPr/>
              <a:t> be used for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collection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the design, </a:t>
            </a:r>
            <a:r>
              <a:rPr i="1"/>
              <a:t>why it matches deployment</a:t>
            </a:r>
            <a:r>
              <a:rPr/>
              <a:t>, metrics, benchmark, subgroup performance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which quantities, at what frequency, and what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retirement criterion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this entire course finally has to be written down for somebody else.</a:t>
            </a:r>
          </a:p>
          <a:p>
            <a:pPr lvl="0"/>
            <a:r>
              <a:rPr/>
              <a:t>Section 5 is Sessions 03, 06 and 10: what is load-bearing, and where does it fail</a:t>
            </a:r>
          </a:p>
          <a:p>
            <a:pPr lvl="0"/>
            <a:r>
              <a:rPr/>
              <a:t>Section 6 is Sessions 04, 08 and 11: what would tell you it has stopped working</a:t>
            </a:r>
          </a:p>
          <a:p>
            <a:pPr lvl="0" indent="0" marL="0">
              <a:buNone/>
            </a:pPr>
            <a:r>
              <a:rPr/>
              <a:t>If you cannot fill in sections 5 and 6, you do not understand your own model well enough to deploy it. Template: </a:t>
            </a:r>
            <a:r>
              <a:rPr>
                <a:latin typeface="Courier"/>
              </a:rPr>
              <a:t>02-practice/governance-file-template.md</a:t>
            </a:r>
            <a:r>
              <a:rPr/>
              <a:t>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monitoring plan is a threshold, not a hope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193800"/>
            <a:ext cx="807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the threshold </a:t>
            </a:r>
            <a:r>
              <a:rPr b="1"/>
              <a:t>before</a:t>
            </a:r>
            <a:r>
              <a:rPr/>
              <a:t> deployment, while you still have no stake in the answer. A threshold chosen after the model degrades is not a threshold; it is a negotiation.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The arc</a:t>
            </a:r>
          </a:p>
        </p:txBody>
      </p:sp>
    </p:spTree>
  </p:cSld>
</p:sld>
</file>

<file path=ppt/slides/slide3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Every session, one dial and one self-deception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 it prevents</a:t></a:r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right because the software printed them”</a:t></a:r></a:p></a:txBody></a:tc></a:tr><a:tr h="0"><a:tc><a:txBody><a:bodyPr /><a:lstStyle /><a:p><a:pPr lvl="0" indent="0" marL="0"><a:buNone /></a:pPr><a:r><a:rPr b="1" /><a:t>04</a:t></a:r></a:p></a:txBody></a:tc><a:tc><a:txBody><a:bodyPr /><a:lstStyle /><a:p><a:pPr lvl="0" indent="0" marL="0"><a:buNone /></a:pPr><a:r><a:rPr /><a:t>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b="1" /><a:t>05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b="1" /><a:t>06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a:tr h="0"><a:tc><a:txBody><a:bodyPr /><a:lstStyle /><a:p><a:pPr lvl="0" indent="0" marL="0"><a:buNone /></a:pPr><a:r><a:rPr b="1" /><a:t>07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/a:tbl></a:graphicData></a:graphic></p:graphicFrame></p:spTree></p:cSld></p:sld>
</file>

<file path=ppt/slides/slide4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…continued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 it prevents</a:t></a:r></a:p></a:txBody><a:tcPr /></a:tc></a:tr><a:tr h="0"><a:tc><a:txBody><a:bodyPr /><a:lstStyle /><a:p><a:pPr lvl="0" indent="0" marL="0"><a:buNone /></a:pPr><a:r><a:rPr b="1" /><a:t>08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b="1" /><a:t>09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text representation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</a:t></a:r><a:r><a:rPr /><a:t>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b="1"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10 is the exception that defines the course: </a:t>
            </a:r>
            <a:r>
              <a:rPr b="1"/>
              <a:t>no tuning parameter buys you identification.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Back to </a:t>
            </a:r>
            <a:r>
              <a:rPr i="1"/>
              <a:t>Europe 2031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numbers, sharper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Session 01 the scenario’s figures — a US:EU compute ratio near 12.2 in 2031, a buildout ratio near 15.7 — were </a:t>
                </a:r>
                <a:r>
                  <a:rPr b="1"/>
                  <a:t>parameters of a narrative</a:t>
                </a:r>
                <a:r>
                  <a:rPr/>
                  <a:t>. Now ask:</a:t>
                </a:r>
              </a:p>
              <a:p>
                <a:pPr lvl="0"/>
                <a:r>
                  <a:rPr/>
                  <a:t>What would a </a:t>
                </a:r>
                <a:r>
                  <a:rPr b="1"/>
                  <a:t>factor model</a:t>
                </a:r>
                <a:r>
                  <a:rPr/>
                  <a:t> (S08) say about how many independent dimensions “technological capacity” has? Is compute one factor, or a proxy for several?</a:t>
                </a:r>
              </a:p>
              <a:p>
                <a:pPr lvl="0"/>
                <a:r>
                  <a:rPr/>
                  <a:t>Is the labour-displacement mechanism a </a:t>
                </a:r>
                <a:r>
                  <a:rPr b="1"/>
                  <a:t>prediction</a:t>
                </a:r>
                <a:r>
                  <a:rPr/>
                  <a:t> or a </a:t>
                </a:r>
                <a:r>
                  <a:rPr b="1"/>
                  <a:t>causal claim</a:t>
                </a:r>
                <a:r>
                  <a:rPr/>
                  <a:t> (S10)? Which one does the policy menu require?</a:t>
                </a:r>
              </a:p>
              <a:p>
                <a:pPr lvl="0"/>
                <a:r>
                  <a:rPr/>
                  <a:t>The policy menu implies decisions under </a:t>
                </a:r>
                <a:r>
                  <a:rPr b="1"/>
                  <a:t>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, and where does that put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 (S06)?</a:t>
                </a:r>
              </a:p>
              <a:p>
                <a:pPr lvl="0" indent="0" marL="0">
                  <a:buNone/>
                </a:pPr>
                <a:r>
                  <a:rPr>
                    <a:hlinkClick r:id="rId2"/>
                  </a:rPr>
                  <a:t>europe2031.ai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has changed since Session 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Nothing about the scenario. Everything about what you are able to ask of it.</a:t>
            </a:r>
          </a:p>
          <a:p>
            <a:pPr lvl="0" indent="0" marL="0">
              <a:buNone/>
            </a:pPr>
            <a:r>
              <a:rPr/>
              <a:t>That is the deliverable of this course: not a list of methods, but the reflex of asking </a:t>
            </a:r>
            <a:r>
              <a:rPr i="1"/>
              <a:t>what would have to be true</a:t>
            </a:r>
            <a:r>
              <a:rPr/>
              <a:t> — and knowing which of Sessions 02 to 11 answers it.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Match the backtest design to the deployment: expanding, fixed, or blocked with a purge</a:t>
            </a:r>
          </a:p>
          <a:p>
            <a:pPr lvl="0" indent="-342900" marL="342900">
              <a:buAutoNum type="arabicPeriod"/>
            </a:pPr>
            <a:r>
              <a:rPr/>
              <a:t>Everything inside the loop. Including the unsupervised steps</a:t>
            </a:r>
          </a:p>
          <a:p>
            <a:pPr lvl="0" indent="-342900" marL="342900">
              <a:buAutoNum type="arabicPeriod"/>
            </a:pPr>
            <a:r>
              <a:rPr/>
              <a:t>Benchmark against something hard, and test the difference with </a:t>
            </a:r>
            <a:r>
              <a:rPr b="1"/>
              <a:t>Diebold–Mariano</a:t>
            </a:r>
          </a:p>
          <a:p>
            <a:pPr lvl="0" indent="-342900" marL="342900">
              <a:buAutoNum type="arabicPeriod"/>
            </a:pPr>
            <a:r>
              <a:rPr/>
              <a:t>Four kinds of shift, four different responses. Only one is detectable in advance</a:t>
            </a:r>
          </a:p>
          <a:p>
            <a:pPr lvl="0" indent="-342900" marL="342900">
              <a:buAutoNum type="arabicPeriod"/>
            </a:pPr>
            <a:r>
              <a:rPr/>
              <a:t>A drift diagnostic needs a </a:t>
            </a:r>
            <a:r>
              <a:rPr b="1"/>
              <a:t>placebo</a:t>
            </a:r>
            <a:r>
              <a:rPr/>
              <a:t> to be interpretable</a:t>
            </a:r>
          </a:p>
          <a:p>
            <a:pPr lvl="0" indent="-342900" marL="342900">
              <a:buAutoNum type="arabicPeriod"/>
            </a:pPr>
            <a:r>
              <a:rPr/>
              <a:t>Goodhart is causal, not statistical. Retraining makes it worse</a:t>
            </a:r>
          </a:p>
          <a:p>
            <a:pPr lvl="0" indent="-342900" marL="342900">
              <a:buAutoNum type="arabicPeriod"/>
            </a:pPr>
            <a:r>
              <a:rPr/>
              <a:t>If you cannot write the limitations and the monitoring plan, do not deploy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Random K-fold on time-ordered data — after eleven weeks, there is no excuse</a:t>
            </a:r>
          </a:p>
          <a:p>
            <a:pPr lvl="0"/>
            <a:r>
              <a:rPr/>
              <a:t>Standardising or extracting factors outside the backtest loop</a:t>
            </a:r>
          </a:p>
          <a:p>
            <a:pPr lvl="0"/>
            <a:r>
              <a:rPr/>
              <a:t>“Our model beats the benchmark” with no DM statistic</a:t>
            </a:r>
          </a:p>
          <a:p>
            <a:pPr lvl="0"/>
            <a:r>
              <a:rPr/>
              <a:t>A drift AUC with no placebo cut</a:t>
            </a:r>
          </a:p>
          <a:p>
            <a:pPr lvl="0"/>
            <a:r>
              <a:rPr/>
              <a:t>A governance file whose limitations section says “none identified”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backtest one forecast properly, test it against a hard benchmark, run a drift diagnostic with a placebo — and write the governance file. The governance file is the deliverable.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2026-08-22T21:56:20Z</dcterms:created>
  <dcterms:modified xsi:type="dcterms:W3CDTF">2026-08-22T21:56:20Z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11 · Lecture, first half</vt:lpwstr>
  </property>
  <property fmtid="{D5CDD505-2E9C-101B-9397-08002B2CF9AE}" pid="18" name="toc-title">
    <vt:lpwstr>Table of contents</vt:lpwstr>
  </property>
</Properties>
</file>