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governance-file-template.md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time-dependent models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arc, in one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Returning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11.1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valid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Random K-fold CV is invalid whenever observations are ordered in time.</a:t>
                </a:r>
              </a:p>
              <a:p>
                <a:pPr lvl="0"/>
                <a:r>
                  <a:rPr b="1"/>
                  <a:t>Rolling origin, 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increment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 Uses all history; training size grows, so early and late errors are not comparable.</a:t>
                </a:r>
              </a:p>
              <a:p>
                <a:pPr lvl="0"/>
                <a:r>
                  <a:rPr b="1"/>
                  <a:t>Rolling origin, 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training size; adapts to structural change; discards old information.</a:t>
                </a:r>
              </a:p>
              <a:p>
                <a:pPr lvl="0"/>
                <a:r>
                  <a:rPr b="1"/>
                  <a:t>Blocked CV with a purge and an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observations between train and test.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purge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gap prevents leakage through </a:t>
            </a:r>
            <a:r>
              <a:rPr b="1"/>
              <a:t>overlapping horizons</a:t>
            </a:r>
            <a:r>
              <a:rPr/>
              <a:t> or through </a:t>
            </a:r>
            <a:r>
              <a:rPr b="1"/>
              <a:t>serially correlated features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Essential whenever features are constructed from rolling windows — which, in macro work, is almost always.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or the Philadelphia Fed’s real-time dataset — or </a:t>
            </a:r>
            <a:r>
              <a:rPr b="1"/>
              <a:t>state clearly that you have not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Every preprocessing step must be inside the loop.</a:t>
            </a:r>
          </a:p>
          <a:p>
            <a:pPr lvl="0"/>
            <a:r>
              <a:rPr/>
              <a:t>standardisation</a:t>
            </a:r>
          </a:p>
          <a:p>
            <a:pPr lvl="0"/>
            <a:r>
              <a:rPr b="1"/>
              <a:t>factor extraction</a:t>
            </a:r>
            <a:r>
              <a:rPr/>
              <a:t> — Session 08</a:t>
            </a:r>
          </a:p>
          <a:p>
            <a:pPr lvl="0"/>
            <a:r>
              <a:rPr/>
              <a:t>feature selection</a:t>
            </a:r>
          </a:p>
          <a:p>
            <a:pPr lvl="0"/>
            <a:r>
              <a:rPr/>
              <a:t>hyperparameter choice</a:t>
            </a:r>
          </a:p>
          <a:p>
            <a:pPr lvl="0" indent="0" marL="0">
              <a:buNone/>
            </a:pPr>
            <a:r>
              <a:rPr/>
              <a:t>Extracting factors from the full sample and then backtesting is look-ahead bias. It is the single most common flaw in student factor-model projects.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11.2 Comparing honestly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Against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random walk, an 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or the consensus forecast.</a:t>
                </a:r>
              </a:p>
              <a:p>
                <a:pPr lvl="0" indent="0" marL="0">
                  <a:buNone/>
                </a:pPr>
                <a:r>
                  <a:rPr b="1"/>
                  <a:t>A lower RMSE without a significance statement is an anecdote.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be the forecast errors of two models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the loss differential. Under the null of equal predictive accuracy,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Var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must be HAC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with a </a:t>
                </a:r>
                <a:r>
                  <a:rPr b="1"/>
                  <a:t>Newey–West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</a:t>
                </a:r>
              </a:p>
              <a:p>
                <a:pPr lvl="0" indent="0" marL="0">
                  <a:buNone/>
                </a:pPr>
                <a:r>
                  <a:rPr/>
                  <a:t>Use a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cautions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test is </a:t>
            </a:r>
            <a:r>
              <a:rPr b="1"/>
              <a:t>not valid for nested models</a:t>
            </a:r>
            <a:r>
              <a:rPr/>
              <a:t> estimated on the same sample — use </a:t>
            </a:r>
            <a:r>
              <a:rPr b="1"/>
              <a:t>Clark–West</a:t>
            </a:r>
            <a:r>
              <a:rPr/>
              <a:t>.</a:t>
            </a:r>
          </a:p>
          <a:p>
            <a:pPr lvl="0"/>
            <a:r>
              <a:rPr/>
              <a:t>With small samples, the </a:t>
            </a:r>
            <a:r>
              <a:rPr b="1"/>
              <a:t>Harvey–Leybourne–Newbold</a:t>
            </a:r>
            <a:r>
              <a:rPr/>
              <a:t> correction is advisable.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11.3 Distribution shift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Importance weighting, or just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Reweight, or correct the intercept (Session 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Retraining necessary but not sufficient — the form may be wrong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 it predicts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detect them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 a classifier to distinguish train from deploy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Label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predicted marginal to observed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Only</a:t>
                      </a:r>
                      <a:r>
                        <a:rPr/>
                        <a:t> detectable once outcomes arrive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Feedback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Requires causal reasoning, not monitoring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training and deployment features, label them by period, and try to predict the label.</a:t>
            </a:r>
          </a:p>
          <a:p>
            <a:pPr lvl="0" indent="0" marL="1270000">
              <a:buNone/>
            </a:pPr>
            <a:r>
              <a:rPr sz="2000" b="1"/>
              <a:t>If a classifier can tell your two periods apart, so can your model’s errors.</a:t>
            </a:r>
          </a:p>
          <a:p>
            <a:pPr lvl="0" indent="0" marL="0">
              <a:buNone/>
            </a:pPr>
            <a:r>
              <a:rPr/>
              <a:t>AUC near 0.5 is reassuring. Near 1.0 is an alarm.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Goodhart’s law, stated precisely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exactly the relationship agents have an incentive to break.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</a:t>
            </a:r>
            <a:r>
              <a:rPr b="1"/>
              <a:t>No amount of retraining solves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11.4 Model governance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Seven headings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deployable model is accompanied by a document a competent successor could act on.</a:t>
            </a:r>
          </a:p>
          <a:p>
            <a:pPr lvl="0" indent="-342900" marL="342900">
              <a:buAutoNum type="arabicPeriod"/>
            </a:pPr>
            <a:r>
              <a:rPr b="1"/>
              <a:t>Intended use</a:t>
            </a:r>
            <a:r>
              <a:rPr/>
              <a:t> — and out-of-scope uses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design, why the CV scheme matches deployment, metrics, benchmark, subgroups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what is tracked, how often, what threshold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</a:t>
            </a:r>
            <a:r>
              <a:rPr b="1"/>
              <a:t>retirement criterion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the whole course finally has to be written down for someone else.</a:t>
            </a:r>
          </a:p>
          <a:p>
            <a:pPr lvl="0" indent="0" marL="0">
              <a:buNone/>
            </a:pPr>
            <a:r>
              <a:rPr/>
              <a:t>Template: </a:t>
            </a:r>
            <a:r>
              <a:rPr>
                <a:hlinkClick r:id="rId2"/>
                <a:latin typeface="Courier"/>
              </a:rPr>
              <a:t>02-practice/governance-file-template.md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specific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 — and by then it has been wrong for a while.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11.5 The arc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dial, and the self-deception it prevents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2–3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correct because the software printed them”</a:t></a:r></a:p></a:txBody></a:tc></a:tr><a:tr h="0"><a:tc><a:txBody><a:bodyPr /><a:lstStyle /><a:p><a:pPr lvl="0" indent="0" marL="0"><a:buNone /></a:pPr><a:r><a:rPr /><a:t>4</a:t></a:r></a:p></a:txBody></a:tc><a:tc><a:txBody><a:bodyPr /><a:lstStyle /><a:p><a:pPr lvl="0" indent="0" marL="0"><a:buNone /></a:pPr><a:r><a:rPr /><a:t>Model 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/><a:t>5–6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/><a:t>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/a:tbl></a:graphicData></a:graphic></p:graphicFrame></p:spTree></p:cSld>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a:tr h="0"><a:tc><a:txBody><a:bodyPr /><a:lstStyle /><a:p><a:pPr lvl="0" indent="0" marL="0"><a:buNone /></a:pPr><a:r><a:rPr /><a:t>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/><a:t>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representation of text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exception that defines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tuning parameter buys you identification.</a:t>
            </a:r>
          </a:p>
          <a:p>
            <a:pPr lvl="0" indent="0" marL="0">
              <a:buNone/>
            </a:pPr>
            <a:r>
              <a:rPr/>
              <a:t>Session 10 is the one week with nothing to tune. That is not an omission — it is the point.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11.6 Returning to </a:t>
            </a:r>
            <a:r>
              <a:rPr i="1"/>
              <a:t>Europe 2031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Sharper questions than in week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scenario’s numbers were introduced in Session 01 as </a:t>
            </a:r>
            <a:r>
              <a:rPr b="1"/>
              <a:t>parameters of a narrative</a:t>
            </a:r>
            <a:r>
              <a:rPr/>
              <a:t>. You can now interrogate them.</a:t>
            </a:r>
          </a:p>
          <a:p>
            <a:pPr lvl="0"/>
            <a:r>
              <a:rPr/>
              <a:t>What would a </a:t>
            </a:r>
            <a:r>
              <a:rPr b="1"/>
              <a:t>factor model</a:t>
            </a:r>
            <a:r>
              <a:rPr/>
              <a:t> (S08) say about how many independent dimensions “technological capacity” actually has? Is compute one factor, or a proxy for several?</a:t>
            </a:r>
          </a:p>
          <a:p>
            <a:pPr lvl="0"/>
            <a:r>
              <a:rPr/>
              <a:t>Is the labour-displacement mechanism a </a:t>
            </a:r>
            <a:r>
              <a:rPr b="1"/>
              <a:t>prediction</a:t>
            </a:r>
            <a:r>
              <a:rPr/>
              <a:t> or a </a:t>
            </a:r>
            <a:r>
              <a:rPr b="1"/>
              <a:t>causal</a:t>
            </a:r>
            <a:r>
              <a:rPr/>
              <a:t> claim (S10)? Which would you need to justify the narrative’s policy responses?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two more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Its policy menu implies </a:t>
                </a:r>
                <a:r>
                  <a:rPr b="1"/>
                  <a:t>decisions under 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for acting on a false signal of European decline versus missing a true one (S06)?</a:t>
                </a:r>
              </a:p>
              <a:p>
                <a:pPr lvl="0"/>
                <a:r>
                  <a:rPr/>
                  <a:t>Its indicators would be </a:t>
                </a:r>
                <a:r>
                  <a:rPr b="1"/>
                  <a:t>monitored over years</a:t>
                </a:r>
                <a:r>
                  <a:rPr/>
                  <a:t>. Which are vulnerable to </a:t>
                </a:r>
                <a:r>
                  <a:rPr b="1"/>
                  <a:t>Goodhart</a:t>
                </a:r>
                <a:r>
                  <a:rPr/>
                  <a:t>, and which to </a:t>
                </a:r>
                <a:r>
                  <a:rPr b="1"/>
                  <a:t>concept drift</a:t>
                </a:r>
                <a:r>
                  <a:rPr/>
                  <a:t> (S11)?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stress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purpose of a stress test is not to be right. It is to make you specify </a:t>
            </a:r>
            <a:r>
              <a:rPr sz="2000" b="1"/>
              <a:t>what you would need to know.</a:t>
            </a:r>
          </a:p>
          <a:p>
            <a:pPr lvl="0" indent="0" marL="0">
              <a:buNone/>
            </a:pPr>
            <a:r>
              <a:rPr/>
              <a:t>That is also the purpose of a model — and it is what you will be examined on next week.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project’s</a:t>
            </a:r>
            <a:r>
              <a:rPr/>
              <a:t> model with a rolling origin, at the deployment horizon</a:t>
            </a:r>
          </a:p>
          <a:p>
            <a:pPr lvl="0" indent="-342900" marL="342900">
              <a:buAutoNum type="arabicPeriod"/>
            </a:pPr>
            <a:r>
              <a:rPr/>
              <a:t>Plot error by period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</a:t>
            </a:r>
            <a:r>
              <a:rPr b="1"/>
              <a:t>numeric</a:t>
            </a:r>
            <a:r>
              <a:rPr/>
              <a:t> retirement trigger</a:t>
            </a:r>
          </a:p>
          <a:p>
            <a:pPr lvl="0" indent="0" marL="0">
              <a:buNone/>
            </a:pPr>
            <a:r>
              <a:rPr/>
              <a:t>Every preprocessing step inside the loop — including factor extraction.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backtest design, the window, the horizon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against a hard benchmark, with a DM statement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what would make you retire this model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2026-08-20T20:33:11Z</dcterms:created>
  <dcterms:modified xsi:type="dcterms:W3CDTF">2026-08-20T20:33:11Z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Lecture, first half</vt:lpwstr>
  </property>
  <property fmtid="{D5CDD505-2E9C-101B-9397-08002B2CF9AE}" pid="16" name="toc-title">
    <vt:lpwstr>Table of contents</vt:lpwstr>
  </property>
</Properties>
</file>