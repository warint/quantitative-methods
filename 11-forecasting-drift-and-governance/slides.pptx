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governance-file-template.md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Drift, and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What happens to a model after you publish it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is not 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with a rolling origin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shift, and its three kinds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Detecting drift before it costs you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Governance: what you owe the next person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Mullainathan &amp; Spiess</a:t>
            </a:r>
            <a:r>
              <a:rPr/>
              <a:t>, </a:t>
            </a:r>
            <a:r>
              <a:rPr i="1"/>
              <a:t>Machine Learning: An Applied Econometric Approach</a:t>
            </a:r>
            <a:r>
              <a:rPr/>
              <a:t>, JEP 2017 — </a:t>
            </a:r>
            <a:r>
              <a:rPr b="1"/>
              <a:t>again</a:t>
            </a:r>
            <a:r>
              <a:rPr/>
              <a:t>, and this time only the closing sections.</a:t>
            </a:r>
          </a:p>
          <a:p>
            <a:pPr lvl="0" indent="0" marL="0">
              <a:buNone/>
            </a:pPr>
            <a:r>
              <a:rPr/>
              <a:t>DOI: 10.1257/jep.31.2.87</a:t>
            </a:r>
          </a:p>
          <a:p>
            <a:pPr lvl="0" indent="0" marL="0">
              <a:buNone/>
            </a:pPr>
            <a:r>
              <a:rPr/>
              <a:t>You read it in Session 04 for what ML does well. Read it now for what it assumes: that tomorrow resembles yesterday. Today is about when that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Your group has a model. What is it worth in 2027?</a:t>
            </a:r>
          </a:p>
          <a:p>
            <a:pPr lvl="0" indent="0" marL="0">
              <a:buNone/>
            </a:pPr>
            <a:r>
              <a:rPr/>
              <a:t>Every number you have produced this term describes a world that has already happened. Nothing you have done yet establishes that it will keep working.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Backtesting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Rolling origin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Train to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, roll forward, repeat.</a:t>
                </a:r>
              </a:p>
              <a:p>
                <a:pPr lvl="0"/>
                <a:r>
                  <a:rPr b="1"/>
                  <a:t>Expanding window</a:t>
                </a:r>
                <a:r>
                  <a:rPr/>
                  <a:t> — training set grows; assumes the past stays relevant</a:t>
                </a:r>
              </a:p>
              <a:p>
                <a:pPr lvl="0"/>
                <a:r>
                  <a:rPr b="1"/>
                  <a:t>Rolling window</a:t>
                </a:r>
                <a:r>
                  <a:rPr/>
                  <a:t> — fixed length; assumes the distant past is stale</a:t>
                </a:r>
              </a:p>
              <a:p>
                <a:pPr lvl="0" indent="0" marL="0">
                  <a:buNone/>
                </a:pPr>
                <a:r>
                  <a:rPr/>
                  <a:t>Which you choose is a claim about how fast the world changes. State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Respect the horizon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you will forecast one year ahead, evaluate at one year ahead.</a:t>
                </a:r>
              </a:p>
              <a:p>
                <a:pPr lvl="0" indent="0" marL="0">
                  <a:buNone/>
                </a:pPr>
                <a:r>
                  <a:rPr/>
                  <a:t>A model evaluated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and deployed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</m:oMath>
                </a14:m>
                <a:r>
                  <a:rPr/>
                  <a:t> has never been tested at the task it is doing. This is more common than it sounds, because the short horizon always looks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]).sort_values([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 the origin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cut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2016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2024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tr, 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cut], d[d.time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(te)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continue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</a:t>
            </a:r>
            <a:br/>
            <a:r>
              <a:rPr>
                <a:latin typeface="Courier"/>
              </a:rPr>
              <a:t>        tr[feat].fillna(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tr.prod_growth)</a:t>
            </a:r>
            <a:br/>
            <a:r>
              <a:rPr>
                <a:latin typeface="Courier"/>
              </a:rPr>
              <a:t>    err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te.prod_growth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m.predict(te[feat].fillna(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rows.append((cut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np.sqrt((err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"rmse"</a:t>
            </a:r>
            <a:r>
              <a:rPr>
                <a:latin typeface="Courier"/>
              </a:rPr>
              <a:t>]).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sequence, not the average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RMSE over the whole backtest hides everything. Look at the </a:t>
            </a:r>
            <a:r>
              <a:rPr b="1"/>
              <a:t>year-by-year series</a:t>
            </a:r>
            <a:r>
              <a:rPr/>
              <a:t>: a model that was excellent until 2021 and poor after is a different object from one that is mediocre throughout.</a:t>
            </a:r>
          </a:p>
          <a:p>
            <a:pPr lvl="0" indent="0" marL="0">
              <a:buNone/>
            </a:pPr>
            <a:r>
              <a:rPr/>
              <a:t>The spine carries a deliberate shift after 2021. You should be able to see it in that table without being told where to look.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Drift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things can change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Kind</a:t></a:r></a:p></a:txBody><a:tcPr /></a:tc><a:tc><a:txBody><a:bodyPr /><a:lstStyle /><a:p><a:pPr lvl="0" indent="0" marL="0"><a:buNone /></a:pPr><a:r><a:rPr /><a:t>What moves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/a:p></a:txBody></a:tc><a:tc><a:txBody><a:bodyPr /><a:lstStyle /><a:p><a:pPr lvl="0" indent="0" marL="0"><a:buNone /></a:pPr><a:r><a:rPr /><a:t>Energy prices leave their historical range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/a:p></a:txBody></a:tc><a:tc><a:txBody><a:bodyPr /><a:lstStyle /><a:p><a:pPr lvl="0" indent="0" marL="0"><a:buNone /></a:pPr><a:r><a:rPr /><a:t>Downturn: more countries fall behind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The </a:t></a:r><a:r><a:rPr i="1" /><a:t>relationship</a:t></a:r><a:r><a:rPr /><a:t> changes</a:t></a:r></a:p></a:txBody></a:tc></a:tr></a:tbl></a:graphicData></a:graphic></p:graphicFrame></p:spTree></p:cSld>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two you can detect from data you already have. </a:t>
            </a:r>
            <a:r>
              <a:rPr b="1"/>
              <a:t>Concept drift needs outcomes</a:t>
            </a:r>
            <a:r>
              <a:rPr/>
              <a:t>, which arrive late — often after the decisions were made.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Detecting covariate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</a:t>
            </a:r>
            <a:br/>
            <a:br/>
            <a:r>
              <a:rPr>
                <a:latin typeface="Courier"/>
              </a:rPr>
              <a:t>pre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2020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post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pd.concat([pre, post])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np.r_[np.zeros(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(pre)), np.ones(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(post))]</a:t>
            </a:r>
            <a:br/>
            <a:r>
              <a:rPr>
                <a:latin typeface="Courier"/>
              </a:rPr>
              <a:t>auc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   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"roc_auc"</a:t>
            </a:r>
            <a:r>
              <a:rPr>
                <a:latin typeface="Courier"/>
              </a:rPr>
              <a:t>).mean()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"era-classifier AUC:"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(auc,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a classifier can tell </a:t>
            </a:r>
            <a:r>
              <a:rPr b="1"/>
              <a:t>which era</a:t>
            </a:r>
            <a:r>
              <a:rPr/>
              <a:t> a row came from, the covariate distribution has moved. AUC near 0.5 means no detectable shift; near 1 means the two periods are different worlds.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about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Retrain</a:t>
            </a:r>
            <a:r>
              <a:rPr/>
              <a:t> on recent data — simple, and loses history</a:t>
            </a:r>
          </a:p>
          <a:p>
            <a:pPr lvl="0"/>
            <a:r>
              <a:rPr b="1"/>
              <a:t>Reweight</a:t>
            </a:r>
            <a:r>
              <a:rPr/>
              <a:t> by the density ratio — principled, and unstable in the tails</a:t>
            </a:r>
          </a:p>
          <a:p>
            <a:pPr lvl="0"/>
            <a:r>
              <a:rPr b="1"/>
              <a:t>Restrict</a:t>
            </a:r>
            <a:r>
              <a:rPr/>
              <a:t> the model to the region where it still has support</a:t>
            </a:r>
          </a:p>
          <a:p>
            <a:pPr lvl="0"/>
            <a:r>
              <a:rPr b="1"/>
              <a:t>Stop</a:t>
            </a:r>
            <a:r>
              <a:rPr/>
              <a:t> — sometimes the honest answer</a:t>
            </a:r>
          </a:p>
          <a:p>
            <a:pPr lvl="0" indent="0" marL="0">
              <a:buNone/>
            </a:pPr>
            <a:r>
              <a:rPr/>
              <a:t>Never extrapolate a tree-based model outside its training range. It cannot extrapolate at all; it returns the nearest leaf’s mean and gives no warning.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Governance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behind this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Someone will use your model after you have graduated, without asking you anything.</a:t>
            </a:r>
          </a:p>
          <a:p>
            <a:pPr lvl="0" indent="0" marL="0">
              <a:buNone/>
            </a:pPr>
            <a:r>
              <a:rPr/>
              <a:t>Everything they need must be written down, next to the model, by you.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governance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group ships one. See </a:t>
            </a:r>
            <a:r>
              <a:rPr>
                <a:hlinkClick r:id="rId2"/>
                <a:latin typeface="Courier"/>
              </a:rPr>
              <a:t>02-lab/governance-file-template.md</a:t>
            </a:r>
            <a:r>
              <a:rPr/>
              <a:t>.</a:t>
            </a:r>
          </a:p>
          <a:p>
            <a:pPr lvl="0"/>
            <a:r>
              <a:rPr b="1"/>
              <a:t>Intended use</a:t>
            </a:r>
            <a:r>
              <a:rPr/>
              <a:t> — and the uses you are ruling out</a:t>
            </a:r>
          </a:p>
          <a:p>
            <a:pPr lvl="0"/>
            <a:r>
              <a:rPr b="1"/>
              <a:t>Data</a:t>
            </a:r>
            <a:r>
              <a:rPr/>
              <a:t> — provenance, coverage, known gaps, licence</a:t>
            </a:r>
          </a:p>
          <a:p>
            <a:pPr lvl="0"/>
            <a:r>
              <a:rPr b="1"/>
              <a:t>Estimand</a:t>
            </a:r>
            <a:r>
              <a:rPr/>
              <a:t> — prediction or effect, stated once and plainly</a:t>
            </a:r>
          </a:p>
          <a:p>
            <a:pPr lvl="0"/>
            <a:r>
              <a:rPr b="1"/>
              <a:t>Validation</a:t>
            </a:r>
            <a:r>
              <a:rPr/>
              <a:t> — the split, the horizon, the error, honestly</a:t>
            </a:r>
          </a:p>
          <a:p>
            <a:pPr lvl="0"/>
            <a:r>
              <a:rPr b="1"/>
              <a:t>Known failure modes</a:t>
            </a:r>
            <a:r>
              <a:rPr/>
              <a:t> — where it breaks, in what direction</a:t>
            </a:r>
          </a:p>
          <a:p>
            <a:pPr lvl="0"/>
            <a:r>
              <a:rPr b="1"/>
              <a:t>Monitoring</a:t>
            </a:r>
            <a:r>
              <a:rPr/>
              <a:t> — what to watch, and the trigger to retire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retirement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with no stated retirement condition is never retired. It is used until something goes visibly wrong, and by then it has been wrong for a while.</a:t>
            </a:r>
          </a:p>
          <a:p>
            <a:pPr lvl="0" indent="0" marL="0">
              <a:buNone/>
            </a:pPr>
            <a:r>
              <a:rPr/>
              <a:t>Write a specific one:</a:t>
            </a:r>
          </a:p>
          <a:p>
            <a:pPr lvl="0" indent="0" marL="1270000">
              <a:buNone/>
            </a:pPr>
            <a:r>
              <a:rPr sz="2000" i="1"/>
              <a:t>“Retrain when the era-classifier AUC against the training period exceeds 0.75, or when rolling 2-year RMSE exceeds 1.4× the backtest median. Retire if retraining does not restore it.”</a:t>
            </a:r>
          </a:p>
          <a:p>
            <a:pPr lvl="0" indent="0" marL="0">
              <a:buNone/>
            </a:pPr>
            <a:r>
              <a:rPr/>
              <a:t>Specific enough that someone who has never met you can execute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owe the reader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coverage gaps — for the spine, the pre-2021 absence of the adoption module</a:t>
            </a:r>
          </a:p>
          <a:p>
            <a:pPr lvl="0"/>
            <a:r>
              <a:rPr/>
              <a:t>The flags you dropped, and which countries that biased against</a:t>
            </a:r>
          </a:p>
          <a:p>
            <a:pPr lvl="0"/>
            <a:r>
              <a:rPr/>
              <a:t>Every construct labelled as a construct</a:t>
            </a:r>
          </a:p>
          <a:p>
            <a:pPr lvl="0"/>
            <a:r>
              <a:rPr/>
              <a:t>The assumptions that would overturn your conclusion if wrong</a:t>
            </a:r>
          </a:p>
          <a:p>
            <a:pPr lvl="0" indent="0" marL="0">
              <a:buNone/>
            </a:pPr>
            <a:r>
              <a:rPr/>
              <a:t>This is not modesty. A limitation you name is a limitation you have controlled for in the reader’s mind. One you omit is a hole someone else will find.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Rolling-origin backtest, </a:t>
                </a:r>
                <a:r>
                  <a:rPr b="1"/>
                  <a:t>year by year</a:t>
                </a:r>
                <a:r>
                  <a:rPr/>
                  <a:t>, at the deployment horizon</a:t>
                </a:r>
              </a:p>
              <a:p>
                <a:pPr lvl="0"/>
                <a:r>
                  <a:rPr/>
                  <a:t>Window choice, and the claim about the world it encodes</a:t>
                </a:r>
              </a:p>
              <a:p>
                <a:pPr lvl="0"/>
                <a:r>
                  <a:rPr/>
                  <a:t>Drift evidence for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and what you concluded</a:t>
                </a:r>
              </a:p>
              <a:p>
                <a:pPr lvl="0"/>
                <a:r>
                  <a:rPr/>
                  <a:t>The governance file, complete, with a numeric retirement trigger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CV on a forecast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Uses the future to predict the past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averaged backtest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year everything changed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Evaluating at the wrong horizon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Untested at the task it performs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Extrapolating a forest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 nearest-leaf nonsense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retirement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outlives its validity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Backtest </a:t>
            </a:r>
            <a:r>
              <a:rPr b="1"/>
              <a:t>your group’s own model</a:t>
            </a:r>
            <a:r>
              <a:rPr/>
              <a:t> with a rolling origin</a:t>
            </a:r>
          </a:p>
          <a:p>
            <a:pPr lvl="0" indent="-342900" marL="342900">
              <a:buAutoNum type="arabicPeriod"/>
            </a:pPr>
            <a:r>
              <a:rPr/>
              <a:t>Plot error by year and find the break</a:t>
            </a:r>
          </a:p>
          <a:p>
            <a:pPr lvl="0" indent="-342900" marL="342900">
              <a:buAutoNum type="arabicPeriod"/>
            </a:pPr>
            <a:r>
              <a:rPr/>
              <a:t>Run the era classifier; report the AUC and read it</a:t>
            </a:r>
          </a:p>
          <a:p>
            <a:pPr lvl="0" indent="-342900" marL="342900">
              <a:buAutoNum type="arabicPeriod"/>
            </a:pPr>
            <a:r>
              <a:rPr/>
              <a:t>Complete the governance file, including a numeric trigger</a:t>
            </a:r>
          </a:p>
          <a:p>
            <a:pPr lvl="0" indent="-342900" marL="342900">
              <a:buAutoNum type="arabicPeriod"/>
            </a:pPr>
            <a:r>
              <a:rPr/>
              <a:t>Three sentences on what your model is worth in 2027, and why</a:t>
            </a:r>
          </a:p>
          <a:p>
            <a:pPr lvl="0" indent="0" marL="0">
              <a:buNone/>
            </a:pPr>
            <a:r>
              <a:rPr/>
              <a:t>Session 12 is your defence. The governance file is what you will be asked about.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Drift, and Governance</dc:title>
  <dc:creator>Thierry Warin</dc:creator>
  <cp:keywords/>
  <dcterms:created xsi:type="dcterms:W3CDTF">2026-08-20T19:40:18Z</dcterms:created>
  <dcterms:modified xsi:type="dcterms:W3CDTF">2026-08-20T19:40:18Z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11 · What happens to a model after you publish it</vt:lpwstr>
  </property>
  <property fmtid="{D5CDD505-2E9C-101B-9397-08002B2CF9AE}" pid="16" name="toc-title">
    <vt:lpwstr>Table of contents</vt:lpwstr>
  </property>
</Properties>
</file>