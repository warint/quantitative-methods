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185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95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8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6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950"/>
            </a:lvl3pPr>
            <a:lvl4pPr>
              <a:defRPr sz="850"/>
            </a:lvl4pPr>
            <a:lvl5pPr>
              <a:defRPr sz="850"/>
            </a:lvl5pPr>
            <a:lvl6pPr>
              <a:defRPr sz="850"/>
            </a:lvl6pPr>
            <a:lvl7pPr>
              <a:defRPr sz="850"/>
            </a:lvl7pPr>
            <a:lvl8pPr>
              <a:defRPr sz="850"/>
            </a:lvl8pPr>
            <a:lvl9pPr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950"/>
            </a:lvl3pPr>
            <a:lvl4pPr>
              <a:defRPr sz="850"/>
            </a:lvl4pPr>
            <a:lvl5pPr>
              <a:defRPr sz="850"/>
            </a:lvl5pPr>
            <a:lvl6pPr>
              <a:defRPr sz="850"/>
            </a:lvl6pPr>
            <a:lvl7pPr>
              <a:defRPr sz="850"/>
            </a:lvl7pPr>
            <a:lvl8pPr>
              <a:defRPr sz="850"/>
            </a:lvl8pPr>
            <a:lvl9pPr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100" b="1"/>
            </a:lvl1pPr>
            <a:lvl2pPr marL="342900" indent="0">
              <a:buNone/>
              <a:defRPr sz="950" b="1"/>
            </a:lvl2pPr>
            <a:lvl3pPr marL="685800" indent="0">
              <a:buNone/>
              <a:defRPr sz="850" b="1"/>
            </a:lvl3pPr>
            <a:lvl4pPr marL="1028700" indent="0">
              <a:buNone/>
              <a:defRPr sz="750" b="1"/>
            </a:lvl4pPr>
            <a:lvl5pPr marL="1371600" indent="0">
              <a:buNone/>
              <a:defRPr sz="750" b="1"/>
            </a:lvl5pPr>
            <a:lvl6pPr marL="1714500" indent="0">
              <a:buNone/>
              <a:defRPr sz="750" b="1"/>
            </a:lvl6pPr>
            <a:lvl7pPr marL="2057400" indent="0">
              <a:buNone/>
              <a:defRPr sz="750" b="1"/>
            </a:lvl7pPr>
            <a:lvl8pPr marL="2400300" indent="0">
              <a:buNone/>
              <a:defRPr sz="750" b="1"/>
            </a:lvl8pPr>
            <a:lvl9pPr marL="2743200" indent="0">
              <a:buNone/>
              <a:defRPr sz="7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100"/>
            </a:lvl1pPr>
            <a:lvl2pPr>
              <a:defRPr sz="950"/>
            </a:lvl2pPr>
            <a:lvl3pPr>
              <a:defRPr sz="85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100" b="1"/>
            </a:lvl1pPr>
            <a:lvl2pPr marL="342900" indent="0">
              <a:buNone/>
              <a:defRPr sz="950" b="1"/>
            </a:lvl2pPr>
            <a:lvl3pPr marL="685800" indent="0">
              <a:buNone/>
              <a:defRPr sz="850" b="1"/>
            </a:lvl3pPr>
            <a:lvl4pPr marL="1028700" indent="0">
              <a:buNone/>
              <a:defRPr sz="750" b="1"/>
            </a:lvl4pPr>
            <a:lvl5pPr marL="1371600" indent="0">
              <a:buNone/>
              <a:defRPr sz="750" b="1"/>
            </a:lvl5pPr>
            <a:lvl6pPr marL="1714500" indent="0">
              <a:buNone/>
              <a:defRPr sz="750" b="1"/>
            </a:lvl6pPr>
            <a:lvl7pPr marL="2057400" indent="0">
              <a:buNone/>
              <a:defRPr sz="750" b="1"/>
            </a:lvl7pPr>
            <a:lvl8pPr marL="2400300" indent="0">
              <a:buNone/>
              <a:defRPr sz="750" b="1"/>
            </a:lvl8pPr>
            <a:lvl9pPr marL="2743200" indent="0">
              <a:buNone/>
              <a:defRPr sz="7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100"/>
            </a:lvl1pPr>
            <a:lvl2pPr>
              <a:defRPr sz="950"/>
            </a:lvl2pPr>
            <a:lvl3pPr>
              <a:defRPr sz="850"/>
            </a:lvl3pPr>
            <a:lvl4pPr>
              <a:defRPr sz="750"/>
            </a:lvl4pPr>
            <a:lvl5pPr>
              <a:defRPr sz="750"/>
            </a:lvl5pPr>
            <a:lvl6pPr>
              <a:defRPr sz="750"/>
            </a:lvl6pPr>
            <a:lvl7pPr>
              <a:defRPr sz="750"/>
            </a:lvl7pPr>
            <a:lvl8pPr>
              <a:defRPr sz="750"/>
            </a:lvl8pPr>
            <a:lvl9pPr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9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1500"/>
            </a:lvl1pPr>
            <a:lvl2pPr>
              <a:defRPr sz="1300"/>
            </a:lvl2pPr>
            <a:lvl3pPr>
              <a:defRPr sz="1100"/>
            </a:lvl3pPr>
            <a:lvl4pPr>
              <a:defRPr sz="950"/>
            </a:lvl4pPr>
            <a:lvl5pPr>
              <a:defRPr sz="950"/>
            </a:lvl5pPr>
            <a:lvl6pPr>
              <a:defRPr sz="950"/>
            </a:lvl6pPr>
            <a:lvl7pPr>
              <a:defRPr sz="950"/>
            </a:lvl7pPr>
            <a:lvl8pPr>
              <a:defRPr sz="950"/>
            </a:lvl8pPr>
            <a:lvl9pPr>
              <a:defRPr sz="9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650"/>
            </a:lvl1pPr>
            <a:lvl2pPr marL="342900" indent="0">
              <a:buNone/>
              <a:defRPr sz="550"/>
            </a:lvl2pPr>
            <a:lvl3pPr marL="685800" indent="0">
              <a:buNone/>
              <a:defRPr sz="550"/>
            </a:lvl3pPr>
            <a:lvl4pPr marL="1028700" indent="0">
              <a:buNone/>
              <a:defRPr sz="550"/>
            </a:lvl4pPr>
            <a:lvl5pPr marL="1371600" indent="0">
              <a:buNone/>
              <a:defRPr sz="550"/>
            </a:lvl5pPr>
            <a:lvl6pPr marL="1714500" indent="0">
              <a:buNone/>
              <a:defRPr sz="550"/>
            </a:lvl6pPr>
            <a:lvl7pPr marL="2057400" indent="0">
              <a:buNone/>
              <a:defRPr sz="550"/>
            </a:lvl7pPr>
            <a:lvl8pPr marL="2400300" indent="0">
              <a:buNone/>
              <a:defRPr sz="550"/>
            </a:lvl8pPr>
            <a:lvl9pPr marL="2743200" indent="0">
              <a:buNone/>
              <a:defRPr sz="5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95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00"/>
            </a:lvl2pPr>
            <a:lvl3pPr marL="685800" indent="0">
              <a:buNone/>
              <a:defRPr sz="1100"/>
            </a:lvl3pPr>
            <a:lvl4pPr marL="1028700" indent="0">
              <a:buNone/>
              <a:defRPr sz="950"/>
            </a:lvl4pPr>
            <a:lvl5pPr marL="1371600" indent="0">
              <a:buNone/>
              <a:defRPr sz="950"/>
            </a:lvl5pPr>
            <a:lvl6pPr marL="1714500" indent="0">
              <a:buNone/>
              <a:defRPr sz="950"/>
            </a:lvl6pPr>
            <a:lvl7pPr marL="2057400" indent="0">
              <a:buNone/>
              <a:defRPr sz="950"/>
            </a:lvl7pPr>
            <a:lvl8pPr marL="2400300" indent="0">
              <a:buNone/>
              <a:defRPr sz="950"/>
            </a:lvl8pPr>
            <a:lvl9pPr marL="2743200" indent="0">
              <a:buNone/>
              <a:defRPr sz="95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650"/>
            </a:lvl1pPr>
            <a:lvl2pPr marL="342900" indent="0">
              <a:buNone/>
              <a:defRPr sz="550"/>
            </a:lvl2pPr>
            <a:lvl3pPr marL="685800" indent="0">
              <a:buNone/>
              <a:defRPr sz="550"/>
            </a:lvl3pPr>
            <a:lvl4pPr marL="1028700" indent="0">
              <a:buNone/>
              <a:defRPr sz="550"/>
            </a:lvl4pPr>
            <a:lvl5pPr marL="1371600" indent="0">
              <a:buNone/>
              <a:defRPr sz="550"/>
            </a:lvl5pPr>
            <a:lvl6pPr marL="1714500" indent="0">
              <a:buNone/>
              <a:defRPr sz="550"/>
            </a:lvl6pPr>
            <a:lvl7pPr marL="2057400" indent="0">
              <a:buNone/>
              <a:defRPr sz="550"/>
            </a:lvl7pPr>
            <a:lvl8pPr marL="2400300" indent="0">
              <a:buNone/>
              <a:defRPr sz="550"/>
            </a:lvl8pPr>
            <a:lvl9pPr marL="2743200" indent="0">
              <a:buNone/>
              <a:defRPr sz="5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5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20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13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1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9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9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9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8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02-lab/governance-file-template.md" TargetMode="Externa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Forecasting, Drift, and Governance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Session 11 · What happens to a model after you publish it</a:t>
            </a:r>
            <a:br/>
            <a:br/>
            <a:r>
              <a:rPr/>
              <a:t>Thierry Warin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18 August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Where we are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90 minutes ahead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0–10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 is not cross-validation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10–30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Backtesting with a rolling origin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30–50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Distribution shift, and its three kinds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50–70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Detecting drift before it costs you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70–85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Governance: what you owe the next person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85–90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Handoff to the lab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class you read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Mullainathan &amp; Spiess</a:t>
            </a:r>
            <a:r>
              <a:rPr/>
              <a:t>, </a:t>
            </a:r>
            <a:r>
              <a:rPr i="1"/>
              <a:t>Machine Learning: An Applied Econometric Approach</a:t>
            </a:r>
            <a:r>
              <a:rPr/>
              <a:t>, JEP 2017 — </a:t>
            </a:r>
            <a:r>
              <a:rPr b="1"/>
              <a:t>again</a:t>
            </a:r>
            <a:r>
              <a:rPr/>
              <a:t>, and this time only the closing sections.</a:t>
            </a:r>
          </a:p>
          <a:p>
            <a:pPr lvl="0" indent="0" marL="0">
              <a:buNone/>
            </a:pPr>
            <a:r>
              <a:rPr/>
              <a:t>DOI: 10.1257/jep.31.2.87</a:t>
            </a:r>
          </a:p>
          <a:p>
            <a:pPr lvl="0" indent="0" marL="0">
              <a:buNone/>
            </a:pPr>
            <a:r>
              <a:rPr/>
              <a:t>You read it in Session 04 for what ML does well. Read it now for what it assumes: that tomorrow resembles yesterday. Today is about when that fails.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Today’s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i="1"/>
              <a:t>Your group has a model. What is it worth in 2027?</a:t>
            </a:r>
          </a:p>
          <a:p>
            <a:pPr lvl="0" indent="0" marL="0">
              <a:buNone/>
            </a:pPr>
            <a:r>
              <a:rPr/>
              <a:t>Every number you have produced this term describes a world that has already happened. Nothing you have done yet establishes that it will keep working.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Backtesting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Rolling origin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Train to time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, predict </a:t>
                </a:r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+</m:t>
                    </m:r>
                    <m:r>
                      <m:t>h</m:t>
                    </m:r>
                  </m:oMath>
                </a14:m>
                <a:r>
                  <a:rPr/>
                  <a:t>, roll forward, repeat.</a:t>
                </a:r>
              </a:p>
              <a:p>
                <a:pPr lvl="0"/>
                <a:r>
                  <a:rPr b="1"/>
                  <a:t>Expanding window</a:t>
                </a:r>
                <a:r>
                  <a:rPr/>
                  <a:t> — training set grows; assumes the past stays relevant</a:t>
                </a:r>
              </a:p>
              <a:p>
                <a:pPr lvl="0"/>
                <a:r>
                  <a:rPr b="1"/>
                  <a:t>Rolling window</a:t>
                </a:r>
                <a:r>
                  <a:rPr/>
                  <a:t> — fixed length; assumes the distant past is stale</a:t>
                </a:r>
              </a:p>
              <a:p>
                <a:pPr lvl="0" indent="0" marL="0">
                  <a:buNone/>
                </a:pPr>
                <a:r>
                  <a:rPr/>
                  <a:t>Which you choose is a claim about how fast the world changes. State it.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Respect the horizon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If you will forecast one year ahead, evaluate at one year ahead.</a:t>
                </a:r>
              </a:p>
              <a:p>
                <a:pPr lvl="0" indent="0" marL="0">
                  <a:buNone/>
                </a:pPr>
                <a:r>
                  <a:rPr/>
                  <a:t>A model evaluated at </a:t>
                </a:r>
                <a14:m>
                  <m:oMath xmlns:m="http://schemas.openxmlformats.org/officeDocument/2006/math">
                    <m:r>
                      <m:t>h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oMath>
                </a14:m>
                <a:r>
                  <a:rPr/>
                  <a:t> and deployed at </a:t>
                </a:r>
                <a14:m>
                  <m:oMath xmlns:m="http://schemas.openxmlformats.org/officeDocument/2006/math">
                    <m:r>
                      <m:t>h</m:t>
                    </m:r>
                    <m:r>
                      <m:rPr>
                        <m:sty m:val="p"/>
                      </m:rPr>
                      <m:t>=</m:t>
                    </m:r>
                    <m:r>
                      <m:t>3</m:t>
                    </m:r>
                  </m:oMath>
                </a14:m>
                <a:r>
                  <a:rPr/>
                  <a:t> has never been tested at the task it is doing. This is more common than it sounds, because the short horizon always looks better.</a:t>
                </a:r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Set 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pandas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pd, numpy </a:t>
            </a:r>
            <a:r>
              <a:rPr b="1">
                <a:solidFill>
                  <a:srgbClr val="008000"/>
                </a:solidFill>
                <a:latin typeface="Courier"/>
              </a:rPr>
              <a:t>as</a:t>
            </a:r>
            <a:r>
              <a:rPr>
                <a:latin typeface="Courier"/>
              </a:rPr>
              <a:t> np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sklearn.ensemble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RandomForestRegressor</a:t>
            </a:r>
            <a:br/>
            <a:br/>
            <a:r>
              <a:rPr>
                <a:latin typeface="Courier"/>
              </a:rPr>
              <a:t>core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pd.read_parquet(</a:t>
            </a:r>
            <a:r>
              <a:rPr>
                <a:solidFill>
                  <a:srgbClr val="4070A0"/>
                </a:solidFill>
                <a:latin typeface="Courier"/>
              </a:rPr>
              <a:t>"data/spine/core.parquet"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core.dropna(subset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"prod_growth"</a:t>
            </a:r>
            <a:r>
              <a:rPr>
                <a:latin typeface="Courier"/>
              </a:rPr>
              <a:t>]).sort_values([</a:t>
            </a:r>
            <a:r>
              <a:rPr>
                <a:solidFill>
                  <a:srgbClr val="4070A0"/>
                </a:solidFill>
                <a:latin typeface="Courier"/>
              </a:rPr>
              <a:t>"time"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"geo"</a:t>
            </a:r>
            <a:r>
              <a:rPr>
                <a:latin typeface="Courier"/>
              </a:rPr>
              <a:t>])</a:t>
            </a:r>
            <a:br/>
            <a:r>
              <a:rPr>
                <a:latin typeface="Courier"/>
              </a:rPr>
              <a:t>feat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70A0"/>
                </a:solidFill>
                <a:latin typeface="Courier"/>
              </a:rPr>
              <a:t>"gdp_pc_eur"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"population"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"employment_ths"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"gfcf_meur"</a:t>
            </a:r>
            <a:r>
              <a:rPr>
                <a:latin typeface="Courier"/>
              </a:rPr>
              <a:t>]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Roll the origin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rows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cut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2016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2024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tr, te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d[d.time </a:t>
            </a:r>
            <a:r>
              <a:rPr>
                <a:solidFill>
                  <a:srgbClr val="666666"/>
                </a:solidFill>
                <a:latin typeface="Courier"/>
              </a:rPr>
              <a:t>&lt;=</a:t>
            </a:r>
            <a:r>
              <a:rPr>
                <a:latin typeface="Courier"/>
              </a:rPr>
              <a:t> cut], d[d.time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cut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(te)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continue</a:t>
            </a:r>
            <a:br/>
            <a:r>
              <a:rPr>
                <a:latin typeface="Courier"/>
              </a:rPr>
              <a:t>    m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RandomForestRegressor(</a:t>
            </a:r>
            <a:r>
              <a:rPr>
                <a:solidFill>
                  <a:srgbClr val="40A070"/>
                </a:solidFill>
                <a:latin typeface="Courier"/>
              </a:rPr>
              <a:t>300</a:t>
            </a:r>
            <a:r>
              <a:rPr>
                <a:latin typeface="Courier"/>
              </a:rPr>
              <a:t>, random_state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60033</a:t>
            </a:r>
            <a:r>
              <a:rPr>
                <a:latin typeface="Courier"/>
              </a:rPr>
              <a:t>).fit(</a:t>
            </a:r>
            <a:br/>
            <a:r>
              <a:rPr>
                <a:latin typeface="Courier"/>
              </a:rPr>
              <a:t>        tr[feat].fillna(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), tr.prod_growth)</a:t>
            </a:r>
            <a:br/>
            <a:r>
              <a:rPr>
                <a:latin typeface="Courier"/>
              </a:rPr>
              <a:t>    err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te.prod_growth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m.predict(te[feat].fillna(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))</a:t>
            </a:r>
            <a:br/>
            <a:r>
              <a:rPr>
                <a:latin typeface="Courier"/>
              </a:rPr>
              <a:t>    rows.append((cut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np.sqrt((err </a:t>
            </a:r>
            <a:r>
              <a:rPr>
                <a:solidFill>
                  <a:srgbClr val="666666"/>
                </a:solidFill>
                <a:latin typeface="Courier"/>
              </a:rPr>
              <a:t>**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).mean())))</a:t>
            </a:r>
            <a:br/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(pd.DataFrame(rows, columns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"year"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"rmse"</a:t>
            </a:r>
            <a:r>
              <a:rPr>
                <a:latin typeface="Courier"/>
              </a:rPr>
              <a:t>]).</a:t>
            </a:r>
            <a:r>
              <a:rPr>
                <a:solidFill>
                  <a:srgbClr val="008000"/>
                </a:solidFill>
                <a:latin typeface="Courier"/>
              </a:rPr>
              <a:t>round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 the sequence, not the average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One RMSE over the whole backtest hides everything. Look at the </a:t>
            </a:r>
            <a:r>
              <a:rPr b="1"/>
              <a:t>year-by-year series</a:t>
            </a:r>
            <a:r>
              <a:rPr/>
              <a:t>: a model that was excellent until 2021 and poor after is a different object from one that is mediocre throughout.</a:t>
            </a:r>
          </a:p>
          <a:p>
            <a:pPr lvl="0" indent="0" marL="0">
              <a:buNone/>
            </a:pPr>
            <a:r>
              <a:rPr/>
              <a:t>The spine carries a deliberate shift after 2021. You should be able to see it in that table without being told where to look.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Drift</a:t>
            </a:r>
          </a:p>
        </p:txBody>
      </p:sp>
    </p:spTree>
  </p:cSld>
</p:sld>
</file>

<file path=ppt/slides/slide13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Three things can change</a:t></a:r></a:p></p:txBody></p:sp><p:graphicFrame><p:nvGraphicFramePr><p:cNvPr id="6" name="Content Placeholder 5" /><p:cNvGraphicFramePr><a:graphicFrameLocks noGrp="1" /></p:cNvGraphicFramePr><p:nvPr><p:ph idx="1" /></p:nvPr></p:nvGraphicFramePr><p:xfrm><a:off x="457200" y="1193800" /><a:ext cx="8229600" cy="3390900" /></p:xfrm><a:graphic><a:graphicData uri="http://schemas.openxmlformats.org/drawingml/2006/table"><a:tbl><a:tblPr firstRow="1" bandRow="1"><a:tableStyleId>{5C22544A-7EE6-4342-B048-85BDC9FD1C3A}</a:tableStyleId></a:tblPr><a:tblGrid><a:gridCol w="2743200" /><a:gridCol w="2743200" /><a:gridCol w="2743200" /></a:tblGrid><a:tr h="0"><a:tc><a:txBody><a:bodyPr /><a:lstStyle /><a:p><a:pPr lvl="0" indent="0" marL="0"><a:buNone /></a:pPr><a:r><a:rPr /><a:t>Kind</a:t></a:r></a:p></a:txBody><a:tcPr /></a:tc><a:tc><a:txBody><a:bodyPr /><a:lstStyle /><a:p><a:pPr lvl="0" indent="0" marL="0"><a:buNone /></a:pPr><a:r><a:rPr /><a:t>What moves</a:t></a:r></a:p></a:txBody><a:tcPr /></a:tc><a:tc><a:txBody><a:bodyPr /><a:lstStyle /><a:p><a:pPr lvl="0" indent="0" marL="0"><a:buNone /></a:pPr><a:r><a:rPr /><a:t>Example</a:t></a:r></a:p></a:txBody><a:tcPr /></a:tc></a:tr><a:tr h="0"><a:tc><a:txBody><a:bodyPr /><a:lstStyle /><a:p><a:pPr lvl="0" indent="0" marL="0"><a:buNone /></a:pPr><a:r><a:rPr b="1" /><a:t>Covariate shift</a:t></a:r></a:p></a:txBody></a:tc><a:tc><a:txBody><a:bodyPr /><a:lstStyle /><a:p><a:pPr lvl="0" indent="0" marL="0"><a:buNone /></a:pPr><a14:m><m:oMath xmlns:m="http://schemas.openxmlformats.org/officeDocument/2006/math"><m:r><m:t>P</m:t></m:r><m:d><m:dPr><m:begChr m:val="(" /><m:sepChr m:val="" /><m:endChr m:val=")" /><m:grow /></m:dPr><m:e><m:r><m:t>X</m:t></m:r></m:e></m:d></m:oMath></a14:m></a:p></a:txBody></a:tc><a:tc><a:txBody><a:bodyPr /><a:lstStyle /><a:p><a:pPr lvl="0" indent="0" marL="0"><a:buNone /></a:pPr><a:r><a:rPr /><a:t>Energy prices leave their historical range</a:t></a:r></a:p></a:txBody></a:tc></a:tr><a:tr h="0"><a:tc><a:txBody><a:bodyPr /><a:lstStyle /><a:p><a:pPr lvl="0" indent="0" marL="0"><a:buNone /></a:pPr><a:r><a:rPr b="1" /><a:t>Label shift</a:t></a:r></a:p></a:txBody></a:tc><a:tc><a:txBody><a:bodyPr /><a:lstStyle /><a:p><a:pPr lvl="0" indent="0" marL="0"><a:buNone /></a:pPr><a14:m><m:oMath xmlns:m="http://schemas.openxmlformats.org/officeDocument/2006/math"><m:r><m:t>P</m:t></m:r><m:d><m:dPr><m:begChr m:val="(" /><m:sepChr m:val="" /><m:endChr m:val=")" /><m:grow /></m:dPr><m:e><m:r><m:t>Y</m:t></m:r></m:e></m:d></m:oMath></a14:m></a:p></a:txBody></a:tc><a:tc><a:txBody><a:bodyPr /><a:lstStyle /><a:p><a:pPr lvl="0" indent="0" marL="0"><a:buNone /></a:pPr><a:r><a:rPr /><a:t>Downturn: more countries fall behind</a:t></a:r></a:p></a:txBody></a:tc></a:tr><a:tr h="0"><a:tc><a:txBody><a:bodyPr /><a:lstStyle /><a:p><a:pPr lvl="0" indent="0" marL="0"><a:buNone /></a:pPr><a:r><a:rPr b="1" /><a:t>Concept drift</a:t></a:r></a:p></a:txBody></a:tc><a:tc><a:txBody><a:bodyPr /><a:lstStyle /><a:p><a:pPr lvl="0" indent="0" marL="0"><a:buNone /></a:pPr><a14:m><m:oMath xmlns:m="http://schemas.openxmlformats.org/officeDocument/2006/math"><m:r><m:t>P</m:t></m:r><m:d><m:dPr><m:begChr m:val="(" /><m:sepChr m:val="" /><m:endChr m:val=")" /><m:grow /></m:dPr><m:e><m:r><m:t>Y</m:t></m:r><m:r><m:rPr><m:sty m:val="p" /></m:rPr><m:t>∣</m:t></m:r><m:r><m:t>X</m:t></m:r></m:e></m:d></m:oMath></a14:m></a:p></a:txBody></a:tc><a:tc><a:txBody><a:bodyPr /><a:lstStyle /><a:p><a:pPr lvl="0" indent="0" marL="0"><a:buNone /></a:pPr><a:r><a:rPr /><a:t>The </a:t></a:r><a:r><a:rPr i="1" /><a:t>relationship</a:t></a:r><a:r><a:rPr /><a:t> changes</a:t></a:r></a:p></a:txBody></a:tc></a:tr></a:tbl></a:graphicData></a:graphic></p:graphicFrame></p:spTree></p:cSld>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first two you can detect from data you already have. </a:t>
            </a:r>
            <a:r>
              <a:rPr b="1"/>
              <a:t>Concept drift needs outcomes</a:t>
            </a:r>
            <a:r>
              <a:rPr/>
              <a:t>, which arrive late — often after the decisions were made.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Detecting covariate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sklearn.ensemble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RandomForestClassifier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sklearn.model_selection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cross_val_score</a:t>
            </a:r>
            <a:br/>
            <a:br/>
            <a:r>
              <a:rPr>
                <a:latin typeface="Courier"/>
              </a:rPr>
              <a:t>pre 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d[d.time </a:t>
            </a:r>
            <a:r>
              <a:rPr>
                <a:solidFill>
                  <a:srgbClr val="666666"/>
                </a:solidFill>
                <a:latin typeface="Courier"/>
              </a:rPr>
              <a:t>&lt;=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2020</a:t>
            </a:r>
            <a:r>
              <a:rPr>
                <a:latin typeface="Courier"/>
              </a:rPr>
              <a:t>][feat].fillna(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post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d[d.time </a:t>
            </a:r>
            <a:r>
              <a:rPr>
                <a:solidFill>
                  <a:srgbClr val="666666"/>
                </a:solidFill>
                <a:latin typeface="Courier"/>
              </a:rPr>
              <a:t>&gt;=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2021</a:t>
            </a:r>
            <a:r>
              <a:rPr>
                <a:latin typeface="Courier"/>
              </a:rPr>
              <a:t>][feat].fillna(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pd.concat([pre, post])</a:t>
            </a:r>
            <a:r>
              <a:rPr>
                <a:solidFill>
                  <a:srgbClr val="666666"/>
                </a:solidFill>
                <a:latin typeface="Courier"/>
              </a:rPr>
              <a:t>;</a:t>
            </a:r>
            <a:r>
              <a:rPr>
                <a:latin typeface="Courier"/>
              </a:rPr>
              <a:t> 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np.r_[np.zeros(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(pre)), np.ones(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(post))]</a:t>
            </a:r>
            <a:br/>
            <a:r>
              <a:rPr>
                <a:latin typeface="Courier"/>
              </a:rPr>
              <a:t>auc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cross_val_score(RandomForestClassifier(</a:t>
            </a:r>
            <a:r>
              <a:rPr>
                <a:solidFill>
                  <a:srgbClr val="40A070"/>
                </a:solidFill>
                <a:latin typeface="Courier"/>
              </a:rPr>
              <a:t>300</a:t>
            </a:r>
            <a:r>
              <a:rPr>
                <a:latin typeface="Courier"/>
              </a:rPr>
              <a:t>, random_state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60033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                  X, y, cv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, scoring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"roc_auc"</a:t>
            </a:r>
            <a:r>
              <a:rPr>
                <a:latin typeface="Courier"/>
              </a:rPr>
              <a:t>).mean()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"era-classifier AUC:"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008000"/>
                </a:solidFill>
                <a:latin typeface="Courier"/>
              </a:rPr>
              <a:t>round</a:t>
            </a:r>
            <a:r>
              <a:rPr>
                <a:latin typeface="Courier"/>
              </a:rPr>
              <a:t>(auc,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))</a:t>
            </a:r>
          </a:p>
          <a:p>
            <a:pPr lvl="0" indent="0" marL="0">
              <a:buNone/>
            </a:pPr>
            <a:r>
              <a:rPr/>
              <a:t>If a classifier can tell </a:t>
            </a:r>
            <a:r>
              <a:rPr b="1"/>
              <a:t>which era</a:t>
            </a:r>
            <a:r>
              <a:rPr/>
              <a:t> a row came from, the covariate distribution has moved. AUC near 0.5 means no detectable shift; near 1 means the two periods are different worlds.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to do about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Retrain</a:t>
            </a:r>
            <a:r>
              <a:rPr/>
              <a:t> on recent data — simple, and loses history</a:t>
            </a:r>
          </a:p>
          <a:p>
            <a:pPr lvl="0"/>
            <a:r>
              <a:rPr b="1"/>
              <a:t>Reweight</a:t>
            </a:r>
            <a:r>
              <a:rPr/>
              <a:t> by the density ratio — principled, and unstable in the tails</a:t>
            </a:r>
          </a:p>
          <a:p>
            <a:pPr lvl="0"/>
            <a:r>
              <a:rPr b="1"/>
              <a:t>Restrict</a:t>
            </a:r>
            <a:r>
              <a:rPr/>
              <a:t> the model to the region where it still has support</a:t>
            </a:r>
          </a:p>
          <a:p>
            <a:pPr lvl="0"/>
            <a:r>
              <a:rPr b="1"/>
              <a:t>Stop</a:t>
            </a:r>
            <a:r>
              <a:rPr/>
              <a:t> — sometimes the honest answer</a:t>
            </a:r>
          </a:p>
          <a:p>
            <a:pPr lvl="0" indent="0" marL="0">
              <a:buNone/>
            </a:pPr>
            <a:r>
              <a:rPr/>
              <a:t>Never extrapolate a tree-based model outside its training range. It cannot extrapolate at all; it returns the nearest leaf’s mean and gives no warning.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Governance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question behind this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Someone will use your model after you have graduated, without asking you anything.</a:t>
            </a:r>
          </a:p>
          <a:p>
            <a:pPr lvl="0" indent="0" marL="0">
              <a:buNone/>
            </a:pPr>
            <a:r>
              <a:rPr/>
              <a:t>Everything they need must be written down, next to the model, by you.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governance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group ships one. See </a:t>
            </a:r>
            <a:r>
              <a:rPr>
                <a:hlinkClick r:id="rId2"/>
                <a:latin typeface="Courier"/>
              </a:rPr>
              <a:t>02-lab/governance-file-template.md</a:t>
            </a:r>
            <a:r>
              <a:rPr/>
              <a:t>.</a:t>
            </a:r>
          </a:p>
          <a:p>
            <a:pPr lvl="0"/>
            <a:r>
              <a:rPr b="1"/>
              <a:t>Intended use</a:t>
            </a:r>
            <a:r>
              <a:rPr/>
              <a:t> — and the uses you are ruling out</a:t>
            </a:r>
          </a:p>
          <a:p>
            <a:pPr lvl="0"/>
            <a:r>
              <a:rPr b="1"/>
              <a:t>Data</a:t>
            </a:r>
            <a:r>
              <a:rPr/>
              <a:t> — provenance, coverage, known gaps, licence</a:t>
            </a:r>
          </a:p>
          <a:p>
            <a:pPr lvl="0"/>
            <a:r>
              <a:rPr b="1"/>
              <a:t>Estimand</a:t>
            </a:r>
            <a:r>
              <a:rPr/>
              <a:t> — prediction or effect, stated once and plainly</a:t>
            </a:r>
          </a:p>
          <a:p>
            <a:pPr lvl="0"/>
            <a:r>
              <a:rPr b="1"/>
              <a:t>Validation</a:t>
            </a:r>
            <a:r>
              <a:rPr/>
              <a:t> — the split, the horizon, the error, honestly</a:t>
            </a:r>
          </a:p>
          <a:p>
            <a:pPr lvl="0"/>
            <a:r>
              <a:rPr b="1"/>
              <a:t>Known failure modes</a:t>
            </a:r>
            <a:r>
              <a:rPr/>
              <a:t> — where it breaks, in what direction</a:t>
            </a:r>
          </a:p>
          <a:p>
            <a:pPr lvl="0"/>
            <a:r>
              <a:rPr b="1"/>
              <a:t>Monitoring</a:t>
            </a:r>
            <a:r>
              <a:rPr/>
              <a:t> — what to watch, and the trigger to retire it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retirement trigger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model with no stated retirement condition is never retired. It is used until something goes visibly wrong, and by then it has been wrong for a while.</a:t>
            </a:r>
          </a:p>
          <a:p>
            <a:pPr lvl="0" indent="0" marL="0">
              <a:buNone/>
            </a:pPr>
            <a:r>
              <a:rPr/>
              <a:t>Write a specific one:</a:t>
            </a:r>
          </a:p>
          <a:p>
            <a:pPr lvl="0" indent="0" marL="1270000">
              <a:buNone/>
            </a:pPr>
            <a:r>
              <a:rPr sz="2000" i="1"/>
              <a:t>“Retrain when the era-classifier AUC against the training period exceeds 0.75, or when rolling 2-year RMSE exceeds 1.4× the backtest median. Retire if retraining does not restore it.”</a:t>
            </a:r>
          </a:p>
          <a:p>
            <a:pPr lvl="0" indent="0" marL="0">
              <a:buNone/>
            </a:pPr>
            <a:r>
              <a:rPr/>
              <a:t>Specific enough that someone who has never met you can execute it.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owe the reader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coverage gaps — for the spine, the pre-2021 absence of the adoption module</a:t>
            </a:r>
          </a:p>
          <a:p>
            <a:pPr lvl="0"/>
            <a:r>
              <a:rPr/>
              <a:t>The flags you dropped, and which countries that biased against</a:t>
            </a:r>
          </a:p>
          <a:p>
            <a:pPr lvl="0"/>
            <a:r>
              <a:rPr/>
              <a:t>Every construct labelled as a construct</a:t>
            </a:r>
          </a:p>
          <a:p>
            <a:pPr lvl="0"/>
            <a:r>
              <a:rPr/>
              <a:t>The assumptions that would overturn your conclusion if wrong</a:t>
            </a:r>
          </a:p>
          <a:p>
            <a:pPr lvl="0" indent="0" marL="0">
              <a:buNone/>
            </a:pPr>
            <a:r>
              <a:rPr/>
              <a:t>This is not modesty. A limitation you name is a limitation you have controlled for in the reader’s mind. One you omit is a hole someone else will find.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to report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Rolling-origin backtest, </a:t>
                </a:r>
                <a:r>
                  <a:rPr b="1"/>
                  <a:t>year by year</a:t>
                </a:r>
                <a:r>
                  <a:rPr/>
                  <a:t>, at the deployment horizon</a:t>
                </a:r>
              </a:p>
              <a:p>
                <a:pPr lvl="0"/>
                <a:r>
                  <a:rPr/>
                  <a:t>Window choice, and the claim about the world it encodes</a:t>
                </a:r>
              </a:p>
              <a:p>
                <a:pPr lvl="0"/>
                <a:r>
                  <a:rPr/>
                  <a:t>Drift evidence for </a:t>
                </a:r>
                <a14:m>
                  <m:oMath xmlns:m="http://schemas.openxmlformats.org/officeDocument/2006/math">
                    <m:r>
                      <m:t>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</m:e>
                    </m:d>
                  </m:oMath>
                </a14:m>
                <a:r>
                  <a:rPr/>
                  <a:t>, and what you concluded</a:t>
                </a:r>
              </a:p>
              <a:p>
                <a:pPr lvl="0"/>
                <a:r>
                  <a:rPr/>
                  <a:t>The governance file, complete, with a numeric retirement trigger</a:t>
                </a:r>
              </a:p>
            </p:txBody>
          </p:sp>
        </mc:Choice>
      </mc:AlternateContent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mistakes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Mistake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Consequence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Random CV on a forecast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Uses the future to predict the past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 averaged backtest error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Hides the year everything changed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Evaluating at the wrong horizon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Untested at the task it performs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Extrapolating a forest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Silent nearest-leaf nonsense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retirement trigger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model outlives its validity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the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Backtest </a:t>
            </a:r>
            <a:r>
              <a:rPr b="1"/>
              <a:t>your group’s own model</a:t>
            </a:r>
            <a:r>
              <a:rPr/>
              <a:t> with a rolling origin</a:t>
            </a:r>
          </a:p>
          <a:p>
            <a:pPr lvl="0" indent="-342900" marL="342900">
              <a:buAutoNum type="arabicPeriod"/>
            </a:pPr>
            <a:r>
              <a:rPr/>
              <a:t>Plot error by year and find the break</a:t>
            </a:r>
          </a:p>
          <a:p>
            <a:pPr lvl="0" indent="-342900" marL="342900">
              <a:buAutoNum type="arabicPeriod"/>
            </a:pPr>
            <a:r>
              <a:rPr/>
              <a:t>Run the era classifier; report the AUC and read it</a:t>
            </a:r>
          </a:p>
          <a:p>
            <a:pPr lvl="0" indent="-342900" marL="342900">
              <a:buAutoNum type="arabicPeriod"/>
            </a:pPr>
            <a:r>
              <a:rPr/>
              <a:t>Complete the governance file, including a numeric trigger</a:t>
            </a:r>
          </a:p>
          <a:p>
            <a:pPr lvl="0" indent="-342900" marL="342900">
              <a:buAutoNum type="arabicPeriod"/>
            </a:pPr>
            <a:r>
              <a:rPr/>
              <a:t>Three sentences on what your model is worth in 2027, and why</a:t>
            </a:r>
          </a:p>
          <a:p>
            <a:pPr lvl="0" indent="0" marL="0">
              <a:buNone/>
            </a:pPr>
            <a:r>
              <a:rPr/>
              <a:t>Session 12 is your defence. The governance file is what you will be asked about.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Forecasting, Drift, and Governance</dc:title>
  <dc:creator>Thierry Warin</dc:creator>
  <cp:keywords/>
  <dcterms:created xsi:type="dcterms:W3CDTF">2026-08-19T12:45:17Z</dcterms:created>
  <dcterms:modified xsi:type="dcterms:W3CDTF">2026-08-19T12:45:17Z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date">
    <vt:lpwstr>18 August 2026</vt:lpwstr>
  </property>
  <property fmtid="{D5CDD505-2E9C-101B-9397-08002B2CF9AE}" pid="8" name="date-format">
    <vt:lpwstr>D MMMM YYYY</vt:lpwstr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institute">
    <vt:lpwstr>HEC Montréal</vt:lpwstr>
  </property>
  <property fmtid="{D5CDD505-2E9C-101B-9397-08002B2CF9AE}" pid="13" name="institutes">
    <vt:lpwstr/>
  </property>
  <property fmtid="{D5CDD505-2E9C-101B-9397-08002B2CF9AE}" pid="14" name="labels">
    <vt:lpwstr/>
  </property>
  <property fmtid="{D5CDD505-2E9C-101B-9397-08002B2CF9AE}" pid="15" name="subtitle">
    <vt:lpwstr>Session 11 · What happens to a model after you publish it</vt:lpwstr>
  </property>
  <property fmtid="{D5CDD505-2E9C-101B-9397-08002B2CF9AE}" pid="16" name="toc-title">
    <vt:lpwstr>Table of contents</vt:lpwstr>
  </property>
</Properties>
</file>